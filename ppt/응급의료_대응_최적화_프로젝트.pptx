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f38ae647de94422" /><Relationship Type="http://schemas.openxmlformats.org/officeDocument/2006/relationships/extended-properties" Target="/docProps/app.xml" Id="R52ce7eca7dbe4a35" /><Relationship Type="http://schemas.openxmlformats.org/officeDocument/2006/relationships/officeDocument" Target="/ppt/presentation.xml" Id="Rbcd8d9dd467f47f3" /></Relationships>
</file>

<file path=ppt/presentation.xml><?xml version="1.0" encoding="utf-8"?>
<p:presentation xmlns:p="http://schemas.openxmlformats.org/presentationml/2006/main">
  <p:sldMasterIdLst>
    <p:sldMasterId xmlns:r="http://schemas.openxmlformats.org/officeDocument/2006/relationships" id="2147483648" r:id="R0326fd5811bd495b"/>
  </p:sldMasterIdLst>
  <p:notesMasterIdLst>
    <p:notesMasterId xmlns:r="http://schemas.openxmlformats.org/officeDocument/2006/relationships" r:id="R01f1c1ad2c8442e4"/>
  </p:notesMasterIdLst>
  <p:sldIdLst>
    <p:sldId xmlns:r="http://schemas.openxmlformats.org/officeDocument/2006/relationships" id="256" r:id="R7c1504a2a294455a"/>
    <p:sldId xmlns:r="http://schemas.openxmlformats.org/officeDocument/2006/relationships" id="257" r:id="Rb722d3d4da0e4c89"/>
    <p:sldId xmlns:r="http://schemas.openxmlformats.org/officeDocument/2006/relationships" id="258" r:id="R3746a59961644128"/>
    <p:sldId xmlns:r="http://schemas.openxmlformats.org/officeDocument/2006/relationships" id="259" r:id="R690657ca674a4794"/>
    <p:sldId xmlns:r="http://schemas.openxmlformats.org/officeDocument/2006/relationships" id="260" r:id="R25c316900f0a4757"/>
    <p:sldId xmlns:r="http://schemas.openxmlformats.org/officeDocument/2006/relationships" id="261" r:id="Rc8e829c4d4354954"/>
    <p:sldId xmlns:r="http://schemas.openxmlformats.org/officeDocument/2006/relationships" id="262" r:id="Re3817d9c658c43d1"/>
    <p:sldId xmlns:r="http://schemas.openxmlformats.org/officeDocument/2006/relationships" id="263" r:id="R7466d3bd7d3a4777"/>
    <p:sldId xmlns:r="http://schemas.openxmlformats.org/officeDocument/2006/relationships" id="264" r:id="Rd01039b6ca7b4c0a"/>
    <p:sldId xmlns:r="http://schemas.openxmlformats.org/officeDocument/2006/relationships" id="265" r:id="Rf9677edaf9394811"/>
    <p:sldId xmlns:r="http://schemas.openxmlformats.org/officeDocument/2006/relationships" id="266" r:id="Rc387a8dcbea84a20"/>
    <p:sldId xmlns:r="http://schemas.openxmlformats.org/officeDocument/2006/relationships" id="267" r:id="R66db7bb463bd4d1e"/>
    <p:sldId xmlns:r="http://schemas.openxmlformats.org/officeDocument/2006/relationships" id="268" r:id="R01cd9a27bfca467b"/>
    <p:sldId xmlns:r="http://schemas.openxmlformats.org/officeDocument/2006/relationships" id="269" r:id="R813b3e6c16374bec"/>
    <p:sldId xmlns:r="http://schemas.openxmlformats.org/officeDocument/2006/relationships" id="270" r:id="Ra03687ed79ba4ab6"/>
    <p:sldId xmlns:r="http://schemas.openxmlformats.org/officeDocument/2006/relationships" id="271" r:id="Rb807c880bfd34b8d"/>
    <p:sldId xmlns:r="http://schemas.openxmlformats.org/officeDocument/2006/relationships" id="272" r:id="Ra8fd2161b46648ca"/>
    <p:sldId xmlns:r="http://schemas.openxmlformats.org/officeDocument/2006/relationships" id="273" r:id="R3d0dbb5123aa4d7e"/>
    <p:sldId xmlns:r="http://schemas.openxmlformats.org/officeDocument/2006/relationships" id="274" r:id="Reccdd7e7a72c432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7f74afb94a463f" /><Relationship Type="http://schemas.openxmlformats.org/officeDocument/2006/relationships/slideMaster" Target="/ppt/slideMasters/slideMaster1.xml" Id="R0326fd5811bd495b" /><Relationship Type="http://schemas.openxmlformats.org/officeDocument/2006/relationships/notesMaster" Target="/ppt/notesMasters/notesMaster1.xml" Id="R01f1c1ad2c8442e4" /><Relationship Type="http://schemas.openxmlformats.org/officeDocument/2006/relationships/presProps" Target="/ppt/presProps.xml" Id="R95f93703aaaa4dba" /><Relationship Type="http://schemas.openxmlformats.org/officeDocument/2006/relationships/tableStyles" Target="/ppt/tableStyles.xml" Id="R834e38df39ef4cf7" /><Relationship Type="http://schemas.openxmlformats.org/officeDocument/2006/relationships/slide" Target="/ppt/slides/slide1.xml" Id="R7c1504a2a294455a" /><Relationship Type="http://schemas.openxmlformats.org/officeDocument/2006/relationships/slide" Target="/ppt/slides/slide2.xml" Id="Rb722d3d4da0e4c89" /><Relationship Type="http://schemas.openxmlformats.org/officeDocument/2006/relationships/slide" Target="/ppt/slides/slide3.xml" Id="R3746a59961644128" /><Relationship Type="http://schemas.openxmlformats.org/officeDocument/2006/relationships/slide" Target="/ppt/slides/slide4.xml" Id="R690657ca674a4794" /><Relationship Type="http://schemas.openxmlformats.org/officeDocument/2006/relationships/slide" Target="/ppt/slides/slide5.xml" Id="R25c316900f0a4757" /><Relationship Type="http://schemas.openxmlformats.org/officeDocument/2006/relationships/slide" Target="/ppt/slides/slide6.xml" Id="Rc8e829c4d4354954" /><Relationship Type="http://schemas.openxmlformats.org/officeDocument/2006/relationships/slide" Target="/ppt/slides/slide7.xml" Id="Re3817d9c658c43d1" /><Relationship Type="http://schemas.openxmlformats.org/officeDocument/2006/relationships/slide" Target="/ppt/slides/slide8.xml" Id="R7466d3bd7d3a4777" /><Relationship Type="http://schemas.openxmlformats.org/officeDocument/2006/relationships/slide" Target="/ppt/slides/slide9.xml" Id="Rd01039b6ca7b4c0a" /><Relationship Type="http://schemas.openxmlformats.org/officeDocument/2006/relationships/slide" Target="/ppt/slides/slide10.xml" Id="Rf9677edaf9394811" /><Relationship Type="http://schemas.openxmlformats.org/officeDocument/2006/relationships/slide" Target="/ppt/slides/slide11.xml" Id="Rc387a8dcbea84a20" /><Relationship Type="http://schemas.openxmlformats.org/officeDocument/2006/relationships/slide" Target="/ppt/slides/slide12.xml" Id="R66db7bb463bd4d1e" /><Relationship Type="http://schemas.openxmlformats.org/officeDocument/2006/relationships/slide" Target="/ppt/slides/slide13.xml" Id="R01cd9a27bfca467b" /><Relationship Type="http://schemas.openxmlformats.org/officeDocument/2006/relationships/slide" Target="/ppt/slides/slide14.xml" Id="R813b3e6c16374bec" /><Relationship Type="http://schemas.openxmlformats.org/officeDocument/2006/relationships/slide" Target="/ppt/slides/slide15.xml" Id="Ra03687ed79ba4ab6" /><Relationship Type="http://schemas.openxmlformats.org/officeDocument/2006/relationships/slide" Target="/ppt/slides/slide16.xml" Id="Rb807c880bfd34b8d" /><Relationship Type="http://schemas.openxmlformats.org/officeDocument/2006/relationships/slide" Target="/ppt/slides/slide17.xml" Id="Ra8fd2161b46648ca" /><Relationship Type="http://schemas.openxmlformats.org/officeDocument/2006/relationships/slide" Target="/ppt/slides/slide18.xml" Id="R3d0dbb5123aa4d7e" /><Relationship Type="http://schemas.openxmlformats.org/officeDocument/2006/relationships/slide" Target="/ppt/slides/slide19.xml" Id="Reccdd7e7a72c432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024730e66f4c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dd1d36a4ee4a56" /><Relationship Type="http://schemas.openxmlformats.org/officeDocument/2006/relationships/notesMaster" Target="/ppt/notesMasters/notesMaster1.xml" Id="Rdab5edad84744d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8bb25ea5af4cfc" /><Relationship Type="http://schemas.openxmlformats.org/officeDocument/2006/relationships/notesMaster" Target="/ppt/notesMasters/notesMaster1.xml" Id="Raa32c6dca37947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cd1e2543824a57" /><Relationship Type="http://schemas.openxmlformats.org/officeDocument/2006/relationships/notesMaster" Target="/ppt/notesMasters/notesMaster1.xml" Id="R78e25f13da1c47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c630d8e0894991" /><Relationship Type="http://schemas.openxmlformats.org/officeDocument/2006/relationships/notesMaster" Target="/ppt/notesMasters/notesMaster1.xml" Id="R96ea22661e624c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8f789e2af04f32" /><Relationship Type="http://schemas.openxmlformats.org/officeDocument/2006/relationships/notesMaster" Target="/ppt/notesMasters/notesMaster1.xml" Id="Rff901b9a19b444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2eca40203d4ec3" /><Relationship Type="http://schemas.openxmlformats.org/officeDocument/2006/relationships/notesMaster" Target="/ppt/notesMasters/notesMaster1.xml" Id="Rb8910fd8917845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1500dae57d417b" /><Relationship Type="http://schemas.openxmlformats.org/officeDocument/2006/relationships/notesMaster" Target="/ppt/notesMasters/notesMaster1.xml" Id="Rf3f02bf8110f44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57b37e5b34472d" /><Relationship Type="http://schemas.openxmlformats.org/officeDocument/2006/relationships/notesMaster" Target="/ppt/notesMasters/notesMaster1.xml" Id="Rcdfdf9dfbcd44baa" /></Relationships>
</file>

<file path=ppt/notesSlides/_rels/notesSlide9.xml.rels>&#65279;<?xml version="1.0" encoding="utf-8"?><Relationships xmlns="http://schemas.openxmlformats.org/package/2006/relationships"><Relationship Type="http://schemas.openxmlformats.org/officeDocument/2006/relationships/slide" Target="/ppt/slides/slide9.xml" Id="R2da7200338724d90" /><Relationship Type="http://schemas.openxmlformats.org/officeDocument/2006/relationships/notesMaster" Target="/ppt/notesMasters/notesMaster1.xml" Id="R413e749b4c9240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7274ed2a3a1404c" /><Relationship Type="http://schemas.openxmlformats.org/officeDocument/2006/relationships/notesMaster" Target="/ppt/notesMasters/notesMaster1.xml" Id="Rcad6c181a63a4ad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0c74caf615a4da9" /><Relationship Type="http://schemas.openxmlformats.org/officeDocument/2006/relationships/notesMaster" Target="/ppt/notesMasters/notesMaster1.xml" Id="Rc7986e4e4461428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3ab92d8a51f4e55" /><Relationship Type="http://schemas.openxmlformats.org/officeDocument/2006/relationships/notesMaster" Target="/ppt/notesMasters/notesMaster1.xml" Id="R99d3091c25ec4b1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2e384a1a5964202" /><Relationship Type="http://schemas.openxmlformats.org/officeDocument/2006/relationships/notesMaster" Target="/ppt/notesMasters/notesMaster1.xml" Id="R1bfa7e7ca0f44d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4293b886f0f46fa" /><Relationship Type="http://schemas.openxmlformats.org/officeDocument/2006/relationships/notesMaster" Target="/ppt/notesMasters/notesMaster1.xml" Id="Rb4486c4b033b40c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d0c34c8c01c48ec" /><Relationship Type="http://schemas.openxmlformats.org/officeDocument/2006/relationships/notesMaster" Target="/ppt/notesMasters/notesMaster1.xml" Id="R44fbd1f4907d4b0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387fe2a53a74c86" /><Relationship Type="http://schemas.openxmlformats.org/officeDocument/2006/relationships/notesMaster" Target="/ppt/notesMasters/notesMaster1.xml" Id="R4f14cf069161410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9f86c727ed843d8" /><Relationship Type="http://schemas.openxmlformats.org/officeDocument/2006/relationships/notesMaster" Target="/ppt/notesMasters/notesMaster1.xml" Id="R0be525e02ad2447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130a41701de4d3c" /><Relationship Type="http://schemas.openxmlformats.org/officeDocument/2006/relationships/notesMaster" Target="/ppt/notesMasters/notesMaster1.xml" Id="R5a4e8cf1aec04b1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c92b9952a7d48c1" /><Relationship Type="http://schemas.openxmlformats.org/officeDocument/2006/relationships/notesMaster" Target="/ppt/notesMasters/notesMaster1.xml" Id="Ra843359fe28d41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안내: 약 15분 분량의 본문과 부록. 첨부 노트북 6개의 코드와 저장된 출력만 근거로 사용했다. 실제 운용 효과나 모델 성능이 검증됐다는 의미는 아니다. Notion에서 응급, 119, 프로젝트를 검색했으나 관련 페이지를 찾지 못해 Notion 내용은 반영하지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01_119_API_결과_시각화.ipynb 정리, 03_이송건수_예측.ipynb 0절, 03_인구밀집_예측.ipynb 0절. 운영 활용은 프로젝트 목표를 구체화한 제안이다. 병원 자동 배정, 경로 최적화, 임상 판단 기능의 구현을 의미하지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02_119_ml_dataset.ipynb 셀 16, 18, 20, 24, 25의 출력. 01_119_API_결과_시각화.ipynb 셀 4, 8. 03_이송건수_예측.ipynb, 03_인구밀집_예측.ipynb는 저장된 outputs가 모두 비어 있다. 원본 CSV와 학습 결과 파일은 첨부되지 않아 노트북을 재실행하지 않았다. 전처리 통합 노트북의 의료유출입 및 월별 통합 코드는 출력이 없어 결과 확인과 구분했다.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02_119_데이터_전처리_통합.ipynb 셀 6, 8, 14, 16; 02_119_ml_dataset.ipynb 셀 4, 14, 20. 구급 실적 525행은 25개 구 × 21개 연도이며 결측 대체분을 포함한다. 생활인구 규모는 보간 후 기준이다. 51행은 서울 모든 의료기관을 대표하는 전수 모집단이라는 뜻이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02_119_데이터_전처리_통합.ipynb 셀 4, 6, 8; 02_119_ml_dataset.ipynb 셀 6~12, 16, 18. 구급실적 imputed_zero는 코드상 출동 y의 결측 플래그에서 만든다. 사고원인 onehot 파일은 실질적으로 원인별 건수의 wide 피벗이다. 인구 선형보간은 미래 값을 참조할 수 있으므로 운영 예측에는 과거만 사용하는 대체 정책이 필요하다.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01_119_API_결과_시각화.ipynb 셀 4의 정렬된 fire_df.head() 출력. ds=2025-12-01, 출동건수 y, 이송건수 transport_cnt. 원본에 보이는 상위 5개 행의 수치를 그대로 사용. 강남 2768/1441, 송파 2571/1266, 마포 2415/1169, 서초 2411/1118, 구로 2282/1270. 이송인원 transport_person과 이송건수를 혼동하지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01_119_공공API_연동.ipynb request_get_with_retry 및 fetch_realtime_er_beds; 02_119_ml_dataset.ipynb 셀 4 (51,10), 셀 20 (45,16); 01_119_API_결과_시각화.ipynb 셀 8의 수집시각과 6곳 미보고 출력. 첨부 코드가 음수를 정보없음으로 처리하나 이번 작업에서 API 원문 필드 정의는 검증하지 않았다. 전부 결측인 지역의 sum이 0으로 표현될 위험도 점검 필요. 가용병상 숫자는 실제 환자 수용 확약과 다르며 운영 확인 절차는 후속 설계 사항이다.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02_119_ml_dataset.ipynb 셀 16 (463,33), 셀 18 (75825,20), 셀 20 (45,16), 셀 24~25. 표본 수는 변수 선택 이전의 주제별 데이터셋 기준이며 행 단위는 각각 자치구×연도, 자치구×일, 병원×수집시각이다.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02_119_ml_dataset.ipynb 셀 24. 정확한 r: 전년_transport_person=0.919368, 전년_승강기사고=0.419280, 전년_인명갇힘=0.387757. 3자리 반올림. |r|≥0.3, 특성 간 |r|≥0.9이면 중복 제거, 결측률&gt;50% 제외. 상관관계는 인과관계나 시험 성능을 입증하지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02_119_ml_dataset.ipynb 셀 24~25. 원래 변수명과 상관계수: 7일전_일최대인구수 0.978669, 전일_Night_Pop 0.874927, 전일_일최대이동인구수 0.844614, 전일_동일자치구행정동간이동인구수 0.612631, 전일_Pop_Diff 0.493986. 그래프는 3자리 반올림. 동일 구 내 이동은 원본의 동일 자치구 행정동 간 이동을 줄여 쓴 것이다. 일최대인구수는 인구 규모이며 면적당 인구밀도나 응급 발생위험의 직접 지표가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03_이송건수_예측.ipynb 셀 6~18, 03_인구밀집_예측.ipynb 셀 6~18. 이송 데이터는 year 열이 선택 결과에서 제외돼 파일의 행 순서로 cumcount를 만든다. 실제 연도 보존과 시간 정렬을 명시하는 개선이 필요하다. 인구 목표의 단위는 명, 이송건수는 건이다. 모델 코드가 존재한다는 사실과 학습 완료를 구분한다.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03_이송건수_예측.ipynb, 03_인구밀집_예측.ipynb 셀 12, 18 및 시각화 코드. 기준모델 비교와 분리된 검증 세트는 개선 제안이다. 저장된 성능표가 없으므로 정확도나 최고 모델을 임의로 채우지 않았다. 시험 구간으로 모델을 선택하고 같은 구간 점수를 최종 성능으로 쓰면 선택 편향이 생기므로 검증 구간에서 모델을 고른 뒤 별도 최종 시험이 필요하다.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코드 검토: 02_119_ml_dataset.ipynb 셀 23~24는 전체 자료로 상관계수를 산출해 변수를 선택한다. 03_이송건수_예측.ipynb 셀 6은 분할 전 전체 자치구 중앙값으로 결측을 채운다. 02_119_데이터_전처리_통합.ipynb 셀 8은 양방향 선형보간을 사용한다. 두 모델의 validation_split=0.2는 자치구별로 정렬된 배열에 적용돼 공통 시간 검증을 보장하지 않는다. 개선 사항은 이번 PPT의 검토 제안으로 노트북을 수정한 것은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02_119_데이터_전처리_통합.ipynb 셀 14, 16, 18. 600행은 25개 구×24개월의 설계 규모이며 건별 월집계 (600,9)는 실행 출력 확인, 최종 통합표는 출력 미확인. 의료이용 값은 입원 연인원이며 119 이송건수와 직접 동일시할 수 없다. 연간 지표를 같은 연도의 모든 월에 붙이면 미래정보가 들어갈 수 있으므로 공개 시점 기준 지연 변수를 적용해야 한다. 02_119_ml_dataset.ipynb 파일 목록은 새 통합 월별 파일을 읽지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슬라이드는 첨부 코드에서 확인되는 수요·병상 데이터 구조를 활용한 후속 서비스 설계 제안이다. 연간 이송건수, 일 최대 생활인구, 실시간 병상 수는 시간 단위가 달라 그대로 나누거나 합쳐 단일 위험 점수를 만들 수 없다. 단기 수요 예측과 운영 규칙을 별도로 개발해야 하며 임상 권고 또는 실제 이송지 결정 지침이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후속 로드맵은 코드 검토를 바탕으로 제안했다. 현 노트북에 실제 응급의료 대응시간, 이송지 확정시간, 병상 수용 거절 횟수 등의 운영 성과 데이터는 없다. 단축률이나 개선율을 임의로 제시하지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마무리: 현재 성과는 데이터 정리와 수요·수용 여력 탐색에 있다. ML 5종과 DNN의 비교 코드를 작성했지만 성능표가 없어 학습 성공이나 정확도를 단정하지 않는다. 최적화라는 프로젝트 목적을 달성하려면 추가 수집, 시간 기준 평가, 운영 효과 측정이 필요하다.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03_이송건수_예측.ipynb 셀 28에서 전년_transport_person=last_rows[target], target=transport_cnt. 전년_승강기사고와 전년_인명갇힘도 last_rows의 이미 lag된 값을 그대로 사용한다. 셀 18에서 DNN용 y_scaler는 별도 저장하지 않는다. 03_인구밀집_예측.ipynb도 같은 저장 구조. 02_119_데이터_전처리_통합.ipynb 셀 14의 2022년 합계는 건별 617256건, xlsx 620693건으로 3437건 차이가 있다. 동일한 출처와 집계 기준으로 비교해야 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확인 기준: 2026-09-28 첨부본. 모든 데이터 수치는 노트북에 저장된 출력에서 인용했다. API를 새로 호출하지 않았으며, 모델을 재학습하지 않았다. 슬라이드별 발표자 노트에 파일명·셀 위치 및 제안 여부를 기록했다. Notion 검색어: 응급, 119, 프로젝트. 검색 결과가 없어 Notion 자료가 없다는 뜻으로 확대 해석하지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73fd74ac1740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db9d1907e9447b" /><Relationship Type="http://schemas.openxmlformats.org/officeDocument/2006/relationships/slideLayout" Target="/ppt/slideLayouts/slideLayout1.xml" Id="R054cc282b4624a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4cc282b4624a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d7286c02f314f12" /><Relationship Type="http://schemas.openxmlformats.org/officeDocument/2006/relationships/notesSlide" Target="/ppt/notesSlides/notesSlide1.xml" Id="R97acc12e7be343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fad06cf5d274b45" /><Relationship Type="http://schemas.openxmlformats.org/officeDocument/2006/relationships/notesSlide" Target="/ppt/notesSlides/notesSlide2.xml" Id="R3deb9d58329442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cd280cb29e04ae2" /><Relationship Type="http://schemas.openxmlformats.org/officeDocument/2006/relationships/notesSlide" Target="/ppt/notesSlides/notesSlide3.xml" Id="R871e3c44891d4c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4bb94456dad4d74" /><Relationship Type="http://schemas.openxmlformats.org/officeDocument/2006/relationships/notesSlide" Target="/ppt/notesSlides/notesSlide4.xml" Id="Ra7a26365776a46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87c9db02a6041c6" /><Relationship Type="http://schemas.openxmlformats.org/officeDocument/2006/relationships/notesSlide" Target="/ppt/notesSlides/notesSlide5.xml" Id="Rb8e8b3de486e4f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fcb1ad4b1284e6a" /><Relationship Type="http://schemas.openxmlformats.org/officeDocument/2006/relationships/chart" Target="/ppt/slides/charts/chart1.xml" Id="Rc33ce32d75304f12" /><Relationship Type="http://schemas.openxmlformats.org/officeDocument/2006/relationships/notesSlide" Target="/ppt/notesSlides/notesSlide6.xml" Id="Rc70217f7d3c444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ca4281847e4436f" /><Relationship Type="http://schemas.openxmlformats.org/officeDocument/2006/relationships/notesSlide" Target="/ppt/notesSlides/notesSlide7.xml" Id="Ra0760dbbd9cd4fb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dabc850684e4cc8" /><Relationship Type="http://schemas.openxmlformats.org/officeDocument/2006/relationships/notesSlide" Target="/ppt/notesSlides/notesSlide8.xml" Id="Rdf741e25cc1643e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1eec5ef005442e1" /><Relationship Type="http://schemas.openxmlformats.org/officeDocument/2006/relationships/chart" Target="/ppt/slides/charts/chart2.xml" Id="Rff1e169592af40f8" /><Relationship Type="http://schemas.openxmlformats.org/officeDocument/2006/relationships/notesSlide" Target="/ppt/notesSlides/notesSlide9.xml" Id="Reaa61ba5783e45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a495f3abde64d43" /><Relationship Type="http://schemas.openxmlformats.org/officeDocument/2006/relationships/chart" Target="/ppt/slides/charts/chart3.xml" Id="Rcddaa43262d44523" /><Relationship Type="http://schemas.openxmlformats.org/officeDocument/2006/relationships/notesSlide" Target="/ppt/notesSlides/notesSlide10.xml" Id="Ra37aadb33f324eb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d4d36a7fa54430a" /><Relationship Type="http://schemas.openxmlformats.org/officeDocument/2006/relationships/notesSlide" Target="/ppt/notesSlides/notesSlide11.xml" Id="R5b5e6c3e78c249b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f34c3ee7ae74c76" /><Relationship Type="http://schemas.openxmlformats.org/officeDocument/2006/relationships/notesSlide" Target="/ppt/notesSlides/notesSlide12.xml" Id="Ra0721239fcaa46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477504c8f594fa7" /><Relationship Type="http://schemas.openxmlformats.org/officeDocument/2006/relationships/notesSlide" Target="/ppt/notesSlides/notesSlide13.xml" Id="Redeab5a63a394e8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b97c72181594ca9" /><Relationship Type="http://schemas.openxmlformats.org/officeDocument/2006/relationships/notesSlide" Target="/ppt/notesSlides/notesSlide14.xml" Id="Rb51e0a9b991347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28a44e5353f4111" /><Relationship Type="http://schemas.openxmlformats.org/officeDocument/2006/relationships/notesSlide" Target="/ppt/notesSlides/notesSlide15.xml" Id="R3835b1da08cb429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d1fa6fb251e43a7" /><Relationship Type="http://schemas.openxmlformats.org/officeDocument/2006/relationships/notesSlide" Target="/ppt/notesSlides/notesSlide16.xml" Id="R097d345758a247c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29f827e41734bbc" /><Relationship Type="http://schemas.openxmlformats.org/officeDocument/2006/relationships/notesSlide" Target="/ppt/notesSlides/notesSlide17.xml" Id="R77a53eb065ef441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f6671d0ec174e24" /><Relationship Type="http://schemas.openxmlformats.org/officeDocument/2006/relationships/notesSlide" Target="/ppt/notesSlides/notesSlide18.xml" Id="R97f4c37697134ba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8eb6192fdc84f4d" /><Relationship Type="http://schemas.openxmlformats.org/officeDocument/2006/relationships/notesSlide" Target="/ppt/notesSlides/notesSlide19.xml" Id="R4f263f8c141b4f8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출동건수</c:v>
          </c:tx>
          <c:spPr>
            <a:solidFill xmlns:a="http://schemas.openxmlformats.org/drawingml/2006/main">
              <a:srgbClr val="007F82"/>
            </a:solidFill>
          </c:spPr>
          <c:dLbls>
            <c:dLbl>
              <c:idx val="0"/>
              <c:tx>
                <c:rich>
                  <a:bodyPr xmlns:a="http://schemas.openxmlformats.org/drawingml/2006/main"/>
                  <a:lstStyle xmlns:a="http://schemas.openxmlformats.org/drawingml/2006/main"/>
                  <a:p xmlns:a="http://schemas.openxmlformats.org/drawingml/2006/main">
                    <a:r>
                      <a:rPr sz="1500">
                        <a:solidFill>
                          <a:srgbClr val="112D3A"/>
                        </a:solidFill>
                        <a:latin typeface="Noto Sans CJK KR"/>
                        <a:ea typeface="Noto Sans CJK KR"/>
                        <a:cs typeface="Noto Sans CJK KR"/>
                      </a:rPr>
                      <a:t>2,768</a:t>
                    </a:r>
                  </a:p>
                </c:rich>
              </c:tx>
              <c:txPr>
                <a:bodyPr xmlns:a="http://schemas.openxmlformats.org/drawingml/2006/main" anchorCtr="1"/>
                <a:lstStyle xmlns:a="http://schemas.openxmlformats.org/drawingml/2006/main"/>
                <a:p xmlns:a="http://schemas.openxmlformats.org/drawingml/2006/main">
                  <a:pPr>
                    <a:defRPr sz="1500">
                      <a:solidFill>
                        <a:srgbClr val="112D3A"/>
                      </a:solidFill>
                      <a:latin typeface="Noto Sans CJK KR"/>
                      <a:ea typeface="Noto Sans CJK KR"/>
                      <a:cs typeface="Noto Sans CJK KR"/>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00">
                        <a:solidFill>
                          <a:srgbClr val="112D3A"/>
                        </a:solidFill>
                        <a:latin typeface="Noto Sans CJK KR"/>
                        <a:ea typeface="Noto Sans CJK KR"/>
                        <a:cs typeface="Noto Sans CJK KR"/>
                      </a:rPr>
                      <a:t>2,571</a:t>
                    </a:r>
                  </a:p>
                </c:rich>
              </c:tx>
              <c:txPr>
                <a:bodyPr xmlns:a="http://schemas.openxmlformats.org/drawingml/2006/main" anchorCtr="1"/>
                <a:lstStyle xmlns:a="http://schemas.openxmlformats.org/drawingml/2006/main"/>
                <a:p xmlns:a="http://schemas.openxmlformats.org/drawingml/2006/main">
                  <a:pPr>
                    <a:defRPr sz="1500">
                      <a:solidFill>
                        <a:srgbClr val="112D3A"/>
                      </a:solidFill>
                      <a:latin typeface="Noto Sans CJK KR"/>
                      <a:ea typeface="Noto Sans CJK KR"/>
                      <a:cs typeface="Noto Sans CJK KR"/>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500">
                        <a:solidFill>
                          <a:srgbClr val="112D3A"/>
                        </a:solidFill>
                        <a:latin typeface="Noto Sans CJK KR"/>
                        <a:ea typeface="Noto Sans CJK KR"/>
                        <a:cs typeface="Noto Sans CJK KR"/>
                      </a:rPr>
                      <a:t>2,415</a:t>
                    </a:r>
                  </a:p>
                </c:rich>
              </c:tx>
              <c:txPr>
                <a:bodyPr xmlns:a="http://schemas.openxmlformats.org/drawingml/2006/main" anchorCtr="1"/>
                <a:lstStyle xmlns:a="http://schemas.openxmlformats.org/drawingml/2006/main"/>
                <a:p xmlns:a="http://schemas.openxmlformats.org/drawingml/2006/main">
                  <a:pPr>
                    <a:defRPr sz="1500">
                      <a:solidFill>
                        <a:srgbClr val="112D3A"/>
                      </a:solidFill>
                      <a:latin typeface="Noto Sans CJK KR"/>
                      <a:ea typeface="Noto Sans CJK KR"/>
                      <a:cs typeface="Noto Sans CJK KR"/>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500">
                        <a:solidFill>
                          <a:srgbClr val="112D3A"/>
                        </a:solidFill>
                        <a:latin typeface="Noto Sans CJK KR"/>
                        <a:ea typeface="Noto Sans CJK KR"/>
                        <a:cs typeface="Noto Sans CJK KR"/>
                      </a:rPr>
                      <a:t>2,411</a:t>
                    </a:r>
                  </a:p>
                </c:rich>
              </c:tx>
              <c:txPr>
                <a:bodyPr xmlns:a="http://schemas.openxmlformats.org/drawingml/2006/main" anchorCtr="1"/>
                <a:lstStyle xmlns:a="http://schemas.openxmlformats.org/drawingml/2006/main"/>
                <a:p xmlns:a="http://schemas.openxmlformats.org/drawingml/2006/main">
                  <a:pPr>
                    <a:defRPr sz="1500">
                      <a:solidFill>
                        <a:srgbClr val="112D3A"/>
                      </a:solidFill>
                      <a:latin typeface="Noto Sans CJK KR"/>
                      <a:ea typeface="Noto Sans CJK KR"/>
                      <a:cs typeface="Noto Sans CJK KR"/>
                    </a:defRPr>
                  </a:pPr>
                </a:p>
              </c:txP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500">
                        <a:solidFill>
                          <a:srgbClr val="112D3A"/>
                        </a:solidFill>
                        <a:latin typeface="Noto Sans CJK KR"/>
                        <a:ea typeface="Noto Sans CJK KR"/>
                        <a:cs typeface="Noto Sans CJK KR"/>
                      </a:rPr>
                      <a:t>2,282</a:t>
                    </a:r>
                  </a:p>
                </c:rich>
              </c:tx>
              <c:txPr>
                <a:bodyPr xmlns:a="http://schemas.openxmlformats.org/drawingml/2006/main" anchorCtr="1"/>
                <a:lstStyle xmlns:a="http://schemas.openxmlformats.org/drawingml/2006/main"/>
                <a:p xmlns:a="http://schemas.openxmlformats.org/drawingml/2006/main">
                  <a:pPr>
                    <a:defRPr sz="1500">
                      <a:solidFill>
                        <a:srgbClr val="112D3A"/>
                      </a:solidFill>
                      <a:latin typeface="Noto Sans CJK KR"/>
                      <a:ea typeface="Noto Sans CJK KR"/>
                      <a:cs typeface="Noto Sans CJK KR"/>
                    </a:defRPr>
                  </a:pPr>
                </a:p>
              </c:txPr>
              <c:showLegendKey val="0"/>
              <c:showVal val="1"/>
              <c:showCatName val="0"/>
              <c:showSerName val="0"/>
              <c:showPercent val="0"/>
              <c:showBubbleSize val="0"/>
            </c:dLbl>
          </c:dLbls>
          <c:cat>
            <c:strRef>
              <c:f>'Chart Data'!$A$2:$A$6</c:f>
              <c:strCache>
                <c:ptCount val="5"/>
                <c:pt idx="0">
                  <c:v>강남구</c:v>
                </c:pt>
                <c:pt idx="1">
                  <c:v>송파구</c:v>
                </c:pt>
                <c:pt idx="2">
                  <c:v>마포구</c:v>
                </c:pt>
                <c:pt idx="3">
                  <c:v>서초구</c:v>
                </c:pt>
                <c:pt idx="4">
                  <c:v>구로구</c:v>
                </c:pt>
              </c:strCache>
            </c:strRef>
          </c:cat>
          <c:val>
            <c:numRef>
              <c:f>'Chart Data'!$B$2:$B$6</c:f>
              <c:numCache>
                <c:formatCode>#,##0</c:formatCode>
                <c:ptCount val="5"/>
                <c:pt idx="0">
                  <c:v>2768</c:v>
                </c:pt>
                <c:pt idx="1">
                  <c:v>2571</c:v>
                </c:pt>
                <c:pt idx="2">
                  <c:v>2415</c:v>
                </c:pt>
                <c:pt idx="3">
                  <c:v>2411</c:v>
                </c:pt>
                <c:pt idx="4">
                  <c:v>2282</c:v>
                </c:pt>
              </c:numCache>
            </c:numRef>
          </c:val>
        </c:ser>
        <c:ser>
          <c:idx val="1"/>
          <c:order val="1"/>
          <c:tx>
            <c:v>이송건수</c:v>
          </c:tx>
          <c:spPr>
            <a:solidFill xmlns:a="http://schemas.openxmlformats.org/drawingml/2006/main">
              <a:srgbClr val="91B8C9"/>
            </a:solidFill>
          </c:spPr>
          <c:dLbls>
            <c:dLbl>
              <c:idx val="0"/>
              <c:tx>
                <c:rich>
                  <a:bodyPr xmlns:a="http://schemas.openxmlformats.org/drawingml/2006/main"/>
                  <a:lstStyle xmlns:a="http://schemas.openxmlformats.org/drawingml/2006/main"/>
                  <a:p xmlns:a="http://schemas.openxmlformats.org/drawingml/2006/main">
                    <a:r>
                      <a:rPr sz="1500">
                        <a:solidFill>
                          <a:srgbClr val="112D3A"/>
                        </a:solidFill>
                        <a:latin typeface="Noto Sans CJK KR"/>
                        <a:ea typeface="Noto Sans CJK KR"/>
                        <a:cs typeface="Noto Sans CJK KR"/>
                      </a:rPr>
                      <a:t>1,441</a:t>
                    </a:r>
                  </a:p>
                </c:rich>
              </c:tx>
              <c:txPr>
                <a:bodyPr xmlns:a="http://schemas.openxmlformats.org/drawingml/2006/main" anchorCtr="1"/>
                <a:lstStyle xmlns:a="http://schemas.openxmlformats.org/drawingml/2006/main"/>
                <a:p xmlns:a="http://schemas.openxmlformats.org/drawingml/2006/main">
                  <a:pPr>
                    <a:defRPr sz="1500">
                      <a:solidFill>
                        <a:srgbClr val="112D3A"/>
                      </a:solidFill>
                      <a:latin typeface="Noto Sans CJK KR"/>
                      <a:ea typeface="Noto Sans CJK KR"/>
                      <a:cs typeface="Noto Sans CJK KR"/>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00">
                        <a:solidFill>
                          <a:srgbClr val="112D3A"/>
                        </a:solidFill>
                        <a:latin typeface="Noto Sans CJK KR"/>
                        <a:ea typeface="Noto Sans CJK KR"/>
                        <a:cs typeface="Noto Sans CJK KR"/>
                      </a:rPr>
                      <a:t>1,266</a:t>
                    </a:r>
                  </a:p>
                </c:rich>
              </c:tx>
              <c:txPr>
                <a:bodyPr xmlns:a="http://schemas.openxmlformats.org/drawingml/2006/main" anchorCtr="1"/>
                <a:lstStyle xmlns:a="http://schemas.openxmlformats.org/drawingml/2006/main"/>
                <a:p xmlns:a="http://schemas.openxmlformats.org/drawingml/2006/main">
                  <a:pPr>
                    <a:defRPr sz="1500">
                      <a:solidFill>
                        <a:srgbClr val="112D3A"/>
                      </a:solidFill>
                      <a:latin typeface="Noto Sans CJK KR"/>
                      <a:ea typeface="Noto Sans CJK KR"/>
                      <a:cs typeface="Noto Sans CJK KR"/>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500">
                        <a:solidFill>
                          <a:srgbClr val="112D3A"/>
                        </a:solidFill>
                        <a:latin typeface="Noto Sans CJK KR"/>
                        <a:ea typeface="Noto Sans CJK KR"/>
                        <a:cs typeface="Noto Sans CJK KR"/>
                      </a:rPr>
                      <a:t>1,169</a:t>
                    </a:r>
                  </a:p>
                </c:rich>
              </c:tx>
              <c:txPr>
                <a:bodyPr xmlns:a="http://schemas.openxmlformats.org/drawingml/2006/main" anchorCtr="1"/>
                <a:lstStyle xmlns:a="http://schemas.openxmlformats.org/drawingml/2006/main"/>
                <a:p xmlns:a="http://schemas.openxmlformats.org/drawingml/2006/main">
                  <a:pPr>
                    <a:defRPr sz="1500">
                      <a:solidFill>
                        <a:srgbClr val="112D3A"/>
                      </a:solidFill>
                      <a:latin typeface="Noto Sans CJK KR"/>
                      <a:ea typeface="Noto Sans CJK KR"/>
                      <a:cs typeface="Noto Sans CJK KR"/>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500">
                        <a:solidFill>
                          <a:srgbClr val="112D3A"/>
                        </a:solidFill>
                        <a:latin typeface="Noto Sans CJK KR"/>
                        <a:ea typeface="Noto Sans CJK KR"/>
                        <a:cs typeface="Noto Sans CJK KR"/>
                      </a:rPr>
                      <a:t>1,118</a:t>
                    </a:r>
                  </a:p>
                </c:rich>
              </c:tx>
              <c:txPr>
                <a:bodyPr xmlns:a="http://schemas.openxmlformats.org/drawingml/2006/main" anchorCtr="1"/>
                <a:lstStyle xmlns:a="http://schemas.openxmlformats.org/drawingml/2006/main"/>
                <a:p xmlns:a="http://schemas.openxmlformats.org/drawingml/2006/main">
                  <a:pPr>
                    <a:defRPr sz="1500">
                      <a:solidFill>
                        <a:srgbClr val="112D3A"/>
                      </a:solidFill>
                      <a:latin typeface="Noto Sans CJK KR"/>
                      <a:ea typeface="Noto Sans CJK KR"/>
                      <a:cs typeface="Noto Sans CJK KR"/>
                    </a:defRPr>
                  </a:pPr>
                </a:p>
              </c:txP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500">
                        <a:solidFill>
                          <a:srgbClr val="112D3A"/>
                        </a:solidFill>
                        <a:latin typeface="Noto Sans CJK KR"/>
                        <a:ea typeface="Noto Sans CJK KR"/>
                        <a:cs typeface="Noto Sans CJK KR"/>
                      </a:rPr>
                      <a:t>1,270</a:t>
                    </a:r>
                  </a:p>
                </c:rich>
              </c:tx>
              <c:txPr>
                <a:bodyPr xmlns:a="http://schemas.openxmlformats.org/drawingml/2006/main" anchorCtr="1"/>
                <a:lstStyle xmlns:a="http://schemas.openxmlformats.org/drawingml/2006/main"/>
                <a:p xmlns:a="http://schemas.openxmlformats.org/drawingml/2006/main">
                  <a:pPr>
                    <a:defRPr sz="1500">
                      <a:solidFill>
                        <a:srgbClr val="112D3A"/>
                      </a:solidFill>
                      <a:latin typeface="Noto Sans CJK KR"/>
                      <a:ea typeface="Noto Sans CJK KR"/>
                      <a:cs typeface="Noto Sans CJK KR"/>
                    </a:defRPr>
                  </a:pPr>
                </a:p>
              </c:txPr>
              <c:showLegendKey val="0"/>
              <c:showVal val="1"/>
              <c:showCatName val="0"/>
              <c:showSerName val="0"/>
              <c:showPercent val="0"/>
              <c:showBubbleSize val="0"/>
            </c:dLbl>
          </c:dLbls>
          <c:cat>
            <c:strRef>
              <c:f>'Chart Data'!$C$2:$C$6</c:f>
              <c:strCache>
                <c:ptCount val="5"/>
                <c:pt idx="0">
                  <c:v>강남구</c:v>
                </c:pt>
                <c:pt idx="1">
                  <c:v>송파구</c:v>
                </c:pt>
                <c:pt idx="2">
                  <c:v>마포구</c:v>
                </c:pt>
                <c:pt idx="3">
                  <c:v>서초구</c:v>
                </c:pt>
                <c:pt idx="4">
                  <c:v>구로구</c:v>
                </c:pt>
              </c:strCache>
            </c:strRef>
          </c:cat>
          <c:val>
            <c:numRef>
              <c:f>'Chart Data'!$D$2:$D$6</c:f>
              <c:numCache>
                <c:formatCode>#,##0</c:formatCode>
                <c:ptCount val="5"/>
                <c:pt idx="0">
                  <c:v>1441</c:v>
                </c:pt>
                <c:pt idx="1">
                  <c:v>1266</c:v>
                </c:pt>
                <c:pt idx="2">
                  <c:v>1169</c:v>
                </c:pt>
                <c:pt idx="3">
                  <c:v>1118</c:v>
                </c:pt>
                <c:pt idx="4">
                  <c:v>1270</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12D3A"/>
                  </a:solidFill>
                  <a:latin typeface="Noto Sans CJK KR"/>
                  <a:ea typeface="Noto Sans CJK KR"/>
                  <a:cs typeface="Noto Sans CJK KR"/>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12D3A"/>
                </a:solidFill>
                <a:latin typeface="Noto Sans CJK KR"/>
                <a:ea typeface="Noto Sans CJK KR"/>
                <a:cs typeface="Noto Sans CJK KR"/>
              </a:defRPr>
            </a:pPr>
          </a:p>
        </c:txPr>
        <c:crossAx val="48672768"/>
      </c:catAx>
      <c:valAx>
        <c:axId val="48672768"/>
        <c:scaling>
          <c:orientation val="minMax"/>
          <c:max val="3200"/>
          <c:min val="0"/>
        </c:scaling>
        <c:delete val="0"/>
        <c:axPos val="l"/>
        <c:majorGridlines>
          <c:spPr>
            <a:ln xmlns:a="http://schemas.openxmlformats.org/drawingml/2006/main" w="9525">
              <a:solidFill>
                <a:srgbClr val="E0E9EB"/>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874"/>
                </a:solidFill>
                <a:latin typeface="Noto Sans CJK KR"/>
                <a:ea typeface="Noto Sans CJK KR"/>
                <a:cs typeface="Noto Sans CJK KR"/>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Noto Sans CJK KR"/>
              <a:ea typeface="Noto Sans CJK KR"/>
              <a:cs typeface="Noto Sans CJK KR"/>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피어슨 상관계수</c:v>
          </c:tx>
          <c:spPr>
            <a:solidFill xmlns:a="http://schemas.openxmlformats.org/drawingml/2006/main">
              <a:srgbClr val="007F82"/>
            </a:solidFill>
          </c:spPr>
          <c:dLbls>
            <c:dLbl>
              <c:idx val="0"/>
              <c:tx>
                <c:rich>
                  <a:bodyPr xmlns:a="http://schemas.openxmlformats.org/drawingml/2006/main"/>
                  <a:lstStyle xmlns:a="http://schemas.openxmlformats.org/drawingml/2006/main"/>
                  <a:p xmlns:a="http://schemas.openxmlformats.org/drawingml/2006/main">
                    <a:r>
                      <a:rPr sz="1500">
                        <a:solidFill>
                          <a:srgbClr val="112D3A"/>
                        </a:solidFill>
                        <a:latin typeface="Noto Sans CJK KR"/>
                        <a:ea typeface="Noto Sans CJK KR"/>
                        <a:cs typeface="Noto Sans CJK KR"/>
                      </a:rPr>
                      <a:t>0.919</a:t>
                    </a:r>
                  </a:p>
                </c:rich>
              </c:tx>
              <c:txPr>
                <a:bodyPr xmlns:a="http://schemas.openxmlformats.org/drawingml/2006/main" anchorCtr="1"/>
                <a:lstStyle xmlns:a="http://schemas.openxmlformats.org/drawingml/2006/main"/>
                <a:p xmlns:a="http://schemas.openxmlformats.org/drawingml/2006/main">
                  <a:pPr>
                    <a:defRPr sz="1500">
                      <a:solidFill>
                        <a:srgbClr val="112D3A"/>
                      </a:solidFill>
                      <a:latin typeface="Noto Sans CJK KR"/>
                      <a:ea typeface="Noto Sans CJK KR"/>
                      <a:cs typeface="Noto Sans CJK KR"/>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00">
                        <a:solidFill>
                          <a:srgbClr val="112D3A"/>
                        </a:solidFill>
                        <a:latin typeface="Noto Sans CJK KR"/>
                        <a:ea typeface="Noto Sans CJK KR"/>
                        <a:cs typeface="Noto Sans CJK KR"/>
                      </a:rPr>
                      <a:t>0.419</a:t>
                    </a:r>
                  </a:p>
                </c:rich>
              </c:tx>
              <c:txPr>
                <a:bodyPr xmlns:a="http://schemas.openxmlformats.org/drawingml/2006/main" anchorCtr="1"/>
                <a:lstStyle xmlns:a="http://schemas.openxmlformats.org/drawingml/2006/main"/>
                <a:p xmlns:a="http://schemas.openxmlformats.org/drawingml/2006/main">
                  <a:pPr>
                    <a:defRPr sz="1500">
                      <a:solidFill>
                        <a:srgbClr val="112D3A"/>
                      </a:solidFill>
                      <a:latin typeface="Noto Sans CJK KR"/>
                      <a:ea typeface="Noto Sans CJK KR"/>
                      <a:cs typeface="Noto Sans CJK KR"/>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500">
                        <a:solidFill>
                          <a:srgbClr val="112D3A"/>
                        </a:solidFill>
                        <a:latin typeface="Noto Sans CJK KR"/>
                        <a:ea typeface="Noto Sans CJK KR"/>
                        <a:cs typeface="Noto Sans CJK KR"/>
                      </a:rPr>
                      <a:t>0.388</a:t>
                    </a:r>
                  </a:p>
                </c:rich>
              </c:tx>
              <c:txPr>
                <a:bodyPr xmlns:a="http://schemas.openxmlformats.org/drawingml/2006/main" anchorCtr="1"/>
                <a:lstStyle xmlns:a="http://schemas.openxmlformats.org/drawingml/2006/main"/>
                <a:p xmlns:a="http://schemas.openxmlformats.org/drawingml/2006/main">
                  <a:pPr>
                    <a:defRPr sz="1500">
                      <a:solidFill>
                        <a:srgbClr val="112D3A"/>
                      </a:solidFill>
                      <a:latin typeface="Noto Sans CJK KR"/>
                      <a:ea typeface="Noto Sans CJK KR"/>
                      <a:cs typeface="Noto Sans CJK KR"/>
                    </a:defRPr>
                  </a:pPr>
                </a:p>
              </c:txPr>
              <c:showLegendKey val="0"/>
              <c:showVal val="1"/>
              <c:showCatName val="0"/>
              <c:showSerName val="0"/>
              <c:showPercent val="0"/>
              <c:showBubbleSize val="0"/>
            </c:dLbl>
          </c:dLbls>
          <c:cat>
            <c:strRef>
              <c:f>'Chart Data'!$A$2:$A$4</c:f>
              <c:strCache>
                <c:ptCount val="3"/>
                <c:pt idx="0">
                  <c:v>전년 이송인원</c:v>
                </c:pt>
                <c:pt idx="1">
                  <c:v>전년 승강기사고</c:v>
                </c:pt>
                <c:pt idx="2">
                  <c:v>전년 인명갇힘</c:v>
                </c:pt>
              </c:strCache>
            </c:strRef>
          </c:cat>
          <c:val>
            <c:numRef>
              <c:f>'Chart Data'!$B$2:$B$4</c:f>
              <c:numCache>
                <c:formatCode>0.000</c:formatCode>
                <c:ptCount val="3"/>
                <c:pt idx="0">
                  <c:v>0.919</c:v>
                </c:pt>
                <c:pt idx="1">
                  <c:v>0.419</c:v>
                </c:pt>
                <c:pt idx="2">
                  <c:v>0.388</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12D3A"/>
                  </a:solidFill>
                  <a:latin typeface="Noto Sans CJK KR"/>
                  <a:ea typeface="Noto Sans CJK KR"/>
                  <a:cs typeface="Noto Sans CJK KR"/>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12D3A"/>
                </a:solidFill>
                <a:latin typeface="Noto Sans CJK KR"/>
                <a:ea typeface="Noto Sans CJK KR"/>
                <a:cs typeface="Noto Sans CJK KR"/>
              </a:defRPr>
            </a:pPr>
          </a:p>
        </c:txPr>
        <c:crossAx val="48672768"/>
      </c:catAx>
      <c:valAx>
        <c:axId val="48672768"/>
        <c:scaling>
          <c:orientation val="minMax"/>
          <c:max val="1"/>
          <c:min val="0"/>
        </c:scaling>
        <c:delete val="0"/>
        <c:axPos val="l"/>
        <c:majorGridlines>
          <c:spPr>
            <a:ln xmlns:a="http://schemas.openxmlformats.org/drawingml/2006/main" w="9525">
              <a:solidFill>
                <a:srgbClr val="E0E9EB"/>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874"/>
                </a:solidFill>
                <a:latin typeface="Noto Sans CJK KR"/>
                <a:ea typeface="Noto Sans CJK KR"/>
                <a:cs typeface="Noto Sans CJK KR"/>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피어슨 상관계수</c:v>
          </c:tx>
          <c:spPr>
            <a:solidFill xmlns:a="http://schemas.openxmlformats.org/drawingml/2006/main">
              <a:srgbClr val="007F82"/>
            </a:solidFill>
          </c:spPr>
          <c:dLbls>
            <c:dLbl>
              <c:idx val="0"/>
              <c:tx>
                <c:rich>
                  <a:bodyPr xmlns:a="http://schemas.openxmlformats.org/drawingml/2006/main"/>
                  <a:lstStyle xmlns:a="http://schemas.openxmlformats.org/drawingml/2006/main"/>
                  <a:p xmlns:a="http://schemas.openxmlformats.org/drawingml/2006/main">
                    <a:r>
                      <a:rPr sz="1500">
                        <a:solidFill>
                          <a:srgbClr val="112D3A"/>
                        </a:solidFill>
                        <a:latin typeface="Noto Sans CJK KR"/>
                        <a:ea typeface="Noto Sans CJK KR"/>
                        <a:cs typeface="Noto Sans CJK KR"/>
                      </a:rPr>
                      <a:t>0.979</a:t>
                    </a:r>
                  </a:p>
                </c:rich>
              </c:tx>
              <c:txPr>
                <a:bodyPr xmlns:a="http://schemas.openxmlformats.org/drawingml/2006/main" anchorCtr="1"/>
                <a:lstStyle xmlns:a="http://schemas.openxmlformats.org/drawingml/2006/main"/>
                <a:p xmlns:a="http://schemas.openxmlformats.org/drawingml/2006/main">
                  <a:pPr>
                    <a:defRPr sz="1500">
                      <a:solidFill>
                        <a:srgbClr val="112D3A"/>
                      </a:solidFill>
                      <a:latin typeface="Noto Sans CJK KR"/>
                      <a:ea typeface="Noto Sans CJK KR"/>
                      <a:cs typeface="Noto Sans CJK KR"/>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00">
                        <a:solidFill>
                          <a:srgbClr val="112D3A"/>
                        </a:solidFill>
                        <a:latin typeface="Noto Sans CJK KR"/>
                        <a:ea typeface="Noto Sans CJK KR"/>
                        <a:cs typeface="Noto Sans CJK KR"/>
                      </a:rPr>
                      <a:t>0.875</a:t>
                    </a:r>
                  </a:p>
                </c:rich>
              </c:tx>
              <c:txPr>
                <a:bodyPr xmlns:a="http://schemas.openxmlformats.org/drawingml/2006/main" anchorCtr="1"/>
                <a:lstStyle xmlns:a="http://schemas.openxmlformats.org/drawingml/2006/main"/>
                <a:p xmlns:a="http://schemas.openxmlformats.org/drawingml/2006/main">
                  <a:pPr>
                    <a:defRPr sz="1500">
                      <a:solidFill>
                        <a:srgbClr val="112D3A"/>
                      </a:solidFill>
                      <a:latin typeface="Noto Sans CJK KR"/>
                      <a:ea typeface="Noto Sans CJK KR"/>
                      <a:cs typeface="Noto Sans CJK KR"/>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500">
                        <a:solidFill>
                          <a:srgbClr val="112D3A"/>
                        </a:solidFill>
                        <a:latin typeface="Noto Sans CJK KR"/>
                        <a:ea typeface="Noto Sans CJK KR"/>
                        <a:cs typeface="Noto Sans CJK KR"/>
                      </a:rPr>
                      <a:t>0.845</a:t>
                    </a:r>
                  </a:p>
                </c:rich>
              </c:tx>
              <c:txPr>
                <a:bodyPr xmlns:a="http://schemas.openxmlformats.org/drawingml/2006/main" anchorCtr="1"/>
                <a:lstStyle xmlns:a="http://schemas.openxmlformats.org/drawingml/2006/main"/>
                <a:p xmlns:a="http://schemas.openxmlformats.org/drawingml/2006/main">
                  <a:pPr>
                    <a:defRPr sz="1500">
                      <a:solidFill>
                        <a:srgbClr val="112D3A"/>
                      </a:solidFill>
                      <a:latin typeface="Noto Sans CJK KR"/>
                      <a:ea typeface="Noto Sans CJK KR"/>
                      <a:cs typeface="Noto Sans CJK KR"/>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500">
                        <a:solidFill>
                          <a:srgbClr val="112D3A"/>
                        </a:solidFill>
                        <a:latin typeface="Noto Sans CJK KR"/>
                        <a:ea typeface="Noto Sans CJK KR"/>
                        <a:cs typeface="Noto Sans CJK KR"/>
                      </a:rPr>
                      <a:t>0.613</a:t>
                    </a:r>
                  </a:p>
                </c:rich>
              </c:tx>
              <c:txPr>
                <a:bodyPr xmlns:a="http://schemas.openxmlformats.org/drawingml/2006/main" anchorCtr="1"/>
                <a:lstStyle xmlns:a="http://schemas.openxmlformats.org/drawingml/2006/main"/>
                <a:p xmlns:a="http://schemas.openxmlformats.org/drawingml/2006/main">
                  <a:pPr>
                    <a:defRPr sz="1500">
                      <a:solidFill>
                        <a:srgbClr val="112D3A"/>
                      </a:solidFill>
                      <a:latin typeface="Noto Sans CJK KR"/>
                      <a:ea typeface="Noto Sans CJK KR"/>
                      <a:cs typeface="Noto Sans CJK KR"/>
                    </a:defRPr>
                  </a:pPr>
                </a:p>
              </c:txP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500">
                        <a:solidFill>
                          <a:srgbClr val="112D3A"/>
                        </a:solidFill>
                        <a:latin typeface="Noto Sans CJK KR"/>
                        <a:ea typeface="Noto Sans CJK KR"/>
                        <a:cs typeface="Noto Sans CJK KR"/>
                      </a:rPr>
                      <a:t>0.494</a:t>
                    </a:r>
                  </a:p>
                </c:rich>
              </c:tx>
              <c:txPr>
                <a:bodyPr xmlns:a="http://schemas.openxmlformats.org/drawingml/2006/main" anchorCtr="1"/>
                <a:lstStyle xmlns:a="http://schemas.openxmlformats.org/drawingml/2006/main"/>
                <a:p xmlns:a="http://schemas.openxmlformats.org/drawingml/2006/main">
                  <a:pPr>
                    <a:defRPr sz="1500">
                      <a:solidFill>
                        <a:srgbClr val="112D3A"/>
                      </a:solidFill>
                      <a:latin typeface="Noto Sans CJK KR"/>
                      <a:ea typeface="Noto Sans CJK KR"/>
                      <a:cs typeface="Noto Sans CJK KR"/>
                    </a:defRPr>
                  </a:pPr>
                </a:p>
              </c:txPr>
              <c:showLegendKey val="0"/>
              <c:showVal val="1"/>
              <c:showCatName val="0"/>
              <c:showSerName val="0"/>
              <c:showPercent val="0"/>
              <c:showBubbleSize val="0"/>
            </c:dLbl>
          </c:dLbls>
          <c:cat>
            <c:strRef>
              <c:f>'Chart Data'!$A$2:$A$6</c:f>
              <c:strCache>
                <c:ptCount val="5"/>
                <c:pt idx="0">
                  <c:v>7일 전
최대인구</c:v>
                </c:pt>
                <c:pt idx="1">
                  <c:v>전일
야간인구</c:v>
                </c:pt>
                <c:pt idx="2">
                  <c:v>전일
최대이동인구</c:v>
                </c:pt>
                <c:pt idx="3">
                  <c:v>전일
동일 구 내 이동</c:v>
                </c:pt>
                <c:pt idx="4">
                  <c:v>전일
주야간 차이</c:v>
                </c:pt>
              </c:strCache>
            </c:strRef>
          </c:cat>
          <c:val>
            <c:numRef>
              <c:f>'Chart Data'!$B$2:$B$6</c:f>
              <c:numCache>
                <c:formatCode>0.000</c:formatCode>
                <c:ptCount val="5"/>
                <c:pt idx="0">
                  <c:v>0.979</c:v>
                </c:pt>
                <c:pt idx="1">
                  <c:v>0.875</c:v>
                </c:pt>
                <c:pt idx="2">
                  <c:v>0.845</c:v>
                </c:pt>
                <c:pt idx="3">
                  <c:v>0.613</c:v>
                </c:pt>
                <c:pt idx="4">
                  <c:v>0.494</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12D3A"/>
                  </a:solidFill>
                  <a:latin typeface="Noto Sans CJK KR"/>
                  <a:ea typeface="Noto Sans CJK KR"/>
                  <a:cs typeface="Noto Sans CJK KR"/>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12D3A"/>
                </a:solidFill>
                <a:latin typeface="Noto Sans CJK KR"/>
                <a:ea typeface="Noto Sans CJK KR"/>
                <a:cs typeface="Noto Sans CJK KR"/>
              </a:defRPr>
            </a:pPr>
          </a:p>
        </c:txPr>
        <c:crossAx val="48672768"/>
      </c:catAx>
      <c:valAx>
        <c:axId val="48672768"/>
        <c:scaling>
          <c:orientation val="minMax"/>
          <c:max val="1.1"/>
          <c:min val="0"/>
        </c:scaling>
        <c:delete val="0"/>
        <c:axPos val="l"/>
        <c:majorGridlines>
          <c:spPr>
            <a:ln xmlns:a="http://schemas.openxmlformats.org/drawingml/2006/main" w="9525">
              <a:solidFill>
                <a:srgbClr val="E0E9EB"/>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874"/>
                </a:solidFill>
                <a:latin typeface="Noto Sans CJK KR"/>
                <a:ea typeface="Noto Sans CJK KR"/>
                <a:cs typeface="Noto Sans CJK KR"/>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12D3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CB12E93-6EFB-40F8-AB5A-A31CA558C0B3}"/>
              </a:ext>
            </a:extLst>
          </p:cNvPr>
          <p:cNvSpPr>
            <a:spLocks xmlns:a="http://schemas.openxmlformats.org/drawingml/2006/main" noGrp="1"/>
          </p:cNvSpPr>
          <p:nvPr/>
        </p:nvSpPr>
        <p:spPr>
          <a:xfrm xmlns:a="http://schemas.openxmlformats.org/drawingml/2006/main">
            <a:off x="685800" y="7810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DC9CB"/>
                </a:solidFill>
                <a:latin typeface="Noto Sans CJK KR"/>
                <a:ea typeface="Noto Sans CJK KR"/>
                <a:cs typeface="Noto Sans CJK KR"/>
              </a:defRPr>
            </a:pPr>
            <a:r>
              <a:rPr sz="2025" b="0">
                <a:solidFill>
                  <a:srgbClr val="8DC9CB"/>
                </a:solidFill>
                <a:latin typeface="Noto Sans CJK KR"/>
                <a:ea typeface="Noto Sans CJK KR"/>
                <a:cs typeface="Noto Sans CJK KR"/>
              </a:rPr>
              <a:t>서울시 119 데이터 분석 프로젝트</a:t>
            </a:r>
          </a:p>
        </p:txBody>
      </p:sp>
      <p:sp>
        <p:nvSpPr>
          <p:cNvPr id="2" name="">
            <a:extLst xmlns:a="http://schemas.openxmlformats.org/drawingml/2006/main">
              <a:ext uri="{FF2B5EF4-FFF2-40B4-BE49-F238E27FC236}">
                <a16:creationId xmlns:a16="http://schemas.microsoft.com/office/drawing/2014/main" id="{7934E4CB-B1C8-4776-9ABA-D79B813AD91A}"/>
              </a:ext>
            </a:extLst>
          </p:cNvPr>
          <p:cNvSpPr>
            <a:spLocks xmlns:a="http://schemas.openxmlformats.org/drawingml/2006/main" noGrp="1"/>
          </p:cNvSpPr>
          <p:nvPr/>
        </p:nvSpPr>
        <p:spPr>
          <a:xfrm xmlns:a="http://schemas.openxmlformats.org/drawingml/2006/main">
            <a:off x="647700" y="1943100"/>
            <a:ext cx="107632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FFFFF"/>
                </a:solidFill>
                <a:latin typeface="Noto Sans CJK KR"/>
                <a:ea typeface="Noto Sans CJK KR"/>
                <a:cs typeface="Noto Sans CJK KR"/>
              </a:defRPr>
            </a:pPr>
            <a:r>
              <a:rPr sz="5700" b="1">
                <a:solidFill>
                  <a:srgbClr val="FFFFFF"/>
                </a:solidFill>
                <a:latin typeface="Noto Sans CJK KR"/>
                <a:ea typeface="Noto Sans CJK KR"/>
                <a:cs typeface="Noto Sans CJK KR"/>
              </a:rPr>
              <a:t>응급의료 대응</a:t>
            </a:r>
          </a:p>
          <a:p xmlns:a="http://schemas.openxmlformats.org/drawingml/2006/main">
            <a:pPr>
              <a:defRPr sz="5700" b="1">
                <a:solidFill>
                  <a:srgbClr val="FFFFFF"/>
                </a:solidFill>
                <a:latin typeface="Noto Sans CJK KR"/>
                <a:ea typeface="Noto Sans CJK KR"/>
                <a:cs typeface="Noto Sans CJK KR"/>
              </a:defRPr>
            </a:pPr>
            <a:r>
              <a:rPr sz="5700" b="1">
                <a:solidFill>
                  <a:srgbClr val="FFFFFF"/>
                </a:solidFill>
                <a:latin typeface="Noto Sans CJK KR"/>
                <a:ea typeface="Noto Sans CJK KR"/>
                <a:cs typeface="Noto Sans CJK KR"/>
              </a:rPr>
              <a:t>최적화</a:t>
            </a:r>
          </a:p>
        </p:txBody>
      </p:sp>
      <p:sp>
        <p:nvSpPr>
          <p:cNvPr id="3" name="">
            <a:extLst xmlns:a="http://schemas.openxmlformats.org/drawingml/2006/main">
              <a:ext uri="{FF2B5EF4-FFF2-40B4-BE49-F238E27FC236}">
                <a16:creationId xmlns:a16="http://schemas.microsoft.com/office/drawing/2014/main" id="{F781F965-A107-4270-8BB1-C9472C74D3C4}"/>
              </a:ext>
            </a:extLst>
          </p:cNvPr>
          <p:cNvSpPr>
            <a:spLocks xmlns:a="http://schemas.openxmlformats.org/drawingml/2006/main" noGrp="1"/>
          </p:cNvSpPr>
          <p:nvPr/>
        </p:nvSpPr>
        <p:spPr>
          <a:xfrm xmlns:a="http://schemas.openxmlformats.org/drawingml/2006/main">
            <a:off x="704850" y="44767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D1E6E6"/>
                </a:solidFill>
                <a:latin typeface="Noto Sans CJK KR"/>
                <a:ea typeface="Noto Sans CJK KR"/>
                <a:cs typeface="Noto Sans CJK KR"/>
              </a:defRPr>
            </a:pPr>
            <a:r>
              <a:rPr sz="2250" b="0">
                <a:solidFill>
                  <a:srgbClr val="D1E6E6"/>
                </a:solidFill>
                <a:latin typeface="Noto Sans CJK KR"/>
                <a:ea typeface="Noto Sans CJK KR"/>
                <a:cs typeface="Noto Sans CJK KR"/>
              </a:rPr>
              <a:t>지역별 구급 수요 예측과 응급실 수용 여력 분석</a:t>
            </a:r>
          </a:p>
        </p:txBody>
      </p:sp>
      <p:sp>
        <p:nvSpPr>
          <p:cNvPr id="4" name="">
            <a:extLst xmlns:a="http://schemas.openxmlformats.org/drawingml/2006/main">
              <a:ext uri="{FF2B5EF4-FFF2-40B4-BE49-F238E27FC236}">
                <a16:creationId xmlns:a16="http://schemas.microsoft.com/office/drawing/2014/main" id="{E716EC80-DDED-4E05-8FFC-302C464F8C02}"/>
              </a:ext>
            </a:extLst>
          </p:cNvPr>
          <p:cNvSpPr>
            <a:spLocks xmlns:a="http://schemas.openxmlformats.org/drawingml/2006/main" noGrp="1"/>
          </p:cNvSpPr>
          <p:nvPr/>
        </p:nvSpPr>
        <p:spPr>
          <a:xfrm xmlns:a="http://schemas.openxmlformats.org/drawingml/2006/main">
            <a:off x="704850" y="55721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DC9CB"/>
                </a:solidFill>
                <a:latin typeface="Noto Sans CJK KR"/>
                <a:ea typeface="Noto Sans CJK KR"/>
                <a:cs typeface="Noto Sans CJK KR"/>
              </a:defRPr>
            </a:pPr>
            <a:r>
              <a:rPr sz="1725" b="0">
                <a:solidFill>
                  <a:srgbClr val="8DC9CB"/>
                </a:solidFill>
                <a:latin typeface="Noto Sans CJK KR"/>
                <a:ea typeface="Noto Sans CJK KR"/>
                <a:cs typeface="Noto Sans CJK KR"/>
              </a:rPr>
              <a:t>데이터 수집·전처리 및 예측 모델 설계</a:t>
            </a:r>
          </a:p>
        </p:txBody>
      </p:sp>
    </p:spTree>
    <p:extLst>
      <p:ext uri="{BB962C8B-B14F-4D97-AF65-F5344CB8AC3E}">
        <p14:creationId xmlns:p14="http://schemas.microsoft.com/office/powerpoint/2010/main" val="20264573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0EECDCD-9CF7-4F12-B8C0-509A52302267}"/>
              </a:ext>
            </a:extLst>
          </p:cNvPr>
          <p:cNvSpPr>
            <a:spLocks xmlns:a="http://schemas.openxmlformats.org/drawingml/2006/main" noGrp="1"/>
          </p:cNvSpPr>
          <p:nvPr/>
        </p:nvSpPr>
        <p:spPr>
          <a:xfrm xmlns:a="http://schemas.openxmlformats.org/drawingml/2006/main">
            <a:off x="647700" y="457200"/>
            <a:ext cx="10896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12D3A"/>
                </a:solidFill>
                <a:latin typeface="Noto Sans CJK KR"/>
                <a:ea typeface="Noto Sans CJK KR"/>
                <a:cs typeface="Noto Sans CJK KR"/>
              </a:defRPr>
            </a:pPr>
            <a:r>
              <a:rPr sz="3150" b="1">
                <a:solidFill>
                  <a:srgbClr val="112D3A"/>
                </a:solidFill>
                <a:latin typeface="Noto Sans CJK KR"/>
                <a:ea typeface="Noto Sans CJK KR"/>
                <a:cs typeface="Noto Sans CJK KR"/>
              </a:rPr>
              <a:t>프로젝트 목표</a:t>
            </a:r>
          </a:p>
        </p:txBody>
      </p:sp>
      <p:sp>
        <p:nvSpPr>
          <p:cNvPr id="2" name="">
            <a:extLst xmlns:a="http://schemas.openxmlformats.org/drawingml/2006/main">
              <a:ext uri="{FF2B5EF4-FFF2-40B4-BE49-F238E27FC236}">
                <a16:creationId xmlns:a16="http://schemas.microsoft.com/office/drawing/2014/main" id="{8AE26B8E-BF21-4829-A7BF-6D12C766E5B5}"/>
              </a:ext>
            </a:extLst>
          </p:cNvPr>
          <p:cNvSpPr>
            <a:spLocks xmlns:a="http://schemas.openxmlformats.org/drawingml/2006/main" noGrp="1"/>
          </p:cNvSpPr>
          <p:nvPr/>
        </p:nvSpPr>
        <p:spPr>
          <a:xfrm xmlns:a="http://schemas.openxmlformats.org/drawingml/2006/main">
            <a:off x="666750" y="12573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4"/>
                </a:solidFill>
                <a:latin typeface="Noto Sans CJK KR"/>
                <a:ea typeface="Noto Sans CJK KR"/>
                <a:cs typeface="Noto Sans CJK KR"/>
              </a:defRPr>
            </a:pPr>
            <a:r>
              <a:rPr sz="1725" b="0">
                <a:solidFill>
                  <a:srgbClr val="536874"/>
                </a:solidFill>
                <a:latin typeface="Noto Sans CJK KR"/>
                <a:ea typeface="Noto Sans CJK KR"/>
                <a:cs typeface="Noto Sans CJK KR"/>
              </a:rPr>
              <a:t>서울 25개 자치구의 수요와 수용 여력을 함께 파악하는 의사결정 지원</a:t>
            </a:r>
          </a:p>
        </p:txBody>
      </p:sp>
      <p:sp>
        <p:nvSpPr>
          <p:cNvPr id="3" name="">
            <a:extLst xmlns:a="http://schemas.openxmlformats.org/drawingml/2006/main">
              <a:ext uri="{FF2B5EF4-FFF2-40B4-BE49-F238E27FC236}">
                <a16:creationId xmlns:a16="http://schemas.microsoft.com/office/drawing/2014/main" id="{D1D9BA30-19FA-4DCC-A23B-60633132A740}"/>
              </a:ext>
            </a:extLst>
          </p:cNvPr>
          <p:cNvSpPr>
            <a:spLocks xmlns:a="http://schemas.openxmlformats.org/drawingml/2006/main" noGrp="1"/>
          </p:cNvSpPr>
          <p:nvPr/>
        </p:nvSpPr>
        <p:spPr>
          <a:xfrm xmlns:a="http://schemas.openxmlformats.org/drawingml/2006/main">
            <a:off x="11029950" y="629602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02</a:t>
            </a:r>
          </a:p>
        </p:txBody>
      </p:sp>
      <p:sp>
        <p:nvSpPr>
          <p:cNvPr id="4" name="">
            <a:extLst xmlns:a="http://schemas.openxmlformats.org/drawingml/2006/main">
              <a:ext uri="{FF2B5EF4-FFF2-40B4-BE49-F238E27FC236}">
                <a16:creationId xmlns:a16="http://schemas.microsoft.com/office/drawing/2014/main" id="{0133B817-952C-4683-A6B2-1F8D1CDC9B3E}"/>
              </a:ext>
            </a:extLst>
          </p:cNvPr>
          <p:cNvSpPr>
            <a:spLocks xmlns:a="http://schemas.openxmlformats.org/drawingml/2006/main" noGrp="1"/>
          </p:cNvSpPr>
          <p:nvPr/>
        </p:nvSpPr>
        <p:spPr>
          <a:xfrm xmlns:a="http://schemas.openxmlformats.org/drawingml/2006/main">
            <a:off x="666750" y="2095500"/>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82"/>
                </a:solidFill>
                <a:latin typeface="Noto Sans CJK KR"/>
                <a:ea typeface="Noto Sans CJK KR"/>
                <a:cs typeface="Noto Sans CJK KR"/>
              </a:defRPr>
            </a:pPr>
            <a:r>
              <a:rPr sz="2175" b="1">
                <a:solidFill>
                  <a:srgbClr val="007F82"/>
                </a:solidFill>
                <a:latin typeface="Noto Sans CJK KR"/>
                <a:ea typeface="Noto Sans CJK KR"/>
                <a:cs typeface="Noto Sans CJK KR"/>
              </a:rPr>
              <a:t>지역별 수요 파악</a:t>
            </a:r>
          </a:p>
        </p:txBody>
      </p:sp>
      <p:sp>
        <p:nvSpPr>
          <p:cNvPr id="5" name="">
            <a:extLst xmlns:a="http://schemas.openxmlformats.org/drawingml/2006/main">
              <a:ext uri="{FF2B5EF4-FFF2-40B4-BE49-F238E27FC236}">
                <a16:creationId xmlns:a16="http://schemas.microsoft.com/office/drawing/2014/main" id="{5D38099E-25ED-4DBE-B58C-0C23E604BF77}"/>
              </a:ext>
            </a:extLst>
          </p:cNvPr>
          <p:cNvSpPr>
            <a:spLocks xmlns:a="http://schemas.openxmlformats.org/drawingml/2006/main" noGrp="1"/>
          </p:cNvSpPr>
          <p:nvPr/>
        </p:nvSpPr>
        <p:spPr>
          <a:xfrm xmlns:a="http://schemas.openxmlformats.org/drawingml/2006/main">
            <a:off x="3638550" y="2095500"/>
            <a:ext cx="7858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출동·이송 실적과 생활인구를 지역·시간 기준으로 비교</a:t>
            </a:r>
          </a:p>
        </p:txBody>
      </p:sp>
      <p:sp>
        <p:nvSpPr>
          <p:cNvPr id="6" name="">
            <a:extLst xmlns:a="http://schemas.openxmlformats.org/drawingml/2006/main">
              <a:ext uri="{FF2B5EF4-FFF2-40B4-BE49-F238E27FC236}">
                <a16:creationId xmlns:a16="http://schemas.microsoft.com/office/drawing/2014/main" id="{C9C2F57A-7333-49FD-A3FD-7ECD587092F7}"/>
              </a:ext>
            </a:extLst>
          </p:cNvPr>
          <p:cNvSpPr>
            <a:spLocks xmlns:a="http://schemas.openxmlformats.org/drawingml/2006/main" noGrp="1"/>
          </p:cNvSpPr>
          <p:nvPr/>
        </p:nvSpPr>
        <p:spPr>
          <a:xfrm xmlns:a="http://schemas.openxmlformats.org/drawingml/2006/main">
            <a:off x="666750" y="3190875"/>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82"/>
                </a:solidFill>
                <a:latin typeface="Noto Sans CJK KR"/>
                <a:ea typeface="Noto Sans CJK KR"/>
                <a:cs typeface="Noto Sans CJK KR"/>
              </a:defRPr>
            </a:pPr>
            <a:r>
              <a:rPr sz="2175" b="1">
                <a:solidFill>
                  <a:srgbClr val="007F82"/>
                </a:solidFill>
                <a:latin typeface="Noto Sans CJK KR"/>
                <a:ea typeface="Noto Sans CJK KR"/>
                <a:cs typeface="Noto Sans CJK KR"/>
              </a:rPr>
              <a:t>예측 정보 제공</a:t>
            </a:r>
          </a:p>
        </p:txBody>
      </p:sp>
      <p:sp>
        <p:nvSpPr>
          <p:cNvPr id="7" name="">
            <a:extLst xmlns:a="http://schemas.openxmlformats.org/drawingml/2006/main">
              <a:ext uri="{FF2B5EF4-FFF2-40B4-BE49-F238E27FC236}">
                <a16:creationId xmlns:a16="http://schemas.microsoft.com/office/drawing/2014/main" id="{1E795677-8E62-430B-8672-2D48D7B9F255}"/>
              </a:ext>
            </a:extLst>
          </p:cNvPr>
          <p:cNvSpPr>
            <a:spLocks xmlns:a="http://schemas.openxmlformats.org/drawingml/2006/main" noGrp="1"/>
          </p:cNvSpPr>
          <p:nvPr/>
        </p:nvSpPr>
        <p:spPr>
          <a:xfrm xmlns:a="http://schemas.openxmlformats.org/drawingml/2006/main">
            <a:off x="3638550" y="3190875"/>
            <a:ext cx="7858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연간 이송 수요와 일 최대 생활인구의 회귀 모델 설계</a:t>
            </a:r>
          </a:p>
        </p:txBody>
      </p:sp>
      <p:sp>
        <p:nvSpPr>
          <p:cNvPr id="8" name="">
            <a:extLst xmlns:a="http://schemas.openxmlformats.org/drawingml/2006/main">
              <a:ext uri="{FF2B5EF4-FFF2-40B4-BE49-F238E27FC236}">
                <a16:creationId xmlns:a16="http://schemas.microsoft.com/office/drawing/2014/main" id="{EEA7A0CC-C89A-4757-8A4A-999315E3DCCA}"/>
              </a:ext>
            </a:extLst>
          </p:cNvPr>
          <p:cNvSpPr>
            <a:spLocks xmlns:a="http://schemas.openxmlformats.org/drawingml/2006/main" noGrp="1"/>
          </p:cNvSpPr>
          <p:nvPr/>
        </p:nvSpPr>
        <p:spPr>
          <a:xfrm xmlns:a="http://schemas.openxmlformats.org/drawingml/2006/main">
            <a:off x="666750" y="4286250"/>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82"/>
                </a:solidFill>
                <a:latin typeface="Noto Sans CJK KR"/>
                <a:ea typeface="Noto Sans CJK KR"/>
                <a:cs typeface="Noto Sans CJK KR"/>
              </a:defRPr>
            </a:pPr>
            <a:r>
              <a:rPr sz="2175" b="1">
                <a:solidFill>
                  <a:srgbClr val="007F82"/>
                </a:solidFill>
                <a:latin typeface="Noto Sans CJK KR"/>
                <a:ea typeface="Noto Sans CJK KR"/>
                <a:cs typeface="Noto Sans CJK KR"/>
              </a:rPr>
              <a:t>운영 활용 목표</a:t>
            </a:r>
          </a:p>
        </p:txBody>
      </p:sp>
      <p:sp>
        <p:nvSpPr>
          <p:cNvPr id="9" name="">
            <a:extLst xmlns:a="http://schemas.openxmlformats.org/drawingml/2006/main">
              <a:ext uri="{FF2B5EF4-FFF2-40B4-BE49-F238E27FC236}">
                <a16:creationId xmlns:a16="http://schemas.microsoft.com/office/drawing/2014/main" id="{7E5CA0E6-D21E-4B95-8555-7DE825EA3BC4}"/>
              </a:ext>
            </a:extLst>
          </p:cNvPr>
          <p:cNvSpPr>
            <a:spLocks xmlns:a="http://schemas.openxmlformats.org/drawingml/2006/main" noGrp="1"/>
          </p:cNvSpPr>
          <p:nvPr/>
        </p:nvSpPr>
        <p:spPr>
          <a:xfrm xmlns:a="http://schemas.openxmlformats.org/drawingml/2006/main">
            <a:off x="3638550" y="4286250"/>
            <a:ext cx="7858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자원 배치 검토와 병원 수용 정보 확인을 지원</a:t>
            </a:r>
          </a:p>
        </p:txBody>
      </p:sp>
      <p:sp>
        <p:nvSpPr>
          <p:cNvPr id="10" name="">
            <a:extLst xmlns:a="http://schemas.openxmlformats.org/drawingml/2006/main">
              <a:ext uri="{FF2B5EF4-FFF2-40B4-BE49-F238E27FC236}">
                <a16:creationId xmlns:a16="http://schemas.microsoft.com/office/drawing/2014/main" id="{0F9B6B2B-4AA9-4E1C-8666-2CF26481442A}"/>
              </a:ext>
            </a:extLst>
          </p:cNvPr>
          <p:cNvSpPr>
            <a:spLocks xmlns:a="http://schemas.openxmlformats.org/drawingml/2006/main" noGrp="1"/>
          </p:cNvSpPr>
          <p:nvPr/>
        </p:nvSpPr>
        <p:spPr>
          <a:xfrm xmlns:a="http://schemas.openxmlformats.org/drawingml/2006/main">
            <a:off x="666750" y="5934075"/>
            <a:ext cx="10144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현재 범위: 데이터 기반 구축과 모델 코드 작성. 실제 배치 최적화·이송시간 단축 효과는 후속 검증 대상.</a:t>
            </a:r>
          </a:p>
        </p:txBody>
      </p:sp>
    </p:spTree>
    <p:extLst>
      <p:ext uri="{BB962C8B-B14F-4D97-AF65-F5344CB8AC3E}">
        <p14:creationId xmlns:p14="http://schemas.microsoft.com/office/powerpoint/2010/main" val="11171634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E3B7B46-416A-47F7-954F-003CABCEB9A4}"/>
              </a:ext>
            </a:extLst>
          </p:cNvPr>
          <p:cNvSpPr>
            <a:spLocks xmlns:a="http://schemas.openxmlformats.org/drawingml/2006/main" noGrp="1"/>
          </p:cNvSpPr>
          <p:nvPr/>
        </p:nvSpPr>
        <p:spPr>
          <a:xfrm xmlns:a="http://schemas.openxmlformats.org/drawingml/2006/main">
            <a:off x="647700" y="457200"/>
            <a:ext cx="10896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12D3A"/>
                </a:solidFill>
                <a:latin typeface="Noto Sans CJK KR"/>
                <a:ea typeface="Noto Sans CJK KR"/>
                <a:cs typeface="Noto Sans CJK KR"/>
              </a:defRPr>
            </a:pPr>
            <a:r>
              <a:rPr sz="3150" b="1">
                <a:solidFill>
                  <a:srgbClr val="112D3A"/>
                </a:solidFill>
                <a:latin typeface="Noto Sans CJK KR"/>
                <a:ea typeface="Noto Sans CJK KR"/>
                <a:cs typeface="Noto Sans CJK KR"/>
              </a:rPr>
              <a:t>현재 확보한 결과와 개발 범위</a:t>
            </a:r>
          </a:p>
        </p:txBody>
      </p:sp>
      <p:sp>
        <p:nvSpPr>
          <p:cNvPr id="2" name="">
            <a:extLst xmlns:a="http://schemas.openxmlformats.org/drawingml/2006/main">
              <a:ext uri="{FF2B5EF4-FFF2-40B4-BE49-F238E27FC236}">
                <a16:creationId xmlns:a16="http://schemas.microsoft.com/office/drawing/2014/main" id="{690EDA78-0FEA-4752-B9CA-B96CDB08294C}"/>
              </a:ext>
            </a:extLst>
          </p:cNvPr>
          <p:cNvSpPr>
            <a:spLocks xmlns:a="http://schemas.openxmlformats.org/drawingml/2006/main" noGrp="1"/>
          </p:cNvSpPr>
          <p:nvPr/>
        </p:nvSpPr>
        <p:spPr>
          <a:xfrm xmlns:a="http://schemas.openxmlformats.org/drawingml/2006/main">
            <a:off x="666750" y="12573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4"/>
                </a:solidFill>
                <a:latin typeface="Noto Sans CJK KR"/>
                <a:ea typeface="Noto Sans CJK KR"/>
                <a:cs typeface="Noto Sans CJK KR"/>
              </a:defRPr>
            </a:pPr>
            <a:r>
              <a:rPr sz="1725" b="0">
                <a:solidFill>
                  <a:srgbClr val="536874"/>
                </a:solidFill>
                <a:latin typeface="Noto Sans CJK KR"/>
                <a:ea typeface="Noto Sans CJK KR"/>
                <a:cs typeface="Noto Sans CJK KR"/>
              </a:rPr>
              <a:t>저장된 실행 결과와 작성된 코드를 구분해 진행 상태를 정리</a:t>
            </a:r>
          </a:p>
        </p:txBody>
      </p:sp>
      <p:sp>
        <p:nvSpPr>
          <p:cNvPr id="3" name="">
            <a:extLst xmlns:a="http://schemas.openxmlformats.org/drawingml/2006/main">
              <a:ext uri="{FF2B5EF4-FFF2-40B4-BE49-F238E27FC236}">
                <a16:creationId xmlns:a16="http://schemas.microsoft.com/office/drawing/2014/main" id="{045C35BA-1BC9-48B8-92FC-8EDA91512751}"/>
              </a:ext>
            </a:extLst>
          </p:cNvPr>
          <p:cNvSpPr>
            <a:spLocks xmlns:a="http://schemas.openxmlformats.org/drawingml/2006/main" noGrp="1"/>
          </p:cNvSpPr>
          <p:nvPr/>
        </p:nvSpPr>
        <p:spPr>
          <a:xfrm xmlns:a="http://schemas.openxmlformats.org/drawingml/2006/main">
            <a:off x="11029950" y="629602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03</a:t>
            </a:r>
          </a:p>
        </p:txBody>
      </p:sp>
      <p:graphicFrame>
        <p:nvGraphicFramePr>
          <p:cNvPr id="8" name=""/>
          <p:cNvGraphicFramePr/>
          <p:nvPr/>
        </p:nvGraphicFramePr>
        <p:xfrm>
          <a:off xmlns:a="http://schemas.openxmlformats.org/drawingml/2006/main" x="666750" y="2009775"/>
          <a:ext xmlns:a="http://schemas.openxmlformats.org/drawingml/2006/main" cx="10858500" cy="3381375"/>
        </p:xfrm>
        <a:graphic xmlns:a="http://schemas.openxmlformats.org/drawingml/2006/main">
          <a:graphicData uri="http://schemas.openxmlformats.org/drawingml/2006/table">
            <a:tbl>
              <a:tblPr/>
              <a:tblGrid>
                <a:gridCol w="2047875"/>
                <a:gridCol w="6143625"/>
                <a:gridCol w="2667000"/>
              </a:tblGrid>
              <a:tr h="563563">
                <a:tc>
                  <a:txBody>
                    <a:bodyPr/>
                    <a:lstStyle/>
                    <a:p>
                      <a:r>
                        <a:rPr sz="1650" b="1">
                          <a:solidFill>
                            <a:srgbClr val="FFFFFF"/>
                          </a:solidFill>
                          <a:latin typeface="Noto Sans CJK KR"/>
                          <a:ea typeface="Noto Sans CJK KR"/>
                          <a:cs typeface="Noto Sans CJK KR"/>
                        </a:rPr>
                        <a:t>영역</a:t>
                      </a:r>
                    </a:p>
                  </a:txBody>
                  <a:tcPr marL="91440" marR="91440" marT="45720" marB="45720">
                    <a:solidFill>
                      <a:srgbClr val="112D3A"/>
                    </a:solidFill>
                  </a:tcPr>
                </a:tc>
                <a:tc>
                  <a:txBody>
                    <a:bodyPr/>
                    <a:lstStyle/>
                    <a:p>
                      <a:r>
                        <a:rPr sz="1650" b="1">
                          <a:solidFill>
                            <a:srgbClr val="FFFFFF"/>
                          </a:solidFill>
                          <a:latin typeface="Noto Sans CJK KR"/>
                          <a:ea typeface="Noto Sans CJK KR"/>
                          <a:cs typeface="Noto Sans CJK KR"/>
                        </a:rPr>
                        <a:t>확인한 내용</a:t>
                      </a:r>
                    </a:p>
                  </a:txBody>
                  <a:tcPr marL="91440" marR="91440" marT="45720" marB="45720">
                    <a:solidFill>
                      <a:srgbClr val="112D3A"/>
                    </a:solidFill>
                  </a:tcPr>
                </a:tc>
                <a:tc>
                  <a:txBody>
                    <a:bodyPr/>
                    <a:lstStyle/>
                    <a:p>
                      <a:r>
                        <a:rPr sz="1650" b="1">
                          <a:solidFill>
                            <a:srgbClr val="FFFFFF"/>
                          </a:solidFill>
                          <a:latin typeface="Noto Sans CJK KR"/>
                          <a:ea typeface="Noto Sans CJK KR"/>
                          <a:cs typeface="Noto Sans CJK KR"/>
                        </a:rPr>
                        <a:t>현재 상태</a:t>
                      </a:r>
                    </a:p>
                  </a:txBody>
                  <a:tcPr marL="91440" marR="91440" marT="45720" marB="45720">
                    <a:solidFill>
                      <a:srgbClr val="112D3A"/>
                    </a:solidFill>
                  </a:tcPr>
                </a:tc>
              </a:tr>
              <a:tr h="563563">
                <a:tc>
                  <a:txBody>
                    <a:bodyPr/>
                    <a:lstStyle/>
                    <a:p>
                      <a:r>
                        <a:rPr sz="1650" b="0">
                          <a:solidFill>
                            <a:srgbClr val="112D3A"/>
                          </a:solidFill>
                          <a:latin typeface="Noto Sans CJK KR"/>
                          <a:ea typeface="Noto Sans CJK KR"/>
                          <a:cs typeface="Noto Sans CJK KR"/>
                        </a:rPr>
                        <a:t>수집·전처리</a:t>
                      </a:r>
                    </a:p>
                  </a:txBody>
                  <a:tcPr marL="91440" marR="91440" marT="45720" marB="45720">
                    <a:solidFill>
                      <a:srgbClr val="F1F6F6"/>
                    </a:solidFill>
                  </a:tcPr>
                </a:tc>
                <a:tc>
                  <a:txBody>
                    <a:bodyPr/>
                    <a:lstStyle/>
                    <a:p>
                      <a:r>
                        <a:rPr sz="1650" b="0">
                          <a:solidFill>
                            <a:srgbClr val="112D3A"/>
                          </a:solidFill>
                          <a:latin typeface="Noto Sans CJK KR"/>
                          <a:ea typeface="Noto Sans CJK KR"/>
                          <a:cs typeface="Noto Sans CJK KR"/>
                        </a:rPr>
                        <a:t>구급 실적, 생활인구, 사고 원인 정리</a:t>
                      </a:r>
                    </a:p>
                  </a:txBody>
                  <a:tcPr marL="91440" marR="91440" marT="45720" marB="45720">
                    <a:solidFill>
                      <a:srgbClr val="F1F6F6"/>
                    </a:solidFill>
                  </a:tcPr>
                </a:tc>
                <a:tc>
                  <a:txBody>
                    <a:bodyPr/>
                    <a:lstStyle/>
                    <a:p>
                      <a:r>
                        <a:rPr sz="1650" b="0">
                          <a:solidFill>
                            <a:srgbClr val="112D3A"/>
                          </a:solidFill>
                          <a:latin typeface="Noto Sans CJK KR"/>
                          <a:ea typeface="Noto Sans CJK KR"/>
                          <a:cs typeface="Noto Sans CJK KR"/>
                        </a:rPr>
                        <a:t>저장된 출력 확인</a:t>
                      </a:r>
                    </a:p>
                  </a:txBody>
                  <a:tcPr marL="91440" marR="91440" marT="45720" marB="45720">
                    <a:solidFill>
                      <a:srgbClr val="F1F6F6"/>
                    </a:solidFill>
                  </a:tcPr>
                </a:tc>
              </a:tr>
              <a:tr h="563563">
                <a:tc>
                  <a:txBody>
                    <a:bodyPr/>
                    <a:lstStyle/>
                    <a:p>
                      <a:r>
                        <a:rPr sz="1650" b="0">
                          <a:solidFill>
                            <a:srgbClr val="112D3A"/>
                          </a:solidFill>
                          <a:latin typeface="Noto Sans CJK KR"/>
                          <a:ea typeface="Noto Sans CJK KR"/>
                          <a:cs typeface="Noto Sans CJK KR"/>
                        </a:rPr>
                        <a:t>API 시각화</a:t>
                      </a:r>
                    </a:p>
                  </a:txBody>
                  <a:tcPr marL="91440" marR="91440" marT="45720" marB="45720">
                    <a:solidFill>
                      <a:srgbClr val="FFFFFF"/>
                    </a:solidFill>
                  </a:tcPr>
                </a:tc>
                <a:tc>
                  <a:txBody>
                    <a:bodyPr/>
                    <a:lstStyle/>
                    <a:p>
                      <a:r>
                        <a:rPr sz="1650" b="0">
                          <a:solidFill>
                            <a:srgbClr val="112D3A"/>
                          </a:solidFill>
                          <a:latin typeface="Noto Sans CJK KR"/>
                          <a:ea typeface="Noto Sans CJK KR"/>
                          <a:cs typeface="Noto Sans CJK KR"/>
                        </a:rPr>
                        <a:t>2025년 12월 출동·이송 / 병상 스냅샷</a:t>
                      </a:r>
                    </a:p>
                  </a:txBody>
                  <a:tcPr marL="91440" marR="91440" marT="45720" marB="45720">
                    <a:solidFill>
                      <a:srgbClr val="FFFFFF"/>
                    </a:solidFill>
                  </a:tcPr>
                </a:tc>
                <a:tc>
                  <a:txBody>
                    <a:bodyPr/>
                    <a:lstStyle/>
                    <a:p>
                      <a:r>
                        <a:rPr sz="1650" b="0">
                          <a:solidFill>
                            <a:srgbClr val="112D3A"/>
                          </a:solidFill>
                          <a:latin typeface="Noto Sans CJK KR"/>
                          <a:ea typeface="Noto Sans CJK KR"/>
                          <a:cs typeface="Noto Sans CJK KR"/>
                        </a:rPr>
                        <a:t>저장된 출력 확인</a:t>
                      </a:r>
                    </a:p>
                  </a:txBody>
                  <a:tcPr marL="91440" marR="91440" marT="45720" marB="45720">
                    <a:solidFill>
                      <a:srgbClr val="FFFFFF"/>
                    </a:solidFill>
                  </a:tcPr>
                </a:tc>
              </a:tr>
              <a:tr h="563563">
                <a:tc>
                  <a:txBody>
                    <a:bodyPr/>
                    <a:lstStyle/>
                    <a:p>
                      <a:r>
                        <a:rPr sz="1650" b="0">
                          <a:solidFill>
                            <a:srgbClr val="112D3A"/>
                          </a:solidFill>
                          <a:latin typeface="Noto Sans CJK KR"/>
                          <a:ea typeface="Noto Sans CJK KR"/>
                          <a:cs typeface="Noto Sans CJK KR"/>
                        </a:rPr>
                        <a:t>학습 데이터</a:t>
                      </a:r>
                    </a:p>
                  </a:txBody>
                  <a:tcPr marL="91440" marR="91440" marT="45720" marB="45720">
                    <a:solidFill>
                      <a:srgbClr val="F1F6F6"/>
                    </a:solidFill>
                  </a:tcPr>
                </a:tc>
                <a:tc>
                  <a:txBody>
                    <a:bodyPr/>
                    <a:lstStyle/>
                    <a:p>
                      <a:r>
                        <a:rPr sz="1650" b="0">
                          <a:solidFill>
                            <a:srgbClr val="112D3A"/>
                          </a:solidFill>
                          <a:latin typeface="Noto Sans CJK KR"/>
                          <a:ea typeface="Noto Sans CJK KR"/>
                          <a:cs typeface="Noto Sans CJK KR"/>
                        </a:rPr>
                        <a:t>이송 463행 / 인구 75,825행</a:t>
                      </a:r>
                    </a:p>
                  </a:txBody>
                  <a:tcPr marL="91440" marR="91440" marT="45720" marB="45720">
                    <a:solidFill>
                      <a:srgbClr val="F1F6F6"/>
                    </a:solidFill>
                  </a:tcPr>
                </a:tc>
                <a:tc>
                  <a:txBody>
                    <a:bodyPr/>
                    <a:lstStyle/>
                    <a:p>
                      <a:r>
                        <a:rPr sz="1650" b="0">
                          <a:solidFill>
                            <a:srgbClr val="112D3A"/>
                          </a:solidFill>
                          <a:latin typeface="Noto Sans CJK KR"/>
                          <a:ea typeface="Noto Sans CJK KR"/>
                          <a:cs typeface="Noto Sans CJK KR"/>
                        </a:rPr>
                        <a:t>저장된 출력 확인</a:t>
                      </a:r>
                    </a:p>
                  </a:txBody>
                  <a:tcPr marL="91440" marR="91440" marT="45720" marB="45720">
                    <a:solidFill>
                      <a:srgbClr val="F1F6F6"/>
                    </a:solidFill>
                  </a:tcPr>
                </a:tc>
              </a:tr>
              <a:tr h="563563">
                <a:tc>
                  <a:txBody>
                    <a:bodyPr/>
                    <a:lstStyle/>
                    <a:p>
                      <a:r>
                        <a:rPr sz="1650" b="0">
                          <a:solidFill>
                            <a:srgbClr val="112D3A"/>
                          </a:solidFill>
                          <a:latin typeface="Noto Sans CJK KR"/>
                          <a:ea typeface="Noto Sans CJK KR"/>
                          <a:cs typeface="Noto Sans CJK KR"/>
                        </a:rPr>
                        <a:t>예측 모델</a:t>
                      </a:r>
                    </a:p>
                  </a:txBody>
                  <a:tcPr marL="91440" marR="91440" marT="45720" marB="45720">
                    <a:solidFill>
                      <a:srgbClr val="FFFFFF"/>
                    </a:solidFill>
                  </a:tcPr>
                </a:tc>
                <a:tc>
                  <a:txBody>
                    <a:bodyPr/>
                    <a:lstStyle/>
                    <a:p>
                      <a:r>
                        <a:rPr sz="1650" b="0">
                          <a:solidFill>
                            <a:srgbClr val="112D3A"/>
                          </a:solidFill>
                          <a:latin typeface="Noto Sans CJK KR"/>
                          <a:ea typeface="Noto Sans CJK KR"/>
                          <a:cs typeface="Noto Sans CJK KR"/>
                        </a:rPr>
                        <a:t>ML 5종과 DNN 비교·평가 코드</a:t>
                      </a:r>
                    </a:p>
                  </a:txBody>
                  <a:tcPr marL="91440" marR="91440" marT="45720" marB="45720">
                    <a:solidFill>
                      <a:srgbClr val="FFFFFF"/>
                    </a:solidFill>
                  </a:tcPr>
                </a:tc>
                <a:tc>
                  <a:txBody>
                    <a:bodyPr/>
                    <a:lstStyle/>
                    <a:p>
                      <a:r>
                        <a:rPr sz="1650" b="0">
                          <a:solidFill>
                            <a:srgbClr val="112D3A"/>
                          </a:solidFill>
                          <a:latin typeface="Noto Sans CJK KR"/>
                          <a:ea typeface="Noto Sans CJK KR"/>
                          <a:cs typeface="Noto Sans CJK KR"/>
                        </a:rPr>
                        <a:t>실행 성능 미확인</a:t>
                      </a:r>
                    </a:p>
                  </a:txBody>
                  <a:tcPr marL="91440" marR="91440" marT="45720" marB="45720">
                    <a:solidFill>
                      <a:srgbClr val="FFFFFF"/>
                    </a:solidFill>
                  </a:tcPr>
                </a:tc>
              </a:tr>
              <a:tr h="563563">
                <a:tc>
                  <a:txBody>
                    <a:bodyPr/>
                    <a:lstStyle/>
                    <a:p>
                      <a:r>
                        <a:rPr sz="1650" b="0">
                          <a:solidFill>
                            <a:srgbClr val="112D3A"/>
                          </a:solidFill>
                          <a:latin typeface="Noto Sans CJK KR"/>
                          <a:ea typeface="Noto Sans CJK KR"/>
                          <a:cs typeface="Noto Sans CJK KR"/>
                        </a:rPr>
                        <a:t>병상 예측·최적화</a:t>
                      </a:r>
                    </a:p>
                  </a:txBody>
                  <a:tcPr marL="91440" marR="91440" marT="45720" marB="45720">
                    <a:solidFill>
                      <a:srgbClr val="F1F6F6"/>
                    </a:solidFill>
                  </a:tcPr>
                </a:tc>
                <a:tc>
                  <a:txBody>
                    <a:bodyPr/>
                    <a:lstStyle/>
                    <a:p>
                      <a:r>
                        <a:rPr sz="1650" b="0">
                          <a:solidFill>
                            <a:srgbClr val="112D3A"/>
                          </a:solidFill>
                          <a:latin typeface="Noto Sans CJK KR"/>
                          <a:ea typeface="Noto Sans CJK KR"/>
                          <a:cs typeface="Noto Sans CJK KR"/>
                        </a:rPr>
                        <a:t>반복 수집과 운영 평가 필요</a:t>
                      </a:r>
                    </a:p>
                  </a:txBody>
                  <a:tcPr marL="91440" marR="91440" marT="45720" marB="45720">
                    <a:solidFill>
                      <a:srgbClr val="F1F6F6"/>
                    </a:solidFill>
                  </a:tcPr>
                </a:tc>
                <a:tc>
                  <a:txBody>
                    <a:bodyPr/>
                    <a:lstStyle/>
                    <a:p>
                      <a:r>
                        <a:rPr sz="1650" b="0">
                          <a:solidFill>
                            <a:srgbClr val="112D3A"/>
                          </a:solidFill>
                          <a:latin typeface="Noto Sans CJK KR"/>
                          <a:ea typeface="Noto Sans CJK KR"/>
                          <a:cs typeface="Noto Sans CJK KR"/>
                        </a:rPr>
                        <a:t>후속 개발 범위</a:t>
                      </a:r>
                    </a:p>
                  </a:txBody>
                  <a:tcPr marL="91440" marR="91440" marT="45720" marB="45720">
                    <a:solidFill>
                      <a:srgbClr val="F1F6F6"/>
                    </a:solidFill>
                  </a:tcPr>
                </a:tc>
              </a:tr>
            </a:tbl>
          </a:graphicData>
        </a:graphic>
      </p:graphicFrame>
    </p:spTree>
    <p:extLst>
      <p:ext uri="{BB962C8B-B14F-4D97-AF65-F5344CB8AC3E}">
        <p14:creationId xmlns:p14="http://schemas.microsoft.com/office/powerpoint/2010/main" val="5396124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A98843-13D3-41A3-8FB0-9C661413F45D}"/>
              </a:ext>
            </a:extLst>
          </p:cNvPr>
          <p:cNvSpPr>
            <a:spLocks xmlns:a="http://schemas.openxmlformats.org/drawingml/2006/main" noGrp="1"/>
          </p:cNvSpPr>
          <p:nvPr/>
        </p:nvSpPr>
        <p:spPr>
          <a:xfrm xmlns:a="http://schemas.openxmlformats.org/drawingml/2006/main">
            <a:off x="647700" y="457200"/>
            <a:ext cx="10896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12D3A"/>
                </a:solidFill>
                <a:latin typeface="Noto Sans CJK KR"/>
                <a:ea typeface="Noto Sans CJK KR"/>
                <a:cs typeface="Noto Sans CJK KR"/>
              </a:defRPr>
            </a:pPr>
            <a:r>
              <a:rPr sz="3150" b="1">
                <a:solidFill>
                  <a:srgbClr val="112D3A"/>
                </a:solidFill>
                <a:latin typeface="Noto Sans CJK KR"/>
                <a:ea typeface="Noto Sans CJK KR"/>
                <a:cs typeface="Noto Sans CJK KR"/>
              </a:rPr>
              <a:t>데이터 구성</a:t>
            </a:r>
          </a:p>
        </p:txBody>
      </p:sp>
      <p:sp>
        <p:nvSpPr>
          <p:cNvPr id="2" name="">
            <a:extLst xmlns:a="http://schemas.openxmlformats.org/drawingml/2006/main">
              <a:ext uri="{FF2B5EF4-FFF2-40B4-BE49-F238E27FC236}">
                <a16:creationId xmlns:a16="http://schemas.microsoft.com/office/drawing/2014/main" id="{83A2F2C9-4796-4AB7-ADEF-8DC4A63C0134}"/>
              </a:ext>
            </a:extLst>
          </p:cNvPr>
          <p:cNvSpPr>
            <a:spLocks xmlns:a="http://schemas.openxmlformats.org/drawingml/2006/main" noGrp="1"/>
          </p:cNvSpPr>
          <p:nvPr/>
        </p:nvSpPr>
        <p:spPr>
          <a:xfrm xmlns:a="http://schemas.openxmlformats.org/drawingml/2006/main">
            <a:off x="666750" y="12573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4"/>
                </a:solidFill>
                <a:latin typeface="Noto Sans CJK KR"/>
                <a:ea typeface="Noto Sans CJK KR"/>
                <a:cs typeface="Noto Sans CJK KR"/>
              </a:defRPr>
            </a:pPr>
            <a:r>
              <a:rPr sz="1725" b="0">
                <a:solidFill>
                  <a:srgbClr val="536874"/>
                </a:solidFill>
                <a:latin typeface="Noto Sans CJK KR"/>
                <a:ea typeface="Noto Sans CJK KR"/>
                <a:cs typeface="Noto Sans CJK KR"/>
              </a:rPr>
              <a:t>연·월·일·수집 시각 단위의 데이터를 목적에 맞게 사용</a:t>
            </a:r>
          </a:p>
        </p:txBody>
      </p:sp>
      <p:sp>
        <p:nvSpPr>
          <p:cNvPr id="3" name="">
            <a:extLst xmlns:a="http://schemas.openxmlformats.org/drawingml/2006/main">
              <a:ext uri="{FF2B5EF4-FFF2-40B4-BE49-F238E27FC236}">
                <a16:creationId xmlns:a16="http://schemas.microsoft.com/office/drawing/2014/main" id="{D713922D-0E45-4310-BEB0-A7DB6A8D1FAB}"/>
              </a:ext>
            </a:extLst>
          </p:cNvPr>
          <p:cNvSpPr>
            <a:spLocks xmlns:a="http://schemas.openxmlformats.org/drawingml/2006/main" noGrp="1"/>
          </p:cNvSpPr>
          <p:nvPr/>
        </p:nvSpPr>
        <p:spPr>
          <a:xfrm xmlns:a="http://schemas.openxmlformats.org/drawingml/2006/main">
            <a:off x="11029950" y="629602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04</a:t>
            </a:r>
          </a:p>
        </p:txBody>
      </p:sp>
      <p:graphicFrame>
        <p:nvGraphicFramePr>
          <p:cNvPr id="9" name=""/>
          <p:cNvGraphicFramePr/>
          <p:nvPr/>
        </p:nvGraphicFramePr>
        <p:xfrm>
          <a:off xmlns:a="http://schemas.openxmlformats.org/drawingml/2006/main" x="666750" y="2000250"/>
          <a:ext xmlns:a="http://schemas.openxmlformats.org/drawingml/2006/main" cx="10858500" cy="3476625"/>
        </p:xfrm>
        <a:graphic xmlns:a="http://schemas.openxmlformats.org/drawingml/2006/main">
          <a:graphicData uri="http://schemas.openxmlformats.org/drawingml/2006/table">
            <a:tbl>
              <a:tblPr/>
              <a:tblGrid>
                <a:gridCol w="2714625"/>
                <a:gridCol w="4572000"/>
                <a:gridCol w="3571875"/>
              </a:tblGrid>
              <a:tr h="579438">
                <a:tc>
                  <a:txBody>
                    <a:bodyPr/>
                    <a:lstStyle/>
                    <a:p>
                      <a:r>
                        <a:rPr sz="1650" b="1">
                          <a:solidFill>
                            <a:srgbClr val="FFFFFF"/>
                          </a:solidFill>
                          <a:latin typeface="Noto Sans CJK KR"/>
                          <a:ea typeface="Noto Sans CJK KR"/>
                          <a:cs typeface="Noto Sans CJK KR"/>
                        </a:rPr>
                        <a:t>데이터</a:t>
                      </a:r>
                    </a:p>
                  </a:txBody>
                  <a:tcPr marL="91440" marR="91440" marT="45720" marB="45720">
                    <a:solidFill>
                      <a:srgbClr val="112D3A"/>
                    </a:solidFill>
                  </a:tcPr>
                </a:tc>
                <a:tc>
                  <a:txBody>
                    <a:bodyPr/>
                    <a:lstStyle/>
                    <a:p>
                      <a:r>
                        <a:rPr sz="1650" b="1">
                          <a:solidFill>
                            <a:srgbClr val="FFFFFF"/>
                          </a:solidFill>
                          <a:latin typeface="Noto Sans CJK KR"/>
                          <a:ea typeface="Noto Sans CJK KR"/>
                          <a:cs typeface="Noto Sans CJK KR"/>
                        </a:rPr>
                        <a:t>시간 단위·범위</a:t>
                      </a:r>
                    </a:p>
                  </a:txBody>
                  <a:tcPr marL="91440" marR="91440" marT="45720" marB="45720">
                    <a:solidFill>
                      <a:srgbClr val="112D3A"/>
                    </a:solidFill>
                  </a:tcPr>
                </a:tc>
                <a:tc>
                  <a:txBody>
                    <a:bodyPr/>
                    <a:lstStyle/>
                    <a:p>
                      <a:r>
                        <a:rPr sz="1650" b="1">
                          <a:solidFill>
                            <a:srgbClr val="FFFFFF"/>
                          </a:solidFill>
                          <a:latin typeface="Noto Sans CJK KR"/>
                          <a:ea typeface="Noto Sans CJK KR"/>
                          <a:cs typeface="Noto Sans CJK KR"/>
                        </a:rPr>
                        <a:t>규모 / 용도</a:t>
                      </a:r>
                    </a:p>
                  </a:txBody>
                  <a:tcPr marL="91440" marR="91440" marT="45720" marB="45720">
                    <a:solidFill>
                      <a:srgbClr val="112D3A"/>
                    </a:solidFill>
                  </a:tcPr>
                </a:tc>
              </a:tr>
              <a:tr h="579438">
                <a:tc>
                  <a:txBody>
                    <a:bodyPr/>
                    <a:lstStyle/>
                    <a:p>
                      <a:r>
                        <a:rPr sz="1650" b="0">
                          <a:solidFill>
                            <a:srgbClr val="112D3A"/>
                          </a:solidFill>
                          <a:latin typeface="Noto Sans CJK KR"/>
                          <a:ea typeface="Noto Sans CJK KR"/>
                          <a:cs typeface="Noto Sans CJK KR"/>
                        </a:rPr>
                        <a:t>구급활동 실적</a:t>
                      </a:r>
                    </a:p>
                  </a:txBody>
                  <a:tcPr marL="91440" marR="91440" marT="45720" marB="45720">
                    <a:solidFill>
                      <a:srgbClr val="F1F6F6"/>
                    </a:solidFill>
                  </a:tcPr>
                </a:tc>
                <a:tc>
                  <a:txBody>
                    <a:bodyPr/>
                    <a:lstStyle/>
                    <a:p>
                      <a:r>
                        <a:rPr sz="1650" b="0">
                          <a:solidFill>
                            <a:srgbClr val="112D3A"/>
                          </a:solidFill>
                          <a:latin typeface="Noto Sans CJK KR"/>
                          <a:ea typeface="Noto Sans CJK KR"/>
                          <a:cs typeface="Noto Sans CJK KR"/>
                        </a:rPr>
                        <a:t>연간, 2005~2025년</a:t>
                      </a:r>
                    </a:p>
                  </a:txBody>
                  <a:tcPr marL="91440" marR="91440" marT="45720" marB="45720">
                    <a:solidFill>
                      <a:srgbClr val="F1F6F6"/>
                    </a:solidFill>
                  </a:tcPr>
                </a:tc>
                <a:tc>
                  <a:txBody>
                    <a:bodyPr/>
                    <a:lstStyle/>
                    <a:p>
                      <a:r>
                        <a:rPr sz="1650" b="0">
                          <a:solidFill>
                            <a:srgbClr val="112D3A"/>
                          </a:solidFill>
                          <a:latin typeface="Noto Sans CJK KR"/>
                          <a:ea typeface="Noto Sans CJK KR"/>
                          <a:cs typeface="Noto Sans CJK KR"/>
                        </a:rPr>
                        <a:t>525행, 이송 예측의 기반</a:t>
                      </a:r>
                    </a:p>
                  </a:txBody>
                  <a:tcPr marL="91440" marR="91440" marT="45720" marB="45720">
                    <a:solidFill>
                      <a:srgbClr val="F1F6F6"/>
                    </a:solidFill>
                  </a:tcPr>
                </a:tc>
              </a:tr>
              <a:tr h="579438">
                <a:tc>
                  <a:txBody>
                    <a:bodyPr/>
                    <a:lstStyle/>
                    <a:p>
                      <a:r>
                        <a:rPr sz="1650" b="0">
                          <a:solidFill>
                            <a:srgbClr val="112D3A"/>
                          </a:solidFill>
                          <a:latin typeface="Noto Sans CJK KR"/>
                          <a:ea typeface="Noto Sans CJK KR"/>
                          <a:cs typeface="Noto Sans CJK KR"/>
                        </a:rPr>
                        <a:t>서울 생활인구</a:t>
                      </a:r>
                    </a:p>
                  </a:txBody>
                  <a:tcPr marL="91440" marR="91440" marT="45720" marB="45720">
                    <a:solidFill>
                      <a:srgbClr val="FFFFFF"/>
                    </a:solidFill>
                  </a:tcPr>
                </a:tc>
                <a:tc>
                  <a:txBody>
                    <a:bodyPr/>
                    <a:lstStyle/>
                    <a:p>
                      <a:r>
                        <a:rPr sz="1650" b="0">
                          <a:solidFill>
                            <a:srgbClr val="112D3A"/>
                          </a:solidFill>
                          <a:latin typeface="Noto Sans CJK KR"/>
                          <a:ea typeface="Noto Sans CJK KR"/>
                          <a:cs typeface="Noto Sans CJK KR"/>
                        </a:rPr>
                        <a:t>일별, 2018.04.05~2026.07.31</a:t>
                      </a:r>
                    </a:p>
                  </a:txBody>
                  <a:tcPr marL="91440" marR="91440" marT="45720" marB="45720">
                    <a:solidFill>
                      <a:srgbClr val="FFFFFF"/>
                    </a:solidFill>
                  </a:tcPr>
                </a:tc>
                <a:tc>
                  <a:txBody>
                    <a:bodyPr/>
                    <a:lstStyle/>
                    <a:p>
                      <a:r>
                        <a:rPr sz="1650" b="0">
                          <a:solidFill>
                            <a:srgbClr val="112D3A"/>
                          </a:solidFill>
                          <a:latin typeface="Noto Sans CJK KR"/>
                          <a:ea typeface="Noto Sans CJK KR"/>
                          <a:cs typeface="Noto Sans CJK KR"/>
                        </a:rPr>
                        <a:t>76,000행, 인구 예측의 기반</a:t>
                      </a:r>
                    </a:p>
                  </a:txBody>
                  <a:tcPr marL="91440" marR="91440" marT="45720" marB="45720">
                    <a:solidFill>
                      <a:srgbClr val="FFFFFF"/>
                    </a:solidFill>
                  </a:tcPr>
                </a:tc>
              </a:tr>
              <a:tr h="579438">
                <a:tc>
                  <a:txBody>
                    <a:bodyPr/>
                    <a:lstStyle/>
                    <a:p>
                      <a:r>
                        <a:rPr sz="1650" b="0">
                          <a:solidFill>
                            <a:srgbClr val="112D3A"/>
                          </a:solidFill>
                          <a:latin typeface="Noto Sans CJK KR"/>
                          <a:ea typeface="Noto Sans CJK KR"/>
                          <a:cs typeface="Noto Sans CJK KR"/>
                        </a:rPr>
                        <a:t>건별 구급출동</a:t>
                      </a:r>
                    </a:p>
                  </a:txBody>
                  <a:tcPr marL="91440" marR="91440" marT="45720" marB="45720">
                    <a:solidFill>
                      <a:srgbClr val="F1F6F6"/>
                    </a:solidFill>
                  </a:tcPr>
                </a:tc>
                <a:tc>
                  <a:txBody>
                    <a:bodyPr/>
                    <a:lstStyle/>
                    <a:p>
                      <a:r>
                        <a:rPr sz="1650" b="0">
                          <a:solidFill>
                            <a:srgbClr val="112D3A"/>
                          </a:solidFill>
                          <a:latin typeface="Noto Sans CJK KR"/>
                          <a:ea typeface="Noto Sans CJK KR"/>
                          <a:cs typeface="Noto Sans CJK KR"/>
                        </a:rPr>
                        <a:t>2021~2022년을 월별 집계</a:t>
                      </a:r>
                    </a:p>
                  </a:txBody>
                  <a:tcPr marL="91440" marR="91440" marT="45720" marB="45720">
                    <a:solidFill>
                      <a:srgbClr val="F1F6F6"/>
                    </a:solidFill>
                  </a:tcPr>
                </a:tc>
                <a:tc>
                  <a:txBody>
                    <a:bodyPr/>
                    <a:lstStyle/>
                    <a:p>
                      <a:r>
                        <a:rPr sz="1650" b="0">
                          <a:solidFill>
                            <a:srgbClr val="112D3A"/>
                          </a:solidFill>
                          <a:latin typeface="Noto Sans CJK KR"/>
                          <a:ea typeface="Noto Sans CJK KR"/>
                          <a:cs typeface="Noto Sans CJK KR"/>
                        </a:rPr>
                        <a:t>600행, 자치구·월 수요 분석</a:t>
                      </a:r>
                    </a:p>
                  </a:txBody>
                  <a:tcPr marL="91440" marR="91440" marT="45720" marB="45720">
                    <a:solidFill>
                      <a:srgbClr val="F1F6F6"/>
                    </a:solidFill>
                  </a:tcPr>
                </a:tc>
              </a:tr>
              <a:tr h="579438">
                <a:tc>
                  <a:txBody>
                    <a:bodyPr/>
                    <a:lstStyle/>
                    <a:p>
                      <a:r>
                        <a:rPr sz="1650" b="0">
                          <a:solidFill>
                            <a:srgbClr val="112D3A"/>
                          </a:solidFill>
                          <a:latin typeface="Noto Sans CJK KR"/>
                          <a:ea typeface="Noto Sans CJK KR"/>
                          <a:cs typeface="Noto Sans CJK KR"/>
                        </a:rPr>
                        <a:t>응급실 가용병상</a:t>
                      </a:r>
                    </a:p>
                  </a:txBody>
                  <a:tcPr marL="91440" marR="91440" marT="45720" marB="45720">
                    <a:solidFill>
                      <a:srgbClr val="FFFFFF"/>
                    </a:solidFill>
                  </a:tcPr>
                </a:tc>
                <a:tc>
                  <a:txBody>
                    <a:bodyPr/>
                    <a:lstStyle/>
                    <a:p>
                      <a:r>
                        <a:rPr sz="1650" b="0">
                          <a:solidFill>
                            <a:srgbClr val="112D3A"/>
                          </a:solidFill>
                          <a:latin typeface="Noto Sans CJK KR"/>
                          <a:ea typeface="Noto Sans CJK KR"/>
                          <a:cs typeface="Noto Sans CJK KR"/>
                        </a:rPr>
                        <a:t>2026.09.28 수집 스냅샷</a:t>
                      </a:r>
                    </a:p>
                  </a:txBody>
                  <a:tcPr marL="91440" marR="91440" marT="45720" marB="45720">
                    <a:solidFill>
                      <a:srgbClr val="FFFFFF"/>
                    </a:solidFill>
                  </a:tcPr>
                </a:tc>
                <a:tc>
                  <a:txBody>
                    <a:bodyPr/>
                    <a:lstStyle/>
                    <a:p>
                      <a:r>
                        <a:rPr sz="1650" b="0">
                          <a:solidFill>
                            <a:srgbClr val="112D3A"/>
                          </a:solidFill>
                          <a:latin typeface="Noto Sans CJK KR"/>
                          <a:ea typeface="Noto Sans CJK KR"/>
                          <a:cs typeface="Noto Sans CJK KR"/>
                        </a:rPr>
                        <a:t>51행 중 유효 병상 45행</a:t>
                      </a:r>
                    </a:p>
                  </a:txBody>
                  <a:tcPr marL="91440" marR="91440" marT="45720" marB="45720">
                    <a:solidFill>
                      <a:srgbClr val="FFFFFF"/>
                    </a:solidFill>
                  </a:tcPr>
                </a:tc>
              </a:tr>
              <a:tr h="579438">
                <a:tc>
                  <a:txBody>
                    <a:bodyPr/>
                    <a:lstStyle/>
                    <a:p>
                      <a:r>
                        <a:rPr sz="1650" b="0">
                          <a:solidFill>
                            <a:srgbClr val="112D3A"/>
                          </a:solidFill>
                          <a:latin typeface="Noto Sans CJK KR"/>
                          <a:ea typeface="Noto Sans CJK KR"/>
                          <a:cs typeface="Noto Sans CJK KR"/>
                        </a:rPr>
                        <a:t>의료이용 유출입</a:t>
                      </a:r>
                    </a:p>
                  </a:txBody>
                  <a:tcPr marL="91440" marR="91440" marT="45720" marB="45720">
                    <a:solidFill>
                      <a:srgbClr val="F1F6F6"/>
                    </a:solidFill>
                  </a:tcPr>
                </a:tc>
                <a:tc>
                  <a:txBody>
                    <a:bodyPr/>
                    <a:lstStyle/>
                    <a:p>
                      <a:r>
                        <a:rPr sz="1650" b="0">
                          <a:solidFill>
                            <a:srgbClr val="112D3A"/>
                          </a:solidFill>
                          <a:latin typeface="Noto Sans CJK KR"/>
                          <a:ea typeface="Noto Sans CJK KR"/>
                          <a:cs typeface="Noto Sans CJK KR"/>
                        </a:rPr>
                        <a:t>연간, 2021~2024년</a:t>
                      </a:r>
                    </a:p>
                  </a:txBody>
                  <a:tcPr marL="91440" marR="91440" marT="45720" marB="45720">
                    <a:solidFill>
                      <a:srgbClr val="F1F6F6"/>
                    </a:solidFill>
                  </a:tcPr>
                </a:tc>
                <a:tc>
                  <a:txBody>
                    <a:bodyPr/>
                    <a:lstStyle/>
                    <a:p>
                      <a:r>
                        <a:rPr sz="1650" b="0">
                          <a:solidFill>
                            <a:srgbClr val="112D3A"/>
                          </a:solidFill>
                          <a:latin typeface="Noto Sans CJK KR"/>
                          <a:ea typeface="Noto Sans CJK KR"/>
                          <a:cs typeface="Noto Sans CJK KR"/>
                        </a:rPr>
                        <a:t>수요·공급·구간 이동 집계 코드</a:t>
                      </a:r>
                    </a:p>
                  </a:txBody>
                  <a:tcPr marL="91440" marR="91440" marT="45720" marB="45720">
                    <a:solidFill>
                      <a:srgbClr val="F1F6F6"/>
                    </a:solidFill>
                  </a:tcPr>
                </a:tc>
              </a:tr>
            </a:tbl>
          </a:graphicData>
        </a:graphic>
      </p:graphicFrame>
      <p:sp>
        <p:nvSpPr>
          <p:cNvPr id="5" name="">
            <a:extLst xmlns:a="http://schemas.openxmlformats.org/drawingml/2006/main">
              <a:ext uri="{FF2B5EF4-FFF2-40B4-BE49-F238E27FC236}">
                <a16:creationId xmlns:a16="http://schemas.microsoft.com/office/drawing/2014/main" id="{6211918E-F013-463E-AD15-332E30F21DC1}"/>
              </a:ext>
            </a:extLst>
          </p:cNvPr>
          <p:cNvSpPr>
            <a:spLocks xmlns:a="http://schemas.openxmlformats.org/drawingml/2006/main" noGrp="1"/>
          </p:cNvSpPr>
          <p:nvPr/>
        </p:nvSpPr>
        <p:spPr>
          <a:xfrm xmlns:a="http://schemas.openxmlformats.org/drawingml/2006/main">
            <a:off x="666750" y="5934075"/>
            <a:ext cx="10144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행 수는 첨부 노트북의 저장된 출력 기준. 의료이용 유출입 집계에는 실행 출력이 저장되어 있지 않음.</a:t>
            </a:r>
          </a:p>
        </p:txBody>
      </p:sp>
    </p:spTree>
    <p:extLst>
      <p:ext uri="{BB962C8B-B14F-4D97-AF65-F5344CB8AC3E}">
        <p14:creationId xmlns:p14="http://schemas.microsoft.com/office/powerpoint/2010/main" val="48925516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1C06313-7855-40D2-B4AA-122AF3B6AA18}"/>
              </a:ext>
            </a:extLst>
          </p:cNvPr>
          <p:cNvSpPr>
            <a:spLocks xmlns:a="http://schemas.openxmlformats.org/drawingml/2006/main" noGrp="1"/>
          </p:cNvSpPr>
          <p:nvPr/>
        </p:nvSpPr>
        <p:spPr>
          <a:xfrm xmlns:a="http://schemas.openxmlformats.org/drawingml/2006/main">
            <a:off x="647700" y="457200"/>
            <a:ext cx="10896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12D3A"/>
                </a:solidFill>
                <a:latin typeface="Noto Sans CJK KR"/>
                <a:ea typeface="Noto Sans CJK KR"/>
                <a:cs typeface="Noto Sans CJK KR"/>
              </a:defRPr>
            </a:pPr>
            <a:r>
              <a:rPr sz="3150" b="1">
                <a:solidFill>
                  <a:srgbClr val="112D3A"/>
                </a:solidFill>
                <a:latin typeface="Noto Sans CJK KR"/>
                <a:ea typeface="Noto Sans CJK KR"/>
                <a:cs typeface="Noto Sans CJK KR"/>
              </a:rPr>
              <a:t>지역과 시간 기준을 맞춘 전처리</a:t>
            </a:r>
          </a:p>
        </p:txBody>
      </p:sp>
      <p:sp>
        <p:nvSpPr>
          <p:cNvPr id="2" name="">
            <a:extLst xmlns:a="http://schemas.openxmlformats.org/drawingml/2006/main">
              <a:ext uri="{FF2B5EF4-FFF2-40B4-BE49-F238E27FC236}">
                <a16:creationId xmlns:a16="http://schemas.microsoft.com/office/drawing/2014/main" id="{74F9FC74-5455-47A4-9136-83F459E2EE48}"/>
              </a:ext>
            </a:extLst>
          </p:cNvPr>
          <p:cNvSpPr>
            <a:spLocks xmlns:a="http://schemas.openxmlformats.org/drawingml/2006/main" noGrp="1"/>
          </p:cNvSpPr>
          <p:nvPr/>
        </p:nvSpPr>
        <p:spPr>
          <a:xfrm xmlns:a="http://schemas.openxmlformats.org/drawingml/2006/main">
            <a:off x="666750" y="12573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4"/>
                </a:solidFill>
                <a:latin typeface="Noto Sans CJK KR"/>
                <a:ea typeface="Noto Sans CJK KR"/>
                <a:cs typeface="Noto Sans CJK KR"/>
              </a:defRPr>
            </a:pPr>
            <a:r>
              <a:rPr sz="1725" b="0">
                <a:solidFill>
                  <a:srgbClr val="536874"/>
                </a:solidFill>
                <a:latin typeface="Noto Sans CJK KR"/>
                <a:ea typeface="Noto Sans CJK KR"/>
                <a:cs typeface="Noto Sans CJK KR"/>
              </a:rPr>
              <a:t>공통 키: 자치구명 District, 기준 날짜 ds</a:t>
            </a:r>
          </a:p>
        </p:txBody>
      </p:sp>
      <p:sp>
        <p:nvSpPr>
          <p:cNvPr id="3" name="">
            <a:extLst xmlns:a="http://schemas.openxmlformats.org/drawingml/2006/main">
              <a:ext uri="{FF2B5EF4-FFF2-40B4-BE49-F238E27FC236}">
                <a16:creationId xmlns:a16="http://schemas.microsoft.com/office/drawing/2014/main" id="{B7A90F33-1054-4EB4-8317-E8BC230E7567}"/>
              </a:ext>
            </a:extLst>
          </p:cNvPr>
          <p:cNvSpPr>
            <a:spLocks xmlns:a="http://schemas.openxmlformats.org/drawingml/2006/main" noGrp="1"/>
          </p:cNvSpPr>
          <p:nvPr/>
        </p:nvSpPr>
        <p:spPr>
          <a:xfrm xmlns:a="http://schemas.openxmlformats.org/drawingml/2006/main">
            <a:off x="11029950" y="629602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05</a:t>
            </a:r>
          </a:p>
        </p:txBody>
      </p:sp>
      <p:sp>
        <p:nvSpPr>
          <p:cNvPr id="4" name="">
            <a:extLst xmlns:a="http://schemas.openxmlformats.org/drawingml/2006/main">
              <a:ext uri="{FF2B5EF4-FFF2-40B4-BE49-F238E27FC236}">
                <a16:creationId xmlns:a16="http://schemas.microsoft.com/office/drawing/2014/main" id="{584FF4ED-AF16-44B7-B64D-3988BF6B9124}"/>
              </a:ext>
            </a:extLst>
          </p:cNvPr>
          <p:cNvSpPr>
            <a:spLocks xmlns:a="http://schemas.openxmlformats.org/drawingml/2006/main" noGrp="1"/>
          </p:cNvSpPr>
          <p:nvPr/>
        </p:nvSpPr>
        <p:spPr>
          <a:xfrm xmlns:a="http://schemas.openxmlformats.org/drawingml/2006/main">
            <a:off x="666750" y="2095500"/>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82"/>
                </a:solidFill>
                <a:latin typeface="Noto Sans CJK KR"/>
                <a:ea typeface="Noto Sans CJK KR"/>
                <a:cs typeface="Noto Sans CJK KR"/>
              </a:defRPr>
            </a:pPr>
            <a:r>
              <a:rPr sz="2175" b="1">
                <a:solidFill>
                  <a:srgbClr val="007F82"/>
                </a:solidFill>
                <a:latin typeface="Noto Sans CJK KR"/>
                <a:ea typeface="Noto Sans CJK KR"/>
                <a:cs typeface="Noto Sans CJK KR"/>
              </a:rPr>
              <a:t>지역 표준화</a:t>
            </a:r>
          </a:p>
        </p:txBody>
      </p:sp>
      <p:sp>
        <p:nvSpPr>
          <p:cNvPr id="5" name="">
            <a:extLst xmlns:a="http://schemas.openxmlformats.org/drawingml/2006/main">
              <a:ext uri="{FF2B5EF4-FFF2-40B4-BE49-F238E27FC236}">
                <a16:creationId xmlns:a16="http://schemas.microsoft.com/office/drawing/2014/main" id="{E543C5E6-02F7-48D0-B227-AF49C276C9F5}"/>
              </a:ext>
            </a:extLst>
          </p:cNvPr>
          <p:cNvSpPr>
            <a:spLocks xmlns:a="http://schemas.openxmlformats.org/drawingml/2006/main" noGrp="1"/>
          </p:cNvSpPr>
          <p:nvPr/>
        </p:nvSpPr>
        <p:spPr>
          <a:xfrm xmlns:a="http://schemas.openxmlformats.org/drawingml/2006/main">
            <a:off x="3638550" y="2095500"/>
            <a:ext cx="7858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소방서 관할구역을 서울 25개 표준 자치구명으로 매핑</a:t>
            </a:r>
          </a:p>
        </p:txBody>
      </p:sp>
      <p:sp>
        <p:nvSpPr>
          <p:cNvPr id="6" name="">
            <a:extLst xmlns:a="http://schemas.openxmlformats.org/drawingml/2006/main">
              <a:ext uri="{FF2B5EF4-FFF2-40B4-BE49-F238E27FC236}">
                <a16:creationId xmlns:a16="http://schemas.microsoft.com/office/drawing/2014/main" id="{4CC8FF61-044C-410B-91A3-2426ED008B8B}"/>
              </a:ext>
            </a:extLst>
          </p:cNvPr>
          <p:cNvSpPr>
            <a:spLocks xmlns:a="http://schemas.openxmlformats.org/drawingml/2006/main" noGrp="1"/>
          </p:cNvSpPr>
          <p:nvPr/>
        </p:nvSpPr>
        <p:spPr>
          <a:xfrm xmlns:a="http://schemas.openxmlformats.org/drawingml/2006/main">
            <a:off x="666750" y="3190875"/>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82"/>
                </a:solidFill>
                <a:latin typeface="Noto Sans CJK KR"/>
                <a:ea typeface="Noto Sans CJK KR"/>
                <a:cs typeface="Noto Sans CJK KR"/>
              </a:defRPr>
            </a:pPr>
            <a:r>
              <a:rPr sz="2175" b="1">
                <a:solidFill>
                  <a:srgbClr val="007F82"/>
                </a:solidFill>
                <a:latin typeface="Noto Sans CJK KR"/>
                <a:ea typeface="Noto Sans CJK KR"/>
                <a:cs typeface="Noto Sans CJK KR"/>
              </a:rPr>
              <a:t>결측·중복 처리</a:t>
            </a:r>
          </a:p>
        </p:txBody>
      </p:sp>
      <p:sp>
        <p:nvSpPr>
          <p:cNvPr id="7" name="">
            <a:extLst xmlns:a="http://schemas.openxmlformats.org/drawingml/2006/main">
              <a:ext uri="{FF2B5EF4-FFF2-40B4-BE49-F238E27FC236}">
                <a16:creationId xmlns:a16="http://schemas.microsoft.com/office/drawing/2014/main" id="{2C1F1C0E-6755-4901-B2CE-480059EF019C}"/>
              </a:ext>
            </a:extLst>
          </p:cNvPr>
          <p:cNvSpPr>
            <a:spLocks xmlns:a="http://schemas.openxmlformats.org/drawingml/2006/main" noGrp="1"/>
          </p:cNvSpPr>
          <p:nvPr/>
        </p:nvSpPr>
        <p:spPr>
          <a:xfrm xmlns:a="http://schemas.openxmlformats.org/drawingml/2006/main">
            <a:off x="3638550" y="3190875"/>
            <a:ext cx="7858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0 대체 구간을 표시하고 학습에서 제외</a:t>
            </a:r>
          </a:p>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인구의 날짜 공백 보간, 동일 데이터·컬럼 정리</a:t>
            </a:r>
          </a:p>
        </p:txBody>
      </p:sp>
      <p:sp>
        <p:nvSpPr>
          <p:cNvPr id="8" name="">
            <a:extLst xmlns:a="http://schemas.openxmlformats.org/drawingml/2006/main">
              <a:ext uri="{FF2B5EF4-FFF2-40B4-BE49-F238E27FC236}">
                <a16:creationId xmlns:a16="http://schemas.microsoft.com/office/drawing/2014/main" id="{F06EBEF2-CB3B-402A-A773-842D26E4F038}"/>
              </a:ext>
            </a:extLst>
          </p:cNvPr>
          <p:cNvSpPr>
            <a:spLocks xmlns:a="http://schemas.openxmlformats.org/drawingml/2006/main" noGrp="1"/>
          </p:cNvSpPr>
          <p:nvPr/>
        </p:nvSpPr>
        <p:spPr>
          <a:xfrm xmlns:a="http://schemas.openxmlformats.org/drawingml/2006/main">
            <a:off x="666750" y="4286250"/>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82"/>
                </a:solidFill>
                <a:latin typeface="Noto Sans CJK KR"/>
                <a:ea typeface="Noto Sans CJK KR"/>
                <a:cs typeface="Noto Sans CJK KR"/>
              </a:defRPr>
            </a:pPr>
            <a:r>
              <a:rPr sz="2175" b="1">
                <a:solidFill>
                  <a:srgbClr val="007F82"/>
                </a:solidFill>
                <a:latin typeface="Noto Sans CJK KR"/>
                <a:ea typeface="Noto Sans CJK KR"/>
                <a:cs typeface="Noto Sans CJK KR"/>
              </a:rPr>
              <a:t>시차 특성 생성</a:t>
            </a:r>
          </a:p>
        </p:txBody>
      </p:sp>
      <p:sp>
        <p:nvSpPr>
          <p:cNvPr id="9" name="">
            <a:extLst xmlns:a="http://schemas.openxmlformats.org/drawingml/2006/main">
              <a:ext uri="{FF2B5EF4-FFF2-40B4-BE49-F238E27FC236}">
                <a16:creationId xmlns:a16="http://schemas.microsoft.com/office/drawing/2014/main" id="{24AD5E59-8739-4BE5-8CDF-E7A6395F4206}"/>
              </a:ext>
            </a:extLst>
          </p:cNvPr>
          <p:cNvSpPr>
            <a:spLocks xmlns:a="http://schemas.openxmlformats.org/drawingml/2006/main" noGrp="1"/>
          </p:cNvSpPr>
          <p:nvPr/>
        </p:nvSpPr>
        <p:spPr>
          <a:xfrm xmlns:a="http://schemas.openxmlformats.org/drawingml/2006/main">
            <a:off x="3638550" y="4286250"/>
            <a:ext cx="7858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자치구별 전년·전일·7일 전 값을 입력 변수로 구성</a:t>
            </a:r>
          </a:p>
        </p:txBody>
      </p:sp>
      <p:sp>
        <p:nvSpPr>
          <p:cNvPr id="10" name="">
            <a:extLst xmlns:a="http://schemas.openxmlformats.org/drawingml/2006/main">
              <a:ext uri="{FF2B5EF4-FFF2-40B4-BE49-F238E27FC236}">
                <a16:creationId xmlns:a16="http://schemas.microsoft.com/office/drawing/2014/main" id="{FBFB8D2D-6C82-4911-83E7-793AA2CF6B15}"/>
              </a:ext>
            </a:extLst>
          </p:cNvPr>
          <p:cNvSpPr>
            <a:spLocks xmlns:a="http://schemas.openxmlformats.org/drawingml/2006/main" noGrp="1"/>
          </p:cNvSpPr>
          <p:nvPr/>
        </p:nvSpPr>
        <p:spPr>
          <a:xfrm xmlns:a="http://schemas.openxmlformats.org/drawingml/2006/main">
            <a:off x="666750" y="5934075"/>
            <a:ext cx="10144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소방서 관할 매핑과 실제 출동 발생지는 기준이 다를 수 있어 비교 전에 집계 정의 확인이 필요.</a:t>
            </a:r>
          </a:p>
        </p:txBody>
      </p:sp>
    </p:spTree>
    <p:extLst>
      <p:ext uri="{BB962C8B-B14F-4D97-AF65-F5344CB8AC3E}">
        <p14:creationId xmlns:p14="http://schemas.microsoft.com/office/powerpoint/2010/main" val="139416879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2DEB0EB-CE42-470A-A544-C7F465CA9C01}"/>
              </a:ext>
            </a:extLst>
          </p:cNvPr>
          <p:cNvSpPr>
            <a:spLocks xmlns:a="http://schemas.openxmlformats.org/drawingml/2006/main" noGrp="1"/>
          </p:cNvSpPr>
          <p:nvPr/>
        </p:nvSpPr>
        <p:spPr>
          <a:xfrm xmlns:a="http://schemas.openxmlformats.org/drawingml/2006/main">
            <a:off x="647700" y="457200"/>
            <a:ext cx="10896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12D3A"/>
                </a:solidFill>
                <a:latin typeface="Noto Sans CJK KR"/>
                <a:ea typeface="Noto Sans CJK KR"/>
                <a:cs typeface="Noto Sans CJK KR"/>
              </a:defRPr>
            </a:pPr>
            <a:r>
              <a:rPr sz="3150" b="1">
                <a:solidFill>
                  <a:srgbClr val="112D3A"/>
                </a:solidFill>
                <a:latin typeface="Noto Sans CJK KR"/>
                <a:ea typeface="Noto Sans CJK KR"/>
                <a:cs typeface="Noto Sans CJK KR"/>
              </a:rPr>
              <a:t>2025년 12월 출동 상위 5개 자치구</a:t>
            </a:r>
          </a:p>
        </p:txBody>
      </p:sp>
      <p:sp>
        <p:nvSpPr>
          <p:cNvPr id="2" name="">
            <a:extLst xmlns:a="http://schemas.openxmlformats.org/drawingml/2006/main">
              <a:ext uri="{FF2B5EF4-FFF2-40B4-BE49-F238E27FC236}">
                <a16:creationId xmlns:a16="http://schemas.microsoft.com/office/drawing/2014/main" id="{5B2EAFED-130B-4FFE-971A-B55DA5EDC62E}"/>
              </a:ext>
            </a:extLst>
          </p:cNvPr>
          <p:cNvSpPr>
            <a:spLocks xmlns:a="http://schemas.openxmlformats.org/drawingml/2006/main" noGrp="1"/>
          </p:cNvSpPr>
          <p:nvPr/>
        </p:nvSpPr>
        <p:spPr>
          <a:xfrm xmlns:a="http://schemas.openxmlformats.org/drawingml/2006/main">
            <a:off x="666750" y="12573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4"/>
                </a:solidFill>
                <a:latin typeface="Noto Sans CJK KR"/>
                <a:ea typeface="Noto Sans CJK KR"/>
                <a:cs typeface="Noto Sans CJK KR"/>
              </a:defRPr>
            </a:pPr>
            <a:r>
              <a:rPr sz="1725" b="0">
                <a:solidFill>
                  <a:srgbClr val="536874"/>
                </a:solidFill>
                <a:latin typeface="Noto Sans CJK KR"/>
                <a:ea typeface="Noto Sans CJK KR"/>
                <a:cs typeface="Noto Sans CJK KR"/>
              </a:rPr>
              <a:t>출동과 이송은 서로 다른 지표이며, 같은 단위인 건수로 비교</a:t>
            </a:r>
          </a:p>
        </p:txBody>
      </p:sp>
      <p:sp>
        <p:nvSpPr>
          <p:cNvPr id="3" name="">
            <a:extLst xmlns:a="http://schemas.openxmlformats.org/drawingml/2006/main">
              <a:ext uri="{FF2B5EF4-FFF2-40B4-BE49-F238E27FC236}">
                <a16:creationId xmlns:a16="http://schemas.microsoft.com/office/drawing/2014/main" id="{60C9A21D-AFBE-47AB-BE46-BF8057109EEE}"/>
              </a:ext>
            </a:extLst>
          </p:cNvPr>
          <p:cNvSpPr>
            <a:spLocks xmlns:a="http://schemas.openxmlformats.org/drawingml/2006/main" noGrp="1"/>
          </p:cNvSpPr>
          <p:nvPr/>
        </p:nvSpPr>
        <p:spPr>
          <a:xfrm xmlns:a="http://schemas.openxmlformats.org/drawingml/2006/main">
            <a:off x="11029950" y="629602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06</a:t>
            </a:r>
          </a:p>
        </p:txBody>
      </p:sp>
      <p:graphicFrame>
        <p:nvGraphicFramePr>
          <p:cNvPr id="13" name="Chart"/>
          <p:cNvGraphicFramePr/>
          <p:nvPr/>
        </p:nvGraphicFramePr>
        <p:xfrm>
          <a:off xmlns:a="http://schemas.openxmlformats.org/drawingml/2006/main" x="666750" y="2038350"/>
          <a:ext xmlns:a="http://schemas.openxmlformats.org/drawingml/2006/main" cx="8096250" cy="3514725"/>
        </p:xfrm>
        <a:graphic xmlns:a="http://schemas.openxmlformats.org/drawingml/2006/main">
          <a:graphicData uri="http://schemas.openxmlformats.org/drawingml/2006/chart">
            <c:chart xmlns:r="http://schemas.openxmlformats.org/officeDocument/2006/relationships" xmlns:c="http://schemas.openxmlformats.org/drawingml/2006/chart" r:id="Rc33ce32d75304f12"/>
          </a:graphicData>
        </a:graphic>
      </p:graphicFrame>
      <p:sp>
        <p:nvSpPr>
          <p:cNvPr id="5" name="">
            <a:extLst xmlns:a="http://schemas.openxmlformats.org/drawingml/2006/main">
              <a:ext uri="{FF2B5EF4-FFF2-40B4-BE49-F238E27FC236}">
                <a16:creationId xmlns:a16="http://schemas.microsoft.com/office/drawing/2014/main" id="{9F2D9737-D5E5-474C-A1BA-291C9E60DCBB}"/>
              </a:ext>
            </a:extLst>
          </p:cNvPr>
          <p:cNvSpPr>
            <a:spLocks xmlns:a="http://schemas.openxmlformats.org/drawingml/2006/main" noGrp="1"/>
          </p:cNvSpPr>
          <p:nvPr/>
        </p:nvSpPr>
        <p:spPr>
          <a:xfrm xmlns:a="http://schemas.openxmlformats.org/drawingml/2006/main">
            <a:off x="9115425" y="2371725"/>
            <a:ext cx="2524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007F82"/>
                </a:solidFill>
                <a:latin typeface="Noto Sans CJK KR"/>
                <a:ea typeface="Noto Sans CJK KR"/>
                <a:cs typeface="Noto Sans CJK KR"/>
              </a:defRPr>
            </a:pPr>
            <a:r>
              <a:rPr sz="3525" b="1">
                <a:solidFill>
                  <a:srgbClr val="007F82"/>
                </a:solidFill>
                <a:latin typeface="Noto Sans CJK KR"/>
                <a:ea typeface="Noto Sans CJK KR"/>
                <a:cs typeface="Noto Sans CJK KR"/>
              </a:rPr>
              <a:t>2,768건</a:t>
            </a:r>
          </a:p>
        </p:txBody>
      </p:sp>
      <p:sp>
        <p:nvSpPr>
          <p:cNvPr id="6" name="">
            <a:extLst xmlns:a="http://schemas.openxmlformats.org/drawingml/2006/main">
              <a:ext uri="{FF2B5EF4-FFF2-40B4-BE49-F238E27FC236}">
                <a16:creationId xmlns:a16="http://schemas.microsoft.com/office/drawing/2014/main" id="{604F5DB0-BF5C-4916-B608-89E148CCF394}"/>
              </a:ext>
            </a:extLst>
          </p:cNvPr>
          <p:cNvSpPr>
            <a:spLocks xmlns:a="http://schemas.openxmlformats.org/drawingml/2006/main" noGrp="1"/>
          </p:cNvSpPr>
          <p:nvPr/>
        </p:nvSpPr>
        <p:spPr>
          <a:xfrm xmlns:a="http://schemas.openxmlformats.org/drawingml/2006/main">
            <a:off x="9144000" y="31623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12D3A"/>
                </a:solidFill>
                <a:latin typeface="Noto Sans CJK KR"/>
                <a:ea typeface="Noto Sans CJK KR"/>
                <a:cs typeface="Noto Sans CJK KR"/>
              </a:defRPr>
            </a:pPr>
            <a:r>
              <a:rPr sz="1950" b="0">
                <a:solidFill>
                  <a:srgbClr val="112D3A"/>
                </a:solidFill>
                <a:latin typeface="Noto Sans CJK KR"/>
                <a:ea typeface="Noto Sans CJK KR"/>
                <a:cs typeface="Noto Sans CJK KR"/>
              </a:rPr>
              <a:t>강남구 출동</a:t>
            </a:r>
          </a:p>
        </p:txBody>
      </p:sp>
      <p:sp>
        <p:nvSpPr>
          <p:cNvPr id="7" name="">
            <a:extLst xmlns:a="http://schemas.openxmlformats.org/drawingml/2006/main">
              <a:ext uri="{FF2B5EF4-FFF2-40B4-BE49-F238E27FC236}">
                <a16:creationId xmlns:a16="http://schemas.microsoft.com/office/drawing/2014/main" id="{34772A07-9DE5-47C4-985B-169B395DF2C0}"/>
              </a:ext>
            </a:extLst>
          </p:cNvPr>
          <p:cNvSpPr>
            <a:spLocks xmlns:a="http://schemas.openxmlformats.org/drawingml/2006/main" noGrp="1"/>
          </p:cNvSpPr>
          <p:nvPr/>
        </p:nvSpPr>
        <p:spPr>
          <a:xfrm xmlns:a="http://schemas.openxmlformats.org/drawingml/2006/main">
            <a:off x="9115425" y="393382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2D3A"/>
                </a:solidFill>
                <a:latin typeface="Noto Sans CJK KR"/>
                <a:ea typeface="Noto Sans CJK KR"/>
                <a:cs typeface="Noto Sans CJK KR"/>
              </a:defRPr>
            </a:pPr>
            <a:r>
              <a:rPr sz="3000" b="1">
                <a:solidFill>
                  <a:srgbClr val="112D3A"/>
                </a:solidFill>
                <a:latin typeface="Noto Sans CJK KR"/>
                <a:ea typeface="Noto Sans CJK KR"/>
                <a:cs typeface="Noto Sans CJK KR"/>
              </a:rPr>
              <a:t>1,441건</a:t>
            </a:r>
          </a:p>
        </p:txBody>
      </p:sp>
      <p:sp>
        <p:nvSpPr>
          <p:cNvPr id="8" name="">
            <a:extLst xmlns:a="http://schemas.openxmlformats.org/drawingml/2006/main">
              <a:ext uri="{FF2B5EF4-FFF2-40B4-BE49-F238E27FC236}">
                <a16:creationId xmlns:a16="http://schemas.microsoft.com/office/drawing/2014/main" id="{F10C3863-76CD-4BB7-8B57-259A26667249}"/>
              </a:ext>
            </a:extLst>
          </p:cNvPr>
          <p:cNvSpPr>
            <a:spLocks xmlns:a="http://schemas.openxmlformats.org/drawingml/2006/main" noGrp="1"/>
          </p:cNvSpPr>
          <p:nvPr/>
        </p:nvSpPr>
        <p:spPr>
          <a:xfrm xmlns:a="http://schemas.openxmlformats.org/drawingml/2006/main">
            <a:off x="9144000" y="46482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12D3A"/>
                </a:solidFill>
                <a:latin typeface="Noto Sans CJK KR"/>
                <a:ea typeface="Noto Sans CJK KR"/>
                <a:cs typeface="Noto Sans CJK KR"/>
              </a:defRPr>
            </a:pPr>
            <a:r>
              <a:rPr sz="1950" b="0">
                <a:solidFill>
                  <a:srgbClr val="112D3A"/>
                </a:solidFill>
                <a:latin typeface="Noto Sans CJK KR"/>
                <a:ea typeface="Noto Sans CJK KR"/>
                <a:cs typeface="Noto Sans CJK KR"/>
              </a:rPr>
              <a:t>강남구 이송</a:t>
            </a:r>
          </a:p>
        </p:txBody>
      </p:sp>
      <p:sp>
        <p:nvSpPr>
          <p:cNvPr id="9" name="">
            <a:extLst xmlns:a="http://schemas.openxmlformats.org/drawingml/2006/main">
              <a:ext uri="{FF2B5EF4-FFF2-40B4-BE49-F238E27FC236}">
                <a16:creationId xmlns:a16="http://schemas.microsoft.com/office/drawing/2014/main" id="{04D58B04-B568-431D-B618-4EF936695435}"/>
              </a:ext>
            </a:extLst>
          </p:cNvPr>
          <p:cNvSpPr>
            <a:spLocks xmlns:a="http://schemas.openxmlformats.org/drawingml/2006/main" noGrp="1"/>
          </p:cNvSpPr>
          <p:nvPr/>
        </p:nvSpPr>
        <p:spPr>
          <a:xfrm xmlns:a="http://schemas.openxmlformats.org/drawingml/2006/main">
            <a:off x="666750" y="5934075"/>
            <a:ext cx="10144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2025년 12월 API 저장 결과. 현재 수요를 뜻하지 않으며, 병상 스냅샷과 관측 시점이 다름.</a:t>
            </a:r>
          </a:p>
        </p:txBody>
      </p:sp>
    </p:spTree>
    <p:extLst>
      <p:ext uri="{BB962C8B-B14F-4D97-AF65-F5344CB8AC3E}">
        <p14:creationId xmlns:p14="http://schemas.microsoft.com/office/powerpoint/2010/main" val="19268870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4C7572F-34D9-4743-B80E-E5DC279AB937}"/>
              </a:ext>
            </a:extLst>
          </p:cNvPr>
          <p:cNvSpPr>
            <a:spLocks xmlns:a="http://schemas.openxmlformats.org/drawingml/2006/main" noGrp="1"/>
          </p:cNvSpPr>
          <p:nvPr/>
        </p:nvSpPr>
        <p:spPr>
          <a:xfrm xmlns:a="http://schemas.openxmlformats.org/drawingml/2006/main">
            <a:off x="647700" y="457200"/>
            <a:ext cx="10896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12D3A"/>
                </a:solidFill>
                <a:latin typeface="Noto Sans CJK KR"/>
                <a:ea typeface="Noto Sans CJK KR"/>
                <a:cs typeface="Noto Sans CJK KR"/>
              </a:defRPr>
            </a:pPr>
            <a:r>
              <a:rPr sz="3150" b="1">
                <a:solidFill>
                  <a:srgbClr val="112D3A"/>
                </a:solidFill>
                <a:latin typeface="Noto Sans CJK KR"/>
                <a:ea typeface="Noto Sans CJK KR"/>
                <a:cs typeface="Noto Sans CJK KR"/>
              </a:rPr>
              <a:t>응급실 병상 정보의 수집과 품질 관리</a:t>
            </a:r>
          </a:p>
        </p:txBody>
      </p:sp>
      <p:sp>
        <p:nvSpPr>
          <p:cNvPr id="2" name="">
            <a:extLst xmlns:a="http://schemas.openxmlformats.org/drawingml/2006/main">
              <a:ext uri="{FF2B5EF4-FFF2-40B4-BE49-F238E27FC236}">
                <a16:creationId xmlns:a16="http://schemas.microsoft.com/office/drawing/2014/main" id="{1A248E03-40C9-4680-89C7-C959D8AD7B8B}"/>
              </a:ext>
            </a:extLst>
          </p:cNvPr>
          <p:cNvSpPr>
            <a:spLocks xmlns:a="http://schemas.openxmlformats.org/drawingml/2006/main" noGrp="1"/>
          </p:cNvSpPr>
          <p:nvPr/>
        </p:nvSpPr>
        <p:spPr>
          <a:xfrm xmlns:a="http://schemas.openxmlformats.org/drawingml/2006/main">
            <a:off x="666750" y="12573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4"/>
                </a:solidFill>
                <a:latin typeface="Noto Sans CJK KR"/>
                <a:ea typeface="Noto Sans CJK KR"/>
                <a:cs typeface="Noto Sans CJK KR"/>
              </a:defRPr>
            </a:pPr>
            <a:r>
              <a:rPr sz="1725" b="0">
                <a:solidFill>
                  <a:srgbClr val="536874"/>
                </a:solidFill>
                <a:latin typeface="Noto Sans CJK KR"/>
                <a:ea typeface="Noto Sans CJK KR"/>
                <a:cs typeface="Noto Sans CJK KR"/>
              </a:rPr>
              <a:t>가용병상 숫자와 함께 관측 시각·정보 누락 여부를 확인</a:t>
            </a:r>
          </a:p>
        </p:txBody>
      </p:sp>
      <p:sp>
        <p:nvSpPr>
          <p:cNvPr id="3" name="">
            <a:extLst xmlns:a="http://schemas.openxmlformats.org/drawingml/2006/main">
              <a:ext uri="{FF2B5EF4-FFF2-40B4-BE49-F238E27FC236}">
                <a16:creationId xmlns:a16="http://schemas.microsoft.com/office/drawing/2014/main" id="{473455AC-4921-4472-9B72-C480FB9F9EA5}"/>
              </a:ext>
            </a:extLst>
          </p:cNvPr>
          <p:cNvSpPr>
            <a:spLocks xmlns:a="http://schemas.openxmlformats.org/drawingml/2006/main" noGrp="1"/>
          </p:cNvSpPr>
          <p:nvPr/>
        </p:nvSpPr>
        <p:spPr>
          <a:xfrm xmlns:a="http://schemas.openxmlformats.org/drawingml/2006/main">
            <a:off x="11029950" y="629602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07</a:t>
            </a:r>
          </a:p>
        </p:txBody>
      </p:sp>
      <p:sp>
        <p:nvSpPr>
          <p:cNvPr id="4" name="">
            <a:extLst xmlns:a="http://schemas.openxmlformats.org/drawingml/2006/main">
              <a:ext uri="{FF2B5EF4-FFF2-40B4-BE49-F238E27FC236}">
                <a16:creationId xmlns:a16="http://schemas.microsoft.com/office/drawing/2014/main" id="{88C9C639-CBBE-43E0-83BB-2DB546E70438}"/>
              </a:ext>
            </a:extLst>
          </p:cNvPr>
          <p:cNvSpPr>
            <a:spLocks xmlns:a="http://schemas.openxmlformats.org/drawingml/2006/main" noGrp="1"/>
          </p:cNvSpPr>
          <p:nvPr/>
        </p:nvSpPr>
        <p:spPr>
          <a:xfrm xmlns:a="http://schemas.openxmlformats.org/drawingml/2006/main">
            <a:off x="742950" y="2152650"/>
            <a:ext cx="2476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007F82"/>
                </a:solidFill>
                <a:latin typeface="Noto Sans CJK KR"/>
                <a:ea typeface="Noto Sans CJK KR"/>
                <a:cs typeface="Noto Sans CJK KR"/>
              </a:defRPr>
            </a:pPr>
            <a:r>
              <a:rPr sz="5400" b="1">
                <a:solidFill>
                  <a:srgbClr val="007F82"/>
                </a:solidFill>
                <a:latin typeface="Noto Sans CJK KR"/>
                <a:ea typeface="Noto Sans CJK KR"/>
                <a:cs typeface="Noto Sans CJK KR"/>
              </a:rPr>
              <a:t>51</a:t>
            </a:r>
          </a:p>
        </p:txBody>
      </p:sp>
      <p:sp>
        <p:nvSpPr>
          <p:cNvPr id="5" name="">
            <a:extLst xmlns:a="http://schemas.openxmlformats.org/drawingml/2006/main">
              <a:ext uri="{FF2B5EF4-FFF2-40B4-BE49-F238E27FC236}">
                <a16:creationId xmlns:a16="http://schemas.microsoft.com/office/drawing/2014/main" id="{71B88D15-DC6D-4A71-9F6B-8F3D15970E8E}"/>
              </a:ext>
            </a:extLst>
          </p:cNvPr>
          <p:cNvSpPr>
            <a:spLocks xmlns:a="http://schemas.openxmlformats.org/drawingml/2006/main" noGrp="1"/>
          </p:cNvSpPr>
          <p:nvPr/>
        </p:nvSpPr>
        <p:spPr>
          <a:xfrm xmlns:a="http://schemas.openxmlformats.org/drawingml/2006/main">
            <a:off x="762000" y="30861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수집 데이터 행</a:t>
            </a:r>
          </a:p>
        </p:txBody>
      </p:sp>
      <p:sp>
        <p:nvSpPr>
          <p:cNvPr id="6" name="">
            <a:extLst xmlns:a="http://schemas.openxmlformats.org/drawingml/2006/main">
              <a:ext uri="{FF2B5EF4-FFF2-40B4-BE49-F238E27FC236}">
                <a16:creationId xmlns:a16="http://schemas.microsoft.com/office/drawing/2014/main" id="{2C325694-E087-4062-85D7-F3272A1CC9D1}"/>
              </a:ext>
            </a:extLst>
          </p:cNvPr>
          <p:cNvSpPr>
            <a:spLocks xmlns:a="http://schemas.openxmlformats.org/drawingml/2006/main" noGrp="1"/>
          </p:cNvSpPr>
          <p:nvPr/>
        </p:nvSpPr>
        <p:spPr>
          <a:xfrm xmlns:a="http://schemas.openxmlformats.org/drawingml/2006/main">
            <a:off x="4438650" y="2152650"/>
            <a:ext cx="2476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12D3A"/>
                </a:solidFill>
                <a:latin typeface="Noto Sans CJK KR"/>
                <a:ea typeface="Noto Sans CJK KR"/>
                <a:cs typeface="Noto Sans CJK KR"/>
              </a:defRPr>
            </a:pPr>
            <a:r>
              <a:rPr sz="5400" b="1">
                <a:solidFill>
                  <a:srgbClr val="112D3A"/>
                </a:solidFill>
                <a:latin typeface="Noto Sans CJK KR"/>
                <a:ea typeface="Noto Sans CJK KR"/>
                <a:cs typeface="Noto Sans CJK KR"/>
              </a:rPr>
              <a:t>45</a:t>
            </a:r>
          </a:p>
        </p:txBody>
      </p:sp>
      <p:sp>
        <p:nvSpPr>
          <p:cNvPr id="7" name="">
            <a:extLst xmlns:a="http://schemas.openxmlformats.org/drawingml/2006/main">
              <a:ext uri="{FF2B5EF4-FFF2-40B4-BE49-F238E27FC236}">
                <a16:creationId xmlns:a16="http://schemas.microsoft.com/office/drawing/2014/main" id="{E0D91CF2-E759-434D-B854-01E4EC363BD5}"/>
              </a:ext>
            </a:extLst>
          </p:cNvPr>
          <p:cNvSpPr>
            <a:spLocks xmlns:a="http://schemas.openxmlformats.org/drawingml/2006/main" noGrp="1"/>
          </p:cNvSpPr>
          <p:nvPr/>
        </p:nvSpPr>
        <p:spPr>
          <a:xfrm xmlns:a="http://schemas.openxmlformats.org/drawingml/2006/main">
            <a:off x="4457700" y="308610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병상 값이 있는 행</a:t>
            </a:r>
          </a:p>
        </p:txBody>
      </p:sp>
      <p:sp>
        <p:nvSpPr>
          <p:cNvPr id="8" name="">
            <a:extLst xmlns:a="http://schemas.openxmlformats.org/drawingml/2006/main">
              <a:ext uri="{FF2B5EF4-FFF2-40B4-BE49-F238E27FC236}">
                <a16:creationId xmlns:a16="http://schemas.microsoft.com/office/drawing/2014/main" id="{4CE65580-6CBE-42AE-984F-40D508486DBB}"/>
              </a:ext>
            </a:extLst>
          </p:cNvPr>
          <p:cNvSpPr>
            <a:spLocks xmlns:a="http://schemas.openxmlformats.org/drawingml/2006/main" noGrp="1"/>
          </p:cNvSpPr>
          <p:nvPr/>
        </p:nvSpPr>
        <p:spPr>
          <a:xfrm xmlns:a="http://schemas.openxmlformats.org/drawingml/2006/main">
            <a:off x="8305800" y="2152650"/>
            <a:ext cx="228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B94E36"/>
                </a:solidFill>
                <a:latin typeface="Noto Sans CJK KR"/>
                <a:ea typeface="Noto Sans CJK KR"/>
                <a:cs typeface="Noto Sans CJK KR"/>
              </a:defRPr>
            </a:pPr>
            <a:r>
              <a:rPr sz="5400" b="1">
                <a:solidFill>
                  <a:srgbClr val="B94E36"/>
                </a:solidFill>
                <a:latin typeface="Noto Sans CJK KR"/>
                <a:ea typeface="Noto Sans CJK KR"/>
                <a:cs typeface="Noto Sans CJK KR"/>
              </a:rPr>
              <a:t>6</a:t>
            </a:r>
          </a:p>
        </p:txBody>
      </p:sp>
      <p:sp>
        <p:nvSpPr>
          <p:cNvPr id="9" name="">
            <a:extLst xmlns:a="http://schemas.openxmlformats.org/drawingml/2006/main">
              <a:ext uri="{FF2B5EF4-FFF2-40B4-BE49-F238E27FC236}">
                <a16:creationId xmlns:a16="http://schemas.microsoft.com/office/drawing/2014/main" id="{68500A6C-3027-4424-8308-C3FEE42BBE4D}"/>
              </a:ext>
            </a:extLst>
          </p:cNvPr>
          <p:cNvSpPr>
            <a:spLocks xmlns:a="http://schemas.openxmlformats.org/drawingml/2006/main" noGrp="1"/>
          </p:cNvSpPr>
          <p:nvPr/>
        </p:nvSpPr>
        <p:spPr>
          <a:xfrm xmlns:a="http://schemas.openxmlformats.org/drawingml/2006/main">
            <a:off x="8324850" y="308610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병상 정보 누락 행</a:t>
            </a:r>
          </a:p>
        </p:txBody>
      </p:sp>
      <p:sp>
        <p:nvSpPr>
          <p:cNvPr id="10" name="">
            <a:extLst xmlns:a="http://schemas.openxmlformats.org/drawingml/2006/main">
              <a:ext uri="{FF2B5EF4-FFF2-40B4-BE49-F238E27FC236}">
                <a16:creationId xmlns:a16="http://schemas.microsoft.com/office/drawing/2014/main" id="{061615D0-D08C-454B-81DC-8494B96461D7}"/>
              </a:ext>
            </a:extLst>
          </p:cNvPr>
          <p:cNvSpPr>
            <a:spLocks xmlns:a="http://schemas.openxmlformats.org/drawingml/2006/main" noGrp="1"/>
          </p:cNvSpPr>
          <p:nvPr/>
        </p:nvSpPr>
        <p:spPr>
          <a:xfrm xmlns:a="http://schemas.openxmlformats.org/drawingml/2006/main">
            <a:off x="762000" y="4191000"/>
            <a:ext cx="223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2"/>
                </a:solidFill>
                <a:latin typeface="Noto Sans CJK KR"/>
                <a:ea typeface="Noto Sans CJK KR"/>
                <a:cs typeface="Noto Sans CJK KR"/>
              </a:defRPr>
            </a:pPr>
            <a:r>
              <a:rPr sz="2100" b="1">
                <a:solidFill>
                  <a:srgbClr val="007F82"/>
                </a:solidFill>
                <a:latin typeface="Noto Sans CJK KR"/>
                <a:ea typeface="Noto Sans CJK KR"/>
                <a:cs typeface="Noto Sans CJK KR"/>
              </a:rPr>
              <a:t>API 처리</a:t>
            </a:r>
          </a:p>
        </p:txBody>
      </p:sp>
      <p:sp>
        <p:nvSpPr>
          <p:cNvPr id="11" name="">
            <a:extLst xmlns:a="http://schemas.openxmlformats.org/drawingml/2006/main">
              <a:ext uri="{FF2B5EF4-FFF2-40B4-BE49-F238E27FC236}">
                <a16:creationId xmlns:a16="http://schemas.microsoft.com/office/drawing/2014/main" id="{DB79CA1D-A18A-4C3D-8574-B5E0966FA272}"/>
              </a:ext>
            </a:extLst>
          </p:cNvPr>
          <p:cNvSpPr>
            <a:spLocks xmlns:a="http://schemas.openxmlformats.org/drawingml/2006/main" noGrp="1"/>
          </p:cNvSpPr>
          <p:nvPr/>
        </p:nvSpPr>
        <p:spPr>
          <a:xfrm xmlns:a="http://schemas.openxmlformats.org/drawingml/2006/main">
            <a:off x="3429000" y="4152900"/>
            <a:ext cx="7848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12D3A"/>
                </a:solidFill>
                <a:latin typeface="Noto Sans CJK KR"/>
                <a:ea typeface="Noto Sans CJK KR"/>
                <a:cs typeface="Noto Sans CJK KR"/>
              </a:defRPr>
            </a:pPr>
            <a:r>
              <a:rPr sz="2025" b="0">
                <a:solidFill>
                  <a:srgbClr val="112D3A"/>
                </a:solidFill>
                <a:latin typeface="Noto Sans CJK KR"/>
                <a:ea typeface="Noto Sans CJK KR"/>
                <a:cs typeface="Noto Sans CJK KR"/>
              </a:rPr>
              <a:t>재시도·페이징 코드, 음수 값의 결측 처리,</a:t>
            </a:r>
          </a:p>
          <a:p xmlns:a="http://schemas.openxmlformats.org/drawingml/2006/main">
            <a:pPr>
              <a:defRPr sz="2025" b="0">
                <a:solidFill>
                  <a:srgbClr val="112D3A"/>
                </a:solidFill>
                <a:latin typeface="Noto Sans CJK KR"/>
                <a:ea typeface="Noto Sans CJK KR"/>
                <a:cs typeface="Noto Sans CJK KR"/>
              </a:defRPr>
            </a:pPr>
            <a:r>
              <a:rPr sz="2025" b="0">
                <a:solidFill>
                  <a:srgbClr val="112D3A"/>
                </a:solidFill>
                <a:latin typeface="Noto Sans CJK KR"/>
                <a:ea typeface="Noto Sans CJK KR"/>
                <a:cs typeface="Noto Sans CJK KR"/>
              </a:rPr>
              <a:t>수집 시각과 직전값 대체 여부 기록</a:t>
            </a:r>
          </a:p>
        </p:txBody>
      </p:sp>
      <p:sp>
        <p:nvSpPr>
          <p:cNvPr id="12" name="">
            <a:extLst xmlns:a="http://schemas.openxmlformats.org/drawingml/2006/main">
              <a:ext uri="{FF2B5EF4-FFF2-40B4-BE49-F238E27FC236}">
                <a16:creationId xmlns:a16="http://schemas.microsoft.com/office/drawing/2014/main" id="{85FE37CC-9F15-41BF-9497-65C4C6CCF0B7}"/>
              </a:ext>
            </a:extLst>
          </p:cNvPr>
          <p:cNvSpPr>
            <a:spLocks xmlns:a="http://schemas.openxmlformats.org/drawingml/2006/main" noGrp="1"/>
          </p:cNvSpPr>
          <p:nvPr/>
        </p:nvSpPr>
        <p:spPr>
          <a:xfrm xmlns:a="http://schemas.openxmlformats.org/drawingml/2006/main">
            <a:off x="666750" y="5934075"/>
            <a:ext cx="10144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스냅샷 수집 시각: 2026.09.28 12:45:18~12:46:14. 음수 처리 규칙은 첨부 코드 기준이며 API 정의 재확인 필요.</a:t>
            </a:r>
          </a:p>
        </p:txBody>
      </p:sp>
    </p:spTree>
    <p:extLst>
      <p:ext uri="{BB962C8B-B14F-4D97-AF65-F5344CB8AC3E}">
        <p14:creationId xmlns:p14="http://schemas.microsoft.com/office/powerpoint/2010/main" val="6743180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05EC9A-B546-4C17-BA71-E6FE24B981BC}"/>
              </a:ext>
            </a:extLst>
          </p:cNvPr>
          <p:cNvSpPr>
            <a:spLocks xmlns:a="http://schemas.openxmlformats.org/drawingml/2006/main" noGrp="1"/>
          </p:cNvSpPr>
          <p:nvPr/>
        </p:nvSpPr>
        <p:spPr>
          <a:xfrm xmlns:a="http://schemas.openxmlformats.org/drawingml/2006/main">
            <a:off x="647700" y="457200"/>
            <a:ext cx="10896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12D3A"/>
                </a:solidFill>
                <a:latin typeface="Noto Sans CJK KR"/>
                <a:ea typeface="Noto Sans CJK KR"/>
                <a:cs typeface="Noto Sans CJK KR"/>
              </a:defRPr>
            </a:pPr>
            <a:r>
              <a:rPr sz="3150" b="1">
                <a:solidFill>
                  <a:srgbClr val="112D3A"/>
                </a:solidFill>
                <a:latin typeface="Noto Sans CJK KR"/>
                <a:ea typeface="Noto Sans CJK KR"/>
                <a:cs typeface="Noto Sans CJK KR"/>
              </a:rPr>
              <a:t>주제별 학습 데이터셋</a:t>
            </a:r>
          </a:p>
        </p:txBody>
      </p:sp>
      <p:sp>
        <p:nvSpPr>
          <p:cNvPr id="2" name="">
            <a:extLst xmlns:a="http://schemas.openxmlformats.org/drawingml/2006/main">
              <a:ext uri="{FF2B5EF4-FFF2-40B4-BE49-F238E27FC236}">
                <a16:creationId xmlns:a16="http://schemas.microsoft.com/office/drawing/2014/main" id="{6D8D6623-F125-46CD-8A8D-2C4739041366}"/>
              </a:ext>
            </a:extLst>
          </p:cNvPr>
          <p:cNvSpPr>
            <a:spLocks xmlns:a="http://schemas.openxmlformats.org/drawingml/2006/main" noGrp="1"/>
          </p:cNvSpPr>
          <p:nvPr/>
        </p:nvSpPr>
        <p:spPr>
          <a:xfrm xmlns:a="http://schemas.openxmlformats.org/drawingml/2006/main">
            <a:off x="666750" y="12573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4"/>
                </a:solidFill>
                <a:latin typeface="Noto Sans CJK KR"/>
                <a:ea typeface="Noto Sans CJK KR"/>
                <a:cs typeface="Noto Sans CJK KR"/>
              </a:defRPr>
            </a:pPr>
            <a:r>
              <a:rPr sz="1725" b="0">
                <a:solidFill>
                  <a:srgbClr val="536874"/>
                </a:solidFill>
                <a:latin typeface="Noto Sans CJK KR"/>
                <a:ea typeface="Noto Sans CJK KR"/>
                <a:cs typeface="Noto Sans CJK KR"/>
              </a:rPr>
              <a:t>같은 지역 데이터라도 예측 대상과 시간 단위를 별도로 정의</a:t>
            </a:r>
          </a:p>
        </p:txBody>
      </p:sp>
      <p:sp>
        <p:nvSpPr>
          <p:cNvPr id="3" name="">
            <a:extLst xmlns:a="http://schemas.openxmlformats.org/drawingml/2006/main">
              <a:ext uri="{FF2B5EF4-FFF2-40B4-BE49-F238E27FC236}">
                <a16:creationId xmlns:a16="http://schemas.microsoft.com/office/drawing/2014/main" id="{1C214659-7E83-4912-8821-D4A1D32A799A}"/>
              </a:ext>
            </a:extLst>
          </p:cNvPr>
          <p:cNvSpPr>
            <a:spLocks xmlns:a="http://schemas.openxmlformats.org/drawingml/2006/main" noGrp="1"/>
          </p:cNvSpPr>
          <p:nvPr/>
        </p:nvSpPr>
        <p:spPr>
          <a:xfrm xmlns:a="http://schemas.openxmlformats.org/drawingml/2006/main">
            <a:off x="11029950" y="629602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08</a:t>
            </a:r>
          </a:p>
        </p:txBody>
      </p:sp>
      <p:graphicFrame>
        <p:nvGraphicFramePr>
          <p:cNvPr id="10" name=""/>
          <p:cNvGraphicFramePr/>
          <p:nvPr/>
        </p:nvGraphicFramePr>
        <p:xfrm>
          <a:off xmlns:a="http://schemas.openxmlformats.org/drawingml/2006/main" x="666750" y="2085975"/>
          <a:ext xmlns:a="http://schemas.openxmlformats.org/drawingml/2006/main" cx="10858500" cy="2381250"/>
        </p:xfrm>
        <a:graphic xmlns:a="http://schemas.openxmlformats.org/drawingml/2006/main">
          <a:graphicData uri="http://schemas.openxmlformats.org/drawingml/2006/table">
            <a:tbl>
              <a:tblPr/>
              <a:tblGrid>
                <a:gridCol w="2095500"/>
                <a:gridCol w="3190875"/>
                <a:gridCol w="1666875"/>
                <a:gridCol w="3905250"/>
              </a:tblGrid>
              <a:tr h="595313">
                <a:tc>
                  <a:txBody>
                    <a:bodyPr/>
                    <a:lstStyle/>
                    <a:p>
                      <a:r>
                        <a:rPr sz="1800" b="1">
                          <a:solidFill>
                            <a:srgbClr val="FFFFFF"/>
                          </a:solidFill>
                          <a:latin typeface="Noto Sans CJK KR"/>
                          <a:ea typeface="Noto Sans CJK KR"/>
                          <a:cs typeface="Noto Sans CJK KR"/>
                        </a:rPr>
                        <a:t>구분</a:t>
                      </a:r>
                    </a:p>
                  </a:txBody>
                  <a:tcPr marL="91440" marR="91440" marT="45720" marB="45720">
                    <a:solidFill>
                      <a:srgbClr val="112D3A"/>
                    </a:solidFill>
                  </a:tcPr>
                </a:tc>
                <a:tc>
                  <a:txBody>
                    <a:bodyPr/>
                    <a:lstStyle/>
                    <a:p>
                      <a:r>
                        <a:rPr sz="1800" b="1">
                          <a:solidFill>
                            <a:srgbClr val="FFFFFF"/>
                          </a:solidFill>
                          <a:latin typeface="Noto Sans CJK KR"/>
                          <a:ea typeface="Noto Sans CJK KR"/>
                          <a:cs typeface="Noto Sans CJK KR"/>
                        </a:rPr>
                        <a:t>예측 대상</a:t>
                      </a:r>
                    </a:p>
                  </a:txBody>
                  <a:tcPr marL="91440" marR="91440" marT="45720" marB="45720">
                    <a:solidFill>
                      <a:srgbClr val="112D3A"/>
                    </a:solidFill>
                  </a:tcPr>
                </a:tc>
                <a:tc>
                  <a:txBody>
                    <a:bodyPr/>
                    <a:lstStyle/>
                    <a:p>
                      <a:r>
                        <a:rPr sz="1800" b="1">
                          <a:solidFill>
                            <a:srgbClr val="FFFFFF"/>
                          </a:solidFill>
                          <a:latin typeface="Noto Sans CJK KR"/>
                          <a:ea typeface="Noto Sans CJK KR"/>
                          <a:cs typeface="Noto Sans CJK KR"/>
                        </a:rPr>
                        <a:t>표본 수</a:t>
                      </a:r>
                    </a:p>
                  </a:txBody>
                  <a:tcPr marL="91440" marR="91440" marT="45720" marB="45720">
                    <a:solidFill>
                      <a:srgbClr val="112D3A"/>
                    </a:solidFill>
                  </a:tcPr>
                </a:tc>
                <a:tc>
                  <a:txBody>
                    <a:bodyPr/>
                    <a:lstStyle/>
                    <a:p>
                      <a:r>
                        <a:rPr sz="1800" b="1">
                          <a:solidFill>
                            <a:srgbClr val="FFFFFF"/>
                          </a:solidFill>
                          <a:latin typeface="Noto Sans CJK KR"/>
                          <a:ea typeface="Noto Sans CJK KR"/>
                          <a:cs typeface="Noto Sans CJK KR"/>
                        </a:rPr>
                        <a:t>입력 구성</a:t>
                      </a:r>
                    </a:p>
                  </a:txBody>
                  <a:tcPr marL="91440" marR="91440" marT="45720" marB="45720">
                    <a:solidFill>
                      <a:srgbClr val="112D3A"/>
                    </a:solidFill>
                  </a:tcPr>
                </a:tc>
              </a:tr>
              <a:tr h="595313">
                <a:tc>
                  <a:txBody>
                    <a:bodyPr/>
                    <a:lstStyle/>
                    <a:p>
                      <a:r>
                        <a:rPr sz="1800" b="0">
                          <a:solidFill>
                            <a:srgbClr val="112D3A"/>
                          </a:solidFill>
                          <a:latin typeface="Noto Sans CJK KR"/>
                          <a:ea typeface="Noto Sans CJK KR"/>
                          <a:cs typeface="Noto Sans CJK KR"/>
                        </a:rPr>
                        <a:t>이송 수요</a:t>
                      </a:r>
                    </a:p>
                  </a:txBody>
                  <a:tcPr marL="91440" marR="91440" marT="45720" marB="45720">
                    <a:solidFill>
                      <a:srgbClr val="F1F6F6"/>
                    </a:solidFill>
                  </a:tcPr>
                </a:tc>
                <a:tc>
                  <a:txBody>
                    <a:bodyPr/>
                    <a:lstStyle/>
                    <a:p>
                      <a:r>
                        <a:rPr sz="1800" b="0">
                          <a:solidFill>
                            <a:srgbClr val="112D3A"/>
                          </a:solidFill>
                          <a:latin typeface="Noto Sans CJK KR"/>
                          <a:ea typeface="Noto Sans CJK KR"/>
                          <a:cs typeface="Noto Sans CJK KR"/>
                        </a:rPr>
                        <a:t>이송건수 transport_cnt</a:t>
                      </a:r>
                    </a:p>
                  </a:txBody>
                  <a:tcPr marL="91440" marR="91440" marT="45720" marB="45720">
                    <a:solidFill>
                      <a:srgbClr val="F1F6F6"/>
                    </a:solidFill>
                  </a:tcPr>
                </a:tc>
                <a:tc>
                  <a:txBody>
                    <a:bodyPr/>
                    <a:lstStyle/>
                    <a:p>
                      <a:r>
                        <a:rPr sz="1800" b="0">
                          <a:solidFill>
                            <a:srgbClr val="112D3A"/>
                          </a:solidFill>
                          <a:latin typeface="Noto Sans CJK KR"/>
                          <a:ea typeface="Noto Sans CJK KR"/>
                          <a:cs typeface="Noto Sans CJK KR"/>
                        </a:rPr>
                        <a:t>463행</a:t>
                      </a:r>
                    </a:p>
                  </a:txBody>
                  <a:tcPr marL="91440" marR="91440" marT="45720" marB="45720">
                    <a:solidFill>
                      <a:srgbClr val="F1F6F6"/>
                    </a:solidFill>
                  </a:tcPr>
                </a:tc>
                <a:tc>
                  <a:txBody>
                    <a:bodyPr/>
                    <a:lstStyle/>
                    <a:p>
                      <a:r>
                        <a:rPr sz="1800" b="0">
                          <a:solidFill>
                            <a:srgbClr val="112D3A"/>
                          </a:solidFill>
                          <a:latin typeface="Noto Sans CJK KR"/>
                          <a:ea typeface="Noto Sans CJK KR"/>
                          <a:cs typeface="Noto Sans CJK KR"/>
                        </a:rPr>
                        <a:t>전년 이송인원·사고 지표</a:t>
                      </a:r>
                    </a:p>
                  </a:txBody>
                  <a:tcPr marL="91440" marR="91440" marT="45720" marB="45720">
                    <a:solidFill>
                      <a:srgbClr val="F1F6F6"/>
                    </a:solidFill>
                  </a:tcPr>
                </a:tc>
              </a:tr>
              <a:tr h="595313">
                <a:tc>
                  <a:txBody>
                    <a:bodyPr/>
                    <a:lstStyle/>
                    <a:p>
                      <a:r>
                        <a:rPr sz="1800" b="0">
                          <a:solidFill>
                            <a:srgbClr val="112D3A"/>
                          </a:solidFill>
                          <a:latin typeface="Noto Sans CJK KR"/>
                          <a:ea typeface="Noto Sans CJK KR"/>
                          <a:cs typeface="Noto Sans CJK KR"/>
                        </a:rPr>
                        <a:t>생활인구</a:t>
                      </a:r>
                    </a:p>
                  </a:txBody>
                  <a:tcPr marL="91440" marR="91440" marT="45720" marB="45720">
                    <a:solidFill>
                      <a:srgbClr val="FFFFFF"/>
                    </a:solidFill>
                  </a:tcPr>
                </a:tc>
                <a:tc>
                  <a:txBody>
                    <a:bodyPr/>
                    <a:lstStyle/>
                    <a:p>
                      <a:r>
                        <a:rPr sz="1800" b="0">
                          <a:solidFill>
                            <a:srgbClr val="112D3A"/>
                          </a:solidFill>
                          <a:latin typeface="Noto Sans CJK KR"/>
                          <a:ea typeface="Noto Sans CJK KR"/>
                          <a:cs typeface="Noto Sans CJK KR"/>
                        </a:rPr>
                        <a:t>일최대인구수</a:t>
                      </a:r>
                    </a:p>
                  </a:txBody>
                  <a:tcPr marL="91440" marR="91440" marT="45720" marB="45720">
                    <a:solidFill>
                      <a:srgbClr val="FFFFFF"/>
                    </a:solidFill>
                  </a:tcPr>
                </a:tc>
                <a:tc>
                  <a:txBody>
                    <a:bodyPr/>
                    <a:lstStyle/>
                    <a:p>
                      <a:r>
                        <a:rPr sz="1800" b="0">
                          <a:solidFill>
                            <a:srgbClr val="112D3A"/>
                          </a:solidFill>
                          <a:latin typeface="Noto Sans CJK KR"/>
                          <a:ea typeface="Noto Sans CJK KR"/>
                          <a:cs typeface="Noto Sans CJK KR"/>
                        </a:rPr>
                        <a:t>75,825행</a:t>
                      </a:r>
                    </a:p>
                  </a:txBody>
                  <a:tcPr marL="91440" marR="91440" marT="45720" marB="45720">
                    <a:solidFill>
                      <a:srgbClr val="FFFFFF"/>
                    </a:solidFill>
                  </a:tcPr>
                </a:tc>
                <a:tc>
                  <a:txBody>
                    <a:bodyPr/>
                    <a:lstStyle/>
                    <a:p>
                      <a:r>
                        <a:rPr sz="1800" b="0">
                          <a:solidFill>
                            <a:srgbClr val="112D3A"/>
                          </a:solidFill>
                          <a:latin typeface="Noto Sans CJK KR"/>
                          <a:ea typeface="Noto Sans CJK KR"/>
                          <a:cs typeface="Noto Sans CJK KR"/>
                        </a:rPr>
                        <a:t>7일 전 최대인구·전일 지표</a:t>
                      </a:r>
                    </a:p>
                  </a:txBody>
                  <a:tcPr marL="91440" marR="91440" marT="45720" marB="45720">
                    <a:solidFill>
                      <a:srgbClr val="FFFFFF"/>
                    </a:solidFill>
                  </a:tcPr>
                </a:tc>
              </a:tr>
              <a:tr h="595313">
                <a:tc>
                  <a:txBody>
                    <a:bodyPr/>
                    <a:lstStyle/>
                    <a:p>
                      <a:r>
                        <a:rPr sz="1800" b="0">
                          <a:solidFill>
                            <a:srgbClr val="112D3A"/>
                          </a:solidFill>
                          <a:latin typeface="Noto Sans CJK KR"/>
                          <a:ea typeface="Noto Sans CJK KR"/>
                          <a:cs typeface="Noto Sans CJK KR"/>
                        </a:rPr>
                        <a:t>병상</a:t>
                      </a:r>
                    </a:p>
                  </a:txBody>
                  <a:tcPr marL="91440" marR="91440" marT="45720" marB="45720">
                    <a:solidFill>
                      <a:srgbClr val="F1F6F6"/>
                    </a:solidFill>
                  </a:tcPr>
                </a:tc>
                <a:tc>
                  <a:txBody>
                    <a:bodyPr/>
                    <a:lstStyle/>
                    <a:p>
                      <a:r>
                        <a:rPr sz="1800" b="0">
                          <a:solidFill>
                            <a:srgbClr val="112D3A"/>
                          </a:solidFill>
                          <a:latin typeface="Noto Sans CJK KR"/>
                          <a:ea typeface="Noto Sans CJK KR"/>
                          <a:cs typeface="Noto Sans CJK KR"/>
                        </a:rPr>
                        <a:t>가용병상 Available_Beds</a:t>
                      </a:r>
                    </a:p>
                  </a:txBody>
                  <a:tcPr marL="91440" marR="91440" marT="45720" marB="45720">
                    <a:solidFill>
                      <a:srgbClr val="F1F6F6"/>
                    </a:solidFill>
                  </a:tcPr>
                </a:tc>
                <a:tc>
                  <a:txBody>
                    <a:bodyPr/>
                    <a:lstStyle/>
                    <a:p>
                      <a:r>
                        <a:rPr sz="1800" b="0">
                          <a:solidFill>
                            <a:srgbClr val="112D3A"/>
                          </a:solidFill>
                          <a:latin typeface="Noto Sans CJK KR"/>
                          <a:ea typeface="Noto Sans CJK KR"/>
                          <a:cs typeface="Noto Sans CJK KR"/>
                        </a:rPr>
                        <a:t>45행</a:t>
                      </a:r>
                    </a:p>
                  </a:txBody>
                  <a:tcPr marL="91440" marR="91440" marT="45720" marB="45720">
                    <a:solidFill>
                      <a:srgbClr val="F1F6F6"/>
                    </a:solidFill>
                  </a:tcPr>
                </a:tc>
                <a:tc>
                  <a:txBody>
                    <a:bodyPr/>
                    <a:lstStyle/>
                    <a:p>
                      <a:r>
                        <a:rPr sz="1800" b="0">
                          <a:solidFill>
                            <a:srgbClr val="112D3A"/>
                          </a:solidFill>
                          <a:latin typeface="Noto Sans CJK KR"/>
                          <a:ea typeface="Noto Sans CJK KR"/>
                          <a:cs typeface="Noto Sans CJK KR"/>
                        </a:rPr>
                        <a:t>선택된 변수 없음</a:t>
                      </a:r>
                    </a:p>
                  </a:txBody>
                  <a:tcPr marL="91440" marR="91440" marT="45720" marB="45720">
                    <a:solidFill>
                      <a:srgbClr val="F1F6F6"/>
                    </a:solidFill>
                  </a:tcPr>
                </a:tc>
              </a:tr>
            </a:tbl>
          </a:graphicData>
        </a:graphic>
      </p:graphicFrame>
      <p:sp>
        <p:nvSpPr>
          <p:cNvPr id="5" name="">
            <a:extLst xmlns:a="http://schemas.openxmlformats.org/drawingml/2006/main">
              <a:ext uri="{FF2B5EF4-FFF2-40B4-BE49-F238E27FC236}">
                <a16:creationId xmlns:a16="http://schemas.microsoft.com/office/drawing/2014/main" id="{801E41F1-EB7E-4596-9ADA-2421BD8642FC}"/>
              </a:ext>
            </a:extLst>
          </p:cNvPr>
          <p:cNvSpPr>
            <a:spLocks xmlns:a="http://schemas.openxmlformats.org/drawingml/2006/main" noGrp="1"/>
          </p:cNvSpPr>
          <p:nvPr/>
        </p:nvSpPr>
        <p:spPr>
          <a:xfrm xmlns:a="http://schemas.openxmlformats.org/drawingml/2006/main">
            <a:off x="704850" y="487680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94E36"/>
                </a:solidFill>
                <a:latin typeface="Noto Sans CJK KR"/>
                <a:ea typeface="Noto Sans CJK KR"/>
                <a:cs typeface="Noto Sans CJK KR"/>
              </a:defRPr>
            </a:pPr>
            <a:r>
              <a:rPr sz="2400" b="1">
                <a:solidFill>
                  <a:srgbClr val="B94E36"/>
                </a:solidFill>
                <a:latin typeface="Noto Sans CJK KR"/>
                <a:ea typeface="Noto Sans CJK KR"/>
                <a:cs typeface="Noto Sans CJK KR"/>
              </a:rPr>
              <a:t>병상 예측은 추가 수집이 먼저</a:t>
            </a:r>
          </a:p>
        </p:txBody>
      </p:sp>
      <p:sp>
        <p:nvSpPr>
          <p:cNvPr id="6" name="">
            <a:extLst xmlns:a="http://schemas.openxmlformats.org/drawingml/2006/main">
              <a:ext uri="{FF2B5EF4-FFF2-40B4-BE49-F238E27FC236}">
                <a16:creationId xmlns:a16="http://schemas.microsoft.com/office/drawing/2014/main" id="{E00A3E08-8954-4602-BE06-156B2B6DE5E0}"/>
              </a:ext>
            </a:extLst>
          </p:cNvPr>
          <p:cNvSpPr>
            <a:spLocks xmlns:a="http://schemas.openxmlformats.org/drawingml/2006/main" noGrp="1"/>
          </p:cNvSpPr>
          <p:nvPr/>
        </p:nvSpPr>
        <p:spPr>
          <a:xfrm xmlns:a="http://schemas.openxmlformats.org/drawingml/2006/main">
            <a:off x="714375" y="5429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4"/>
                </a:solidFill>
                <a:latin typeface="Noto Sans CJK KR"/>
                <a:ea typeface="Noto Sans CJK KR"/>
                <a:cs typeface="Noto Sans CJK KR"/>
              </a:defRPr>
            </a:pPr>
            <a:r>
              <a:rPr sz="1875" b="0">
                <a:solidFill>
                  <a:srgbClr val="536874"/>
                </a:solidFill>
                <a:latin typeface="Noto Sans CJK KR"/>
                <a:ea typeface="Noto Sans CJK KR"/>
                <a:cs typeface="Noto Sans CJK KR"/>
              </a:rPr>
              <a:t>단일 스냅샷에서는 병원별 직전 병상 수를 만들 수 없음</a:t>
            </a:r>
          </a:p>
        </p:txBody>
      </p:sp>
    </p:spTree>
    <p:extLst>
      <p:ext uri="{BB962C8B-B14F-4D97-AF65-F5344CB8AC3E}">
        <p14:creationId xmlns:p14="http://schemas.microsoft.com/office/powerpoint/2010/main" val="56775935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CF793CC-A351-44F8-B37F-EEA72469450B}"/>
              </a:ext>
            </a:extLst>
          </p:cNvPr>
          <p:cNvSpPr>
            <a:spLocks xmlns:a="http://schemas.openxmlformats.org/drawingml/2006/main" noGrp="1"/>
          </p:cNvSpPr>
          <p:nvPr/>
        </p:nvSpPr>
        <p:spPr>
          <a:xfrm xmlns:a="http://schemas.openxmlformats.org/drawingml/2006/main">
            <a:off x="647700" y="457200"/>
            <a:ext cx="10896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12D3A"/>
                </a:solidFill>
                <a:latin typeface="Noto Sans CJK KR"/>
                <a:ea typeface="Noto Sans CJK KR"/>
                <a:cs typeface="Noto Sans CJK KR"/>
              </a:defRPr>
            </a:pPr>
            <a:r>
              <a:rPr sz="3150" b="1">
                <a:solidFill>
                  <a:srgbClr val="112D3A"/>
                </a:solidFill>
                <a:latin typeface="Noto Sans CJK KR"/>
                <a:ea typeface="Noto Sans CJK KR"/>
                <a:cs typeface="Noto Sans CJK KR"/>
              </a:rPr>
              <a:t>이송건수와 전년 실적의 상관관계</a:t>
            </a:r>
          </a:p>
        </p:txBody>
      </p:sp>
      <p:sp>
        <p:nvSpPr>
          <p:cNvPr id="2" name="">
            <a:extLst xmlns:a="http://schemas.openxmlformats.org/drawingml/2006/main">
              <a:ext uri="{FF2B5EF4-FFF2-40B4-BE49-F238E27FC236}">
                <a16:creationId xmlns:a16="http://schemas.microsoft.com/office/drawing/2014/main" id="{5FB9FF8B-26A0-44DA-9089-1EED18D131F6}"/>
              </a:ext>
            </a:extLst>
          </p:cNvPr>
          <p:cNvSpPr>
            <a:spLocks xmlns:a="http://schemas.openxmlformats.org/drawingml/2006/main" noGrp="1"/>
          </p:cNvSpPr>
          <p:nvPr/>
        </p:nvSpPr>
        <p:spPr>
          <a:xfrm xmlns:a="http://schemas.openxmlformats.org/drawingml/2006/main">
            <a:off x="666750" y="12573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4"/>
                </a:solidFill>
                <a:latin typeface="Noto Sans CJK KR"/>
                <a:ea typeface="Noto Sans CJK KR"/>
                <a:cs typeface="Noto Sans CJK KR"/>
              </a:defRPr>
            </a:pPr>
            <a:r>
              <a:rPr sz="1725" b="0">
                <a:solidFill>
                  <a:srgbClr val="536874"/>
                </a:solidFill>
                <a:latin typeface="Noto Sans CJK KR"/>
                <a:ea typeface="Noto Sans CJK KR"/>
                <a:cs typeface="Noto Sans CJK KR"/>
              </a:rPr>
              <a:t>변수 선택 결과: 전년 이송인원, 승강기사고, 인명갇힘</a:t>
            </a:r>
          </a:p>
        </p:txBody>
      </p:sp>
      <p:sp>
        <p:nvSpPr>
          <p:cNvPr id="3" name="">
            <a:extLst xmlns:a="http://schemas.openxmlformats.org/drawingml/2006/main">
              <a:ext uri="{FF2B5EF4-FFF2-40B4-BE49-F238E27FC236}">
                <a16:creationId xmlns:a16="http://schemas.microsoft.com/office/drawing/2014/main" id="{E3B783AA-3260-42F8-917A-E0284A8372B3}"/>
              </a:ext>
            </a:extLst>
          </p:cNvPr>
          <p:cNvSpPr>
            <a:spLocks xmlns:a="http://schemas.openxmlformats.org/drawingml/2006/main" noGrp="1"/>
          </p:cNvSpPr>
          <p:nvPr/>
        </p:nvSpPr>
        <p:spPr>
          <a:xfrm xmlns:a="http://schemas.openxmlformats.org/drawingml/2006/main">
            <a:off x="11029950" y="629602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09</a:t>
            </a:r>
          </a:p>
        </p:txBody>
      </p:sp>
      <p:graphicFrame>
        <p:nvGraphicFramePr>
          <p:cNvPr id="12" name="Chart"/>
          <p:cNvGraphicFramePr/>
          <p:nvPr/>
        </p:nvGraphicFramePr>
        <p:xfrm>
          <a:off xmlns:a="http://schemas.openxmlformats.org/drawingml/2006/main" x="666750" y="2095500"/>
          <a:ext xmlns:a="http://schemas.openxmlformats.org/drawingml/2006/main" cx="7477125" cy="3429000"/>
        </p:xfrm>
        <a:graphic xmlns:a="http://schemas.openxmlformats.org/drawingml/2006/main">
          <a:graphicData uri="http://schemas.openxmlformats.org/drawingml/2006/chart">
            <c:chart xmlns:r="http://schemas.openxmlformats.org/officeDocument/2006/relationships" xmlns:c="http://schemas.openxmlformats.org/drawingml/2006/chart" r:id="Rff1e169592af40f8"/>
          </a:graphicData>
        </a:graphic>
      </p:graphicFrame>
      <p:sp>
        <p:nvSpPr>
          <p:cNvPr id="5" name="">
            <a:extLst xmlns:a="http://schemas.openxmlformats.org/drawingml/2006/main">
              <a:ext uri="{FF2B5EF4-FFF2-40B4-BE49-F238E27FC236}">
                <a16:creationId xmlns:a16="http://schemas.microsoft.com/office/drawing/2014/main" id="{6D2DD8E4-6614-4376-85F4-CA4413DE8108}"/>
              </a:ext>
            </a:extLst>
          </p:cNvPr>
          <p:cNvSpPr>
            <a:spLocks xmlns:a="http://schemas.openxmlformats.org/drawingml/2006/main" noGrp="1"/>
          </p:cNvSpPr>
          <p:nvPr/>
        </p:nvSpPr>
        <p:spPr>
          <a:xfrm xmlns:a="http://schemas.openxmlformats.org/drawingml/2006/main">
            <a:off x="8829675" y="2409825"/>
            <a:ext cx="257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007F82"/>
                </a:solidFill>
                <a:latin typeface="Noto Sans CJK KR"/>
                <a:ea typeface="Noto Sans CJK KR"/>
                <a:cs typeface="Noto Sans CJK KR"/>
              </a:defRPr>
            </a:pPr>
            <a:r>
              <a:rPr sz="3900" b="1">
                <a:solidFill>
                  <a:srgbClr val="007F82"/>
                </a:solidFill>
                <a:latin typeface="Noto Sans CJK KR"/>
                <a:ea typeface="Noto Sans CJK KR"/>
                <a:cs typeface="Noto Sans CJK KR"/>
              </a:rPr>
              <a:t>0.919</a:t>
            </a:r>
          </a:p>
        </p:txBody>
      </p:sp>
      <p:sp>
        <p:nvSpPr>
          <p:cNvPr id="6" name="">
            <a:extLst xmlns:a="http://schemas.openxmlformats.org/drawingml/2006/main">
              <a:ext uri="{FF2B5EF4-FFF2-40B4-BE49-F238E27FC236}">
                <a16:creationId xmlns:a16="http://schemas.microsoft.com/office/drawing/2014/main" id="{47898675-B0B8-4D4F-A100-56CAF3C0AA8E}"/>
              </a:ext>
            </a:extLst>
          </p:cNvPr>
          <p:cNvSpPr>
            <a:spLocks xmlns:a="http://schemas.openxmlformats.org/drawingml/2006/main" noGrp="1"/>
          </p:cNvSpPr>
          <p:nvPr/>
        </p:nvSpPr>
        <p:spPr>
          <a:xfrm xmlns:a="http://schemas.openxmlformats.org/drawingml/2006/main">
            <a:off x="8839200" y="3257550"/>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전년 이송인원과</a:t>
            </a:r>
          </a:p>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당해 이송건수의 상관</a:t>
            </a:r>
          </a:p>
        </p:txBody>
      </p:sp>
      <p:sp>
        <p:nvSpPr>
          <p:cNvPr id="7" name="">
            <a:extLst xmlns:a="http://schemas.openxmlformats.org/drawingml/2006/main">
              <a:ext uri="{FF2B5EF4-FFF2-40B4-BE49-F238E27FC236}">
                <a16:creationId xmlns:a16="http://schemas.microsoft.com/office/drawing/2014/main" id="{A6B5E486-AD6E-45B9-8059-85A85548792B}"/>
              </a:ext>
            </a:extLst>
          </p:cNvPr>
          <p:cNvSpPr>
            <a:spLocks xmlns:a="http://schemas.openxmlformats.org/drawingml/2006/main" noGrp="1"/>
          </p:cNvSpPr>
          <p:nvPr/>
        </p:nvSpPr>
        <p:spPr>
          <a:xfrm xmlns:a="http://schemas.openxmlformats.org/drawingml/2006/main">
            <a:off x="8839200" y="4657725"/>
            <a:ext cx="2762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94E36"/>
                </a:solidFill>
                <a:latin typeface="Noto Sans CJK KR"/>
                <a:ea typeface="Noto Sans CJK KR"/>
                <a:cs typeface="Noto Sans CJK KR"/>
              </a:defRPr>
            </a:pPr>
            <a:r>
              <a:rPr sz="1800" b="1">
                <a:solidFill>
                  <a:srgbClr val="B94E36"/>
                </a:solidFill>
                <a:latin typeface="Noto Sans CJK KR"/>
                <a:ea typeface="Noto Sans CJK KR"/>
                <a:cs typeface="Noto Sans CJK KR"/>
              </a:rPr>
              <a:t>예측 정확도가 아닌</a:t>
            </a:r>
          </a:p>
          <a:p xmlns:a="http://schemas.openxmlformats.org/drawingml/2006/main">
            <a:pPr>
              <a:defRPr sz="1800" b="1">
                <a:solidFill>
                  <a:srgbClr val="B94E36"/>
                </a:solidFill>
                <a:latin typeface="Noto Sans CJK KR"/>
                <a:ea typeface="Noto Sans CJK KR"/>
                <a:cs typeface="Noto Sans CJK KR"/>
              </a:defRPr>
            </a:pPr>
            <a:r>
              <a:rPr sz="1800" b="1">
                <a:solidFill>
                  <a:srgbClr val="B94E36"/>
                </a:solidFill>
                <a:latin typeface="Noto Sans CJK KR"/>
                <a:ea typeface="Noto Sans CJK KR"/>
                <a:cs typeface="Noto Sans CJK KR"/>
              </a:rPr>
              <a:t>변수 간 연관성</a:t>
            </a:r>
          </a:p>
        </p:txBody>
      </p:sp>
      <p:sp>
        <p:nvSpPr>
          <p:cNvPr id="8" name="">
            <a:extLst xmlns:a="http://schemas.openxmlformats.org/drawingml/2006/main">
              <a:ext uri="{FF2B5EF4-FFF2-40B4-BE49-F238E27FC236}">
                <a16:creationId xmlns:a16="http://schemas.microsoft.com/office/drawing/2014/main" id="{FE094FB6-BDD1-4A3D-B3EB-EAC1975E74C7}"/>
              </a:ext>
            </a:extLst>
          </p:cNvPr>
          <p:cNvSpPr>
            <a:spLocks xmlns:a="http://schemas.openxmlformats.org/drawingml/2006/main" noGrp="1"/>
          </p:cNvSpPr>
          <p:nvPr/>
        </p:nvSpPr>
        <p:spPr>
          <a:xfrm xmlns:a="http://schemas.openxmlformats.org/drawingml/2006/main">
            <a:off x="666750" y="5934075"/>
            <a:ext cx="10144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전체 데이터의 탐색적 상관계수. 최종 변수 선택은 학습 구간 안에서 다시 수행해야 함.</a:t>
            </a:r>
          </a:p>
        </p:txBody>
      </p:sp>
    </p:spTree>
    <p:extLst>
      <p:ext uri="{BB962C8B-B14F-4D97-AF65-F5344CB8AC3E}">
        <p14:creationId xmlns:p14="http://schemas.microsoft.com/office/powerpoint/2010/main" val="29492843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69BFF56-0DB8-40AF-9D33-86F64BECC636}"/>
              </a:ext>
            </a:extLst>
          </p:cNvPr>
          <p:cNvSpPr>
            <a:spLocks xmlns:a="http://schemas.openxmlformats.org/drawingml/2006/main" noGrp="1"/>
          </p:cNvSpPr>
          <p:nvPr/>
        </p:nvSpPr>
        <p:spPr>
          <a:xfrm xmlns:a="http://schemas.openxmlformats.org/drawingml/2006/main">
            <a:off x="647700" y="457200"/>
            <a:ext cx="10896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12D3A"/>
                </a:solidFill>
                <a:latin typeface="Noto Sans CJK KR"/>
                <a:ea typeface="Noto Sans CJK KR"/>
                <a:cs typeface="Noto Sans CJK KR"/>
              </a:defRPr>
            </a:pPr>
            <a:r>
              <a:rPr sz="3150" b="1">
                <a:solidFill>
                  <a:srgbClr val="112D3A"/>
                </a:solidFill>
                <a:latin typeface="Noto Sans CJK KR"/>
                <a:ea typeface="Noto Sans CJK KR"/>
                <a:cs typeface="Noto Sans CJK KR"/>
              </a:rPr>
              <a:t>일 최대 생활인구는 7일 전 값과 높은 상관</a:t>
            </a:r>
          </a:p>
        </p:txBody>
      </p:sp>
      <p:sp>
        <p:nvSpPr>
          <p:cNvPr id="2" name="">
            <a:extLst xmlns:a="http://schemas.openxmlformats.org/drawingml/2006/main">
              <a:ext uri="{FF2B5EF4-FFF2-40B4-BE49-F238E27FC236}">
                <a16:creationId xmlns:a16="http://schemas.microsoft.com/office/drawing/2014/main" id="{43F732E0-0E62-4920-A089-9D4790518A98}"/>
              </a:ext>
            </a:extLst>
          </p:cNvPr>
          <p:cNvSpPr>
            <a:spLocks xmlns:a="http://schemas.openxmlformats.org/drawingml/2006/main" noGrp="1"/>
          </p:cNvSpPr>
          <p:nvPr/>
        </p:nvSpPr>
        <p:spPr>
          <a:xfrm xmlns:a="http://schemas.openxmlformats.org/drawingml/2006/main">
            <a:off x="666750" y="12573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4"/>
                </a:solidFill>
                <a:latin typeface="Noto Sans CJK KR"/>
                <a:ea typeface="Noto Sans CJK KR"/>
                <a:cs typeface="Noto Sans CJK KR"/>
              </a:defRPr>
            </a:pPr>
            <a:r>
              <a:rPr sz="1725" b="0">
                <a:solidFill>
                  <a:srgbClr val="536874"/>
                </a:solidFill>
                <a:latin typeface="Noto Sans CJK KR"/>
                <a:ea typeface="Noto Sans CJK KR"/>
                <a:cs typeface="Noto Sans CJK KR"/>
              </a:rPr>
              <a:t>선택된 과거 인구 변수 5개의 탐색적 상관계수</a:t>
            </a:r>
          </a:p>
        </p:txBody>
      </p:sp>
      <p:sp>
        <p:nvSpPr>
          <p:cNvPr id="3" name="">
            <a:extLst xmlns:a="http://schemas.openxmlformats.org/drawingml/2006/main">
              <a:ext uri="{FF2B5EF4-FFF2-40B4-BE49-F238E27FC236}">
                <a16:creationId xmlns:a16="http://schemas.microsoft.com/office/drawing/2014/main" id="{E18A6F3A-D3D5-49B8-BE2A-2D3E855D3E7B}"/>
              </a:ext>
            </a:extLst>
          </p:cNvPr>
          <p:cNvSpPr>
            <a:spLocks xmlns:a="http://schemas.openxmlformats.org/drawingml/2006/main" noGrp="1"/>
          </p:cNvSpPr>
          <p:nvPr/>
        </p:nvSpPr>
        <p:spPr>
          <a:xfrm xmlns:a="http://schemas.openxmlformats.org/drawingml/2006/main">
            <a:off x="11029950" y="629602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10</a:t>
            </a:r>
          </a:p>
        </p:txBody>
      </p:sp>
      <p:graphicFrame>
        <p:nvGraphicFramePr>
          <p:cNvPr id="9" name="Chart"/>
          <p:cNvGraphicFramePr/>
          <p:nvPr/>
        </p:nvGraphicFramePr>
        <p:xfrm>
          <a:off xmlns:a="http://schemas.openxmlformats.org/drawingml/2006/main" x="666750" y="2095500"/>
          <a:ext xmlns:a="http://schemas.openxmlformats.org/drawingml/2006/main" cx="10858500" cy="3457575"/>
        </p:xfrm>
        <a:graphic xmlns:a="http://schemas.openxmlformats.org/drawingml/2006/main">
          <a:graphicData uri="http://schemas.openxmlformats.org/drawingml/2006/chart">
            <c:chart xmlns:r="http://schemas.openxmlformats.org/officeDocument/2006/relationships" xmlns:c="http://schemas.openxmlformats.org/drawingml/2006/chart" r:id="Rcddaa43262d44523"/>
          </a:graphicData>
        </a:graphic>
      </p:graphicFrame>
      <p:sp>
        <p:nvSpPr>
          <p:cNvPr id="5" name="">
            <a:extLst xmlns:a="http://schemas.openxmlformats.org/drawingml/2006/main">
              <a:ext uri="{FF2B5EF4-FFF2-40B4-BE49-F238E27FC236}">
                <a16:creationId xmlns:a16="http://schemas.microsoft.com/office/drawing/2014/main" id="{1BC3BB5D-CA94-432E-9560-085B8BD12B50}"/>
              </a:ext>
            </a:extLst>
          </p:cNvPr>
          <p:cNvSpPr>
            <a:spLocks xmlns:a="http://schemas.openxmlformats.org/drawingml/2006/main" noGrp="1"/>
          </p:cNvSpPr>
          <p:nvPr/>
        </p:nvSpPr>
        <p:spPr>
          <a:xfrm xmlns:a="http://schemas.openxmlformats.org/drawingml/2006/main">
            <a:off x="666750" y="5934075"/>
            <a:ext cx="10144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자치구별 규모 차이를 포함한 전체 표본의 상관계수. 구별·시기별 검증이 추가로 필요.</a:t>
            </a:r>
          </a:p>
        </p:txBody>
      </p:sp>
    </p:spTree>
    <p:extLst>
      <p:ext uri="{BB962C8B-B14F-4D97-AF65-F5344CB8AC3E}">
        <p14:creationId xmlns:p14="http://schemas.microsoft.com/office/powerpoint/2010/main" val="126976178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97CE534-3655-4BA4-8CB7-BDCC92A370A4}"/>
              </a:ext>
            </a:extLst>
          </p:cNvPr>
          <p:cNvSpPr>
            <a:spLocks xmlns:a="http://schemas.openxmlformats.org/drawingml/2006/main" noGrp="1"/>
          </p:cNvSpPr>
          <p:nvPr/>
        </p:nvSpPr>
        <p:spPr>
          <a:xfrm xmlns:a="http://schemas.openxmlformats.org/drawingml/2006/main">
            <a:off x="647700" y="457200"/>
            <a:ext cx="10896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12D3A"/>
                </a:solidFill>
                <a:latin typeface="Noto Sans CJK KR"/>
                <a:ea typeface="Noto Sans CJK KR"/>
                <a:cs typeface="Noto Sans CJK KR"/>
              </a:defRPr>
            </a:pPr>
            <a:r>
              <a:rPr sz="3150" b="1">
                <a:solidFill>
                  <a:srgbClr val="112D3A"/>
                </a:solidFill>
                <a:latin typeface="Noto Sans CJK KR"/>
                <a:ea typeface="Noto Sans CJK KR"/>
                <a:cs typeface="Noto Sans CJK KR"/>
              </a:rPr>
              <a:t>예측 모델 설계</a:t>
            </a:r>
          </a:p>
        </p:txBody>
      </p:sp>
      <p:sp>
        <p:nvSpPr>
          <p:cNvPr id="2" name="">
            <a:extLst xmlns:a="http://schemas.openxmlformats.org/drawingml/2006/main">
              <a:ext uri="{FF2B5EF4-FFF2-40B4-BE49-F238E27FC236}">
                <a16:creationId xmlns:a16="http://schemas.microsoft.com/office/drawing/2014/main" id="{F3485641-804D-4251-BC3D-26ABC990B7BD}"/>
              </a:ext>
            </a:extLst>
          </p:cNvPr>
          <p:cNvSpPr>
            <a:spLocks xmlns:a="http://schemas.openxmlformats.org/drawingml/2006/main" noGrp="1"/>
          </p:cNvSpPr>
          <p:nvPr/>
        </p:nvSpPr>
        <p:spPr>
          <a:xfrm xmlns:a="http://schemas.openxmlformats.org/drawingml/2006/main">
            <a:off x="666750" y="12573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4"/>
                </a:solidFill>
                <a:latin typeface="Noto Sans CJK KR"/>
                <a:ea typeface="Noto Sans CJK KR"/>
                <a:cs typeface="Noto Sans CJK KR"/>
              </a:defRPr>
            </a:pPr>
            <a:r>
              <a:rPr sz="1725" b="0">
                <a:solidFill>
                  <a:srgbClr val="536874"/>
                </a:solidFill>
                <a:latin typeface="Noto Sans CJK KR"/>
                <a:ea typeface="Noto Sans CJK KR"/>
                <a:cs typeface="Noto Sans CJK KR"/>
              </a:rPr>
              <a:t>공통 비교 모델: 선형회귀, Ridge, 결정트리, Random Forest, Gradient Boosting, DNN</a:t>
            </a:r>
          </a:p>
        </p:txBody>
      </p:sp>
      <p:sp>
        <p:nvSpPr>
          <p:cNvPr id="3" name="">
            <a:extLst xmlns:a="http://schemas.openxmlformats.org/drawingml/2006/main">
              <a:ext uri="{FF2B5EF4-FFF2-40B4-BE49-F238E27FC236}">
                <a16:creationId xmlns:a16="http://schemas.microsoft.com/office/drawing/2014/main" id="{51635852-40D2-4D02-9F32-5F2A02EBD631}"/>
              </a:ext>
            </a:extLst>
          </p:cNvPr>
          <p:cNvSpPr>
            <a:spLocks xmlns:a="http://schemas.openxmlformats.org/drawingml/2006/main" noGrp="1"/>
          </p:cNvSpPr>
          <p:nvPr/>
        </p:nvSpPr>
        <p:spPr>
          <a:xfrm xmlns:a="http://schemas.openxmlformats.org/drawingml/2006/main">
            <a:off x="11029950" y="629602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11</a:t>
            </a:r>
          </a:p>
        </p:txBody>
      </p:sp>
      <p:graphicFrame>
        <p:nvGraphicFramePr>
          <p:cNvPr id="9" name=""/>
          <p:cNvGraphicFramePr/>
          <p:nvPr/>
        </p:nvGraphicFramePr>
        <p:xfrm>
          <a:off xmlns:a="http://schemas.openxmlformats.org/drawingml/2006/main" x="666750" y="2124075"/>
          <a:ext xmlns:a="http://schemas.openxmlformats.org/drawingml/2006/main" cx="10858500" cy="3048000"/>
        </p:xfrm>
        <a:graphic xmlns:a="http://schemas.openxmlformats.org/drawingml/2006/main">
          <a:graphicData uri="http://schemas.openxmlformats.org/drawingml/2006/table">
            <a:tbl>
              <a:tblPr/>
              <a:tblGrid>
                <a:gridCol w="2000250"/>
                <a:gridCol w="4429125"/>
                <a:gridCol w="4429125"/>
              </a:tblGrid>
              <a:tr h="609600">
                <a:tc>
                  <a:txBody>
                    <a:bodyPr/>
                    <a:lstStyle/>
                    <a:p>
                      <a:r>
                        <a:rPr sz="1725" b="1">
                          <a:solidFill>
                            <a:srgbClr val="FFFFFF"/>
                          </a:solidFill>
                          <a:latin typeface="Noto Sans CJK KR"/>
                          <a:ea typeface="Noto Sans CJK KR"/>
                          <a:cs typeface="Noto Sans CJK KR"/>
                        </a:rPr>
                        <a:t>항목</a:t>
                      </a:r>
                    </a:p>
                  </a:txBody>
                  <a:tcPr marL="91440" marR="91440" marT="45720" marB="45720">
                    <a:solidFill>
                      <a:srgbClr val="112D3A"/>
                    </a:solidFill>
                  </a:tcPr>
                </a:tc>
                <a:tc>
                  <a:txBody>
                    <a:bodyPr/>
                    <a:lstStyle/>
                    <a:p>
                      <a:r>
                        <a:rPr sz="1725" b="1">
                          <a:solidFill>
                            <a:srgbClr val="FFFFFF"/>
                          </a:solidFill>
                          <a:latin typeface="Noto Sans CJK KR"/>
                          <a:ea typeface="Noto Sans CJK KR"/>
                          <a:cs typeface="Noto Sans CJK KR"/>
                        </a:rPr>
                        <a:t>이송건수 예측</a:t>
                      </a:r>
                    </a:p>
                  </a:txBody>
                  <a:tcPr marL="91440" marR="91440" marT="45720" marB="45720">
                    <a:solidFill>
                      <a:srgbClr val="112D3A"/>
                    </a:solidFill>
                  </a:tcPr>
                </a:tc>
                <a:tc>
                  <a:txBody>
                    <a:bodyPr/>
                    <a:lstStyle/>
                    <a:p>
                      <a:r>
                        <a:rPr sz="1725" b="1">
                          <a:solidFill>
                            <a:srgbClr val="FFFFFF"/>
                          </a:solidFill>
                          <a:latin typeface="Noto Sans CJK KR"/>
                          <a:ea typeface="Noto Sans CJK KR"/>
                          <a:cs typeface="Noto Sans CJK KR"/>
                        </a:rPr>
                        <a:t>일 최대 생활인구 예측</a:t>
                      </a:r>
                    </a:p>
                  </a:txBody>
                  <a:tcPr marL="91440" marR="91440" marT="45720" marB="45720">
                    <a:solidFill>
                      <a:srgbClr val="112D3A"/>
                    </a:solidFill>
                  </a:tcPr>
                </a:tc>
              </a:tr>
              <a:tr h="609600">
                <a:tc>
                  <a:txBody>
                    <a:bodyPr/>
                    <a:lstStyle/>
                    <a:p>
                      <a:r>
                        <a:rPr sz="1725" b="0">
                          <a:solidFill>
                            <a:srgbClr val="112D3A"/>
                          </a:solidFill>
                          <a:latin typeface="Noto Sans CJK KR"/>
                          <a:ea typeface="Noto Sans CJK KR"/>
                          <a:cs typeface="Noto Sans CJK KR"/>
                        </a:rPr>
                        <a:t>시간 단위</a:t>
                      </a:r>
                    </a:p>
                  </a:txBody>
                  <a:tcPr marL="91440" marR="91440" marT="45720" marB="45720">
                    <a:solidFill>
                      <a:srgbClr val="F1F6F6"/>
                    </a:solidFill>
                  </a:tcPr>
                </a:tc>
                <a:tc>
                  <a:txBody>
                    <a:bodyPr/>
                    <a:lstStyle/>
                    <a:p>
                      <a:r>
                        <a:rPr sz="1725" b="0">
                          <a:solidFill>
                            <a:srgbClr val="112D3A"/>
                          </a:solidFill>
                          <a:latin typeface="Noto Sans CJK KR"/>
                          <a:ea typeface="Noto Sans CJK KR"/>
                          <a:cs typeface="Noto Sans CJK KR"/>
                        </a:rPr>
                        <a:t>자치구·연도</a:t>
                      </a:r>
                    </a:p>
                  </a:txBody>
                  <a:tcPr marL="91440" marR="91440" marT="45720" marB="45720">
                    <a:solidFill>
                      <a:srgbClr val="F1F6F6"/>
                    </a:solidFill>
                  </a:tcPr>
                </a:tc>
                <a:tc>
                  <a:txBody>
                    <a:bodyPr/>
                    <a:lstStyle/>
                    <a:p>
                      <a:r>
                        <a:rPr sz="1725" b="0">
                          <a:solidFill>
                            <a:srgbClr val="112D3A"/>
                          </a:solidFill>
                          <a:latin typeface="Noto Sans CJK KR"/>
                          <a:ea typeface="Noto Sans CJK KR"/>
                          <a:cs typeface="Noto Sans CJK KR"/>
                        </a:rPr>
                        <a:t>자치구·일</a:t>
                      </a:r>
                    </a:p>
                  </a:txBody>
                  <a:tcPr marL="91440" marR="91440" marT="45720" marB="45720">
                    <a:solidFill>
                      <a:srgbClr val="F1F6F6"/>
                    </a:solidFill>
                  </a:tcPr>
                </a:tc>
              </a:tr>
              <a:tr h="609600">
                <a:tc>
                  <a:txBody>
                    <a:bodyPr/>
                    <a:lstStyle/>
                    <a:p>
                      <a:r>
                        <a:rPr sz="1725" b="0">
                          <a:solidFill>
                            <a:srgbClr val="112D3A"/>
                          </a:solidFill>
                          <a:latin typeface="Noto Sans CJK KR"/>
                          <a:ea typeface="Noto Sans CJK KR"/>
                          <a:cs typeface="Noto Sans CJK KR"/>
                        </a:rPr>
                        <a:t>입력 변수</a:t>
                      </a:r>
                    </a:p>
                  </a:txBody>
                  <a:tcPr marL="91440" marR="91440" marT="45720" marB="45720">
                    <a:solidFill>
                      <a:srgbClr val="FFFFFF"/>
                    </a:solidFill>
                  </a:tcPr>
                </a:tc>
                <a:tc>
                  <a:txBody>
                    <a:bodyPr/>
                    <a:lstStyle/>
                    <a:p>
                      <a:r>
                        <a:rPr sz="1725" b="0">
                          <a:solidFill>
                            <a:srgbClr val="112D3A"/>
                          </a:solidFill>
                          <a:latin typeface="Noto Sans CJK KR"/>
                          <a:ea typeface="Noto Sans CJK KR"/>
                          <a:cs typeface="Noto Sans CJK KR"/>
                        </a:rPr>
                        <a:t>전년 이송인원·사고 지표</a:t>
                      </a:r>
                    </a:p>
                    <a:p>
                      <a:r>
                        <a:rPr sz="1725" b="0">
                          <a:solidFill>
                            <a:srgbClr val="112D3A"/>
                          </a:solidFill>
                          <a:latin typeface="Noto Sans CJK KR"/>
                          <a:ea typeface="Noto Sans CJK KR"/>
                          <a:cs typeface="Noto Sans CJK KR"/>
                        </a:rPr>
                        <a:t>자치구, 연도 순번</a:t>
                      </a:r>
                    </a:p>
                  </a:txBody>
                  <a:tcPr marL="91440" marR="91440" marT="45720" marB="45720">
                    <a:solidFill>
                      <a:srgbClr val="FFFFFF"/>
                    </a:solidFill>
                  </a:tcPr>
                </a:tc>
                <a:tc>
                  <a:txBody>
                    <a:bodyPr/>
                    <a:lstStyle/>
                    <a:p>
                      <a:r>
                        <a:rPr sz="1725" b="0">
                          <a:solidFill>
                            <a:srgbClr val="112D3A"/>
                          </a:solidFill>
                          <a:latin typeface="Noto Sans CJK KR"/>
                          <a:ea typeface="Noto Sans CJK KR"/>
                          <a:cs typeface="Noto Sans CJK KR"/>
                        </a:rPr>
                        <a:t>과거 인구 지표 5종</a:t>
                      </a:r>
                    </a:p>
                    <a:p>
                      <a:r>
                        <a:rPr sz="1725" b="0">
                          <a:solidFill>
                            <a:srgbClr val="112D3A"/>
                          </a:solidFill>
                          <a:latin typeface="Noto Sans CJK KR"/>
                          <a:ea typeface="Noto Sans CJK KR"/>
                          <a:cs typeface="Noto Sans CJK KR"/>
                        </a:rPr>
                        <a:t>자치구, 요일·월·주말</a:t>
                      </a:r>
                    </a:p>
                  </a:txBody>
                  <a:tcPr marL="91440" marR="91440" marT="45720" marB="45720">
                    <a:solidFill>
                      <a:srgbClr val="FFFFFF"/>
                    </a:solidFill>
                  </a:tcPr>
                </a:tc>
              </a:tr>
              <a:tr h="609600">
                <a:tc>
                  <a:txBody>
                    <a:bodyPr/>
                    <a:lstStyle/>
                    <a:p>
                      <a:r>
                        <a:rPr sz="1725" b="0">
                          <a:solidFill>
                            <a:srgbClr val="112D3A"/>
                          </a:solidFill>
                          <a:latin typeface="Noto Sans CJK KR"/>
                          <a:ea typeface="Noto Sans CJK KR"/>
                          <a:cs typeface="Noto Sans CJK KR"/>
                        </a:rPr>
                        <a:t>시험 구간</a:t>
                      </a:r>
                    </a:p>
                  </a:txBody>
                  <a:tcPr marL="91440" marR="91440" marT="45720" marB="45720">
                    <a:solidFill>
                      <a:srgbClr val="F1F6F6"/>
                    </a:solidFill>
                  </a:tcPr>
                </a:tc>
                <a:tc>
                  <a:txBody>
                    <a:bodyPr/>
                    <a:lstStyle/>
                    <a:p>
                      <a:r>
                        <a:rPr sz="1725" b="0">
                          <a:solidFill>
                            <a:srgbClr val="112D3A"/>
                          </a:solidFill>
                          <a:latin typeface="Noto Sans CJK KR"/>
                          <a:ea typeface="Noto Sans CJK KR"/>
                          <a:cs typeface="Noto Sans CJK KR"/>
                        </a:rPr>
                        <a:t>자치구별 마지막 3개 행</a:t>
                      </a:r>
                    </a:p>
                    <a:p>
                      <a:r>
                        <a:rPr sz="1725" b="0">
                          <a:solidFill>
                            <a:srgbClr val="112D3A"/>
                          </a:solidFill>
                          <a:latin typeface="Noto Sans CJK KR"/>
                          <a:ea typeface="Noto Sans CJK KR"/>
                          <a:cs typeface="Noto Sans CJK KR"/>
                        </a:rPr>
                        <a:t>연도 순서 유지 전제</a:t>
                      </a:r>
                    </a:p>
                  </a:txBody>
                  <a:tcPr marL="91440" marR="91440" marT="45720" marB="45720">
                    <a:solidFill>
                      <a:srgbClr val="F1F6F6"/>
                    </a:solidFill>
                  </a:tcPr>
                </a:tc>
                <a:tc>
                  <a:txBody>
                    <a:bodyPr/>
                    <a:lstStyle/>
                    <a:p>
                      <a:r>
                        <a:rPr sz="1725" b="0">
                          <a:solidFill>
                            <a:srgbClr val="112D3A"/>
                          </a:solidFill>
                          <a:latin typeface="Noto Sans CJK KR"/>
                          <a:ea typeface="Noto Sans CJK KR"/>
                          <a:cs typeface="Noto Sans CJK KR"/>
                        </a:rPr>
                        <a:t>2025.08.01 이후</a:t>
                      </a:r>
                    </a:p>
                  </a:txBody>
                  <a:tcPr marL="91440" marR="91440" marT="45720" marB="45720">
                    <a:solidFill>
                      <a:srgbClr val="F1F6F6"/>
                    </a:solidFill>
                  </a:tcPr>
                </a:tc>
              </a:tr>
              <a:tr h="609600">
                <a:tc>
                  <a:txBody>
                    <a:bodyPr/>
                    <a:lstStyle/>
                    <a:p>
                      <a:r>
                        <a:rPr sz="1725" b="0">
                          <a:solidFill>
                            <a:srgbClr val="112D3A"/>
                          </a:solidFill>
                          <a:latin typeface="Noto Sans CJK KR"/>
                          <a:ea typeface="Noto Sans CJK KR"/>
                          <a:cs typeface="Noto Sans CJK KR"/>
                        </a:rPr>
                        <a:t>스케일링</a:t>
                      </a:r>
                    </a:p>
                  </a:txBody>
                  <a:tcPr marL="91440" marR="91440" marT="45720" marB="45720">
                    <a:solidFill>
                      <a:srgbClr val="FFFFFF"/>
                    </a:solidFill>
                  </a:tcPr>
                </a:tc>
                <a:tc>
                  <a:txBody>
                    <a:bodyPr/>
                    <a:lstStyle/>
                    <a:p>
                      <a:r>
                        <a:rPr sz="1725" b="0">
                          <a:solidFill>
                            <a:srgbClr val="112D3A"/>
                          </a:solidFill>
                          <a:latin typeface="Noto Sans CJK KR"/>
                          <a:ea typeface="Noto Sans CJK KR"/>
                          <a:cs typeface="Noto Sans CJK KR"/>
                        </a:rPr>
                        <a:t>학습 데이터로만 적합</a:t>
                      </a:r>
                    </a:p>
                  </a:txBody>
                  <a:tcPr marL="91440" marR="91440" marT="45720" marB="45720">
                    <a:solidFill>
                      <a:srgbClr val="FFFFFF"/>
                    </a:solidFill>
                  </a:tcPr>
                </a:tc>
                <a:tc>
                  <a:txBody>
                    <a:bodyPr/>
                    <a:lstStyle/>
                    <a:p>
                      <a:r>
                        <a:rPr sz="1725" b="0">
                          <a:solidFill>
                            <a:srgbClr val="112D3A"/>
                          </a:solidFill>
                          <a:latin typeface="Noto Sans CJK KR"/>
                          <a:ea typeface="Noto Sans CJK KR"/>
                          <a:cs typeface="Noto Sans CJK KR"/>
                        </a:rPr>
                        <a:t>학습 데이터로만 적합</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FECD95E-7429-4063-9191-30CC6DD91C05}"/>
              </a:ext>
            </a:extLst>
          </p:cNvPr>
          <p:cNvSpPr>
            <a:spLocks xmlns:a="http://schemas.openxmlformats.org/drawingml/2006/main" noGrp="1"/>
          </p:cNvSpPr>
          <p:nvPr/>
        </p:nvSpPr>
        <p:spPr>
          <a:xfrm xmlns:a="http://schemas.openxmlformats.org/drawingml/2006/main">
            <a:off x="666750" y="5934075"/>
            <a:ext cx="10144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작성된 코드 기준. 두 예측 노트북에는 실행 출력이 없어 최고 모델과 성능 수치를 확인할 수 없음.</a:t>
            </a:r>
          </a:p>
        </p:txBody>
      </p:sp>
    </p:spTree>
    <p:extLst>
      <p:ext uri="{BB962C8B-B14F-4D97-AF65-F5344CB8AC3E}">
        <p14:creationId xmlns:p14="http://schemas.microsoft.com/office/powerpoint/2010/main" val="108154987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0C356D1-0E86-4507-B6BA-0890CE01AE71}"/>
              </a:ext>
            </a:extLst>
          </p:cNvPr>
          <p:cNvSpPr>
            <a:spLocks xmlns:a="http://schemas.openxmlformats.org/drawingml/2006/main" noGrp="1"/>
          </p:cNvSpPr>
          <p:nvPr/>
        </p:nvSpPr>
        <p:spPr>
          <a:xfrm xmlns:a="http://schemas.openxmlformats.org/drawingml/2006/main">
            <a:off x="647700" y="457200"/>
            <a:ext cx="10896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12D3A"/>
                </a:solidFill>
                <a:latin typeface="Noto Sans CJK KR"/>
                <a:ea typeface="Noto Sans CJK KR"/>
                <a:cs typeface="Noto Sans CJK KR"/>
              </a:defRPr>
            </a:pPr>
            <a:r>
              <a:rPr sz="3150" b="1">
                <a:solidFill>
                  <a:srgbClr val="112D3A"/>
                </a:solidFill>
                <a:latin typeface="Noto Sans CJK KR"/>
                <a:ea typeface="Noto Sans CJK KR"/>
                <a:cs typeface="Noto Sans CJK KR"/>
              </a:rPr>
              <a:t>예측 성능 평가 계획</a:t>
            </a:r>
          </a:p>
        </p:txBody>
      </p:sp>
      <p:sp>
        <p:nvSpPr>
          <p:cNvPr id="2" name="">
            <a:extLst xmlns:a="http://schemas.openxmlformats.org/drawingml/2006/main">
              <a:ext uri="{FF2B5EF4-FFF2-40B4-BE49-F238E27FC236}">
                <a16:creationId xmlns:a16="http://schemas.microsoft.com/office/drawing/2014/main" id="{7E4B7D4E-358D-4429-AD7F-F0D68883FE20}"/>
              </a:ext>
            </a:extLst>
          </p:cNvPr>
          <p:cNvSpPr>
            <a:spLocks xmlns:a="http://schemas.openxmlformats.org/drawingml/2006/main" noGrp="1"/>
          </p:cNvSpPr>
          <p:nvPr/>
        </p:nvSpPr>
        <p:spPr>
          <a:xfrm xmlns:a="http://schemas.openxmlformats.org/drawingml/2006/main">
            <a:off x="666750" y="12573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4"/>
                </a:solidFill>
                <a:latin typeface="Noto Sans CJK KR"/>
                <a:ea typeface="Noto Sans CJK KR"/>
                <a:cs typeface="Noto Sans CJK KR"/>
              </a:defRPr>
            </a:pPr>
            <a:r>
              <a:rPr sz="1725" b="0">
                <a:solidFill>
                  <a:srgbClr val="536874"/>
                </a:solidFill>
                <a:latin typeface="Noto Sans CJK KR"/>
                <a:ea typeface="Noto Sans CJK KR"/>
                <a:cs typeface="Noto Sans CJK KR"/>
              </a:rPr>
              <a:t>모델 간 오차 비교와 단순 기준모델 대비 개선 여부를 확인</a:t>
            </a:r>
          </a:p>
        </p:txBody>
      </p:sp>
      <p:sp>
        <p:nvSpPr>
          <p:cNvPr id="3" name="">
            <a:extLst xmlns:a="http://schemas.openxmlformats.org/drawingml/2006/main">
              <a:ext uri="{FF2B5EF4-FFF2-40B4-BE49-F238E27FC236}">
                <a16:creationId xmlns:a16="http://schemas.microsoft.com/office/drawing/2014/main" id="{C5D8FD31-90C2-4383-B02C-DC1463FD68DB}"/>
              </a:ext>
            </a:extLst>
          </p:cNvPr>
          <p:cNvSpPr>
            <a:spLocks xmlns:a="http://schemas.openxmlformats.org/drawingml/2006/main" noGrp="1"/>
          </p:cNvSpPr>
          <p:nvPr/>
        </p:nvSpPr>
        <p:spPr>
          <a:xfrm xmlns:a="http://schemas.openxmlformats.org/drawingml/2006/main">
            <a:off x="11029950" y="629602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12</a:t>
            </a:r>
          </a:p>
        </p:txBody>
      </p:sp>
      <p:graphicFrame>
        <p:nvGraphicFramePr>
          <p:cNvPr id="9" name=""/>
          <p:cNvGraphicFramePr/>
          <p:nvPr/>
        </p:nvGraphicFramePr>
        <p:xfrm>
          <a:off xmlns:a="http://schemas.openxmlformats.org/drawingml/2006/main" x="666750" y="2019300"/>
          <a:ext xmlns:a="http://schemas.openxmlformats.org/drawingml/2006/main" cx="10858500" cy="3371850"/>
        </p:xfrm>
        <a:graphic xmlns:a="http://schemas.openxmlformats.org/drawingml/2006/main">
          <a:graphicData uri="http://schemas.openxmlformats.org/drawingml/2006/table">
            <a:tbl>
              <a:tblPr/>
              <a:tblGrid>
                <a:gridCol w="2190750"/>
                <a:gridCol w="4762500"/>
                <a:gridCol w="3905250"/>
              </a:tblGrid>
              <a:tr h="561975">
                <a:tc>
                  <a:txBody>
                    <a:bodyPr/>
                    <a:lstStyle/>
                    <a:p>
                      <a:r>
                        <a:rPr sz="1650" b="1">
                          <a:solidFill>
                            <a:srgbClr val="FFFFFF"/>
                          </a:solidFill>
                          <a:latin typeface="Noto Sans CJK KR"/>
                          <a:ea typeface="Noto Sans CJK KR"/>
                          <a:cs typeface="Noto Sans CJK KR"/>
                        </a:rPr>
                        <a:t>평가 항목</a:t>
                      </a:r>
                    </a:p>
                  </a:txBody>
                  <a:tcPr marL="91440" marR="91440" marT="45720" marB="45720">
                    <a:solidFill>
                      <a:srgbClr val="112D3A"/>
                    </a:solidFill>
                  </a:tcPr>
                </a:tc>
                <a:tc>
                  <a:txBody>
                    <a:bodyPr/>
                    <a:lstStyle/>
                    <a:p>
                      <a:r>
                        <a:rPr sz="1650" b="1">
                          <a:solidFill>
                            <a:srgbClr val="FFFFFF"/>
                          </a:solidFill>
                          <a:latin typeface="Noto Sans CJK KR"/>
                          <a:ea typeface="Noto Sans CJK KR"/>
                          <a:cs typeface="Noto Sans CJK KR"/>
                        </a:rPr>
                        <a:t>의미</a:t>
                      </a:r>
                    </a:p>
                  </a:txBody>
                  <a:tcPr marL="91440" marR="91440" marT="45720" marB="45720">
                    <a:solidFill>
                      <a:srgbClr val="112D3A"/>
                    </a:solidFill>
                  </a:tcPr>
                </a:tc>
                <a:tc>
                  <a:txBody>
                    <a:bodyPr/>
                    <a:lstStyle/>
                    <a:p>
                      <a:r>
                        <a:rPr sz="1650" b="1">
                          <a:solidFill>
                            <a:srgbClr val="FFFFFF"/>
                          </a:solidFill>
                          <a:latin typeface="Noto Sans CJK KR"/>
                          <a:ea typeface="Noto Sans CJK KR"/>
                          <a:cs typeface="Noto Sans CJK KR"/>
                        </a:rPr>
                        <a:t>확인할 내용</a:t>
                      </a:r>
                    </a:p>
                  </a:txBody>
                  <a:tcPr marL="91440" marR="91440" marT="45720" marB="45720">
                    <a:solidFill>
                      <a:srgbClr val="112D3A"/>
                    </a:solidFill>
                  </a:tcPr>
                </a:tc>
              </a:tr>
              <a:tr h="561975">
                <a:tc>
                  <a:txBody>
                    <a:bodyPr/>
                    <a:lstStyle/>
                    <a:p>
                      <a:r>
                        <a:rPr sz="1650" b="0">
                          <a:solidFill>
                            <a:srgbClr val="112D3A"/>
                          </a:solidFill>
                          <a:latin typeface="Noto Sans CJK KR"/>
                          <a:ea typeface="Noto Sans CJK KR"/>
                          <a:cs typeface="Noto Sans CJK KR"/>
                        </a:rPr>
                        <a:t>MAE / RMSE</a:t>
                      </a:r>
                    </a:p>
                  </a:txBody>
                  <a:tcPr marL="91440" marR="91440" marT="45720" marB="45720">
                    <a:solidFill>
                      <a:srgbClr val="F1F6F6"/>
                    </a:solidFill>
                  </a:tcPr>
                </a:tc>
                <a:tc>
                  <a:txBody>
                    <a:bodyPr/>
                    <a:lstStyle/>
                    <a:p>
                      <a:r>
                        <a:rPr sz="1650" b="0">
                          <a:solidFill>
                            <a:srgbClr val="112D3A"/>
                          </a:solidFill>
                          <a:latin typeface="Noto Sans CJK KR"/>
                          <a:ea typeface="Noto Sans CJK KR"/>
                          <a:cs typeface="Noto Sans CJK KR"/>
                        </a:rPr>
                        <a:t>평균 절대오차 / 큰 오차에 민감한 지표</a:t>
                      </a:r>
                    </a:p>
                  </a:txBody>
                  <a:tcPr marL="91440" marR="91440" marT="45720" marB="45720">
                    <a:solidFill>
                      <a:srgbClr val="F1F6F6"/>
                    </a:solidFill>
                  </a:tcPr>
                </a:tc>
                <a:tc>
                  <a:txBody>
                    <a:bodyPr/>
                    <a:lstStyle/>
                    <a:p>
                      <a:r>
                        <a:rPr sz="1650" b="0">
                          <a:solidFill>
                            <a:srgbClr val="112D3A"/>
                          </a:solidFill>
                          <a:latin typeface="Noto Sans CJK KR"/>
                          <a:ea typeface="Noto Sans CJK KR"/>
                          <a:cs typeface="Noto Sans CJK KR"/>
                        </a:rPr>
                        <a:t>이송: 건, 인구: 명으로 해석</a:t>
                      </a:r>
                    </a:p>
                  </a:txBody>
                  <a:tcPr marL="91440" marR="91440" marT="45720" marB="45720">
                    <a:solidFill>
                      <a:srgbClr val="F1F6F6"/>
                    </a:solidFill>
                  </a:tcPr>
                </a:tc>
              </a:tr>
              <a:tr h="561975">
                <a:tc>
                  <a:txBody>
                    <a:bodyPr/>
                    <a:lstStyle/>
                    <a:p>
                      <a:r>
                        <a:rPr sz="1650" b="0">
                          <a:solidFill>
                            <a:srgbClr val="112D3A"/>
                          </a:solidFill>
                          <a:latin typeface="Noto Sans CJK KR"/>
                          <a:ea typeface="Noto Sans CJK KR"/>
                          <a:cs typeface="Noto Sans CJK KR"/>
                        </a:rPr>
                        <a:t>R²</a:t>
                      </a:r>
                    </a:p>
                  </a:txBody>
                  <a:tcPr marL="91440" marR="91440" marT="45720" marB="45720">
                    <a:solidFill>
                      <a:srgbClr val="FFFFFF"/>
                    </a:solidFill>
                  </a:tcPr>
                </a:tc>
                <a:tc>
                  <a:txBody>
                    <a:bodyPr/>
                    <a:lstStyle/>
                    <a:p>
                      <a:r>
                        <a:rPr sz="1650" b="0">
                          <a:solidFill>
                            <a:srgbClr val="112D3A"/>
                          </a:solidFill>
                          <a:latin typeface="Noto Sans CJK KR"/>
                          <a:ea typeface="Noto Sans CJK KR"/>
                          <a:cs typeface="Noto Sans CJK KR"/>
                        </a:rPr>
                        <a:t>실제값 변동에 대한 설명력</a:t>
                      </a:r>
                    </a:p>
                  </a:txBody>
                  <a:tcPr marL="91440" marR="91440" marT="45720" marB="45720">
                    <a:solidFill>
                      <a:srgbClr val="FFFFFF"/>
                    </a:solidFill>
                  </a:tcPr>
                </a:tc>
                <a:tc>
                  <a:txBody>
                    <a:bodyPr/>
                    <a:lstStyle/>
                    <a:p>
                      <a:r>
                        <a:rPr sz="1650" b="0">
                          <a:solidFill>
                            <a:srgbClr val="112D3A"/>
                          </a:solidFill>
                          <a:latin typeface="Noto Sans CJK KR"/>
                          <a:ea typeface="Noto Sans CJK KR"/>
                          <a:cs typeface="Noto Sans CJK KR"/>
                        </a:rPr>
                        <a:t>평균값 예측과 비교</a:t>
                      </a:r>
                    </a:p>
                  </a:txBody>
                  <a:tcPr marL="91440" marR="91440" marT="45720" marB="45720">
                    <a:solidFill>
                      <a:srgbClr val="FFFFFF"/>
                    </a:solidFill>
                  </a:tcPr>
                </a:tc>
              </a:tr>
              <a:tr h="561975">
                <a:tc>
                  <a:txBody>
                    <a:bodyPr/>
                    <a:lstStyle/>
                    <a:p>
                      <a:r>
                        <a:rPr sz="1650" b="0">
                          <a:solidFill>
                            <a:srgbClr val="112D3A"/>
                          </a:solidFill>
                          <a:latin typeface="Noto Sans CJK KR"/>
                          <a:ea typeface="Noto Sans CJK KR"/>
                          <a:cs typeface="Noto Sans CJK KR"/>
                        </a:rPr>
                        <a:t>MAPE</a:t>
                      </a:r>
                    </a:p>
                  </a:txBody>
                  <a:tcPr marL="91440" marR="91440" marT="45720" marB="45720">
                    <a:solidFill>
                      <a:srgbClr val="F1F6F6"/>
                    </a:solidFill>
                  </a:tcPr>
                </a:tc>
                <a:tc>
                  <a:txBody>
                    <a:bodyPr/>
                    <a:lstStyle/>
                    <a:p>
                      <a:r>
                        <a:rPr sz="1650" b="0">
                          <a:solidFill>
                            <a:srgbClr val="112D3A"/>
                          </a:solidFill>
                          <a:latin typeface="Noto Sans CJK KR"/>
                          <a:ea typeface="Noto Sans CJK KR"/>
                          <a:cs typeface="Noto Sans CJK KR"/>
                        </a:rPr>
                        <a:t>실제값 대비 평균 절대비율오차</a:t>
                      </a:r>
                    </a:p>
                  </a:txBody>
                  <a:tcPr marL="91440" marR="91440" marT="45720" marB="45720">
                    <a:solidFill>
                      <a:srgbClr val="F1F6F6"/>
                    </a:solidFill>
                  </a:tcPr>
                </a:tc>
                <a:tc>
                  <a:txBody>
                    <a:bodyPr/>
                    <a:lstStyle/>
                    <a:p>
                      <a:r>
                        <a:rPr sz="1650" b="0">
                          <a:solidFill>
                            <a:srgbClr val="112D3A"/>
                          </a:solidFill>
                          <a:latin typeface="Noto Sans CJK KR"/>
                          <a:ea typeface="Noto Sans CJK KR"/>
                          <a:cs typeface="Noto Sans CJK KR"/>
                        </a:rPr>
                        <a:t>0 또는 작은 실제값에 주의</a:t>
                      </a:r>
                    </a:p>
                  </a:txBody>
                  <a:tcPr marL="91440" marR="91440" marT="45720" marB="45720">
                    <a:solidFill>
                      <a:srgbClr val="F1F6F6"/>
                    </a:solidFill>
                  </a:tcPr>
                </a:tc>
              </a:tr>
              <a:tr h="561975">
                <a:tc>
                  <a:txBody>
                    <a:bodyPr/>
                    <a:lstStyle/>
                    <a:p>
                      <a:r>
                        <a:rPr sz="1650" b="0">
                          <a:solidFill>
                            <a:srgbClr val="112D3A"/>
                          </a:solidFill>
                          <a:latin typeface="Noto Sans CJK KR"/>
                          <a:ea typeface="Noto Sans CJK KR"/>
                          <a:cs typeface="Noto Sans CJK KR"/>
                        </a:rPr>
                        <a:t>기준모델 비교</a:t>
                      </a:r>
                    </a:p>
                  </a:txBody>
                  <a:tcPr marL="91440" marR="91440" marT="45720" marB="45720">
                    <a:solidFill>
                      <a:srgbClr val="FFFFFF"/>
                    </a:solidFill>
                  </a:tcPr>
                </a:tc>
                <a:tc>
                  <a:txBody>
                    <a:bodyPr/>
                    <a:lstStyle/>
                    <a:p>
                      <a:r>
                        <a:rPr sz="1650" b="0">
                          <a:solidFill>
                            <a:srgbClr val="112D3A"/>
                          </a:solidFill>
                          <a:latin typeface="Noto Sans CJK KR"/>
                          <a:ea typeface="Noto Sans CJK KR"/>
                          <a:cs typeface="Noto Sans CJK KR"/>
                        </a:rPr>
                        <a:t>이송: 전년 값 / 인구: 7일 전 값</a:t>
                      </a:r>
                    </a:p>
                  </a:txBody>
                  <a:tcPr marL="91440" marR="91440" marT="45720" marB="45720">
                    <a:solidFill>
                      <a:srgbClr val="FFFFFF"/>
                    </a:solidFill>
                  </a:tcPr>
                </a:tc>
                <a:tc>
                  <a:txBody>
                    <a:bodyPr/>
                    <a:lstStyle/>
                    <a:p>
                      <a:r>
                        <a:rPr sz="1650" b="0">
                          <a:solidFill>
                            <a:srgbClr val="112D3A"/>
                          </a:solidFill>
                          <a:latin typeface="Noto Sans CJK KR"/>
                          <a:ea typeface="Noto Sans CJK KR"/>
                          <a:cs typeface="Noto Sans CJK KR"/>
                        </a:rPr>
                        <a:t>복잡한 모델의 추가 효과</a:t>
                      </a:r>
                    </a:p>
                  </a:txBody>
                  <a:tcPr marL="91440" marR="91440" marT="45720" marB="45720">
                    <a:solidFill>
                      <a:srgbClr val="FFFFFF"/>
                    </a:solidFill>
                  </a:tcPr>
                </a:tc>
              </a:tr>
              <a:tr h="561975">
                <a:tc>
                  <a:txBody>
                    <a:bodyPr/>
                    <a:lstStyle/>
                    <a:p>
                      <a:r>
                        <a:rPr sz="1650" b="0">
                          <a:solidFill>
                            <a:srgbClr val="112D3A"/>
                          </a:solidFill>
                          <a:latin typeface="Noto Sans CJK KR"/>
                          <a:ea typeface="Noto Sans CJK KR"/>
                          <a:cs typeface="Noto Sans CJK KR"/>
                        </a:rPr>
                        <a:t>지역별 검증</a:t>
                      </a:r>
                    </a:p>
                  </a:txBody>
                  <a:tcPr marL="91440" marR="91440" marT="45720" marB="45720">
                    <a:solidFill>
                      <a:srgbClr val="F1F6F6"/>
                    </a:solidFill>
                  </a:tcPr>
                </a:tc>
                <a:tc>
                  <a:txBody>
                    <a:bodyPr/>
                    <a:lstStyle/>
                    <a:p>
                      <a:r>
                        <a:rPr sz="1650" b="0">
                          <a:solidFill>
                            <a:srgbClr val="112D3A"/>
                          </a:solidFill>
                          <a:latin typeface="Noto Sans CJK KR"/>
                          <a:ea typeface="Noto Sans CJK KR"/>
                          <a:cs typeface="Noto Sans CJK KR"/>
                        </a:rPr>
                        <a:t>자치구별 오차와 최근 기간 오차</a:t>
                      </a:r>
                    </a:p>
                  </a:txBody>
                  <a:tcPr marL="91440" marR="91440" marT="45720" marB="45720">
                    <a:solidFill>
                      <a:srgbClr val="F1F6F6"/>
                    </a:solidFill>
                  </a:tcPr>
                </a:tc>
                <a:tc>
                  <a:txBody>
                    <a:bodyPr/>
                    <a:lstStyle/>
                    <a:p>
                      <a:r>
                        <a:rPr sz="1650" b="0">
                          <a:solidFill>
                            <a:srgbClr val="112D3A"/>
                          </a:solidFill>
                          <a:latin typeface="Noto Sans CJK KR"/>
                          <a:ea typeface="Noto Sans CJK KR"/>
                          <a:cs typeface="Noto Sans CJK KR"/>
                        </a:rPr>
                        <a:t>특정 지역에 오차가 집중되는지</a:t>
                      </a:r>
                    </a:p>
                  </a:txBody>
                  <a:tcPr marL="91440" marR="91440" marT="45720" marB="45720">
                    <a:solidFill>
                      <a:srgbClr val="F1F6F6"/>
                    </a:solidFill>
                  </a:tcPr>
                </a:tc>
              </a:tr>
            </a:tbl>
          </a:graphicData>
        </a:graphic>
      </p:graphicFrame>
      <p:sp>
        <p:nvSpPr>
          <p:cNvPr id="5" name="">
            <a:extLst xmlns:a="http://schemas.openxmlformats.org/drawingml/2006/main">
              <a:ext uri="{FF2B5EF4-FFF2-40B4-BE49-F238E27FC236}">
                <a16:creationId xmlns:a16="http://schemas.microsoft.com/office/drawing/2014/main" id="{30CB233B-5628-46A8-A87F-71B52A02F322}"/>
              </a:ext>
            </a:extLst>
          </p:cNvPr>
          <p:cNvSpPr>
            <a:spLocks xmlns:a="http://schemas.openxmlformats.org/drawingml/2006/main" noGrp="1"/>
          </p:cNvSpPr>
          <p:nvPr/>
        </p:nvSpPr>
        <p:spPr>
          <a:xfrm xmlns:a="http://schemas.openxmlformats.org/drawingml/2006/main">
            <a:off x="666750" y="5934075"/>
            <a:ext cx="10144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노트북의 “정확도(%)”는 100×(1−MAPE)로 계산한 회귀 지표이며 분류 정확도가 아님.</a:t>
            </a:r>
          </a:p>
        </p:txBody>
      </p:sp>
    </p:spTree>
    <p:extLst>
      <p:ext uri="{BB962C8B-B14F-4D97-AF65-F5344CB8AC3E}">
        <p14:creationId xmlns:p14="http://schemas.microsoft.com/office/powerpoint/2010/main" val="125411648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59AE051-4A5D-423B-819C-5FCB5E97EEE1}"/>
              </a:ext>
            </a:extLst>
          </p:cNvPr>
          <p:cNvSpPr>
            <a:spLocks xmlns:a="http://schemas.openxmlformats.org/drawingml/2006/main" noGrp="1"/>
          </p:cNvSpPr>
          <p:nvPr/>
        </p:nvSpPr>
        <p:spPr>
          <a:xfrm xmlns:a="http://schemas.openxmlformats.org/drawingml/2006/main">
            <a:off x="647700" y="457200"/>
            <a:ext cx="10896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12D3A"/>
                </a:solidFill>
                <a:latin typeface="Noto Sans CJK KR"/>
                <a:ea typeface="Noto Sans CJK KR"/>
                <a:cs typeface="Noto Sans CJK KR"/>
              </a:defRPr>
            </a:pPr>
            <a:r>
              <a:rPr sz="3150" b="1">
                <a:solidFill>
                  <a:srgbClr val="112D3A"/>
                </a:solidFill>
                <a:latin typeface="Noto Sans CJK KR"/>
                <a:ea typeface="Noto Sans CJK KR"/>
                <a:cs typeface="Noto Sans CJK KR"/>
              </a:rPr>
              <a:t>검증 전에 보완할 데이터 처리</a:t>
            </a:r>
          </a:p>
        </p:txBody>
      </p:sp>
      <p:sp>
        <p:nvSpPr>
          <p:cNvPr id="2" name="">
            <a:extLst xmlns:a="http://schemas.openxmlformats.org/drawingml/2006/main">
              <a:ext uri="{FF2B5EF4-FFF2-40B4-BE49-F238E27FC236}">
                <a16:creationId xmlns:a16="http://schemas.microsoft.com/office/drawing/2014/main" id="{20064CAA-E54A-457F-BC6A-8ED7DE5B67C2}"/>
              </a:ext>
            </a:extLst>
          </p:cNvPr>
          <p:cNvSpPr>
            <a:spLocks xmlns:a="http://schemas.openxmlformats.org/drawingml/2006/main" noGrp="1"/>
          </p:cNvSpPr>
          <p:nvPr/>
        </p:nvSpPr>
        <p:spPr>
          <a:xfrm xmlns:a="http://schemas.openxmlformats.org/drawingml/2006/main">
            <a:off x="666750" y="12573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4"/>
                </a:solidFill>
                <a:latin typeface="Noto Sans CJK KR"/>
                <a:ea typeface="Noto Sans CJK KR"/>
                <a:cs typeface="Noto Sans CJK KR"/>
              </a:defRPr>
            </a:pPr>
            <a:r>
              <a:rPr sz="1725" b="0">
                <a:solidFill>
                  <a:srgbClr val="536874"/>
                </a:solidFill>
                <a:latin typeface="Noto Sans CJK KR"/>
                <a:ea typeface="Noto Sans CJK KR"/>
                <a:cs typeface="Noto Sans CJK KR"/>
              </a:rPr>
              <a:t>시간 순서 분할과 함께 전처리에도 같은 기준을 적용</a:t>
            </a:r>
          </a:p>
        </p:txBody>
      </p:sp>
      <p:sp>
        <p:nvSpPr>
          <p:cNvPr id="3" name="">
            <a:extLst xmlns:a="http://schemas.openxmlformats.org/drawingml/2006/main">
              <a:ext uri="{FF2B5EF4-FFF2-40B4-BE49-F238E27FC236}">
                <a16:creationId xmlns:a16="http://schemas.microsoft.com/office/drawing/2014/main" id="{B5F374AE-9857-424F-BE1F-D2F6F1698EDF}"/>
              </a:ext>
            </a:extLst>
          </p:cNvPr>
          <p:cNvSpPr>
            <a:spLocks xmlns:a="http://schemas.openxmlformats.org/drawingml/2006/main" noGrp="1"/>
          </p:cNvSpPr>
          <p:nvPr/>
        </p:nvSpPr>
        <p:spPr>
          <a:xfrm xmlns:a="http://schemas.openxmlformats.org/drawingml/2006/main">
            <a:off x="11029950" y="629602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13</a:t>
            </a:r>
          </a:p>
        </p:txBody>
      </p:sp>
      <p:sp>
        <p:nvSpPr>
          <p:cNvPr id="4" name="">
            <a:extLst xmlns:a="http://schemas.openxmlformats.org/drawingml/2006/main">
              <a:ext uri="{FF2B5EF4-FFF2-40B4-BE49-F238E27FC236}">
                <a16:creationId xmlns:a16="http://schemas.microsoft.com/office/drawing/2014/main" id="{B67E214F-945F-4382-9172-903BFA1ABD76}"/>
              </a:ext>
            </a:extLst>
          </p:cNvPr>
          <p:cNvSpPr>
            <a:spLocks xmlns:a="http://schemas.openxmlformats.org/drawingml/2006/main" noGrp="1"/>
          </p:cNvSpPr>
          <p:nvPr/>
        </p:nvSpPr>
        <p:spPr>
          <a:xfrm xmlns:a="http://schemas.openxmlformats.org/drawingml/2006/main">
            <a:off x="666750" y="2057400"/>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82"/>
                </a:solidFill>
                <a:latin typeface="Noto Sans CJK KR"/>
                <a:ea typeface="Noto Sans CJK KR"/>
                <a:cs typeface="Noto Sans CJK KR"/>
              </a:defRPr>
            </a:pPr>
            <a:r>
              <a:rPr sz="2175" b="1">
                <a:solidFill>
                  <a:srgbClr val="007F82"/>
                </a:solidFill>
                <a:latin typeface="Noto Sans CJK KR"/>
                <a:ea typeface="Noto Sans CJK KR"/>
                <a:cs typeface="Noto Sans CJK KR"/>
              </a:rPr>
              <a:t>학습 구간 안에서 선택</a:t>
            </a:r>
          </a:p>
        </p:txBody>
      </p:sp>
      <p:sp>
        <p:nvSpPr>
          <p:cNvPr id="5" name="">
            <a:extLst xmlns:a="http://schemas.openxmlformats.org/drawingml/2006/main">
              <a:ext uri="{FF2B5EF4-FFF2-40B4-BE49-F238E27FC236}">
                <a16:creationId xmlns:a16="http://schemas.microsoft.com/office/drawing/2014/main" id="{D1ED07A2-689B-4E98-B337-C4A945B11457}"/>
              </a:ext>
            </a:extLst>
          </p:cNvPr>
          <p:cNvSpPr>
            <a:spLocks xmlns:a="http://schemas.openxmlformats.org/drawingml/2006/main" noGrp="1"/>
          </p:cNvSpPr>
          <p:nvPr/>
        </p:nvSpPr>
        <p:spPr>
          <a:xfrm xmlns:a="http://schemas.openxmlformats.org/drawingml/2006/main">
            <a:off x="3638550" y="2057400"/>
            <a:ext cx="7858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상관계수 기반 변수 선택과 결측 중앙값 계산을</a:t>
            </a:r>
          </a:p>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학습 데이터 안에서만 수행</a:t>
            </a:r>
          </a:p>
        </p:txBody>
      </p:sp>
      <p:sp>
        <p:nvSpPr>
          <p:cNvPr id="6" name="">
            <a:extLst xmlns:a="http://schemas.openxmlformats.org/drawingml/2006/main">
              <a:ext uri="{FF2B5EF4-FFF2-40B4-BE49-F238E27FC236}">
                <a16:creationId xmlns:a16="http://schemas.microsoft.com/office/drawing/2014/main" id="{76456BD6-819C-4734-8F3C-0F67553D8067}"/>
              </a:ext>
            </a:extLst>
          </p:cNvPr>
          <p:cNvSpPr>
            <a:spLocks xmlns:a="http://schemas.openxmlformats.org/drawingml/2006/main" noGrp="1"/>
          </p:cNvSpPr>
          <p:nvPr/>
        </p:nvSpPr>
        <p:spPr>
          <a:xfrm xmlns:a="http://schemas.openxmlformats.org/drawingml/2006/main">
            <a:off x="666750" y="3181350"/>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82"/>
                </a:solidFill>
                <a:latin typeface="Noto Sans CJK KR"/>
                <a:ea typeface="Noto Sans CJK KR"/>
                <a:cs typeface="Noto Sans CJK KR"/>
              </a:defRPr>
            </a:pPr>
            <a:r>
              <a:rPr sz="2175" b="1">
                <a:solidFill>
                  <a:srgbClr val="007F82"/>
                </a:solidFill>
                <a:latin typeface="Noto Sans CJK KR"/>
                <a:ea typeface="Noto Sans CJK KR"/>
                <a:cs typeface="Noto Sans CJK KR"/>
              </a:rPr>
              <a:t>실제 시간 키 유지</a:t>
            </a:r>
          </a:p>
        </p:txBody>
      </p:sp>
      <p:sp>
        <p:nvSpPr>
          <p:cNvPr id="7" name="">
            <a:extLst xmlns:a="http://schemas.openxmlformats.org/drawingml/2006/main">
              <a:ext uri="{FF2B5EF4-FFF2-40B4-BE49-F238E27FC236}">
                <a16:creationId xmlns:a16="http://schemas.microsoft.com/office/drawing/2014/main" id="{A3645658-D2F0-43BC-90F1-BAEC169235E4}"/>
              </a:ext>
            </a:extLst>
          </p:cNvPr>
          <p:cNvSpPr>
            <a:spLocks xmlns:a="http://schemas.openxmlformats.org/drawingml/2006/main" noGrp="1"/>
          </p:cNvSpPr>
          <p:nvPr/>
        </p:nvSpPr>
        <p:spPr>
          <a:xfrm xmlns:a="http://schemas.openxmlformats.org/drawingml/2006/main">
            <a:off x="3638550" y="3181350"/>
            <a:ext cx="7858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연도 순번 대신 year를 보존하고,</a:t>
            </a:r>
          </a:p>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과거만 참조하는 보간·결측 처리 기준 마련</a:t>
            </a:r>
          </a:p>
        </p:txBody>
      </p:sp>
      <p:sp>
        <p:nvSpPr>
          <p:cNvPr id="8" name="">
            <a:extLst xmlns:a="http://schemas.openxmlformats.org/drawingml/2006/main">
              <a:ext uri="{FF2B5EF4-FFF2-40B4-BE49-F238E27FC236}">
                <a16:creationId xmlns:a16="http://schemas.microsoft.com/office/drawing/2014/main" id="{7DA3F0B6-F3FC-4A1B-BC88-76794641826A}"/>
              </a:ext>
            </a:extLst>
          </p:cNvPr>
          <p:cNvSpPr>
            <a:spLocks xmlns:a="http://schemas.openxmlformats.org/drawingml/2006/main" noGrp="1"/>
          </p:cNvSpPr>
          <p:nvPr/>
        </p:nvSpPr>
        <p:spPr>
          <a:xfrm xmlns:a="http://schemas.openxmlformats.org/drawingml/2006/main">
            <a:off x="666750" y="4305300"/>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82"/>
                </a:solidFill>
                <a:latin typeface="Noto Sans CJK KR"/>
                <a:ea typeface="Noto Sans CJK KR"/>
                <a:cs typeface="Noto Sans CJK KR"/>
              </a:defRPr>
            </a:pPr>
            <a:r>
              <a:rPr sz="2175" b="1">
                <a:solidFill>
                  <a:srgbClr val="007F82"/>
                </a:solidFill>
                <a:latin typeface="Noto Sans CJK KR"/>
                <a:ea typeface="Noto Sans CJK KR"/>
                <a:cs typeface="Noto Sans CJK KR"/>
              </a:rPr>
              <a:t>독립된 최종 평가</a:t>
            </a:r>
          </a:p>
        </p:txBody>
      </p:sp>
      <p:sp>
        <p:nvSpPr>
          <p:cNvPr id="9" name="">
            <a:extLst xmlns:a="http://schemas.openxmlformats.org/drawingml/2006/main">
              <a:ext uri="{FF2B5EF4-FFF2-40B4-BE49-F238E27FC236}">
                <a16:creationId xmlns:a16="http://schemas.microsoft.com/office/drawing/2014/main" id="{AD06DEE3-82D2-41A2-830E-0901C77A8465}"/>
              </a:ext>
            </a:extLst>
          </p:cNvPr>
          <p:cNvSpPr>
            <a:spLocks xmlns:a="http://schemas.openxmlformats.org/drawingml/2006/main" noGrp="1"/>
          </p:cNvSpPr>
          <p:nvPr/>
        </p:nvSpPr>
        <p:spPr>
          <a:xfrm xmlns:a="http://schemas.openxmlformats.org/drawingml/2006/main">
            <a:off x="3638550" y="4305300"/>
            <a:ext cx="7858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검증 구간에서 모델을 고른 뒤 최종 시험 구간 평가</a:t>
            </a:r>
          </a:p>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DNN 검증 데이터도 전체 자치구의 시간 기준으로 분리</a:t>
            </a:r>
          </a:p>
        </p:txBody>
      </p:sp>
    </p:spTree>
    <p:extLst>
      <p:ext uri="{BB962C8B-B14F-4D97-AF65-F5344CB8AC3E}">
        <p14:creationId xmlns:p14="http://schemas.microsoft.com/office/powerpoint/2010/main" val="175045011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B2DA970-CA9E-47C3-8235-F991C23548AB}"/>
              </a:ext>
            </a:extLst>
          </p:cNvPr>
          <p:cNvSpPr>
            <a:spLocks xmlns:a="http://schemas.openxmlformats.org/drawingml/2006/main" noGrp="1"/>
          </p:cNvSpPr>
          <p:nvPr/>
        </p:nvSpPr>
        <p:spPr>
          <a:xfrm xmlns:a="http://schemas.openxmlformats.org/drawingml/2006/main">
            <a:off x="647700" y="457200"/>
            <a:ext cx="10896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12D3A"/>
                </a:solidFill>
                <a:latin typeface="Noto Sans CJK KR"/>
                <a:ea typeface="Noto Sans CJK KR"/>
                <a:cs typeface="Noto Sans CJK KR"/>
              </a:defRPr>
            </a:pPr>
            <a:r>
              <a:rPr sz="3150" b="1">
                <a:solidFill>
                  <a:srgbClr val="112D3A"/>
                </a:solidFill>
                <a:latin typeface="Noto Sans CJK KR"/>
                <a:ea typeface="Noto Sans CJK KR"/>
                <a:cs typeface="Noto Sans CJK KR"/>
              </a:rPr>
              <a:t>월 단위 통합 데이터로 확장</a:t>
            </a:r>
          </a:p>
        </p:txBody>
      </p:sp>
      <p:sp>
        <p:nvSpPr>
          <p:cNvPr id="2" name="">
            <a:extLst xmlns:a="http://schemas.openxmlformats.org/drawingml/2006/main">
              <a:ext uri="{FF2B5EF4-FFF2-40B4-BE49-F238E27FC236}">
                <a16:creationId xmlns:a16="http://schemas.microsoft.com/office/drawing/2014/main" id="{F0798C81-FBA4-4BC1-85A9-C4923B0DCA16}"/>
              </a:ext>
            </a:extLst>
          </p:cNvPr>
          <p:cNvSpPr>
            <a:spLocks xmlns:a="http://schemas.openxmlformats.org/drawingml/2006/main" noGrp="1"/>
          </p:cNvSpPr>
          <p:nvPr/>
        </p:nvSpPr>
        <p:spPr>
          <a:xfrm xmlns:a="http://schemas.openxmlformats.org/drawingml/2006/main">
            <a:off x="666750" y="12573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4"/>
                </a:solidFill>
                <a:latin typeface="Noto Sans CJK KR"/>
                <a:ea typeface="Noto Sans CJK KR"/>
                <a:cs typeface="Noto Sans CJK KR"/>
              </a:defRPr>
            </a:pPr>
            <a:r>
              <a:rPr sz="1725" b="0">
                <a:solidFill>
                  <a:srgbClr val="536874"/>
                </a:solidFill>
                <a:latin typeface="Noto Sans CJK KR"/>
                <a:ea typeface="Noto Sans CJK KR"/>
                <a:cs typeface="Noto Sans CJK KR"/>
              </a:rPr>
              <a:t>건별 출동 집계에 생활인구와 의료이용 유출입 지표를 결합하는 코드</a:t>
            </a:r>
          </a:p>
        </p:txBody>
      </p:sp>
      <p:sp>
        <p:nvSpPr>
          <p:cNvPr id="3" name="">
            <a:extLst xmlns:a="http://schemas.openxmlformats.org/drawingml/2006/main">
              <a:ext uri="{FF2B5EF4-FFF2-40B4-BE49-F238E27FC236}">
                <a16:creationId xmlns:a16="http://schemas.microsoft.com/office/drawing/2014/main" id="{8111F6DA-521A-422C-8DDA-46AE8B9EC5F2}"/>
              </a:ext>
            </a:extLst>
          </p:cNvPr>
          <p:cNvSpPr>
            <a:spLocks xmlns:a="http://schemas.openxmlformats.org/drawingml/2006/main" noGrp="1"/>
          </p:cNvSpPr>
          <p:nvPr/>
        </p:nvSpPr>
        <p:spPr>
          <a:xfrm xmlns:a="http://schemas.openxmlformats.org/drawingml/2006/main">
            <a:off x="11029950" y="629602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14</a:t>
            </a:r>
          </a:p>
        </p:txBody>
      </p:sp>
      <p:graphicFrame>
        <p:nvGraphicFramePr>
          <p:cNvPr id="9" name=""/>
          <p:cNvGraphicFramePr/>
          <p:nvPr/>
        </p:nvGraphicFramePr>
        <p:xfrm>
          <a:off xmlns:a="http://schemas.openxmlformats.org/drawingml/2006/main" x="666750" y="2133600"/>
          <a:ext xmlns:a="http://schemas.openxmlformats.org/drawingml/2006/main" cx="10858500" cy="3000375"/>
        </p:xfrm>
        <a:graphic xmlns:a="http://schemas.openxmlformats.org/drawingml/2006/main">
          <a:graphicData uri="http://schemas.openxmlformats.org/drawingml/2006/table">
            <a:tbl>
              <a:tblPr/>
              <a:tblGrid>
                <a:gridCol w="2667000"/>
                <a:gridCol w="4000500"/>
                <a:gridCol w="4191000"/>
              </a:tblGrid>
              <a:tr h="600075">
                <a:tc>
                  <a:txBody>
                    <a:bodyPr/>
                    <a:lstStyle/>
                    <a:p>
                      <a:r>
                        <a:rPr sz="1725" b="1">
                          <a:solidFill>
                            <a:srgbClr val="FFFFFF"/>
                          </a:solidFill>
                          <a:latin typeface="Noto Sans CJK KR"/>
                          <a:ea typeface="Noto Sans CJK KR"/>
                          <a:cs typeface="Noto Sans CJK KR"/>
                        </a:rPr>
                        <a:t>결합 데이터</a:t>
                      </a:r>
                    </a:p>
                  </a:txBody>
                  <a:tcPr marL="91440" marR="91440" marT="45720" marB="45720">
                    <a:solidFill>
                      <a:srgbClr val="112D3A"/>
                    </a:solidFill>
                  </a:tcPr>
                </a:tc>
                <a:tc>
                  <a:txBody>
                    <a:bodyPr/>
                    <a:lstStyle/>
                    <a:p>
                      <a:r>
                        <a:rPr sz="1725" b="1">
                          <a:solidFill>
                            <a:srgbClr val="FFFFFF"/>
                          </a:solidFill>
                          <a:latin typeface="Noto Sans CJK KR"/>
                          <a:ea typeface="Noto Sans CJK KR"/>
                          <a:cs typeface="Noto Sans CJK KR"/>
                        </a:rPr>
                        <a:t>변환 방식</a:t>
                      </a:r>
                    </a:p>
                  </a:txBody>
                  <a:tcPr marL="91440" marR="91440" marT="45720" marB="45720">
                    <a:solidFill>
                      <a:srgbClr val="112D3A"/>
                    </a:solidFill>
                  </a:tcPr>
                </a:tc>
                <a:tc>
                  <a:txBody>
                    <a:bodyPr/>
                    <a:lstStyle/>
                    <a:p>
                      <a:r>
                        <a:rPr sz="1725" b="1">
                          <a:solidFill>
                            <a:srgbClr val="FFFFFF"/>
                          </a:solidFill>
                          <a:latin typeface="Noto Sans CJK KR"/>
                          <a:ea typeface="Noto Sans CJK KR"/>
                          <a:cs typeface="Noto Sans CJK KR"/>
                        </a:rPr>
                        <a:t>확인할 기준</a:t>
                      </a:r>
                    </a:p>
                  </a:txBody>
                  <a:tcPr marL="91440" marR="91440" marT="45720" marB="45720">
                    <a:solidFill>
                      <a:srgbClr val="112D3A"/>
                    </a:solidFill>
                  </a:tcPr>
                </a:tc>
              </a:tr>
              <a:tr h="600075">
                <a:tc>
                  <a:txBody>
                    <a:bodyPr/>
                    <a:lstStyle/>
                    <a:p>
                      <a:r>
                        <a:rPr sz="1725" b="0">
                          <a:solidFill>
                            <a:srgbClr val="112D3A"/>
                          </a:solidFill>
                          <a:latin typeface="Noto Sans CJK KR"/>
                          <a:ea typeface="Noto Sans CJK KR"/>
                          <a:cs typeface="Noto Sans CJK KR"/>
                        </a:rPr>
                        <a:t>건별 출동·이송</a:t>
                      </a:r>
                    </a:p>
                  </a:txBody>
                  <a:tcPr marL="91440" marR="91440" marT="45720" marB="45720">
                    <a:solidFill>
                      <a:srgbClr val="F1F6F6"/>
                    </a:solidFill>
                  </a:tcPr>
                </a:tc>
                <a:tc>
                  <a:txBody>
                    <a:bodyPr/>
                    <a:lstStyle/>
                    <a:p>
                      <a:r>
                        <a:rPr sz="1725" b="0">
                          <a:solidFill>
                            <a:srgbClr val="112D3A"/>
                          </a:solidFill>
                          <a:latin typeface="Noto Sans CJK KR"/>
                          <a:ea typeface="Noto Sans CJK KR"/>
                          <a:cs typeface="Noto Sans CJK KR"/>
                        </a:rPr>
                        <a:t>자치구·월별 집계</a:t>
                      </a:r>
                    </a:p>
                  </a:txBody>
                  <a:tcPr marL="91440" marR="91440" marT="45720" marB="45720">
                    <a:solidFill>
                      <a:srgbClr val="F1F6F6"/>
                    </a:solidFill>
                  </a:tcPr>
                </a:tc>
                <a:tc>
                  <a:txBody>
                    <a:bodyPr/>
                    <a:lstStyle/>
                    <a:p>
                      <a:r>
                        <a:rPr sz="1725" b="0">
                          <a:solidFill>
                            <a:srgbClr val="112D3A"/>
                          </a:solidFill>
                          <a:latin typeface="Noto Sans CJK KR"/>
                          <a:ea typeface="Noto Sans CJK KR"/>
                          <a:cs typeface="Noto Sans CJK KR"/>
                        </a:rPr>
                        <a:t>신고일과 현장 지역 기준</a:t>
                      </a:r>
                    </a:p>
                  </a:txBody>
                  <a:tcPr marL="91440" marR="91440" marT="45720" marB="45720">
                    <a:solidFill>
                      <a:srgbClr val="F1F6F6"/>
                    </a:solidFill>
                  </a:tcPr>
                </a:tc>
              </a:tr>
              <a:tr h="600075">
                <a:tc>
                  <a:txBody>
                    <a:bodyPr/>
                    <a:lstStyle/>
                    <a:p>
                      <a:r>
                        <a:rPr sz="1725" b="0">
                          <a:solidFill>
                            <a:srgbClr val="112D3A"/>
                          </a:solidFill>
                          <a:latin typeface="Noto Sans CJK KR"/>
                          <a:ea typeface="Noto Sans CJK KR"/>
                          <a:cs typeface="Noto Sans CJK KR"/>
                        </a:rPr>
                        <a:t>일별 생활인구</a:t>
                      </a:r>
                    </a:p>
                  </a:txBody>
                  <a:tcPr marL="91440" marR="91440" marT="45720" marB="45720">
                    <a:solidFill>
                      <a:srgbClr val="FFFFFF"/>
                    </a:solidFill>
                  </a:tcPr>
                </a:tc>
                <a:tc>
                  <a:txBody>
                    <a:bodyPr/>
                    <a:lstStyle/>
                    <a:p>
                      <a:r>
                        <a:rPr sz="1725" b="0">
                          <a:solidFill>
                            <a:srgbClr val="112D3A"/>
                          </a:solidFill>
                          <a:latin typeface="Noto Sans CJK KR"/>
                          <a:ea typeface="Noto Sans CJK KR"/>
                          <a:cs typeface="Noto Sans CJK KR"/>
                        </a:rPr>
                        <a:t>자치구·월평균 집계</a:t>
                      </a:r>
                    </a:p>
                  </a:txBody>
                  <a:tcPr marL="91440" marR="91440" marT="45720" marB="45720">
                    <a:solidFill>
                      <a:srgbClr val="FFFFFF"/>
                    </a:solidFill>
                  </a:tcPr>
                </a:tc>
                <a:tc>
                  <a:txBody>
                    <a:bodyPr/>
                    <a:lstStyle/>
                    <a:p>
                      <a:r>
                        <a:rPr sz="1725" b="0">
                          <a:solidFill>
                            <a:srgbClr val="112D3A"/>
                          </a:solidFill>
                          <a:latin typeface="Noto Sans CJK KR"/>
                          <a:ea typeface="Noto Sans CJK KR"/>
                          <a:cs typeface="Noto Sans CJK KR"/>
                        </a:rPr>
                        <a:t>관측 월과 집계 기간 일치</a:t>
                      </a:r>
                    </a:p>
                  </a:txBody>
                  <a:tcPr marL="91440" marR="91440" marT="45720" marB="45720">
                    <a:solidFill>
                      <a:srgbClr val="FFFFFF"/>
                    </a:solidFill>
                  </a:tcPr>
                </a:tc>
              </a:tr>
              <a:tr h="600075">
                <a:tc>
                  <a:txBody>
                    <a:bodyPr/>
                    <a:lstStyle/>
                    <a:p>
                      <a:r>
                        <a:rPr sz="1725" b="0">
                          <a:solidFill>
                            <a:srgbClr val="112D3A"/>
                          </a:solidFill>
                          <a:latin typeface="Noto Sans CJK KR"/>
                          <a:ea typeface="Noto Sans CJK KR"/>
                          <a:cs typeface="Noto Sans CJK KR"/>
                        </a:rPr>
                        <a:t>연간 의료이용</a:t>
                      </a:r>
                    </a:p>
                  </a:txBody>
                  <a:tcPr marL="91440" marR="91440" marT="45720" marB="45720">
                    <a:solidFill>
                      <a:srgbClr val="F1F6F6"/>
                    </a:solidFill>
                  </a:tcPr>
                </a:tc>
                <a:tc>
                  <a:txBody>
                    <a:bodyPr/>
                    <a:lstStyle/>
                    <a:p>
                      <a:r>
                        <a:rPr sz="1725" b="0">
                          <a:solidFill>
                            <a:srgbClr val="112D3A"/>
                          </a:solidFill>
                          <a:latin typeface="Noto Sans CJK KR"/>
                          <a:ea typeface="Noto Sans CJK KR"/>
                          <a:cs typeface="Noto Sans CJK KR"/>
                        </a:rPr>
                        <a:t>같은 연도의 월별 행에 병합</a:t>
                      </a:r>
                    </a:p>
                  </a:txBody>
                  <a:tcPr marL="91440" marR="91440" marT="45720" marB="45720">
                    <a:solidFill>
                      <a:srgbClr val="F1F6F6"/>
                    </a:solidFill>
                  </a:tcPr>
                </a:tc>
                <a:tc>
                  <a:txBody>
                    <a:bodyPr/>
                    <a:lstStyle/>
                    <a:p>
                      <a:r>
                        <a:rPr sz="1725" b="0">
                          <a:solidFill>
                            <a:srgbClr val="112D3A"/>
                          </a:solidFill>
                          <a:latin typeface="Noto Sans CJK KR"/>
                          <a:ea typeface="Noto Sans CJK KR"/>
                          <a:cs typeface="Noto Sans CJK KR"/>
                        </a:rPr>
                        <a:t>실제 공개 시점과 예측 시점</a:t>
                      </a:r>
                    </a:p>
                  </a:txBody>
                  <a:tcPr marL="91440" marR="91440" marT="45720" marB="45720">
                    <a:solidFill>
                      <a:srgbClr val="F1F6F6"/>
                    </a:solidFill>
                  </a:tcPr>
                </a:tc>
              </a:tr>
              <a:tr h="600075">
                <a:tc>
                  <a:txBody>
                    <a:bodyPr/>
                    <a:lstStyle/>
                    <a:p>
                      <a:r>
                        <a:rPr sz="1725" b="0">
                          <a:solidFill>
                            <a:srgbClr val="112D3A"/>
                          </a:solidFill>
                          <a:latin typeface="Noto Sans CJK KR"/>
                          <a:ea typeface="Noto Sans CJK KR"/>
                          <a:cs typeface="Noto Sans CJK KR"/>
                        </a:rPr>
                        <a:t>월별 통합표</a:t>
                      </a:r>
                    </a:p>
                  </a:txBody>
                  <a:tcPr marL="91440" marR="91440" marT="45720" marB="45720">
                    <a:solidFill>
                      <a:srgbClr val="FFFFFF"/>
                    </a:solidFill>
                  </a:tcPr>
                </a:tc>
                <a:tc>
                  <a:txBody>
                    <a:bodyPr/>
                    <a:lstStyle/>
                    <a:p>
                      <a:r>
                        <a:rPr sz="1725" b="0">
                          <a:solidFill>
                            <a:srgbClr val="112D3A"/>
                          </a:solidFill>
                          <a:latin typeface="Noto Sans CJK KR"/>
                          <a:ea typeface="Noto Sans CJK KR"/>
                          <a:cs typeface="Noto Sans CJK KR"/>
                        </a:rPr>
                        <a:t>2021~2022년, 600행 설계</a:t>
                      </a:r>
                    </a:p>
                  </a:txBody>
                  <a:tcPr marL="91440" marR="91440" marT="45720" marB="45720">
                    <a:solidFill>
                      <a:srgbClr val="FFFFFF"/>
                    </a:solidFill>
                  </a:tcPr>
                </a:tc>
                <a:tc>
                  <a:txBody>
                    <a:bodyPr/>
                    <a:lstStyle/>
                    <a:p>
                      <a:r>
                        <a:rPr sz="1725" b="0">
                          <a:solidFill>
                            <a:srgbClr val="112D3A"/>
                          </a:solidFill>
                          <a:latin typeface="Noto Sans CJK KR"/>
                          <a:ea typeface="Noto Sans CJK KR"/>
                          <a:cs typeface="Noto Sans CJK KR"/>
                        </a:rPr>
                        <a:t>생성 결과·결측 검증 필요</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5C397D2-BF54-421B-A230-AC2AD12554AA}"/>
              </a:ext>
            </a:extLst>
          </p:cNvPr>
          <p:cNvSpPr>
            <a:spLocks xmlns:a="http://schemas.openxmlformats.org/drawingml/2006/main" noGrp="1"/>
          </p:cNvSpPr>
          <p:nvPr/>
        </p:nvSpPr>
        <p:spPr>
          <a:xfrm xmlns:a="http://schemas.openxmlformats.org/drawingml/2006/main">
            <a:off x="666750" y="5934075"/>
            <a:ext cx="10144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의료이용·월별 통합 단계는 저장된 출력이 없음. 기존 연간 이송 모델에 연결하는 작업은 별도 필요.</a:t>
            </a:r>
          </a:p>
        </p:txBody>
      </p:sp>
    </p:spTree>
    <p:extLst>
      <p:ext uri="{BB962C8B-B14F-4D97-AF65-F5344CB8AC3E}">
        <p14:creationId xmlns:p14="http://schemas.microsoft.com/office/powerpoint/2010/main" val="196144580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ED1BD5D-911C-434C-991C-2E2A15BD48E0}"/>
              </a:ext>
            </a:extLst>
          </p:cNvPr>
          <p:cNvSpPr>
            <a:spLocks xmlns:a="http://schemas.openxmlformats.org/drawingml/2006/main" noGrp="1"/>
          </p:cNvSpPr>
          <p:nvPr/>
        </p:nvSpPr>
        <p:spPr>
          <a:xfrm xmlns:a="http://schemas.openxmlformats.org/drawingml/2006/main">
            <a:off x="647700" y="457200"/>
            <a:ext cx="10896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12D3A"/>
                </a:solidFill>
                <a:latin typeface="Noto Sans CJK KR"/>
                <a:ea typeface="Noto Sans CJK KR"/>
                <a:cs typeface="Noto Sans CJK KR"/>
              </a:defRPr>
            </a:pPr>
            <a:r>
              <a:rPr sz="3150" b="1">
                <a:solidFill>
                  <a:srgbClr val="112D3A"/>
                </a:solidFill>
                <a:latin typeface="Noto Sans CJK KR"/>
                <a:ea typeface="Noto Sans CJK KR"/>
                <a:cs typeface="Noto Sans CJK KR"/>
              </a:rPr>
              <a:t>운영 활용 시나리오</a:t>
            </a:r>
          </a:p>
        </p:txBody>
      </p:sp>
      <p:sp>
        <p:nvSpPr>
          <p:cNvPr id="2" name="">
            <a:extLst xmlns:a="http://schemas.openxmlformats.org/drawingml/2006/main">
              <a:ext uri="{FF2B5EF4-FFF2-40B4-BE49-F238E27FC236}">
                <a16:creationId xmlns:a16="http://schemas.microsoft.com/office/drawing/2014/main" id="{04037B68-1C34-4A17-9786-9AF4ADFF8DAC}"/>
              </a:ext>
            </a:extLst>
          </p:cNvPr>
          <p:cNvSpPr>
            <a:spLocks xmlns:a="http://schemas.openxmlformats.org/drawingml/2006/main" noGrp="1"/>
          </p:cNvSpPr>
          <p:nvPr/>
        </p:nvSpPr>
        <p:spPr>
          <a:xfrm xmlns:a="http://schemas.openxmlformats.org/drawingml/2006/main">
            <a:off x="666750" y="12573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4"/>
                </a:solidFill>
                <a:latin typeface="Noto Sans CJK KR"/>
                <a:ea typeface="Noto Sans CJK KR"/>
                <a:cs typeface="Noto Sans CJK KR"/>
              </a:defRPr>
            </a:pPr>
            <a:r>
              <a:rPr sz="1725" b="0">
                <a:solidFill>
                  <a:srgbClr val="536874"/>
                </a:solidFill>
                <a:latin typeface="Noto Sans CJK KR"/>
                <a:ea typeface="Noto Sans CJK KR"/>
                <a:cs typeface="Noto Sans CJK KR"/>
              </a:rPr>
              <a:t>후속 제안: 예측 정보와 수집 정보를 담당자가 검토하는 흐름</a:t>
            </a:r>
          </a:p>
        </p:txBody>
      </p:sp>
      <p:sp>
        <p:nvSpPr>
          <p:cNvPr id="3" name="">
            <a:extLst xmlns:a="http://schemas.openxmlformats.org/drawingml/2006/main">
              <a:ext uri="{FF2B5EF4-FFF2-40B4-BE49-F238E27FC236}">
                <a16:creationId xmlns:a16="http://schemas.microsoft.com/office/drawing/2014/main" id="{2C45358D-B1F9-4A32-9730-5585F61EDD16}"/>
              </a:ext>
            </a:extLst>
          </p:cNvPr>
          <p:cNvSpPr>
            <a:spLocks xmlns:a="http://schemas.openxmlformats.org/drawingml/2006/main" noGrp="1"/>
          </p:cNvSpPr>
          <p:nvPr/>
        </p:nvSpPr>
        <p:spPr>
          <a:xfrm xmlns:a="http://schemas.openxmlformats.org/drawingml/2006/main">
            <a:off x="11029950" y="629602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15</a:t>
            </a:r>
          </a:p>
        </p:txBody>
      </p:sp>
      <p:sp>
        <p:nvSpPr>
          <p:cNvPr id="4" name="">
            <a:extLst xmlns:a="http://schemas.openxmlformats.org/drawingml/2006/main">
              <a:ext uri="{FF2B5EF4-FFF2-40B4-BE49-F238E27FC236}">
                <a16:creationId xmlns:a16="http://schemas.microsoft.com/office/drawing/2014/main" id="{46679151-CB0D-407F-A825-5526F22C8BFE}"/>
              </a:ext>
            </a:extLst>
          </p:cNvPr>
          <p:cNvSpPr>
            <a:spLocks xmlns:a="http://schemas.openxmlformats.org/drawingml/2006/main" noGrp="1"/>
          </p:cNvSpPr>
          <p:nvPr/>
        </p:nvSpPr>
        <p:spPr>
          <a:xfrm xmlns:a="http://schemas.openxmlformats.org/drawingml/2006/main">
            <a:off x="666750" y="2057400"/>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82"/>
                </a:solidFill>
                <a:latin typeface="Noto Sans CJK KR"/>
                <a:ea typeface="Noto Sans CJK KR"/>
                <a:cs typeface="Noto Sans CJK KR"/>
              </a:defRPr>
            </a:pPr>
            <a:r>
              <a:rPr sz="2175" b="1">
                <a:solidFill>
                  <a:srgbClr val="007F82"/>
                </a:solidFill>
                <a:latin typeface="Noto Sans CJK KR"/>
                <a:ea typeface="Noto Sans CJK KR"/>
                <a:cs typeface="Noto Sans CJK KR"/>
              </a:rPr>
              <a:t>중장기 배치 검토</a:t>
            </a:r>
          </a:p>
        </p:txBody>
      </p:sp>
      <p:sp>
        <p:nvSpPr>
          <p:cNvPr id="5" name="">
            <a:extLst xmlns:a="http://schemas.openxmlformats.org/drawingml/2006/main">
              <a:ext uri="{FF2B5EF4-FFF2-40B4-BE49-F238E27FC236}">
                <a16:creationId xmlns:a16="http://schemas.microsoft.com/office/drawing/2014/main" id="{F0E00A6C-0EAA-4E27-975B-BDB92AA8A47C}"/>
              </a:ext>
            </a:extLst>
          </p:cNvPr>
          <p:cNvSpPr>
            <a:spLocks xmlns:a="http://schemas.openxmlformats.org/drawingml/2006/main" noGrp="1"/>
          </p:cNvSpPr>
          <p:nvPr/>
        </p:nvSpPr>
        <p:spPr>
          <a:xfrm xmlns:a="http://schemas.openxmlformats.org/drawingml/2006/main">
            <a:off x="3638550" y="2057400"/>
            <a:ext cx="7858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연간 이송 수요를 기준으로 지역별 자원 배치 검토</a:t>
            </a:r>
          </a:p>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인구 예측은 수요 변동의 보조 정보로 활용</a:t>
            </a:r>
          </a:p>
        </p:txBody>
      </p:sp>
      <p:sp>
        <p:nvSpPr>
          <p:cNvPr id="6" name="">
            <a:extLst xmlns:a="http://schemas.openxmlformats.org/drawingml/2006/main">
              <a:ext uri="{FF2B5EF4-FFF2-40B4-BE49-F238E27FC236}">
                <a16:creationId xmlns:a16="http://schemas.microsoft.com/office/drawing/2014/main" id="{611E45DE-84D5-48A1-8C84-C0E03615D270}"/>
              </a:ext>
            </a:extLst>
          </p:cNvPr>
          <p:cNvSpPr>
            <a:spLocks xmlns:a="http://schemas.openxmlformats.org/drawingml/2006/main" noGrp="1"/>
          </p:cNvSpPr>
          <p:nvPr/>
        </p:nvSpPr>
        <p:spPr>
          <a:xfrm xmlns:a="http://schemas.openxmlformats.org/drawingml/2006/main">
            <a:off x="666750" y="3181350"/>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82"/>
                </a:solidFill>
                <a:latin typeface="Noto Sans CJK KR"/>
                <a:ea typeface="Noto Sans CJK KR"/>
                <a:cs typeface="Noto Sans CJK KR"/>
              </a:defRPr>
            </a:pPr>
            <a:r>
              <a:rPr sz="2175" b="1">
                <a:solidFill>
                  <a:srgbClr val="007F82"/>
                </a:solidFill>
                <a:latin typeface="Noto Sans CJK KR"/>
                <a:ea typeface="Noto Sans CJK KR"/>
                <a:cs typeface="Noto Sans CJK KR"/>
              </a:rPr>
              <a:t>단기 상황 모니터링</a:t>
            </a:r>
          </a:p>
        </p:txBody>
      </p:sp>
      <p:sp>
        <p:nvSpPr>
          <p:cNvPr id="7" name="">
            <a:extLst xmlns:a="http://schemas.openxmlformats.org/drawingml/2006/main">
              <a:ext uri="{FF2B5EF4-FFF2-40B4-BE49-F238E27FC236}">
                <a16:creationId xmlns:a16="http://schemas.microsoft.com/office/drawing/2014/main" id="{D7A21063-35A7-48ED-96ED-EE2C7F6E6AFB}"/>
              </a:ext>
            </a:extLst>
          </p:cNvPr>
          <p:cNvSpPr>
            <a:spLocks xmlns:a="http://schemas.openxmlformats.org/drawingml/2006/main" noGrp="1"/>
          </p:cNvSpPr>
          <p:nvPr/>
        </p:nvSpPr>
        <p:spPr>
          <a:xfrm xmlns:a="http://schemas.openxmlformats.org/drawingml/2006/main">
            <a:off x="3638550" y="3181350"/>
            <a:ext cx="7858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병상 현황과 수집 시각을 함께 제공</a:t>
            </a:r>
          </a:p>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정보 누락·오래된 값은 별도 표시</a:t>
            </a:r>
          </a:p>
        </p:txBody>
      </p:sp>
      <p:sp>
        <p:nvSpPr>
          <p:cNvPr id="8" name="">
            <a:extLst xmlns:a="http://schemas.openxmlformats.org/drawingml/2006/main">
              <a:ext uri="{FF2B5EF4-FFF2-40B4-BE49-F238E27FC236}">
                <a16:creationId xmlns:a16="http://schemas.microsoft.com/office/drawing/2014/main" id="{9D6A2CD7-378F-4C38-BB7A-EEE0161FCFD7}"/>
              </a:ext>
            </a:extLst>
          </p:cNvPr>
          <p:cNvSpPr>
            <a:spLocks xmlns:a="http://schemas.openxmlformats.org/drawingml/2006/main" noGrp="1"/>
          </p:cNvSpPr>
          <p:nvPr/>
        </p:nvSpPr>
        <p:spPr>
          <a:xfrm xmlns:a="http://schemas.openxmlformats.org/drawingml/2006/main">
            <a:off x="666750" y="4305300"/>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82"/>
                </a:solidFill>
                <a:latin typeface="Noto Sans CJK KR"/>
                <a:ea typeface="Noto Sans CJK KR"/>
                <a:cs typeface="Noto Sans CJK KR"/>
              </a:defRPr>
            </a:pPr>
            <a:r>
              <a:rPr sz="2175" b="1">
                <a:solidFill>
                  <a:srgbClr val="007F82"/>
                </a:solidFill>
                <a:latin typeface="Noto Sans CJK KR"/>
                <a:ea typeface="Noto Sans CJK KR"/>
                <a:cs typeface="Noto Sans CJK KR"/>
              </a:rPr>
              <a:t>현장 적용 전 검증</a:t>
            </a:r>
          </a:p>
        </p:txBody>
      </p:sp>
      <p:sp>
        <p:nvSpPr>
          <p:cNvPr id="9" name="">
            <a:extLst xmlns:a="http://schemas.openxmlformats.org/drawingml/2006/main">
              <a:ext uri="{FF2B5EF4-FFF2-40B4-BE49-F238E27FC236}">
                <a16:creationId xmlns:a16="http://schemas.microsoft.com/office/drawing/2014/main" id="{179DAFC6-A44E-47CB-B320-BBA7589EE89A}"/>
              </a:ext>
            </a:extLst>
          </p:cNvPr>
          <p:cNvSpPr>
            <a:spLocks xmlns:a="http://schemas.openxmlformats.org/drawingml/2006/main" noGrp="1"/>
          </p:cNvSpPr>
          <p:nvPr/>
        </p:nvSpPr>
        <p:spPr>
          <a:xfrm xmlns:a="http://schemas.openxmlformats.org/drawingml/2006/main">
            <a:off x="3638550" y="4305300"/>
            <a:ext cx="7858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이동시간·진료 가능 여부·실제 수용 확인 절차 추가</a:t>
            </a:r>
          </a:p>
          <a:p xmlns:a="http://schemas.openxmlformats.org/drawingml/2006/main">
            <a:pPr>
              <a:defRPr sz="1875" b="0">
                <a:solidFill>
                  <a:srgbClr val="112D3A"/>
                </a:solidFill>
                <a:latin typeface="Noto Sans CJK KR"/>
                <a:ea typeface="Noto Sans CJK KR"/>
                <a:cs typeface="Noto Sans CJK KR"/>
              </a:defRPr>
            </a:pPr>
            <a:r>
              <a:rPr sz="1875" b="0">
                <a:solidFill>
                  <a:srgbClr val="112D3A"/>
                </a:solidFill>
                <a:latin typeface="Noto Sans CJK KR"/>
                <a:ea typeface="Noto Sans CJK KR"/>
                <a:cs typeface="Noto Sans CJK KR"/>
              </a:rPr>
              <a:t>지역·기간을 정한 시범 운영 후 효과 평가</a:t>
            </a:r>
          </a:p>
        </p:txBody>
      </p:sp>
      <p:sp>
        <p:nvSpPr>
          <p:cNvPr id="10" name="">
            <a:extLst xmlns:a="http://schemas.openxmlformats.org/drawingml/2006/main">
              <a:ext uri="{FF2B5EF4-FFF2-40B4-BE49-F238E27FC236}">
                <a16:creationId xmlns:a16="http://schemas.microsoft.com/office/drawing/2014/main" id="{C4C349C0-9EED-45CF-9AA0-D24615BB6E98}"/>
              </a:ext>
            </a:extLst>
          </p:cNvPr>
          <p:cNvSpPr>
            <a:spLocks xmlns:a="http://schemas.openxmlformats.org/drawingml/2006/main" noGrp="1"/>
          </p:cNvSpPr>
          <p:nvPr/>
        </p:nvSpPr>
        <p:spPr>
          <a:xfrm xmlns:a="http://schemas.openxmlformats.org/drawingml/2006/main">
            <a:off x="666750" y="5934075"/>
            <a:ext cx="10144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현재 노트북에는 병원 자동 배정이나 구급차 경로 최적화 구현이 포함되어 있지 않음.</a:t>
            </a:r>
          </a:p>
        </p:txBody>
      </p:sp>
    </p:spTree>
    <p:extLst>
      <p:ext uri="{BB962C8B-B14F-4D97-AF65-F5344CB8AC3E}">
        <p14:creationId xmlns:p14="http://schemas.microsoft.com/office/powerpoint/2010/main" val="48398387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A015740-6AF1-4C4E-A4D5-5E3668492FAB}"/>
              </a:ext>
            </a:extLst>
          </p:cNvPr>
          <p:cNvSpPr>
            <a:spLocks xmlns:a="http://schemas.openxmlformats.org/drawingml/2006/main" noGrp="1"/>
          </p:cNvSpPr>
          <p:nvPr/>
        </p:nvSpPr>
        <p:spPr>
          <a:xfrm xmlns:a="http://schemas.openxmlformats.org/drawingml/2006/main">
            <a:off x="647700" y="457200"/>
            <a:ext cx="10896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12D3A"/>
                </a:solidFill>
                <a:latin typeface="Noto Sans CJK KR"/>
                <a:ea typeface="Noto Sans CJK KR"/>
                <a:cs typeface="Noto Sans CJK KR"/>
              </a:defRPr>
            </a:pPr>
            <a:r>
              <a:rPr sz="3150" b="1">
                <a:solidFill>
                  <a:srgbClr val="112D3A"/>
                </a:solidFill>
                <a:latin typeface="Noto Sans CJK KR"/>
                <a:ea typeface="Noto Sans CJK KR"/>
                <a:cs typeface="Noto Sans CJK KR"/>
              </a:rPr>
              <a:t>후속 개발과 검증 기준</a:t>
            </a:r>
          </a:p>
        </p:txBody>
      </p:sp>
      <p:sp>
        <p:nvSpPr>
          <p:cNvPr id="2" name="">
            <a:extLst xmlns:a="http://schemas.openxmlformats.org/drawingml/2006/main">
              <a:ext uri="{FF2B5EF4-FFF2-40B4-BE49-F238E27FC236}">
                <a16:creationId xmlns:a16="http://schemas.microsoft.com/office/drawing/2014/main" id="{66DDC103-9243-4569-BBF4-55BED0CACE62}"/>
              </a:ext>
            </a:extLst>
          </p:cNvPr>
          <p:cNvSpPr>
            <a:spLocks xmlns:a="http://schemas.openxmlformats.org/drawingml/2006/main" noGrp="1"/>
          </p:cNvSpPr>
          <p:nvPr/>
        </p:nvSpPr>
        <p:spPr>
          <a:xfrm xmlns:a="http://schemas.openxmlformats.org/drawingml/2006/main">
            <a:off x="666750" y="12573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4"/>
                </a:solidFill>
                <a:latin typeface="Noto Sans CJK KR"/>
                <a:ea typeface="Noto Sans CJK KR"/>
                <a:cs typeface="Noto Sans CJK KR"/>
              </a:defRPr>
            </a:pPr>
            <a:r>
              <a:rPr sz="1725" b="0">
                <a:solidFill>
                  <a:srgbClr val="536874"/>
                </a:solidFill>
                <a:latin typeface="Noto Sans CJK KR"/>
                <a:ea typeface="Noto Sans CJK KR"/>
                <a:cs typeface="Noto Sans CJK KR"/>
              </a:rPr>
              <a:t>데이터 정합성 확인 후 성능 평가와 운영 실험을 순서대로 진행</a:t>
            </a:r>
          </a:p>
        </p:txBody>
      </p:sp>
      <p:sp>
        <p:nvSpPr>
          <p:cNvPr id="3" name="">
            <a:extLst xmlns:a="http://schemas.openxmlformats.org/drawingml/2006/main">
              <a:ext uri="{FF2B5EF4-FFF2-40B4-BE49-F238E27FC236}">
                <a16:creationId xmlns:a16="http://schemas.microsoft.com/office/drawing/2014/main" id="{A227815A-3B8A-4523-9B45-C1B6F9AE7693}"/>
              </a:ext>
            </a:extLst>
          </p:cNvPr>
          <p:cNvSpPr>
            <a:spLocks xmlns:a="http://schemas.openxmlformats.org/drawingml/2006/main" noGrp="1"/>
          </p:cNvSpPr>
          <p:nvPr/>
        </p:nvSpPr>
        <p:spPr>
          <a:xfrm xmlns:a="http://schemas.openxmlformats.org/drawingml/2006/main">
            <a:off x="11029950" y="629602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16</a:t>
            </a:r>
          </a:p>
        </p:txBody>
      </p:sp>
      <p:graphicFrame>
        <p:nvGraphicFramePr>
          <p:cNvPr id="9" name=""/>
          <p:cNvGraphicFramePr/>
          <p:nvPr/>
        </p:nvGraphicFramePr>
        <p:xfrm>
          <a:off xmlns:a="http://schemas.openxmlformats.org/drawingml/2006/main" x="666750" y="2171700"/>
          <a:ext xmlns:a="http://schemas.openxmlformats.org/drawingml/2006/main" cx="10858500" cy="2990850"/>
        </p:xfrm>
        <a:graphic xmlns:a="http://schemas.openxmlformats.org/drawingml/2006/main">
          <a:graphicData uri="http://schemas.openxmlformats.org/drawingml/2006/table">
            <a:tbl>
              <a:tblPr/>
              <a:tblGrid>
                <a:gridCol w="2000250"/>
                <a:gridCol w="5143500"/>
                <a:gridCol w="3714750"/>
              </a:tblGrid>
              <a:tr h="598170">
                <a:tc>
                  <a:txBody>
                    <a:bodyPr/>
                    <a:lstStyle/>
                    <a:p>
                      <a:r>
                        <a:rPr sz="1725" b="1">
                          <a:solidFill>
                            <a:srgbClr val="FFFFFF"/>
                          </a:solidFill>
                          <a:latin typeface="Noto Sans CJK KR"/>
                          <a:ea typeface="Noto Sans CJK KR"/>
                          <a:cs typeface="Noto Sans CJK KR"/>
                        </a:rPr>
                        <a:t>단계</a:t>
                      </a:r>
                    </a:p>
                  </a:txBody>
                  <a:tcPr marL="91440" marR="91440" marT="45720" marB="45720">
                    <a:solidFill>
                      <a:srgbClr val="112D3A"/>
                    </a:solidFill>
                  </a:tcPr>
                </a:tc>
                <a:tc>
                  <a:txBody>
                    <a:bodyPr/>
                    <a:lstStyle/>
                    <a:p>
                      <a:r>
                        <a:rPr sz="1725" b="1">
                          <a:solidFill>
                            <a:srgbClr val="FFFFFF"/>
                          </a:solidFill>
                          <a:latin typeface="Noto Sans CJK KR"/>
                          <a:ea typeface="Noto Sans CJK KR"/>
                          <a:cs typeface="Noto Sans CJK KR"/>
                        </a:rPr>
                        <a:t>작업</a:t>
                      </a:r>
                    </a:p>
                  </a:txBody>
                  <a:tcPr marL="91440" marR="91440" marT="45720" marB="45720">
                    <a:solidFill>
                      <a:srgbClr val="112D3A"/>
                    </a:solidFill>
                  </a:tcPr>
                </a:tc>
                <a:tc>
                  <a:txBody>
                    <a:bodyPr/>
                    <a:lstStyle/>
                    <a:p>
                      <a:r>
                        <a:rPr sz="1725" b="1">
                          <a:solidFill>
                            <a:srgbClr val="FFFFFF"/>
                          </a:solidFill>
                          <a:latin typeface="Noto Sans CJK KR"/>
                          <a:ea typeface="Noto Sans CJK KR"/>
                          <a:cs typeface="Noto Sans CJK KR"/>
                        </a:rPr>
                        <a:t>완료 판단 기준</a:t>
                      </a:r>
                    </a:p>
                  </a:txBody>
                  <a:tcPr marL="91440" marR="91440" marT="45720" marB="45720">
                    <a:solidFill>
                      <a:srgbClr val="112D3A"/>
                    </a:solidFill>
                  </a:tcPr>
                </a:tc>
              </a:tr>
              <a:tr h="598170">
                <a:tc>
                  <a:txBody>
                    <a:bodyPr/>
                    <a:lstStyle/>
                    <a:p>
                      <a:r>
                        <a:rPr sz="1725" b="0">
                          <a:solidFill>
                            <a:srgbClr val="112D3A"/>
                          </a:solidFill>
                          <a:latin typeface="Noto Sans CJK KR"/>
                          <a:ea typeface="Noto Sans CJK KR"/>
                          <a:cs typeface="Noto Sans CJK KR"/>
                        </a:rPr>
                        <a:t>1. 데이터 정합성</a:t>
                      </a:r>
                    </a:p>
                  </a:txBody>
                  <a:tcPr marL="91440" marR="91440" marT="45720" marB="45720">
                    <a:solidFill>
                      <a:srgbClr val="F1F6F6"/>
                    </a:solidFill>
                  </a:tcPr>
                </a:tc>
                <a:tc>
                  <a:txBody>
                    <a:bodyPr/>
                    <a:lstStyle/>
                    <a:p>
                      <a:r>
                        <a:rPr sz="1725" b="0">
                          <a:solidFill>
                            <a:srgbClr val="112D3A"/>
                          </a:solidFill>
                          <a:latin typeface="Noto Sans CJK KR"/>
                          <a:ea typeface="Noto Sans CJK KR"/>
                          <a:cs typeface="Noto Sans CJK KR"/>
                        </a:rPr>
                        <a:t>연도 키·결측 처리·미래정보 누출 수정</a:t>
                      </a:r>
                    </a:p>
                  </a:txBody>
                  <a:tcPr marL="91440" marR="91440" marT="45720" marB="45720">
                    <a:solidFill>
                      <a:srgbClr val="F1F6F6"/>
                    </a:solidFill>
                  </a:tcPr>
                </a:tc>
                <a:tc>
                  <a:txBody>
                    <a:bodyPr/>
                    <a:lstStyle/>
                    <a:p>
                      <a:r>
                        <a:rPr sz="1725" b="0">
                          <a:solidFill>
                            <a:srgbClr val="112D3A"/>
                          </a:solidFill>
                          <a:latin typeface="Noto Sans CJK KR"/>
                          <a:ea typeface="Noto Sans CJK KR"/>
                          <a:cs typeface="Noto Sans CJK KR"/>
                        </a:rPr>
                        <a:t>시간 기준과 변수 정의 일치</a:t>
                      </a:r>
                    </a:p>
                  </a:txBody>
                  <a:tcPr marL="91440" marR="91440" marT="45720" marB="45720">
                    <a:solidFill>
                      <a:srgbClr val="F1F6F6"/>
                    </a:solidFill>
                  </a:tcPr>
                </a:tc>
              </a:tr>
              <a:tr h="598170">
                <a:tc>
                  <a:txBody>
                    <a:bodyPr/>
                    <a:lstStyle/>
                    <a:p>
                      <a:r>
                        <a:rPr sz="1725" b="0">
                          <a:solidFill>
                            <a:srgbClr val="112D3A"/>
                          </a:solidFill>
                          <a:latin typeface="Noto Sans CJK KR"/>
                          <a:ea typeface="Noto Sans CJK KR"/>
                          <a:cs typeface="Noto Sans CJK KR"/>
                        </a:rPr>
                        <a:t>2. 모델 비교</a:t>
                      </a:r>
                    </a:p>
                  </a:txBody>
                  <a:tcPr marL="91440" marR="91440" marT="45720" marB="45720">
                    <a:solidFill>
                      <a:srgbClr val="FFFFFF"/>
                    </a:solidFill>
                  </a:tcPr>
                </a:tc>
                <a:tc>
                  <a:txBody>
                    <a:bodyPr/>
                    <a:lstStyle/>
                    <a:p>
                      <a:r>
                        <a:rPr sz="1725" b="0">
                          <a:solidFill>
                            <a:srgbClr val="112D3A"/>
                          </a:solidFill>
                          <a:latin typeface="Noto Sans CJK KR"/>
                          <a:ea typeface="Noto Sans CJK KR"/>
                          <a:cs typeface="Noto Sans CJK KR"/>
                        </a:rPr>
                        <a:t>기준모델 포함 재학습, 독립 시험 평가</a:t>
                      </a:r>
                    </a:p>
                  </a:txBody>
                  <a:tcPr marL="91440" marR="91440" marT="45720" marB="45720">
                    <a:solidFill>
                      <a:srgbClr val="FFFFFF"/>
                    </a:solidFill>
                  </a:tcPr>
                </a:tc>
                <a:tc>
                  <a:txBody>
                    <a:bodyPr/>
                    <a:lstStyle/>
                    <a:p>
                      <a:r>
                        <a:rPr sz="1725" b="0">
                          <a:solidFill>
                            <a:srgbClr val="112D3A"/>
                          </a:solidFill>
                          <a:latin typeface="Noto Sans CJK KR"/>
                          <a:ea typeface="Noto Sans CJK KR"/>
                          <a:cs typeface="Noto Sans CJK KR"/>
                        </a:rPr>
                        <a:t>지표표·자치구별 오차 확보</a:t>
                      </a:r>
                    </a:p>
                  </a:txBody>
                  <a:tcPr marL="91440" marR="91440" marT="45720" marB="45720">
                    <a:solidFill>
                      <a:srgbClr val="FFFFFF"/>
                    </a:solidFill>
                  </a:tcPr>
                </a:tc>
              </a:tr>
              <a:tr h="598170">
                <a:tc>
                  <a:txBody>
                    <a:bodyPr/>
                    <a:lstStyle/>
                    <a:p>
                      <a:r>
                        <a:rPr sz="1725" b="0">
                          <a:solidFill>
                            <a:srgbClr val="112D3A"/>
                          </a:solidFill>
                          <a:latin typeface="Noto Sans CJK KR"/>
                          <a:ea typeface="Noto Sans CJK KR"/>
                          <a:cs typeface="Noto Sans CJK KR"/>
                        </a:rPr>
                        <a:t>3. 병상 수집 확대</a:t>
                      </a:r>
                    </a:p>
                  </a:txBody>
                  <a:tcPr marL="91440" marR="91440" marT="45720" marB="45720">
                    <a:solidFill>
                      <a:srgbClr val="F1F6F6"/>
                    </a:solidFill>
                  </a:tcPr>
                </a:tc>
                <a:tc>
                  <a:txBody>
                    <a:bodyPr/>
                    <a:lstStyle/>
                    <a:p>
                      <a:r>
                        <a:rPr sz="1725" b="0">
                          <a:solidFill>
                            <a:srgbClr val="112D3A"/>
                          </a:solidFill>
                          <a:latin typeface="Noto Sans CJK KR"/>
                          <a:ea typeface="Noto Sans CJK KR"/>
                          <a:cs typeface="Noto Sans CJK KR"/>
                        </a:rPr>
                        <a:t>병원별 반복 수집과 관측 시차 기록</a:t>
                      </a:r>
                    </a:p>
                  </a:txBody>
                  <a:tcPr marL="91440" marR="91440" marT="45720" marB="45720">
                    <a:solidFill>
                      <a:srgbClr val="F1F6F6"/>
                    </a:solidFill>
                  </a:tcPr>
                </a:tc>
                <a:tc>
                  <a:txBody>
                    <a:bodyPr/>
                    <a:lstStyle/>
                    <a:p>
                      <a:r>
                        <a:rPr sz="1725" b="0">
                          <a:solidFill>
                            <a:srgbClr val="112D3A"/>
                          </a:solidFill>
                          <a:latin typeface="Noto Sans CJK KR"/>
                          <a:ea typeface="Noto Sans CJK KR"/>
                          <a:cs typeface="Noto Sans CJK KR"/>
                        </a:rPr>
                        <a:t>직전값·변동 패턴 분석 가능</a:t>
                      </a:r>
                    </a:p>
                  </a:txBody>
                  <a:tcPr marL="91440" marR="91440" marT="45720" marB="45720">
                    <a:solidFill>
                      <a:srgbClr val="F1F6F6"/>
                    </a:solidFill>
                  </a:tcPr>
                </a:tc>
              </a:tr>
              <a:tr h="598170">
                <a:tc>
                  <a:txBody>
                    <a:bodyPr/>
                    <a:lstStyle/>
                    <a:p>
                      <a:r>
                        <a:rPr sz="1725" b="0">
                          <a:solidFill>
                            <a:srgbClr val="112D3A"/>
                          </a:solidFill>
                          <a:latin typeface="Noto Sans CJK KR"/>
                          <a:ea typeface="Noto Sans CJK KR"/>
                          <a:cs typeface="Noto Sans CJK KR"/>
                        </a:rPr>
                        <a:t>4. 운영 시범 검증</a:t>
                      </a:r>
                    </a:p>
                  </a:txBody>
                  <a:tcPr marL="91440" marR="91440" marT="45720" marB="45720">
                    <a:solidFill>
                      <a:srgbClr val="FFFFFF"/>
                    </a:solidFill>
                  </a:tcPr>
                </a:tc>
                <a:tc>
                  <a:txBody>
                    <a:bodyPr/>
                    <a:lstStyle/>
                    <a:p>
                      <a:r>
                        <a:rPr sz="1725" b="0">
                          <a:solidFill>
                            <a:srgbClr val="112D3A"/>
                          </a:solidFill>
                          <a:latin typeface="Noto Sans CJK KR"/>
                          <a:ea typeface="Noto Sans CJK KR"/>
                          <a:cs typeface="Noto Sans CJK KR"/>
                        </a:rPr>
                        <a:t>담당자 검토 화면과 제한된 시범 운영</a:t>
                      </a:r>
                    </a:p>
                  </a:txBody>
                  <a:tcPr marL="91440" marR="91440" marT="45720" marB="45720">
                    <a:solidFill>
                      <a:srgbClr val="FFFFFF"/>
                    </a:solidFill>
                  </a:tcPr>
                </a:tc>
                <a:tc>
                  <a:txBody>
                    <a:bodyPr/>
                    <a:lstStyle/>
                    <a:p>
                      <a:r>
                        <a:rPr sz="1725" b="0">
                          <a:solidFill>
                            <a:srgbClr val="112D3A"/>
                          </a:solidFill>
                          <a:latin typeface="Noto Sans CJK KR"/>
                          <a:ea typeface="Noto Sans CJK KR"/>
                          <a:cs typeface="Noto Sans CJK KR"/>
                        </a:rPr>
                        <a:t>수용 확인·대기시간 등 전후 비교</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420D12A-B439-430A-B38A-07599DEE40CA}"/>
              </a:ext>
            </a:extLst>
          </p:cNvPr>
          <p:cNvSpPr>
            <a:spLocks xmlns:a="http://schemas.openxmlformats.org/drawingml/2006/main" noGrp="1"/>
          </p:cNvSpPr>
          <p:nvPr/>
        </p:nvSpPr>
        <p:spPr>
          <a:xfrm xmlns:a="http://schemas.openxmlformats.org/drawingml/2006/main">
            <a:off x="666750" y="5934075"/>
            <a:ext cx="10144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성과 목표 수치와 일정은 아직 설정하지 않음. 데이터 확보와 담당자 협의 후 결정.</a:t>
            </a:r>
          </a:p>
        </p:txBody>
      </p:sp>
    </p:spTree>
    <p:extLst>
      <p:ext uri="{BB962C8B-B14F-4D97-AF65-F5344CB8AC3E}">
        <p14:creationId xmlns:p14="http://schemas.microsoft.com/office/powerpoint/2010/main" val="1794741819"/>
      </p:ext>
    </p:extLst>
  </p:cSld>
</p:sld>
</file>

<file path=ppt/slides/slide17.xml><?xml version="1.0" encoding="utf-8"?>
<p:sld xmlns:p="http://schemas.openxmlformats.org/presentationml/2006/main">
  <p:cSld>
    <p:bg>
      <p:bgPr>
        <a:solidFill xmlns:a="http://schemas.openxmlformats.org/drawingml/2006/main">
          <a:srgbClr val="112D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371171-615B-4991-BE83-0BA7288128F4}"/>
              </a:ext>
            </a:extLst>
          </p:cNvPr>
          <p:cNvSpPr>
            <a:spLocks xmlns:a="http://schemas.openxmlformats.org/drawingml/2006/main" noGrp="1"/>
          </p:cNvSpPr>
          <p:nvPr/>
        </p:nvSpPr>
        <p:spPr>
          <a:xfrm xmlns:a="http://schemas.openxmlformats.org/drawingml/2006/main">
            <a:off x="647700" y="457200"/>
            <a:ext cx="10896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Noto Sans CJK KR"/>
                <a:ea typeface="Noto Sans CJK KR"/>
                <a:cs typeface="Noto Sans CJK KR"/>
              </a:defRPr>
            </a:pPr>
            <a:r>
              <a:rPr sz="3150" b="1">
                <a:solidFill>
                  <a:srgbClr val="FFFFFF"/>
                </a:solidFill>
                <a:latin typeface="Noto Sans CJK KR"/>
                <a:ea typeface="Noto Sans CJK KR"/>
                <a:cs typeface="Noto Sans CJK KR"/>
              </a:rPr>
              <a:t>현재 성과와 다음 단계</a:t>
            </a:r>
          </a:p>
        </p:txBody>
      </p:sp>
      <p:sp>
        <p:nvSpPr>
          <p:cNvPr id="2" name="">
            <a:extLst xmlns:a="http://schemas.openxmlformats.org/drawingml/2006/main">
              <a:ext uri="{FF2B5EF4-FFF2-40B4-BE49-F238E27FC236}">
                <a16:creationId xmlns:a16="http://schemas.microsoft.com/office/drawing/2014/main" id="{A76A8891-3E13-4C7C-914E-493E86964660}"/>
              </a:ext>
            </a:extLst>
          </p:cNvPr>
          <p:cNvSpPr>
            <a:spLocks xmlns:a="http://schemas.openxmlformats.org/drawingml/2006/main" noGrp="1"/>
          </p:cNvSpPr>
          <p:nvPr/>
        </p:nvSpPr>
        <p:spPr>
          <a:xfrm xmlns:a="http://schemas.openxmlformats.org/drawingml/2006/main">
            <a:off x="666750" y="12573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4D4D6"/>
                </a:solidFill>
                <a:latin typeface="Noto Sans CJK KR"/>
                <a:ea typeface="Noto Sans CJK KR"/>
                <a:cs typeface="Noto Sans CJK KR"/>
              </a:defRPr>
            </a:pPr>
            <a:r>
              <a:rPr sz="1725" b="0">
                <a:solidFill>
                  <a:srgbClr val="B4D4D6"/>
                </a:solidFill>
                <a:latin typeface="Noto Sans CJK KR"/>
                <a:ea typeface="Noto Sans CJK KR"/>
                <a:cs typeface="Noto Sans CJK KR"/>
              </a:rPr>
              <a:t>응급의료 대응을 지원할 데이터 기반 확보</a:t>
            </a:r>
          </a:p>
        </p:txBody>
      </p:sp>
      <p:sp>
        <p:nvSpPr>
          <p:cNvPr id="3" name="">
            <a:extLst xmlns:a="http://schemas.openxmlformats.org/drawingml/2006/main">
              <a:ext uri="{FF2B5EF4-FFF2-40B4-BE49-F238E27FC236}">
                <a16:creationId xmlns:a16="http://schemas.microsoft.com/office/drawing/2014/main" id="{B3A9091D-8C58-4D5E-8581-C032B98091C7}"/>
              </a:ext>
            </a:extLst>
          </p:cNvPr>
          <p:cNvSpPr>
            <a:spLocks xmlns:a="http://schemas.openxmlformats.org/drawingml/2006/main" noGrp="1"/>
          </p:cNvSpPr>
          <p:nvPr/>
        </p:nvSpPr>
        <p:spPr>
          <a:xfrm xmlns:a="http://schemas.openxmlformats.org/drawingml/2006/main">
            <a:off x="11029950" y="629602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91AEB9"/>
                </a:solidFill>
                <a:latin typeface="Noto Sans CJK KR"/>
                <a:ea typeface="Noto Sans CJK KR"/>
                <a:cs typeface="Noto Sans CJK KR"/>
              </a:defRPr>
            </a:pPr>
            <a:r>
              <a:rPr sz="1200" b="0">
                <a:solidFill>
                  <a:srgbClr val="91AEB9"/>
                </a:solidFill>
                <a:latin typeface="Noto Sans CJK KR"/>
                <a:ea typeface="Noto Sans CJK KR"/>
                <a:cs typeface="Noto Sans CJK KR"/>
              </a:rPr>
              <a:t>17</a:t>
            </a:r>
          </a:p>
        </p:txBody>
      </p:sp>
      <p:sp>
        <p:nvSpPr>
          <p:cNvPr id="4" name="">
            <a:extLst xmlns:a="http://schemas.openxmlformats.org/drawingml/2006/main">
              <a:ext uri="{FF2B5EF4-FFF2-40B4-BE49-F238E27FC236}">
                <a16:creationId xmlns:a16="http://schemas.microsoft.com/office/drawing/2014/main" id="{75C5671E-B0C9-4975-808C-3EBC15F8153B}"/>
              </a:ext>
            </a:extLst>
          </p:cNvPr>
          <p:cNvSpPr>
            <a:spLocks xmlns:a="http://schemas.openxmlformats.org/drawingml/2006/main" noGrp="1"/>
          </p:cNvSpPr>
          <p:nvPr/>
        </p:nvSpPr>
        <p:spPr>
          <a:xfrm xmlns:a="http://schemas.openxmlformats.org/drawingml/2006/main">
            <a:off x="714375" y="2286000"/>
            <a:ext cx="300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2C7C9"/>
                </a:solidFill>
                <a:latin typeface="Noto Sans CJK KR"/>
                <a:ea typeface="Noto Sans CJK KR"/>
                <a:cs typeface="Noto Sans CJK KR"/>
              </a:defRPr>
            </a:pPr>
            <a:r>
              <a:rPr sz="2250" b="1">
                <a:solidFill>
                  <a:srgbClr val="82C7C9"/>
                </a:solidFill>
                <a:latin typeface="Noto Sans CJK KR"/>
                <a:ea typeface="Noto Sans CJK KR"/>
                <a:cs typeface="Noto Sans CJK KR"/>
              </a:rPr>
              <a:t>확인된 성과</a:t>
            </a:r>
          </a:p>
        </p:txBody>
      </p:sp>
      <p:sp>
        <p:nvSpPr>
          <p:cNvPr id="5" name="">
            <a:extLst xmlns:a="http://schemas.openxmlformats.org/drawingml/2006/main">
              <a:ext uri="{FF2B5EF4-FFF2-40B4-BE49-F238E27FC236}">
                <a16:creationId xmlns:a16="http://schemas.microsoft.com/office/drawing/2014/main" id="{5FECEB57-7F61-476F-8346-BE46CFA09009}"/>
              </a:ext>
            </a:extLst>
          </p:cNvPr>
          <p:cNvSpPr>
            <a:spLocks xmlns:a="http://schemas.openxmlformats.org/drawingml/2006/main" noGrp="1"/>
          </p:cNvSpPr>
          <p:nvPr/>
        </p:nvSpPr>
        <p:spPr>
          <a:xfrm xmlns:a="http://schemas.openxmlformats.org/drawingml/2006/main">
            <a:off x="3905250" y="2209800"/>
            <a:ext cx="771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FFF"/>
                </a:solidFill>
                <a:latin typeface="Noto Sans CJK KR"/>
                <a:ea typeface="Noto Sans CJK KR"/>
                <a:cs typeface="Noto Sans CJK KR"/>
              </a:defRPr>
            </a:pPr>
            <a:r>
              <a:rPr sz="2550" b="0">
                <a:solidFill>
                  <a:srgbClr val="FFFFFF"/>
                </a:solidFill>
                <a:latin typeface="Noto Sans CJK KR"/>
                <a:ea typeface="Noto Sans CJK KR"/>
                <a:cs typeface="Noto Sans CJK KR"/>
              </a:rPr>
              <a:t>서울 25개 자치구 데이터 표준화</a:t>
            </a:r>
          </a:p>
          <a:p xmlns:a="http://schemas.openxmlformats.org/drawingml/2006/main">
            <a:pPr>
              <a:defRPr sz="2550" b="0">
                <a:solidFill>
                  <a:srgbClr val="FFFFFF"/>
                </a:solidFill>
                <a:latin typeface="Noto Sans CJK KR"/>
                <a:ea typeface="Noto Sans CJK KR"/>
                <a:cs typeface="Noto Sans CJK KR"/>
              </a:defRPr>
            </a:pPr>
            <a:r>
              <a:rPr sz="2550" b="0">
                <a:solidFill>
                  <a:srgbClr val="FFFFFF"/>
                </a:solidFill>
                <a:latin typeface="Noto Sans CJK KR"/>
                <a:ea typeface="Noto Sans CJK KR"/>
                <a:cs typeface="Noto Sans CJK KR"/>
              </a:rPr>
              <a:t>주제별 학습 데이터와 API 시각화</a:t>
            </a:r>
          </a:p>
        </p:txBody>
      </p:sp>
      <p:sp>
        <p:nvSpPr>
          <p:cNvPr id="6" name="">
            <a:extLst xmlns:a="http://schemas.openxmlformats.org/drawingml/2006/main">
              <a:ext uri="{FF2B5EF4-FFF2-40B4-BE49-F238E27FC236}">
                <a16:creationId xmlns:a16="http://schemas.microsoft.com/office/drawing/2014/main" id="{3269E072-E05E-4D1C-B9E6-449163063ED8}"/>
              </a:ext>
            </a:extLst>
          </p:cNvPr>
          <p:cNvSpPr>
            <a:spLocks xmlns:a="http://schemas.openxmlformats.org/drawingml/2006/main" noGrp="1"/>
          </p:cNvSpPr>
          <p:nvPr/>
        </p:nvSpPr>
        <p:spPr>
          <a:xfrm xmlns:a="http://schemas.openxmlformats.org/drawingml/2006/main">
            <a:off x="714375" y="3962400"/>
            <a:ext cx="300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2C7C9"/>
                </a:solidFill>
                <a:latin typeface="Noto Sans CJK KR"/>
                <a:ea typeface="Noto Sans CJK KR"/>
                <a:cs typeface="Noto Sans CJK KR"/>
              </a:defRPr>
            </a:pPr>
            <a:r>
              <a:rPr sz="2250" b="1">
                <a:solidFill>
                  <a:srgbClr val="82C7C9"/>
                </a:solidFill>
                <a:latin typeface="Noto Sans CJK KR"/>
                <a:ea typeface="Noto Sans CJK KR"/>
                <a:cs typeface="Noto Sans CJK KR"/>
              </a:rPr>
              <a:t>다음 검증</a:t>
            </a:r>
          </a:p>
        </p:txBody>
      </p:sp>
      <p:sp>
        <p:nvSpPr>
          <p:cNvPr id="7" name="">
            <a:extLst xmlns:a="http://schemas.openxmlformats.org/drawingml/2006/main">
              <a:ext uri="{FF2B5EF4-FFF2-40B4-BE49-F238E27FC236}">
                <a16:creationId xmlns:a16="http://schemas.microsoft.com/office/drawing/2014/main" id="{F79DBE42-10B0-42FC-82B4-E84CF1C6AC41}"/>
              </a:ext>
            </a:extLst>
          </p:cNvPr>
          <p:cNvSpPr>
            <a:spLocks xmlns:a="http://schemas.openxmlformats.org/drawingml/2006/main" noGrp="1"/>
          </p:cNvSpPr>
          <p:nvPr/>
        </p:nvSpPr>
        <p:spPr>
          <a:xfrm xmlns:a="http://schemas.openxmlformats.org/drawingml/2006/main">
            <a:off x="3905250" y="3886200"/>
            <a:ext cx="771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FFF"/>
                </a:solidFill>
                <a:latin typeface="Noto Sans CJK KR"/>
                <a:ea typeface="Noto Sans CJK KR"/>
                <a:cs typeface="Noto Sans CJK KR"/>
              </a:defRPr>
            </a:pPr>
            <a:r>
              <a:rPr sz="2550" b="0">
                <a:solidFill>
                  <a:srgbClr val="FFFFFF"/>
                </a:solidFill>
                <a:latin typeface="Noto Sans CJK KR"/>
                <a:ea typeface="Noto Sans CJK KR"/>
                <a:cs typeface="Noto Sans CJK KR"/>
              </a:rPr>
              <a:t>예측 성능 검증과 병상 시계열 축적</a:t>
            </a:r>
          </a:p>
          <a:p xmlns:a="http://schemas.openxmlformats.org/drawingml/2006/main">
            <a:pPr>
              <a:defRPr sz="2550" b="0">
                <a:solidFill>
                  <a:srgbClr val="FFFFFF"/>
                </a:solidFill>
                <a:latin typeface="Noto Sans CJK KR"/>
                <a:ea typeface="Noto Sans CJK KR"/>
                <a:cs typeface="Noto Sans CJK KR"/>
              </a:defRPr>
            </a:pPr>
            <a:r>
              <a:rPr sz="2550" b="0">
                <a:solidFill>
                  <a:srgbClr val="FFFFFF"/>
                </a:solidFill>
                <a:latin typeface="Noto Sans CJK KR"/>
                <a:ea typeface="Noto Sans CJK KR"/>
                <a:cs typeface="Noto Sans CJK KR"/>
              </a:rPr>
              <a:t>실제 운영 데이터로 활용 효과 확인</a:t>
            </a:r>
          </a:p>
        </p:txBody>
      </p:sp>
    </p:spTree>
    <p:extLst>
      <p:ext uri="{BB962C8B-B14F-4D97-AF65-F5344CB8AC3E}">
        <p14:creationId xmlns:p14="http://schemas.microsoft.com/office/powerpoint/2010/main" val="59688938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BFA57A5-FB4B-4F09-BF9E-EF875E91E21A}"/>
              </a:ext>
            </a:extLst>
          </p:cNvPr>
          <p:cNvSpPr>
            <a:spLocks xmlns:a="http://schemas.openxmlformats.org/drawingml/2006/main" noGrp="1"/>
          </p:cNvSpPr>
          <p:nvPr/>
        </p:nvSpPr>
        <p:spPr>
          <a:xfrm xmlns:a="http://schemas.openxmlformats.org/drawingml/2006/main">
            <a:off x="647700" y="457200"/>
            <a:ext cx="10896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12D3A"/>
                </a:solidFill>
                <a:latin typeface="Noto Sans CJK KR"/>
                <a:ea typeface="Noto Sans CJK KR"/>
                <a:cs typeface="Noto Sans CJK KR"/>
              </a:defRPr>
            </a:pPr>
            <a:r>
              <a:rPr sz="3150" b="1">
                <a:solidFill>
                  <a:srgbClr val="112D3A"/>
                </a:solidFill>
                <a:latin typeface="Noto Sans CJK KR"/>
                <a:ea typeface="Noto Sans CJK KR"/>
                <a:cs typeface="Noto Sans CJK KR"/>
              </a:rPr>
              <a:t>부록 · 구현 점검 항목</a:t>
            </a:r>
          </a:p>
        </p:txBody>
      </p:sp>
      <p:sp>
        <p:nvSpPr>
          <p:cNvPr id="2" name="">
            <a:extLst xmlns:a="http://schemas.openxmlformats.org/drawingml/2006/main">
              <a:ext uri="{FF2B5EF4-FFF2-40B4-BE49-F238E27FC236}">
                <a16:creationId xmlns:a16="http://schemas.microsoft.com/office/drawing/2014/main" id="{77B4BF62-4089-4933-AF87-FF27C8AFA86D}"/>
              </a:ext>
            </a:extLst>
          </p:cNvPr>
          <p:cNvSpPr>
            <a:spLocks xmlns:a="http://schemas.openxmlformats.org/drawingml/2006/main" noGrp="1"/>
          </p:cNvSpPr>
          <p:nvPr/>
        </p:nvSpPr>
        <p:spPr>
          <a:xfrm xmlns:a="http://schemas.openxmlformats.org/drawingml/2006/main">
            <a:off x="666750" y="12573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4"/>
                </a:solidFill>
                <a:latin typeface="Noto Sans CJK KR"/>
                <a:ea typeface="Noto Sans CJK KR"/>
                <a:cs typeface="Noto Sans CJK KR"/>
              </a:defRPr>
            </a:pPr>
            <a:r>
              <a:rPr sz="1725" b="0">
                <a:solidFill>
                  <a:srgbClr val="536874"/>
                </a:solidFill>
                <a:latin typeface="Noto Sans CJK KR"/>
                <a:ea typeface="Noto Sans CJK KR"/>
                <a:cs typeface="Noto Sans CJK KR"/>
              </a:rPr>
              <a:t>재실행과 배포 전에 확인할 구체적인 코드 연결 사항</a:t>
            </a:r>
          </a:p>
        </p:txBody>
      </p:sp>
      <p:sp>
        <p:nvSpPr>
          <p:cNvPr id="3" name="">
            <a:extLst xmlns:a="http://schemas.openxmlformats.org/drawingml/2006/main">
              <a:ext uri="{FF2B5EF4-FFF2-40B4-BE49-F238E27FC236}">
                <a16:creationId xmlns:a16="http://schemas.microsoft.com/office/drawing/2014/main" id="{EAFB264D-3AC4-4D31-B83F-595C1561BEDC}"/>
              </a:ext>
            </a:extLst>
          </p:cNvPr>
          <p:cNvSpPr>
            <a:spLocks xmlns:a="http://schemas.openxmlformats.org/drawingml/2006/main" noGrp="1"/>
          </p:cNvSpPr>
          <p:nvPr/>
        </p:nvSpPr>
        <p:spPr>
          <a:xfrm xmlns:a="http://schemas.openxmlformats.org/drawingml/2006/main">
            <a:off x="11029950" y="629602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18</a:t>
            </a:r>
          </a:p>
        </p:txBody>
      </p:sp>
      <p:graphicFrame>
        <p:nvGraphicFramePr>
          <p:cNvPr id="9" name=""/>
          <p:cNvGraphicFramePr/>
          <p:nvPr/>
        </p:nvGraphicFramePr>
        <p:xfrm>
          <a:off xmlns:a="http://schemas.openxmlformats.org/drawingml/2006/main" x="666750" y="2143125"/>
          <a:ext xmlns:a="http://schemas.openxmlformats.org/drawingml/2006/main" cx="10858500" cy="3038475"/>
        </p:xfrm>
        <a:graphic xmlns:a="http://schemas.openxmlformats.org/drawingml/2006/main">
          <a:graphicData uri="http://schemas.openxmlformats.org/drawingml/2006/table">
            <a:tbl>
              <a:tblPr/>
              <a:tblGrid>
                <a:gridCol w="2286000"/>
                <a:gridCol w="4095750"/>
                <a:gridCol w="4476750"/>
              </a:tblGrid>
              <a:tr h="607695">
                <a:tc>
                  <a:txBody>
                    <a:bodyPr/>
                    <a:lstStyle/>
                    <a:p>
                      <a:r>
                        <a:rPr sz="1575" b="1">
                          <a:solidFill>
                            <a:srgbClr val="FFFFFF"/>
                          </a:solidFill>
                          <a:latin typeface="Noto Sans CJK KR"/>
                          <a:ea typeface="Noto Sans CJK KR"/>
                          <a:cs typeface="Noto Sans CJK KR"/>
                        </a:rPr>
                        <a:t>점검 지점</a:t>
                      </a:r>
                    </a:p>
                  </a:txBody>
                  <a:tcPr marL="91440" marR="91440" marT="45720" marB="45720">
                    <a:solidFill>
                      <a:srgbClr val="112D3A"/>
                    </a:solidFill>
                  </a:tcPr>
                </a:tc>
                <a:tc>
                  <a:txBody>
                    <a:bodyPr/>
                    <a:lstStyle/>
                    <a:p>
                      <a:r>
                        <a:rPr sz="1575" b="1">
                          <a:solidFill>
                            <a:srgbClr val="FFFFFF"/>
                          </a:solidFill>
                          <a:latin typeface="Noto Sans CJK KR"/>
                          <a:ea typeface="Noto Sans CJK KR"/>
                          <a:cs typeface="Noto Sans CJK KR"/>
                        </a:rPr>
                        <a:t>현재 코드</a:t>
                      </a:r>
                    </a:p>
                  </a:txBody>
                  <a:tcPr marL="91440" marR="91440" marT="45720" marB="45720">
                    <a:solidFill>
                      <a:srgbClr val="112D3A"/>
                    </a:solidFill>
                  </a:tcPr>
                </a:tc>
                <a:tc>
                  <a:txBody>
                    <a:bodyPr/>
                    <a:lstStyle/>
                    <a:p>
                      <a:r>
                        <a:rPr sz="1575" b="1">
                          <a:solidFill>
                            <a:srgbClr val="FFFFFF"/>
                          </a:solidFill>
                          <a:latin typeface="Noto Sans CJK KR"/>
                          <a:ea typeface="Noto Sans CJK KR"/>
                          <a:cs typeface="Noto Sans CJK KR"/>
                        </a:rPr>
                        <a:t>수정 방향</a:t>
                      </a:r>
                    </a:p>
                  </a:txBody>
                  <a:tcPr marL="91440" marR="91440" marT="45720" marB="45720">
                    <a:solidFill>
                      <a:srgbClr val="112D3A"/>
                    </a:solidFill>
                  </a:tcPr>
                </a:tc>
              </a:tr>
              <a:tr h="607695">
                <a:tc>
                  <a:txBody>
                    <a:bodyPr/>
                    <a:lstStyle/>
                    <a:p>
                      <a:r>
                        <a:rPr sz="1575" b="0">
                          <a:solidFill>
                            <a:srgbClr val="112D3A"/>
                          </a:solidFill>
                          <a:latin typeface="Noto Sans CJK KR"/>
                          <a:ea typeface="Noto Sans CJK KR"/>
                          <a:cs typeface="Noto Sans CJK KR"/>
                        </a:rPr>
                        <a:t>다음 해 이송 입력</a:t>
                      </a:r>
                    </a:p>
                  </a:txBody>
                  <a:tcPr marL="91440" marR="91440" marT="45720" marB="45720">
                    <a:solidFill>
                      <a:srgbClr val="F1F6F6"/>
                    </a:solidFill>
                  </a:tcPr>
                </a:tc>
                <a:tc>
                  <a:txBody>
                    <a:bodyPr/>
                    <a:lstStyle/>
                    <a:p>
                      <a:r>
                        <a:rPr sz="1575" b="0">
                          <a:solidFill>
                            <a:srgbClr val="112D3A"/>
                          </a:solidFill>
                          <a:latin typeface="Noto Sans CJK KR"/>
                          <a:ea typeface="Noto Sans CJK KR"/>
                          <a:cs typeface="Noto Sans CJK KR"/>
                        </a:rPr>
                        <a:t>전년 이송인원 자리에 최근 이송건수 사용</a:t>
                      </a:r>
                    </a:p>
                  </a:txBody>
                  <a:tcPr marL="91440" marR="91440" marT="45720" marB="45720">
                    <a:solidFill>
                      <a:srgbClr val="F1F6F6"/>
                    </a:solidFill>
                  </a:tcPr>
                </a:tc>
                <a:tc>
                  <a:txBody>
                    <a:bodyPr/>
                    <a:lstStyle/>
                    <a:p>
                      <a:r>
                        <a:rPr sz="1575" b="0">
                          <a:solidFill>
                            <a:srgbClr val="112D3A"/>
                          </a:solidFill>
                          <a:latin typeface="Noto Sans CJK KR"/>
                          <a:ea typeface="Noto Sans CJK KR"/>
                          <a:cs typeface="Noto Sans CJK KR"/>
                        </a:rPr>
                        <a:t>인원·건수 정의 통일, 실제 최신 인원 연결</a:t>
                      </a:r>
                    </a:p>
                  </a:txBody>
                  <a:tcPr marL="91440" marR="91440" marT="45720" marB="45720">
                    <a:solidFill>
                      <a:srgbClr val="F1F6F6"/>
                    </a:solidFill>
                  </a:tcPr>
                </a:tc>
              </a:tr>
              <a:tr h="607695">
                <a:tc>
                  <a:txBody>
                    <a:bodyPr/>
                    <a:lstStyle/>
                    <a:p>
                      <a:r>
                        <a:rPr sz="1575" b="0">
                          <a:solidFill>
                            <a:srgbClr val="112D3A"/>
                          </a:solidFill>
                          <a:latin typeface="Noto Sans CJK KR"/>
                          <a:ea typeface="Noto Sans CJK KR"/>
                          <a:cs typeface="Noto Sans CJK KR"/>
                        </a:rPr>
                        <a:t>미래 사고 변수</a:t>
                      </a:r>
                    </a:p>
                  </a:txBody>
                  <a:tcPr marL="91440" marR="91440" marT="45720" marB="45720">
                    <a:solidFill>
                      <a:srgbClr val="FFFFFF"/>
                    </a:solidFill>
                  </a:tcPr>
                </a:tc>
                <a:tc>
                  <a:txBody>
                    <a:bodyPr/>
                    <a:lstStyle/>
                    <a:p>
                      <a:r>
                        <a:rPr sz="1575" b="0">
                          <a:solidFill>
                            <a:srgbClr val="112D3A"/>
                          </a:solidFill>
                          <a:latin typeface="Noto Sans CJK KR"/>
                          <a:ea typeface="Noto Sans CJK KR"/>
                          <a:cs typeface="Noto Sans CJK KR"/>
                        </a:rPr>
                        <a:t>기존 전년 사고 값을 재사용</a:t>
                      </a:r>
                    </a:p>
                  </a:txBody>
                  <a:tcPr marL="91440" marR="91440" marT="45720" marB="45720">
                    <a:solidFill>
                      <a:srgbClr val="FFFFFF"/>
                    </a:solidFill>
                  </a:tcPr>
                </a:tc>
                <a:tc>
                  <a:txBody>
                    <a:bodyPr/>
                    <a:lstStyle/>
                    <a:p>
                      <a:r>
                        <a:rPr sz="1575" b="0">
                          <a:solidFill>
                            <a:srgbClr val="112D3A"/>
                          </a:solidFill>
                          <a:latin typeface="Noto Sans CJK KR"/>
                          <a:ea typeface="Noto Sans CJK KR"/>
                          <a:cs typeface="Noto Sans CJK KR"/>
                        </a:rPr>
                        <a:t>예측 기준연도에 맞는 최신 사고 값 연결</a:t>
                      </a:r>
                    </a:p>
                  </a:txBody>
                  <a:tcPr marL="91440" marR="91440" marT="45720" marB="45720">
                    <a:solidFill>
                      <a:srgbClr val="FFFFFF"/>
                    </a:solidFill>
                  </a:tcPr>
                </a:tc>
              </a:tr>
              <a:tr h="607695">
                <a:tc>
                  <a:txBody>
                    <a:bodyPr/>
                    <a:lstStyle/>
                    <a:p>
                      <a:r>
                        <a:rPr sz="1575" b="0">
                          <a:solidFill>
                            <a:srgbClr val="112D3A"/>
                          </a:solidFill>
                          <a:latin typeface="Noto Sans CJK KR"/>
                          <a:ea typeface="Noto Sans CJK KR"/>
                          <a:cs typeface="Noto Sans CJK KR"/>
                        </a:rPr>
                        <a:t>모델 재사용</a:t>
                      </a:r>
                    </a:p>
                  </a:txBody>
                  <a:tcPr marL="91440" marR="91440" marT="45720" marB="45720">
                    <a:solidFill>
                      <a:srgbClr val="F1F6F6"/>
                    </a:solidFill>
                  </a:tcPr>
                </a:tc>
                <a:tc>
                  <a:txBody>
                    <a:bodyPr/>
                    <a:lstStyle/>
                    <a:p>
                      <a:r>
                        <a:rPr sz="1575" b="0">
                          <a:solidFill>
                            <a:srgbClr val="112D3A"/>
                          </a:solidFill>
                          <a:latin typeface="Noto Sans CJK KR"/>
                          <a:ea typeface="Noto Sans CJK KR"/>
                          <a:cs typeface="Noto Sans CJK KR"/>
                        </a:rPr>
                        <a:t>모델과 입력 scaler 저장</a:t>
                      </a:r>
                    </a:p>
                  </a:txBody>
                  <a:tcPr marL="91440" marR="91440" marT="45720" marB="45720">
                    <a:solidFill>
                      <a:srgbClr val="F1F6F6"/>
                    </a:solidFill>
                  </a:tcPr>
                </a:tc>
                <a:tc>
                  <a:txBody>
                    <a:bodyPr/>
                    <a:lstStyle/>
                    <a:p>
                      <a:r>
                        <a:rPr sz="1575" b="0">
                          <a:solidFill>
                            <a:srgbClr val="112D3A"/>
                          </a:solidFill>
                          <a:latin typeface="Noto Sans CJK KR"/>
                          <a:ea typeface="Noto Sans CJK KR"/>
                          <a:cs typeface="Noto Sans CJK KR"/>
                        </a:rPr>
                        <a:t>타깃 scaler·특성 순서·전처리 규칙도 저장</a:t>
                      </a:r>
                    </a:p>
                  </a:txBody>
                  <a:tcPr marL="91440" marR="91440" marT="45720" marB="45720">
                    <a:solidFill>
                      <a:srgbClr val="F1F6F6"/>
                    </a:solidFill>
                  </a:tcPr>
                </a:tc>
              </a:tr>
              <a:tr h="607695">
                <a:tc>
                  <a:txBody>
                    <a:bodyPr/>
                    <a:lstStyle/>
                    <a:p>
                      <a:r>
                        <a:rPr sz="1575" b="0">
                          <a:solidFill>
                            <a:srgbClr val="112D3A"/>
                          </a:solidFill>
                          <a:latin typeface="Noto Sans CJK KR"/>
                          <a:ea typeface="Noto Sans CJK KR"/>
                          <a:cs typeface="Noto Sans CJK KR"/>
                        </a:rPr>
                        <a:t>시간·집계 정합성</a:t>
                      </a:r>
                    </a:p>
                  </a:txBody>
                  <a:tcPr marL="91440" marR="91440" marT="45720" marB="45720">
                    <a:solidFill>
                      <a:srgbClr val="FFFFFF"/>
                    </a:solidFill>
                  </a:tcPr>
                </a:tc>
                <a:tc>
                  <a:txBody>
                    <a:bodyPr/>
                    <a:lstStyle/>
                    <a:p>
                      <a:r>
                        <a:rPr sz="1575" b="0">
                          <a:solidFill>
                            <a:srgbClr val="112D3A"/>
                          </a:solidFill>
                          <a:latin typeface="Noto Sans CJK KR"/>
                          <a:ea typeface="Noto Sans CJK KR"/>
                          <a:cs typeface="Noto Sans CJK KR"/>
                        </a:rPr>
                        <a:t>연도 순번 사용, 서로 다른 출처의 합계</a:t>
                      </a:r>
                    </a:p>
                  </a:txBody>
                  <a:tcPr marL="91440" marR="91440" marT="45720" marB="45720">
                    <a:solidFill>
                      <a:srgbClr val="FFFFFF"/>
                    </a:solidFill>
                  </a:tcPr>
                </a:tc>
                <a:tc>
                  <a:txBody>
                    <a:bodyPr/>
                    <a:lstStyle/>
                    <a:p>
                      <a:r>
                        <a:rPr sz="1575" b="0">
                          <a:solidFill>
                            <a:srgbClr val="112D3A"/>
                          </a:solidFill>
                          <a:latin typeface="Noto Sans CJK KR"/>
                          <a:ea typeface="Noto Sans CJK KR"/>
                          <a:cs typeface="Noto Sans CJK KR"/>
                        </a:rPr>
                        <a:t>실제 year 보존, 출처별 집계 정의 확인</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38E5A13-6F66-43FF-9FEE-B1C8C6EBA23D}"/>
              </a:ext>
            </a:extLst>
          </p:cNvPr>
          <p:cNvSpPr>
            <a:spLocks xmlns:a="http://schemas.openxmlformats.org/drawingml/2006/main" noGrp="1"/>
          </p:cNvSpPr>
          <p:nvPr/>
        </p:nvSpPr>
        <p:spPr>
          <a:xfrm xmlns:a="http://schemas.openxmlformats.org/drawingml/2006/main">
            <a:off x="666750" y="5934075"/>
            <a:ext cx="10144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코드 검토 의견. 이 PPT 제작 과정에서 원본 노트북의 코드를 수정하거나 재학습하지 않았음.</a:t>
            </a:r>
          </a:p>
        </p:txBody>
      </p:sp>
    </p:spTree>
    <p:extLst>
      <p:ext uri="{BB962C8B-B14F-4D97-AF65-F5344CB8AC3E}">
        <p14:creationId xmlns:p14="http://schemas.microsoft.com/office/powerpoint/2010/main" val="90463999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D0104D-5C17-4239-8558-260EB600D2A9}"/>
              </a:ext>
            </a:extLst>
          </p:cNvPr>
          <p:cNvSpPr>
            <a:spLocks xmlns:a="http://schemas.openxmlformats.org/drawingml/2006/main" noGrp="1"/>
          </p:cNvSpPr>
          <p:nvPr/>
        </p:nvSpPr>
        <p:spPr>
          <a:xfrm xmlns:a="http://schemas.openxmlformats.org/drawingml/2006/main">
            <a:off x="647700" y="457200"/>
            <a:ext cx="10896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12D3A"/>
                </a:solidFill>
                <a:latin typeface="Noto Sans CJK KR"/>
                <a:ea typeface="Noto Sans CJK KR"/>
                <a:cs typeface="Noto Sans CJK KR"/>
              </a:defRPr>
            </a:pPr>
            <a:r>
              <a:rPr sz="3150" b="1">
                <a:solidFill>
                  <a:srgbClr val="112D3A"/>
                </a:solidFill>
                <a:latin typeface="Noto Sans CJK KR"/>
                <a:ea typeface="Noto Sans CJK KR"/>
                <a:cs typeface="Noto Sans CJK KR"/>
              </a:rPr>
              <a:t>부록 · 자료와 해석 기준</a:t>
            </a:r>
          </a:p>
        </p:txBody>
      </p:sp>
      <p:sp>
        <p:nvSpPr>
          <p:cNvPr id="2" name="">
            <a:extLst xmlns:a="http://schemas.openxmlformats.org/drawingml/2006/main">
              <a:ext uri="{FF2B5EF4-FFF2-40B4-BE49-F238E27FC236}">
                <a16:creationId xmlns:a16="http://schemas.microsoft.com/office/drawing/2014/main" id="{F0C09C1C-8B7C-4A43-94A5-24FAB8A3BF14}"/>
              </a:ext>
            </a:extLst>
          </p:cNvPr>
          <p:cNvSpPr>
            <a:spLocks xmlns:a="http://schemas.openxmlformats.org/drawingml/2006/main" noGrp="1"/>
          </p:cNvSpPr>
          <p:nvPr/>
        </p:nvSpPr>
        <p:spPr>
          <a:xfrm xmlns:a="http://schemas.openxmlformats.org/drawingml/2006/main">
            <a:off x="666750" y="12573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4"/>
                </a:solidFill>
                <a:latin typeface="Noto Sans CJK KR"/>
                <a:ea typeface="Noto Sans CJK KR"/>
                <a:cs typeface="Noto Sans CJK KR"/>
              </a:defRPr>
            </a:pPr>
            <a:r>
              <a:rPr sz="1725" b="0">
                <a:solidFill>
                  <a:srgbClr val="536874"/>
                </a:solidFill>
                <a:latin typeface="Noto Sans CJK KR"/>
                <a:ea typeface="Noto Sans CJK KR"/>
                <a:cs typeface="Noto Sans CJK KR"/>
              </a:rPr>
              <a:t>첨부 노트북 6개의 코드와 저장된 실행 출력을 근거로 작성</a:t>
            </a:r>
          </a:p>
        </p:txBody>
      </p:sp>
      <p:sp>
        <p:nvSpPr>
          <p:cNvPr id="3" name="">
            <a:extLst xmlns:a="http://schemas.openxmlformats.org/drawingml/2006/main">
              <a:ext uri="{FF2B5EF4-FFF2-40B4-BE49-F238E27FC236}">
                <a16:creationId xmlns:a16="http://schemas.microsoft.com/office/drawing/2014/main" id="{591A5DD0-C65B-4B85-92B6-4F351F7F6EC1}"/>
              </a:ext>
            </a:extLst>
          </p:cNvPr>
          <p:cNvSpPr>
            <a:spLocks xmlns:a="http://schemas.openxmlformats.org/drawingml/2006/main" noGrp="1"/>
          </p:cNvSpPr>
          <p:nvPr/>
        </p:nvSpPr>
        <p:spPr>
          <a:xfrm xmlns:a="http://schemas.openxmlformats.org/drawingml/2006/main">
            <a:off x="11029950" y="629602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19</a:t>
            </a:r>
          </a:p>
        </p:txBody>
      </p:sp>
      <p:graphicFrame>
        <p:nvGraphicFramePr>
          <p:cNvPr id="9" name=""/>
          <p:cNvGraphicFramePr/>
          <p:nvPr/>
        </p:nvGraphicFramePr>
        <p:xfrm>
          <a:off xmlns:a="http://schemas.openxmlformats.org/drawingml/2006/main" x="666750" y="1962150"/>
          <a:ext xmlns:a="http://schemas.openxmlformats.org/drawingml/2006/main" cx="10858500" cy="3505200"/>
        </p:xfrm>
        <a:graphic xmlns:a="http://schemas.openxmlformats.org/drawingml/2006/main">
          <a:graphicData uri="http://schemas.openxmlformats.org/drawingml/2006/table">
            <a:tbl>
              <a:tblPr/>
              <a:tblGrid>
                <a:gridCol w="5572125"/>
                <a:gridCol w="5286375"/>
              </a:tblGrid>
              <a:tr h="500743">
                <a:tc>
                  <a:txBody>
                    <a:bodyPr/>
                    <a:lstStyle/>
                    <a:p>
                      <a:r>
                        <a:rPr sz="1500" b="1">
                          <a:solidFill>
                            <a:srgbClr val="FFFFFF"/>
                          </a:solidFill>
                          <a:latin typeface="Noto Sans CJK KR"/>
                          <a:ea typeface="Noto Sans CJK KR"/>
                          <a:cs typeface="Noto Sans CJK KR"/>
                        </a:rPr>
                        <a:t>자료</a:t>
                      </a:r>
                    </a:p>
                  </a:txBody>
                  <a:tcPr marL="91440" marR="91440" marT="45720" marB="45720">
                    <a:solidFill>
                      <a:srgbClr val="112D3A"/>
                    </a:solidFill>
                  </a:tcPr>
                </a:tc>
                <a:tc>
                  <a:txBody>
                    <a:bodyPr/>
                    <a:lstStyle/>
                    <a:p>
                      <a:r>
                        <a:rPr sz="1500" b="1">
                          <a:solidFill>
                            <a:srgbClr val="FFFFFF"/>
                          </a:solidFill>
                          <a:latin typeface="Noto Sans CJK KR"/>
                          <a:ea typeface="Noto Sans CJK KR"/>
                          <a:cs typeface="Noto Sans CJK KR"/>
                        </a:rPr>
                        <a:t>주요 근거</a:t>
                      </a:r>
                    </a:p>
                  </a:txBody>
                  <a:tcPr marL="91440" marR="91440" marT="45720" marB="45720">
                    <a:solidFill>
                      <a:srgbClr val="112D3A"/>
                    </a:solidFill>
                  </a:tcPr>
                </a:tc>
              </a:tr>
              <a:tr h="500743">
                <a:tc>
                  <a:txBody>
                    <a:bodyPr/>
                    <a:lstStyle/>
                    <a:p>
                      <a:r>
                        <a:rPr sz="1500" b="0">
                          <a:solidFill>
                            <a:srgbClr val="112D3A"/>
                          </a:solidFill>
                          <a:latin typeface="Noto Sans CJK KR"/>
                          <a:ea typeface="Noto Sans CJK KR"/>
                          <a:cs typeface="Noto Sans CJK KR"/>
                        </a:rPr>
                        <a:t>01_119_공공API_연동.ipynb</a:t>
                      </a:r>
                    </a:p>
                  </a:txBody>
                  <a:tcPr marL="91440" marR="91440" marT="45720" marB="45720">
                    <a:solidFill>
                      <a:srgbClr val="F1F6F6"/>
                    </a:solidFill>
                  </a:tcPr>
                </a:tc>
                <a:tc>
                  <a:txBody>
                    <a:bodyPr/>
                    <a:lstStyle/>
                    <a:p>
                      <a:r>
                        <a:rPr sz="1500" b="0">
                          <a:solidFill>
                            <a:srgbClr val="112D3A"/>
                          </a:solidFill>
                          <a:latin typeface="Noto Sans CJK KR"/>
                          <a:ea typeface="Noto Sans CJK KR"/>
                          <a:cs typeface="Noto Sans CJK KR"/>
                        </a:rPr>
                        <a:t>API 요청·재시도·병상 수집 로직</a:t>
                      </a:r>
                    </a:p>
                  </a:txBody>
                  <a:tcPr marL="91440" marR="91440" marT="45720" marB="45720">
                    <a:solidFill>
                      <a:srgbClr val="F1F6F6"/>
                    </a:solidFill>
                  </a:tcPr>
                </a:tc>
              </a:tr>
              <a:tr h="500743">
                <a:tc>
                  <a:txBody>
                    <a:bodyPr/>
                    <a:lstStyle/>
                    <a:p>
                      <a:r>
                        <a:rPr sz="1500" b="0">
                          <a:solidFill>
                            <a:srgbClr val="112D3A"/>
                          </a:solidFill>
                          <a:latin typeface="Noto Sans CJK KR"/>
                          <a:ea typeface="Noto Sans CJK KR"/>
                          <a:cs typeface="Noto Sans CJK KR"/>
                        </a:rPr>
                        <a:t>01_119_API_결과_시각화.ipynb</a:t>
                      </a:r>
                    </a:p>
                  </a:txBody>
                  <a:tcPr marL="91440" marR="91440" marT="45720" marB="45720">
                    <a:solidFill>
                      <a:srgbClr val="FFFFFF"/>
                    </a:solidFill>
                  </a:tcPr>
                </a:tc>
                <a:tc>
                  <a:txBody>
                    <a:bodyPr/>
                    <a:lstStyle/>
                    <a:p>
                      <a:r>
                        <a:rPr sz="1500" b="0">
                          <a:solidFill>
                            <a:srgbClr val="112D3A"/>
                          </a:solidFill>
                          <a:latin typeface="Noto Sans CJK KR"/>
                          <a:ea typeface="Noto Sans CJK KR"/>
                          <a:cs typeface="Noto Sans CJK KR"/>
                        </a:rPr>
                        <a:t>2025년 12월 출동·이송 및 병상 스냅샷</a:t>
                      </a:r>
                    </a:p>
                  </a:txBody>
                  <a:tcPr marL="91440" marR="91440" marT="45720" marB="45720">
                    <a:solidFill>
                      <a:srgbClr val="FFFFFF"/>
                    </a:solidFill>
                  </a:tcPr>
                </a:tc>
              </a:tr>
              <a:tr h="500743">
                <a:tc>
                  <a:txBody>
                    <a:bodyPr/>
                    <a:lstStyle/>
                    <a:p>
                      <a:r>
                        <a:rPr sz="1500" b="0">
                          <a:solidFill>
                            <a:srgbClr val="112D3A"/>
                          </a:solidFill>
                          <a:latin typeface="Noto Sans CJK KR"/>
                          <a:ea typeface="Noto Sans CJK KR"/>
                          <a:cs typeface="Noto Sans CJK KR"/>
                        </a:rPr>
                        <a:t>02_119_데이터_전처리_통합.ipynb</a:t>
                      </a:r>
                    </a:p>
                  </a:txBody>
                  <a:tcPr marL="91440" marR="91440" marT="45720" marB="45720">
                    <a:solidFill>
                      <a:srgbClr val="F1F6F6"/>
                    </a:solidFill>
                  </a:tcPr>
                </a:tc>
                <a:tc>
                  <a:txBody>
                    <a:bodyPr/>
                    <a:lstStyle/>
                    <a:p>
                      <a:r>
                        <a:rPr sz="1500" b="0">
                          <a:solidFill>
                            <a:srgbClr val="112D3A"/>
                          </a:solidFill>
                          <a:latin typeface="Noto Sans CJK KR"/>
                          <a:ea typeface="Noto Sans CJK KR"/>
                          <a:cs typeface="Noto Sans CJK KR"/>
                        </a:rPr>
                        <a:t>자치구 표준화·정적 데이터 전처리·월별 통합 설계</a:t>
                      </a:r>
                    </a:p>
                  </a:txBody>
                  <a:tcPr marL="91440" marR="91440" marT="45720" marB="45720">
                    <a:solidFill>
                      <a:srgbClr val="F1F6F6"/>
                    </a:solidFill>
                  </a:tcPr>
                </a:tc>
              </a:tr>
              <a:tr h="500743">
                <a:tc>
                  <a:txBody>
                    <a:bodyPr/>
                    <a:lstStyle/>
                    <a:p>
                      <a:r>
                        <a:rPr sz="1500" b="0">
                          <a:solidFill>
                            <a:srgbClr val="112D3A"/>
                          </a:solidFill>
                          <a:latin typeface="Noto Sans CJK KR"/>
                          <a:ea typeface="Noto Sans CJK KR"/>
                          <a:cs typeface="Noto Sans CJK KR"/>
                        </a:rPr>
                        <a:t>02_119_ml_dataset.ipynb</a:t>
                      </a:r>
                    </a:p>
                  </a:txBody>
                  <a:tcPr marL="91440" marR="91440" marT="45720" marB="45720">
                    <a:solidFill>
                      <a:srgbClr val="FFFFFF"/>
                    </a:solidFill>
                  </a:tcPr>
                </a:tc>
                <a:tc>
                  <a:txBody>
                    <a:bodyPr/>
                    <a:lstStyle/>
                    <a:p>
                      <a:r>
                        <a:rPr sz="1500" b="0">
                          <a:solidFill>
                            <a:srgbClr val="112D3A"/>
                          </a:solidFill>
                          <a:latin typeface="Noto Sans CJK KR"/>
                          <a:ea typeface="Noto Sans CJK KR"/>
                          <a:cs typeface="Noto Sans CJK KR"/>
                        </a:rPr>
                        <a:t>데이터 규모·중복 제거·변수 선택·상관계수</a:t>
                      </a:r>
                    </a:p>
                  </a:txBody>
                  <a:tcPr marL="91440" marR="91440" marT="45720" marB="45720">
                    <a:solidFill>
                      <a:srgbClr val="FFFFFF"/>
                    </a:solidFill>
                  </a:tcPr>
                </a:tc>
              </a:tr>
              <a:tr h="500743">
                <a:tc>
                  <a:txBody>
                    <a:bodyPr/>
                    <a:lstStyle/>
                    <a:p>
                      <a:r>
                        <a:rPr sz="1500" b="0">
                          <a:solidFill>
                            <a:srgbClr val="112D3A"/>
                          </a:solidFill>
                          <a:latin typeface="Noto Sans CJK KR"/>
                          <a:ea typeface="Noto Sans CJK KR"/>
                          <a:cs typeface="Noto Sans CJK KR"/>
                        </a:rPr>
                        <a:t>03_이송건수_예측.ipynb</a:t>
                      </a:r>
                    </a:p>
                  </a:txBody>
                  <a:tcPr marL="91440" marR="91440" marT="45720" marB="45720">
                    <a:solidFill>
                      <a:srgbClr val="F1F6F6"/>
                    </a:solidFill>
                  </a:tcPr>
                </a:tc>
                <a:tc>
                  <a:txBody>
                    <a:bodyPr/>
                    <a:lstStyle/>
                    <a:p>
                      <a:r>
                        <a:rPr sz="1500" b="0">
                          <a:solidFill>
                            <a:srgbClr val="112D3A"/>
                          </a:solidFill>
                          <a:latin typeface="Noto Sans CJK KR"/>
                          <a:ea typeface="Noto Sans CJK KR"/>
                          <a:cs typeface="Noto Sans CJK KR"/>
                        </a:rPr>
                        <a:t>연간 이송건수 모델과 평가 코드</a:t>
                      </a:r>
                    </a:p>
                  </a:txBody>
                  <a:tcPr marL="91440" marR="91440" marT="45720" marB="45720">
                    <a:solidFill>
                      <a:srgbClr val="F1F6F6"/>
                    </a:solidFill>
                  </a:tcPr>
                </a:tc>
              </a:tr>
              <a:tr h="500743">
                <a:tc>
                  <a:txBody>
                    <a:bodyPr/>
                    <a:lstStyle/>
                    <a:p>
                      <a:r>
                        <a:rPr sz="1500" b="0">
                          <a:solidFill>
                            <a:srgbClr val="112D3A"/>
                          </a:solidFill>
                          <a:latin typeface="Noto Sans CJK KR"/>
                          <a:ea typeface="Noto Sans CJK KR"/>
                          <a:cs typeface="Noto Sans CJK KR"/>
                        </a:rPr>
                        <a:t>03_인구밀집_예측.ipynb</a:t>
                      </a:r>
                    </a:p>
                  </a:txBody>
                  <a:tcPr marL="91440" marR="91440" marT="45720" marB="45720">
                    <a:solidFill>
                      <a:srgbClr val="FFFFFF"/>
                    </a:solidFill>
                  </a:tcPr>
                </a:tc>
                <a:tc>
                  <a:txBody>
                    <a:bodyPr/>
                    <a:lstStyle/>
                    <a:p>
                      <a:r>
                        <a:rPr sz="1500" b="0">
                          <a:solidFill>
                            <a:srgbClr val="112D3A"/>
                          </a:solidFill>
                          <a:latin typeface="Noto Sans CJK KR"/>
                          <a:ea typeface="Noto Sans CJK KR"/>
                          <a:cs typeface="Noto Sans CJK KR"/>
                        </a:rPr>
                        <a:t>일 최대 생활인구 모델과 평가 코드</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ADEB5CD-8C05-4182-8B92-91272567D51A}"/>
              </a:ext>
            </a:extLst>
          </p:cNvPr>
          <p:cNvSpPr>
            <a:spLocks xmlns:a="http://schemas.openxmlformats.org/drawingml/2006/main" noGrp="1"/>
          </p:cNvSpPr>
          <p:nvPr/>
        </p:nvSpPr>
        <p:spPr>
          <a:xfrm xmlns:a="http://schemas.openxmlformats.org/drawingml/2006/main">
            <a:off x="666750" y="5934075"/>
            <a:ext cx="10144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4"/>
                </a:solidFill>
                <a:latin typeface="Noto Sans CJK KR"/>
                <a:ea typeface="Noto Sans CJK KR"/>
                <a:cs typeface="Noto Sans CJK KR"/>
              </a:defRPr>
            </a:pPr>
            <a:r>
              <a:rPr sz="1200" b="0">
                <a:solidFill>
                  <a:srgbClr val="536874"/>
                </a:solidFill>
                <a:latin typeface="Noto Sans CJK KR"/>
                <a:ea typeface="Noto Sans CJK KR"/>
                <a:cs typeface="Noto Sans CJK KR"/>
              </a:rPr>
              <a:t>원본 CSV·성능표는 미첨부. Notion 검색에서 관련 페이지를 찾지 못해 해당 내용은 미반영.</a:t>
            </a:r>
          </a:p>
        </p:txBody>
      </p:sp>
    </p:spTree>
    <p:extLst>
      <p:ext uri="{BB962C8B-B14F-4D97-AF65-F5344CB8AC3E}">
        <p14:creationId xmlns:p14="http://schemas.microsoft.com/office/powerpoint/2010/main" val="21223907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2026-09-28T07:46:32.2620000Z</dcterms:created>
  <dcterms:modified xsi:type="dcterms:W3CDTF">2026-09-28T07:46:32.2620000Z</dcterms:modified>
</coreProperties>
</file>