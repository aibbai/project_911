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1345" r:id="rId2"/>
    <p:sldId id="1343" r:id="rId3"/>
    <p:sldId id="1338" r:id="rId4"/>
    <p:sldId id="1339" r:id="rId5"/>
    <p:sldId id="1342" r:id="rId6"/>
    <p:sldId id="1347" r:id="rId7"/>
    <p:sldId id="1344" r:id="rId8"/>
    <p:sldId id="1346" r:id="rId9"/>
    <p:sldId id="1348" r:id="rId10"/>
    <p:sldId id="1349" r:id="rId11"/>
    <p:sldId id="1350" r:id="rId12"/>
    <p:sldId id="1351" r:id="rId13"/>
    <p:sldId id="1352" r:id="rId14"/>
    <p:sldId id="1353" r:id="rId15"/>
    <p:sldId id="1354" r:id="rId16"/>
    <p:sldId id="1357" r:id="rId17"/>
    <p:sldId id="1356" r:id="rId18"/>
    <p:sldId id="1355" r:id="rId19"/>
    <p:sldId id="1358" r:id="rId20"/>
    <p:sldId id="1359" r:id="rId21"/>
    <p:sldId id="1360" r:id="rId22"/>
    <p:sldId id="1361" r:id="rId23"/>
    <p:sldId id="1362" r:id="rId24"/>
    <p:sldId id="1363" r:id="rId25"/>
    <p:sldId id="1364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3" autoAdjust="0"/>
    <p:restoredTop sz="86870" autoAdjust="0"/>
  </p:normalViewPr>
  <p:slideViewPr>
    <p:cSldViewPr snapToGrid="0">
      <p:cViewPr varScale="1">
        <p:scale>
          <a:sx n="96" d="100"/>
          <a:sy n="96" d="100"/>
        </p:scale>
        <p:origin x="9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EBAF3-FDE6-FC4D-8FF7-94F71BB5CE42}" type="datetimeFigureOut">
              <a:t>2026-09-29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BDCBC-9A35-604A-A388-8D66AE1EB991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060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3119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21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174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6041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3081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7002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836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541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캡처 필요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648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0212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3909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202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1175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58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57483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33630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4540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9855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884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26892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40102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1007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29191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72656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86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92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47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05239" y="255853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lvl="0" indent="-514350" latinLnBrk="0">
              <a:buAutoNum type="arabicPeriod"/>
              <a:defRPr/>
            </a:pP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latinLnBrk="0">
              <a:defRPr/>
            </a:pP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</a:t>
            </a: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690534" y="3244334"/>
            <a:ext cx="4810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>
              <a:defRPr/>
            </a:pPr>
            <a:r>
              <a:rPr lang="ko-KR" altLang="en-US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구급 수요와 지역 특성을 파악하기 위한 자료 확보</a:t>
            </a:r>
          </a:p>
        </p:txBody>
      </p:sp>
    </p:spTree>
    <p:extLst>
      <p:ext uri="{BB962C8B-B14F-4D97-AF65-F5344CB8AC3E}">
        <p14:creationId xmlns:p14="http://schemas.microsoft.com/office/powerpoint/2010/main" val="2615354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1.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통한 데이터 수집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101" name="표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174118"/>
              </p:ext>
            </p:extLst>
          </p:nvPr>
        </p:nvGraphicFramePr>
        <p:xfrm>
          <a:off x="536196" y="2212552"/>
          <a:ext cx="10515600" cy="27889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389581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995790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556363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104596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수집 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출처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수집 방법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주요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프로젝트 활용 목적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확인 상태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85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b="1"/>
                        <a:t>119 </a:t>
                      </a:r>
                      <a:r>
                        <a:rPr lang="ko-KR" altLang="en-US" b="1"/>
                        <a:t>구급활동 통계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 err="1"/>
                        <a:t>소방청</a:t>
                      </a:r>
                      <a:r>
                        <a:rPr lang="ko-KR" altLang="en-US" b="1" dirty="0"/>
                        <a:t> </a:t>
                      </a:r>
                      <a:r>
                        <a:rPr lang="ko-KR" altLang="en-US" b="1" dirty="0" err="1"/>
                        <a:t>구급통계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API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 err="1"/>
                        <a:t>시도본부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 err="1"/>
                        <a:t>출동소방서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 err="1"/>
                        <a:t>접수년월을</a:t>
                      </a:r>
                      <a:r>
                        <a:rPr lang="ko-KR" altLang="en-US" dirty="0"/>
                        <a:t> 조건으로 조회하는 방식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접수년월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출동소방서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출동건수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이송건수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이송환자수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/>
                        <a:t>월별 이송 수요 예측의 기준 자료</a:t>
                      </a:r>
                      <a:r>
                        <a:rPr lang="en-US" altLang="ko-KR" b="1"/>
                        <a:t>.</a:t>
                      </a:r>
                      <a:r>
                        <a:rPr lang="ko-KR" altLang="en-US"/>
                        <a:t> 정제 데이터에서 당월 이송건수와 과거 출동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이송 변수를 확인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086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응급의료기관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실시간 가용병상 정보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국립중앙의료원 응급의료정보조회 </a:t>
                      </a:r>
                      <a:r>
                        <a:rPr lang="en-US" altLang="ko-KR" b="1" dirty="0"/>
                        <a:t>API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의료기관 정보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위치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실시간 가용병상 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응급의료시설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병상 현황 연계를 위한 자료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b="1" dirty="0"/>
                        <a:t>이번 압축파일에는 활용 가이드만 있어 실제 수집 결과는 확인되지 않음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3943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468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31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1.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CSV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파일로 확보한 데이터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640370"/>
              </p:ext>
            </p:extLst>
          </p:nvPr>
        </p:nvGraphicFramePr>
        <p:xfrm>
          <a:off x="0" y="2112264"/>
          <a:ext cx="12688084" cy="10477808"/>
        </p:xfrm>
        <a:graphic>
          <a:graphicData uri="http://schemas.openxmlformats.org/drawingml/2006/table">
            <a:tbl>
              <a:tblPr/>
              <a:tblGrid>
                <a:gridCol w="3172021">
                  <a:extLst>
                    <a:ext uri="{9D8B030D-6E8A-4147-A177-3AD203B41FA5}">
                      <a16:colId xmlns:a16="http://schemas.microsoft.com/office/drawing/2014/main" val="1843276295"/>
                    </a:ext>
                  </a:extLst>
                </a:gridCol>
                <a:gridCol w="3172021">
                  <a:extLst>
                    <a:ext uri="{9D8B030D-6E8A-4147-A177-3AD203B41FA5}">
                      <a16:colId xmlns:a16="http://schemas.microsoft.com/office/drawing/2014/main" val="3098581270"/>
                    </a:ext>
                  </a:extLst>
                </a:gridCol>
                <a:gridCol w="3172021">
                  <a:extLst>
                    <a:ext uri="{9D8B030D-6E8A-4147-A177-3AD203B41FA5}">
                      <a16:colId xmlns:a16="http://schemas.microsoft.com/office/drawing/2014/main" val="2154238130"/>
                    </a:ext>
                  </a:extLst>
                </a:gridCol>
                <a:gridCol w="3172021">
                  <a:extLst>
                    <a:ext uri="{9D8B030D-6E8A-4147-A177-3AD203B41FA5}">
                      <a16:colId xmlns:a16="http://schemas.microsoft.com/office/drawing/2014/main" val="1563800183"/>
                    </a:ext>
                  </a:extLst>
                </a:gridCol>
              </a:tblGrid>
              <a:tr h="298886">
                <a:tc>
                  <a:txBody>
                    <a:bodyPr/>
                    <a:lstStyle/>
                    <a:p>
                      <a:r>
                        <a:rPr lang="ko-KR" altLang="en-US" sz="2000"/>
                        <a:t>원본 데이터 파일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출처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데이터 범위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주요 컬럼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정보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프로젝트 활용 목적 및 정제 자료와의 연결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61029"/>
                  </a:ext>
                </a:extLst>
              </a:tr>
              <a:tr h="849319">
                <a:tc>
                  <a:txBody>
                    <a:bodyPr/>
                    <a:lstStyle/>
                    <a:p>
                      <a:r>
                        <a:rPr lang="ko-KR" altLang="en-US" sz="2000" b="1" dirty="0" err="1"/>
                        <a:t>자치구단위</a:t>
                      </a:r>
                      <a:r>
                        <a:rPr lang="ko-KR" altLang="en-US" sz="2000" b="1" dirty="0"/>
                        <a:t> 서울생활인구 일별 집계표</a:t>
                      </a:r>
                      <a:r>
                        <a:rPr lang="en-US" altLang="ko-KR" sz="2000" b="1" dirty="0"/>
                        <a:t>.csv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서울시 </a:t>
                      </a:r>
                      <a:r>
                        <a:rPr lang="ko-KR" altLang="en-US" sz="2000" dirty="0" err="1"/>
                        <a:t>생활인구</a:t>
                      </a:r>
                      <a:r>
                        <a:rPr lang="ko-KR" altLang="en-US" sz="2000" dirty="0"/>
                        <a:t> 자료</a:t>
                      </a:r>
                      <a:r>
                        <a:rPr lang="en-US" altLang="ko-KR" sz="2000" dirty="0"/>
                        <a:t>. 2018</a:t>
                      </a:r>
                      <a:r>
                        <a:rPr lang="ko-KR" altLang="en-US" sz="2000" dirty="0"/>
                        <a:t>년 </a:t>
                      </a:r>
                      <a:r>
                        <a:rPr lang="en-US" altLang="ko-KR" sz="2000" dirty="0"/>
                        <a:t>4</a:t>
                      </a:r>
                      <a:r>
                        <a:rPr lang="ko-KR" altLang="en-US" sz="2000" dirty="0"/>
                        <a:t>월</a:t>
                      </a:r>
                      <a:r>
                        <a:rPr lang="en-US" altLang="ko-KR" sz="2000" dirty="0"/>
                        <a:t>~2026</a:t>
                      </a:r>
                      <a:r>
                        <a:rPr lang="ko-KR" altLang="en-US" sz="2000" dirty="0"/>
                        <a:t>년 </a:t>
                      </a:r>
                      <a:r>
                        <a:rPr lang="en-US" altLang="ko-KR" sz="2000" dirty="0"/>
                        <a:t>7</a:t>
                      </a:r>
                      <a:r>
                        <a:rPr lang="ko-KR" altLang="en-US" sz="2000" dirty="0"/>
                        <a:t>월</a:t>
                      </a:r>
                      <a:endParaRPr lang="en-US" altLang="ko-KR" sz="2000" dirty="0"/>
                    </a:p>
                    <a:p>
                      <a:r>
                        <a:rPr lang="ko-KR" altLang="ko-KR" sz="2000" dirty="0" err="1"/>
                        <a:t>서울열린데이터광장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기준일</a:t>
                      </a:r>
                      <a:r>
                        <a:rPr lang="en-US" altLang="ko-KR" sz="2000"/>
                        <a:t>ID, </a:t>
                      </a:r>
                      <a:r>
                        <a:rPr lang="ko-KR" altLang="en-US" sz="2000"/>
                        <a:t>시군구코드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명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총생활인구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주간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야간인구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일최대인구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유입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이동인구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b="1"/>
                        <a:t>생활인구와 이송 수요의 관계 분석 및 인구 예측</a:t>
                      </a:r>
                      <a:r>
                        <a:rPr lang="en-US" altLang="ko-KR" sz="2000" b="1"/>
                        <a:t>.</a:t>
                      </a:r>
                      <a:r>
                        <a:rPr lang="ko-KR" altLang="en-US" sz="2000"/>
                        <a:t> 이송 정제표의 전월 인구 변수와 </a:t>
                      </a:r>
                      <a:r>
                        <a:rPr lang="en-US" altLang="ko-KR" sz="2000"/>
                        <a:t>population_dataset.csv</a:t>
                      </a:r>
                      <a:r>
                        <a:rPr lang="ko-KR" altLang="en-US" sz="2000"/>
                        <a:t>의 일별 인구 변수로 연결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78871"/>
                  </a:ext>
                </a:extLst>
              </a:tr>
              <a:tr h="711711">
                <a:tc>
                  <a:txBody>
                    <a:bodyPr/>
                    <a:lstStyle/>
                    <a:p>
                      <a:r>
                        <a:rPr lang="en-US" altLang="ko-KR" sz="2000" b="1" dirty="0"/>
                        <a:t>119+</a:t>
                      </a:r>
                      <a:r>
                        <a:rPr lang="ko-KR" altLang="en-US" sz="2000" b="1" dirty="0"/>
                        <a:t>구조활동</a:t>
                      </a:r>
                      <a:r>
                        <a:rPr lang="en-US" altLang="ko-KR" sz="2000" b="1" dirty="0"/>
                        <a:t>+</a:t>
                      </a:r>
                      <a:r>
                        <a:rPr lang="ko-KR" altLang="en-US" sz="2000" b="1" dirty="0"/>
                        <a:t>실적</a:t>
                      </a:r>
                      <a:r>
                        <a:rPr lang="en-US" altLang="ko-KR" sz="2000" b="1" dirty="0"/>
                        <a:t>(</a:t>
                      </a:r>
                      <a:r>
                        <a:rPr lang="ko-KR" altLang="en-US" sz="2000" b="1" dirty="0"/>
                        <a:t>구별</a:t>
                      </a:r>
                      <a:r>
                        <a:rPr lang="en-US" altLang="ko-KR" sz="2000" b="1" dirty="0"/>
                        <a:t>)_20260921153018.csv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서울시 구별 구조활동 통계</a:t>
                      </a:r>
                      <a:r>
                        <a:rPr lang="en-US" altLang="ko-KR" sz="2000" dirty="0"/>
                        <a:t>. 2006~2025</a:t>
                      </a:r>
                      <a:r>
                        <a:rPr lang="ko-KR" altLang="en-US" sz="2000" dirty="0"/>
                        <a:t>년</a:t>
                      </a:r>
                      <a:endParaRPr lang="en-US" altLang="ko-KR" sz="2000" dirty="0"/>
                    </a:p>
                    <a:p>
                      <a:r>
                        <a:rPr lang="ko-KR" altLang="ko-KR" sz="2000" dirty="0" err="1"/>
                        <a:t>서울열린데이터광장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자치구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연도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구조 출동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처리 건수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사고종별 구조인원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b="1"/>
                        <a:t>지역별 사고 특성을 설명하는 자료</a:t>
                      </a:r>
                      <a:r>
                        <a:rPr lang="en-US" altLang="ko-KR" sz="2000" b="1"/>
                        <a:t>.</a:t>
                      </a:r>
                      <a:r>
                        <a:rPr lang="ko-KR" altLang="en-US" sz="2000"/>
                        <a:t> 정제표에서 전년도 인명갇힘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승강기사고 등 원인별 변수 확인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368482"/>
                  </a:ext>
                </a:extLst>
              </a:tr>
              <a:tr h="574102">
                <a:tc>
                  <a:txBody>
                    <a:bodyPr/>
                    <a:lstStyle/>
                    <a:p>
                      <a:r>
                        <a:rPr lang="en-US" altLang="ko-KR" sz="2000" b="1" dirty="0"/>
                        <a:t>119+</a:t>
                      </a:r>
                      <a:r>
                        <a:rPr lang="ko-KR" altLang="en-US" sz="2000" b="1" dirty="0"/>
                        <a:t>구조활동</a:t>
                      </a:r>
                      <a:r>
                        <a:rPr lang="en-US" altLang="ko-KR" sz="2000" b="1" dirty="0"/>
                        <a:t>+</a:t>
                      </a:r>
                      <a:r>
                        <a:rPr lang="ko-KR" altLang="en-US" sz="2000" b="1" dirty="0"/>
                        <a:t>실적</a:t>
                      </a:r>
                      <a:r>
                        <a:rPr lang="en-US" altLang="ko-KR" sz="2000" b="1" dirty="0"/>
                        <a:t>(</a:t>
                      </a:r>
                      <a:r>
                        <a:rPr lang="ko-KR" altLang="en-US" sz="2000" b="1" dirty="0"/>
                        <a:t>구별</a:t>
                      </a:r>
                      <a:r>
                        <a:rPr lang="en-US" altLang="ko-KR" sz="2000" b="1" dirty="0"/>
                        <a:t>)_20260921161458.csv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같은 제목의 별도 </a:t>
                      </a:r>
                      <a:r>
                        <a:rPr lang="ko-KR" altLang="en-US" sz="2000" dirty="0" err="1"/>
                        <a:t>추출본</a:t>
                      </a:r>
                      <a:r>
                        <a:rPr lang="en-US" altLang="ko-KR" sz="2000" dirty="0"/>
                        <a:t>. </a:t>
                      </a:r>
                      <a:r>
                        <a:rPr lang="ko-KR" altLang="en-US" sz="2000" dirty="0"/>
                        <a:t>위 파일과 포함 지표</a:t>
                      </a:r>
                      <a:r>
                        <a:rPr lang="en-US" altLang="ko-KR" sz="2000" dirty="0"/>
                        <a:t>·</a:t>
                      </a:r>
                      <a:r>
                        <a:rPr lang="ko-KR" altLang="en-US" sz="2000" dirty="0"/>
                        <a:t>행 범위가 다름</a:t>
                      </a:r>
                      <a:endParaRPr lang="en-US" altLang="ko-KR" sz="2000" dirty="0"/>
                    </a:p>
                    <a:p>
                      <a:r>
                        <a:rPr lang="ko-KR" altLang="ko-KR" sz="2000" dirty="0" err="1"/>
                        <a:t>서울열린데이터광장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자치구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연도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구조활동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사고종별 구조인원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위 구조 자료와 같은 목적</a:t>
                      </a:r>
                      <a:r>
                        <a:rPr lang="en-US" altLang="ko-KR" sz="2000"/>
                        <a:t>. </a:t>
                      </a:r>
                      <a:r>
                        <a:rPr lang="ko-KR" altLang="en-US" sz="2000" b="1"/>
                        <a:t>두 원본 중 실제 사용한 파일 또는 병합 여부는 선행 코드 확인 필요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75093"/>
                  </a:ext>
                </a:extLst>
              </a:tr>
              <a:tr h="711711">
                <a:tc>
                  <a:txBody>
                    <a:bodyPr/>
                    <a:lstStyle/>
                    <a:p>
                      <a:r>
                        <a:rPr lang="en-US" altLang="ko-KR" sz="2000" b="1"/>
                        <a:t>119+</a:t>
                      </a:r>
                      <a:r>
                        <a:rPr lang="ko-KR" altLang="en-US" sz="2000" b="1"/>
                        <a:t>구급활동</a:t>
                      </a:r>
                      <a:r>
                        <a:rPr lang="en-US" altLang="ko-KR" sz="2000" b="1"/>
                        <a:t>+</a:t>
                      </a:r>
                      <a:r>
                        <a:rPr lang="ko-KR" altLang="en-US" sz="2000" b="1"/>
                        <a:t>실적</a:t>
                      </a:r>
                      <a:r>
                        <a:rPr lang="en-US" altLang="ko-KR" sz="2000" b="1"/>
                        <a:t>(</a:t>
                      </a:r>
                      <a:r>
                        <a:rPr lang="ko-KR" altLang="en-US" sz="2000" b="1"/>
                        <a:t>소방서별</a:t>
                      </a:r>
                      <a:r>
                        <a:rPr lang="en-US" altLang="ko-KR" sz="2000" b="1"/>
                        <a:t>)_20260921151015.csv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서울 </a:t>
                      </a:r>
                      <a:r>
                        <a:rPr lang="ko-KR" altLang="en-US" sz="2000" dirty="0" err="1"/>
                        <a:t>소방서별</a:t>
                      </a:r>
                      <a:r>
                        <a:rPr lang="ko-KR" altLang="en-US" sz="2000" dirty="0"/>
                        <a:t> 연간 통계</a:t>
                      </a:r>
                      <a:r>
                        <a:rPr lang="en-US" altLang="ko-KR" sz="2000" dirty="0"/>
                        <a:t>. 2005~2025</a:t>
                      </a:r>
                      <a:r>
                        <a:rPr lang="ko-KR" altLang="en-US" sz="2000" dirty="0"/>
                        <a:t>년</a:t>
                      </a:r>
                      <a:endParaRPr lang="en-US" altLang="ko-KR" sz="2000" dirty="0"/>
                    </a:p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2000" dirty="0" err="1"/>
                        <a:t>서울열린데이터광장</a:t>
                      </a:r>
                      <a:endParaRPr lang="ko-KR" altLang="en-US" sz="2000"/>
                    </a:p>
                    <a:p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소방서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출동건수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이송건수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이송인원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환자유형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소방서별 장기 구급활동 현황 파악용 자료</a:t>
                      </a:r>
                      <a:r>
                        <a:rPr lang="en-US" altLang="ko-KR" sz="2000"/>
                        <a:t>. </a:t>
                      </a:r>
                      <a:r>
                        <a:rPr lang="ko-KR" altLang="en-US" sz="2000"/>
                        <a:t>첨부 노트북에서는 </a:t>
                      </a:r>
                      <a:r>
                        <a:rPr lang="ko-KR" altLang="en-US" sz="2000" b="1"/>
                        <a:t>연 단위 자료를 월별 이송 정답에서 제외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76224"/>
                  </a:ext>
                </a:extLst>
              </a:tr>
              <a:tr h="574102">
                <a:tc>
                  <a:txBody>
                    <a:bodyPr/>
                    <a:lstStyle/>
                    <a:p>
                      <a:r>
                        <a:rPr lang="ko-KR" altLang="en-US" sz="2000" b="1"/>
                        <a:t>소방청</a:t>
                      </a:r>
                      <a:r>
                        <a:rPr lang="en-US" altLang="ko-KR" sz="2000" b="1"/>
                        <a:t>_</a:t>
                      </a:r>
                      <a:r>
                        <a:rPr lang="ko-KR" altLang="en-US" sz="2000" b="1"/>
                        <a:t>본부별 구급활동정보</a:t>
                      </a:r>
                      <a:r>
                        <a:rPr lang="en-US" altLang="ko-KR" sz="2000" b="1"/>
                        <a:t>_20201231.csv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 err="1"/>
                        <a:t>소방청</a:t>
                      </a:r>
                      <a:r>
                        <a:rPr lang="en-US" altLang="ko-KR" sz="2000" dirty="0"/>
                        <a:t>, 2020</a:t>
                      </a:r>
                      <a:r>
                        <a:rPr lang="ko-KR" altLang="en-US" sz="2000" dirty="0"/>
                        <a:t>년 본부별 월간 통계</a:t>
                      </a:r>
                      <a:endParaRPr lang="en-US" altLang="ko-KR" sz="2000" dirty="0"/>
                    </a:p>
                    <a:p>
                      <a:r>
                        <a:rPr lang="ko-KR" altLang="ko-KR" sz="2000" b="1" dirty="0" err="1"/>
                        <a:t>공공데이터포털</a:t>
                      </a:r>
                      <a:r>
                        <a:rPr lang="ko-KR" altLang="ko-KR" sz="2000" dirty="0"/>
                        <a:t> 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년도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월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본부구분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출동건수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이송건수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이송환자수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본부 단위 구급활동 규모를 확인하는 자료</a:t>
                      </a:r>
                      <a:r>
                        <a:rPr lang="en-US" altLang="ko-KR" sz="2000"/>
                        <a:t>. </a:t>
                      </a:r>
                      <a:r>
                        <a:rPr lang="ko-KR" altLang="en-US" sz="2000"/>
                        <a:t>자치구 단위 학습 정답에는 직접 사용하지 않음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121756"/>
                  </a:ext>
                </a:extLst>
              </a:tr>
              <a:tr h="436494">
                <a:tc>
                  <a:txBody>
                    <a:bodyPr/>
                    <a:lstStyle/>
                    <a:p>
                      <a:r>
                        <a:rPr lang="ko-KR" altLang="en-US" sz="2000" b="1"/>
                        <a:t>소방청</a:t>
                      </a:r>
                      <a:r>
                        <a:rPr lang="en-US" altLang="ko-KR" sz="2000" b="1"/>
                        <a:t>_</a:t>
                      </a:r>
                      <a:r>
                        <a:rPr lang="ko-KR" altLang="en-US" sz="2000" b="1"/>
                        <a:t>본부별 구급활동정보</a:t>
                      </a:r>
                      <a:r>
                        <a:rPr lang="en-US" altLang="ko-KR" sz="2000" b="1"/>
                        <a:t>_20231231.csv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 err="1"/>
                        <a:t>소방청</a:t>
                      </a:r>
                      <a:r>
                        <a:rPr lang="en-US" altLang="ko-KR" sz="2000" dirty="0"/>
                        <a:t>, 2020~2023</a:t>
                      </a:r>
                      <a:r>
                        <a:rPr lang="ko-KR" altLang="en-US" sz="2000" dirty="0"/>
                        <a:t>년 본부별 월간 통계</a:t>
                      </a:r>
                      <a:endParaRPr lang="en-US" altLang="ko-KR" sz="2000" dirty="0"/>
                    </a:p>
                    <a:p>
                      <a:r>
                        <a:rPr lang="ko-KR" altLang="ko-KR" sz="2000" b="1" dirty="0" err="1"/>
                        <a:t>공공데이터포털</a:t>
                      </a:r>
                      <a:r>
                        <a:rPr lang="ko-KR" altLang="ko-KR" sz="2000" dirty="0"/>
                        <a:t> 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위 파일과 같은 </a:t>
                      </a:r>
                      <a:r>
                        <a:rPr lang="en-US" altLang="ko-KR" sz="2000"/>
                        <a:t>6</a:t>
                      </a:r>
                      <a:r>
                        <a:rPr lang="ko-KR" altLang="en-US" sz="2000"/>
                        <a:t>개 컬럼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같은 목적의 확대 기간 자료</a:t>
                      </a:r>
                      <a:r>
                        <a:rPr lang="en-US" altLang="ko-KR" sz="2000"/>
                        <a:t>. </a:t>
                      </a:r>
                      <a:r>
                        <a:rPr lang="en-US" altLang="ko-KR" sz="2000" b="1"/>
                        <a:t>2020 </a:t>
                      </a:r>
                      <a:r>
                        <a:rPr lang="ko-KR" altLang="en-US" sz="2000" b="1"/>
                        <a:t>파일의 </a:t>
                      </a:r>
                      <a:r>
                        <a:rPr lang="en-US" altLang="ko-KR" sz="2000" b="1"/>
                        <a:t>228</a:t>
                      </a:r>
                      <a:r>
                        <a:rPr lang="ko-KR" altLang="en-US" sz="2000" b="1"/>
                        <a:t>행이 이 파일에 동일하게 포함됨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698003"/>
                  </a:ext>
                </a:extLst>
              </a:tr>
              <a:tr h="574102">
                <a:tc>
                  <a:txBody>
                    <a:bodyPr/>
                    <a:lstStyle/>
                    <a:p>
                      <a:r>
                        <a:rPr lang="ko-KR" altLang="en-US" sz="2000" b="1"/>
                        <a:t>서울소방서 </a:t>
                      </a:r>
                      <a:r>
                        <a:rPr lang="en-US" altLang="ko-KR" sz="2000" b="1"/>
                        <a:t>119</a:t>
                      </a:r>
                      <a:r>
                        <a:rPr lang="ko-KR" altLang="en-US" sz="2000" b="1"/>
                        <a:t>안전센터 현황</a:t>
                      </a:r>
                      <a:r>
                        <a:rPr lang="en-US" altLang="ko-KR" sz="2000" b="1"/>
                        <a:t>.csv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서울 소방서</a:t>
                      </a:r>
                      <a:r>
                        <a:rPr lang="en-US" altLang="ko-KR" sz="2000" dirty="0"/>
                        <a:t>·</a:t>
                      </a:r>
                      <a:r>
                        <a:rPr lang="ko-KR" altLang="en-US" sz="2000" dirty="0"/>
                        <a:t>안전센터 현황</a:t>
                      </a:r>
                      <a:r>
                        <a:rPr lang="en-US" altLang="ko-KR" sz="2000" dirty="0"/>
                        <a:t>, 119</a:t>
                      </a:r>
                      <a:r>
                        <a:rPr lang="ko-KR" altLang="en-US" sz="2000" dirty="0"/>
                        <a:t>개 행</a:t>
                      </a:r>
                      <a:endParaRPr lang="en-US" altLang="ko-KR" sz="2000" dirty="0"/>
                    </a:p>
                    <a:p>
                      <a:r>
                        <a:rPr lang="ko-KR" altLang="ko-KR" sz="2000" b="1" dirty="0" err="1"/>
                        <a:t>공공데이터포털</a:t>
                      </a:r>
                      <a:r>
                        <a:rPr lang="ko-KR" altLang="ko-KR" sz="2000" dirty="0"/>
                        <a:t> 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서별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명칭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위치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관할구역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전화번호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팩스번호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시설 위치와 관할구역을 확인하는 참고 자료</a:t>
                      </a:r>
                      <a:r>
                        <a:rPr lang="en-US" altLang="ko-KR" sz="2000" dirty="0"/>
                        <a:t>. </a:t>
                      </a:r>
                      <a:r>
                        <a:rPr lang="ko-KR" altLang="en-US" sz="2000" b="1" dirty="0"/>
                        <a:t>첨부 학습 데이터에 반영된 변수는 확인되지 않음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488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82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31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1.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Excel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파일로 확보한 데이터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503120"/>
              </p:ext>
            </p:extLst>
          </p:nvPr>
        </p:nvGraphicFramePr>
        <p:xfrm>
          <a:off x="551180" y="2576424"/>
          <a:ext cx="10515600" cy="30175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9108994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591223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06188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원본 데이터 파일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데이터 범위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주요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프로젝트 활용 목적 및 정제 자료와의 연결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5280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서울시 소방 구급 출동 현황</a:t>
                      </a:r>
                      <a:r>
                        <a:rPr lang="en-US" altLang="ko-KR" b="1"/>
                        <a:t>(2022_2024).xlsx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2022~2024</a:t>
                      </a:r>
                      <a:r>
                        <a:rPr lang="ko-KR" altLang="en-US"/>
                        <a:t>년 연도별 시트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구분</a:t>
                      </a:r>
                      <a:r>
                        <a:rPr lang="en-US" altLang="ko-KR"/>
                        <a:t>, 1</a:t>
                      </a:r>
                      <a:r>
                        <a:rPr lang="ko-KR" altLang="en-US"/>
                        <a:t>월</a:t>
                      </a:r>
                      <a:r>
                        <a:rPr lang="en-US" altLang="ko-KR"/>
                        <a:t>~12</a:t>
                      </a:r>
                      <a:r>
                        <a:rPr lang="ko-KR" altLang="en-US"/>
                        <a:t>월 출동건수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동 단위 행이 함께 존재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지역별 월간 출동 현황 확인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첨부 노트북에서는 </a:t>
                      </a:r>
                      <a:r>
                        <a:rPr lang="ko-KR" altLang="en-US" b="1"/>
                        <a:t>이송건수가 없고 </a:t>
                      </a:r>
                      <a:r>
                        <a:rPr lang="en-US" altLang="ko-KR" b="1"/>
                        <a:t>API </a:t>
                      </a:r>
                      <a:r>
                        <a:rPr lang="ko-KR" altLang="en-US" b="1"/>
                        <a:t>자료와 기간이 겹쳐 월별 이송 학습 기준에서 제외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50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의료이용</a:t>
                      </a:r>
                      <a:r>
                        <a:rPr lang="en-US" altLang="ko-KR" b="1"/>
                        <a:t>+</a:t>
                      </a:r>
                      <a:r>
                        <a:rPr lang="ko-KR" altLang="en-US" b="1"/>
                        <a:t>유출입</a:t>
                      </a:r>
                      <a:r>
                        <a:rPr lang="en-US" altLang="ko-KR" b="1"/>
                        <a:t>+</a:t>
                      </a:r>
                      <a:r>
                        <a:rPr lang="ko-KR" altLang="en-US" b="1"/>
                        <a:t>데이터</a:t>
                      </a:r>
                      <a:r>
                        <a:rPr lang="en-US" altLang="ko-KR" b="1"/>
                        <a:t>_2019-2024_260604 (1).xlsx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2019~2024</a:t>
                      </a:r>
                      <a:r>
                        <a:rPr lang="ko-KR" altLang="en-US"/>
                        <a:t>년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환자 주소지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의료기관 소재지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입원 연인원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의료기관 종별 지표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지역 간 의료이용 흐름을 설명하는 후보 자료</a:t>
                      </a:r>
                      <a:r>
                        <a:rPr lang="en-US" altLang="ko-KR" b="1" dirty="0"/>
                        <a:t>.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정제표에서</a:t>
                      </a:r>
                      <a:r>
                        <a:rPr lang="ko-KR" altLang="en-US" dirty="0"/>
                        <a:t> 전년도 </a:t>
                      </a:r>
                      <a:r>
                        <a:rPr lang="ko-KR" altLang="en-US" dirty="0" err="1"/>
                        <a:t>유출률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 err="1"/>
                        <a:t>유입률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입원 연인원 등을 확인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다만 최종 변수 선택에서는 해당 의료이용 변수들이 </a:t>
                      </a:r>
                      <a:r>
                        <a:rPr lang="ko-KR" altLang="en-US" dirty="0" err="1"/>
                        <a:t>결측률</a:t>
                      </a:r>
                      <a:r>
                        <a:rPr lang="ko-KR" altLang="en-US" dirty="0"/>
                        <a:t> 기준으로 제외됨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441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9047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1.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graphicFrame>
        <p:nvGraphicFramePr>
          <p:cNvPr id="104" name="표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06661"/>
              </p:ext>
            </p:extLst>
          </p:nvPr>
        </p:nvGraphicFramePr>
        <p:xfrm>
          <a:off x="838047" y="1402080"/>
          <a:ext cx="10515600" cy="563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410816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162954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065788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38062911"/>
                    </a:ext>
                  </a:extLst>
                </a:gridCol>
              </a:tblGrid>
              <a:tr h="429039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분류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주요 수집 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수집 방법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프로젝트 활용 목적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335559"/>
                  </a:ext>
                </a:extLst>
              </a:tr>
              <a:tr h="1041952">
                <a:tc>
                  <a:txBody>
                    <a:bodyPr/>
                    <a:lstStyle/>
                    <a:p>
                      <a:r>
                        <a:rPr lang="ko-KR" altLang="en-US" b="1"/>
                        <a:t>① 구급활동 데이터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출동건수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이송건수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이송환자수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지역별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월별 실적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/>
                        <a:t>소방청 공공 </a:t>
                      </a:r>
                      <a:r>
                        <a:rPr lang="en-US" b="1"/>
                        <a:t>API</a:t>
                      </a:r>
                      <a:r>
                        <a:rPr lang="en-US"/>
                        <a:t>, CSV·Excel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과거 구급 수요 파악</a:t>
                      </a:r>
                      <a:r>
                        <a:rPr lang="en-US" altLang="ko-KR"/>
                        <a:t>. </a:t>
                      </a:r>
                      <a:r>
                        <a:rPr lang="en-US" altLang="ko-KR" b="1"/>
                        <a:t>API</a:t>
                      </a:r>
                      <a:r>
                        <a:rPr lang="ko-KR" altLang="en-US" b="1"/>
                        <a:t>의 월별 이송건수를 예측 대상과 과거 수요 변수로 활용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6031938"/>
                  </a:ext>
                </a:extLst>
              </a:tr>
              <a:tr h="735496"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② 생활인구 데이터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총생활인구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주간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야간인구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일최대인구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유입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이동인구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CSV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생활인구와 이송 수요의 관계 분석 및 </a:t>
                      </a:r>
                      <a:r>
                        <a:rPr lang="ko-KR" altLang="en-US" b="1"/>
                        <a:t>일최대인구 예측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4881709"/>
                  </a:ext>
                </a:extLst>
              </a:tr>
              <a:tr h="1041952"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③ 구조</a:t>
                      </a:r>
                      <a:r>
                        <a:rPr lang="en-US" altLang="ko-KR" b="1" dirty="0"/>
                        <a:t>·</a:t>
                      </a:r>
                      <a:r>
                        <a:rPr lang="ko-KR" altLang="en-US" b="1" dirty="0"/>
                        <a:t>사고 특성 데이터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화재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교통사고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승강기사고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인명갇힘 등 사고원인별 구조인원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CSV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지역별 사고 특성을 설명하는 자료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 b="1"/>
                        <a:t>전년도 구조 실적을 이송 예측 후보 변수로 활용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0255558"/>
                  </a:ext>
                </a:extLst>
              </a:tr>
              <a:tr h="1041952">
                <a:tc>
                  <a:txBody>
                    <a:bodyPr/>
                    <a:lstStyle/>
                    <a:p>
                      <a:r>
                        <a:rPr lang="ko-KR" altLang="en-US" b="1"/>
                        <a:t>④ 의료이용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유출입 데이터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환자 주소지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의료기관 소재지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입원 연인원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지역 간 의료이용 흐름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Excel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지역의 의료이용 수요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공급 특성을 설명하는 후보 자료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714517"/>
                  </a:ext>
                </a:extLst>
              </a:tr>
              <a:tr h="1348409">
                <a:tc>
                  <a:txBody>
                    <a:bodyPr/>
                    <a:lstStyle/>
                    <a:p>
                      <a:r>
                        <a:rPr lang="ko-KR" altLang="en-US" b="1"/>
                        <a:t>⑤ 응급 대응 시설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병상 데이터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소방서</a:t>
                      </a:r>
                      <a:r>
                        <a:rPr lang="en-US" altLang="ko-KR"/>
                        <a:t>·119</a:t>
                      </a:r>
                      <a:r>
                        <a:rPr lang="ko-KR" altLang="en-US"/>
                        <a:t>안전센터 위치와 관할구역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응급의료기관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가용병상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/>
                        <a:t>CSV / </a:t>
                      </a:r>
                      <a:r>
                        <a:rPr lang="ko-KR" altLang="en-US" b="1"/>
                        <a:t>공공 </a:t>
                      </a:r>
                      <a:r>
                        <a:rPr lang="en-US" altLang="ko-KR" b="1"/>
                        <a:t>API </a:t>
                      </a:r>
                      <a:r>
                        <a:rPr lang="ko-KR" altLang="en-US" b="1"/>
                        <a:t>연계 자료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대응 시설과 병상 현황 확인을 위한 자료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b="1" dirty="0"/>
                        <a:t>수요 </a:t>
                      </a:r>
                      <a:r>
                        <a:rPr lang="ko-KR" altLang="en-US" b="1" dirty="0" err="1"/>
                        <a:t>예측용</a:t>
                      </a:r>
                      <a:r>
                        <a:rPr lang="ko-KR" altLang="en-US" b="1" dirty="0"/>
                        <a:t> 데이터와 활용 목적을 구분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9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947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1.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106794"/>
              </p:ext>
            </p:extLst>
          </p:nvPr>
        </p:nvGraphicFramePr>
        <p:xfrm>
          <a:off x="457200" y="1825626"/>
          <a:ext cx="11506200" cy="4714136"/>
        </p:xfrm>
        <a:graphic>
          <a:graphicData uri="http://schemas.openxmlformats.org/drawingml/2006/table">
            <a:tbl>
              <a:tblPr/>
              <a:tblGrid>
                <a:gridCol w="2301240">
                  <a:extLst>
                    <a:ext uri="{9D8B030D-6E8A-4147-A177-3AD203B41FA5}">
                      <a16:colId xmlns:a16="http://schemas.microsoft.com/office/drawing/2014/main" val="3152019993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2066252793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3557294957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1725091965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4160614698"/>
                    </a:ext>
                  </a:extLst>
                </a:gridCol>
              </a:tblGrid>
              <a:tr h="265056">
                <a:tc>
                  <a:txBody>
                    <a:bodyPr/>
                    <a:lstStyle/>
                    <a:p>
                      <a:r>
                        <a:rPr lang="ko-KR" altLang="en-US" sz="1050"/>
                        <a:t>데이터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원본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출처 </a:t>
                      </a:r>
                      <a:r>
                        <a:rPr lang="en-US" altLang="ko-KR" sz="1050" dirty="0"/>
                        <a:t>· </a:t>
                      </a:r>
                      <a:r>
                        <a:rPr lang="ko-KR" altLang="en-US" sz="1050" dirty="0"/>
                        <a:t>수집 방법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담고 있는 정보 </a:t>
                      </a:r>
                      <a:r>
                        <a:rPr lang="en-US" altLang="ko-KR" sz="1050"/>
                        <a:t>· </a:t>
                      </a:r>
                      <a:r>
                        <a:rPr lang="ko-KR" altLang="en-US" sz="1050"/>
                        <a:t>주요 컬럼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활용 목적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4109730"/>
                  </a:ext>
                </a:extLst>
              </a:tr>
              <a:tr h="485936">
                <a:tc>
                  <a:txBody>
                    <a:bodyPr/>
                    <a:lstStyle/>
                    <a:p>
                      <a:r>
                        <a:rPr lang="ko-KR" altLang="en-US" sz="1050" dirty="0" err="1"/>
                        <a:t>소방청</a:t>
                      </a:r>
                      <a:r>
                        <a:rPr lang="ko-KR" altLang="en-US" sz="1050" dirty="0"/>
                        <a:t> 구급통계서비스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공공데이터포털 </a:t>
                      </a:r>
                      <a:r>
                        <a:rPr lang="en-US" sz="1050" b="1" dirty="0" err="1"/>
                        <a:t>OpenAPI</a:t>
                      </a:r>
                      <a:r>
                        <a:rPr lang="en-US" sz="1050" dirty="0"/>
                        <a:t> (</a:t>
                      </a:r>
                      <a:r>
                        <a:rPr lang="en-US" sz="1050" dirty="0" err="1"/>
                        <a:t>EmergencyStatisticsService</a:t>
                      </a:r>
                      <a:r>
                        <a:rPr lang="en-US" sz="1050" dirty="0"/>
                        <a:t>, </a:t>
                      </a:r>
                      <a:r>
                        <a:rPr lang="ko-KR" altLang="en-US" sz="1050" dirty="0"/>
                        <a:t>인증키 방식</a:t>
                      </a:r>
                      <a:r>
                        <a:rPr lang="en-US" altLang="ko-KR" sz="1050" dirty="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출동소방서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접수년월별 출동건수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이송건수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이송인원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1" dirty="0"/>
                        <a:t>이송 건수 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3013703"/>
                  </a:ext>
                </a:extLst>
              </a:tr>
              <a:tr h="596376">
                <a:tc>
                  <a:txBody>
                    <a:bodyPr/>
                    <a:lstStyle/>
                    <a:p>
                      <a:r>
                        <a:rPr lang="ko-KR" altLang="en-US" sz="1050" dirty="0" err="1"/>
                        <a:t>자치구단위</a:t>
                      </a:r>
                      <a:r>
                        <a:rPr lang="ko-KR" altLang="en-US" sz="1050" dirty="0"/>
                        <a:t> 서울생활인구 일별 집계표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/>
                        <a:t>CSV</a:t>
                      </a:r>
                      <a:endParaRPr 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2018.04.05~2026.07.31, </a:t>
                      </a:r>
                      <a:r>
                        <a:rPr lang="ko-KR" altLang="en-US" sz="1050"/>
                        <a:t>구별 하루 단위 총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내국인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외국인 인구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주간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야간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일최대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최소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이동 인구 </a:t>
                      </a:r>
                      <a:r>
                        <a:rPr lang="en-US" altLang="ko-KR" sz="1050"/>
                        <a:t>(15</a:t>
                      </a:r>
                      <a:r>
                        <a:rPr lang="ko-KR" altLang="en-US" sz="1050"/>
                        <a:t>개 컬럼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인구 밀집 정답 </a:t>
                      </a:r>
                      <a:r>
                        <a:rPr lang="en-US" altLang="ko-KR" sz="1050"/>
                        <a:t>+ </a:t>
                      </a:r>
                      <a:r>
                        <a:rPr lang="ko-KR" altLang="en-US" sz="1050"/>
                        <a:t>이송 설명 변수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509997"/>
                  </a:ext>
                </a:extLst>
              </a:tr>
              <a:tr h="485936">
                <a:tc>
                  <a:txBody>
                    <a:bodyPr/>
                    <a:lstStyle/>
                    <a:p>
                      <a:r>
                        <a:rPr lang="en-US" altLang="ko-KR" sz="1050"/>
                        <a:t>119</a:t>
                      </a:r>
                      <a:r>
                        <a:rPr lang="ko-KR" altLang="en-US" sz="1050"/>
                        <a:t>구조활동실적 구별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CSV</a:t>
                      </a:r>
                      <a:r>
                        <a:rPr lang="en-US" sz="1050"/>
                        <a:t> (2</a:t>
                      </a:r>
                      <a:r>
                        <a:rPr lang="ko-KR" altLang="en-US" sz="1050"/>
                        <a:t>개 버전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2006~2025, </a:t>
                      </a:r>
                      <a:r>
                        <a:rPr lang="ko-KR" altLang="en-US" sz="1050"/>
                        <a:t>구별 연도별 사고 원인별 구조인원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화재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교통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승강기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인명갇힘 등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이송 설명 변수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작년 사고 원인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73481"/>
                  </a:ext>
                </a:extLst>
              </a:tr>
              <a:tr h="596376">
                <a:tc>
                  <a:txBody>
                    <a:bodyPr/>
                    <a:lstStyle/>
                    <a:p>
                      <a:r>
                        <a:rPr lang="ko-KR" altLang="en-US" sz="1050"/>
                        <a:t>의료이용 유출입 </a:t>
                      </a:r>
                      <a:r>
                        <a:rPr lang="en-US" altLang="ko-KR" sz="1050"/>
                        <a:t>2019~2024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XLSX</a:t>
                      </a:r>
                      <a:r>
                        <a:rPr lang="en-US" sz="1050"/>
                        <a:t> (</a:t>
                      </a:r>
                      <a:r>
                        <a:rPr lang="ko-KR" altLang="en-US" sz="1050"/>
                        <a:t>연도별 시트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환자 주소지 </a:t>
                      </a:r>
                      <a:r>
                        <a:rPr lang="en-US" altLang="ko-KR" sz="1050"/>
                        <a:t>× </a:t>
                      </a:r>
                      <a:r>
                        <a:rPr lang="ko-KR" altLang="en-US" sz="1050"/>
                        <a:t>의료기관 소재지별 입원 연인원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의료기관 종별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진료과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응급실 등 </a:t>
                      </a:r>
                      <a:r>
                        <a:rPr lang="en-US" altLang="ko-KR" sz="1050"/>
                        <a:t>34</a:t>
                      </a:r>
                      <a:r>
                        <a:rPr lang="ko-KR" altLang="en-US" sz="1050"/>
                        <a:t>개 항목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이송 설명 변수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작년 의료 수요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공급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047903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r>
                        <a:rPr lang="ko-KR" altLang="en-US" sz="1050"/>
                        <a:t>서울시 소방 구급출동 현황 </a:t>
                      </a:r>
                      <a:r>
                        <a:rPr lang="en-US" altLang="ko-KR" sz="1050"/>
                        <a:t>2022~2024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XLSX</a:t>
                      </a:r>
                      <a:r>
                        <a:rPr lang="en-US" sz="1050"/>
                        <a:t> (</a:t>
                      </a:r>
                      <a:r>
                        <a:rPr lang="ko-KR" altLang="en-US" sz="1050"/>
                        <a:t>연도별 시트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구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동별 월별 출동건수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이송건수 없음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월별 출동 참고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302300"/>
                  </a:ext>
                </a:extLst>
              </a:tr>
              <a:tr h="375496">
                <a:tc>
                  <a:txBody>
                    <a:bodyPr/>
                    <a:lstStyle/>
                    <a:p>
                      <a:r>
                        <a:rPr lang="ko-KR" altLang="en-US" sz="1050"/>
                        <a:t>서울소방재난본부 구급출동 현황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건별</a:t>
                      </a:r>
                      <a:r>
                        <a:rPr lang="en-US" altLang="ko-KR" sz="1050"/>
                        <a:t>) 2021~2022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1"/>
                        <a:t>CSV</a:t>
                      </a:r>
                      <a:r>
                        <a:rPr lang="ko-KR" altLang="en-US" sz="1050"/>
                        <a:t>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기록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이번 업로드에 없음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한 행 </a:t>
                      </a:r>
                      <a:r>
                        <a:rPr lang="en-US" altLang="ko-KR" sz="1050"/>
                        <a:t>= </a:t>
                      </a:r>
                      <a:r>
                        <a:rPr lang="ko-KR" altLang="en-US" sz="1050"/>
                        <a:t>출동 </a:t>
                      </a:r>
                      <a:r>
                        <a:rPr lang="en-US" altLang="ko-KR" sz="1050"/>
                        <a:t>1</a:t>
                      </a:r>
                      <a:r>
                        <a:rPr lang="ko-KR" altLang="en-US" sz="1050"/>
                        <a:t>건 </a:t>
                      </a:r>
                      <a:r>
                        <a:rPr lang="en-US" altLang="ko-KR" sz="1050"/>
                        <a:t>(2021</a:t>
                      </a:r>
                      <a:r>
                        <a:rPr lang="ko-KR" altLang="en-US" sz="1050"/>
                        <a:t>년 약 </a:t>
                      </a:r>
                      <a:r>
                        <a:rPr lang="en-US" altLang="ko-KR" sz="1050"/>
                        <a:t>55</a:t>
                      </a:r>
                      <a:r>
                        <a:rPr lang="ko-KR" altLang="en-US" sz="1050"/>
                        <a:t>만 건</a:t>
                      </a:r>
                      <a:r>
                        <a:rPr lang="en-US" altLang="ko-KR" sz="1050"/>
                        <a:t>, 2022</a:t>
                      </a:r>
                      <a:r>
                        <a:rPr lang="ko-KR" altLang="en-US" sz="1050"/>
                        <a:t>년 약 </a:t>
                      </a:r>
                      <a:r>
                        <a:rPr lang="en-US" altLang="ko-KR" sz="1050"/>
                        <a:t>62</a:t>
                      </a:r>
                      <a:r>
                        <a:rPr lang="ko-KR" altLang="en-US" sz="1050"/>
                        <a:t>만 건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월별 이송 건수 후보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222157"/>
                  </a:ext>
                </a:extLst>
              </a:tr>
              <a:tr h="375496">
                <a:tc>
                  <a:txBody>
                    <a:bodyPr/>
                    <a:lstStyle/>
                    <a:p>
                      <a:r>
                        <a:rPr lang="en-US" altLang="ko-KR" sz="1050"/>
                        <a:t>119</a:t>
                      </a:r>
                      <a:r>
                        <a:rPr lang="ko-KR" altLang="en-US" sz="1050"/>
                        <a:t>구급활동실적 소방서별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CSV</a:t>
                      </a:r>
                      <a:endParaRPr lang="en-US" sz="105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2005~2025, </a:t>
                      </a:r>
                      <a:r>
                        <a:rPr lang="ko-KR" altLang="en-US" sz="1050"/>
                        <a:t>소방서별 연도별 출동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이송건수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환자유형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연 단위 참고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597065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r>
                        <a:rPr lang="ko-KR" altLang="en-US" sz="1050"/>
                        <a:t>소방청 본부별 구급활동정보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CSV</a:t>
                      </a:r>
                      <a:endParaRPr lang="en-US" sz="105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2020~2023, </a:t>
                      </a:r>
                      <a:r>
                        <a:rPr lang="ko-KR" altLang="en-US" sz="1050"/>
                        <a:t>시도본부별 월별 출동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이송건수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서울 전체 월별 참고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65741"/>
                  </a:ext>
                </a:extLst>
              </a:tr>
              <a:tr h="375496">
                <a:tc>
                  <a:txBody>
                    <a:bodyPr/>
                    <a:lstStyle/>
                    <a:p>
                      <a:r>
                        <a:rPr lang="ko-KR" altLang="en-US" sz="1050"/>
                        <a:t>국립중앙의료원 응급의료정보조회서비스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OpenAPI</a:t>
                      </a:r>
                      <a:r>
                        <a:rPr lang="en-US" sz="1050"/>
                        <a:t> (hwp </a:t>
                      </a:r>
                      <a:r>
                        <a:rPr lang="ko-KR" altLang="en-US" sz="1050"/>
                        <a:t>가이드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2026-09-28 1</a:t>
                      </a:r>
                      <a:r>
                        <a:rPr lang="ko-KR" altLang="en-US" sz="1050"/>
                        <a:t>회 수집</a:t>
                      </a:r>
                      <a:r>
                        <a:rPr lang="en-US" altLang="ko-KR" sz="1050"/>
                        <a:t>, 51</a:t>
                      </a:r>
                      <a:r>
                        <a:rPr lang="ko-KR" altLang="en-US" sz="1050"/>
                        <a:t>개 병원 응급실 가용 병상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병상 예측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295566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r>
                        <a:rPr lang="en-US" sz="1050"/>
                        <a:t>data.csv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1"/>
                        <a:t>CSV</a:t>
                      </a:r>
                      <a:r>
                        <a:rPr lang="ko-KR" altLang="en-US" sz="1050"/>
                        <a:t> </a:t>
                      </a:r>
                      <a:r>
                        <a:rPr lang="en-US" altLang="ko-KR" sz="1050"/>
                        <a:t>[</a:t>
                      </a:r>
                      <a:r>
                        <a:rPr lang="ko-KR" altLang="en-US" sz="1050"/>
                        <a:t>출처 확인 필요</a:t>
                      </a:r>
                      <a:r>
                        <a:rPr lang="en-US" altLang="ko-KR" sz="1050"/>
                        <a:t>]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2025</a:t>
                      </a:r>
                      <a:r>
                        <a:rPr lang="ko-KR" altLang="en-US" sz="1050"/>
                        <a:t>년 </a:t>
                      </a:r>
                      <a:r>
                        <a:rPr lang="en-US" altLang="ko-KR" sz="1050"/>
                        <a:t>6</a:t>
                      </a:r>
                      <a:r>
                        <a:rPr lang="ko-KR" altLang="en-US" sz="1050"/>
                        <a:t>월 관악소방서 구급 건별 </a:t>
                      </a:r>
                      <a:r>
                        <a:rPr lang="en-US" altLang="ko-KR" sz="1050"/>
                        <a:t>1,000</a:t>
                      </a:r>
                      <a:r>
                        <a:rPr lang="ko-KR" altLang="en-US" sz="1050"/>
                        <a:t>행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표본 확인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825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882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05239" y="255853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>
              <a:defRPr/>
            </a:pPr>
            <a:r>
              <a:rPr lang="en-US" altLang="ko-KR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2.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 </a:t>
            </a: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8458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361887"/>
              </p:ext>
            </p:extLst>
          </p:nvPr>
        </p:nvGraphicFramePr>
        <p:xfrm>
          <a:off x="838047" y="2258568"/>
          <a:ext cx="10515600" cy="26517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8429536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812038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446750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251338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원본 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처리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955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dirty="0"/>
                        <a:t>119</a:t>
                      </a:r>
                      <a:r>
                        <a:rPr lang="ko-KR" altLang="en-US" dirty="0"/>
                        <a:t>구급활동실적 </a:t>
                      </a:r>
                      <a:r>
                        <a:rPr lang="ko-KR" altLang="en-US" dirty="0" err="1"/>
                        <a:t>소방서별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· 119</a:t>
                      </a:r>
                      <a:r>
                        <a:rPr lang="ko-KR" altLang="en-US" dirty="0"/>
                        <a:t>구조활동실적 구별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3~4</a:t>
                      </a:r>
                      <a:r>
                        <a:rPr lang="ko-KR" altLang="en-US"/>
                        <a:t>줄 다단 헤더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연도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출동건수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건</a:t>
                      </a:r>
                      <a:r>
                        <a:rPr lang="en-US" altLang="ko-KR"/>
                        <a:t>) / </a:t>
                      </a:r>
                      <a:r>
                        <a:rPr lang="ko-KR" altLang="en-US"/>
                        <a:t>소계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인명구조 </a:t>
                      </a:r>
                      <a:r>
                        <a:rPr lang="en-US" altLang="ko-KR"/>
                        <a:t>…)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연도 </a:t>
                      </a:r>
                      <a:r>
                        <a:rPr lang="en-US" altLang="ko-KR"/>
                        <a:t>× </a:t>
                      </a:r>
                      <a:r>
                        <a:rPr lang="ko-KR" altLang="en-US"/>
                        <a:t>필요한 항목만 골라 한 줄 컬럼으로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다단 헤더는 </a:t>
                      </a:r>
                      <a:r>
                        <a:rPr lang="en-US" altLang="ko-KR"/>
                        <a:t>pandas</a:t>
                      </a:r>
                      <a:r>
                        <a:rPr lang="ko-KR" altLang="en-US"/>
                        <a:t>에서 바로 계산할 수 없음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5583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구급출동</a:t>
                      </a:r>
                      <a:r>
                        <a:rPr lang="ko-KR" altLang="en-US" dirty="0"/>
                        <a:t> 현황 </a:t>
                      </a:r>
                      <a:r>
                        <a:rPr lang="en-US" altLang="ko-KR" dirty="0"/>
                        <a:t>XLSX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구분</a:t>
                      </a:r>
                      <a:r>
                        <a:rPr lang="en-US" altLang="ko-KR"/>
                        <a:t>, 1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… 12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월이 옆으로 펼쳐진 형태</a:t>
                      </a:r>
                      <a:r>
                        <a:rPr lang="en-US" altLang="ko-KR"/>
                        <a:t>), </a:t>
                      </a:r>
                      <a:r>
                        <a:rPr lang="ko-KR" altLang="en-US"/>
                        <a:t>시트명 </a:t>
                      </a:r>
                      <a:r>
                        <a:rPr lang="en-US" altLang="ko-KR"/>
                        <a:t>= </a:t>
                      </a:r>
                      <a:r>
                        <a:rPr lang="ko-KR" altLang="en-US"/>
                        <a:t>연도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월 컬럼을 세로로 내림 → </a:t>
                      </a:r>
                      <a:r>
                        <a:rPr lang="en-US" altLang="ko-KR"/>
                        <a:t>ds, District,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시계열 모델은 한 행 </a:t>
                      </a:r>
                      <a:r>
                        <a:rPr lang="en-US" altLang="ko-KR"/>
                        <a:t>= </a:t>
                      </a:r>
                      <a:r>
                        <a:rPr lang="ko-KR" altLang="en-US"/>
                        <a:t>한 시점 형태가 필요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9274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의료이용 </a:t>
                      </a:r>
                      <a:r>
                        <a:rPr lang="en-US" dirty="0"/>
                        <a:t>XLSX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3</a:t>
                      </a:r>
                      <a:r>
                        <a:rPr lang="ko-KR" altLang="en-US"/>
                        <a:t>줄 헤더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지역구분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환자주소지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의료기관소재지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코드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시도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중진료권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시군구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환자 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병원 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입원 연인원 형태로 정리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구별 수요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공급으로 합산하기 위함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2769937"/>
                  </a:ext>
                </a:extLst>
              </a:tr>
            </a:tbl>
          </a:graphicData>
        </a:graphic>
      </p:graphicFrame>
      <p:sp>
        <p:nvSpPr>
          <p:cNvPr id="16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638962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정리 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6588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229673" y="2258568"/>
            <a:ext cx="5118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구조활동 헤더 정리 </a:t>
            </a:r>
            <a:r>
              <a:rPr lang="ko-KR" altLang="en-US" b="1" dirty="0"/>
              <a:t>전 → 후</a:t>
            </a:r>
            <a:r>
              <a:rPr lang="ko-KR" altLang="en-US" dirty="0"/>
              <a:t> 예시 </a:t>
            </a:r>
            <a:r>
              <a:rPr lang="en-US" altLang="ko-KR" dirty="0"/>
              <a:t>(2023</a:t>
            </a:r>
            <a:r>
              <a:rPr lang="ko-KR" altLang="en-US" dirty="0"/>
              <a:t>년 강남구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838200" y="3681254"/>
          <a:ext cx="10515600" cy="640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2282564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68829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원본 </a:t>
                      </a:r>
                      <a:r>
                        <a:rPr lang="en-US" altLang="ko-KR" dirty="0"/>
                        <a:t>(4</a:t>
                      </a:r>
                      <a:r>
                        <a:rPr lang="ko-KR" altLang="en-US" dirty="0"/>
                        <a:t>줄 헤더 끝 항목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결과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accident_cause_onehot)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218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교통사고 </a:t>
                      </a:r>
                      <a:r>
                        <a:rPr lang="en-US" altLang="ko-KR"/>
                        <a:t>56, </a:t>
                      </a:r>
                      <a:r>
                        <a:rPr lang="ko-KR" altLang="en-US"/>
                        <a:t>승강기사고 </a:t>
                      </a:r>
                      <a:r>
                        <a:rPr lang="en-US" altLang="ko-KR"/>
                        <a:t>428, </a:t>
                      </a:r>
                      <a:r>
                        <a:rPr lang="ko-KR" altLang="en-US"/>
                        <a:t>폭발사고 </a:t>
                      </a:r>
                      <a:r>
                        <a:rPr lang="en-US" altLang="ko-KR"/>
                        <a:t>-, </a:t>
                      </a:r>
                      <a:r>
                        <a:rPr lang="ko-KR" altLang="en-US"/>
                        <a:t>기타 </a:t>
                      </a:r>
                      <a:r>
                        <a:rPr lang="en-US" altLang="ko-KR"/>
                        <a:t>632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교통사고 </a:t>
                      </a:r>
                      <a:r>
                        <a:rPr lang="en-US" altLang="ko-KR" dirty="0"/>
                        <a:t>56, </a:t>
                      </a:r>
                      <a:r>
                        <a:rPr lang="ko-KR" altLang="en-US" dirty="0" err="1"/>
                        <a:t>승강기사고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428, </a:t>
                      </a:r>
                      <a:r>
                        <a:rPr lang="ko-KR" altLang="en-US" dirty="0"/>
                        <a:t>폭발사고 </a:t>
                      </a:r>
                      <a:r>
                        <a:rPr lang="en-US" altLang="ko-KR" dirty="0"/>
                        <a:t>0, </a:t>
                      </a:r>
                      <a:r>
                        <a:rPr lang="ko-KR" altLang="en-US" dirty="0"/>
                        <a:t>기타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미상 </a:t>
                      </a:r>
                      <a:r>
                        <a:rPr lang="en-US" altLang="ko-KR" dirty="0"/>
                        <a:t>632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029517"/>
                  </a:ext>
                </a:extLst>
              </a:tr>
            </a:tbl>
          </a:graphicData>
        </a:graphic>
      </p:graphicFrame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638962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정리 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2886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638962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2-2. </a:t>
            </a:r>
            <a:r>
              <a:rPr lang="ko-KR" altLang="en-US" sz="14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컬럼명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통일 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299320"/>
              </p:ext>
            </p:extLst>
          </p:nvPr>
        </p:nvGraphicFramePr>
        <p:xfrm>
          <a:off x="685800" y="2432304"/>
          <a:ext cx="10515600" cy="2971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8208439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668310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기준</a:t>
                      </a:r>
                      <a:endParaRPr lang="en-US" altLang="ko-KR" dirty="0"/>
                    </a:p>
                    <a:p>
                      <a:endParaRPr lang="en-US" altLang="ko-KR" dirty="0"/>
                    </a:p>
                    <a:p>
                      <a:endParaRPr lang="en-US" altLang="ko-KR" dirty="0"/>
                    </a:p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원본 → 통일</a:t>
                      </a:r>
                      <a:endParaRPr lang="en-US" altLang="ko-KR" dirty="0"/>
                    </a:p>
                    <a:p>
                      <a:endParaRPr lang="en-US" altLang="ko-KR" dirty="0"/>
                    </a:p>
                    <a:p>
                      <a:endParaRPr lang="en-US" altLang="ko-KR" dirty="0"/>
                    </a:p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008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날짜 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기준일</a:t>
                      </a:r>
                      <a:r>
                        <a:rPr lang="en-US" altLang="ko-KR"/>
                        <a:t>ID, </a:t>
                      </a:r>
                      <a:r>
                        <a:rPr lang="ko-KR" altLang="en-US"/>
                        <a:t>년도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월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접수년월 → </a:t>
                      </a:r>
                      <a:r>
                        <a:rPr lang="en-US" altLang="ko-KR" b="1"/>
                        <a:t>ds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8594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지역 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시군구명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구분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소방서명 → </a:t>
                      </a:r>
                      <a:r>
                        <a:rPr lang="en-US" altLang="ko-KR" b="1"/>
                        <a:t>District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노트북에서 </a:t>
                      </a:r>
                      <a:r>
                        <a:rPr lang="en-US" altLang="ko-KR"/>
                        <a:t>district → District</a:t>
                      </a:r>
                      <a:r>
                        <a:rPr lang="ko-KR" altLang="en-US"/>
                        <a:t>도 통일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708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출동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이송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출동건수 → </a:t>
                      </a:r>
                      <a:r>
                        <a:rPr lang="en-US"/>
                        <a:t>y, </a:t>
                      </a:r>
                      <a:r>
                        <a:rPr lang="ko-KR" altLang="en-US"/>
                        <a:t>이송건수 → </a:t>
                      </a:r>
                      <a:r>
                        <a:rPr lang="en-US"/>
                        <a:t>transport_cnt, </a:t>
                      </a:r>
                      <a:r>
                        <a:rPr lang="ko-KR" altLang="en-US"/>
                        <a:t>이송인원 → </a:t>
                      </a:r>
                      <a:r>
                        <a:rPr lang="en-US"/>
                        <a:t>transport_person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990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생활인구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총생활인구수 → </a:t>
                      </a:r>
                      <a:r>
                        <a:rPr lang="en-US" altLang="ko-KR" dirty="0" err="1"/>
                        <a:t>total_pop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주간인구수</a:t>
                      </a:r>
                      <a:r>
                        <a:rPr lang="en-US" altLang="ko-KR" dirty="0"/>
                        <a:t>(09~18) → </a:t>
                      </a:r>
                      <a:r>
                        <a:rPr lang="en-US" altLang="ko-KR" dirty="0" err="1"/>
                        <a:t>Day_Pop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야간인구수</a:t>
                      </a:r>
                      <a:r>
                        <a:rPr lang="en-US" altLang="ko-KR" dirty="0"/>
                        <a:t>(19~08) → </a:t>
                      </a:r>
                      <a:r>
                        <a:rPr lang="en-US" altLang="ko-KR" dirty="0" err="1"/>
                        <a:t>Night_Pop</a:t>
                      </a:r>
                      <a:endParaRPr lang="en-US" alt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077196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685800" y="59368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모든 파일을 </a:t>
            </a:r>
            <a:r>
              <a:rPr lang="en-US" altLang="ko-KR" dirty="0"/>
              <a:t>ds + District </a:t>
            </a:r>
            <a:r>
              <a:rPr lang="ko-KR" altLang="en-US" dirty="0"/>
              <a:t>두 키로 바로 합칠 수 있게 하기 위해서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ds, y</a:t>
            </a:r>
            <a:r>
              <a:rPr lang="ko-KR" altLang="en-US" dirty="0"/>
              <a:t>는 </a:t>
            </a:r>
            <a:r>
              <a:rPr lang="en-US" altLang="ko-KR" dirty="0"/>
              <a:t>Prophet </a:t>
            </a:r>
            <a:r>
              <a:rPr lang="ko-KR" altLang="en-US" dirty="0"/>
              <a:t>입력 형식과 같습니다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1816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638962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2-3.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 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형식 통일 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857149"/>
              </p:ext>
            </p:extLst>
          </p:nvPr>
        </p:nvGraphicFramePr>
        <p:xfrm>
          <a:off x="838047" y="2432304"/>
          <a:ext cx="10515600" cy="28346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1346145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295605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273133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항목</a:t>
                      </a:r>
                      <a:endParaRPr lang="en-US" altLang="ko-KR" dirty="0"/>
                    </a:p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전 → 후</a:t>
                      </a:r>
                      <a:endParaRPr lang="en-US" altLang="ko-KR" dirty="0"/>
                    </a:p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이유</a:t>
                      </a:r>
                      <a:endParaRPr lang="en-US" altLang="ko-KR" dirty="0"/>
                    </a:p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658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일별 날짜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20180405 (</a:t>
                      </a:r>
                      <a:r>
                        <a:rPr lang="ko-KR" altLang="en-US"/>
                        <a:t>정수</a:t>
                      </a:r>
                      <a:r>
                        <a:rPr lang="en-US" altLang="ko-KR"/>
                        <a:t>) → 2018-04-05 (</a:t>
                      </a:r>
                      <a:r>
                        <a:rPr lang="ko-KR" altLang="en-US"/>
                        <a:t>날짜형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날짜 계산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전일</a:t>
                      </a:r>
                      <a:r>
                        <a:rPr lang="en-US" altLang="ko-KR"/>
                        <a:t>, 7</a:t>
                      </a:r>
                      <a:r>
                        <a:rPr lang="ko-KR" altLang="en-US"/>
                        <a:t>일 전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을 하기 위해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678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월별 날짜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모든 월 데이터 → </a:t>
                      </a:r>
                      <a:r>
                        <a:rPr lang="ko-KR" altLang="en-US" b="1"/>
                        <a:t>그 달 </a:t>
                      </a:r>
                      <a:r>
                        <a:rPr lang="en-US" altLang="ko-KR" b="1"/>
                        <a:t>1</a:t>
                      </a:r>
                      <a:r>
                        <a:rPr lang="ko-KR" altLang="en-US" b="1"/>
                        <a:t>일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(month_start </a:t>
                      </a:r>
                      <a:r>
                        <a:rPr lang="ko-KR" altLang="en-US"/>
                        <a:t>함수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서로 다른 파일의 같은 달을 같은 값으로 맞추기 위해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644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연 단위 날짜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2005</a:t>
                      </a:r>
                      <a:r>
                        <a:rPr lang="ko-KR" altLang="en-US"/>
                        <a:t>년 → </a:t>
                      </a:r>
                      <a:r>
                        <a:rPr lang="en-US" altLang="ko-KR"/>
                        <a:t>2005-01-01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 단위 파일도 같은 </a:t>
                      </a:r>
                      <a:r>
                        <a:rPr lang="en-US" altLang="ko-KR"/>
                        <a:t>ds </a:t>
                      </a:r>
                      <a:r>
                        <a:rPr lang="ko-KR" altLang="en-US"/>
                        <a:t>형식을 쓰기 위해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002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소방서 → 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중부소방서 → 중구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강남소방서 → 강남구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구 단위로 모델을 만들기 때문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3756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구 이름 기준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25</a:t>
                      </a:r>
                      <a:r>
                        <a:rPr lang="ko-KR" altLang="en-US"/>
                        <a:t>개 구 목록</a:t>
                      </a:r>
                      <a:r>
                        <a:rPr lang="en-US" altLang="ko-KR"/>
                        <a:t>(GU_LIST)</a:t>
                      </a:r>
                      <a:r>
                        <a:rPr lang="ko-KR" altLang="en-US"/>
                        <a:t>만 남김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오타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합계 행이 섞이지 않게 하기 위해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668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763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2-4. </a:t>
            </a:r>
            <a:r>
              <a:rPr lang="ko-KR" altLang="en-US" sz="14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결측치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처리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090533"/>
              </p:ext>
            </p:extLst>
          </p:nvPr>
        </p:nvGraphicFramePr>
        <p:xfrm>
          <a:off x="457200" y="2087238"/>
          <a:ext cx="11997890" cy="4221749"/>
        </p:xfrm>
        <a:graphic>
          <a:graphicData uri="http://schemas.openxmlformats.org/drawingml/2006/table">
            <a:tbl>
              <a:tblPr/>
              <a:tblGrid>
                <a:gridCol w="2399578">
                  <a:extLst>
                    <a:ext uri="{9D8B030D-6E8A-4147-A177-3AD203B41FA5}">
                      <a16:colId xmlns:a16="http://schemas.microsoft.com/office/drawing/2014/main" val="710421670"/>
                    </a:ext>
                  </a:extLst>
                </a:gridCol>
                <a:gridCol w="2399578">
                  <a:extLst>
                    <a:ext uri="{9D8B030D-6E8A-4147-A177-3AD203B41FA5}">
                      <a16:colId xmlns:a16="http://schemas.microsoft.com/office/drawing/2014/main" val="1611378394"/>
                    </a:ext>
                  </a:extLst>
                </a:gridCol>
                <a:gridCol w="2399578">
                  <a:extLst>
                    <a:ext uri="{9D8B030D-6E8A-4147-A177-3AD203B41FA5}">
                      <a16:colId xmlns:a16="http://schemas.microsoft.com/office/drawing/2014/main" val="953307166"/>
                    </a:ext>
                  </a:extLst>
                </a:gridCol>
                <a:gridCol w="2399578">
                  <a:extLst>
                    <a:ext uri="{9D8B030D-6E8A-4147-A177-3AD203B41FA5}">
                      <a16:colId xmlns:a16="http://schemas.microsoft.com/office/drawing/2014/main" val="3624260617"/>
                    </a:ext>
                  </a:extLst>
                </a:gridCol>
                <a:gridCol w="2399578">
                  <a:extLst>
                    <a:ext uri="{9D8B030D-6E8A-4147-A177-3AD203B41FA5}">
                      <a16:colId xmlns:a16="http://schemas.microsoft.com/office/drawing/2014/main" val="2412234302"/>
                    </a:ext>
                  </a:extLst>
                </a:gridCol>
              </a:tblGrid>
              <a:tr h="239108">
                <a:tc>
                  <a:txBody>
                    <a:bodyPr/>
                    <a:lstStyle/>
                    <a:p>
                      <a:r>
                        <a:rPr lang="ko-KR" altLang="en-US" sz="1300"/>
                        <a:t>데이터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결측 상황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처리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이유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확인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026467"/>
                  </a:ext>
                </a:extLst>
              </a:tr>
              <a:tr h="929513">
                <a:tc>
                  <a:txBody>
                    <a:bodyPr/>
                    <a:lstStyle/>
                    <a:p>
                      <a:r>
                        <a:rPr lang="ko-KR" altLang="en-US" sz="1300"/>
                        <a:t>생활인구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2019.10.15~27, </a:t>
                      </a:r>
                      <a:r>
                        <a:rPr lang="en-US" altLang="ko-KR" sz="1300" b="1"/>
                        <a:t>13</a:t>
                      </a:r>
                      <a:r>
                        <a:rPr lang="ko-KR" altLang="en-US" sz="1300" b="1"/>
                        <a:t>일 누락</a:t>
                      </a:r>
                      <a:r>
                        <a:rPr lang="ko-KR" altLang="en-US" sz="1300"/>
                        <a:t>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원본 </a:t>
                      </a:r>
                      <a:r>
                        <a:rPr lang="en-US" altLang="ko-KR" sz="1300"/>
                        <a:t>3,027</a:t>
                      </a:r>
                      <a:r>
                        <a:rPr lang="ko-KR" altLang="en-US" sz="1300"/>
                        <a:t>일 → 결과 </a:t>
                      </a:r>
                      <a:r>
                        <a:rPr lang="en-US" altLang="ko-KR" sz="1300"/>
                        <a:t>3,040</a:t>
                      </a:r>
                      <a:r>
                        <a:rPr lang="ko-KR" altLang="en-US" sz="1300"/>
                        <a:t>일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선형 보간</a:t>
                      </a:r>
                      <a:r>
                        <a:rPr lang="en-US" altLang="ko-KR" sz="1300"/>
                        <a:t>. </a:t>
                      </a:r>
                      <a:r>
                        <a:rPr lang="ko-KR" altLang="en-US" sz="1300"/>
                        <a:t>예</a:t>
                      </a:r>
                      <a:r>
                        <a:rPr lang="en-US" altLang="ko-KR" sz="1300"/>
                        <a:t>: </a:t>
                      </a:r>
                      <a:r>
                        <a:rPr lang="ko-KR" altLang="en-US" sz="1300"/>
                        <a:t>종로구 </a:t>
                      </a:r>
                      <a:r>
                        <a:rPr lang="en-US" altLang="ko-KR" sz="1300"/>
                        <a:t>362,212</a:t>
                      </a:r>
                      <a:r>
                        <a:rPr lang="ko-KR" altLang="en-US" sz="1300"/>
                        <a:t>명</a:t>
                      </a:r>
                      <a:r>
                        <a:rPr lang="en-US" altLang="ko-KR" sz="1300"/>
                        <a:t>(10/14) → 362,480 → 362,748 … 365,964</a:t>
                      </a:r>
                      <a:r>
                        <a:rPr lang="ko-KR" altLang="en-US" sz="1300"/>
                        <a:t>명</a:t>
                      </a:r>
                      <a:r>
                        <a:rPr lang="en-US" altLang="ko-KR" sz="1300"/>
                        <a:t>(10/28), </a:t>
                      </a:r>
                      <a:r>
                        <a:rPr lang="ko-KR" altLang="en-US" sz="1300"/>
                        <a:t>매일 </a:t>
                      </a:r>
                      <a:r>
                        <a:rPr lang="en-US" altLang="ko-KR" sz="1300"/>
                        <a:t>268</a:t>
                      </a:r>
                      <a:r>
                        <a:rPr lang="ko-KR" altLang="en-US" sz="1300"/>
                        <a:t>명씩 증가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전일</a:t>
                      </a:r>
                      <a:r>
                        <a:rPr lang="en-US" altLang="ko-KR" sz="1300"/>
                        <a:t>·7</a:t>
                      </a:r>
                      <a:r>
                        <a:rPr lang="ko-KR" altLang="en-US" sz="1300"/>
                        <a:t>일 전 값을 계산하려면 날짜가 끊기면 안 됨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305723"/>
                  </a:ext>
                </a:extLst>
              </a:tr>
              <a:tr h="929513">
                <a:tc>
                  <a:txBody>
                    <a:bodyPr/>
                    <a:lstStyle/>
                    <a:p>
                      <a:r>
                        <a:rPr lang="ko-KR" altLang="en-US" sz="1300"/>
                        <a:t>소방서별 구급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신설 전 소방서 값이 </a:t>
                      </a:r>
                      <a:r>
                        <a:rPr lang="en-US" altLang="ko-KR" sz="1300"/>
                        <a:t>- (</a:t>
                      </a:r>
                      <a:r>
                        <a:rPr lang="ko-KR" altLang="en-US" sz="1300"/>
                        <a:t>강북 </a:t>
                      </a:r>
                      <a:r>
                        <a:rPr lang="en-US" altLang="ko-KR" sz="1300"/>
                        <a:t>2005~2011, </a:t>
                      </a:r>
                      <a:r>
                        <a:rPr lang="ko-KR" altLang="en-US" sz="1300"/>
                        <a:t>성동 </a:t>
                      </a:r>
                      <a:r>
                        <a:rPr lang="en-US" altLang="ko-KR" sz="1300"/>
                        <a:t>2005~2016, </a:t>
                      </a:r>
                      <a:r>
                        <a:rPr lang="ko-KR" altLang="en-US" sz="1300"/>
                        <a:t>금천 </a:t>
                      </a:r>
                      <a:r>
                        <a:rPr lang="en-US" altLang="ko-KR" sz="1300"/>
                        <a:t>2005~2021, </a:t>
                      </a:r>
                      <a:r>
                        <a:rPr lang="ko-KR" altLang="en-US" sz="1300"/>
                        <a:t>서대문 </a:t>
                      </a:r>
                      <a:r>
                        <a:rPr lang="en-US" altLang="ko-KR" sz="1300"/>
                        <a:t>2005)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0</a:t>
                      </a:r>
                      <a:r>
                        <a:rPr lang="ko-KR" altLang="en-US" sz="1300"/>
                        <a:t>으로 바꾸고 </a:t>
                      </a:r>
                      <a:r>
                        <a:rPr lang="en-US" altLang="ko-KR" sz="1300" b="1"/>
                        <a:t>imputed_zero </a:t>
                      </a:r>
                      <a:r>
                        <a:rPr lang="ko-KR" altLang="en-US" sz="1300" b="1"/>
                        <a:t>표시</a:t>
                      </a:r>
                      <a:endParaRPr lang="ko-KR" altLang="en-US" sz="130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실제 </a:t>
                      </a:r>
                      <a:r>
                        <a:rPr lang="en-US" altLang="ko-KR" sz="1300"/>
                        <a:t>0</a:t>
                      </a:r>
                      <a:r>
                        <a:rPr lang="ko-KR" altLang="en-US" sz="1300"/>
                        <a:t>건이 아니라 </a:t>
                      </a:r>
                      <a:r>
                        <a:rPr lang="en-US" altLang="ko-KR" sz="1300"/>
                        <a:t>"</a:t>
                      </a:r>
                      <a:r>
                        <a:rPr lang="ko-KR" altLang="en-US" sz="1300"/>
                        <a:t>소방서가 없던 기간</a:t>
                      </a:r>
                      <a:r>
                        <a:rPr lang="en-US" altLang="ko-KR" sz="1300"/>
                        <a:t>"</a:t>
                      </a:r>
                      <a:r>
                        <a:rPr lang="ko-KR" altLang="en-US" sz="1300"/>
                        <a:t>이라는 것을 구분하기 위해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516239"/>
                  </a:ext>
                </a:extLst>
              </a:tr>
              <a:tr h="239108">
                <a:tc>
                  <a:txBody>
                    <a:bodyPr/>
                    <a:lstStyle/>
                    <a:p>
                      <a:r>
                        <a:rPr lang="ko-KR" altLang="en-US" sz="1300"/>
                        <a:t>구조활동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-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0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해당 사고가 없던 해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641224"/>
                  </a:ext>
                </a:extLst>
              </a:tr>
              <a:tr h="411710">
                <a:tc>
                  <a:txBody>
                    <a:bodyPr/>
                    <a:lstStyle/>
                    <a:p>
                      <a:r>
                        <a:rPr lang="ko-KR" altLang="en-US" sz="1300"/>
                        <a:t>의료이용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2019·2020</a:t>
                      </a:r>
                      <a:r>
                        <a:rPr lang="ko-KR" altLang="en-US" sz="1300"/>
                        <a:t>년 시트에는 </a:t>
                      </a:r>
                      <a:r>
                        <a:rPr lang="ko-KR" altLang="en-US" sz="1300" b="1"/>
                        <a:t>응급실 항목이 없음</a:t>
                      </a:r>
                      <a:endParaRPr lang="ko-KR" altLang="en-US" sz="130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응급실 연인원만 빈 값</a:t>
                      </a:r>
                      <a:r>
                        <a:rPr lang="en-US" altLang="ko-KR" sz="1300"/>
                        <a:t>(50</a:t>
                      </a:r>
                      <a:r>
                        <a:rPr lang="ko-KR" altLang="en-US" sz="1300"/>
                        <a:t>칸</a:t>
                      </a:r>
                      <a:r>
                        <a:rPr lang="en-US" altLang="ko-KR" sz="1300"/>
                        <a:t>) </a:t>
                      </a:r>
                      <a:r>
                        <a:rPr lang="ko-KR" altLang="en-US" sz="1300"/>
                        <a:t>유지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없는 값을 지어내지 않기 위해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594499"/>
                  </a:ext>
                </a:extLst>
              </a:tr>
              <a:tr h="584311">
                <a:tc>
                  <a:txBody>
                    <a:bodyPr/>
                    <a:lstStyle/>
                    <a:p>
                      <a:r>
                        <a:rPr lang="ko-KR" altLang="en-US" sz="1300"/>
                        <a:t>응급실 병상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병상 정보 없는 병원 </a:t>
                      </a:r>
                      <a:r>
                        <a:rPr lang="en-US" altLang="ko-KR" sz="1300"/>
                        <a:t>6</a:t>
                      </a:r>
                      <a:r>
                        <a:rPr lang="ko-KR" altLang="en-US" sz="1300"/>
                        <a:t>곳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빈 값 </a:t>
                      </a:r>
                      <a:r>
                        <a:rPr lang="en-US" altLang="ko-KR" sz="1300"/>
                        <a:t>+ </a:t>
                      </a:r>
                      <a:r>
                        <a:rPr lang="en-US" sz="1300"/>
                        <a:t>Beds_Unknown </a:t>
                      </a:r>
                      <a:r>
                        <a:rPr lang="ko-KR" altLang="en-US" sz="1300"/>
                        <a:t>표시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0</a:t>
                      </a:r>
                      <a:r>
                        <a:rPr lang="ko-KR" altLang="en-US" sz="1300"/>
                        <a:t>병상과 </a:t>
                      </a:r>
                      <a:r>
                        <a:rPr lang="en-US" altLang="ko-KR" sz="1300"/>
                        <a:t>"</a:t>
                      </a:r>
                      <a:r>
                        <a:rPr lang="ko-KR" altLang="en-US" sz="1300"/>
                        <a:t>정보 없음</a:t>
                      </a:r>
                      <a:r>
                        <a:rPr lang="en-US" altLang="ko-KR" sz="1300"/>
                        <a:t>"</a:t>
                      </a:r>
                      <a:r>
                        <a:rPr lang="ko-KR" altLang="en-US" sz="1300"/>
                        <a:t>을 구분하기 위해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111125"/>
                  </a:ext>
                </a:extLst>
              </a:tr>
              <a:tr h="756912">
                <a:tc>
                  <a:txBody>
                    <a:bodyPr/>
                    <a:lstStyle/>
                    <a:p>
                      <a:r>
                        <a:rPr lang="ko-KR" altLang="en-US" sz="1300"/>
                        <a:t>최종 학습 데이터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과거 값이 없는 행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평균</a:t>
                      </a:r>
                      <a:r>
                        <a:rPr lang="en-US" altLang="ko-KR" sz="1300" b="1"/>
                        <a:t>·0</a:t>
                      </a:r>
                      <a:r>
                        <a:rPr lang="ko-KR" altLang="en-US" sz="1300" b="1"/>
                        <a:t>으로 채우지 않음</a:t>
                      </a:r>
                      <a:r>
                        <a:rPr lang="en-US" altLang="ko-KR" sz="1300" b="1"/>
                        <a:t>.</a:t>
                      </a:r>
                      <a:r>
                        <a:rPr lang="ko-KR" altLang="en-US" sz="1300"/>
                        <a:t> 결측이 많은 변수는 빼고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빈 행만 제외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시계열 값을 임의로 채우면 추세가 왜곡됨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코드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53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553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2-5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kumimoji="0" lang="ko-KR" altLang="en-US" sz="1400" b="0" i="0" u="none" strike="noStrike" kern="1200" cap="none" spc="0" normalizeH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처리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187935"/>
              </p:ext>
            </p:extLst>
          </p:nvPr>
        </p:nvGraphicFramePr>
        <p:xfrm>
          <a:off x="712064" y="1989423"/>
          <a:ext cx="10463072" cy="4351338"/>
        </p:xfrm>
        <a:graphic>
          <a:graphicData uri="http://schemas.openxmlformats.org/drawingml/2006/table">
            <a:tbl>
              <a:tblPr/>
              <a:tblGrid>
                <a:gridCol w="2615768">
                  <a:extLst>
                    <a:ext uri="{9D8B030D-6E8A-4147-A177-3AD203B41FA5}">
                      <a16:colId xmlns:a16="http://schemas.microsoft.com/office/drawing/2014/main" val="1224057329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331756723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4240936646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803398436"/>
                    </a:ext>
                  </a:extLst>
                </a:gridCol>
              </a:tblGrid>
              <a:tr h="282031">
                <a:tc>
                  <a:txBody>
                    <a:bodyPr/>
                    <a:lstStyle/>
                    <a:p>
                      <a:r>
                        <a:rPr lang="ko-KR" altLang="en-US" sz="1300"/>
                        <a:t>구분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내용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처리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확인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79717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원본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소방청 본부별 </a:t>
                      </a:r>
                      <a:r>
                        <a:rPr lang="en-US" altLang="ko-KR" sz="1300"/>
                        <a:t>20201231 = 20231231 </a:t>
                      </a:r>
                      <a:r>
                        <a:rPr lang="ko-KR" altLang="en-US" sz="1300"/>
                        <a:t>파일의 </a:t>
                      </a:r>
                      <a:r>
                        <a:rPr lang="en-US" altLang="ko-KR" sz="1300"/>
                        <a:t>2020</a:t>
                      </a:r>
                      <a:r>
                        <a:rPr lang="ko-KR" altLang="en-US" sz="1300"/>
                        <a:t>년 부분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긴 파일 사용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699473"/>
                  </a:ext>
                </a:extLst>
              </a:tr>
              <a:tr h="684933">
                <a:tc>
                  <a:txBody>
                    <a:bodyPr/>
                    <a:lstStyle/>
                    <a:p>
                      <a:r>
                        <a:rPr lang="ko-KR" altLang="en-US" sz="1300"/>
                        <a:t>원본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119</a:t>
                      </a:r>
                      <a:r>
                        <a:rPr lang="ko-KR" altLang="en-US" sz="1300"/>
                        <a:t>구조활동실적 </a:t>
                      </a:r>
                      <a:r>
                        <a:rPr lang="en-US" altLang="ko-KR" sz="1300"/>
                        <a:t>2</a:t>
                      </a:r>
                      <a:r>
                        <a:rPr lang="ko-KR" altLang="en-US" sz="1300"/>
                        <a:t>개 버전 </a:t>
                      </a:r>
                      <a:r>
                        <a:rPr lang="en-US" altLang="ko-KR" sz="1300"/>
                        <a:t>(420</a:t>
                      </a:r>
                      <a:r>
                        <a:rPr lang="ko-KR" altLang="en-US" sz="1300"/>
                        <a:t>열 </a:t>
                      </a:r>
                      <a:r>
                        <a:rPr lang="en-US" altLang="ko-KR" sz="1300"/>
                        <a:t>/ 360</a:t>
                      </a:r>
                      <a:r>
                        <a:rPr lang="ko-KR" altLang="en-US" sz="1300"/>
                        <a:t>열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세부 처리 항목 차이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b="1"/>
                        <a:t>[</a:t>
                      </a:r>
                      <a:r>
                        <a:rPr lang="ko-KR" altLang="en-US" sz="1300" b="1"/>
                        <a:t>확인 필요</a:t>
                      </a:r>
                      <a:r>
                        <a:rPr lang="en-US" altLang="ko-KR" sz="1300" b="1"/>
                        <a:t>]</a:t>
                      </a:r>
                      <a:r>
                        <a:rPr lang="ko-KR" altLang="en-US" sz="1300"/>
                        <a:t> 어느 쪽을 썼는지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–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21965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행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XLSX</a:t>
                      </a:r>
                      <a:r>
                        <a:rPr lang="ko-KR" altLang="en-US" sz="1300"/>
                        <a:t>에서 구 이름과 같은 행이 두 번 나옴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서초구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중구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첫 행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구 합계</a:t>
                      </a:r>
                      <a:r>
                        <a:rPr lang="en-US" altLang="ko-KR" sz="1300"/>
                        <a:t>) </a:t>
                      </a:r>
                      <a:r>
                        <a:rPr lang="ko-KR" altLang="en-US" sz="1300"/>
                        <a:t>사용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기록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51306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ambulance_prophet_202512_api ⊂ </a:t>
                      </a:r>
                      <a:r>
                        <a:rPr lang="ko-KR" altLang="en-US" sz="1300"/>
                        <a:t>전체 </a:t>
                      </a:r>
                      <a:r>
                        <a:rPr lang="en-US" sz="1300"/>
                        <a:t>API </a:t>
                      </a:r>
                      <a:r>
                        <a:rPr lang="ko-KR" altLang="en-US" sz="1300"/>
                        <a:t>파일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89359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accident_cause_long = onehot (</a:t>
                      </a:r>
                      <a:r>
                        <a:rPr lang="ko-KR" altLang="en-US" sz="1300"/>
                        <a:t>형태만 다름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long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19520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의료이용 </a:t>
                      </a:r>
                      <a:r>
                        <a:rPr lang="en-US" altLang="ko-KR" sz="1300"/>
                        <a:t>OD </a:t>
                      </a:r>
                      <a:r>
                        <a:rPr lang="ko-KR" altLang="en-US" sz="1300"/>
                        <a:t>매트릭스의 구별 합계 </a:t>
                      </a:r>
                      <a:r>
                        <a:rPr lang="en-US" altLang="ko-KR" sz="1300"/>
                        <a:t>= </a:t>
                      </a:r>
                      <a:r>
                        <a:rPr lang="ko-KR" altLang="en-US" sz="1300"/>
                        <a:t>수요</a:t>
                      </a:r>
                      <a:r>
                        <a:rPr lang="en-US" altLang="ko-KR" sz="1300"/>
                        <a:t>·</a:t>
                      </a:r>
                      <a:r>
                        <a:rPr lang="ko-KR" altLang="en-US" sz="1300"/>
                        <a:t>공급 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OD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64508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컬럼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Pop_Peak = </a:t>
                      </a:r>
                      <a:r>
                        <a:rPr lang="ko-KR" altLang="en-US" sz="1300"/>
                        <a:t>일최대인구수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값 완전 동일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Pop_Peak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051647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건별 데이터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같은 값이 반복되는 행이 있으나 출동 고유번호가 없음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제거하지 않음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진짜 중복인지 판단 불가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기록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993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076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2-5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kumimoji="0" lang="ko-KR" altLang="en-US" sz="1400" b="0" i="0" u="none" strike="noStrike" kern="1200" cap="none" spc="0" normalizeH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처리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187935"/>
              </p:ext>
            </p:extLst>
          </p:nvPr>
        </p:nvGraphicFramePr>
        <p:xfrm>
          <a:off x="712064" y="1989423"/>
          <a:ext cx="10463072" cy="4351338"/>
        </p:xfrm>
        <a:graphic>
          <a:graphicData uri="http://schemas.openxmlformats.org/drawingml/2006/table">
            <a:tbl>
              <a:tblPr/>
              <a:tblGrid>
                <a:gridCol w="2615768">
                  <a:extLst>
                    <a:ext uri="{9D8B030D-6E8A-4147-A177-3AD203B41FA5}">
                      <a16:colId xmlns:a16="http://schemas.microsoft.com/office/drawing/2014/main" val="1224057329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331756723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4240936646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803398436"/>
                    </a:ext>
                  </a:extLst>
                </a:gridCol>
              </a:tblGrid>
              <a:tr h="282031">
                <a:tc>
                  <a:txBody>
                    <a:bodyPr/>
                    <a:lstStyle/>
                    <a:p>
                      <a:r>
                        <a:rPr lang="ko-KR" altLang="en-US" sz="1300"/>
                        <a:t>구분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내용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처리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확인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79717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원본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소방청 본부별 </a:t>
                      </a:r>
                      <a:r>
                        <a:rPr lang="en-US" altLang="ko-KR" sz="1300"/>
                        <a:t>20201231 = 20231231 </a:t>
                      </a:r>
                      <a:r>
                        <a:rPr lang="ko-KR" altLang="en-US" sz="1300"/>
                        <a:t>파일의 </a:t>
                      </a:r>
                      <a:r>
                        <a:rPr lang="en-US" altLang="ko-KR" sz="1300"/>
                        <a:t>2020</a:t>
                      </a:r>
                      <a:r>
                        <a:rPr lang="ko-KR" altLang="en-US" sz="1300"/>
                        <a:t>년 부분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긴 파일 사용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699473"/>
                  </a:ext>
                </a:extLst>
              </a:tr>
              <a:tr h="684933">
                <a:tc>
                  <a:txBody>
                    <a:bodyPr/>
                    <a:lstStyle/>
                    <a:p>
                      <a:r>
                        <a:rPr lang="ko-KR" altLang="en-US" sz="1300"/>
                        <a:t>원본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119</a:t>
                      </a:r>
                      <a:r>
                        <a:rPr lang="ko-KR" altLang="en-US" sz="1300"/>
                        <a:t>구조활동실적 </a:t>
                      </a:r>
                      <a:r>
                        <a:rPr lang="en-US" altLang="ko-KR" sz="1300"/>
                        <a:t>2</a:t>
                      </a:r>
                      <a:r>
                        <a:rPr lang="ko-KR" altLang="en-US" sz="1300"/>
                        <a:t>개 버전 </a:t>
                      </a:r>
                      <a:r>
                        <a:rPr lang="en-US" altLang="ko-KR" sz="1300"/>
                        <a:t>(420</a:t>
                      </a:r>
                      <a:r>
                        <a:rPr lang="ko-KR" altLang="en-US" sz="1300"/>
                        <a:t>열 </a:t>
                      </a:r>
                      <a:r>
                        <a:rPr lang="en-US" altLang="ko-KR" sz="1300"/>
                        <a:t>/ 360</a:t>
                      </a:r>
                      <a:r>
                        <a:rPr lang="ko-KR" altLang="en-US" sz="1300"/>
                        <a:t>열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세부 처리 항목 차이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b="1"/>
                        <a:t>[</a:t>
                      </a:r>
                      <a:r>
                        <a:rPr lang="ko-KR" altLang="en-US" sz="1300" b="1"/>
                        <a:t>확인 필요</a:t>
                      </a:r>
                      <a:r>
                        <a:rPr lang="en-US" altLang="ko-KR" sz="1300" b="1"/>
                        <a:t>]</a:t>
                      </a:r>
                      <a:r>
                        <a:rPr lang="ko-KR" altLang="en-US" sz="1300"/>
                        <a:t> 어느 쪽을 썼는지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–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21965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행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XLSX</a:t>
                      </a:r>
                      <a:r>
                        <a:rPr lang="ko-KR" altLang="en-US" sz="1300"/>
                        <a:t>에서 구 이름과 같은 행이 두 번 나옴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서초구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중구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첫 행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구 합계</a:t>
                      </a:r>
                      <a:r>
                        <a:rPr lang="en-US" altLang="ko-KR" sz="1300"/>
                        <a:t>) </a:t>
                      </a:r>
                      <a:r>
                        <a:rPr lang="ko-KR" altLang="en-US" sz="1300"/>
                        <a:t>사용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기록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51306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ambulance_prophet_202512_api ⊂ </a:t>
                      </a:r>
                      <a:r>
                        <a:rPr lang="ko-KR" altLang="en-US" sz="1300"/>
                        <a:t>전체 </a:t>
                      </a:r>
                      <a:r>
                        <a:rPr lang="en-US" sz="1300"/>
                        <a:t>API </a:t>
                      </a:r>
                      <a:r>
                        <a:rPr lang="ko-KR" altLang="en-US" sz="1300"/>
                        <a:t>파일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89359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accident_cause_long = onehot (</a:t>
                      </a:r>
                      <a:r>
                        <a:rPr lang="ko-KR" altLang="en-US" sz="1300"/>
                        <a:t>형태만 다름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long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19520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의료이용 </a:t>
                      </a:r>
                      <a:r>
                        <a:rPr lang="en-US" altLang="ko-KR" sz="1300"/>
                        <a:t>OD </a:t>
                      </a:r>
                      <a:r>
                        <a:rPr lang="ko-KR" altLang="en-US" sz="1300"/>
                        <a:t>매트릭스의 구별 합계 </a:t>
                      </a:r>
                      <a:r>
                        <a:rPr lang="en-US" altLang="ko-KR" sz="1300"/>
                        <a:t>= </a:t>
                      </a:r>
                      <a:r>
                        <a:rPr lang="ko-KR" altLang="en-US" sz="1300"/>
                        <a:t>수요</a:t>
                      </a:r>
                      <a:r>
                        <a:rPr lang="en-US" altLang="ko-KR" sz="1300"/>
                        <a:t>·</a:t>
                      </a:r>
                      <a:r>
                        <a:rPr lang="ko-KR" altLang="en-US" sz="1300"/>
                        <a:t>공급 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OD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64508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컬럼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Pop_Peak = </a:t>
                      </a:r>
                      <a:r>
                        <a:rPr lang="ko-KR" altLang="en-US" sz="1300"/>
                        <a:t>일최대인구수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값 완전 동일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Pop_Peak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051647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건별 데이터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같은 값이 반복되는 행이 있으나 출동 고유번호가 없음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제거하지 않음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진짜 중복인지 판단 불가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기록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993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315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2-6.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불필요한 행 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제외</a:t>
            </a:r>
            <a:r>
              <a:rPr kumimoji="0" lang="en-US" altLang="ko-KR" sz="1400" b="0" i="0" u="none" strike="noStrike" kern="1200" cap="none" spc="0" normalizeH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66812" y="2258568"/>
            <a:ext cx="98209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/>
              <a:t>합계</a:t>
            </a:r>
            <a:r>
              <a:rPr lang="en-US" altLang="ko-KR" b="1"/>
              <a:t>·</a:t>
            </a:r>
            <a:r>
              <a:rPr lang="ko-KR" altLang="en-US" b="1"/>
              <a:t>소계 행</a:t>
            </a:r>
            <a:r>
              <a:rPr lang="en-US" altLang="ko-KR"/>
              <a:t>: </a:t>
            </a:r>
            <a:r>
              <a:rPr lang="ko-KR" altLang="en-US"/>
              <a:t>합계</a:t>
            </a:r>
            <a:r>
              <a:rPr lang="en-US" altLang="ko-KR"/>
              <a:t>, </a:t>
            </a:r>
            <a:r>
              <a:rPr lang="ko-KR" altLang="en-US"/>
              <a:t>소계</a:t>
            </a:r>
            <a:r>
              <a:rPr lang="en-US" altLang="ko-KR"/>
              <a:t>, </a:t>
            </a:r>
            <a:r>
              <a:rPr lang="ko-KR" altLang="en-US"/>
              <a:t>기타</a:t>
            </a:r>
            <a:r>
              <a:rPr lang="en-US" altLang="ko-KR"/>
              <a:t>, </a:t>
            </a:r>
            <a:r>
              <a:rPr lang="ko-KR" altLang="en-US"/>
              <a:t>소방항공대</a:t>
            </a:r>
            <a:r>
              <a:rPr lang="en-US" altLang="ko-KR"/>
              <a:t>, </a:t>
            </a:r>
            <a:r>
              <a:rPr lang="ko-KR" altLang="en-US"/>
              <a:t>서울시 합계 행 </a:t>
            </a:r>
            <a:r>
              <a:rPr lang="en-US" altLang="ko-KR"/>
              <a:t>(</a:t>
            </a:r>
            <a:r>
              <a:rPr lang="ko-KR" altLang="en-US"/>
              <a:t>생활인구 </a:t>
            </a:r>
            <a:r>
              <a:rPr lang="en-US" altLang="ko-KR"/>
              <a:t>3,027</a:t>
            </a:r>
            <a:r>
              <a:rPr lang="ko-KR" altLang="en-US"/>
              <a:t>행</a:t>
            </a:r>
            <a:r>
              <a:rPr lang="en-US" altLang="ko-KR"/>
              <a:t>). </a:t>
            </a:r>
            <a:r>
              <a:rPr lang="ko-KR" altLang="en-US"/>
              <a:t>구 단위가 아니고</a:t>
            </a:r>
            <a:r>
              <a:rPr lang="en-US" altLang="ko-KR"/>
              <a:t>, </a:t>
            </a:r>
            <a:r>
              <a:rPr lang="ko-KR" altLang="en-US"/>
              <a:t>남기면 중복 집계가 됩니다</a:t>
            </a:r>
            <a:r>
              <a:rPr lang="en-US" altLang="ko-KR"/>
              <a:t>. (</a:t>
            </a:r>
            <a:r>
              <a:rPr lang="ko-KR" altLang="en-US"/>
              <a:t>대조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766812" y="31255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/>
              <a:t>동 단위 행</a:t>
            </a:r>
            <a:r>
              <a:rPr lang="en-US" altLang="ko-KR" dirty="0"/>
              <a:t>: XLSX 498</a:t>
            </a:r>
            <a:r>
              <a:rPr lang="ko-KR" altLang="en-US" dirty="0"/>
              <a:t>행 중 구 </a:t>
            </a:r>
            <a:r>
              <a:rPr lang="en-US" altLang="ko-KR" dirty="0"/>
              <a:t>25</a:t>
            </a:r>
            <a:r>
              <a:rPr lang="ko-KR" altLang="en-US" dirty="0"/>
              <a:t>개 행만 남겼습니다</a:t>
            </a:r>
            <a:r>
              <a:rPr lang="en-US" altLang="ko-KR" dirty="0"/>
              <a:t>. </a:t>
            </a:r>
            <a:r>
              <a:rPr lang="ko-KR" altLang="en-US" dirty="0"/>
              <a:t>예측 단위가 구이기 때문입니다</a:t>
            </a:r>
            <a:r>
              <a:rPr lang="en-US" altLang="ko-KR" dirty="0"/>
              <a:t>. (</a:t>
            </a:r>
            <a:r>
              <a:rPr lang="ko-KR" altLang="en-US" dirty="0"/>
              <a:t>대조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766812" y="400194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/>
              <a:t>서울 밖 </a:t>
            </a:r>
            <a:r>
              <a:rPr lang="en-US" altLang="ko-KR" b="1" dirty="0"/>
              <a:t>· </a:t>
            </a:r>
            <a:r>
              <a:rPr lang="ko-KR" altLang="en-US" b="1" dirty="0"/>
              <a:t>구 정보 없음</a:t>
            </a:r>
            <a:r>
              <a:rPr lang="en-US" altLang="ko-KR" dirty="0"/>
              <a:t>: </a:t>
            </a:r>
            <a:r>
              <a:rPr lang="ko-KR" altLang="en-US" dirty="0" err="1"/>
              <a:t>건별</a:t>
            </a:r>
            <a:r>
              <a:rPr lang="ko-KR" altLang="en-US" dirty="0"/>
              <a:t> 데이터 </a:t>
            </a:r>
            <a:r>
              <a:rPr lang="en-US" altLang="ko-KR" dirty="0"/>
              <a:t>1,694</a:t>
            </a:r>
            <a:r>
              <a:rPr lang="ko-KR" altLang="en-US" dirty="0"/>
              <a:t>건</a:t>
            </a:r>
            <a:r>
              <a:rPr lang="en-US" altLang="ko-KR" dirty="0"/>
              <a:t>. </a:t>
            </a:r>
            <a:r>
              <a:rPr lang="ko-KR" altLang="en-US" dirty="0"/>
              <a:t>서울 </a:t>
            </a:r>
            <a:r>
              <a:rPr lang="en-US" altLang="ko-KR" dirty="0"/>
              <a:t>25</a:t>
            </a:r>
            <a:r>
              <a:rPr lang="ko-KR" altLang="en-US" dirty="0"/>
              <a:t>개 구 모델이기 때문입니다</a:t>
            </a:r>
            <a:r>
              <a:rPr lang="en-US" altLang="ko-KR" dirty="0"/>
              <a:t>. (</a:t>
            </a:r>
            <a:r>
              <a:rPr lang="ko-KR" altLang="en-US" dirty="0"/>
              <a:t>기록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766812" y="487832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값이 하나뿐인 열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예를 들어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Ambulance_Available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는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모든 행이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Y입니다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예측에 쓸 정보가 없습니다. (코드) 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057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/>
              <a:t>2-7. </a:t>
            </a:r>
            <a:r>
              <a:rPr lang="ko-KR" altLang="en-US" sz="1400" dirty="0"/>
              <a:t>특별히 처리한 사항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44032" y="2389245"/>
            <a:ext cx="1099913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/>
              <a:t>소방서 신설에 따른 관할 변경 구간 제외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코드</a:t>
            </a:r>
            <a:r>
              <a:rPr lang="en-US" altLang="ko-KR" sz="1200" dirty="0"/>
              <a:t>) </a:t>
            </a:r>
          </a:p>
          <a:p>
            <a:pPr lvl="1"/>
            <a:r>
              <a:rPr lang="ko-KR" altLang="en-US" sz="1200" dirty="0" err="1"/>
              <a:t>성동소방서</a:t>
            </a:r>
            <a:r>
              <a:rPr lang="ko-KR" altLang="en-US" sz="1200" dirty="0"/>
              <a:t> 신설 전</a:t>
            </a:r>
            <a:r>
              <a:rPr lang="en-US" altLang="ko-KR" sz="1200" dirty="0"/>
              <a:t>(~2017.7)</a:t>
            </a:r>
            <a:r>
              <a:rPr lang="ko-KR" altLang="en-US" sz="1200" dirty="0"/>
              <a:t>에는 성동구 출동이 광진구에 합산되어 있었습니다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dirty="0" err="1"/>
              <a:t>금천소방서</a:t>
            </a:r>
            <a:r>
              <a:rPr lang="ko-KR" altLang="en-US" sz="1200" dirty="0"/>
              <a:t> 신설 전</a:t>
            </a:r>
            <a:r>
              <a:rPr lang="en-US" altLang="ko-KR" sz="1200" dirty="0"/>
              <a:t>(~2022.1)</a:t>
            </a:r>
            <a:r>
              <a:rPr lang="ko-KR" altLang="en-US" sz="1200" dirty="0"/>
              <a:t>에는 금천구 출동이 구로구에 합산되어 있었습니다</a:t>
            </a:r>
            <a:r>
              <a:rPr lang="en-US" altLang="ko-KR" sz="1200" dirty="0"/>
              <a:t>.</a:t>
            </a:r>
          </a:p>
          <a:p>
            <a:pPr lvl="1"/>
            <a:r>
              <a:rPr lang="en-US" altLang="ko-KR" sz="1200" dirty="0"/>
              <a:t>4</a:t>
            </a:r>
            <a:r>
              <a:rPr lang="ko-KR" altLang="en-US" sz="1200" dirty="0"/>
              <a:t>개 구는 관할이 정리된 </a:t>
            </a:r>
            <a:r>
              <a:rPr lang="ko-KR" altLang="en-US" sz="1200" dirty="0" err="1"/>
              <a:t>달부터만</a:t>
            </a:r>
            <a:r>
              <a:rPr lang="ko-KR" altLang="en-US" sz="1200" dirty="0"/>
              <a:t> 사용합니다</a:t>
            </a:r>
            <a:r>
              <a:rPr lang="en-US" altLang="ko-KR" sz="1200" dirty="0"/>
              <a:t>. </a:t>
            </a:r>
            <a:r>
              <a:rPr lang="ko-KR" altLang="en-US" sz="1200" dirty="0"/>
              <a:t>이렇게 하지 않으면 광진</a:t>
            </a:r>
            <a:r>
              <a:rPr lang="en-US" altLang="ko-KR" sz="1200" dirty="0"/>
              <a:t>·</a:t>
            </a:r>
            <a:r>
              <a:rPr lang="ko-KR" altLang="en-US" sz="1200" dirty="0"/>
              <a:t>구로는 가짜 </a:t>
            </a:r>
            <a:r>
              <a:rPr lang="en-US" altLang="ko-KR" sz="1200" dirty="0"/>
              <a:t>"</a:t>
            </a:r>
            <a:r>
              <a:rPr lang="ko-KR" altLang="en-US" sz="1200" dirty="0"/>
              <a:t>급감</a:t>
            </a:r>
            <a:r>
              <a:rPr lang="en-US" altLang="ko-KR" sz="1200" dirty="0"/>
              <a:t>", </a:t>
            </a:r>
            <a:r>
              <a:rPr lang="ko-KR" altLang="en-US" sz="1200" dirty="0"/>
              <a:t>성동</a:t>
            </a:r>
            <a:r>
              <a:rPr lang="en-US" altLang="ko-KR" sz="1200" dirty="0"/>
              <a:t>·</a:t>
            </a:r>
            <a:r>
              <a:rPr lang="ko-KR" altLang="en-US" sz="1200" dirty="0"/>
              <a:t>금천은 가짜 </a:t>
            </a:r>
            <a:r>
              <a:rPr lang="en-US" altLang="ko-KR" sz="1200" dirty="0"/>
              <a:t>"</a:t>
            </a:r>
            <a:r>
              <a:rPr lang="ko-KR" altLang="en-US" sz="1200" dirty="0"/>
              <a:t>급증</a:t>
            </a:r>
            <a:r>
              <a:rPr lang="en-US" altLang="ko-KR" sz="1200" dirty="0"/>
              <a:t>"</a:t>
            </a:r>
            <a:r>
              <a:rPr lang="ko-KR" altLang="en-US" sz="1200" dirty="0"/>
              <a:t>으로 보입니다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dirty="0"/>
              <a:t>공유 파일 기준으로 </a:t>
            </a:r>
            <a:r>
              <a:rPr lang="en-US" altLang="ko-KR" sz="1200" dirty="0"/>
              <a:t>36</a:t>
            </a:r>
            <a:r>
              <a:rPr lang="ko-KR" altLang="en-US" sz="1200" dirty="0"/>
              <a:t>행을 제외했습니다</a:t>
            </a:r>
            <a:r>
              <a:rPr lang="en-US" altLang="ko-KR" sz="1200" dirty="0"/>
              <a:t>.</a:t>
            </a:r>
          </a:p>
          <a:p>
            <a:r>
              <a:rPr lang="ko-KR" altLang="en-US" sz="1200" b="1" dirty="0"/>
              <a:t>집계 기준이 다른 자료는 섞지 않음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코드</a:t>
            </a:r>
            <a:r>
              <a:rPr lang="en-US" altLang="ko-KR" sz="1200" dirty="0"/>
              <a:t>) </a:t>
            </a:r>
          </a:p>
          <a:p>
            <a:pPr lvl="1"/>
            <a:r>
              <a:rPr lang="ko-KR" altLang="en-US" sz="1200" dirty="0" err="1"/>
              <a:t>건별</a:t>
            </a:r>
            <a:r>
              <a:rPr lang="ko-KR" altLang="en-US" sz="1200" dirty="0"/>
              <a:t> 데이터는 사고 </a:t>
            </a:r>
            <a:r>
              <a:rPr lang="ko-KR" altLang="en-US" sz="1200" b="1" dirty="0"/>
              <a:t>발생 구</a:t>
            </a:r>
            <a:r>
              <a:rPr lang="ko-KR" altLang="en-US" sz="1200" dirty="0"/>
              <a:t> 기준이고</a:t>
            </a:r>
            <a:r>
              <a:rPr lang="en-US" altLang="ko-KR" sz="1200" dirty="0"/>
              <a:t>, API</a:t>
            </a:r>
            <a:r>
              <a:rPr lang="ko-KR" altLang="en-US" sz="1200" dirty="0"/>
              <a:t>는 </a:t>
            </a:r>
            <a:r>
              <a:rPr lang="ko-KR" altLang="en-US" sz="1200" b="1" dirty="0"/>
              <a:t>소방서 관할</a:t>
            </a:r>
            <a:r>
              <a:rPr lang="ko-KR" altLang="en-US" sz="1200" dirty="0"/>
              <a:t> 기준입니다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dirty="0"/>
              <a:t>두 자료를 섞으면 같은 구의 수준이 들쭉날쭉해져서</a:t>
            </a:r>
            <a:r>
              <a:rPr lang="en-US" altLang="ko-KR" sz="1200" dirty="0"/>
              <a:t>, API </a:t>
            </a:r>
            <a:r>
              <a:rPr lang="ko-KR" altLang="en-US" sz="1200" dirty="0"/>
              <a:t>한 가지 기준만 정답으로 썼습니다</a:t>
            </a:r>
            <a:r>
              <a:rPr lang="en-US" altLang="ko-KR" sz="1200" dirty="0"/>
              <a:t>.</a:t>
            </a:r>
          </a:p>
          <a:p>
            <a:r>
              <a:rPr lang="ko-KR" altLang="en-US" sz="1200" b="1" dirty="0" err="1"/>
              <a:t>천단위</a:t>
            </a:r>
            <a:r>
              <a:rPr lang="ko-KR" altLang="en-US" sz="1200" b="1" dirty="0"/>
              <a:t> 콤마 제거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기록</a:t>
            </a:r>
            <a:r>
              <a:rPr lang="en-US" altLang="ko-KR" sz="1200" dirty="0"/>
              <a:t>) </a:t>
            </a:r>
          </a:p>
          <a:p>
            <a:pPr lvl="1"/>
            <a:r>
              <a:rPr lang="ko-KR" altLang="en-US" sz="1200" dirty="0"/>
              <a:t>의료이용 </a:t>
            </a:r>
            <a:r>
              <a:rPr lang="en-US" altLang="ko-KR" sz="1200" dirty="0"/>
              <a:t>csv </a:t>
            </a:r>
            <a:r>
              <a:rPr lang="ko-KR" altLang="en-US" sz="1200" dirty="0"/>
              <a:t>버전에서 숫자에 콤마가 섞여 있었습니다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그대로 숫자로 바꾸면 </a:t>
            </a:r>
            <a:r>
              <a:rPr lang="en-US" altLang="ko-KR" sz="1200" dirty="0"/>
              <a:t>1,000 </a:t>
            </a:r>
            <a:r>
              <a:rPr lang="ko-KR" altLang="en-US" sz="1200" dirty="0"/>
              <a:t>이상인 값이 전부 </a:t>
            </a:r>
            <a:r>
              <a:rPr lang="ko-KR" altLang="en-US" sz="1200" dirty="0" err="1"/>
              <a:t>결측이</a:t>
            </a:r>
            <a:r>
              <a:rPr lang="ko-KR" altLang="en-US" sz="1200" dirty="0"/>
              <a:t> 됩니다</a:t>
            </a:r>
            <a:r>
              <a:rPr lang="en-US" altLang="ko-KR" sz="1200" dirty="0"/>
              <a:t>.</a:t>
            </a:r>
          </a:p>
          <a:p>
            <a:r>
              <a:rPr lang="ko-KR" altLang="en-US" sz="1200" b="1" dirty="0"/>
              <a:t>파생 변수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대조</a:t>
            </a:r>
            <a:r>
              <a:rPr lang="en-US" altLang="ko-KR" sz="1200" dirty="0"/>
              <a:t>) </a:t>
            </a:r>
          </a:p>
          <a:p>
            <a:pPr lvl="1"/>
            <a:r>
              <a:rPr lang="en-US" altLang="ko-KR" sz="1200" dirty="0" err="1"/>
              <a:t>Pop_Diff</a:t>
            </a:r>
            <a:r>
              <a:rPr lang="en-US" altLang="ko-KR" sz="1200" dirty="0"/>
              <a:t> = </a:t>
            </a:r>
            <a:r>
              <a:rPr lang="ko-KR" altLang="en-US" sz="1200" dirty="0" err="1"/>
              <a:t>주간인구</a:t>
            </a:r>
            <a:r>
              <a:rPr lang="ko-KR" altLang="en-US" sz="1200" dirty="0"/>
              <a:t> − </a:t>
            </a:r>
            <a:r>
              <a:rPr lang="ko-KR" altLang="en-US" sz="1200" dirty="0" err="1"/>
              <a:t>야간인구</a:t>
            </a:r>
            <a:endParaRPr lang="ko-KR" altLang="en-US" sz="1200" dirty="0"/>
          </a:p>
          <a:p>
            <a:pPr lvl="1"/>
            <a:r>
              <a:rPr lang="ko-KR" altLang="en-US" sz="1200" dirty="0" err="1"/>
              <a:t>유출률</a:t>
            </a:r>
            <a:r>
              <a:rPr lang="ko-KR" altLang="en-US" sz="1200" dirty="0"/>
              <a:t> </a:t>
            </a:r>
            <a:r>
              <a:rPr lang="en-US" altLang="ko-KR" sz="1200" dirty="0"/>
              <a:t>= </a:t>
            </a:r>
            <a:r>
              <a:rPr lang="ko-KR" altLang="en-US" sz="1200" dirty="0" err="1"/>
              <a:t>서울외유출</a:t>
            </a:r>
            <a:r>
              <a:rPr lang="ko-KR" altLang="en-US" sz="1200" dirty="0"/>
              <a:t> </a:t>
            </a:r>
            <a:r>
              <a:rPr lang="en-US" altLang="ko-KR" sz="1200" dirty="0"/>
              <a:t>÷ </a:t>
            </a:r>
            <a:r>
              <a:rPr lang="ko-KR" altLang="en-US" sz="1200" dirty="0" err="1"/>
              <a:t>총입원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예</a:t>
            </a:r>
            <a:r>
              <a:rPr lang="en-US" altLang="ko-KR" sz="1200" dirty="0"/>
              <a:t>: </a:t>
            </a:r>
            <a:r>
              <a:rPr lang="ko-KR" altLang="en-US" sz="1200" dirty="0"/>
              <a:t>강남구 </a:t>
            </a:r>
            <a:r>
              <a:rPr lang="en-US" altLang="ko-KR" sz="1200" dirty="0"/>
              <a:t>2019</a:t>
            </a:r>
            <a:r>
              <a:rPr lang="ko-KR" altLang="en-US" sz="1200" dirty="0"/>
              <a:t>년 </a:t>
            </a:r>
            <a:r>
              <a:rPr lang="en-US" altLang="ko-KR" sz="1200" dirty="0"/>
              <a:t>419,897 ÷ 1,002,129 = 0.419)</a:t>
            </a:r>
          </a:p>
        </p:txBody>
      </p:sp>
    </p:spTree>
    <p:extLst>
      <p:ext uri="{BB962C8B-B14F-4D97-AF65-F5344CB8AC3E}">
        <p14:creationId xmlns:p14="http://schemas.microsoft.com/office/powerpoint/2010/main" val="2230020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05239" y="255853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>
              <a:defRPr/>
            </a:pPr>
            <a:r>
              <a:rPr lang="en-US" altLang="ko-KR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3-1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통합  </a:t>
            </a: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7298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3-1</a:t>
            </a: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통합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/>
              <a:t>3.1.1 </a:t>
            </a:r>
            <a:r>
              <a:rPr lang="ko-KR" altLang="en-US" sz="1400" dirty="0"/>
              <a:t>통합 도식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91941" y="2401021"/>
            <a:ext cx="983060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[이송 건수 예측]</a:t>
            </a:r>
          </a:p>
          <a:p>
            <a:r>
              <a:rPr lang="ko-KR" altLang="en-US" dirty="0"/>
              <a:t> </a:t>
            </a:r>
            <a:r>
              <a:rPr lang="ko-KR" altLang="en-US" dirty="0" err="1"/>
              <a:t>소방청</a:t>
            </a:r>
            <a:r>
              <a:rPr lang="ko-KR" altLang="en-US" dirty="0"/>
              <a:t> API 월별 이송   (정답 + 전월 · 전년동월 값)   ─┐  </a:t>
            </a:r>
            <a:r>
              <a:rPr lang="ko-KR" altLang="en-US" dirty="0" err="1"/>
              <a:t>ds</a:t>
            </a:r>
            <a:r>
              <a:rPr lang="ko-KR" altLang="en-US" dirty="0"/>
              <a:t> + </a:t>
            </a:r>
            <a:r>
              <a:rPr lang="ko-KR" altLang="en-US" dirty="0" err="1"/>
              <a:t>District</a:t>
            </a:r>
            <a:endParaRPr lang="ko-KR" altLang="en-US" dirty="0"/>
          </a:p>
          <a:p>
            <a:r>
              <a:rPr lang="ko-KR" altLang="en-US" dirty="0"/>
              <a:t> </a:t>
            </a:r>
            <a:r>
              <a:rPr lang="ko-KR" altLang="en-US" dirty="0" err="1"/>
              <a:t>생활인구</a:t>
            </a:r>
            <a:r>
              <a:rPr lang="ko-KR" altLang="en-US" dirty="0"/>
              <a:t> 일별 → 월평균 (전월 값)                     ─┤  </a:t>
            </a:r>
            <a:r>
              <a:rPr lang="ko-KR" altLang="en-US" dirty="0" err="1"/>
              <a:t>ds</a:t>
            </a:r>
            <a:r>
              <a:rPr lang="ko-KR" altLang="en-US" dirty="0"/>
              <a:t> + </a:t>
            </a:r>
            <a:r>
              <a:rPr lang="ko-KR" altLang="en-US" dirty="0" err="1"/>
              <a:t>District</a:t>
            </a:r>
            <a:endParaRPr lang="ko-KR" altLang="en-US" dirty="0"/>
          </a:p>
          <a:p>
            <a:r>
              <a:rPr lang="ko-KR" altLang="en-US" dirty="0"/>
              <a:t> 구조활동 사고 원인     (작년 값)                     ─┤  연도 + </a:t>
            </a:r>
            <a:r>
              <a:rPr lang="ko-KR" altLang="en-US" dirty="0" err="1"/>
              <a:t>District</a:t>
            </a:r>
            <a:endParaRPr lang="ko-KR" altLang="en-US" dirty="0"/>
          </a:p>
          <a:p>
            <a:r>
              <a:rPr lang="ko-KR" altLang="en-US" dirty="0"/>
              <a:t> 의료이용 수요 + 공급   (작년 값)                     ─┘  연도 + </a:t>
            </a:r>
            <a:r>
              <a:rPr lang="ko-KR" altLang="en-US" dirty="0" err="1"/>
              <a:t>District</a:t>
            </a:r>
            <a:endParaRPr lang="ko-KR" altLang="en-US" dirty="0"/>
          </a:p>
          <a:p>
            <a:r>
              <a:rPr lang="ko-KR" altLang="en-US" dirty="0"/>
              <a:t>        → </a:t>
            </a:r>
            <a:r>
              <a:rPr lang="ko-KR" altLang="en-US" dirty="0" err="1"/>
              <a:t>transport_dataset</a:t>
            </a:r>
            <a:r>
              <a:rPr lang="ko-KR" altLang="en-US" dirty="0"/>
              <a:t>  (자치구 × 월, 46열)</a:t>
            </a:r>
          </a:p>
          <a:p>
            <a:endParaRPr lang="ko-KR" altLang="en-US" dirty="0"/>
          </a:p>
          <a:p>
            <a:r>
              <a:rPr lang="ko-KR" altLang="en-US" dirty="0"/>
              <a:t>[인구 밀집 예측]</a:t>
            </a:r>
          </a:p>
          <a:p>
            <a:r>
              <a:rPr lang="ko-KR" altLang="en-US" dirty="0"/>
              <a:t> </a:t>
            </a:r>
            <a:r>
              <a:rPr lang="ko-KR" altLang="en-US" dirty="0" err="1"/>
              <a:t>생활인구</a:t>
            </a:r>
            <a:r>
              <a:rPr lang="ko-KR" altLang="en-US" dirty="0"/>
              <a:t> 일별 (월 · 요일 · 주말, 전일 값, 7일 전 값)</a:t>
            </a:r>
          </a:p>
          <a:p>
            <a:r>
              <a:rPr lang="ko-KR" altLang="en-US" dirty="0"/>
              <a:t>        → </a:t>
            </a:r>
            <a:r>
              <a:rPr lang="ko-KR" altLang="en-US" dirty="0" err="1"/>
              <a:t>population_dataset</a:t>
            </a:r>
            <a:r>
              <a:rPr lang="ko-KR" altLang="en-US" dirty="0"/>
              <a:t> (자치구 × 일, 75,825행 × 20열)</a:t>
            </a:r>
          </a:p>
        </p:txBody>
      </p:sp>
    </p:spTree>
    <p:extLst>
      <p:ext uri="{BB962C8B-B14F-4D97-AF65-F5344CB8AC3E}">
        <p14:creationId xmlns:p14="http://schemas.microsoft.com/office/powerpoint/2010/main" val="2901222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3-1</a:t>
            </a: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통합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/>
              <a:t>3.1.2. </a:t>
            </a:r>
            <a:r>
              <a:rPr lang="ko-KR" altLang="en-US" sz="1400" dirty="0"/>
              <a:t>기준 맞춘 방법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53143" y="2136338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단위 맞추기</a:t>
            </a:r>
            <a:r>
              <a:rPr lang="ko-KR" altLang="ko-KR" dirty="0">
                <a:latin typeface="Arial" panose="020B0604020202020204" pitchFamily="34" charset="0"/>
              </a:rPr>
              <a:t>: 일별 </a:t>
            </a:r>
            <a:r>
              <a:rPr lang="ko-KR" altLang="ko-KR" dirty="0" err="1">
                <a:latin typeface="Arial" panose="020B0604020202020204" pitchFamily="34" charset="0"/>
              </a:rPr>
              <a:t>생활인구는</a:t>
            </a:r>
            <a:r>
              <a:rPr lang="ko-KR" altLang="ko-KR" dirty="0">
                <a:latin typeface="Arial" panose="020B0604020202020204" pitchFamily="34" charset="0"/>
              </a:rPr>
              <a:t> 월평균으로 바꿔 월 단위 이송 데이터와 맞췄습니다.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연 단위 자료 연결</a:t>
            </a:r>
            <a:r>
              <a:rPr lang="ko-KR" altLang="ko-KR" dirty="0">
                <a:latin typeface="Arial" panose="020B0604020202020204" pitchFamily="34" charset="0"/>
              </a:rPr>
              <a:t>: 사고 </a:t>
            </a:r>
            <a:r>
              <a:rPr lang="ko-KR" altLang="ko-KR" dirty="0" err="1">
                <a:latin typeface="Arial" panose="020B0604020202020204" pitchFamily="34" charset="0"/>
              </a:rPr>
              <a:t>원인·의료이용은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ko-KR" altLang="ko-KR" sz="1050" dirty="0">
                <a:latin typeface="Arial Unicode MS"/>
              </a:rPr>
              <a:t>연도 + 1</a:t>
            </a:r>
            <a:r>
              <a:rPr lang="ko-KR" altLang="ko-KR" sz="800" dirty="0"/>
              <a:t>을 해서 "작년 </a:t>
            </a:r>
            <a:r>
              <a:rPr lang="ko-KR" altLang="ko-KR" sz="800" dirty="0" err="1"/>
              <a:t>값"으로</a:t>
            </a:r>
            <a:r>
              <a:rPr lang="ko-KR" altLang="ko-KR" sz="800" dirty="0"/>
              <a:t> 붙였습니다.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과거 값 붙이기</a:t>
            </a:r>
            <a:r>
              <a:rPr lang="ko-KR" altLang="ko-KR" dirty="0">
                <a:latin typeface="Arial" panose="020B0604020202020204" pitchFamily="34" charset="0"/>
              </a:rPr>
              <a:t>: 과거 표의 날짜를 1개월·12개월 뒤로 민 다음 </a:t>
            </a:r>
            <a:r>
              <a:rPr lang="ko-KR" altLang="ko-KR" sz="1050" dirty="0" err="1">
                <a:latin typeface="Arial Unicode MS"/>
              </a:rPr>
              <a:t>ds</a:t>
            </a:r>
            <a:r>
              <a:rPr lang="ko-KR" altLang="ko-KR" sz="1050" dirty="0">
                <a:latin typeface="Arial Unicode MS"/>
              </a:rPr>
              <a:t> + </a:t>
            </a:r>
            <a:r>
              <a:rPr lang="ko-KR" altLang="ko-KR" sz="1050" dirty="0" err="1">
                <a:latin typeface="Arial Unicode MS"/>
              </a:rPr>
              <a:t>District</a:t>
            </a:r>
            <a:r>
              <a:rPr lang="ko-KR" altLang="ko-KR" sz="800" dirty="0" err="1"/>
              <a:t>로</a:t>
            </a:r>
            <a:r>
              <a:rPr lang="ko-KR" altLang="ko-KR" sz="800" dirty="0"/>
              <a:t> 병합합니다. 중간에 빈 달이 있어도 엉뚱한 달이 붙지 않습니다.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과거 값만 쓰는 이유</a:t>
            </a:r>
            <a:r>
              <a:rPr lang="ko-KR" altLang="ko-KR" dirty="0">
                <a:latin typeface="Arial" panose="020B0604020202020204" pitchFamily="34" charset="0"/>
              </a:rPr>
              <a:t>: 예측하는 시점에는 이번 달 값을 알 수 없습니다. 그래서 같은 달의 출동 건수(</a:t>
            </a:r>
            <a:r>
              <a:rPr lang="ko-KR" altLang="ko-KR" sz="1050" dirty="0" err="1">
                <a:latin typeface="Arial Unicode MS"/>
              </a:rPr>
              <a:t>전월_y</a:t>
            </a:r>
            <a:r>
              <a:rPr lang="ko-KR" altLang="ko-KR" sz="800" dirty="0"/>
              <a:t> 포함)는 변수에서 뺐습니다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0485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3-1</a:t>
            </a: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통합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/>
              <a:t>3.1.3 </a:t>
            </a:r>
            <a:r>
              <a:rPr lang="ko-KR" altLang="en-US" sz="1400" dirty="0"/>
              <a:t>통합 과정에서 빠진 데이터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707119"/>
              </p:ext>
            </p:extLst>
          </p:nvPr>
        </p:nvGraphicFramePr>
        <p:xfrm>
          <a:off x="932027" y="2398675"/>
          <a:ext cx="10515600" cy="27889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547722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11876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제외 이유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87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건별</a:t>
                      </a:r>
                      <a:r>
                        <a:rPr lang="ko-KR" altLang="en-US" dirty="0"/>
                        <a:t> 월별 집계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발생 구 기준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정답은 관할 기준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139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XLSX 2022~2024 </a:t>
                      </a:r>
                      <a:r>
                        <a:rPr lang="ko-KR" altLang="en-US"/>
                        <a:t>월별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출동건수만 있고 </a:t>
                      </a:r>
                      <a:r>
                        <a:rPr lang="en-US" altLang="ko-KR"/>
                        <a:t>API</a:t>
                      </a:r>
                      <a:r>
                        <a:rPr lang="ko-KR" altLang="en-US"/>
                        <a:t>와 기간이 겹침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3899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소방서별 연도 자료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 단위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473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서울 전체 월별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구 단위 아님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413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관악 표본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1</a:t>
                      </a:r>
                      <a:r>
                        <a:rPr lang="ko-KR" altLang="en-US"/>
                        <a:t>개 구 </a:t>
                      </a:r>
                      <a:r>
                        <a:rPr lang="en-US" altLang="ko-KR"/>
                        <a:t>1</a:t>
                      </a:r>
                      <a:r>
                        <a:rPr lang="ko-KR" altLang="en-US"/>
                        <a:t>개월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36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사고 원인 </a:t>
                      </a:r>
                      <a:r>
                        <a:rPr lang="en-US" altLang="ko-KR"/>
                        <a:t>long · OD </a:t>
                      </a:r>
                      <a:r>
                        <a:rPr lang="ko-KR" altLang="en-US"/>
                        <a:t>매트릭스 </a:t>
                      </a:r>
                      <a:r>
                        <a:rPr lang="en-US" altLang="ko-KR"/>
                        <a:t>· 202512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다른 파일과 내용 중복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624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응급실 병상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회 수집이라 월별 예측과 시간 단위가 다름 → 병상 예측 제외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471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995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3-1</a:t>
            </a:r>
            <a:r>
              <a:rPr kumimoji="0" lang="en-US" sz="3000" b="1" i="0" u="none" strike="noStrike" kern="0" cap="none" spc="-10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통합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/>
              <a:t>3.1.4 </a:t>
            </a:r>
            <a:r>
              <a:rPr lang="ko-KR" altLang="en-US" sz="1400" dirty="0"/>
              <a:t>각</a:t>
            </a:r>
            <a:r>
              <a:rPr lang="en-US" altLang="ko-KR" sz="1400" dirty="0"/>
              <a:t> </a:t>
            </a:r>
            <a:r>
              <a:rPr lang="ko-KR" altLang="en-US" sz="1400" dirty="0"/>
              <a:t>데이터</a:t>
            </a:r>
            <a:r>
              <a:rPr lang="en-US" altLang="ko-KR" sz="1400" dirty="0"/>
              <a:t> </a:t>
            </a:r>
            <a:r>
              <a:rPr lang="ko-KR" altLang="en-US" sz="1400" dirty="0"/>
              <a:t>역할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629796"/>
              </p:ext>
            </p:extLst>
          </p:nvPr>
        </p:nvGraphicFramePr>
        <p:xfrm>
          <a:off x="932027" y="3499986"/>
          <a:ext cx="10515600" cy="1600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5460154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306453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38143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이송 건수 예측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인구 밀집 예측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670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소방청 </a:t>
                      </a:r>
                      <a:r>
                        <a:rPr lang="en-US"/>
                        <a:t>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정답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지난달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작년 같은 달 이송 수준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665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생활인구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지난달 구의 인구 규모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정답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어제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지난주 인구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47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사고 원인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작년 구의 사고 유형 특성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2625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의료이용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작년 구의 의료 수요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공급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267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722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3-2 </a:t>
            </a:r>
            <a:r>
              <a:rPr lang="ko-KR" altLang="en-US" sz="3000" b="1" kern="0" spc="-100" noProof="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변수 선택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/>
              <a:t>3.2.1 </a:t>
            </a:r>
            <a:r>
              <a:rPr lang="ko-KR" altLang="en-US" sz="1400" dirty="0"/>
              <a:t>변수 선택 규칙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277257" y="2645566"/>
            <a:ext cx="104572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결측 </a:t>
            </a:r>
            <a:r>
              <a:rPr lang="en-US" altLang="ko-KR" dirty="0"/>
              <a:t>20% </a:t>
            </a:r>
            <a:r>
              <a:rPr lang="ko-KR" altLang="en-US" dirty="0"/>
              <a:t>초과 → 제외</a:t>
            </a:r>
          </a:p>
          <a:p>
            <a:r>
              <a:rPr lang="ko-KR" altLang="en-US" dirty="0"/>
              <a:t>정답과 상관계수 </a:t>
            </a:r>
            <a:r>
              <a:rPr lang="en-US" altLang="ko-KR" dirty="0"/>
              <a:t>|r| &lt; 0.3 → </a:t>
            </a:r>
            <a:r>
              <a:rPr lang="ko-KR" altLang="en-US" dirty="0"/>
              <a:t>제외</a:t>
            </a:r>
          </a:p>
          <a:p>
            <a:r>
              <a:rPr lang="ko-KR" altLang="en-US" dirty="0"/>
              <a:t>이미 고른 변수와 </a:t>
            </a:r>
            <a:r>
              <a:rPr lang="en-US" altLang="ko-KR" dirty="0"/>
              <a:t>|r| ≥ 0.9 → </a:t>
            </a:r>
            <a:r>
              <a:rPr lang="ko-KR" altLang="en-US" dirty="0"/>
              <a:t>제외 </a:t>
            </a:r>
            <a:r>
              <a:rPr lang="en-US" altLang="ko-KR" dirty="0"/>
              <a:t>(</a:t>
            </a:r>
            <a:r>
              <a:rPr lang="ko-KR" altLang="en-US" dirty="0"/>
              <a:t>같은 정보 반복 방지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추가했을 때 빈 값 없는 행이 </a:t>
            </a:r>
            <a:r>
              <a:rPr lang="en-US" altLang="ko-KR" dirty="0"/>
              <a:t>70% </a:t>
            </a:r>
            <a:r>
              <a:rPr lang="ko-KR" altLang="en-US" dirty="0"/>
              <a:t>미만으로 줄어들면 → 제외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dirty="0"/>
              <a:t>(</a:t>
            </a:r>
            <a:r>
              <a:rPr lang="ko-KR" altLang="en-US" dirty="0"/>
              <a:t>월은 상관계수 대신 원</a:t>
            </a:r>
            <a:r>
              <a:rPr lang="en-US" altLang="ko-KR" dirty="0"/>
              <a:t>-</a:t>
            </a:r>
            <a:r>
              <a:rPr lang="ko-KR" altLang="en-US" dirty="0" err="1"/>
              <a:t>핫</a:t>
            </a:r>
            <a:r>
              <a:rPr lang="ko-KR" altLang="en-US" dirty="0"/>
              <a:t> </a:t>
            </a:r>
            <a:r>
              <a:rPr lang="ko-KR" altLang="en-US" dirty="0" err="1"/>
              <a:t>인코딩으로</a:t>
            </a:r>
            <a:r>
              <a:rPr lang="ko-KR" altLang="en-US" dirty="0"/>
              <a:t> 항상 넣습니다</a:t>
            </a:r>
            <a:r>
              <a:rPr lang="en-US" altLang="ko-KR" dirty="0"/>
              <a:t>. </a:t>
            </a:r>
            <a:r>
              <a:rPr lang="ko-KR" altLang="en-US" dirty="0"/>
              <a:t>계절 효과는 직선 관계가 아니기 때문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80260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3-2 </a:t>
            </a:r>
            <a:r>
              <a:rPr lang="ko-KR" altLang="en-US" sz="3000" b="1" kern="0" spc="-100" noProof="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변수 선택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/>
              <a:t>3.2.2 </a:t>
            </a:r>
            <a:r>
              <a:rPr lang="ko-KR" altLang="en-US" sz="1400" dirty="0"/>
              <a:t>인구 밀집 예측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51180" y="2042509"/>
            <a:ext cx="683659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y (</a:t>
            </a:r>
            <a:r>
              <a:rPr lang="ko-KR" altLang="en-US" b="1" dirty="0"/>
              <a:t>정답</a:t>
            </a:r>
            <a:r>
              <a:rPr lang="en-US" altLang="ko-KR" b="1" dirty="0"/>
              <a:t>)</a:t>
            </a:r>
            <a:r>
              <a:rPr lang="en-US" altLang="ko-KR" dirty="0"/>
              <a:t>: </a:t>
            </a:r>
            <a:r>
              <a:rPr lang="ko-KR" altLang="en-US" dirty="0"/>
              <a:t>일최대인구수</a:t>
            </a:r>
          </a:p>
          <a:p>
            <a:r>
              <a:rPr lang="en-US" altLang="ko-KR" b="1" dirty="0"/>
              <a:t>X (</a:t>
            </a:r>
            <a:r>
              <a:rPr lang="ko-KR" altLang="en-US" b="1" dirty="0"/>
              <a:t>선택 </a:t>
            </a:r>
            <a:r>
              <a:rPr lang="en-US" altLang="ko-KR" b="1" dirty="0"/>
              <a:t>5</a:t>
            </a:r>
            <a:r>
              <a:rPr lang="ko-KR" altLang="en-US" b="1" dirty="0"/>
              <a:t>개</a:t>
            </a:r>
            <a:r>
              <a:rPr lang="en-US" altLang="ko-KR" b="1" dirty="0"/>
              <a:t>)</a:t>
            </a:r>
            <a:r>
              <a:rPr lang="en-US" altLang="ko-KR" dirty="0"/>
              <a:t>: 7</a:t>
            </a:r>
            <a:r>
              <a:rPr lang="ko-KR" altLang="en-US" dirty="0"/>
              <a:t>일전</a:t>
            </a:r>
            <a:r>
              <a:rPr lang="en-US" altLang="ko-KR" dirty="0"/>
              <a:t>_</a:t>
            </a:r>
            <a:r>
              <a:rPr lang="ko-KR" altLang="en-US" dirty="0"/>
              <a:t>일최대인구수</a:t>
            </a:r>
            <a:r>
              <a:rPr lang="en-US" altLang="ko-KR" dirty="0"/>
              <a:t>(r=0.98), </a:t>
            </a:r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en-US" altLang="ko-KR" dirty="0" err="1"/>
              <a:t>Night_Pop</a:t>
            </a:r>
            <a:r>
              <a:rPr lang="en-US" altLang="ko-KR" dirty="0"/>
              <a:t>(0.87), </a:t>
            </a:r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ko-KR" altLang="en-US" dirty="0"/>
              <a:t>일최대이동인구수</a:t>
            </a:r>
            <a:r>
              <a:rPr lang="en-US" altLang="ko-KR" dirty="0"/>
              <a:t>(0.84), </a:t>
            </a:r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ko-KR" altLang="en-US" dirty="0" err="1"/>
              <a:t>동일자치구행정동간이동인구수</a:t>
            </a:r>
            <a:r>
              <a:rPr lang="en-US" altLang="ko-KR" dirty="0"/>
              <a:t>(0.61), </a:t>
            </a:r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en-US" altLang="ko-KR" dirty="0" err="1"/>
              <a:t>Pop_Diff</a:t>
            </a:r>
            <a:r>
              <a:rPr lang="en-US" altLang="ko-KR" dirty="0"/>
              <a:t>(0.49)</a:t>
            </a:r>
          </a:p>
          <a:p>
            <a:r>
              <a:rPr lang="en-US" altLang="ko-KR" b="1" dirty="0"/>
              <a:t>X (</a:t>
            </a:r>
            <a:r>
              <a:rPr lang="ko-KR" altLang="en-US" b="1" dirty="0"/>
              <a:t>항상 포함</a:t>
            </a:r>
            <a:r>
              <a:rPr lang="en-US" altLang="ko-KR" b="1" dirty="0"/>
              <a:t>)</a:t>
            </a:r>
            <a:r>
              <a:rPr lang="en-US" altLang="ko-KR" dirty="0"/>
              <a:t>: </a:t>
            </a:r>
            <a:r>
              <a:rPr lang="ko-KR" altLang="en-US" dirty="0"/>
              <a:t>월</a:t>
            </a:r>
            <a:r>
              <a:rPr lang="en-US" altLang="ko-KR" dirty="0"/>
              <a:t>, </a:t>
            </a:r>
            <a:r>
              <a:rPr lang="ko-KR" altLang="en-US" dirty="0"/>
              <a:t>요일</a:t>
            </a:r>
            <a:r>
              <a:rPr lang="en-US" altLang="ko-KR" dirty="0"/>
              <a:t>, </a:t>
            </a:r>
            <a:r>
              <a:rPr lang="ko-KR" altLang="en-US" dirty="0" err="1"/>
              <a:t>주말여부</a:t>
            </a:r>
            <a:r>
              <a:rPr lang="en-US" altLang="ko-KR" dirty="0"/>
              <a:t>. </a:t>
            </a:r>
            <a:r>
              <a:rPr lang="ko-KR" altLang="en-US" dirty="0"/>
              <a:t>노트북에 </a:t>
            </a:r>
            <a:r>
              <a:rPr lang="en-US" altLang="ko-KR" dirty="0"/>
              <a:t>"</a:t>
            </a:r>
            <a:r>
              <a:rPr lang="ko-KR" altLang="en-US" dirty="0"/>
              <a:t>예측 노트북에서 항상 포함</a:t>
            </a:r>
            <a:r>
              <a:rPr lang="en-US" altLang="ko-KR" dirty="0"/>
              <a:t>"</a:t>
            </a:r>
            <a:r>
              <a:rPr lang="ko-KR" altLang="en-US" dirty="0"/>
              <a:t>이라고 적혀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r>
              <a:rPr lang="ko-KR" altLang="en-US" b="1" dirty="0"/>
              <a:t>제외한 변수와 이유</a:t>
            </a:r>
            <a:r>
              <a:rPr lang="ko-KR" altLang="en-US" dirty="0"/>
              <a:t> </a:t>
            </a:r>
          </a:p>
          <a:p>
            <a:pPr lvl="1"/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ko-KR" altLang="en-US" dirty="0"/>
              <a:t>일최대인구수</a:t>
            </a:r>
            <a:r>
              <a:rPr lang="en-US" altLang="ko-KR" dirty="0"/>
              <a:t>, </a:t>
            </a:r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en-US" altLang="ko-KR" dirty="0" err="1"/>
              <a:t>total_pop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: 7</a:t>
            </a:r>
            <a:r>
              <a:rPr lang="ko-KR" altLang="en-US" dirty="0"/>
              <a:t>일 전 값과 너무 비슷함 </a:t>
            </a:r>
            <a:r>
              <a:rPr lang="en-US" altLang="ko-KR" dirty="0"/>
              <a:t>(|r| ≥ 0.9)</a:t>
            </a:r>
          </a:p>
          <a:p>
            <a:pPr lvl="1"/>
            <a:r>
              <a:rPr lang="ko-KR" altLang="en-US" dirty="0"/>
              <a:t>외국인 인구</a:t>
            </a:r>
            <a:r>
              <a:rPr lang="en-US" altLang="ko-KR" dirty="0"/>
              <a:t>: </a:t>
            </a:r>
            <a:r>
              <a:rPr lang="ko-KR" altLang="en-US" dirty="0"/>
              <a:t>정답과 상관 약함 </a:t>
            </a:r>
            <a:r>
              <a:rPr lang="en-US" altLang="ko-KR" dirty="0"/>
              <a:t>(|r| &lt; 0.3)</a:t>
            </a:r>
          </a:p>
          <a:p>
            <a:r>
              <a:rPr lang="ko-KR" altLang="en-US" b="1" dirty="0"/>
              <a:t>규모</a:t>
            </a:r>
            <a:r>
              <a:rPr lang="en-US" altLang="ko-KR" dirty="0"/>
              <a:t>: 75,825</a:t>
            </a:r>
            <a:r>
              <a:rPr lang="ko-KR" altLang="en-US" dirty="0"/>
              <a:t>행 </a:t>
            </a:r>
            <a:r>
              <a:rPr lang="en-US" altLang="ko-KR" dirty="0"/>
              <a:t>(3,040</a:t>
            </a:r>
            <a:r>
              <a:rPr lang="ko-KR" altLang="en-US" dirty="0"/>
              <a:t>일 </a:t>
            </a:r>
            <a:r>
              <a:rPr lang="en-US" altLang="ko-KR" dirty="0"/>
              <a:t>× 25</a:t>
            </a:r>
            <a:r>
              <a:rPr lang="ko-KR" altLang="en-US" dirty="0"/>
              <a:t>개 구 − 첫 </a:t>
            </a:r>
            <a:r>
              <a:rPr lang="en-US" altLang="ko-KR" dirty="0"/>
              <a:t>7</a:t>
            </a:r>
            <a:r>
              <a:rPr lang="ko-KR" altLang="en-US" dirty="0"/>
              <a:t>일</a:t>
            </a:r>
            <a:r>
              <a:rPr lang="en-US" altLang="ko-KR" dirty="0"/>
              <a:t>). </a:t>
            </a:r>
            <a:r>
              <a:rPr lang="ko-KR" altLang="en-US" dirty="0"/>
              <a:t>전체 </a:t>
            </a:r>
            <a:r>
              <a:rPr lang="en-US" altLang="ko-KR" dirty="0"/>
              <a:t>20</a:t>
            </a:r>
            <a:r>
              <a:rPr lang="ko-KR" altLang="en-US" dirty="0"/>
              <a:t>열 → 학습용 </a:t>
            </a:r>
            <a:r>
              <a:rPr lang="en-US" altLang="ko-KR" dirty="0"/>
              <a:t>8</a:t>
            </a:r>
            <a:r>
              <a:rPr lang="ko-KR" altLang="en-US" dirty="0"/>
              <a:t>열 </a:t>
            </a:r>
            <a:r>
              <a:rPr lang="en-US" altLang="ko-KR" dirty="0"/>
              <a:t>(ds, District, X 5</a:t>
            </a:r>
            <a:r>
              <a:rPr lang="ko-KR" altLang="en-US" dirty="0"/>
              <a:t>개</a:t>
            </a:r>
            <a:r>
              <a:rPr lang="en-US" altLang="ko-KR" dirty="0"/>
              <a:t>, y)</a:t>
            </a:r>
          </a:p>
          <a:p>
            <a:r>
              <a:rPr lang="ko-KR" altLang="en-US" b="1" dirty="0"/>
              <a:t>한 행의 의미</a:t>
            </a:r>
            <a:r>
              <a:rPr lang="en-US" altLang="ko-KR" dirty="0"/>
              <a:t>: </a:t>
            </a:r>
            <a:r>
              <a:rPr lang="ko-KR" altLang="en-US" dirty="0"/>
              <a:t>한 자치구의 하루</a:t>
            </a:r>
          </a:p>
        </p:txBody>
      </p:sp>
    </p:spTree>
    <p:extLst>
      <p:ext uri="{BB962C8B-B14F-4D97-AF65-F5344CB8AC3E}">
        <p14:creationId xmlns:p14="http://schemas.microsoft.com/office/powerpoint/2010/main" val="1103228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3-2 </a:t>
            </a:r>
            <a:r>
              <a:rPr lang="ko-KR" altLang="en-US" sz="3000" b="1" kern="0" spc="-100" noProof="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변수 선택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/>
              <a:t>3.2.3 </a:t>
            </a:r>
            <a:r>
              <a:rPr lang="ko-KR" altLang="en-US" sz="1400" dirty="0"/>
              <a:t>이송 건수 예측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80746" y="1958326"/>
            <a:ext cx="1161816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y (</a:t>
            </a:r>
            <a:r>
              <a:rPr lang="ko-KR" altLang="en-US" b="1" dirty="0"/>
              <a:t>정답</a:t>
            </a:r>
            <a:r>
              <a:rPr lang="en-US" altLang="ko-KR" b="1" dirty="0"/>
              <a:t>)</a:t>
            </a:r>
            <a:r>
              <a:rPr lang="en-US" altLang="ko-KR" dirty="0"/>
              <a:t>: </a:t>
            </a:r>
            <a:r>
              <a:rPr lang="en-US" altLang="ko-KR" dirty="0" err="1"/>
              <a:t>transport_cnt</a:t>
            </a:r>
            <a:r>
              <a:rPr lang="en-US" altLang="ko-KR" dirty="0"/>
              <a:t> (</a:t>
            </a:r>
            <a:r>
              <a:rPr lang="ko-KR" altLang="en-US" dirty="0"/>
              <a:t>그 달 구별 이송 건수</a:t>
            </a:r>
            <a:r>
              <a:rPr lang="en-US" altLang="ko-KR" dirty="0"/>
              <a:t>)</a:t>
            </a:r>
          </a:p>
          <a:p>
            <a:r>
              <a:rPr lang="en-US" altLang="ko-KR" b="1" dirty="0"/>
              <a:t>X </a:t>
            </a:r>
            <a:r>
              <a:rPr lang="ko-KR" altLang="en-US" b="1" dirty="0"/>
              <a:t>후보 </a:t>
            </a:r>
            <a:r>
              <a:rPr lang="en-US" altLang="ko-KR" b="1" dirty="0"/>
              <a:t>41</a:t>
            </a:r>
            <a:r>
              <a:rPr lang="ko-KR" altLang="en-US" b="1" dirty="0"/>
              <a:t>개</a:t>
            </a:r>
            <a:r>
              <a:rPr lang="ko-KR" altLang="en-US" dirty="0"/>
              <a:t> </a:t>
            </a:r>
          </a:p>
          <a:p>
            <a:pPr lvl="1"/>
            <a:r>
              <a:rPr lang="ko-KR" altLang="en-US" dirty="0"/>
              <a:t>연도</a:t>
            </a:r>
          </a:p>
          <a:p>
            <a:pPr lvl="1"/>
            <a:r>
              <a:rPr lang="ko-KR" altLang="en-US" dirty="0"/>
              <a:t>전월 이송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</a:p>
          <a:p>
            <a:pPr lvl="1"/>
            <a:r>
              <a:rPr lang="ko-KR" altLang="en-US" dirty="0"/>
              <a:t>전년동월 출동</a:t>
            </a:r>
            <a:r>
              <a:rPr lang="en-US" altLang="ko-KR" dirty="0"/>
              <a:t>·</a:t>
            </a:r>
            <a:r>
              <a:rPr lang="ko-KR" altLang="en-US" dirty="0"/>
              <a:t>이송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</a:p>
          <a:p>
            <a:pPr lvl="1"/>
            <a:r>
              <a:rPr lang="ko-KR" altLang="en-US" dirty="0"/>
              <a:t>전월 </a:t>
            </a:r>
            <a:r>
              <a:rPr lang="ko-KR" altLang="en-US" dirty="0" err="1"/>
              <a:t>생활인구</a:t>
            </a:r>
            <a:r>
              <a:rPr lang="ko-KR" altLang="en-US" dirty="0"/>
              <a:t> </a:t>
            </a:r>
            <a:r>
              <a:rPr lang="en-US" altLang="ko-KR" dirty="0"/>
              <a:t>13</a:t>
            </a:r>
            <a:r>
              <a:rPr lang="ko-KR" altLang="en-US" dirty="0"/>
              <a:t>개</a:t>
            </a:r>
          </a:p>
          <a:p>
            <a:pPr lvl="1"/>
            <a:r>
              <a:rPr lang="ko-KR" altLang="en-US" dirty="0"/>
              <a:t>전년 사고 원인 </a:t>
            </a:r>
            <a:r>
              <a:rPr lang="en-US" altLang="ko-KR" dirty="0"/>
              <a:t>14</a:t>
            </a:r>
            <a:r>
              <a:rPr lang="ko-KR" altLang="en-US" dirty="0"/>
              <a:t>개</a:t>
            </a:r>
          </a:p>
          <a:p>
            <a:pPr lvl="1"/>
            <a:r>
              <a:rPr lang="ko-KR" altLang="en-US" dirty="0"/>
              <a:t>전년 의료이용 </a:t>
            </a:r>
            <a:r>
              <a:rPr lang="en-US" altLang="ko-KR" dirty="0"/>
              <a:t>10</a:t>
            </a:r>
            <a:r>
              <a:rPr lang="ko-KR" altLang="en-US" dirty="0"/>
              <a:t>개</a:t>
            </a:r>
          </a:p>
          <a:p>
            <a:r>
              <a:rPr lang="en-US" altLang="ko-KR" b="1" dirty="0"/>
              <a:t>X </a:t>
            </a:r>
            <a:r>
              <a:rPr lang="ko-KR" altLang="en-US" b="1" dirty="0"/>
              <a:t>선택 결과 </a:t>
            </a:r>
            <a:r>
              <a:rPr lang="en-US" altLang="ko-KR" b="1" dirty="0"/>
              <a:t>[</a:t>
            </a:r>
            <a:r>
              <a:rPr lang="ko-KR" altLang="en-US" b="1" dirty="0"/>
              <a:t>확인 필요</a:t>
            </a:r>
            <a:r>
              <a:rPr lang="en-US" altLang="ko-KR" b="1" dirty="0"/>
              <a:t>]</a:t>
            </a:r>
            <a:r>
              <a:rPr lang="en-US" altLang="ko-KR" dirty="0"/>
              <a:t>: </a:t>
            </a:r>
            <a:r>
              <a:rPr lang="ko-KR" altLang="en-US" dirty="0"/>
              <a:t>공유 파일로 돌리면 전월</a:t>
            </a:r>
            <a:r>
              <a:rPr lang="en-US" altLang="ko-KR" dirty="0"/>
              <a:t>_</a:t>
            </a:r>
            <a:r>
              <a:rPr lang="en-US" altLang="ko-KR" dirty="0" err="1"/>
              <a:t>transport_cnt</a:t>
            </a:r>
            <a:r>
              <a:rPr lang="en-US" altLang="ko-KR" dirty="0"/>
              <a:t>(r=0.90), </a:t>
            </a:r>
            <a:r>
              <a:rPr lang="ko-KR" altLang="en-US" dirty="0"/>
              <a:t>전년</a:t>
            </a:r>
            <a:r>
              <a:rPr lang="en-US" altLang="ko-KR" dirty="0"/>
              <a:t>_</a:t>
            </a:r>
            <a:r>
              <a:rPr lang="ko-KR" altLang="en-US" dirty="0" err="1"/>
              <a:t>인명갇힘</a:t>
            </a:r>
            <a:r>
              <a:rPr lang="en-US" altLang="ko-KR" dirty="0"/>
              <a:t>(0.60), </a:t>
            </a:r>
            <a:r>
              <a:rPr lang="ko-KR" altLang="en-US" dirty="0"/>
              <a:t>전년</a:t>
            </a:r>
            <a:r>
              <a:rPr lang="en-US" altLang="ko-KR" dirty="0"/>
              <a:t>_</a:t>
            </a:r>
            <a:r>
              <a:rPr lang="ko-KR" altLang="en-US" dirty="0" err="1"/>
              <a:t>승강기사고</a:t>
            </a:r>
            <a:r>
              <a:rPr lang="en-US" altLang="ko-KR" dirty="0"/>
              <a:t>(0.59)</a:t>
            </a:r>
            <a:r>
              <a:rPr lang="ko-KR" altLang="en-US" dirty="0"/>
              <a:t>의 </a:t>
            </a:r>
            <a:r>
              <a:rPr lang="en-US" altLang="ko-KR" dirty="0"/>
              <a:t>3</a:t>
            </a:r>
            <a:r>
              <a:rPr lang="ko-KR" altLang="en-US" dirty="0"/>
              <a:t>개 </a:t>
            </a:r>
            <a:r>
              <a:rPr lang="en-US" altLang="ko-KR" dirty="0"/>
              <a:t>+ </a:t>
            </a:r>
            <a:r>
              <a:rPr lang="ko-KR" altLang="en-US" dirty="0"/>
              <a:t>월이 선택됩니다</a:t>
            </a:r>
            <a:r>
              <a:rPr lang="en-US" altLang="ko-KR" dirty="0"/>
              <a:t>. 2019</a:t>
            </a:r>
            <a:r>
              <a:rPr lang="ko-KR" altLang="en-US" dirty="0"/>
              <a:t>년 이전 데이터만으로 돌린 결과라 </a:t>
            </a:r>
            <a:r>
              <a:rPr lang="ko-KR" altLang="en-US" dirty="0" err="1"/>
              <a:t>생활인구</a:t>
            </a:r>
            <a:r>
              <a:rPr lang="en-US" altLang="ko-KR" dirty="0"/>
              <a:t>·</a:t>
            </a:r>
            <a:r>
              <a:rPr lang="ko-KR" altLang="en-US" dirty="0"/>
              <a:t>의료이용 변수가 모두 </a:t>
            </a:r>
            <a:r>
              <a:rPr lang="ko-KR" altLang="en-US" dirty="0" err="1"/>
              <a:t>결측으로</a:t>
            </a:r>
            <a:r>
              <a:rPr lang="ko-KR" altLang="en-US" dirty="0"/>
              <a:t> 빠진 상태입니다</a:t>
            </a:r>
            <a:r>
              <a:rPr lang="en-US" altLang="ko-KR" dirty="0"/>
              <a:t>. </a:t>
            </a:r>
            <a:r>
              <a:rPr lang="ko-KR" altLang="en-US" dirty="0"/>
              <a:t>팀 최신 </a:t>
            </a:r>
            <a:r>
              <a:rPr lang="en-US" altLang="ko-KR" dirty="0"/>
              <a:t>API </a:t>
            </a:r>
            <a:r>
              <a:rPr lang="ko-KR" altLang="en-US" dirty="0"/>
              <a:t>파일로 다시 돌리면 달라집니다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한 행의 의미</a:t>
            </a:r>
            <a:r>
              <a:rPr lang="en-US" altLang="ko-KR" dirty="0"/>
              <a:t>: </a:t>
            </a:r>
            <a:r>
              <a:rPr lang="ko-KR" altLang="en-US" dirty="0"/>
              <a:t>한 자치구의 한 달</a:t>
            </a:r>
          </a:p>
          <a:p>
            <a:r>
              <a:rPr lang="ko-KR" altLang="en-US" b="1" dirty="0"/>
              <a:t>미래 </a:t>
            </a:r>
            <a:r>
              <a:rPr lang="ko-KR" altLang="en-US" b="1" dirty="0" err="1"/>
              <a:t>예측용</a:t>
            </a:r>
            <a:r>
              <a:rPr lang="ko-KR" altLang="en-US" b="1" dirty="0"/>
              <a:t> 입력</a:t>
            </a:r>
            <a:r>
              <a:rPr lang="en-US" altLang="ko-KR" dirty="0"/>
              <a:t>: transport_future.csv (6</a:t>
            </a:r>
            <a:r>
              <a:rPr lang="ko-KR" altLang="en-US" dirty="0"/>
              <a:t>개월 </a:t>
            </a:r>
            <a:r>
              <a:rPr lang="en-US" altLang="ko-KR" dirty="0"/>
              <a:t>× 25</a:t>
            </a:r>
            <a:r>
              <a:rPr lang="ko-KR" altLang="en-US" dirty="0"/>
              <a:t>개 구 </a:t>
            </a:r>
            <a:r>
              <a:rPr lang="en-US" altLang="ko-KR" dirty="0"/>
              <a:t>= 150</a:t>
            </a:r>
            <a:r>
              <a:rPr lang="ko-KR" altLang="en-US" dirty="0"/>
              <a:t>행</a:t>
            </a:r>
            <a:r>
              <a:rPr lang="en-US" altLang="ko-KR" dirty="0"/>
              <a:t>) </a:t>
            </a:r>
          </a:p>
          <a:p>
            <a:pPr lvl="1"/>
            <a:r>
              <a:rPr lang="ko-KR" altLang="en-US" dirty="0"/>
              <a:t>첫 달만 실제 전월 값이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이후 달은 앞 달의 </a:t>
            </a:r>
            <a:r>
              <a:rPr lang="ko-KR" altLang="en-US" dirty="0" err="1"/>
              <a:t>예측값으로</a:t>
            </a:r>
            <a:r>
              <a:rPr lang="ko-KR" altLang="en-US" dirty="0"/>
              <a:t> 채웁니다 </a:t>
            </a:r>
            <a:r>
              <a:rPr lang="en-US" altLang="ko-KR" dirty="0"/>
              <a:t>(</a:t>
            </a:r>
            <a:r>
              <a:rPr lang="ko-KR" altLang="en-US" dirty="0"/>
              <a:t>재귀 예측</a:t>
            </a:r>
            <a:r>
              <a:rPr lang="en-US" altLang="ko-K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77974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3-2 </a:t>
            </a:r>
            <a:r>
              <a:rPr lang="ko-KR" altLang="en-US" sz="3000" b="1" kern="0" spc="-100" noProof="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변수 선택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/>
              <a:t>3.2.4. </a:t>
            </a:r>
            <a:r>
              <a:rPr lang="ko-KR" altLang="en-US" sz="1400" dirty="0"/>
              <a:t>전체 컬럼 → 최종 사용 컬럼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980364"/>
              </p:ext>
            </p:extLst>
          </p:nvPr>
        </p:nvGraphicFramePr>
        <p:xfrm>
          <a:off x="838047" y="2873622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1886378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473902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27410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이송 건수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인구 밀집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629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입력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지난달 이송 건수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작년 사고 원인</a:t>
                      </a:r>
                      <a:r>
                        <a:rPr lang="en-US" altLang="ko-KR"/>
                        <a:t>, (</a:t>
                      </a:r>
                      <a:r>
                        <a:rPr lang="ko-KR" altLang="en-US"/>
                        <a:t>재실행 후</a:t>
                      </a:r>
                      <a:r>
                        <a:rPr lang="en-US" altLang="ko-KR"/>
                        <a:t>) </a:t>
                      </a:r>
                      <a:r>
                        <a:rPr lang="ko-KR" altLang="en-US"/>
                        <a:t>생활인구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의료이용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7</a:t>
                      </a:r>
                      <a:r>
                        <a:rPr lang="ko-KR" altLang="en-US"/>
                        <a:t>일 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어제 인구 지표 </a:t>
                      </a:r>
                      <a:r>
                        <a:rPr lang="en-US" altLang="ko-KR"/>
                        <a:t>5</a:t>
                      </a:r>
                      <a:r>
                        <a:rPr lang="ko-KR" altLang="en-US"/>
                        <a:t>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월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요일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주말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270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출력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이번 달 구별 이송 건수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오늘 구별 일최대인구수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728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한 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자치구 </a:t>
                      </a:r>
                      <a:r>
                        <a:rPr lang="en-US" altLang="ko-KR"/>
                        <a:t>× </a:t>
                      </a:r>
                      <a:r>
                        <a:rPr lang="ko-KR" altLang="en-US"/>
                        <a:t>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자치구 </a:t>
                      </a:r>
                      <a:r>
                        <a:rPr lang="en-US" altLang="ko-KR"/>
                        <a:t>× </a:t>
                      </a:r>
                      <a:r>
                        <a:rPr lang="ko-KR" altLang="en-US"/>
                        <a:t>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1228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컬럼 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46 → [</a:t>
                      </a:r>
                      <a:r>
                        <a:rPr lang="ko-KR" altLang="en-US"/>
                        <a:t>재실행</a:t>
                      </a:r>
                      <a:r>
                        <a:rPr lang="en-US" altLang="ko-KR"/>
                        <a:t>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20 → 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61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060155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3198</Words>
  <Application>Microsoft Office PowerPoint</Application>
  <PresentationFormat>와이드스크린</PresentationFormat>
  <Paragraphs>517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Arial Unicode MS</vt:lpstr>
      <vt:lpstr>Pretendard</vt:lpstr>
      <vt:lpstr>맑은 고딕</vt:lpstr>
      <vt:lpstr>에이투지체 8 ExtraBold</vt:lpstr>
      <vt:lpstr>Arial</vt:lpstr>
      <vt:lpstr>Calibri</vt:lpstr>
      <vt:lpstr>2_Office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Matthew Kim</dc:creator>
  <cp:lastModifiedBy>mbc1</cp:lastModifiedBy>
  <cp:revision>9</cp:revision>
  <dcterms:created xsi:type="dcterms:W3CDTF">2026-05-01T14:56:49Z</dcterms:created>
  <dcterms:modified xsi:type="dcterms:W3CDTF">2026-09-29T08:29:45Z</dcterms:modified>
</cp:coreProperties>
</file>