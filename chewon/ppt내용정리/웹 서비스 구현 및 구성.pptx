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</ns0:sldIdLst>
  <ns0:sldSz cx="12192000" cy="6858000" type="screen4x3"/>
  <ns0:notesSz cx="6858000" cy="9144000"/>
  <ns0:embeddedFontLst>
    <ns0:embeddedFont>
      <ns0:font typeface="Noto Sans KR"/>
      <ns0:bold ns1:id="rIdFont10"/>
      <ns0:regular ns1:id="rIdFont1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Font10" Type="http://schemas.openxmlformats.org/officeDocument/2006/relationships/font" Target="fonts/daf50027-1261-457e-891c-cc0fc3853a23.fntdata" /><ns0:Relationship Id="rIdFont11" Type="http://schemas.openxmlformats.org/officeDocument/2006/relationships/font" Target="fonts/320759c1-af4e-4200-9d2b-8843eada86b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531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2175" y="679995"/>
            <a:ext cx="1800225" cy="40005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825823"/>
            <a:ext cx="4849117" cy="1266825"/>
          </a:xfrm>
          <a:prstGeom prst="roundRect">
            <a:avLst>
              <a:gd name="adj" fmla="val 9022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283148"/>
            <a:ext cx="4849117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3517" y="2102048"/>
            <a:ext cx="5818882" cy="3038475"/>
          </a:xfrm>
          <a:prstGeom prst="roundRect">
            <a:avLst>
              <a:gd name="adj" fmla="val 501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11167" y="2930723"/>
            <a:ext cx="5323582" cy="904875"/>
          </a:xfrm>
          <a:prstGeom prst="roundRect">
            <a:avLst>
              <a:gd name="adj" fmla="val 12631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11167" y="3987998"/>
            <a:ext cx="5323582" cy="904875"/>
          </a:xfrm>
          <a:prstGeom prst="roundRect">
            <a:avLst>
              <a:gd name="adj" fmla="val 12631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10875" y="2349698"/>
            <a:ext cx="523875" cy="2667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0717" y="321171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20717" y="426898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6119812"/>
            <a:ext cx="17145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95300"/>
            <a:ext cx="166687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167" y="2416373"/>
            <a:ext cx="17145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4575" y="756195"/>
            <a:ext cx="15906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Noto Sans KR"/>
              </a:rPr>
              <a:t>단일 대시보드 통합 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6081712"/>
            <a:ext cx="2059781" cy="190500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Noto Sans KR"/>
              </a:rPr>
              <a:t>기술 스택 (Tech Stack)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0" y="6076950"/>
            <a:ext cx="466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Noto Sans KR"/>
              </a:rPr>
              <a:t>Flask · HTML/CSS · JavaScript · Chart.js · 공공데이터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3536156" cy="200025"/>
          </a:xfrm>
          <a:prstGeom prst="rect">
            <a:avLst/>
          </a:prstGeom>
          <a:noFill/>
        </p:spPr>
        <p:txBody>
          <a:bodyPr wrap="none" lIns="223837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Noto Sans KR"/>
              </a:rPr>
              <a:t>4-1. 웹 서비스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14375"/>
            <a:ext cx="3712964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웹 서비스 구현 및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054423"/>
            <a:ext cx="548989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3C5FD"/>
                </a:solidFill>
                <a:latin typeface="Noto Sans KR"/>
              </a:rPr>
              <a:t>핵심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2330648"/>
            <a:ext cx="448716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FFFFFF"/>
                </a:solidFill>
                <a:latin typeface="Noto Sans KR"/>
              </a:rPr>
              <a:t>구급 수요 분석·예측 결과와 실시간 응급실 병상 정보를 단일 웹 서비스로 통합 제공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521273"/>
            <a:ext cx="573938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Noto Sans KR"/>
              </a:rPr>
              <a:t>주요 구성 요소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921323"/>
            <a:ext cx="446811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Noto Sans KR"/>
              </a:rPr>
              <a:t>통합 메인:</a:t>
            </a:r>
            <a:r>
              <a:rPr b="0" sz="1200" i="0" u="none">
                <a:solidFill>
                  <a:srgbClr val="334155"/>
                </a:solidFill>
                <a:latin typeface="Noto Sans KR"/>
              </a:rPr>
              <a:t> 두 핵심 관제 서비스로의 신속한 이동 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264223"/>
            <a:ext cx="446811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Noto Sans KR"/>
              </a:rPr>
              <a:t>분석·예측:</a:t>
            </a:r>
            <a:r>
              <a:rPr b="0" sz="1200" i="0" u="none">
                <a:solidFill>
                  <a:srgbClr val="334155"/>
                </a:solidFill>
                <a:latin typeface="Noto Sans KR"/>
              </a:rPr>
              <a:t> AI 모델 결과 및 생활인구 연계 대시보드 시각화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607123"/>
            <a:ext cx="446811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Noto Sans KR"/>
              </a:rPr>
              <a:t>실시간 관제:</a:t>
            </a:r>
            <a:r>
              <a:rPr b="0" sz="1200" i="0" u="none">
                <a:solidFill>
                  <a:srgbClr val="334155"/>
                </a:solidFill>
                <a:latin typeface="Noto Sans KR"/>
              </a:rPr>
              <a:t> 공공데이터 API 연계 서울시 응급실 가용병상 제공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950023"/>
            <a:ext cx="446811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Noto Sans KR"/>
              </a:rPr>
              <a:t>공통 네비게이션:</a:t>
            </a:r>
            <a:r>
              <a:rPr b="0" sz="1200" i="0" u="none">
                <a:solidFill>
                  <a:srgbClr val="334155"/>
                </a:solidFill>
                <a:latin typeface="Noto Sans KR"/>
              </a:rPr>
              <a:t> 메인 / 분석·예측 / 병상 관제 화면 간 원클릭 이동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1167" y="2368748"/>
            <a:ext cx="1638300" cy="2286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oto Sans KR"/>
              </a:rPr>
              <a:t>메인 랜딩 화면 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06125" y="2387798"/>
            <a:ext cx="428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Noto Sans KR"/>
              </a:rPr>
              <a:t>/ 메인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7842" y="321171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KR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7842" y="426898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Noto Sans KR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6017" y="3140273"/>
            <a:ext cx="43005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Noto Sans KR"/>
              </a:rPr>
              <a:t>데이터 분석 차트 · AI 예측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6017" y="3426023"/>
            <a:ext cx="4095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B82F6"/>
                </a:solidFill>
                <a:latin typeface="Noto Sans KR"/>
              </a:rPr>
              <a:t>구급 수요 분석 및 자치구별 AI 미래 수요 예측 모니터링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6017" y="4197548"/>
            <a:ext cx="43505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Noto Sans KR"/>
              </a:rPr>
              <a:t>실시간 응급실 병상 관제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6017" y="4483298"/>
            <a:ext cx="4143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5803D"/>
                </a:solidFill>
                <a:latin typeface="Noto Sans KR"/>
              </a:rPr>
              <a:t>서울시 25개 자치구 가용 병상 현황 실시간 집계 및 조회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531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72625" y="679995"/>
            <a:ext cx="2009775" cy="40005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778448"/>
            <a:ext cx="10972800" cy="1057275"/>
          </a:xfrm>
          <a:prstGeom prst="roundRect">
            <a:avLst>
              <a:gd name="adj" fmla="val 1081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544960"/>
            <a:ext cx="26289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90900" y="2444948"/>
            <a:ext cx="26289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444948"/>
            <a:ext cx="2628900" cy="1143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2544960"/>
            <a:ext cx="26289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7250" y="409753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478410"/>
            <a:ext cx="262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544960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544960"/>
            <a:ext cx="9525" cy="9429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8975" y="2544960"/>
            <a:ext cx="9525" cy="9429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3578423"/>
            <a:ext cx="262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900" y="2444948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0900" y="2444948"/>
            <a:ext cx="9525" cy="1143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10275" y="2444948"/>
            <a:ext cx="9525" cy="1143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578423"/>
            <a:ext cx="262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444948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444948"/>
            <a:ext cx="9525" cy="1143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91575" y="2444948"/>
            <a:ext cx="9525" cy="1143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53500" y="3478410"/>
            <a:ext cx="26289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3500" y="2544960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3500" y="2544960"/>
            <a:ext cx="9525" cy="9429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72875" y="2544960"/>
            <a:ext cx="9525" cy="9429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625" y="277832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90925" y="267831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72225" y="267831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53525" y="277832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6119812"/>
            <a:ext cx="11430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95300"/>
            <a:ext cx="147637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725025" y="756195"/>
            <a:ext cx="18002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Noto Sans KR"/>
              </a:rPr>
              <a:t>/analysis 분석·예측 대시보드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625" y="6081712"/>
            <a:ext cx="2690812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Noto Sans KR"/>
              </a:rPr>
              <a:t>대시보드 학습 및 예측 데이터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2325" y="6076950"/>
            <a:ext cx="5019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분석 데이터: </a:t>
            </a:r>
            <a:r>
              <a:rPr b="1" sz="1125" i="0" u="none">
                <a:solidFill>
                  <a:srgbClr val="0F172A"/>
                </a:solidFill>
                <a:latin typeface="Noto Sans KR"/>
              </a:rPr>
              <a:t>2017.01 ~ 2025.12</a:t>
            </a:r>
            <a:r>
              <a:rPr b="1" sz="1125" i="0" u="none">
                <a:solidFill>
                  <a:srgbClr val="0F172A"/>
                </a:solidFill>
                <a:latin typeface="Noto Sans KR"/>
              </a:rPr>
              <a:t>  |  예측 기간: </a:t>
            </a:r>
            <a:r>
              <a:rPr b="1" sz="1125" i="0" u="none">
                <a:solidFill>
                  <a:srgbClr val="0F172A"/>
                </a:solidFill>
                <a:latin typeface="Noto Sans KR"/>
              </a:rPr>
              <a:t>2026.01 ~ 2026.06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457200"/>
            <a:ext cx="5155406" cy="200025"/>
          </a:xfrm>
          <a:prstGeom prst="rect">
            <a:avLst/>
          </a:prstGeom>
          <a:noFill/>
        </p:spPr>
        <p:txBody>
          <a:bodyPr wrap="none" lIns="204787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Noto Sans KR"/>
              </a:rPr>
              <a:t>4-2. Analytics &amp; AI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714375"/>
            <a:ext cx="5413176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구급 수요 분석·예측 및 상세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375" y="409753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Noto Sans KR"/>
              </a:rPr>
              <a:t>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625" y="3087885"/>
            <a:ext cx="278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1~6개월 맞춤형 미래 예측 범위 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0925" y="2987873"/>
            <a:ext cx="2324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예상 이송량 · 피크 시점 · 증가율 · 모델 정확도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2225" y="2987873"/>
            <a:ext cx="2324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과거 이송 실적 vs 미래 예측 시각화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3525" y="3087885"/>
            <a:ext cx="278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서울시 25개 자치구별 예상 수요 순위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4950" y="4026098"/>
            <a:ext cx="106870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Noto Sans KR"/>
              </a:rPr>
              <a:t>상세 분석 영역 (Deep Dive Analysis)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4950" y="4359473"/>
            <a:ext cx="99250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40AF"/>
                </a:solidFill>
                <a:latin typeface="Noto Sans KR"/>
              </a:rPr>
              <a:t>생활인구(일 최대 인구) 예측 및 구급 이송과의 관계 분석 · 사고 유형 및 연령대별 특성 · 자치구 및 AI 모델 검증 명세 제공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750" y="2778323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KR"/>
              </a:rPr>
              <a:t>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475" y="2773560"/>
            <a:ext cx="9901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기간 선택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8050" y="2678310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KR"/>
              </a:rPr>
              <a:t>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4775" y="2673548"/>
            <a:ext cx="9901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핵심 지표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29350" y="2678310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KR"/>
              </a:rPr>
              <a:t>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96075" y="2673548"/>
            <a:ext cx="9901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수요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10650" y="2778323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KR"/>
              </a:rPr>
              <a:t>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77375" y="2773560"/>
            <a:ext cx="9901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지역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name="adj" fmla="val 17391"/>
            </a:avLst>
          </a:prstGeom>
          <a:solidFill>
            <a:srgbClr val="FFF8F6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15525" y="679995"/>
            <a:ext cx="1666875" cy="400050"/>
          </a:xfrm>
          <a:prstGeom prst="roundRect">
            <a:avLst>
              <a:gd name="adj" fmla="val 1904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697485"/>
            <a:ext cx="10972800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39256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90900" y="2492573"/>
            <a:ext cx="26289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492573"/>
            <a:ext cx="26289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2392560"/>
            <a:ext cx="26289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625" y="4240410"/>
            <a:ext cx="3371850" cy="457200"/>
          </a:xfrm>
          <a:prstGeom prst="roundRect">
            <a:avLst>
              <a:gd name="adj" fmla="val 1666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0075" y="4240410"/>
            <a:ext cx="3371850" cy="457200"/>
          </a:xfrm>
          <a:prstGeom prst="roundRect">
            <a:avLst>
              <a:gd name="adj" fmla="val 16666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0525" y="4240410"/>
            <a:ext cx="3371850" cy="4572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625" y="259734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0925" y="269736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2225" y="269736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53525" y="259734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95300"/>
            <a:ext cx="185737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945135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67925" y="756195"/>
            <a:ext cx="14573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Noto Sans KR"/>
              </a:rPr>
              <a:t>/beds 실시간 병상 관제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6086475"/>
            <a:ext cx="113823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Noto Sans KR"/>
              </a:rPr>
              <a:t>※ 강북구·마포구는 실시간 가용병상 API 미제공 지역으로, 등록 응급실 병상 정보 및 인접 자치구 정보를 별도로 제공합니다.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3774281" cy="200025"/>
          </a:xfrm>
          <a:prstGeom prst="rect">
            <a:avLst/>
          </a:prstGeom>
          <a:noFill/>
        </p:spPr>
        <p:txBody>
          <a:bodyPr wrap="none" lIns="242887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Noto Sans KR"/>
              </a:rPr>
              <a:t>4-3. Real-Time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14375"/>
            <a:ext cx="396299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Noto Sans KR"/>
              </a:rPr>
              <a:t>실시간 응급실 병상 관제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897510"/>
            <a:ext cx="11201400" cy="2286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Noto Sans KR"/>
              </a:rPr>
              <a:t>위험도 분류 기준 (자치구 가용병상 합계 기준)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2906910"/>
            <a:ext cx="2324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총 가용병상 및 위험·주의 지역 요약 집계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0925" y="3006923"/>
            <a:ext cx="278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자치구 또는 특정 병원명 실시간 검색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3006923"/>
            <a:ext cx="278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권역별 및 위험도별 모니터링 필터링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525" y="2906910"/>
            <a:ext cx="2324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자치구 및 병원별 카드형 가용병상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2597348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KR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425" y="2592585"/>
            <a:ext cx="11501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실시간 현황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8050" y="2697360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KR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5725" y="2692598"/>
            <a:ext cx="62007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검색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9350" y="2697360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KR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7025" y="2692598"/>
            <a:ext cx="62007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필터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0650" y="2597348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Noto Sans KR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8325" y="2592585"/>
            <a:ext cx="99012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병상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4345185"/>
            <a:ext cx="4953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KR"/>
              </a:rPr>
              <a:t>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7300" y="4368998"/>
            <a:ext cx="180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91B1B"/>
                </a:solidFill>
                <a:latin typeface="Noto Sans KR"/>
              </a:rPr>
              <a:t>위험: 가용병상 5석 이하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345185"/>
            <a:ext cx="4953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KR"/>
              </a:rPr>
              <a:t>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7750" y="4368998"/>
            <a:ext cx="1916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2400E"/>
                </a:solidFill>
                <a:latin typeface="Noto Sans KR"/>
              </a:rPr>
              <a:t>주의: 가용병상 10석 이하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2450" y="4345185"/>
            <a:ext cx="4953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Noto Sans KR"/>
              </a:rPr>
              <a:t>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368998"/>
            <a:ext cx="1916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6534"/>
                </a:solidFill>
                <a:latin typeface="Noto Sans KR"/>
              </a:rPr>
              <a:t>원활: 가용병상 11석 이상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