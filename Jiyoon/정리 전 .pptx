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charts/chart2.xml" ContentType="application/vnd.openxmlformats-officedocument.drawingml.chart+xml"/>
  <Override PartName="/ppt/notesSlides/notesSlide18.xml" ContentType="application/vnd.openxmlformats-officedocument.presentationml.notesSlide+xml"/>
  <Override PartName="/ppt/charts/chart3.xml" ContentType="application/vnd.openxmlformats-officedocument.drawingml.chart+xml"/>
  <Override PartName="/ppt/notesSlides/notesSlide19.xml" ContentType="application/vnd.openxmlformats-officedocument.presentationml.notesSlide+xml"/>
  <Override PartName="/ppt/charts/chart4.xml" ContentType="application/vnd.openxmlformats-officedocument.drawingml.chart+xml"/>
  <Override PartName="/ppt/notesSlides/notesSlide20.xml" ContentType="application/vnd.openxmlformats-officedocument.presentationml.notesSlide+xml"/>
  <Override PartName="/ppt/charts/chart5.xml" ContentType="application/vnd.openxmlformats-officedocument.drawingml.chart+xml"/>
  <Override PartName="/ppt/notesSlides/notesSlide21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22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23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notesSlides/notesSlide24.xml" ContentType="application/vnd.openxmlformats-officedocument.presentationml.notesSlide+xml"/>
  <Override PartName="/ppt/charts/chart13.xml" ContentType="application/vnd.openxmlformats-officedocument.drawingml.chart+xml"/>
  <Override PartName="/ppt/notesSlides/notesSlide25.xml" ContentType="application/vnd.openxmlformats-officedocument.presentationml.notesSlide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rts/chart17.xml" ContentType="application/vnd.openxmlformats-officedocument.drawingml.chart+xml"/>
  <Override PartName="/ppt/notesSlides/notesSlide30.xml" ContentType="application/vnd.openxmlformats-officedocument.presentationml.notesSlide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rts/chart20.xml" ContentType="application/vnd.openxmlformats-officedocument.drawingml.chart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rts/chart21.xml" ContentType="application/vnd.openxmlformats-officedocument.drawingml.chart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rts/chart22.xml" ContentType="application/vnd.openxmlformats-officedocument.drawingml.chart+xml"/>
  <Override PartName="/ppt/notesSlides/notesSlide37.xml" ContentType="application/vnd.openxmlformats-officedocument.presentationml.notesSlide+xml"/>
  <Override PartName="/ppt/charts/chart23.xml" ContentType="application/vnd.openxmlformats-officedocument.drawingml.chart+xml"/>
  <Override PartName="/ppt/notesSlides/notesSlide38.xml" ContentType="application/vnd.openxmlformats-officedocument.presentationml.notesSlide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notesSlides/notesSlide39.xml" ContentType="application/vnd.openxmlformats-officedocument.presentationml.notesSlide+xml"/>
  <Override PartName="/ppt/charts/chart26.xml" ContentType="application/vnd.openxmlformats-officedocument.drawingml.chart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0"/>
  </p:notesMasterIdLst>
  <p:sldIdLst>
    <p:sldId id="1343" r:id="rId2"/>
    <p:sldId id="1369" r:id="rId3"/>
    <p:sldId id="1370" r:id="rId4"/>
    <p:sldId id="1371" r:id="rId5"/>
    <p:sldId id="1372" r:id="rId6"/>
    <p:sldId id="1374" r:id="rId7"/>
    <p:sldId id="1373" r:id="rId8"/>
    <p:sldId id="1375" r:id="rId9"/>
    <p:sldId id="1376" r:id="rId10"/>
    <p:sldId id="1377" r:id="rId11"/>
    <p:sldId id="1378" r:id="rId12"/>
    <p:sldId id="1379" r:id="rId13"/>
    <p:sldId id="1380" r:id="rId14"/>
    <p:sldId id="1381" r:id="rId15"/>
    <p:sldId id="1382" r:id="rId16"/>
    <p:sldId id="1383" r:id="rId17"/>
    <p:sldId id="1384" r:id="rId18"/>
    <p:sldId id="1385" r:id="rId19"/>
    <p:sldId id="1386" r:id="rId20"/>
    <p:sldId id="1387" r:id="rId21"/>
    <p:sldId id="1388" r:id="rId22"/>
    <p:sldId id="1389" r:id="rId23"/>
    <p:sldId id="1390" r:id="rId24"/>
    <p:sldId id="1391" r:id="rId25"/>
    <p:sldId id="1392" r:id="rId26"/>
    <p:sldId id="1393" r:id="rId27"/>
    <p:sldId id="1394" r:id="rId28"/>
    <p:sldId id="1395" r:id="rId29"/>
    <p:sldId id="1396" r:id="rId30"/>
    <p:sldId id="1397" r:id="rId31"/>
    <p:sldId id="1413" r:id="rId32"/>
    <p:sldId id="1399" r:id="rId33"/>
    <p:sldId id="1400" r:id="rId34"/>
    <p:sldId id="1401" r:id="rId35"/>
    <p:sldId id="1402" r:id="rId36"/>
    <p:sldId id="1403" r:id="rId37"/>
    <p:sldId id="1404" r:id="rId38"/>
    <p:sldId id="1405" r:id="rId39"/>
    <p:sldId id="1406" r:id="rId40"/>
    <p:sldId id="1407" r:id="rId41"/>
    <p:sldId id="1408" r:id="rId42"/>
    <p:sldId id="1409" r:id="rId43"/>
    <p:sldId id="1410" r:id="rId44"/>
    <p:sldId id="1411" r:id="rId45"/>
    <p:sldId id="1412" r:id="rId46"/>
    <p:sldId id="1365" r:id="rId47"/>
    <p:sldId id="1366" r:id="rId48"/>
    <p:sldId id="1367" r:id="rId4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69" autoAdjust="0"/>
    <p:restoredTop sz="86870" autoAdjust="0"/>
  </p:normalViewPr>
  <p:slideViewPr>
    <p:cSldViewPr snapToGrid="0">
      <p:cViewPr varScale="1">
        <p:scale>
          <a:sx n="80" d="100"/>
          <a:sy n="80" d="100"/>
        </p:scale>
        <p:origin x="9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구 간 상관 (구별 평균 비교)</c:v>
                </c:pt>
              </c:strCache>
            </c:strRef>
          </c:tx>
          <c:spPr>
            <a:solidFill>
              <a:srgbClr val="222222"/>
            </a:solidFill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222222"/>
                    </a:solidFill>
                    <a:latin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Sheet1!$A$2:$A$14</c:f>
              <c:strCache>
                <c:ptCount val="13"/>
                <c:pt idx="0">
                  <c:v>단기체류 외국인</c:v>
                </c:pt>
                <c:pt idx="1">
                  <c:v>주간−야간 차이</c:v>
                </c:pt>
                <c:pt idx="2">
                  <c:v>장기체류 외국인</c:v>
                </c:pt>
                <c:pt idx="3">
                  <c:v>자치구간 이동인구</c:v>
                </c:pt>
                <c:pt idx="4">
                  <c:v>서울외 유입인구</c:v>
                </c:pt>
                <c:pt idx="5">
                  <c:v>일최대 이동인구</c:v>
                </c:pt>
                <c:pt idx="6">
                  <c:v>주간인구</c:v>
                </c:pt>
                <c:pt idx="7">
                  <c:v>일최대인구</c:v>
                </c:pt>
                <c:pt idx="8">
                  <c:v>총 생활인구</c:v>
                </c:pt>
                <c:pt idx="9">
                  <c:v>내국인 생활인구</c:v>
                </c:pt>
                <c:pt idx="10">
                  <c:v>일최소인구</c:v>
                </c:pt>
                <c:pt idx="11">
                  <c:v>동일구 행정동간 이동</c:v>
                </c:pt>
                <c:pt idx="12">
                  <c:v>야간인구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-8.7999999999999995E-2</c:v>
                </c:pt>
                <c:pt idx="1">
                  <c:v>-5.1999999999999998E-2</c:v>
                </c:pt>
                <c:pt idx="2">
                  <c:v>7.0000000000000001E-3</c:v>
                </c:pt>
                <c:pt idx="3">
                  <c:v>0.14000000000000001</c:v>
                </c:pt>
                <c:pt idx="4">
                  <c:v>0.36099999999999999</c:v>
                </c:pt>
                <c:pt idx="5">
                  <c:v>0.45300000000000001</c:v>
                </c:pt>
                <c:pt idx="6">
                  <c:v>0.63500000000000001</c:v>
                </c:pt>
                <c:pt idx="7">
                  <c:v>0.68100000000000005</c:v>
                </c:pt>
                <c:pt idx="8">
                  <c:v>0.751</c:v>
                </c:pt>
                <c:pt idx="9">
                  <c:v>0.76400000000000001</c:v>
                </c:pt>
                <c:pt idx="10">
                  <c:v>0.77400000000000002</c:v>
                </c:pt>
                <c:pt idx="11">
                  <c:v>0.78900000000000003</c:v>
                </c:pt>
                <c:pt idx="12">
                  <c:v>0.80700000000000005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CE9-4D34-8F00-FE6E5ABE697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구 내 상관 (한 구의 월별 변화)</c:v>
                </c:pt>
              </c:strCache>
            </c:strRef>
          </c:tx>
          <c:spPr>
            <a:solidFill>
              <a:srgbClr val="C9CDD2"/>
            </a:solidFill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222222"/>
                    </a:solidFill>
                    <a:latin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Sheet1!$A$2:$A$14</c:f>
              <c:strCache>
                <c:ptCount val="13"/>
                <c:pt idx="0">
                  <c:v>단기체류 외국인</c:v>
                </c:pt>
                <c:pt idx="1">
                  <c:v>주간−야간 차이</c:v>
                </c:pt>
                <c:pt idx="2">
                  <c:v>장기체류 외국인</c:v>
                </c:pt>
                <c:pt idx="3">
                  <c:v>자치구간 이동인구</c:v>
                </c:pt>
                <c:pt idx="4">
                  <c:v>서울외 유입인구</c:v>
                </c:pt>
                <c:pt idx="5">
                  <c:v>일최대 이동인구</c:v>
                </c:pt>
                <c:pt idx="6">
                  <c:v>주간인구</c:v>
                </c:pt>
                <c:pt idx="7">
                  <c:v>일최대인구</c:v>
                </c:pt>
                <c:pt idx="8">
                  <c:v>총 생활인구</c:v>
                </c:pt>
                <c:pt idx="9">
                  <c:v>내국인 생활인구</c:v>
                </c:pt>
                <c:pt idx="10">
                  <c:v>일최소인구</c:v>
                </c:pt>
                <c:pt idx="11">
                  <c:v>동일구 행정동간 이동</c:v>
                </c:pt>
                <c:pt idx="12">
                  <c:v>야간인구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0.21</c:v>
                </c:pt>
                <c:pt idx="1">
                  <c:v>8.3000000000000004E-2</c:v>
                </c:pt>
                <c:pt idx="2">
                  <c:v>0.245</c:v>
                </c:pt>
                <c:pt idx="3">
                  <c:v>0.313</c:v>
                </c:pt>
                <c:pt idx="4">
                  <c:v>0.3</c:v>
                </c:pt>
                <c:pt idx="5">
                  <c:v>0.29399999999999998</c:v>
                </c:pt>
                <c:pt idx="6">
                  <c:v>0.26500000000000001</c:v>
                </c:pt>
                <c:pt idx="7">
                  <c:v>0.32900000000000001</c:v>
                </c:pt>
                <c:pt idx="8">
                  <c:v>0.28000000000000003</c:v>
                </c:pt>
                <c:pt idx="9">
                  <c:v>0.247</c:v>
                </c:pt>
                <c:pt idx="10">
                  <c:v>0.17799999999999999</c:v>
                </c:pt>
                <c:pt idx="11">
                  <c:v>8.6999999999999994E-2</c:v>
                </c:pt>
                <c:pt idx="12">
                  <c:v>0.28000000000000003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BCE9-4D34-8F00-FE6E5ABE697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low"/>
        <c:spPr>
          <a:ln>
            <a:solidFill>
              <a:srgbClr val="C9CDD2"/>
            </a:solidFill>
          </a:ln>
        </c:spPr>
        <c:txPr>
          <a:bodyPr/>
          <a:lstStyle/>
          <a:p>
            <a:pPr>
              <a:defRPr>
                <a:solidFill>
                  <a:srgbClr val="45515E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-0.2"/>
        </c:scaling>
        <c:delete val="0"/>
        <c:axPos val="b"/>
        <c:majorGridlines>
          <c:spPr>
            <a:ln>
              <a:solidFill>
                <a:srgbClr val="DDDDDD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8E8E93"/>
                </a:solidFill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>
              <a:latin typeface="Pretendard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000">
          <a:solidFill>
            <a:srgbClr val="222222"/>
          </a:solidFill>
          <a:latin typeface="Pretendard"/>
          <a:ea typeface="Pretendard"/>
          <a:cs typeface="Pretendard"/>
        </a:defRPr>
      </a:pPr>
      <a:endParaRPr lang="ko-K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가중치</c:v>
                </c:pt>
              </c:strCache>
            </c:strRef>
          </c:tx>
          <c:spPr>
            <a:solidFill>
              <a:srgbClr val="222222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C8102E"/>
              </a:solidFill>
            </c:spPr>
            <c:extLst>
              <c:ext xmlns:c16="http://schemas.microsoft.com/office/drawing/2014/chart" uri="{C3380CC4-5D6E-409C-BE32-E72D297353CC}">
                <c16:uniqueId val="{00000001-4AD3-4C54-9436-20220C6FE7C8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222222"/>
                    </a:solidFill>
                    <a:latin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야간인구</c:v>
                </c:pt>
                <c:pt idx="1">
                  <c:v>행정동간 이동</c:v>
                </c:pt>
                <c:pt idx="2">
                  <c:v>일최대인구</c:v>
                </c:pt>
                <c:pt idx="3">
                  <c:v>서울외 유입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0.30599999999999999</c:v>
                </c:pt>
                <c:pt idx="1">
                  <c:v>0.29899999999999999</c:v>
                </c:pt>
                <c:pt idx="2">
                  <c:v>0.25800000000000001</c:v>
                </c:pt>
                <c:pt idx="3">
                  <c:v>0.13700000000000001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4AD3-4C54-9436-20220C6FE7C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9CDD2"/>
            </a:solidFill>
          </a:ln>
        </c:spPr>
        <c:txPr>
          <a:bodyPr/>
          <a:lstStyle/>
          <a:p>
            <a:pPr>
              <a:defRPr>
                <a:solidFill>
                  <a:srgbClr val="45515E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4"/>
          <c:min val="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8E8E93"/>
                </a:solidFill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solidFill>
            <a:srgbClr val="222222"/>
          </a:solidFill>
          <a:latin typeface="Pretendard"/>
          <a:ea typeface="Pretendard"/>
          <a:cs typeface="Pretendard"/>
        </a:defRPr>
      </a:pPr>
      <a:endParaRPr lang="ko-KR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자치구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11"/>
          </c:marker>
          <c:dPt>
            <c:idx val="0"/>
            <c:marker>
              <c:spPr>
                <a:solidFill>
                  <a:srgbClr val="5B6B7B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430D-41AA-B005-A39FB6C14B01}"/>
              </c:ext>
            </c:extLst>
          </c:dPt>
          <c:dPt>
            <c:idx val="1"/>
            <c:marker>
              <c:spPr>
                <a:solidFill>
                  <a:srgbClr val="5B6B7B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430D-41AA-B005-A39FB6C14B01}"/>
              </c:ext>
            </c:extLst>
          </c:dPt>
          <c:dPt>
            <c:idx val="2"/>
            <c:marker>
              <c:spPr>
                <a:solidFill>
                  <a:srgbClr val="5B6B7B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430D-41AA-B005-A39FB6C14B01}"/>
              </c:ext>
            </c:extLst>
          </c:dPt>
          <c:dPt>
            <c:idx val="3"/>
            <c:marker>
              <c:spPr>
                <a:solidFill>
                  <a:srgbClr val="222222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430D-41AA-B005-A39FB6C14B01}"/>
              </c:ext>
            </c:extLst>
          </c:dPt>
          <c:dPt>
            <c:idx val="4"/>
            <c:marker>
              <c:spPr>
                <a:solidFill>
                  <a:srgbClr val="222222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430D-41AA-B005-A39FB6C14B01}"/>
              </c:ext>
            </c:extLst>
          </c:dPt>
          <c:dPt>
            <c:idx val="5"/>
            <c:marker>
              <c:spPr>
                <a:solidFill>
                  <a:srgbClr val="C8102E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430D-41AA-B005-A39FB6C14B01}"/>
              </c:ext>
            </c:extLst>
          </c:dPt>
          <c:dPt>
            <c:idx val="6"/>
            <c:marker>
              <c:spPr>
                <a:solidFill>
                  <a:srgbClr val="C8102E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430D-41AA-B005-A39FB6C14B01}"/>
              </c:ext>
            </c:extLst>
          </c:dPt>
          <c:dPt>
            <c:idx val="7"/>
            <c:marker>
              <c:spPr>
                <a:solidFill>
                  <a:srgbClr val="C8102E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430D-41AA-B005-A39FB6C14B01}"/>
              </c:ext>
            </c:extLst>
          </c:dPt>
          <c:dPt>
            <c:idx val="8"/>
            <c:marker>
              <c:spPr>
                <a:solidFill>
                  <a:srgbClr val="C8102E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430D-41AA-B005-A39FB6C14B01}"/>
              </c:ext>
            </c:extLst>
          </c:dPt>
          <c:dPt>
            <c:idx val="9"/>
            <c:marker>
              <c:spPr>
                <a:solidFill>
                  <a:srgbClr val="C8102E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9-430D-41AA-B005-A39FB6C14B01}"/>
              </c:ext>
            </c:extLst>
          </c:dPt>
          <c:dPt>
            <c:idx val="10"/>
            <c:marker>
              <c:spPr>
                <a:solidFill>
                  <a:srgbClr val="C8102E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A-430D-41AA-B005-A39FB6C14B01}"/>
              </c:ext>
            </c:extLst>
          </c:dPt>
          <c:dPt>
            <c:idx val="11"/>
            <c:marker>
              <c:spPr>
                <a:solidFill>
                  <a:srgbClr val="C8102E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B-430D-41AA-B005-A39FB6C14B01}"/>
              </c:ext>
            </c:extLst>
          </c:dPt>
          <c:dPt>
            <c:idx val="12"/>
            <c:marker>
              <c:spPr>
                <a:solidFill>
                  <a:srgbClr val="C9CDD2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C-430D-41AA-B005-A39FB6C14B01}"/>
              </c:ext>
            </c:extLst>
          </c:dPt>
          <c:dPt>
            <c:idx val="13"/>
            <c:marker>
              <c:spPr>
                <a:solidFill>
                  <a:srgbClr val="C9CDD2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D-430D-41AA-B005-A39FB6C14B01}"/>
              </c:ext>
            </c:extLst>
          </c:dPt>
          <c:dPt>
            <c:idx val="14"/>
            <c:marker>
              <c:spPr>
                <a:solidFill>
                  <a:srgbClr val="C9CDD2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E-430D-41AA-B005-A39FB6C14B01}"/>
              </c:ext>
            </c:extLst>
          </c:dPt>
          <c:dPt>
            <c:idx val="15"/>
            <c:marker>
              <c:spPr>
                <a:solidFill>
                  <a:srgbClr val="C9CDD2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F-430D-41AA-B005-A39FB6C14B01}"/>
              </c:ext>
            </c:extLst>
          </c:dPt>
          <c:dPt>
            <c:idx val="16"/>
            <c:marker>
              <c:spPr>
                <a:solidFill>
                  <a:srgbClr val="C9CDD2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0-430D-41AA-B005-A39FB6C14B01}"/>
              </c:ext>
            </c:extLst>
          </c:dPt>
          <c:dPt>
            <c:idx val="17"/>
            <c:marker>
              <c:spPr>
                <a:solidFill>
                  <a:srgbClr val="C9CDD2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1-430D-41AA-B005-A39FB6C14B01}"/>
              </c:ext>
            </c:extLst>
          </c:dPt>
          <c:dPt>
            <c:idx val="18"/>
            <c:marker>
              <c:spPr>
                <a:solidFill>
                  <a:srgbClr val="C9CDD2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2-430D-41AA-B005-A39FB6C14B01}"/>
              </c:ext>
            </c:extLst>
          </c:dPt>
          <c:dPt>
            <c:idx val="19"/>
            <c:marker>
              <c:spPr>
                <a:solidFill>
                  <a:srgbClr val="C9CDD2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3-430D-41AA-B005-A39FB6C14B01}"/>
              </c:ext>
            </c:extLst>
          </c:dPt>
          <c:dPt>
            <c:idx val="20"/>
            <c:marker>
              <c:spPr>
                <a:solidFill>
                  <a:srgbClr val="C9CDD2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4-430D-41AA-B005-A39FB6C14B01}"/>
              </c:ext>
            </c:extLst>
          </c:dPt>
          <c:dPt>
            <c:idx val="21"/>
            <c:marker>
              <c:spPr>
                <a:solidFill>
                  <a:srgbClr val="C9CDD2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5-430D-41AA-B005-A39FB6C14B01}"/>
              </c:ext>
            </c:extLst>
          </c:dPt>
          <c:dPt>
            <c:idx val="22"/>
            <c:marker>
              <c:spPr>
                <a:solidFill>
                  <a:srgbClr val="C9CDD2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6-430D-41AA-B005-A39FB6C14B01}"/>
              </c:ext>
            </c:extLst>
          </c:dPt>
          <c:dPt>
            <c:idx val="23"/>
            <c:marker>
              <c:spPr>
                <a:solidFill>
                  <a:srgbClr val="C9CDD2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7-430D-41AA-B005-A39FB6C14B01}"/>
              </c:ext>
            </c:extLst>
          </c:dPt>
          <c:dPt>
            <c:idx val="24"/>
            <c:marker>
              <c:spPr>
                <a:solidFill>
                  <a:srgbClr val="C9CDD2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8-430D-41AA-B005-A39FB6C14B01}"/>
              </c:ext>
            </c:extLst>
          </c:dPt>
          <c:xVal>
            <c:numRef>
              <c:f>Sheet1!$A$2:$A$26</c:f>
              <c:numCache>
                <c:formatCode>General</c:formatCode>
                <c:ptCount val="25"/>
                <c:pt idx="0">
                  <c:v>73.92462519569925</c:v>
                </c:pt>
                <c:pt idx="1">
                  <c:v>53.06399027034491</c:v>
                </c:pt>
                <c:pt idx="2">
                  <c:v>75.735213677516668</c:v>
                </c:pt>
                <c:pt idx="3">
                  <c:v>25.68798620782367</c:v>
                </c:pt>
                <c:pt idx="4">
                  <c:v>24.927772471731995</c:v>
                </c:pt>
                <c:pt idx="5">
                  <c:v>30.70106512514926</c:v>
                </c:pt>
                <c:pt idx="6">
                  <c:v>42.314774828060436</c:v>
                </c:pt>
                <c:pt idx="7">
                  <c:v>22.373109911476504</c:v>
                </c:pt>
                <c:pt idx="8">
                  <c:v>28.766193195991317</c:v>
                </c:pt>
                <c:pt idx="9">
                  <c:v>38.036906220346559</c:v>
                </c:pt>
                <c:pt idx="10">
                  <c:v>40.016562883492881</c:v>
                </c:pt>
                <c:pt idx="11">
                  <c:v>37.398996092889526</c:v>
                </c:pt>
                <c:pt idx="12">
                  <c:v>53.143853340019426</c:v>
                </c:pt>
                <c:pt idx="13">
                  <c:v>56.449703986606785</c:v>
                </c:pt>
                <c:pt idx="14">
                  <c:v>52.431412222361708</c:v>
                </c:pt>
                <c:pt idx="15">
                  <c:v>39.813379682814414</c:v>
                </c:pt>
                <c:pt idx="16">
                  <c:v>52.427227184957388</c:v>
                </c:pt>
                <c:pt idx="17">
                  <c:v>41.722527338574181</c:v>
                </c:pt>
                <c:pt idx="18">
                  <c:v>46.71280613132474</c:v>
                </c:pt>
                <c:pt idx="19">
                  <c:v>38.496583794428702</c:v>
                </c:pt>
                <c:pt idx="20">
                  <c:v>34.985314834269758</c:v>
                </c:pt>
                <c:pt idx="21">
                  <c:v>45.465790860607264</c:v>
                </c:pt>
                <c:pt idx="22">
                  <c:v>47.933529396132272</c:v>
                </c:pt>
                <c:pt idx="23">
                  <c:v>29.069624115327308</c:v>
                </c:pt>
                <c:pt idx="24">
                  <c:v>46.650334863865204</c:v>
                </c:pt>
              </c:numCache>
            </c:numRef>
          </c:xVal>
          <c:yVal>
            <c:numRef>
              <c:f>Sheet1!$B$2:$B$26</c:f>
              <c:numCache>
                <c:formatCode>General</c:formatCode>
                <c:ptCount val="25"/>
                <c:pt idx="0">
                  <c:v>18.951736262323408</c:v>
                </c:pt>
                <c:pt idx="1">
                  <c:v>20.999600199080888</c:v>
                </c:pt>
                <c:pt idx="2">
                  <c:v>17.609739968961946</c:v>
                </c:pt>
                <c:pt idx="3">
                  <c:v>29.037882734288175</c:v>
                </c:pt>
                <c:pt idx="4">
                  <c:v>29.269940161302152</c:v>
                </c:pt>
                <c:pt idx="5">
                  <c:v>34.298484293869613</c:v>
                </c:pt>
                <c:pt idx="6">
                  <c:v>31.585466786114509</c:v>
                </c:pt>
                <c:pt idx="7">
                  <c:v>26.765603423190939</c:v>
                </c:pt>
                <c:pt idx="8">
                  <c:v>30.040863747066989</c:v>
                </c:pt>
                <c:pt idx="9">
                  <c:v>26.594431382329756</c:v>
                </c:pt>
                <c:pt idx="10">
                  <c:v>29.18415221631485</c:v>
                </c:pt>
                <c:pt idx="11">
                  <c:v>28.614131306848012</c:v>
                </c:pt>
                <c:pt idx="12">
                  <c:v>21.107449164793454</c:v>
                </c:pt>
                <c:pt idx="13">
                  <c:v>22.379804394245731</c:v>
                </c:pt>
                <c:pt idx="14">
                  <c:v>23.535919653334091</c:v>
                </c:pt>
                <c:pt idx="15">
                  <c:v>20.055666645964504</c:v>
                </c:pt>
                <c:pt idx="16">
                  <c:v>24.056899951818615</c:v>
                </c:pt>
                <c:pt idx="17">
                  <c:v>18.857557210086462</c:v>
                </c:pt>
                <c:pt idx="18">
                  <c:v>26.513417445965253</c:v>
                </c:pt>
                <c:pt idx="19">
                  <c:v>24.468865782106285</c:v>
                </c:pt>
                <c:pt idx="20">
                  <c:v>20.487244192810582</c:v>
                </c:pt>
                <c:pt idx="21">
                  <c:v>20.948752784776797</c:v>
                </c:pt>
                <c:pt idx="22">
                  <c:v>23.229524975672152</c:v>
                </c:pt>
                <c:pt idx="23">
                  <c:v>22.237305338463031</c:v>
                </c:pt>
                <c:pt idx="24">
                  <c:v>24.108898153144469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9-430D-41AA-B005-A39FB6C14B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80"/>
          <c:min val="20"/>
        </c:scaling>
        <c:delete val="0"/>
        <c:axPos val="b"/>
        <c:title>
          <c:tx>
            <c:rich>
              <a:bodyPr/>
              <a:lstStyle/>
              <a:p>
                <a:r>
                  <a:rPr lang="ko-KR" altLang="en-US" sz="1000" b="0">
                    <a:solidFill>
                      <a:srgbClr val="45515E"/>
                    </a:solidFill>
                    <a:latin typeface="Pretendard"/>
                    <a:ea typeface="Pretendard"/>
                    <a:cs typeface="Pretendard"/>
                  </a:rPr>
                  <a:t>월평균 야간인구 </a:t>
                </a:r>
                <a:r>
                  <a:rPr lang="en-US" altLang="ko-KR" sz="1000" b="0">
                    <a:solidFill>
                      <a:srgbClr val="45515E"/>
                    </a:solidFill>
                    <a:latin typeface="Pretendard"/>
                    <a:ea typeface="Pretendard"/>
                    <a:cs typeface="Pretendard"/>
                  </a:rPr>
                  <a:t>(</a:t>
                </a:r>
                <a:r>
                  <a:rPr lang="ko-KR" altLang="en-US" sz="1000" b="0">
                    <a:solidFill>
                      <a:srgbClr val="45515E"/>
                    </a:solidFill>
                    <a:latin typeface="Pretendard"/>
                    <a:ea typeface="Pretendard"/>
                    <a:cs typeface="Pretendard"/>
                  </a:rPr>
                  <a:t>만 명</a:t>
                </a:r>
                <a:r>
                  <a:rPr lang="en-US" altLang="ko-KR" sz="1000" b="0">
                    <a:solidFill>
                      <a:srgbClr val="45515E"/>
                    </a:solidFill>
                    <a:latin typeface="Pretendard"/>
                    <a:ea typeface="Pretendard"/>
                    <a:cs typeface="Pretendard"/>
                  </a:rPr>
                  <a:t>)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>
            <a:solidFill>
              <a:srgbClr val="C9CDD2"/>
            </a:solidFill>
          </a:ln>
        </c:spPr>
        <c:txPr>
          <a:bodyPr/>
          <a:lstStyle/>
          <a:p>
            <a:pPr>
              <a:defRPr>
                <a:solidFill>
                  <a:srgbClr val="45515E"/>
                </a:solidFill>
              </a:defRPr>
            </a:pPr>
            <a:endParaRPr lang="ko-KR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36"/>
          <c:min val="15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ko-KR" altLang="en-US" sz="1000" b="0">
                    <a:solidFill>
                      <a:srgbClr val="45515E"/>
                    </a:solidFill>
                    <a:latin typeface="Pretendard"/>
                    <a:ea typeface="Pretendard"/>
                    <a:cs typeface="Pretendard"/>
                  </a:rPr>
                  <a:t>인구 </a:t>
                </a:r>
                <a:r>
                  <a:rPr lang="en-US" altLang="ko-KR" sz="1000" b="0">
                    <a:solidFill>
                      <a:srgbClr val="45515E"/>
                    </a:solidFill>
                    <a:latin typeface="Pretendard"/>
                    <a:ea typeface="Pretendard"/>
                    <a:cs typeface="Pretendard"/>
                  </a:rPr>
                  <a:t>1</a:t>
                </a:r>
                <a:r>
                  <a:rPr lang="ko-KR" altLang="en-US" sz="1000" b="0">
                    <a:solidFill>
                      <a:srgbClr val="45515E"/>
                    </a:solidFill>
                    <a:latin typeface="Pretendard"/>
                    <a:ea typeface="Pretendard"/>
                    <a:cs typeface="Pretendard"/>
                  </a:rPr>
                  <a:t>만 명당 월 이송 건수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8E8E93"/>
                </a:solidFill>
              </a:defRPr>
            </a:pPr>
            <a:endParaRPr lang="ko-KR"/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222222"/>
          </a:solidFill>
          <a:latin typeface="Pretendard"/>
          <a:ea typeface="Pretendard"/>
          <a:cs typeface="Pretendard"/>
        </a:defRPr>
      </a:pPr>
      <a:endParaRPr lang="ko-KR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인구 1만 명당 월 이송 건수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C8102E"/>
              </a:solidFill>
            </c:spPr>
            <c:extLst>
              <c:ext xmlns:c16="http://schemas.microsoft.com/office/drawing/2014/chart" uri="{C3380CC4-5D6E-409C-BE32-E72D297353CC}">
                <c16:uniqueId val="{00000001-FA0E-423C-9602-48EB69FD4DDC}"/>
              </c:ext>
            </c:extLst>
          </c:dPt>
          <c:dPt>
            <c:idx val="1"/>
            <c:invertIfNegative val="1"/>
            <c:bubble3D val="0"/>
            <c:spPr>
              <a:solidFill>
                <a:srgbClr val="C8102E"/>
              </a:solidFill>
            </c:spPr>
            <c:extLst>
              <c:ext xmlns:c16="http://schemas.microsoft.com/office/drawing/2014/chart" uri="{C3380CC4-5D6E-409C-BE32-E72D297353CC}">
                <c16:uniqueId val="{00000003-FA0E-423C-9602-48EB69FD4DDC}"/>
              </c:ext>
            </c:extLst>
          </c:dPt>
          <c:dPt>
            <c:idx val="2"/>
            <c:invertIfNegative val="1"/>
            <c:bubble3D val="0"/>
            <c:spPr>
              <a:solidFill>
                <a:srgbClr val="C8102E"/>
              </a:solidFill>
            </c:spPr>
            <c:extLst>
              <c:ext xmlns:c16="http://schemas.microsoft.com/office/drawing/2014/chart" uri="{C3380CC4-5D6E-409C-BE32-E72D297353CC}">
                <c16:uniqueId val="{00000005-FA0E-423C-9602-48EB69FD4DDC}"/>
              </c:ext>
            </c:extLst>
          </c:dPt>
          <c:dPt>
            <c:idx val="3"/>
            <c:invertIfNegative val="1"/>
            <c:bubble3D val="0"/>
            <c:spPr>
              <a:solidFill>
                <a:srgbClr val="222222"/>
              </a:solidFill>
            </c:spPr>
            <c:extLst>
              <c:ext xmlns:c16="http://schemas.microsoft.com/office/drawing/2014/chart" uri="{C3380CC4-5D6E-409C-BE32-E72D297353CC}">
                <c16:uniqueId val="{00000007-FA0E-423C-9602-48EB69FD4DDC}"/>
              </c:ext>
            </c:extLst>
          </c:dPt>
          <c:dPt>
            <c:idx val="4"/>
            <c:invertIfNegative val="1"/>
            <c:bubble3D val="0"/>
            <c:spPr>
              <a:solidFill>
                <a:srgbClr val="C8102E"/>
              </a:solidFill>
            </c:spPr>
            <c:extLst>
              <c:ext xmlns:c16="http://schemas.microsoft.com/office/drawing/2014/chart" uri="{C3380CC4-5D6E-409C-BE32-E72D297353CC}">
                <c16:uniqueId val="{00000009-FA0E-423C-9602-48EB69FD4DDC}"/>
              </c:ext>
            </c:extLst>
          </c:dPt>
          <c:dPt>
            <c:idx val="5"/>
            <c:invertIfNegative val="1"/>
            <c:bubble3D val="0"/>
            <c:spPr>
              <a:solidFill>
                <a:srgbClr val="222222"/>
              </a:solidFill>
            </c:spPr>
            <c:extLst>
              <c:ext xmlns:c16="http://schemas.microsoft.com/office/drawing/2014/chart" uri="{C3380CC4-5D6E-409C-BE32-E72D297353CC}">
                <c16:uniqueId val="{0000000B-FA0E-423C-9602-48EB69FD4DDC}"/>
              </c:ext>
            </c:extLst>
          </c:dPt>
          <c:dPt>
            <c:idx val="6"/>
            <c:invertIfNegative val="1"/>
            <c:bubble3D val="0"/>
            <c:spPr>
              <a:solidFill>
                <a:srgbClr val="C8102E"/>
              </a:solidFill>
            </c:spPr>
            <c:extLst>
              <c:ext xmlns:c16="http://schemas.microsoft.com/office/drawing/2014/chart" uri="{C3380CC4-5D6E-409C-BE32-E72D297353CC}">
                <c16:uniqueId val="{0000000D-FA0E-423C-9602-48EB69FD4DDC}"/>
              </c:ext>
            </c:extLst>
          </c:dPt>
          <c:dPt>
            <c:idx val="7"/>
            <c:invertIfNegative val="1"/>
            <c:bubble3D val="0"/>
            <c:spPr>
              <a:solidFill>
                <a:srgbClr val="C8102E"/>
              </a:solidFill>
            </c:spPr>
            <c:extLst>
              <c:ext xmlns:c16="http://schemas.microsoft.com/office/drawing/2014/chart" uri="{C3380CC4-5D6E-409C-BE32-E72D297353CC}">
                <c16:uniqueId val="{0000000F-FA0E-423C-9602-48EB69FD4DDC}"/>
              </c:ext>
            </c:extLst>
          </c:dPt>
          <c:dPt>
            <c:idx val="8"/>
            <c:invertIfNegative val="1"/>
            <c:bubble3D val="0"/>
            <c:spPr>
              <a:solidFill>
                <a:srgbClr val="C8102E"/>
              </a:solidFill>
            </c:spPr>
            <c:extLst>
              <c:ext xmlns:c16="http://schemas.microsoft.com/office/drawing/2014/chart" uri="{C3380CC4-5D6E-409C-BE32-E72D297353CC}">
                <c16:uniqueId val="{00000011-FA0E-423C-9602-48EB69FD4DDC}"/>
              </c:ext>
            </c:extLst>
          </c:dPt>
          <c:dPt>
            <c:idx val="9"/>
            <c:invertIfNegative val="1"/>
            <c:bubble3D val="0"/>
            <c:spPr>
              <a:solidFill>
                <a:srgbClr val="C9CDD2"/>
              </a:solidFill>
            </c:spPr>
            <c:extLst>
              <c:ext xmlns:c16="http://schemas.microsoft.com/office/drawing/2014/chart" uri="{C3380CC4-5D6E-409C-BE32-E72D297353CC}">
                <c16:uniqueId val="{00000013-FA0E-423C-9602-48EB69FD4DDC}"/>
              </c:ext>
            </c:extLst>
          </c:dPt>
          <c:dPt>
            <c:idx val="10"/>
            <c:invertIfNegative val="1"/>
            <c:bubble3D val="0"/>
            <c:spPr>
              <a:solidFill>
                <a:srgbClr val="C9CDD2"/>
              </a:solidFill>
            </c:spPr>
            <c:extLst>
              <c:ext xmlns:c16="http://schemas.microsoft.com/office/drawing/2014/chart" uri="{C3380CC4-5D6E-409C-BE32-E72D297353CC}">
                <c16:uniqueId val="{00000015-FA0E-423C-9602-48EB69FD4DDC}"/>
              </c:ext>
            </c:extLst>
          </c:dPt>
          <c:dPt>
            <c:idx val="11"/>
            <c:invertIfNegative val="1"/>
            <c:bubble3D val="0"/>
            <c:spPr>
              <a:solidFill>
                <a:srgbClr val="C9CDD2"/>
              </a:solidFill>
            </c:spPr>
            <c:extLst>
              <c:ext xmlns:c16="http://schemas.microsoft.com/office/drawing/2014/chart" uri="{C3380CC4-5D6E-409C-BE32-E72D297353CC}">
                <c16:uniqueId val="{00000017-FA0E-423C-9602-48EB69FD4DDC}"/>
              </c:ext>
            </c:extLst>
          </c:dPt>
          <c:dPt>
            <c:idx val="12"/>
            <c:invertIfNegative val="1"/>
            <c:bubble3D val="0"/>
            <c:spPr>
              <a:solidFill>
                <a:srgbClr val="C9CDD2"/>
              </a:solidFill>
            </c:spPr>
            <c:extLst>
              <c:ext xmlns:c16="http://schemas.microsoft.com/office/drawing/2014/chart" uri="{C3380CC4-5D6E-409C-BE32-E72D297353CC}">
                <c16:uniqueId val="{00000019-FA0E-423C-9602-48EB69FD4DDC}"/>
              </c:ext>
            </c:extLst>
          </c:dPt>
          <c:dPt>
            <c:idx val="13"/>
            <c:invertIfNegative val="1"/>
            <c:bubble3D val="0"/>
            <c:spPr>
              <a:solidFill>
                <a:srgbClr val="C9CDD2"/>
              </a:solidFill>
            </c:spPr>
            <c:extLst>
              <c:ext xmlns:c16="http://schemas.microsoft.com/office/drawing/2014/chart" uri="{C3380CC4-5D6E-409C-BE32-E72D297353CC}">
                <c16:uniqueId val="{0000001B-FA0E-423C-9602-48EB69FD4DDC}"/>
              </c:ext>
            </c:extLst>
          </c:dPt>
          <c:dPt>
            <c:idx val="14"/>
            <c:invertIfNegative val="1"/>
            <c:bubble3D val="0"/>
            <c:spPr>
              <a:solidFill>
                <a:srgbClr val="C9CDD2"/>
              </a:solidFill>
            </c:spPr>
            <c:extLst>
              <c:ext xmlns:c16="http://schemas.microsoft.com/office/drawing/2014/chart" uri="{C3380CC4-5D6E-409C-BE32-E72D297353CC}">
                <c16:uniqueId val="{0000001D-FA0E-423C-9602-48EB69FD4DDC}"/>
              </c:ext>
            </c:extLst>
          </c:dPt>
          <c:dPt>
            <c:idx val="15"/>
            <c:invertIfNegative val="1"/>
            <c:bubble3D val="0"/>
            <c:spPr>
              <a:solidFill>
                <a:srgbClr val="C9CDD2"/>
              </a:solidFill>
            </c:spPr>
            <c:extLst>
              <c:ext xmlns:c16="http://schemas.microsoft.com/office/drawing/2014/chart" uri="{C3380CC4-5D6E-409C-BE32-E72D297353CC}">
                <c16:uniqueId val="{0000001F-FA0E-423C-9602-48EB69FD4DDC}"/>
              </c:ext>
            </c:extLst>
          </c:dPt>
          <c:dPt>
            <c:idx val="16"/>
            <c:invertIfNegative val="1"/>
            <c:bubble3D val="0"/>
            <c:spPr>
              <a:solidFill>
                <a:srgbClr val="C9CDD2"/>
              </a:solidFill>
            </c:spPr>
            <c:extLst>
              <c:ext xmlns:c16="http://schemas.microsoft.com/office/drawing/2014/chart" uri="{C3380CC4-5D6E-409C-BE32-E72D297353CC}">
                <c16:uniqueId val="{00000021-FA0E-423C-9602-48EB69FD4DDC}"/>
              </c:ext>
            </c:extLst>
          </c:dPt>
          <c:dPt>
            <c:idx val="17"/>
            <c:invertIfNegative val="1"/>
            <c:bubble3D val="0"/>
            <c:spPr>
              <a:solidFill>
                <a:srgbClr val="C9CDD2"/>
              </a:solidFill>
            </c:spPr>
            <c:extLst>
              <c:ext xmlns:c16="http://schemas.microsoft.com/office/drawing/2014/chart" uri="{C3380CC4-5D6E-409C-BE32-E72D297353CC}">
                <c16:uniqueId val="{00000023-FA0E-423C-9602-48EB69FD4DDC}"/>
              </c:ext>
            </c:extLst>
          </c:dPt>
          <c:dPt>
            <c:idx val="18"/>
            <c:invertIfNegative val="1"/>
            <c:bubble3D val="0"/>
            <c:spPr>
              <a:solidFill>
                <a:srgbClr val="5B6B7B"/>
              </a:solidFill>
            </c:spPr>
            <c:extLst>
              <c:ext xmlns:c16="http://schemas.microsoft.com/office/drawing/2014/chart" uri="{C3380CC4-5D6E-409C-BE32-E72D297353CC}">
                <c16:uniqueId val="{00000025-FA0E-423C-9602-48EB69FD4DDC}"/>
              </c:ext>
            </c:extLst>
          </c:dPt>
          <c:dPt>
            <c:idx val="19"/>
            <c:invertIfNegative val="1"/>
            <c:bubble3D val="0"/>
            <c:spPr>
              <a:solidFill>
                <a:srgbClr val="C9CDD2"/>
              </a:solidFill>
            </c:spPr>
            <c:extLst>
              <c:ext xmlns:c16="http://schemas.microsoft.com/office/drawing/2014/chart" uri="{C3380CC4-5D6E-409C-BE32-E72D297353CC}">
                <c16:uniqueId val="{00000027-FA0E-423C-9602-48EB69FD4DDC}"/>
              </c:ext>
            </c:extLst>
          </c:dPt>
          <c:dPt>
            <c:idx val="20"/>
            <c:invertIfNegative val="1"/>
            <c:bubble3D val="0"/>
            <c:spPr>
              <a:solidFill>
                <a:srgbClr val="C9CDD2"/>
              </a:solidFill>
            </c:spPr>
            <c:extLst>
              <c:ext xmlns:c16="http://schemas.microsoft.com/office/drawing/2014/chart" uri="{C3380CC4-5D6E-409C-BE32-E72D297353CC}">
                <c16:uniqueId val="{00000029-FA0E-423C-9602-48EB69FD4DDC}"/>
              </c:ext>
            </c:extLst>
          </c:dPt>
          <c:dPt>
            <c:idx val="21"/>
            <c:invertIfNegative val="1"/>
            <c:bubble3D val="0"/>
            <c:spPr>
              <a:solidFill>
                <a:srgbClr val="C9CDD2"/>
              </a:solidFill>
            </c:spPr>
            <c:extLst>
              <c:ext xmlns:c16="http://schemas.microsoft.com/office/drawing/2014/chart" uri="{C3380CC4-5D6E-409C-BE32-E72D297353CC}">
                <c16:uniqueId val="{0000002B-FA0E-423C-9602-48EB69FD4DDC}"/>
              </c:ext>
            </c:extLst>
          </c:dPt>
          <c:dPt>
            <c:idx val="22"/>
            <c:invertIfNegative val="1"/>
            <c:bubble3D val="0"/>
            <c:spPr>
              <a:solidFill>
                <a:srgbClr val="5B6B7B"/>
              </a:solidFill>
            </c:spPr>
            <c:extLst>
              <c:ext xmlns:c16="http://schemas.microsoft.com/office/drawing/2014/chart" uri="{C3380CC4-5D6E-409C-BE32-E72D297353CC}">
                <c16:uniqueId val="{0000002D-FA0E-423C-9602-48EB69FD4DDC}"/>
              </c:ext>
            </c:extLst>
          </c:dPt>
          <c:dPt>
            <c:idx val="23"/>
            <c:invertIfNegative val="1"/>
            <c:bubble3D val="0"/>
            <c:spPr>
              <a:solidFill>
                <a:srgbClr val="C9CDD2"/>
              </a:solidFill>
            </c:spPr>
            <c:extLst>
              <c:ext xmlns:c16="http://schemas.microsoft.com/office/drawing/2014/chart" uri="{C3380CC4-5D6E-409C-BE32-E72D297353CC}">
                <c16:uniqueId val="{0000002F-FA0E-423C-9602-48EB69FD4DDC}"/>
              </c:ext>
            </c:extLst>
          </c:dPt>
          <c:dPt>
            <c:idx val="24"/>
            <c:invertIfNegative val="1"/>
            <c:bubble3D val="0"/>
            <c:spPr>
              <a:solidFill>
                <a:srgbClr val="5B6B7B"/>
              </a:solidFill>
            </c:spPr>
            <c:extLst>
              <c:ext xmlns:c16="http://schemas.microsoft.com/office/drawing/2014/chart" uri="{C3380CC4-5D6E-409C-BE32-E72D297353CC}">
                <c16:uniqueId val="{00000031-FA0E-423C-9602-48EB69FD4DDC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222222"/>
                    </a:solidFill>
                    <a:latin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Sheet1!$A$2:$A$26</c:f>
              <c:strCache>
                <c:ptCount val="25"/>
                <c:pt idx="0">
                  <c:v>강북구</c:v>
                </c:pt>
                <c:pt idx="1">
                  <c:v>구로구</c:v>
                </c:pt>
                <c:pt idx="2">
                  <c:v>도봉구</c:v>
                </c:pt>
                <c:pt idx="3">
                  <c:v>중구</c:v>
                </c:pt>
                <c:pt idx="4">
                  <c:v>양천구</c:v>
                </c:pt>
                <c:pt idx="5">
                  <c:v>종로구</c:v>
                </c:pt>
                <c:pt idx="6">
                  <c:v>중랑구</c:v>
                </c:pt>
                <c:pt idx="7">
                  <c:v>금천구</c:v>
                </c:pt>
                <c:pt idx="8">
                  <c:v>동대문구</c:v>
                </c:pt>
                <c:pt idx="9">
                  <c:v>마포구</c:v>
                </c:pt>
                <c:pt idx="10">
                  <c:v>서대문구</c:v>
                </c:pt>
                <c:pt idx="11">
                  <c:v>은평구</c:v>
                </c:pt>
                <c:pt idx="12">
                  <c:v>노원구</c:v>
                </c:pt>
                <c:pt idx="13">
                  <c:v>관악구</c:v>
                </c:pt>
                <c:pt idx="14">
                  <c:v>영등포구</c:v>
                </c:pt>
                <c:pt idx="15">
                  <c:v>강서구</c:v>
                </c:pt>
                <c:pt idx="16">
                  <c:v>용산구</c:v>
                </c:pt>
                <c:pt idx="17">
                  <c:v>강동구</c:v>
                </c:pt>
                <c:pt idx="18">
                  <c:v>서초구</c:v>
                </c:pt>
                <c:pt idx="19">
                  <c:v>성북구</c:v>
                </c:pt>
                <c:pt idx="20">
                  <c:v>성동구</c:v>
                </c:pt>
                <c:pt idx="21">
                  <c:v>광진구</c:v>
                </c:pt>
                <c:pt idx="22">
                  <c:v>강남구</c:v>
                </c:pt>
                <c:pt idx="23">
                  <c:v>동작구</c:v>
                </c:pt>
                <c:pt idx="24">
                  <c:v>송파구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34.299999999999997</c:v>
                </c:pt>
                <c:pt idx="1">
                  <c:v>31.6</c:v>
                </c:pt>
                <c:pt idx="2">
                  <c:v>30</c:v>
                </c:pt>
                <c:pt idx="3">
                  <c:v>29.3</c:v>
                </c:pt>
                <c:pt idx="4">
                  <c:v>29.2</c:v>
                </c:pt>
                <c:pt idx="5">
                  <c:v>29</c:v>
                </c:pt>
                <c:pt idx="6">
                  <c:v>28.6</c:v>
                </c:pt>
                <c:pt idx="7">
                  <c:v>26.8</c:v>
                </c:pt>
                <c:pt idx="8">
                  <c:v>26.6</c:v>
                </c:pt>
                <c:pt idx="9">
                  <c:v>26.5</c:v>
                </c:pt>
                <c:pt idx="10">
                  <c:v>24.5</c:v>
                </c:pt>
                <c:pt idx="11">
                  <c:v>24.1</c:v>
                </c:pt>
                <c:pt idx="12">
                  <c:v>24.1</c:v>
                </c:pt>
                <c:pt idx="13">
                  <c:v>23.5</c:v>
                </c:pt>
                <c:pt idx="14">
                  <c:v>23.2</c:v>
                </c:pt>
                <c:pt idx="15">
                  <c:v>22.4</c:v>
                </c:pt>
                <c:pt idx="16">
                  <c:v>22.2</c:v>
                </c:pt>
                <c:pt idx="17">
                  <c:v>21.1</c:v>
                </c:pt>
                <c:pt idx="18">
                  <c:v>21</c:v>
                </c:pt>
                <c:pt idx="19">
                  <c:v>20.9</c:v>
                </c:pt>
                <c:pt idx="20">
                  <c:v>20.5</c:v>
                </c:pt>
                <c:pt idx="21">
                  <c:v>20.100000000000001</c:v>
                </c:pt>
                <c:pt idx="22">
                  <c:v>19</c:v>
                </c:pt>
                <c:pt idx="23">
                  <c:v>18.899999999999999</c:v>
                </c:pt>
                <c:pt idx="24">
                  <c:v>17.600000000000001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2-FA0E-423C-9602-48EB69FD4DD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9CDD2"/>
            </a:solidFill>
          </a:ln>
        </c:spPr>
        <c:txPr>
          <a:bodyPr/>
          <a:lstStyle/>
          <a:p>
            <a:pPr>
              <a:defRPr>
                <a:solidFill>
                  <a:srgbClr val="45515E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0"/>
          <c:min val="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8E8E93"/>
                </a:solidFill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solidFill>
            <a:srgbClr val="222222"/>
          </a:solidFill>
          <a:latin typeface="Pretendard"/>
          <a:ea typeface="Pretendard"/>
          <a:cs typeface="Pretendard"/>
        </a:defRPr>
      </a:pPr>
      <a:endParaRPr lang="ko-KR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월별 이송 지수 (전체 평균 = 100)</c:v>
                </c:pt>
              </c:strCache>
            </c:strRef>
          </c:tx>
          <c:spPr>
            <a:solidFill>
              <a:srgbClr val="C9CDD2"/>
            </a:solidFill>
          </c:spPr>
          <c:invertIfNegative val="1"/>
          <c:dPt>
            <c:idx val="1"/>
            <c:invertIfNegative val="1"/>
            <c:bubble3D val="0"/>
            <c:spPr>
              <a:solidFill>
                <a:srgbClr val="222222"/>
              </a:solidFill>
            </c:spPr>
            <c:extLst>
              <c:ext xmlns:c16="http://schemas.microsoft.com/office/drawing/2014/chart" uri="{C3380CC4-5D6E-409C-BE32-E72D297353CC}">
                <c16:uniqueId val="{00000001-8602-4186-9F45-67B461D06B6F}"/>
              </c:ext>
            </c:extLst>
          </c:dPt>
          <c:dPt>
            <c:idx val="6"/>
            <c:invertIfNegative val="1"/>
            <c:bubble3D val="0"/>
            <c:spPr>
              <a:solidFill>
                <a:srgbClr val="C8102E"/>
              </a:solidFill>
            </c:spPr>
            <c:extLst>
              <c:ext xmlns:c16="http://schemas.microsoft.com/office/drawing/2014/chart" uri="{C3380CC4-5D6E-409C-BE32-E72D297353CC}">
                <c16:uniqueId val="{00000003-8602-4186-9F45-67B461D06B6F}"/>
              </c:ext>
            </c:extLst>
          </c:dPt>
          <c:dPt>
            <c:idx val="7"/>
            <c:invertIfNegative val="1"/>
            <c:bubble3D val="0"/>
            <c:spPr>
              <a:solidFill>
                <a:srgbClr val="C8102E"/>
              </a:solidFill>
            </c:spPr>
            <c:extLst>
              <c:ext xmlns:c16="http://schemas.microsoft.com/office/drawing/2014/chart" uri="{C3380CC4-5D6E-409C-BE32-E72D297353CC}">
                <c16:uniqueId val="{00000005-8602-4186-9F45-67B461D06B6F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222222"/>
                    </a:solidFill>
                    <a:latin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100.4</c:v>
                </c:pt>
                <c:pt idx="1">
                  <c:v>86.8</c:v>
                </c:pt>
                <c:pt idx="2">
                  <c:v>93.5</c:v>
                </c:pt>
                <c:pt idx="3">
                  <c:v>95.6</c:v>
                </c:pt>
                <c:pt idx="4">
                  <c:v>103.1</c:v>
                </c:pt>
                <c:pt idx="5">
                  <c:v>102.1</c:v>
                </c:pt>
                <c:pt idx="6">
                  <c:v>108.6</c:v>
                </c:pt>
                <c:pt idx="7">
                  <c:v>108.4</c:v>
                </c:pt>
                <c:pt idx="8">
                  <c:v>100.8</c:v>
                </c:pt>
                <c:pt idx="9">
                  <c:v>100.7</c:v>
                </c:pt>
                <c:pt idx="10">
                  <c:v>97</c:v>
                </c:pt>
                <c:pt idx="11">
                  <c:v>102.9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8602-4186-9F45-67B461D06B6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9CDD2"/>
            </a:solidFill>
          </a:ln>
        </c:spPr>
        <c:txPr>
          <a:bodyPr/>
          <a:lstStyle/>
          <a:p>
            <a:pPr>
              <a:defRPr>
                <a:solidFill>
                  <a:srgbClr val="45515E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12"/>
          <c:min val="8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8E8E93"/>
                </a:solidFill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solidFill>
            <a:srgbClr val="222222"/>
          </a:solidFill>
          <a:latin typeface="Pretendard"/>
          <a:ea typeface="Pretendard"/>
          <a:cs typeface="Pretendard"/>
        </a:defRPr>
      </a:pPr>
      <a:endParaRPr lang="ko-KR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서울 월평균 이송 건수</c:v>
                </c:pt>
              </c:strCache>
            </c:strRef>
          </c:tx>
          <c:spPr>
            <a:ln w="28575">
              <a:solidFill>
                <a:srgbClr val="222222"/>
              </a:solidFill>
            </a:ln>
          </c:spPr>
          <c:marker>
            <c:symbol val="circle"/>
            <c:size val="7"/>
            <c:spPr>
              <a:solidFill>
                <a:srgbClr val="222222"/>
              </a:solidFill>
            </c:spPr>
          </c:marker>
          <c:dPt>
            <c:idx val="3"/>
            <c:marker>
              <c:spPr>
                <a:solidFill>
                  <a:srgbClr val="C8102E"/>
                </a:solidFill>
                <a:ln>
                  <a:solidFill>
                    <a:srgbClr val="C8102E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47CD-4FBE-AD73-3E470D53A32C}"/>
              </c:ext>
            </c:extLst>
          </c:dPt>
          <c:dPt>
            <c:idx val="7"/>
            <c:marker>
              <c:spPr>
                <a:solidFill>
                  <a:srgbClr val="C8102E"/>
                </a:solidFill>
                <a:ln>
                  <a:solidFill>
                    <a:srgbClr val="C8102E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47CD-4FBE-AD73-3E470D53A32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222222"/>
                    </a:solidFill>
                    <a:latin typeface="Pretendard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28240</c:v>
                </c:pt>
                <c:pt idx="1">
                  <c:v>29202</c:v>
                </c:pt>
                <c:pt idx="2">
                  <c:v>28029</c:v>
                </c:pt>
                <c:pt idx="3">
                  <c:v>22273</c:v>
                </c:pt>
                <c:pt idx="4">
                  <c:v>23262</c:v>
                </c:pt>
                <c:pt idx="5">
                  <c:v>27285</c:v>
                </c:pt>
                <c:pt idx="6">
                  <c:v>28442</c:v>
                </c:pt>
                <c:pt idx="7">
                  <c:v>23686</c:v>
                </c:pt>
                <c:pt idx="8">
                  <c:v>23062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7CD-4FBE-AD73-3E470D53A32C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9CDD2"/>
            </a:solidFill>
          </a:ln>
        </c:spPr>
        <c:txPr>
          <a:bodyPr/>
          <a:lstStyle/>
          <a:p>
            <a:pPr>
              <a:defRPr>
                <a:solidFill>
                  <a:srgbClr val="45515E"/>
                </a:solidFill>
              </a:defRPr>
            </a:pPr>
            <a:endParaRPr lang="ko-K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32000"/>
          <c:min val="1500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8E8E93"/>
                </a:solidFill>
              </a:defRPr>
            </a:pPr>
            <a:endParaRPr lang="ko-KR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222222"/>
          </a:solidFill>
          <a:latin typeface="Pretendard"/>
          <a:ea typeface="Pretendard"/>
          <a:cs typeface="Pretendard"/>
        </a:defRPr>
      </a:pPr>
      <a:endParaRPr lang="ko-KR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현재 이송 건수와의 상관</c:v>
                </c:pt>
              </c:strCache>
            </c:strRef>
          </c:tx>
          <c:spPr>
            <a:solidFill>
              <a:srgbClr val="5B6B7B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C8102E"/>
              </a:solidFill>
            </c:spPr>
            <c:extLst>
              <c:ext xmlns:c16="http://schemas.microsoft.com/office/drawing/2014/chart" uri="{C3380CC4-5D6E-409C-BE32-E72D297353CC}">
                <c16:uniqueId val="{00000001-80C1-4689-9B72-87AA26DD878B}"/>
              </c:ext>
            </c:extLst>
          </c:dPt>
          <c:dPt>
            <c:idx val="4"/>
            <c:invertIfNegative val="1"/>
            <c:bubble3D val="0"/>
            <c:spPr>
              <a:solidFill>
                <a:srgbClr val="222222"/>
              </a:solidFill>
            </c:spPr>
            <c:extLst>
              <c:ext xmlns:c16="http://schemas.microsoft.com/office/drawing/2014/chart" uri="{C3380CC4-5D6E-409C-BE32-E72D297353CC}">
                <c16:uniqueId val="{00000003-80C1-4689-9B72-87AA26DD878B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222222"/>
                    </a:solidFill>
                    <a:latin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1개월 전</c:v>
                </c:pt>
                <c:pt idx="1">
                  <c:v>2개월 전</c:v>
                </c:pt>
                <c:pt idx="2">
                  <c:v>3개월 전</c:v>
                </c:pt>
                <c:pt idx="3">
                  <c:v>6개월 전</c:v>
                </c:pt>
                <c:pt idx="4">
                  <c:v>12개월 전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0.93700000000000006</c:v>
                </c:pt>
                <c:pt idx="1">
                  <c:v>0.9</c:v>
                </c:pt>
                <c:pt idx="2">
                  <c:v>0.871</c:v>
                </c:pt>
                <c:pt idx="3">
                  <c:v>0.80200000000000005</c:v>
                </c:pt>
                <c:pt idx="4">
                  <c:v>0.81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80C1-4689-9B72-87AA26DD878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9CDD2"/>
            </a:solidFill>
          </a:ln>
        </c:spPr>
        <c:txPr>
          <a:bodyPr/>
          <a:lstStyle/>
          <a:p>
            <a:pPr>
              <a:defRPr>
                <a:solidFill>
                  <a:srgbClr val="45515E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.5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8E8E93"/>
                </a:solidFill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solidFill>
            <a:srgbClr val="222222"/>
          </a:solidFill>
          <a:latin typeface="Pretendard"/>
          <a:ea typeface="Pretendard"/>
          <a:cs typeface="Pretendard"/>
        </a:defRPr>
      </a:pPr>
      <a:endParaRPr lang="ko-KR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요일별 일최대인구 지수 (평균 = 100)</c:v>
                </c:pt>
              </c:strCache>
            </c:strRef>
          </c:tx>
          <c:spPr>
            <a:solidFill>
              <a:srgbClr val="C9CDD2"/>
            </a:solidFill>
          </c:spPr>
          <c:invertIfNegative val="1"/>
          <c:dPt>
            <c:idx val="5"/>
            <c:invertIfNegative val="1"/>
            <c:bubble3D val="0"/>
            <c:spPr>
              <a:solidFill>
                <a:srgbClr val="222222"/>
              </a:solidFill>
            </c:spPr>
            <c:extLst>
              <c:ext xmlns:c16="http://schemas.microsoft.com/office/drawing/2014/chart" uri="{C3380CC4-5D6E-409C-BE32-E72D297353CC}">
                <c16:uniqueId val="{00000001-0B4A-42CA-8F6D-1C91BF756163}"/>
              </c:ext>
            </c:extLst>
          </c:dPt>
          <c:dPt>
            <c:idx val="6"/>
            <c:invertIfNegative val="1"/>
            <c:bubble3D val="0"/>
            <c:spPr>
              <a:solidFill>
                <a:srgbClr val="222222"/>
              </a:solidFill>
            </c:spPr>
            <c:extLst>
              <c:ext xmlns:c16="http://schemas.microsoft.com/office/drawing/2014/chart" uri="{C3380CC4-5D6E-409C-BE32-E72D297353CC}">
                <c16:uniqueId val="{00000003-0B4A-42CA-8F6D-1C91BF756163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222222"/>
                    </a:solidFill>
                    <a:latin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월</c:v>
                </c:pt>
                <c:pt idx="1">
                  <c:v>화</c:v>
                </c:pt>
                <c:pt idx="2">
                  <c:v>수</c:v>
                </c:pt>
                <c:pt idx="3">
                  <c:v>목</c:v>
                </c:pt>
                <c:pt idx="4">
                  <c:v>금</c:v>
                </c:pt>
                <c:pt idx="5">
                  <c:v>토</c:v>
                </c:pt>
                <c:pt idx="6">
                  <c:v>일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101.7</c:v>
                </c:pt>
                <c:pt idx="1">
                  <c:v>102.3</c:v>
                </c:pt>
                <c:pt idx="2">
                  <c:v>102.3</c:v>
                </c:pt>
                <c:pt idx="3">
                  <c:v>102.5</c:v>
                </c:pt>
                <c:pt idx="4">
                  <c:v>101.9</c:v>
                </c:pt>
                <c:pt idx="5">
                  <c:v>95.8</c:v>
                </c:pt>
                <c:pt idx="6">
                  <c:v>93.6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0B4A-42CA-8F6D-1C91BF75616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9CDD2"/>
            </a:solidFill>
          </a:ln>
        </c:spPr>
        <c:txPr>
          <a:bodyPr/>
          <a:lstStyle/>
          <a:p>
            <a:pPr>
              <a:defRPr>
                <a:solidFill>
                  <a:srgbClr val="45515E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6"/>
          <c:min val="85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8E8E93"/>
                </a:solidFill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solidFill>
            <a:srgbClr val="222222"/>
          </a:solidFill>
          <a:latin typeface="Pretendard"/>
          <a:ea typeface="Pretendard"/>
          <a:cs typeface="Pretendard"/>
        </a:defRPr>
      </a:pPr>
      <a:endParaRPr lang="ko-KR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주말 ÷ 평일 일최대인구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5B6B7B"/>
              </a:solidFill>
            </c:spPr>
            <c:extLst>
              <c:ext xmlns:c16="http://schemas.microsoft.com/office/drawing/2014/chart" uri="{C3380CC4-5D6E-409C-BE32-E72D297353CC}">
                <c16:uniqueId val="{00000001-2A2B-4D31-975C-67AD16428366}"/>
              </c:ext>
            </c:extLst>
          </c:dPt>
          <c:dPt>
            <c:idx val="1"/>
            <c:invertIfNegative val="1"/>
            <c:bubble3D val="0"/>
            <c:spPr>
              <a:solidFill>
                <a:srgbClr val="222222"/>
              </a:solidFill>
            </c:spPr>
            <c:extLst>
              <c:ext xmlns:c16="http://schemas.microsoft.com/office/drawing/2014/chart" uri="{C3380CC4-5D6E-409C-BE32-E72D297353CC}">
                <c16:uniqueId val="{00000003-2A2B-4D31-975C-67AD16428366}"/>
              </c:ext>
            </c:extLst>
          </c:dPt>
          <c:dPt>
            <c:idx val="2"/>
            <c:invertIfNegative val="1"/>
            <c:bubble3D val="0"/>
            <c:spPr>
              <a:solidFill>
                <a:srgbClr val="C8102E"/>
              </a:solidFill>
            </c:spPr>
            <c:extLst>
              <c:ext xmlns:c16="http://schemas.microsoft.com/office/drawing/2014/chart" uri="{C3380CC4-5D6E-409C-BE32-E72D297353CC}">
                <c16:uniqueId val="{00000005-2A2B-4D31-975C-67AD16428366}"/>
              </c:ext>
            </c:extLst>
          </c:dPt>
          <c:dPt>
            <c:idx val="3"/>
            <c:invertIfNegative val="1"/>
            <c:bubble3D val="0"/>
            <c:spPr>
              <a:solidFill>
                <a:srgbClr val="C9CDD2"/>
              </a:solidFill>
            </c:spPr>
            <c:extLst>
              <c:ext xmlns:c16="http://schemas.microsoft.com/office/drawing/2014/chart" uri="{C3380CC4-5D6E-409C-BE32-E72D297353CC}">
                <c16:uniqueId val="{00000007-2A2B-4D31-975C-67AD16428366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222222"/>
                    </a:solidFill>
                    <a:latin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대규모 거점형</c:v>
                </c:pt>
                <c:pt idx="1">
                  <c:v>도심 유입형</c:v>
                </c:pt>
                <c:pt idx="2">
                  <c:v>주거 고수요형</c:v>
                </c:pt>
                <c:pt idx="3">
                  <c:v>일반 주거형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0.84499999999999997</c:v>
                </c:pt>
                <c:pt idx="1">
                  <c:v>0.73199999999999998</c:v>
                </c:pt>
                <c:pt idx="2">
                  <c:v>0.97699999999999998</c:v>
                </c:pt>
                <c:pt idx="3">
                  <c:v>0.97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A2B-4D31-975C-67AD1642836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9CDD2"/>
            </a:solidFill>
          </a:ln>
        </c:spPr>
        <c:txPr>
          <a:bodyPr/>
          <a:lstStyle/>
          <a:p>
            <a:pPr>
              <a:defRPr>
                <a:solidFill>
                  <a:srgbClr val="45515E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05"/>
          <c:min val="0.6"/>
        </c:scaling>
        <c:delete val="0"/>
        <c:axPos val="b"/>
        <c:majorGridlines>
          <c:spPr>
            <a:ln>
              <a:solidFill>
                <a:srgbClr val="DDDDDD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8E8E93"/>
                </a:solidFill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solidFill>
            <a:srgbClr val="222222"/>
          </a:solidFill>
          <a:latin typeface="Pretendard"/>
          <a:ea typeface="Pretendard"/>
          <a:cs typeface="Pretendard"/>
        </a:defRPr>
      </a:pPr>
      <a:endParaRPr lang="ko-KR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건수</c:v>
                </c:pt>
              </c:strCache>
            </c:strRef>
          </c:tx>
          <c:spPr>
            <a:solidFill>
              <a:srgbClr val="C9CDD2"/>
            </a:solidFill>
          </c:spPr>
          <c:invertIfNegative val="1"/>
          <c:dPt>
            <c:idx val="6"/>
            <c:invertIfNegative val="1"/>
            <c:bubble3D val="0"/>
            <c:spPr>
              <a:solidFill>
                <a:srgbClr val="C8102E"/>
              </a:solidFill>
            </c:spPr>
            <c:extLst>
              <c:ext xmlns:c16="http://schemas.microsoft.com/office/drawing/2014/chart" uri="{C3380CC4-5D6E-409C-BE32-E72D297353CC}">
                <c16:uniqueId val="{00000001-FAC9-4D71-8A24-E83B9AD728B3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222222"/>
                    </a:solidFill>
                    <a:latin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운동시설</c:v>
                </c:pt>
                <c:pt idx="1">
                  <c:v>학교·교육시설</c:v>
                </c:pt>
                <c:pt idx="2">
                  <c:v>상업시설</c:v>
                </c:pt>
                <c:pt idx="3">
                  <c:v>의료관련시설</c:v>
                </c:pt>
                <c:pt idx="4">
                  <c:v>도로외 교통지역</c:v>
                </c:pt>
                <c:pt idx="5">
                  <c:v>도로</c:v>
                </c:pt>
                <c:pt idx="6">
                  <c:v>집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</c:v>
                </c:pt>
                <c:pt idx="1">
                  <c:v>10</c:v>
                </c:pt>
                <c:pt idx="2">
                  <c:v>44</c:v>
                </c:pt>
                <c:pt idx="3">
                  <c:v>50</c:v>
                </c:pt>
                <c:pt idx="4">
                  <c:v>67</c:v>
                </c:pt>
                <c:pt idx="5">
                  <c:v>87</c:v>
                </c:pt>
                <c:pt idx="6">
                  <c:v>668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FAC9-4D71-8A24-E83B9AD728B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9CDD2"/>
            </a:solidFill>
          </a:ln>
        </c:spPr>
        <c:txPr>
          <a:bodyPr/>
          <a:lstStyle/>
          <a:p>
            <a:pPr>
              <a:defRPr>
                <a:solidFill>
                  <a:srgbClr val="45515E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800"/>
          <c:min val="0"/>
        </c:scaling>
        <c:delete val="0"/>
        <c:axPos val="b"/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8E8E93"/>
                </a:solidFill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solidFill>
            <a:srgbClr val="222222"/>
          </a:solidFill>
          <a:latin typeface="Pretendard"/>
          <a:ea typeface="Pretendard"/>
          <a:cs typeface="Pretendard"/>
        </a:defRPr>
      </a:pPr>
      <a:endParaRPr lang="ko-KR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건수</c:v>
                </c:pt>
              </c:strCache>
            </c:strRef>
          </c:tx>
          <c:spPr>
            <a:solidFill>
              <a:srgbClr val="C9CDD2"/>
            </a:solidFill>
          </c:spPr>
          <c:invertIfNegative val="1"/>
          <c:dPt>
            <c:idx val="5"/>
            <c:invertIfNegative val="1"/>
            <c:bubble3D val="0"/>
            <c:spPr>
              <a:solidFill>
                <a:srgbClr val="C8102E"/>
              </a:solidFill>
            </c:spPr>
            <c:extLst>
              <c:ext xmlns:c16="http://schemas.microsoft.com/office/drawing/2014/chart" uri="{C3380CC4-5D6E-409C-BE32-E72D297353CC}">
                <c16:uniqueId val="{00000001-FF09-466F-B268-C669253F39F3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222222"/>
                    </a:solidFill>
                    <a:latin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보행자</c:v>
                </c:pt>
                <c:pt idx="1">
                  <c:v>중독</c:v>
                </c:pt>
                <c:pt idx="2">
                  <c:v>기타 둔상</c:v>
                </c:pt>
                <c:pt idx="3">
                  <c:v>단순주취</c:v>
                </c:pt>
                <c:pt idx="4">
                  <c:v>오토바이사고</c:v>
                </c:pt>
                <c:pt idx="5">
                  <c:v>낙상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12</c:v>
                </c:pt>
                <c:pt idx="2">
                  <c:v>15</c:v>
                </c:pt>
                <c:pt idx="3">
                  <c:v>26</c:v>
                </c:pt>
                <c:pt idx="4">
                  <c:v>27</c:v>
                </c:pt>
                <c:pt idx="5">
                  <c:v>134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FF09-466F-B268-C669253F39F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9CDD2"/>
            </a:solidFill>
          </a:ln>
        </c:spPr>
        <c:txPr>
          <a:bodyPr/>
          <a:lstStyle/>
          <a:p>
            <a:pPr>
              <a:defRPr>
                <a:solidFill>
                  <a:srgbClr val="45515E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60"/>
          <c:min val="0"/>
        </c:scaling>
        <c:delete val="0"/>
        <c:axPos val="b"/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8E8E93"/>
                </a:solidFill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solidFill>
            <a:srgbClr val="222222"/>
          </a:solidFill>
          <a:latin typeface="Pretendard"/>
          <a:ea typeface="Pretendard"/>
          <a:cs typeface="Pretendard"/>
        </a:defRPr>
      </a:pPr>
      <a:endParaRPr lang="ko-KR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건수</c:v>
                </c:pt>
              </c:strCache>
            </c:strRef>
          </c:tx>
          <c:spPr>
            <a:solidFill>
              <a:srgbClr val="C9CDD2"/>
            </a:solidFill>
          </c:spPr>
          <c:invertIfNegative val="1"/>
          <c:dPt>
            <c:idx val="6"/>
            <c:invertIfNegative val="1"/>
            <c:bubble3D val="0"/>
            <c:spPr>
              <a:solidFill>
                <a:srgbClr val="222222"/>
              </a:solidFill>
            </c:spPr>
            <c:extLst>
              <c:ext xmlns:c16="http://schemas.microsoft.com/office/drawing/2014/chart" uri="{C3380CC4-5D6E-409C-BE32-E72D297353CC}">
                <c16:uniqueId val="{00000001-2567-4CF6-821B-BD1F01F3C52E}"/>
              </c:ext>
            </c:extLst>
          </c:dPt>
          <c:dPt>
            <c:idx val="7"/>
            <c:invertIfNegative val="1"/>
            <c:bubble3D val="0"/>
            <c:spPr>
              <a:solidFill>
                <a:srgbClr val="222222"/>
              </a:solidFill>
            </c:spPr>
            <c:extLst>
              <c:ext xmlns:c16="http://schemas.microsoft.com/office/drawing/2014/chart" uri="{C3380CC4-5D6E-409C-BE32-E72D297353CC}">
                <c16:uniqueId val="{00000003-2567-4CF6-821B-BD1F01F3C52E}"/>
              </c:ext>
            </c:extLst>
          </c:dPt>
          <c:dPt>
            <c:idx val="8"/>
            <c:invertIfNegative val="1"/>
            <c:bubble3D val="0"/>
            <c:spPr>
              <a:solidFill>
                <a:srgbClr val="222222"/>
              </a:solidFill>
            </c:spPr>
            <c:extLst>
              <c:ext xmlns:c16="http://schemas.microsoft.com/office/drawing/2014/chart" uri="{C3380CC4-5D6E-409C-BE32-E72D297353CC}">
                <c16:uniqueId val="{00000005-2567-4CF6-821B-BD1F01F3C52E}"/>
              </c:ext>
            </c:extLst>
          </c:dPt>
          <c:dPt>
            <c:idx val="9"/>
            <c:invertIfNegative val="1"/>
            <c:bubble3D val="0"/>
            <c:spPr>
              <a:solidFill>
                <a:srgbClr val="222222"/>
              </a:solidFill>
            </c:spPr>
            <c:extLst>
              <c:ext xmlns:c16="http://schemas.microsoft.com/office/drawing/2014/chart" uri="{C3380CC4-5D6E-409C-BE32-E72D297353CC}">
                <c16:uniqueId val="{00000007-2567-4CF6-821B-BD1F01F3C52E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222222"/>
                    </a:solidFill>
                    <a:latin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10세 미만</c:v>
                </c:pt>
                <c:pt idx="1">
                  <c:v>10대</c:v>
                </c:pt>
                <c:pt idx="2">
                  <c:v>20대</c:v>
                </c:pt>
                <c:pt idx="3">
                  <c:v>30대</c:v>
                </c:pt>
                <c:pt idx="4">
                  <c:v>40대</c:v>
                </c:pt>
                <c:pt idx="5">
                  <c:v>50대</c:v>
                </c:pt>
                <c:pt idx="6">
                  <c:v>60대</c:v>
                </c:pt>
                <c:pt idx="7">
                  <c:v>70대</c:v>
                </c:pt>
                <c:pt idx="8">
                  <c:v>80대</c:v>
                </c:pt>
                <c:pt idx="9">
                  <c:v>90세 이상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</c:v>
                </c:pt>
                <c:pt idx="1">
                  <c:v>25</c:v>
                </c:pt>
                <c:pt idx="2">
                  <c:v>113</c:v>
                </c:pt>
                <c:pt idx="3">
                  <c:v>60</c:v>
                </c:pt>
                <c:pt idx="4">
                  <c:v>56</c:v>
                </c:pt>
                <c:pt idx="5">
                  <c:v>98</c:v>
                </c:pt>
                <c:pt idx="6">
                  <c:v>142</c:v>
                </c:pt>
                <c:pt idx="7">
                  <c:v>204</c:v>
                </c:pt>
                <c:pt idx="8">
                  <c:v>192</c:v>
                </c:pt>
                <c:pt idx="9">
                  <c:v>45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2567-4CF6-821B-BD1F01F3C52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9CDD2"/>
            </a:solidFill>
          </a:ln>
        </c:spPr>
        <c:txPr>
          <a:bodyPr/>
          <a:lstStyle/>
          <a:p>
            <a:pPr>
              <a:defRPr>
                <a:solidFill>
                  <a:srgbClr val="45515E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50"/>
          <c:min val="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8E8E93"/>
                </a:solidFill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solidFill>
            <a:srgbClr val="222222"/>
          </a:solidFill>
          <a:latin typeface="Pretendard"/>
          <a:ea typeface="Pretendard"/>
          <a:cs typeface="Pretendard"/>
        </a:defRPr>
      </a:pPr>
      <a:endParaRPr lang="ko-KR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승강기사고</c:v>
                </c:pt>
              </c:strCache>
            </c:strRef>
          </c:tx>
          <c:spPr>
            <a:ln w="28575">
              <a:solidFill>
                <a:srgbClr val="C8102E"/>
              </a:solidFill>
            </a:ln>
          </c:spPr>
          <c:marker>
            <c:symbol val="circle"/>
            <c:size val="4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strRef>
              <c:f>Sheet1!$A$2:$A$20</c:f>
              <c:strCache>
                <c:ptCount val="19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  <c:pt idx="3">
                  <c:v>2010</c:v>
                </c:pt>
                <c:pt idx="4">
                  <c:v>2011</c:v>
                </c:pt>
                <c:pt idx="5">
                  <c:v>2012</c:v>
                </c:pt>
                <c:pt idx="6">
                  <c:v>2013</c:v>
                </c:pt>
                <c:pt idx="7">
                  <c:v>2014</c:v>
                </c:pt>
                <c:pt idx="8">
                  <c:v>2015</c:v>
                </c:pt>
                <c:pt idx="9">
                  <c:v>2016</c:v>
                </c:pt>
                <c:pt idx="10">
                  <c:v>2017</c:v>
                </c:pt>
                <c:pt idx="11">
                  <c:v>2018</c:v>
                </c:pt>
                <c:pt idx="12">
                  <c:v>2019</c:v>
                </c:pt>
                <c:pt idx="13">
                  <c:v>2020</c:v>
                </c:pt>
                <c:pt idx="14">
                  <c:v>2021</c:v>
                </c:pt>
                <c:pt idx="15">
                  <c:v>2022</c:v>
                </c:pt>
                <c:pt idx="16">
                  <c:v>2023</c:v>
                </c:pt>
                <c:pt idx="17">
                  <c:v>2024</c:v>
                </c:pt>
                <c:pt idx="18">
                  <c:v>2025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4085</c:v>
                </c:pt>
                <c:pt idx="1">
                  <c:v>3776</c:v>
                </c:pt>
                <c:pt idx="2">
                  <c:v>3969</c:v>
                </c:pt>
                <c:pt idx="3">
                  <c:v>4876</c:v>
                </c:pt>
                <c:pt idx="4">
                  <c:v>6815</c:v>
                </c:pt>
                <c:pt idx="5">
                  <c:v>6422</c:v>
                </c:pt>
                <c:pt idx="6">
                  <c:v>6138</c:v>
                </c:pt>
                <c:pt idx="7">
                  <c:v>5363</c:v>
                </c:pt>
                <c:pt idx="8">
                  <c:v>5674</c:v>
                </c:pt>
                <c:pt idx="9">
                  <c:v>7107</c:v>
                </c:pt>
                <c:pt idx="10">
                  <c:v>8464</c:v>
                </c:pt>
                <c:pt idx="11">
                  <c:v>7347</c:v>
                </c:pt>
                <c:pt idx="12">
                  <c:v>5662</c:v>
                </c:pt>
                <c:pt idx="13">
                  <c:v>3657</c:v>
                </c:pt>
                <c:pt idx="14">
                  <c:v>3465</c:v>
                </c:pt>
                <c:pt idx="15">
                  <c:v>6055</c:v>
                </c:pt>
                <c:pt idx="16">
                  <c:v>5509</c:v>
                </c:pt>
                <c:pt idx="17">
                  <c:v>5332</c:v>
                </c:pt>
                <c:pt idx="18">
                  <c:v>4793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A2F-44C0-A2BB-79AA9409075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인명갇힘</c:v>
                </c:pt>
              </c:strCache>
            </c:strRef>
          </c:tx>
          <c:spPr>
            <a:ln w="28575">
              <a:solidFill>
                <a:srgbClr val="222222"/>
              </a:solidFill>
            </a:ln>
          </c:spPr>
          <c:marker>
            <c:symbol val="circle"/>
            <c:size val="4"/>
            <c:spPr>
              <a:solidFill>
                <a:srgbClr val="222222"/>
              </a:solidFill>
              <a:ln>
                <a:solidFill>
                  <a:srgbClr val="222222"/>
                </a:solidFill>
              </a:ln>
            </c:spPr>
          </c:marker>
          <c:cat>
            <c:strRef>
              <c:f>Sheet1!$A$2:$A$20</c:f>
              <c:strCache>
                <c:ptCount val="19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  <c:pt idx="3">
                  <c:v>2010</c:v>
                </c:pt>
                <c:pt idx="4">
                  <c:v>2011</c:v>
                </c:pt>
                <c:pt idx="5">
                  <c:v>2012</c:v>
                </c:pt>
                <c:pt idx="6">
                  <c:v>2013</c:v>
                </c:pt>
                <c:pt idx="7">
                  <c:v>2014</c:v>
                </c:pt>
                <c:pt idx="8">
                  <c:v>2015</c:v>
                </c:pt>
                <c:pt idx="9">
                  <c:v>2016</c:v>
                </c:pt>
                <c:pt idx="10">
                  <c:v>2017</c:v>
                </c:pt>
                <c:pt idx="11">
                  <c:v>2018</c:v>
                </c:pt>
                <c:pt idx="12">
                  <c:v>2019</c:v>
                </c:pt>
                <c:pt idx="13">
                  <c:v>2020</c:v>
                </c:pt>
                <c:pt idx="14">
                  <c:v>2021</c:v>
                </c:pt>
                <c:pt idx="15">
                  <c:v>2022</c:v>
                </c:pt>
                <c:pt idx="16">
                  <c:v>2023</c:v>
                </c:pt>
                <c:pt idx="17">
                  <c:v>2024</c:v>
                </c:pt>
                <c:pt idx="18">
                  <c:v>2025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4136</c:v>
                </c:pt>
                <c:pt idx="1">
                  <c:v>4174</c:v>
                </c:pt>
                <c:pt idx="2">
                  <c:v>4103</c:v>
                </c:pt>
                <c:pt idx="3">
                  <c:v>4014</c:v>
                </c:pt>
                <c:pt idx="4">
                  <c:v>3572</c:v>
                </c:pt>
                <c:pt idx="5">
                  <c:v>4380</c:v>
                </c:pt>
                <c:pt idx="6">
                  <c:v>4632</c:v>
                </c:pt>
                <c:pt idx="7">
                  <c:v>5052</c:v>
                </c:pt>
                <c:pt idx="8">
                  <c:v>2126</c:v>
                </c:pt>
                <c:pt idx="9">
                  <c:v>5833</c:v>
                </c:pt>
                <c:pt idx="10">
                  <c:v>5734</c:v>
                </c:pt>
                <c:pt idx="11">
                  <c:v>4422</c:v>
                </c:pt>
                <c:pt idx="12">
                  <c:v>3893</c:v>
                </c:pt>
                <c:pt idx="13">
                  <c:v>2686</c:v>
                </c:pt>
                <c:pt idx="14">
                  <c:v>2670</c:v>
                </c:pt>
                <c:pt idx="15">
                  <c:v>2842</c:v>
                </c:pt>
                <c:pt idx="16">
                  <c:v>2045</c:v>
                </c:pt>
                <c:pt idx="17">
                  <c:v>2003</c:v>
                </c:pt>
                <c:pt idx="18">
                  <c:v>1826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A2F-44C0-A2BB-79AA9409075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교통사고</c:v>
                </c:pt>
              </c:strCache>
            </c:strRef>
          </c:tx>
          <c:spPr>
            <a:ln w="28575">
              <a:solidFill>
                <a:srgbClr val="5B6B7B"/>
              </a:solidFill>
            </a:ln>
          </c:spPr>
          <c:marker>
            <c:symbol val="circle"/>
            <c:size val="4"/>
            <c:spPr>
              <a:solidFill>
                <a:srgbClr val="5B6B7B"/>
              </a:solidFill>
              <a:ln>
                <a:solidFill>
                  <a:srgbClr val="5B6B7B"/>
                </a:solidFill>
              </a:ln>
            </c:spPr>
          </c:marker>
          <c:cat>
            <c:strRef>
              <c:f>Sheet1!$A$2:$A$20</c:f>
              <c:strCache>
                <c:ptCount val="19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  <c:pt idx="3">
                  <c:v>2010</c:v>
                </c:pt>
                <c:pt idx="4">
                  <c:v>2011</c:v>
                </c:pt>
                <c:pt idx="5">
                  <c:v>2012</c:v>
                </c:pt>
                <c:pt idx="6">
                  <c:v>2013</c:v>
                </c:pt>
                <c:pt idx="7">
                  <c:v>2014</c:v>
                </c:pt>
                <c:pt idx="8">
                  <c:v>2015</c:v>
                </c:pt>
                <c:pt idx="9">
                  <c:v>2016</c:v>
                </c:pt>
                <c:pt idx="10">
                  <c:v>2017</c:v>
                </c:pt>
                <c:pt idx="11">
                  <c:v>2018</c:v>
                </c:pt>
                <c:pt idx="12">
                  <c:v>2019</c:v>
                </c:pt>
                <c:pt idx="13">
                  <c:v>2020</c:v>
                </c:pt>
                <c:pt idx="14">
                  <c:v>2021</c:v>
                </c:pt>
                <c:pt idx="15">
                  <c:v>2022</c:v>
                </c:pt>
                <c:pt idx="16">
                  <c:v>2023</c:v>
                </c:pt>
                <c:pt idx="17">
                  <c:v>2024</c:v>
                </c:pt>
                <c:pt idx="18">
                  <c:v>2025</c:v>
                </c:pt>
              </c:strCache>
            </c:strRef>
          </c:cat>
          <c:val>
            <c:numRef>
              <c:f>Sheet1!$D$2:$D$20</c:f>
              <c:numCache>
                <c:formatCode>General</c:formatCode>
                <c:ptCount val="19"/>
                <c:pt idx="0">
                  <c:v>2028</c:v>
                </c:pt>
                <c:pt idx="1">
                  <c:v>1900</c:v>
                </c:pt>
                <c:pt idx="2">
                  <c:v>1753</c:v>
                </c:pt>
                <c:pt idx="3">
                  <c:v>1658</c:v>
                </c:pt>
                <c:pt idx="4">
                  <c:v>1598</c:v>
                </c:pt>
                <c:pt idx="5">
                  <c:v>1666</c:v>
                </c:pt>
                <c:pt idx="6">
                  <c:v>2137</c:v>
                </c:pt>
                <c:pt idx="7">
                  <c:v>2636</c:v>
                </c:pt>
                <c:pt idx="8">
                  <c:v>1797</c:v>
                </c:pt>
                <c:pt idx="9">
                  <c:v>1960</c:v>
                </c:pt>
                <c:pt idx="10">
                  <c:v>1996</c:v>
                </c:pt>
                <c:pt idx="11">
                  <c:v>1157</c:v>
                </c:pt>
                <c:pt idx="12">
                  <c:v>1572</c:v>
                </c:pt>
                <c:pt idx="13">
                  <c:v>656</c:v>
                </c:pt>
                <c:pt idx="14">
                  <c:v>461</c:v>
                </c:pt>
                <c:pt idx="15">
                  <c:v>504</c:v>
                </c:pt>
                <c:pt idx="16">
                  <c:v>764</c:v>
                </c:pt>
                <c:pt idx="17">
                  <c:v>784</c:v>
                </c:pt>
                <c:pt idx="18">
                  <c:v>622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A2F-44C0-A2BB-79AA9409075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수난사고</c:v>
                </c:pt>
              </c:strCache>
            </c:strRef>
          </c:tx>
          <c:spPr>
            <a:ln w="28575">
              <a:solidFill>
                <a:srgbClr val="9AA5B1"/>
              </a:solidFill>
            </a:ln>
          </c:spPr>
          <c:marker>
            <c:symbol val="circle"/>
            <c:size val="4"/>
            <c:spPr>
              <a:solidFill>
                <a:srgbClr val="9AA5B1"/>
              </a:solidFill>
              <a:ln>
                <a:solidFill>
                  <a:srgbClr val="9AA5B1"/>
                </a:solidFill>
              </a:ln>
            </c:spPr>
          </c:marker>
          <c:cat>
            <c:strRef>
              <c:f>Sheet1!$A$2:$A$20</c:f>
              <c:strCache>
                <c:ptCount val="19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  <c:pt idx="3">
                  <c:v>2010</c:v>
                </c:pt>
                <c:pt idx="4">
                  <c:v>2011</c:v>
                </c:pt>
                <c:pt idx="5">
                  <c:v>2012</c:v>
                </c:pt>
                <c:pt idx="6">
                  <c:v>2013</c:v>
                </c:pt>
                <c:pt idx="7">
                  <c:v>2014</c:v>
                </c:pt>
                <c:pt idx="8">
                  <c:v>2015</c:v>
                </c:pt>
                <c:pt idx="9">
                  <c:v>2016</c:v>
                </c:pt>
                <c:pt idx="10">
                  <c:v>2017</c:v>
                </c:pt>
                <c:pt idx="11">
                  <c:v>2018</c:v>
                </c:pt>
                <c:pt idx="12">
                  <c:v>2019</c:v>
                </c:pt>
                <c:pt idx="13">
                  <c:v>2020</c:v>
                </c:pt>
                <c:pt idx="14">
                  <c:v>2021</c:v>
                </c:pt>
                <c:pt idx="15">
                  <c:v>2022</c:v>
                </c:pt>
                <c:pt idx="16">
                  <c:v>2023</c:v>
                </c:pt>
                <c:pt idx="17">
                  <c:v>2024</c:v>
                </c:pt>
                <c:pt idx="18">
                  <c:v>2025</c:v>
                </c:pt>
              </c:strCache>
            </c:strRef>
          </c:cat>
          <c:val>
            <c:numRef>
              <c:f>Sheet1!$E$2:$E$20</c:f>
              <c:numCache>
                <c:formatCode>General</c:formatCode>
                <c:ptCount val="19"/>
                <c:pt idx="0">
                  <c:v>394</c:v>
                </c:pt>
                <c:pt idx="1">
                  <c:v>437</c:v>
                </c:pt>
                <c:pt idx="2">
                  <c:v>432</c:v>
                </c:pt>
                <c:pt idx="3">
                  <c:v>430</c:v>
                </c:pt>
                <c:pt idx="4">
                  <c:v>530</c:v>
                </c:pt>
                <c:pt idx="5">
                  <c:v>431</c:v>
                </c:pt>
                <c:pt idx="6">
                  <c:v>664</c:v>
                </c:pt>
                <c:pt idx="7">
                  <c:v>1062</c:v>
                </c:pt>
                <c:pt idx="8">
                  <c:v>899</c:v>
                </c:pt>
                <c:pt idx="9">
                  <c:v>894</c:v>
                </c:pt>
                <c:pt idx="10">
                  <c:v>827</c:v>
                </c:pt>
                <c:pt idx="11">
                  <c:v>895</c:v>
                </c:pt>
                <c:pt idx="12">
                  <c:v>1481</c:v>
                </c:pt>
                <c:pt idx="13">
                  <c:v>1518</c:v>
                </c:pt>
                <c:pt idx="14">
                  <c:v>2109</c:v>
                </c:pt>
                <c:pt idx="15">
                  <c:v>1186</c:v>
                </c:pt>
                <c:pt idx="16">
                  <c:v>1006</c:v>
                </c:pt>
                <c:pt idx="17">
                  <c:v>425</c:v>
                </c:pt>
                <c:pt idx="18">
                  <c:v>784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A2F-44C0-A2BB-79AA9409075F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산악사고</c:v>
                </c:pt>
              </c:strCache>
            </c:strRef>
          </c:tx>
          <c:spPr>
            <a:ln w="28575">
              <a:solidFill>
                <a:srgbClr val="C9CDD2"/>
              </a:solidFill>
            </a:ln>
          </c:spPr>
          <c:marker>
            <c:symbol val="circle"/>
            <c:size val="4"/>
            <c:spPr>
              <a:solidFill>
                <a:srgbClr val="C9CDD2"/>
              </a:solidFill>
              <a:ln>
                <a:solidFill>
                  <a:srgbClr val="C9CDD2"/>
                </a:solidFill>
              </a:ln>
            </c:spPr>
          </c:marker>
          <c:cat>
            <c:strRef>
              <c:f>Sheet1!$A$2:$A$20</c:f>
              <c:strCache>
                <c:ptCount val="19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  <c:pt idx="3">
                  <c:v>2010</c:v>
                </c:pt>
                <c:pt idx="4">
                  <c:v>2011</c:v>
                </c:pt>
                <c:pt idx="5">
                  <c:v>2012</c:v>
                </c:pt>
                <c:pt idx="6">
                  <c:v>2013</c:v>
                </c:pt>
                <c:pt idx="7">
                  <c:v>2014</c:v>
                </c:pt>
                <c:pt idx="8">
                  <c:v>2015</c:v>
                </c:pt>
                <c:pt idx="9">
                  <c:v>2016</c:v>
                </c:pt>
                <c:pt idx="10">
                  <c:v>2017</c:v>
                </c:pt>
                <c:pt idx="11">
                  <c:v>2018</c:v>
                </c:pt>
                <c:pt idx="12">
                  <c:v>2019</c:v>
                </c:pt>
                <c:pt idx="13">
                  <c:v>2020</c:v>
                </c:pt>
                <c:pt idx="14">
                  <c:v>2021</c:v>
                </c:pt>
                <c:pt idx="15">
                  <c:v>2022</c:v>
                </c:pt>
                <c:pt idx="16">
                  <c:v>2023</c:v>
                </c:pt>
                <c:pt idx="17">
                  <c:v>2024</c:v>
                </c:pt>
                <c:pt idx="18">
                  <c:v>2025</c:v>
                </c:pt>
              </c:strCache>
            </c:strRef>
          </c:cat>
          <c:val>
            <c:numRef>
              <c:f>Sheet1!$F$2:$F$20</c:f>
              <c:numCache>
                <c:formatCode>General</c:formatCode>
                <c:ptCount val="19"/>
                <c:pt idx="0">
                  <c:v>743</c:v>
                </c:pt>
                <c:pt idx="1">
                  <c:v>925</c:v>
                </c:pt>
                <c:pt idx="2">
                  <c:v>1064</c:v>
                </c:pt>
                <c:pt idx="3">
                  <c:v>1114</c:v>
                </c:pt>
                <c:pt idx="4">
                  <c:v>1109</c:v>
                </c:pt>
                <c:pt idx="5">
                  <c:v>968</c:v>
                </c:pt>
                <c:pt idx="6">
                  <c:v>1089</c:v>
                </c:pt>
                <c:pt idx="7">
                  <c:v>1194</c:v>
                </c:pt>
                <c:pt idx="8">
                  <c:v>1190</c:v>
                </c:pt>
                <c:pt idx="9">
                  <c:v>1114</c:v>
                </c:pt>
                <c:pt idx="10">
                  <c:v>973</c:v>
                </c:pt>
                <c:pt idx="11">
                  <c:v>966</c:v>
                </c:pt>
                <c:pt idx="12">
                  <c:v>887</c:v>
                </c:pt>
                <c:pt idx="13">
                  <c:v>1090</c:v>
                </c:pt>
                <c:pt idx="14">
                  <c:v>1239</c:v>
                </c:pt>
                <c:pt idx="15">
                  <c:v>1092</c:v>
                </c:pt>
                <c:pt idx="16">
                  <c:v>1269</c:v>
                </c:pt>
                <c:pt idx="17">
                  <c:v>1230</c:v>
                </c:pt>
                <c:pt idx="18">
                  <c:v>960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FA2F-44C0-A2BB-79AA9409075F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화재</c:v>
                </c:pt>
              </c:strCache>
            </c:strRef>
          </c:tx>
          <c:spPr>
            <a:ln w="28575">
              <a:solidFill>
                <a:srgbClr val="E09FA8"/>
              </a:solidFill>
            </a:ln>
          </c:spPr>
          <c:marker>
            <c:symbol val="circle"/>
            <c:size val="4"/>
            <c:spPr>
              <a:solidFill>
                <a:srgbClr val="E09FA8"/>
              </a:solidFill>
              <a:ln>
                <a:solidFill>
                  <a:srgbClr val="E09FA8"/>
                </a:solidFill>
              </a:ln>
            </c:spPr>
          </c:marker>
          <c:cat>
            <c:strRef>
              <c:f>Sheet1!$A$2:$A$20</c:f>
              <c:strCache>
                <c:ptCount val="19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  <c:pt idx="3">
                  <c:v>2010</c:v>
                </c:pt>
                <c:pt idx="4">
                  <c:v>2011</c:v>
                </c:pt>
                <c:pt idx="5">
                  <c:v>2012</c:v>
                </c:pt>
                <c:pt idx="6">
                  <c:v>2013</c:v>
                </c:pt>
                <c:pt idx="7">
                  <c:v>2014</c:v>
                </c:pt>
                <c:pt idx="8">
                  <c:v>2015</c:v>
                </c:pt>
                <c:pt idx="9">
                  <c:v>2016</c:v>
                </c:pt>
                <c:pt idx="10">
                  <c:v>2017</c:v>
                </c:pt>
                <c:pt idx="11">
                  <c:v>2018</c:v>
                </c:pt>
                <c:pt idx="12">
                  <c:v>2019</c:v>
                </c:pt>
                <c:pt idx="13">
                  <c:v>2020</c:v>
                </c:pt>
                <c:pt idx="14">
                  <c:v>2021</c:v>
                </c:pt>
                <c:pt idx="15">
                  <c:v>2022</c:v>
                </c:pt>
                <c:pt idx="16">
                  <c:v>2023</c:v>
                </c:pt>
                <c:pt idx="17">
                  <c:v>2024</c:v>
                </c:pt>
                <c:pt idx="18">
                  <c:v>2025</c:v>
                </c:pt>
              </c:strCache>
            </c:strRef>
          </c:cat>
          <c:val>
            <c:numRef>
              <c:f>Sheet1!$G$2:$G$20</c:f>
              <c:numCache>
                <c:formatCode>General</c:formatCode>
                <c:ptCount val="19"/>
                <c:pt idx="0">
                  <c:v>1193</c:v>
                </c:pt>
                <c:pt idx="1">
                  <c:v>889</c:v>
                </c:pt>
                <c:pt idx="2">
                  <c:v>882</c:v>
                </c:pt>
                <c:pt idx="3">
                  <c:v>1549</c:v>
                </c:pt>
                <c:pt idx="4">
                  <c:v>1773</c:v>
                </c:pt>
                <c:pt idx="5">
                  <c:v>2964</c:v>
                </c:pt>
                <c:pt idx="6">
                  <c:v>3140</c:v>
                </c:pt>
                <c:pt idx="7">
                  <c:v>2605</c:v>
                </c:pt>
                <c:pt idx="8">
                  <c:v>792</c:v>
                </c:pt>
                <c:pt idx="9">
                  <c:v>1032</c:v>
                </c:pt>
                <c:pt idx="10">
                  <c:v>1183</c:v>
                </c:pt>
                <c:pt idx="11">
                  <c:v>743</c:v>
                </c:pt>
                <c:pt idx="12">
                  <c:v>672</c:v>
                </c:pt>
                <c:pt idx="13">
                  <c:v>476</c:v>
                </c:pt>
                <c:pt idx="14">
                  <c:v>453</c:v>
                </c:pt>
                <c:pt idx="15">
                  <c:v>424</c:v>
                </c:pt>
                <c:pt idx="16">
                  <c:v>545</c:v>
                </c:pt>
                <c:pt idx="17">
                  <c:v>689</c:v>
                </c:pt>
                <c:pt idx="18">
                  <c:v>595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FA2F-44C0-A2BB-79AA940907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9CDD2"/>
            </a:solidFill>
          </a:ln>
        </c:spPr>
        <c:txPr>
          <a:bodyPr/>
          <a:lstStyle/>
          <a:p>
            <a:pPr>
              <a:defRPr>
                <a:solidFill>
                  <a:srgbClr val="45515E"/>
                </a:solidFill>
              </a:defRPr>
            </a:pPr>
            <a:endParaRPr lang="ko-K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9000"/>
          <c:min val="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8E8E93"/>
                </a:solidFill>
              </a:defRPr>
            </a:pPr>
            <a:endParaRPr lang="ko-KR"/>
          </a:p>
        </c:txPr>
        <c:crossAx val="2118791784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900">
              <a:latin typeface="Pretendard"/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900">
          <a:solidFill>
            <a:srgbClr val="222222"/>
          </a:solidFill>
          <a:latin typeface="Pretendard"/>
          <a:ea typeface="Pretendard"/>
          <a:cs typeface="Pretendard"/>
        </a:defRPr>
      </a:pPr>
      <a:endParaRPr lang="ko-KR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발생 유형</c:v>
                </c:pt>
              </c:strCache>
            </c:strRef>
          </c:tx>
          <c:dPt>
            <c:idx val="0"/>
            <c:bubble3D val="0"/>
            <c:spPr>
              <a:solidFill>
                <a:srgbClr val="222222"/>
              </a:solidFill>
            </c:spPr>
            <c:extLst>
              <c:ext xmlns:c16="http://schemas.microsoft.com/office/drawing/2014/chart" uri="{C3380CC4-5D6E-409C-BE32-E72D297353CC}">
                <c16:uniqueId val="{00000001-FE79-42BB-BB8B-4F58AE7A28CA}"/>
              </c:ext>
            </c:extLst>
          </c:dPt>
          <c:dPt>
            <c:idx val="1"/>
            <c:bubble3D val="0"/>
            <c:spPr>
              <a:solidFill>
                <a:srgbClr val="C8102E"/>
              </a:solidFill>
            </c:spPr>
            <c:extLst>
              <c:ext xmlns:c16="http://schemas.microsoft.com/office/drawing/2014/chart" uri="{C3380CC4-5D6E-409C-BE32-E72D297353CC}">
                <c16:uniqueId val="{00000003-FE79-42BB-BB8B-4F58AE7A28CA}"/>
              </c:ext>
            </c:extLst>
          </c:dPt>
          <c:dPt>
            <c:idx val="2"/>
            <c:bubble3D val="0"/>
            <c:spPr>
              <a:solidFill>
                <a:srgbClr val="8E8E93"/>
              </a:solidFill>
            </c:spPr>
            <c:extLst>
              <c:ext xmlns:c16="http://schemas.microsoft.com/office/drawing/2014/chart" uri="{C3380CC4-5D6E-409C-BE32-E72D297353CC}">
                <c16:uniqueId val="{00000005-FE79-42BB-BB8B-4F58AE7A28CA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FFFFFF"/>
                    </a:solidFill>
                    <a:latin typeface="Pretendard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Sheet1!$A$2:$A$4</c:f>
              <c:strCache>
                <c:ptCount val="3"/>
                <c:pt idx="0">
                  <c:v>질병</c:v>
                </c:pt>
                <c:pt idx="1">
                  <c:v>질병 외</c:v>
                </c:pt>
                <c:pt idx="2">
                  <c:v>기타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555998</c:v>
                </c:pt>
                <c:pt idx="1">
                  <c:v>566593</c:v>
                </c:pt>
                <c:pt idx="2">
                  <c:v>44726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E79-42BB-BB8B-4F58AE7A28CA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000">
              <a:latin typeface="Pretendard"/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222222"/>
          </a:solidFill>
          <a:latin typeface="Pretendard"/>
          <a:ea typeface="Pretendard"/>
          <a:cs typeface="Pretendard"/>
        </a:defRPr>
      </a:pPr>
      <a:endParaRPr lang="ko-KR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이송 여부</c:v>
                </c:pt>
              </c:strCache>
            </c:strRef>
          </c:tx>
          <c:dPt>
            <c:idx val="0"/>
            <c:bubble3D val="0"/>
            <c:spPr>
              <a:solidFill>
                <a:srgbClr val="222222"/>
              </a:solidFill>
            </c:spPr>
            <c:extLst>
              <c:ext xmlns:c16="http://schemas.microsoft.com/office/drawing/2014/chart" uri="{C3380CC4-5D6E-409C-BE32-E72D297353CC}">
                <c16:uniqueId val="{00000001-C7EA-4E65-B6F7-7005D1B706F9}"/>
              </c:ext>
            </c:extLst>
          </c:dPt>
          <c:dPt>
            <c:idx val="1"/>
            <c:bubble3D val="0"/>
            <c:spPr>
              <a:solidFill>
                <a:srgbClr val="5B6B7B"/>
              </a:solidFill>
            </c:spPr>
            <c:extLst>
              <c:ext xmlns:c16="http://schemas.microsoft.com/office/drawing/2014/chart" uri="{C3380CC4-5D6E-409C-BE32-E72D297353CC}">
                <c16:uniqueId val="{00000003-C7EA-4E65-B6F7-7005D1B706F9}"/>
              </c:ext>
            </c:extLst>
          </c:dPt>
          <c:dPt>
            <c:idx val="2"/>
            <c:bubble3D val="0"/>
            <c:spPr>
              <a:solidFill>
                <a:srgbClr val="8E8E93"/>
              </a:solidFill>
            </c:spPr>
            <c:extLst>
              <c:ext xmlns:c16="http://schemas.microsoft.com/office/drawing/2014/chart" uri="{C3380CC4-5D6E-409C-BE32-E72D297353CC}">
                <c16:uniqueId val="{00000005-C7EA-4E65-B6F7-7005D1B706F9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FFFFFF"/>
                    </a:solidFill>
                    <a:latin typeface="Pretendard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Sheet1!$A$2:$A$4</c:f>
              <c:strCache>
                <c:ptCount val="3"/>
                <c:pt idx="0">
                  <c:v>이송</c:v>
                </c:pt>
                <c:pt idx="1">
                  <c:v>미이송</c:v>
                </c:pt>
                <c:pt idx="2">
                  <c:v>소방활동 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670789</c:v>
                </c:pt>
                <c:pt idx="1">
                  <c:v>418179</c:v>
                </c:pt>
                <c:pt idx="2">
                  <c:v>78349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7EA-4E65-B6F7-7005D1B706F9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000">
              <a:latin typeface="Pretendard"/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222222"/>
          </a:solidFill>
          <a:latin typeface="Pretendard"/>
          <a:ea typeface="Pretendard"/>
          <a:cs typeface="Pretendard"/>
        </a:defRPr>
      </a:pPr>
      <a:endParaRPr lang="ko-KR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질병</c:v>
                </c:pt>
              </c:strCache>
            </c:strRef>
          </c:tx>
          <c:spPr>
            <a:solidFill>
              <a:srgbClr val="222222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222222"/>
                    </a:solidFill>
                    <a:latin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2021</c:v>
                </c:pt>
                <c:pt idx="1">
                  <c:v>2022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260882</c:v>
                </c:pt>
                <c:pt idx="1">
                  <c:v>295116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8E0-460C-A419-5AAE7D97016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질병 외</c:v>
                </c:pt>
              </c:strCache>
            </c:strRef>
          </c:tx>
          <c:spPr>
            <a:solidFill>
              <a:srgbClr val="C8102E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222222"/>
                    </a:solidFill>
                    <a:latin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2021</c:v>
                </c:pt>
                <c:pt idx="1">
                  <c:v>2022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264131</c:v>
                </c:pt>
                <c:pt idx="1">
                  <c:v>302462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C8E0-460C-A419-5AAE7D97016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9CDD2"/>
            </a:solidFill>
          </a:ln>
        </c:spPr>
        <c:txPr>
          <a:bodyPr/>
          <a:lstStyle/>
          <a:p>
            <a:pPr>
              <a:defRPr>
                <a:solidFill>
                  <a:srgbClr val="45515E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50000"/>
          <c:min val="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8E8E93"/>
                </a:solidFill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legend>
      <c:legendPos val="t"/>
      <c:layout/>
      <c:overlay val="0"/>
      <c:txPr>
        <a:bodyPr/>
        <a:lstStyle/>
        <a:p>
          <a:pPr>
            <a:defRPr sz="900">
              <a:latin typeface="Pretendard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900">
          <a:solidFill>
            <a:srgbClr val="222222"/>
          </a:solidFill>
          <a:latin typeface="Pretendard"/>
          <a:ea typeface="Pretendard"/>
          <a:cs typeface="Pretendard"/>
        </a:defRPr>
      </a:pPr>
      <a:endParaRPr lang="ko-KR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lang="en-US" altLang="ko-KR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night_pop × </a:t>
            </a:r>
            <a:r>
              <a:rPr lang="ko-KR" alt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이송 건수 상관계수 </a:t>
            </a:r>
            <a:r>
              <a:rPr lang="en-US" altLang="ko-KR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(</a:t>
            </a:r>
            <a:r>
              <a:rPr lang="ko-KR" alt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모두 </a:t>
            </a:r>
            <a:r>
              <a:rPr lang="en-US" altLang="ko-KR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p &lt; 0.05)</a:t>
            </a:r>
          </a:p>
        </c:rich>
      </c:tx>
      <c:layout/>
      <c:overlay val="0"/>
      <c:spPr>
        <a:noFill/>
        <a:ln w="0">
          <a:noFill/>
        </a:ln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night_pop r</c:v>
                </c:pt>
              </c:strCache>
            </c:strRef>
          </c:tx>
          <c:spPr>
            <a:solidFill>
              <a:srgbClr val="2F5D8A"/>
            </a:solidFill>
            <a:ln w="0">
              <a:noFill/>
            </a:ln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100" b="1" u="none" strike="noStrike">
                    <a:solidFill>
                      <a:srgbClr val="1F2329"/>
                    </a:solidFill>
                    <a:uFillTx/>
                    <a:latin typeface="Pretendard"/>
                    <a:ea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전체 (피어슨)</c:v>
                </c:pt>
                <c:pt idx="1">
                  <c:v>전체 (스피어만)</c:v>
                </c:pt>
                <c:pt idx="2">
                  <c:v>자치구 간</c:v>
                </c:pt>
                <c:pt idx="3">
                  <c:v>자치구 내</c:v>
                </c:pt>
                <c:pt idx="4">
                  <c:v>자치구 내 (계절 제거)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0.69399999999999995</c:v>
                </c:pt>
                <c:pt idx="1">
                  <c:v>0.69899999999999995</c:v>
                </c:pt>
                <c:pt idx="2">
                  <c:v>0.80400000000000005</c:v>
                </c:pt>
                <c:pt idx="3">
                  <c:v>0.23</c:v>
                </c:pt>
                <c:pt idx="4">
                  <c:v>0.30599999999999999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4C-4AB5-B464-6B9C0B66F8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56374227"/>
        <c:axId val="37454021"/>
      </c:barChart>
      <c:catAx>
        <c:axId val="56374227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noFill/>
          </a:ln>
        </c:spPr>
        <c:txPr>
          <a:bodyPr/>
          <a:lstStyle/>
          <a:p>
            <a:pPr>
              <a:defRPr sz="1000" b="0" u="none" strike="noStrike">
                <a:solidFill>
                  <a:srgbClr val="4A5260"/>
                </a:solidFill>
                <a:uFillTx/>
                <a:latin typeface="Pretendard"/>
                <a:ea typeface="Pretendard"/>
              </a:defRPr>
            </a:pPr>
            <a:endParaRPr lang="ko-KR"/>
          </a:p>
        </c:txPr>
        <c:crossAx val="37454021"/>
        <c:crosses val="autoZero"/>
        <c:auto val="1"/>
        <c:lblAlgn val="ctr"/>
        <c:lblOffset val="100"/>
        <c:noMultiLvlLbl val="0"/>
      </c:catAx>
      <c:valAx>
        <c:axId val="37454021"/>
        <c:scaling>
          <c:orientation val="minMax"/>
          <c:max val="1"/>
          <c:min val="0"/>
        </c:scaling>
        <c:delete val="0"/>
        <c:axPos val="l"/>
        <c:majorGridlines>
          <c:spPr>
            <a:ln w="9360">
              <a:solidFill>
                <a:srgbClr val="E3E6EA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noFill/>
          </a:ln>
        </c:spPr>
        <c:txPr>
          <a:bodyPr/>
          <a:lstStyle/>
          <a:p>
            <a:pPr>
              <a:defRPr sz="900" b="0" u="none" strike="noStrike">
                <a:solidFill>
                  <a:srgbClr val="4A5260"/>
                </a:solidFill>
                <a:uFillTx/>
                <a:latin typeface="Pretendard"/>
                <a:ea typeface="Pretendard"/>
              </a:defRPr>
            </a:pPr>
            <a:endParaRPr lang="ko-KR"/>
          </a:p>
        </c:txPr>
        <c:crossAx val="56374227"/>
        <c:crosses val="autoZero"/>
        <c:crossBetween val="between"/>
        <c:majorUnit val="0.2"/>
      </c:valAx>
      <c:spPr>
        <a:noFill/>
        <a:ln w="0">
          <a:noFill/>
        </a:ln>
      </c:spPr>
    </c:plotArea>
    <c:plotVisOnly val="1"/>
    <c:dispBlanksAs val="span"/>
    <c:showDLblsOverMax val="1"/>
  </c:chart>
  <c:spPr>
    <a:noFill/>
    <a:ln w="0">
      <a:noFill/>
    </a:ln>
  </c:spPr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lang="ko-KR" alt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시계열 분해 성분별 상관 </a:t>
            </a:r>
            <a:r>
              <a:rPr lang="en-US" altLang="ko-KR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(</a:t>
            </a:r>
            <a:r>
              <a:rPr lang="ko-KR" alt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구 평균</a:t>
            </a:r>
            <a:r>
              <a:rPr lang="en-US" altLang="ko-KR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)</a:t>
            </a:r>
          </a:p>
        </c:rich>
      </c:tx>
      <c:layout/>
      <c:overlay val="0"/>
      <c:spPr>
        <a:noFill/>
        <a:ln w="0">
          <a:noFill/>
        </a:ln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성분 상관</c:v>
                </c:pt>
              </c:strCache>
            </c:strRef>
          </c:tx>
          <c:spPr>
            <a:solidFill>
              <a:srgbClr val="2F5D8A"/>
            </a:solidFill>
            <a:ln w="0">
              <a:noFill/>
            </a:ln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900" b="1" u="none" strike="noStrike">
                    <a:solidFill>
                      <a:srgbClr val="1F2329"/>
                    </a:solidFill>
                    <a:uFillTx/>
                    <a:latin typeface="Pretendard"/>
                    <a:ea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원본</c:v>
                </c:pt>
                <c:pt idx="1">
                  <c:v>추세</c:v>
                </c:pt>
                <c:pt idx="2">
                  <c:v>계절</c:v>
                </c:pt>
                <c:pt idx="3">
                  <c:v>잔차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0.19</c:v>
                </c:pt>
                <c:pt idx="1">
                  <c:v>0.17</c:v>
                </c:pt>
                <c:pt idx="2">
                  <c:v>-0.4</c:v>
                </c:pt>
                <c:pt idx="3">
                  <c:v>0.17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4E-4B18-8CC0-887CB98005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14311576"/>
        <c:axId val="67849292"/>
      </c:barChart>
      <c:catAx>
        <c:axId val="1431157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noFill/>
          </a:ln>
        </c:spPr>
        <c:txPr>
          <a:bodyPr/>
          <a:lstStyle/>
          <a:p>
            <a:pPr>
              <a:defRPr sz="1000" b="0" u="none" strike="noStrike">
                <a:solidFill>
                  <a:srgbClr val="4A5260"/>
                </a:solidFill>
                <a:uFillTx/>
                <a:latin typeface="Pretendard"/>
                <a:ea typeface="Pretendard"/>
              </a:defRPr>
            </a:pPr>
            <a:endParaRPr lang="ko-KR"/>
          </a:p>
        </c:txPr>
        <c:crossAx val="67849292"/>
        <c:crosses val="autoZero"/>
        <c:auto val="1"/>
        <c:lblAlgn val="ctr"/>
        <c:lblOffset val="100"/>
        <c:noMultiLvlLbl val="0"/>
      </c:catAx>
      <c:valAx>
        <c:axId val="67849292"/>
        <c:scaling>
          <c:orientation val="minMax"/>
          <c:max val="0.4"/>
          <c:min val="-0.6"/>
        </c:scaling>
        <c:delete val="0"/>
        <c:axPos val="l"/>
        <c:majorGridlines>
          <c:spPr>
            <a:ln w="9360">
              <a:solidFill>
                <a:srgbClr val="E3E6EA"/>
              </a:solidFill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600">
            <a:noFill/>
          </a:ln>
        </c:spPr>
        <c:txPr>
          <a:bodyPr/>
          <a:lstStyle/>
          <a:p>
            <a:pPr>
              <a:defRPr sz="900" b="0" u="none" strike="noStrike">
                <a:solidFill>
                  <a:srgbClr val="4A5260"/>
                </a:solidFill>
                <a:uFillTx/>
                <a:latin typeface="Pretendard"/>
                <a:ea typeface="Pretendard"/>
              </a:defRPr>
            </a:pPr>
            <a:endParaRPr lang="ko-KR"/>
          </a:p>
        </c:txPr>
        <c:crossAx val="14311576"/>
        <c:crosses val="autoZero"/>
        <c:crossBetween val="between"/>
        <c:majorUnit val="0.2"/>
      </c:valAx>
      <c:spPr>
        <a:noFill/>
        <a:ln w="0">
          <a:noFill/>
        </a:ln>
      </c:spPr>
    </c:plotArea>
    <c:plotVisOnly val="1"/>
    <c:dispBlanksAs val="span"/>
    <c:showDLblsOverMax val="1"/>
  </c:chart>
  <c:spPr>
    <a:noFill/>
    <a:ln w="0">
      <a:noFill/>
    </a:ln>
  </c:spPr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lang="ko-KR" alt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시차별 상관 </a:t>
            </a:r>
            <a:r>
              <a:rPr lang="en-US" altLang="ko-KR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(</a:t>
            </a:r>
            <a:r>
              <a:rPr lang="ko-KR" alt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자치구 내 </a:t>
            </a:r>
            <a:r>
              <a:rPr lang="en-US" altLang="ko-KR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· </a:t>
            </a:r>
            <a:r>
              <a:rPr lang="ko-KR" alt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계절 제거</a:t>
            </a:r>
            <a:r>
              <a:rPr lang="en-US" altLang="ko-KR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)</a:t>
            </a:r>
          </a:p>
        </c:rich>
      </c:tx>
      <c:layout/>
      <c:overlay val="0"/>
      <c:spPr>
        <a:noFill/>
        <a:ln w="0">
          <a:noFill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상관계수</c:v>
                </c:pt>
              </c:strCache>
            </c:strRef>
          </c:tx>
          <c:spPr>
            <a:ln w="31680">
              <a:solidFill>
                <a:srgbClr val="2F5D8A"/>
              </a:solidFill>
              <a:round/>
            </a:ln>
          </c:spPr>
          <c:marker>
            <c:symbol val="circle"/>
            <c:size val="8"/>
            <c:spPr>
              <a:solidFill>
                <a:srgbClr val="2F5D8A"/>
              </a:solidFill>
            </c:spPr>
          </c:marker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900" b="1" u="none" strike="noStrike">
                    <a:solidFill>
                      <a:srgbClr val="1F2329"/>
                    </a:solidFill>
                    <a:uFillTx/>
                    <a:latin typeface="Pretendard"/>
                    <a:ea typeface="Pretendard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당월</c:v>
                </c:pt>
                <c:pt idx="1">
                  <c:v>1개월 전</c:v>
                </c:pt>
                <c:pt idx="2">
                  <c:v>2개월 전</c:v>
                </c:pt>
                <c:pt idx="3">
                  <c:v>3개월 전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0.30599999999999999</c:v>
                </c:pt>
                <c:pt idx="1">
                  <c:v>0.26100000000000001</c:v>
                </c:pt>
                <c:pt idx="2">
                  <c:v>0.216</c:v>
                </c:pt>
                <c:pt idx="3">
                  <c:v>0.16300000000000001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F6E-4E35-8C62-D50F986503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0">
              <a:noFill/>
            </a:ln>
          </c:spPr>
        </c:hiLowLines>
        <c:marker val="1"/>
        <c:smooth val="0"/>
        <c:axId val="59628507"/>
        <c:axId val="32593681"/>
      </c:lineChart>
      <c:catAx>
        <c:axId val="59628507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noFill/>
          </a:ln>
        </c:spPr>
        <c:txPr>
          <a:bodyPr/>
          <a:lstStyle/>
          <a:p>
            <a:pPr>
              <a:defRPr sz="1000" b="0" u="none" strike="noStrike">
                <a:solidFill>
                  <a:srgbClr val="4A5260"/>
                </a:solidFill>
                <a:uFillTx/>
                <a:latin typeface="Pretendard"/>
                <a:ea typeface="Pretendard"/>
              </a:defRPr>
            </a:pPr>
            <a:endParaRPr lang="ko-KR"/>
          </a:p>
        </c:txPr>
        <c:crossAx val="32593681"/>
        <c:crosses val="autoZero"/>
        <c:auto val="1"/>
        <c:lblAlgn val="ctr"/>
        <c:lblOffset val="100"/>
        <c:noMultiLvlLbl val="0"/>
      </c:catAx>
      <c:valAx>
        <c:axId val="32593681"/>
        <c:scaling>
          <c:orientation val="minMax"/>
          <c:max val="0.4"/>
          <c:min val="0"/>
        </c:scaling>
        <c:delete val="0"/>
        <c:axPos val="l"/>
        <c:majorGridlines>
          <c:spPr>
            <a:ln w="9360">
              <a:solidFill>
                <a:srgbClr val="E3E6EA"/>
              </a:solidFill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600">
            <a:noFill/>
          </a:ln>
        </c:spPr>
        <c:txPr>
          <a:bodyPr/>
          <a:lstStyle/>
          <a:p>
            <a:pPr>
              <a:defRPr sz="900" b="0" u="none" strike="noStrike">
                <a:solidFill>
                  <a:srgbClr val="4A5260"/>
                </a:solidFill>
                <a:uFillTx/>
                <a:latin typeface="Pretendard"/>
                <a:ea typeface="Pretendard"/>
              </a:defRPr>
            </a:pPr>
            <a:endParaRPr lang="ko-KR"/>
          </a:p>
        </c:txPr>
        <c:crossAx val="59628507"/>
        <c:crosses val="autoZero"/>
        <c:crossBetween val="between"/>
        <c:majorUnit val="0.1"/>
      </c:valAx>
      <c:spPr>
        <a:noFill/>
        <a:ln w="0">
          <a:noFill/>
        </a:ln>
      </c:spPr>
    </c:plotArea>
    <c:plotVisOnly val="1"/>
    <c:dispBlanksAs val="span"/>
    <c:showDLblsOverMax val="1"/>
  </c:chart>
  <c:spPr>
    <a:noFill/>
    <a:ln w="0">
      <a:noFill/>
    </a:ln>
  </c:spPr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lang="ko-KR" alt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특성 조합별 검증 정확도</a:t>
            </a:r>
            <a:r>
              <a:rPr lang="en-US" altLang="ko-KR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(%)  ·  </a:t>
            </a:r>
            <a:r>
              <a:rPr lang="ko-KR" alt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기준선</a:t>
            </a:r>
            <a:r>
              <a:rPr lang="en-US" altLang="ko-KR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(</a:t>
            </a:r>
            <a:r>
              <a:rPr lang="ko-KR" alt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지난달 값</a:t>
            </a:r>
            <a:r>
              <a:rPr lang="en-US" altLang="ko-KR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) 92.74%</a:t>
            </a:r>
          </a:p>
        </c:rich>
      </c:tx>
      <c:layout/>
      <c:overlay val="0"/>
      <c:spPr>
        <a:noFill/>
        <a:ln w="0">
          <a:noFill/>
        </a:ln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LinearRegression</c:v>
                </c:pt>
              </c:strCache>
            </c:strRef>
          </c:tx>
          <c:spPr>
            <a:solidFill>
              <a:srgbClr val="B7C2CE"/>
            </a:solidFill>
            <a:ln w="0">
              <a:noFill/>
            </a:ln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800" b="0" u="none" strike="noStrike">
                    <a:solidFill>
                      <a:srgbClr val="1F2329"/>
                    </a:solidFill>
                    <a:uFillTx/>
                    <a:latin typeface="Pretendard"/>
                    <a:ea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A 계절</c:v>
                </c:pt>
                <c:pt idx="1">
                  <c:v>B +인구</c:v>
                </c:pt>
                <c:pt idx="2">
                  <c:v>C +이송률</c:v>
                </c:pt>
                <c:pt idx="3">
                  <c:v>D 이송이력</c:v>
                </c:pt>
                <c:pt idx="4">
                  <c:v>E 전체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84.39</c:v>
                </c:pt>
                <c:pt idx="1">
                  <c:v>83.37</c:v>
                </c:pt>
                <c:pt idx="2">
                  <c:v>83.29</c:v>
                </c:pt>
                <c:pt idx="3">
                  <c:v>94.34</c:v>
                </c:pt>
                <c:pt idx="4">
                  <c:v>94.45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F4-4396-880E-8109C98C8F1F}"/>
            </c:ext>
          </c:extLst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RandomForest</c:v>
                </c:pt>
              </c:strCache>
            </c:strRef>
          </c:tx>
          <c:spPr>
            <a:solidFill>
              <a:srgbClr val="6B7685"/>
            </a:solidFill>
            <a:ln w="0">
              <a:noFill/>
            </a:ln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800" b="0" u="none" strike="noStrike">
                    <a:solidFill>
                      <a:srgbClr val="1F2329"/>
                    </a:solidFill>
                    <a:uFillTx/>
                    <a:latin typeface="Pretendard"/>
                    <a:ea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A 계절</c:v>
                </c:pt>
                <c:pt idx="1">
                  <c:v>B +인구</c:v>
                </c:pt>
                <c:pt idx="2">
                  <c:v>C +이송률</c:v>
                </c:pt>
                <c:pt idx="3">
                  <c:v>D 이송이력</c:v>
                </c:pt>
                <c:pt idx="4">
                  <c:v>E 전체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5"/>
                <c:pt idx="0">
                  <c:v>80.680000000000007</c:v>
                </c:pt>
                <c:pt idx="1">
                  <c:v>85.83</c:v>
                </c:pt>
                <c:pt idx="2">
                  <c:v>87.4</c:v>
                </c:pt>
                <c:pt idx="3">
                  <c:v>94.17</c:v>
                </c:pt>
                <c:pt idx="4">
                  <c:v>94.1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BF4-4396-880E-8109C98C8F1F}"/>
            </c:ext>
          </c:extLst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GradientBoosting</c:v>
                </c:pt>
              </c:strCache>
            </c:strRef>
          </c:tx>
          <c:spPr>
            <a:solidFill>
              <a:srgbClr val="2F5D8A"/>
            </a:solidFill>
            <a:ln w="0">
              <a:noFill/>
            </a:ln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800" b="0" u="none" strike="noStrike">
                    <a:solidFill>
                      <a:srgbClr val="1F2329"/>
                    </a:solidFill>
                    <a:uFillTx/>
                    <a:latin typeface="Pretendard"/>
                    <a:ea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A 계절</c:v>
                </c:pt>
                <c:pt idx="1">
                  <c:v>B +인구</c:v>
                </c:pt>
                <c:pt idx="2">
                  <c:v>C +이송률</c:v>
                </c:pt>
                <c:pt idx="3">
                  <c:v>D 이송이력</c:v>
                </c:pt>
                <c:pt idx="4">
                  <c:v>E 전체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5"/>
                <c:pt idx="0">
                  <c:v>82.96</c:v>
                </c:pt>
                <c:pt idx="1">
                  <c:v>87.21</c:v>
                </c:pt>
                <c:pt idx="2">
                  <c:v>88.03</c:v>
                </c:pt>
                <c:pt idx="3">
                  <c:v>94.96</c:v>
                </c:pt>
                <c:pt idx="4">
                  <c:v>94.79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BF4-4396-880E-8109C98C8F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53810291"/>
        <c:axId val="81543839"/>
      </c:barChart>
      <c:catAx>
        <c:axId val="5381029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noFill/>
          </a:ln>
        </c:spPr>
        <c:txPr>
          <a:bodyPr/>
          <a:lstStyle/>
          <a:p>
            <a:pPr>
              <a:defRPr sz="1000" b="0" u="none" strike="noStrike">
                <a:solidFill>
                  <a:srgbClr val="4A5260"/>
                </a:solidFill>
                <a:uFillTx/>
                <a:latin typeface="Pretendard"/>
                <a:ea typeface="Pretendard"/>
              </a:defRPr>
            </a:pPr>
            <a:endParaRPr lang="ko-KR"/>
          </a:p>
        </c:txPr>
        <c:crossAx val="81543839"/>
        <c:crosses val="autoZero"/>
        <c:auto val="1"/>
        <c:lblAlgn val="ctr"/>
        <c:lblOffset val="100"/>
        <c:noMultiLvlLbl val="0"/>
      </c:catAx>
      <c:valAx>
        <c:axId val="81543839"/>
        <c:scaling>
          <c:orientation val="minMax"/>
          <c:max val="97"/>
          <c:min val="78"/>
        </c:scaling>
        <c:delete val="0"/>
        <c:axPos val="l"/>
        <c:majorGridlines>
          <c:spPr>
            <a:ln w="9360">
              <a:solidFill>
                <a:srgbClr val="E3E6EA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noFill/>
          </a:ln>
        </c:spPr>
        <c:txPr>
          <a:bodyPr/>
          <a:lstStyle/>
          <a:p>
            <a:pPr>
              <a:defRPr sz="900" b="0" u="none" strike="noStrike">
                <a:solidFill>
                  <a:srgbClr val="4A5260"/>
                </a:solidFill>
                <a:uFillTx/>
                <a:latin typeface="Pretendard"/>
                <a:ea typeface="Pretendard"/>
              </a:defRPr>
            </a:pPr>
            <a:endParaRPr lang="ko-KR"/>
          </a:p>
        </c:txPr>
        <c:crossAx val="53810291"/>
        <c:crosses val="autoZero"/>
        <c:crossBetween val="between"/>
        <c:majorUnit val="2"/>
      </c:valAx>
      <c:spPr>
        <a:noFill/>
        <a:ln w="0">
          <a:noFill/>
        </a:ln>
      </c:spPr>
    </c:plotArea>
    <c:legend>
      <c:legendPos val="t"/>
      <c:layout/>
      <c:overlay val="0"/>
      <c:spPr>
        <a:noFill/>
        <a:ln w="0">
          <a:noFill/>
        </a:ln>
      </c:spPr>
      <c:txPr>
        <a:bodyPr/>
        <a:lstStyle/>
        <a:p>
          <a:pPr>
            <a:defRPr sz="1000" b="0" u="none" strike="noStrike">
              <a:solidFill>
                <a:srgbClr val="4A5260"/>
              </a:solidFill>
              <a:uFillTx/>
              <a:latin typeface="Pretendard"/>
              <a:ea typeface="Pretendard"/>
            </a:defRPr>
          </a:pPr>
          <a:endParaRPr lang="ko-KR"/>
        </a:p>
      </c:txPr>
    </c:legend>
    <c:plotVisOnly val="1"/>
    <c:dispBlanksAs val="span"/>
    <c:showDLblsOverMax val="1"/>
  </c:chart>
  <c:spPr>
    <a:noFill/>
    <a:ln w="0">
      <a:noFill/>
    </a:ln>
  </c:spPr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lang="ko-KR" alt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설정별 검증 </a:t>
            </a:r>
            <a:r>
              <a:rPr lang="en-US" altLang="ko-KR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6</a:t>
            </a:r>
            <a:r>
              <a:rPr lang="ko-KR" alt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개월 연속 예측 정확도</a:t>
            </a:r>
            <a:r>
              <a:rPr lang="en-US" altLang="ko-KR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(%)  ·  </a:t>
            </a:r>
            <a:r>
              <a:rPr lang="ko-KR" alt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평가 데이터 미사용</a:t>
            </a:r>
          </a:p>
        </c:rich>
      </c:tx>
      <c:layout/>
      <c:overlay val="0"/>
      <c:spPr>
        <a:noFill/>
        <a:ln w="0">
          <a:noFill/>
        </a:ln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Ensemble(GB+Ridge)</c:v>
                </c:pt>
              </c:strCache>
            </c:strRef>
          </c:tx>
          <c:spPr>
            <a:solidFill>
              <a:srgbClr val="2F5D8A"/>
            </a:solidFill>
            <a:ln w="0">
              <a:noFill/>
            </a:ln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800" b="0" u="none" strike="noStrike">
                    <a:solidFill>
                      <a:srgbClr val="1F2329"/>
                    </a:solidFill>
                    <a:uFillTx/>
                    <a:latin typeface="Pretendard"/>
                    <a:ea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기본</c:v>
                </c:pt>
                <c:pt idx="1">
                  <c:v>달력</c:v>
                </c:pt>
                <c:pt idx="2">
                  <c:v>증감량</c:v>
                </c:pt>
                <c:pt idx="3">
                  <c:v>달력+증감량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93.885000000000005</c:v>
                </c:pt>
                <c:pt idx="1">
                  <c:v>94.611999999999995</c:v>
                </c:pt>
                <c:pt idx="2">
                  <c:v>94.225999999999999</c:v>
                </c:pt>
                <c:pt idx="3">
                  <c:v>94.47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76-4337-98AD-8203BF28AC03}"/>
            </c:ext>
          </c:extLst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GradientBoosting</c:v>
                </c:pt>
              </c:strCache>
            </c:strRef>
          </c:tx>
          <c:spPr>
            <a:solidFill>
              <a:srgbClr val="6B7685"/>
            </a:solidFill>
            <a:ln w="0">
              <a:noFill/>
            </a:ln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800" b="0" u="none" strike="noStrike">
                    <a:solidFill>
                      <a:srgbClr val="1F2329"/>
                    </a:solidFill>
                    <a:uFillTx/>
                    <a:latin typeface="Pretendard"/>
                    <a:ea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기본</c:v>
                </c:pt>
                <c:pt idx="1">
                  <c:v>달력</c:v>
                </c:pt>
                <c:pt idx="2">
                  <c:v>증감량</c:v>
                </c:pt>
                <c:pt idx="3">
                  <c:v>달력+증감량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93.426000000000002</c:v>
                </c:pt>
                <c:pt idx="1">
                  <c:v>94.353999999999999</c:v>
                </c:pt>
                <c:pt idx="2">
                  <c:v>93.570999999999998</c:v>
                </c:pt>
                <c:pt idx="3">
                  <c:v>91.747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76-4337-98AD-8203BF28AC03}"/>
            </c:ext>
          </c:extLst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RandomForest</c:v>
                </c:pt>
              </c:strCache>
            </c:strRef>
          </c:tx>
          <c:spPr>
            <a:solidFill>
              <a:srgbClr val="B7C2CE"/>
            </a:solidFill>
            <a:ln w="0">
              <a:noFill/>
            </a:ln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800" b="0" u="none" strike="noStrike">
                    <a:solidFill>
                      <a:srgbClr val="1F2329"/>
                    </a:solidFill>
                    <a:uFillTx/>
                    <a:latin typeface="Pretendard"/>
                    <a:ea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기본</c:v>
                </c:pt>
                <c:pt idx="1">
                  <c:v>달력</c:v>
                </c:pt>
                <c:pt idx="2">
                  <c:v>증감량</c:v>
                </c:pt>
                <c:pt idx="3">
                  <c:v>달력+증감량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4"/>
                <c:pt idx="0">
                  <c:v>92.497</c:v>
                </c:pt>
                <c:pt idx="1">
                  <c:v>92.51</c:v>
                </c:pt>
                <c:pt idx="2">
                  <c:v>93.662999999999997</c:v>
                </c:pt>
                <c:pt idx="3">
                  <c:v>87.227999999999994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E76-4337-98AD-8203BF28AC03}"/>
            </c:ext>
          </c:extLst>
        </c:ser>
        <c:ser>
          <c:idx val="3"/>
          <c:order val="3"/>
          <c:tx>
            <c:strRef>
              <c:f>label 3</c:f>
              <c:strCache>
                <c:ptCount val="1"/>
                <c:pt idx="0">
                  <c:v>Ridge</c:v>
                </c:pt>
              </c:strCache>
            </c:strRef>
          </c:tx>
          <c:spPr>
            <a:solidFill>
              <a:srgbClr val="DCE2E8"/>
            </a:solidFill>
            <a:ln w="0">
              <a:noFill/>
            </a:ln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800" b="0" u="none" strike="noStrike">
                    <a:solidFill>
                      <a:srgbClr val="1F2329"/>
                    </a:solidFill>
                    <a:uFillTx/>
                    <a:latin typeface="Pretendard"/>
                    <a:ea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기본</c:v>
                </c:pt>
                <c:pt idx="1">
                  <c:v>달력</c:v>
                </c:pt>
                <c:pt idx="2">
                  <c:v>증감량</c:v>
                </c:pt>
                <c:pt idx="3">
                  <c:v>달력+증감량</c:v>
                </c:pt>
              </c:strCache>
            </c:strRef>
          </c:cat>
          <c:val>
            <c:numRef>
              <c:f>3</c:f>
              <c:numCache>
                <c:formatCode>General</c:formatCode>
                <c:ptCount val="4"/>
                <c:pt idx="0">
                  <c:v>93.088999999999999</c:v>
                </c:pt>
                <c:pt idx="1">
                  <c:v>92.733999999999995</c:v>
                </c:pt>
                <c:pt idx="2">
                  <c:v>93.128</c:v>
                </c:pt>
                <c:pt idx="3">
                  <c:v>92.79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E76-4337-98AD-8203BF28AC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95398613"/>
        <c:axId val="65134812"/>
      </c:barChart>
      <c:catAx>
        <c:axId val="95398613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noFill/>
          </a:ln>
        </c:spPr>
        <c:txPr>
          <a:bodyPr/>
          <a:lstStyle/>
          <a:p>
            <a:pPr>
              <a:defRPr sz="1000" b="0" u="none" strike="noStrike">
                <a:solidFill>
                  <a:srgbClr val="4A5260"/>
                </a:solidFill>
                <a:uFillTx/>
                <a:latin typeface="Pretendard"/>
                <a:ea typeface="Pretendard"/>
              </a:defRPr>
            </a:pPr>
            <a:endParaRPr lang="ko-KR"/>
          </a:p>
        </c:txPr>
        <c:crossAx val="65134812"/>
        <c:crosses val="autoZero"/>
        <c:auto val="1"/>
        <c:lblAlgn val="ctr"/>
        <c:lblOffset val="100"/>
        <c:noMultiLvlLbl val="0"/>
      </c:catAx>
      <c:valAx>
        <c:axId val="65134812"/>
        <c:scaling>
          <c:orientation val="minMax"/>
          <c:max val="96"/>
          <c:min val="86"/>
        </c:scaling>
        <c:delete val="0"/>
        <c:axPos val="l"/>
        <c:majorGridlines>
          <c:spPr>
            <a:ln w="9360">
              <a:solidFill>
                <a:srgbClr val="E3E6EA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noFill/>
          </a:ln>
        </c:spPr>
        <c:txPr>
          <a:bodyPr/>
          <a:lstStyle/>
          <a:p>
            <a:pPr>
              <a:defRPr sz="900" b="0" u="none" strike="noStrike">
                <a:solidFill>
                  <a:srgbClr val="4A5260"/>
                </a:solidFill>
                <a:uFillTx/>
                <a:latin typeface="Pretendard"/>
                <a:ea typeface="Pretendard"/>
              </a:defRPr>
            </a:pPr>
            <a:endParaRPr lang="ko-KR"/>
          </a:p>
        </c:txPr>
        <c:crossAx val="95398613"/>
        <c:crosses val="autoZero"/>
        <c:crossBetween val="between"/>
        <c:majorUnit val="2"/>
      </c:valAx>
      <c:spPr>
        <a:noFill/>
        <a:ln w="0">
          <a:noFill/>
        </a:ln>
      </c:spPr>
    </c:plotArea>
    <c:legend>
      <c:legendPos val="t"/>
      <c:layout/>
      <c:overlay val="0"/>
      <c:spPr>
        <a:noFill/>
        <a:ln w="0">
          <a:noFill/>
        </a:ln>
      </c:spPr>
      <c:txPr>
        <a:bodyPr/>
        <a:lstStyle/>
        <a:p>
          <a:pPr>
            <a:defRPr sz="1000" b="0" u="none" strike="noStrike">
              <a:solidFill>
                <a:srgbClr val="4A5260"/>
              </a:solidFill>
              <a:uFillTx/>
              <a:latin typeface="Pretendard"/>
              <a:ea typeface="Pretendard"/>
            </a:defRPr>
          </a:pPr>
          <a:endParaRPr lang="ko-KR"/>
        </a:p>
      </c:txPr>
    </c:legend>
    <c:plotVisOnly val="1"/>
    <c:dispBlanksAs val="span"/>
    <c:showDLblsOverMax val="1"/>
  </c:chart>
  <c:spPr>
    <a:noFill/>
    <a:ln w="0">
      <a:noFill/>
    </a:ln>
  </c:spPr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lang="en-US" altLang="ko-KR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6</a:t>
            </a:r>
            <a:r>
              <a:rPr lang="ko-KR" alt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개월 연속 예측 정확도</a:t>
            </a:r>
            <a:r>
              <a:rPr lang="en-US" altLang="ko-KR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(%) — </a:t>
            </a:r>
            <a:r>
              <a:rPr lang="ko-KR" alt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위에서부터 검증 순위</a:t>
            </a:r>
          </a:p>
        </c:rich>
      </c:tx>
      <c:layout/>
      <c:overlay val="0"/>
      <c:spPr>
        <a:noFill/>
        <a:ln w="0">
          <a:noFill/>
        </a:ln>
      </c:sp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평가 6개월</c:v>
                </c:pt>
              </c:strCache>
            </c:strRef>
          </c:tx>
          <c:spPr>
            <a:solidFill>
              <a:srgbClr val="B7C2CE"/>
            </a:solidFill>
            <a:ln w="0">
              <a:noFill/>
            </a:ln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800" b="0" u="none" strike="noStrike">
                    <a:solidFill>
                      <a:srgbClr val="1F2329"/>
                    </a:solidFill>
                    <a:uFillTx/>
                    <a:latin typeface="Pretendard"/>
                    <a:ea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categories</c:f>
              <c:strCache>
                <c:ptCount val="8"/>
                <c:pt idx="0">
                  <c:v>DNN</c:v>
                </c:pt>
                <c:pt idx="1">
                  <c:v>DecisionTree</c:v>
                </c:pt>
                <c:pt idx="2">
                  <c:v>기준선(지난달 값)</c:v>
                </c:pt>
                <c:pt idx="3">
                  <c:v>RandomForest</c:v>
                </c:pt>
                <c:pt idx="4">
                  <c:v>Ridge</c:v>
                </c:pt>
                <c:pt idx="5">
                  <c:v>LinearRegression</c:v>
                </c:pt>
                <c:pt idx="6">
                  <c:v>GradientBoosting</c:v>
                </c:pt>
                <c:pt idx="7">
                  <c:v>Ensemble(GB+Ridge)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8"/>
                <c:pt idx="0">
                  <c:v>91.67</c:v>
                </c:pt>
                <c:pt idx="1">
                  <c:v>92.76</c:v>
                </c:pt>
                <c:pt idx="2">
                  <c:v>93.25</c:v>
                </c:pt>
                <c:pt idx="3">
                  <c:v>93.98</c:v>
                </c:pt>
                <c:pt idx="4">
                  <c:v>94.27</c:v>
                </c:pt>
                <c:pt idx="5">
                  <c:v>87.87</c:v>
                </c:pt>
                <c:pt idx="6">
                  <c:v>93.27</c:v>
                </c:pt>
                <c:pt idx="7">
                  <c:v>94.59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62-4C02-80C5-FA43D5C8BD02}"/>
            </c:ext>
          </c:extLst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검증 6개월</c:v>
                </c:pt>
              </c:strCache>
            </c:strRef>
          </c:tx>
          <c:spPr>
            <a:solidFill>
              <a:srgbClr val="2F5D8A"/>
            </a:solidFill>
            <a:ln w="0">
              <a:noFill/>
            </a:ln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800" b="0" u="none" strike="noStrike">
                    <a:solidFill>
                      <a:srgbClr val="1F2329"/>
                    </a:solidFill>
                    <a:uFillTx/>
                    <a:latin typeface="Pretendard"/>
                    <a:ea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categories</c:f>
              <c:strCache>
                <c:ptCount val="8"/>
                <c:pt idx="0">
                  <c:v>DNN</c:v>
                </c:pt>
                <c:pt idx="1">
                  <c:v>DecisionTree</c:v>
                </c:pt>
                <c:pt idx="2">
                  <c:v>기준선(지난달 값)</c:v>
                </c:pt>
                <c:pt idx="3">
                  <c:v>RandomForest</c:v>
                </c:pt>
                <c:pt idx="4">
                  <c:v>Ridge</c:v>
                </c:pt>
                <c:pt idx="5">
                  <c:v>LinearRegression</c:v>
                </c:pt>
                <c:pt idx="6">
                  <c:v>GradientBoosting</c:v>
                </c:pt>
                <c:pt idx="7">
                  <c:v>Ensemble(GB+Ridge)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8"/>
                <c:pt idx="0">
                  <c:v>88.29</c:v>
                </c:pt>
                <c:pt idx="1">
                  <c:v>91.45</c:v>
                </c:pt>
                <c:pt idx="2">
                  <c:v>91.82</c:v>
                </c:pt>
                <c:pt idx="3">
                  <c:v>92.51</c:v>
                </c:pt>
                <c:pt idx="4">
                  <c:v>92.73</c:v>
                </c:pt>
                <c:pt idx="5">
                  <c:v>92.78</c:v>
                </c:pt>
                <c:pt idx="6">
                  <c:v>94.35</c:v>
                </c:pt>
                <c:pt idx="7">
                  <c:v>94.61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662-4C02-80C5-FA43D5C8BD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35600961"/>
        <c:axId val="17927139"/>
      </c:barChart>
      <c:catAx>
        <c:axId val="35600961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600">
            <a:noFill/>
          </a:ln>
        </c:spPr>
        <c:txPr>
          <a:bodyPr/>
          <a:lstStyle/>
          <a:p>
            <a:pPr>
              <a:defRPr sz="900" b="0" u="none" strike="noStrike">
                <a:solidFill>
                  <a:srgbClr val="4A5260"/>
                </a:solidFill>
                <a:uFillTx/>
                <a:latin typeface="Pretendard"/>
                <a:ea typeface="Pretendard"/>
              </a:defRPr>
            </a:pPr>
            <a:endParaRPr lang="ko-KR"/>
          </a:p>
        </c:txPr>
        <c:crossAx val="17927139"/>
        <c:crosses val="autoZero"/>
        <c:auto val="1"/>
        <c:lblAlgn val="ctr"/>
        <c:lblOffset val="100"/>
        <c:noMultiLvlLbl val="0"/>
      </c:catAx>
      <c:valAx>
        <c:axId val="17927139"/>
        <c:scaling>
          <c:orientation val="minMax"/>
          <c:max val="96"/>
          <c:min val="85"/>
        </c:scaling>
        <c:delete val="0"/>
        <c:axPos val="b"/>
        <c:majorGridlines>
          <c:spPr>
            <a:ln w="9360">
              <a:solidFill>
                <a:srgbClr val="E3E6EA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600">
            <a:noFill/>
          </a:ln>
        </c:spPr>
        <c:txPr>
          <a:bodyPr/>
          <a:lstStyle/>
          <a:p>
            <a:pPr>
              <a:defRPr sz="900" b="0" u="none" strike="noStrike">
                <a:solidFill>
                  <a:srgbClr val="4A5260"/>
                </a:solidFill>
                <a:uFillTx/>
                <a:latin typeface="Pretendard"/>
                <a:ea typeface="Pretendard"/>
              </a:defRPr>
            </a:pPr>
            <a:endParaRPr lang="ko-KR"/>
          </a:p>
        </c:txPr>
        <c:crossAx val="35600961"/>
        <c:crosses val="autoZero"/>
        <c:crossBetween val="between"/>
        <c:majorUnit val="2"/>
      </c:valAx>
      <c:spPr>
        <a:noFill/>
        <a:ln w="0">
          <a:noFill/>
        </a:ln>
      </c:spPr>
    </c:plotArea>
    <c:legend>
      <c:legendPos val="t"/>
      <c:layout/>
      <c:overlay val="0"/>
      <c:spPr>
        <a:noFill/>
        <a:ln w="0">
          <a:noFill/>
        </a:ln>
      </c:spPr>
      <c:txPr>
        <a:bodyPr/>
        <a:lstStyle/>
        <a:p>
          <a:pPr>
            <a:defRPr sz="1000" b="0" u="none" strike="noStrike">
              <a:solidFill>
                <a:srgbClr val="4A5260"/>
              </a:solidFill>
              <a:uFillTx/>
              <a:latin typeface="Pretendard"/>
              <a:ea typeface="Pretendard"/>
            </a:defRPr>
          </a:pPr>
          <a:endParaRPr lang="ko-KR"/>
        </a:p>
      </c:txPr>
    </c:legend>
    <c:plotVisOnly val="1"/>
    <c:dispBlanksAs val="span"/>
    <c:showDLblsOverMax val="1"/>
  </c:chart>
  <c:spPr>
    <a:noFill/>
    <a:ln w="0">
      <a:noFill/>
    </a:ln>
  </c:spPr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lang="ko-KR" alt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정확도</a:t>
            </a:r>
            <a:r>
              <a:rPr lang="en-US" altLang="ko-KR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(%) — </a:t>
            </a:r>
            <a:r>
              <a:rPr lang="ko-KR" alt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위에서부터 검증 순위</a:t>
            </a:r>
          </a:p>
        </c:rich>
      </c:tx>
      <c:layout/>
      <c:overlay val="0"/>
      <c:spPr>
        <a:noFill/>
        <a:ln w="0">
          <a:noFill/>
        </a:ln>
      </c:sp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평가 (365일)</c:v>
                </c:pt>
              </c:strCache>
            </c:strRef>
          </c:tx>
          <c:spPr>
            <a:solidFill>
              <a:srgbClr val="B7C2CE"/>
            </a:solidFill>
            <a:ln w="0">
              <a:noFill/>
            </a:ln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800" b="0" u="none" strike="noStrike">
                    <a:solidFill>
                      <a:srgbClr val="1F2329"/>
                    </a:solidFill>
                    <a:uFillTx/>
                    <a:latin typeface="Pretendard"/>
                    <a:ea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categories</c:f>
              <c:strCache>
                <c:ptCount val="7"/>
                <c:pt idx="0">
                  <c:v>LinearRegression</c:v>
                </c:pt>
                <c:pt idx="1">
                  <c:v>Ridge</c:v>
                </c:pt>
                <c:pt idx="2">
                  <c:v>DecisionTree</c:v>
                </c:pt>
                <c:pt idx="3">
                  <c:v>기준선(7일 전 값)</c:v>
                </c:pt>
                <c:pt idx="4">
                  <c:v>DNN</c:v>
                </c:pt>
                <c:pt idx="5">
                  <c:v>GradientBoosting</c:v>
                </c:pt>
                <c:pt idx="6">
                  <c:v>RandomForest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7"/>
                <c:pt idx="0">
                  <c:v>97.11</c:v>
                </c:pt>
                <c:pt idx="1">
                  <c:v>97.11</c:v>
                </c:pt>
                <c:pt idx="2">
                  <c:v>97.48</c:v>
                </c:pt>
                <c:pt idx="3">
                  <c:v>97.54</c:v>
                </c:pt>
                <c:pt idx="4">
                  <c:v>97.76</c:v>
                </c:pt>
                <c:pt idx="5">
                  <c:v>97.97</c:v>
                </c:pt>
                <c:pt idx="6">
                  <c:v>98.16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91-481F-B23D-E138D1614D3C}"/>
            </c:ext>
          </c:extLst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검증 (180일)</c:v>
                </c:pt>
              </c:strCache>
            </c:strRef>
          </c:tx>
          <c:spPr>
            <a:solidFill>
              <a:srgbClr val="2F5D8A"/>
            </a:solidFill>
            <a:ln w="0">
              <a:noFill/>
            </a:ln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800" b="0" u="none" strike="noStrike">
                    <a:solidFill>
                      <a:srgbClr val="1F2329"/>
                    </a:solidFill>
                    <a:uFillTx/>
                    <a:latin typeface="Pretendard"/>
                    <a:ea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categories</c:f>
              <c:strCache>
                <c:ptCount val="7"/>
                <c:pt idx="0">
                  <c:v>LinearRegression</c:v>
                </c:pt>
                <c:pt idx="1">
                  <c:v>Ridge</c:v>
                </c:pt>
                <c:pt idx="2">
                  <c:v>DecisionTree</c:v>
                </c:pt>
                <c:pt idx="3">
                  <c:v>기준선(7일 전 값)</c:v>
                </c:pt>
                <c:pt idx="4">
                  <c:v>DNN</c:v>
                </c:pt>
                <c:pt idx="5">
                  <c:v>GradientBoosting</c:v>
                </c:pt>
                <c:pt idx="6">
                  <c:v>RandomForest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7"/>
                <c:pt idx="0">
                  <c:v>97.34</c:v>
                </c:pt>
                <c:pt idx="1">
                  <c:v>97.34</c:v>
                </c:pt>
                <c:pt idx="2">
                  <c:v>97.86</c:v>
                </c:pt>
                <c:pt idx="3">
                  <c:v>97.86</c:v>
                </c:pt>
                <c:pt idx="4">
                  <c:v>98.01</c:v>
                </c:pt>
                <c:pt idx="5">
                  <c:v>98.36</c:v>
                </c:pt>
                <c:pt idx="6">
                  <c:v>98.59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91-481F-B23D-E138D1614D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49107343"/>
        <c:axId val="48591767"/>
      </c:barChart>
      <c:catAx>
        <c:axId val="49107343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600">
            <a:noFill/>
          </a:ln>
        </c:spPr>
        <c:txPr>
          <a:bodyPr/>
          <a:lstStyle/>
          <a:p>
            <a:pPr>
              <a:defRPr sz="900" b="0" u="none" strike="noStrike">
                <a:solidFill>
                  <a:srgbClr val="4A5260"/>
                </a:solidFill>
                <a:uFillTx/>
                <a:latin typeface="Pretendard"/>
                <a:ea typeface="Pretendard"/>
              </a:defRPr>
            </a:pPr>
            <a:endParaRPr lang="ko-KR"/>
          </a:p>
        </c:txPr>
        <c:crossAx val="48591767"/>
        <c:crosses val="autoZero"/>
        <c:auto val="1"/>
        <c:lblAlgn val="ctr"/>
        <c:lblOffset val="100"/>
        <c:noMultiLvlLbl val="0"/>
      </c:catAx>
      <c:valAx>
        <c:axId val="48591767"/>
        <c:scaling>
          <c:orientation val="minMax"/>
          <c:max val="99"/>
          <c:min val="96.5"/>
        </c:scaling>
        <c:delete val="0"/>
        <c:axPos val="b"/>
        <c:majorGridlines>
          <c:spPr>
            <a:ln w="9360">
              <a:solidFill>
                <a:srgbClr val="E3E6EA"/>
              </a:solidFill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600">
            <a:noFill/>
          </a:ln>
        </c:spPr>
        <c:txPr>
          <a:bodyPr/>
          <a:lstStyle/>
          <a:p>
            <a:pPr>
              <a:defRPr sz="900" b="0" u="none" strike="noStrike">
                <a:solidFill>
                  <a:srgbClr val="4A5260"/>
                </a:solidFill>
                <a:uFillTx/>
                <a:latin typeface="Pretendard"/>
                <a:ea typeface="Pretendard"/>
              </a:defRPr>
            </a:pPr>
            <a:endParaRPr lang="ko-KR"/>
          </a:p>
        </c:txPr>
        <c:crossAx val="49107343"/>
        <c:crosses val="autoZero"/>
        <c:crossBetween val="between"/>
        <c:majorUnit val="0.5"/>
      </c:valAx>
      <c:spPr>
        <a:noFill/>
        <a:ln w="0">
          <a:noFill/>
        </a:ln>
      </c:spPr>
    </c:plotArea>
    <c:legend>
      <c:legendPos val="t"/>
      <c:layout/>
      <c:overlay val="0"/>
      <c:spPr>
        <a:noFill/>
        <a:ln w="0">
          <a:noFill/>
        </a:ln>
      </c:spPr>
      <c:txPr>
        <a:bodyPr/>
        <a:lstStyle/>
        <a:p>
          <a:pPr>
            <a:defRPr sz="1000" b="0" u="none" strike="noStrike">
              <a:solidFill>
                <a:srgbClr val="4A5260"/>
              </a:solidFill>
              <a:uFillTx/>
              <a:latin typeface="Pretendard"/>
              <a:ea typeface="Pretendard"/>
            </a:defRPr>
          </a:pPr>
          <a:endParaRPr lang="ko-KR"/>
        </a:p>
      </c:txPr>
    </c:legend>
    <c:plotVisOnly val="1"/>
    <c:dispBlanksAs val="span"/>
    <c:showDLblsOverMax val="1"/>
  </c:chart>
  <c:spPr>
    <a:noFill/>
    <a:ln w="0">
      <a:noFill/>
    </a:ln>
  </c:spPr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lang="en-US" altLang="ko-KR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119 </a:t>
            </a:r>
            <a:r>
              <a:rPr lang="ko-KR" alt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이송 건수 </a:t>
            </a:r>
            <a:r>
              <a:rPr lang="en-US" altLang="ko-KR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— </a:t>
            </a:r>
            <a:r>
              <a:rPr 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GradientBoosting (</a:t>
            </a:r>
            <a:r>
              <a:rPr lang="ko-KR" alt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상위 </a:t>
            </a:r>
            <a:r>
              <a:rPr lang="en-US" altLang="ko-KR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10</a:t>
            </a:r>
            <a:r>
              <a:rPr lang="ko-KR" alt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개</a:t>
            </a:r>
            <a:r>
              <a:rPr lang="en-US" altLang="ko-KR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)</a:t>
            </a:r>
          </a:p>
        </c:rich>
      </c:tx>
      <c:layout/>
      <c:overlay val="0"/>
      <c:spPr>
        <a:noFill/>
        <a:ln w="0">
          <a:noFill/>
        </a:ln>
      </c:sp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중요도</c:v>
                </c:pt>
              </c:strCache>
            </c:strRef>
          </c:tx>
          <c:spPr>
            <a:solidFill>
              <a:srgbClr val="2F5D8A"/>
            </a:solidFill>
            <a:ln w="0">
              <a:noFill/>
            </a:ln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850" b="0" u="none" strike="noStrike">
                    <a:solidFill>
                      <a:srgbClr val="1F2329"/>
                    </a:solidFill>
                    <a:uFillTx/>
                    <a:latin typeface="Pretendard"/>
                    <a:ea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categories</c:f>
              <c:strCache>
                <c:ptCount val="10"/>
                <c:pt idx="0">
                  <c:v>전월_서울외유입인구수</c:v>
                </c:pt>
                <c:pt idx="1">
                  <c:v>전월_일최대인구수</c:v>
                </c:pt>
                <c:pt idx="2">
                  <c:v>명절연휴일수</c:v>
                </c:pt>
                <c:pt idx="3">
                  <c:v>전월_night_pop</c:v>
                </c:pt>
                <c:pt idx="4">
                  <c:v>전월_동일자치구행정동간이동인구수</c:v>
                </c:pt>
                <c:pt idx="5">
                  <c:v>주말수</c:v>
                </c:pt>
                <c:pt idx="6">
                  <c:v>일수</c:v>
                </c:pt>
                <c:pt idx="7">
                  <c:v>월(합계)</c:v>
                </c:pt>
                <c:pt idx="8">
                  <c:v>전년동월_transport_cnt</c:v>
                </c:pt>
                <c:pt idx="9">
                  <c:v>전월_transport_cnt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0"/>
                <c:pt idx="0">
                  <c:v>2E-3</c:v>
                </c:pt>
                <c:pt idx="1">
                  <c:v>2E-3</c:v>
                </c:pt>
                <c:pt idx="2">
                  <c:v>5.0000000000000001E-3</c:v>
                </c:pt>
                <c:pt idx="3">
                  <c:v>5.0000000000000001E-3</c:v>
                </c:pt>
                <c:pt idx="4">
                  <c:v>6.0000000000000001E-3</c:v>
                </c:pt>
                <c:pt idx="5">
                  <c:v>7.0000000000000001E-3</c:v>
                </c:pt>
                <c:pt idx="6">
                  <c:v>0.02</c:v>
                </c:pt>
                <c:pt idx="7">
                  <c:v>2.5999999999999999E-2</c:v>
                </c:pt>
                <c:pt idx="8">
                  <c:v>2.7E-2</c:v>
                </c:pt>
                <c:pt idx="9">
                  <c:v>0.89300000000000002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05-44C9-A406-34F754DC05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94095285"/>
        <c:axId val="20529096"/>
      </c:barChart>
      <c:catAx>
        <c:axId val="94095285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600">
            <a:noFill/>
          </a:ln>
        </c:spPr>
        <c:txPr>
          <a:bodyPr/>
          <a:lstStyle/>
          <a:p>
            <a:pPr>
              <a:defRPr sz="850" b="0" u="none" strike="noStrike">
                <a:solidFill>
                  <a:srgbClr val="4A5260"/>
                </a:solidFill>
                <a:uFillTx/>
                <a:latin typeface="Pretendard"/>
                <a:ea typeface="Pretendard"/>
              </a:defRPr>
            </a:pPr>
            <a:endParaRPr lang="ko-KR"/>
          </a:p>
        </c:txPr>
        <c:crossAx val="20529096"/>
        <c:crosses val="autoZero"/>
        <c:auto val="1"/>
        <c:lblAlgn val="ctr"/>
        <c:lblOffset val="100"/>
        <c:noMultiLvlLbl val="0"/>
      </c:catAx>
      <c:valAx>
        <c:axId val="20529096"/>
        <c:scaling>
          <c:orientation val="minMax"/>
          <c:max val="1"/>
          <c:min val="0"/>
        </c:scaling>
        <c:delete val="0"/>
        <c:axPos val="b"/>
        <c:majorGridlines>
          <c:spPr>
            <a:ln w="9360">
              <a:solidFill>
                <a:srgbClr val="E3E6EA"/>
              </a:solidFill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600">
            <a:noFill/>
          </a:ln>
        </c:spPr>
        <c:txPr>
          <a:bodyPr/>
          <a:lstStyle/>
          <a:p>
            <a:pPr>
              <a:defRPr sz="900" b="0" u="none" strike="noStrike">
                <a:solidFill>
                  <a:srgbClr val="4A5260"/>
                </a:solidFill>
                <a:uFillTx/>
                <a:latin typeface="Pretendard"/>
                <a:ea typeface="Pretendard"/>
              </a:defRPr>
            </a:pPr>
            <a:endParaRPr lang="ko-KR"/>
          </a:p>
        </c:txPr>
        <c:crossAx val="94095285"/>
        <c:crosses val="autoZero"/>
        <c:crossBetween val="between"/>
        <c:majorUnit val="0.2"/>
      </c:valAx>
      <c:spPr>
        <a:noFill/>
        <a:ln w="0">
          <a:noFill/>
        </a:ln>
      </c:spPr>
    </c:plotArea>
    <c:plotVisOnly val="1"/>
    <c:dispBlanksAs val="span"/>
    <c:showDLblsOverMax val="1"/>
  </c:chart>
  <c:spPr>
    <a:noFill/>
    <a:ln w="0">
      <a:noFill/>
    </a:ln>
  </c:spPr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lang="ko-KR" alt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인구 밀집 </a:t>
            </a:r>
            <a:r>
              <a:rPr lang="en-US" altLang="ko-KR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— RandomForest (</a:t>
            </a:r>
            <a:r>
              <a:rPr lang="ko-KR" alt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전체 </a:t>
            </a:r>
            <a:r>
              <a:rPr lang="en-US" altLang="ko-KR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9</a:t>
            </a:r>
            <a:r>
              <a:rPr lang="ko-KR" alt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개</a:t>
            </a:r>
            <a:r>
              <a:rPr lang="en-US" altLang="ko-KR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)</a:t>
            </a:r>
          </a:p>
        </c:rich>
      </c:tx>
      <c:layout/>
      <c:overlay val="0"/>
      <c:spPr>
        <a:noFill/>
        <a:ln w="0">
          <a:noFill/>
        </a:ln>
      </c:sp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중요도</c:v>
                </c:pt>
              </c:strCache>
            </c:strRef>
          </c:tx>
          <c:spPr>
            <a:solidFill>
              <a:srgbClr val="6B7685"/>
            </a:solidFill>
            <a:ln w="0">
              <a:noFill/>
            </a:ln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850" b="0" u="none" strike="noStrike">
                    <a:solidFill>
                      <a:srgbClr val="1F2329"/>
                    </a:solidFill>
                    <a:uFillTx/>
                    <a:latin typeface="Pretendard"/>
                    <a:ea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categories</c:f>
              <c:strCache>
                <c:ptCount val="9"/>
                <c:pt idx="0">
                  <c:v>월(합계)</c:v>
                </c:pt>
                <c:pt idx="1">
                  <c:v>주말여부</c:v>
                </c:pt>
                <c:pt idx="2">
                  <c:v>요일(합계)</c:v>
                </c:pt>
                <c:pt idx="3">
                  <c:v>전일_동일자치구행정동간이동인구수</c:v>
                </c:pt>
                <c:pt idx="4">
                  <c:v>구(합계)</c:v>
                </c:pt>
                <c:pt idx="5">
                  <c:v>전일_일최대이동인구수</c:v>
                </c:pt>
                <c:pt idx="6">
                  <c:v>전일_pop_diff</c:v>
                </c:pt>
                <c:pt idx="7">
                  <c:v>전일_night_pop</c:v>
                </c:pt>
                <c:pt idx="8">
                  <c:v>7일전_일최대인구수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9"/>
                <c:pt idx="0">
                  <c:v>1E-3</c:v>
                </c:pt>
                <c:pt idx="1">
                  <c:v>2E-3</c:v>
                </c:pt>
                <c:pt idx="2">
                  <c:v>3.0000000000000001E-3</c:v>
                </c:pt>
                <c:pt idx="3">
                  <c:v>3.0000000000000001E-3</c:v>
                </c:pt>
                <c:pt idx="4">
                  <c:v>4.0000000000000001E-3</c:v>
                </c:pt>
                <c:pt idx="5">
                  <c:v>4.0000000000000001E-3</c:v>
                </c:pt>
                <c:pt idx="6">
                  <c:v>1.0999999999999999E-2</c:v>
                </c:pt>
                <c:pt idx="7">
                  <c:v>1.4E-2</c:v>
                </c:pt>
                <c:pt idx="8">
                  <c:v>0.96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D9-47F4-9A2D-C82D4333EB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48521752"/>
        <c:axId val="5282433"/>
      </c:barChart>
      <c:catAx>
        <c:axId val="485217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600">
            <a:noFill/>
          </a:ln>
        </c:spPr>
        <c:txPr>
          <a:bodyPr/>
          <a:lstStyle/>
          <a:p>
            <a:pPr>
              <a:defRPr sz="850" b="0" u="none" strike="noStrike">
                <a:solidFill>
                  <a:srgbClr val="4A5260"/>
                </a:solidFill>
                <a:uFillTx/>
                <a:latin typeface="Pretendard"/>
                <a:ea typeface="Pretendard"/>
              </a:defRPr>
            </a:pPr>
            <a:endParaRPr lang="ko-KR"/>
          </a:p>
        </c:txPr>
        <c:crossAx val="5282433"/>
        <c:crosses val="autoZero"/>
        <c:auto val="1"/>
        <c:lblAlgn val="ctr"/>
        <c:lblOffset val="100"/>
        <c:noMultiLvlLbl val="0"/>
      </c:catAx>
      <c:valAx>
        <c:axId val="5282433"/>
        <c:scaling>
          <c:orientation val="minMax"/>
          <c:max val="1"/>
          <c:min val="0"/>
        </c:scaling>
        <c:delete val="0"/>
        <c:axPos val="b"/>
        <c:majorGridlines>
          <c:spPr>
            <a:ln w="9360">
              <a:solidFill>
                <a:srgbClr val="E3E6EA"/>
              </a:solidFill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600">
            <a:noFill/>
          </a:ln>
        </c:spPr>
        <c:txPr>
          <a:bodyPr/>
          <a:lstStyle/>
          <a:p>
            <a:pPr>
              <a:defRPr sz="900" b="0" u="none" strike="noStrike">
                <a:solidFill>
                  <a:srgbClr val="4A5260"/>
                </a:solidFill>
                <a:uFillTx/>
                <a:latin typeface="Pretendard"/>
                <a:ea typeface="Pretendard"/>
              </a:defRPr>
            </a:pPr>
            <a:endParaRPr lang="ko-KR"/>
          </a:p>
        </c:txPr>
        <c:crossAx val="48521752"/>
        <c:crosses val="autoZero"/>
        <c:crossBetween val="between"/>
        <c:majorUnit val="0.2"/>
      </c:valAx>
      <c:spPr>
        <a:noFill/>
        <a:ln w="0">
          <a:noFill/>
        </a:ln>
      </c:spPr>
    </c:plotArea>
    <c:plotVisOnly val="1"/>
    <c:dispBlanksAs val="span"/>
    <c:showDLblsOverMax val="1"/>
  </c:chart>
  <c:spPr>
    <a:noFill/>
    <a:ln w="0">
      <a:noFill/>
    </a:ln>
  </c:spPr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lang="ko-KR" alt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미래 이송 건수 예측 </a:t>
            </a:r>
            <a:r>
              <a:rPr lang="en-US" altLang="ko-KR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— 25</a:t>
            </a:r>
            <a:r>
              <a:rPr lang="ko-KR" alt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개 구 합계</a:t>
            </a:r>
            <a:r>
              <a:rPr lang="en-US" altLang="ko-KR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(</a:t>
            </a:r>
            <a:r>
              <a:rPr lang="ko-KR" alt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건</a:t>
            </a:r>
            <a:r>
              <a:rPr lang="en-US" altLang="ko-KR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)</a:t>
            </a:r>
          </a:p>
        </c:rich>
      </c:tx>
      <c:layout/>
      <c:overlay val="0"/>
      <c:spPr>
        <a:noFill/>
        <a:ln w="0">
          <a:noFill/>
        </a:ln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서울 합계</c:v>
                </c:pt>
              </c:strCache>
            </c:strRef>
          </c:tx>
          <c:spPr>
            <a:solidFill>
              <a:srgbClr val="2F5D8A"/>
            </a:solidFill>
            <a:ln w="0">
              <a:noFill/>
            </a:ln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900" b="0" u="none" strike="noStrike">
                    <a:solidFill>
                      <a:srgbClr val="1F2329"/>
                    </a:solidFill>
                    <a:uFillTx/>
                    <a:latin typeface="Pretendard"/>
                    <a:ea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categories</c:f>
              <c:strCache>
                <c:ptCount val="6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6"/>
                <c:pt idx="0">
                  <c:v>23879</c:v>
                </c:pt>
                <c:pt idx="1">
                  <c:v>21643</c:v>
                </c:pt>
                <c:pt idx="2">
                  <c:v>22570</c:v>
                </c:pt>
                <c:pt idx="3">
                  <c:v>23048</c:v>
                </c:pt>
                <c:pt idx="4">
                  <c:v>25138</c:v>
                </c:pt>
                <c:pt idx="5">
                  <c:v>24980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16-4F2C-82EF-4E7485484B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9991430"/>
        <c:axId val="83935056"/>
      </c:barChart>
      <c:catAx>
        <c:axId val="1999143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noFill/>
          </a:ln>
        </c:spPr>
        <c:txPr>
          <a:bodyPr/>
          <a:lstStyle/>
          <a:p>
            <a:pPr>
              <a:defRPr sz="1000" b="0" u="none" strike="noStrike">
                <a:solidFill>
                  <a:srgbClr val="4A5260"/>
                </a:solidFill>
                <a:uFillTx/>
                <a:latin typeface="Pretendard"/>
                <a:ea typeface="Pretendard"/>
              </a:defRPr>
            </a:pPr>
            <a:endParaRPr lang="ko-KR"/>
          </a:p>
        </c:txPr>
        <c:crossAx val="83935056"/>
        <c:crosses val="autoZero"/>
        <c:auto val="1"/>
        <c:lblAlgn val="ctr"/>
        <c:lblOffset val="100"/>
        <c:noMultiLvlLbl val="0"/>
      </c:catAx>
      <c:valAx>
        <c:axId val="83935056"/>
        <c:scaling>
          <c:orientation val="minMax"/>
          <c:max val="30000"/>
          <c:min val="0"/>
        </c:scaling>
        <c:delete val="0"/>
        <c:axPos val="l"/>
        <c:majorGridlines>
          <c:spPr>
            <a:ln w="9360">
              <a:solidFill>
                <a:srgbClr val="E3E6EA"/>
              </a:solidFill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600">
            <a:noFill/>
          </a:ln>
        </c:spPr>
        <c:txPr>
          <a:bodyPr/>
          <a:lstStyle/>
          <a:p>
            <a:pPr>
              <a:defRPr sz="900" b="0" u="none" strike="noStrike">
                <a:solidFill>
                  <a:srgbClr val="4A5260"/>
                </a:solidFill>
                <a:uFillTx/>
                <a:latin typeface="Pretendard"/>
                <a:ea typeface="Pretendard"/>
              </a:defRPr>
            </a:pPr>
            <a:endParaRPr lang="ko-KR"/>
          </a:p>
        </c:txPr>
        <c:crossAx val="19991430"/>
        <c:crosses val="autoZero"/>
        <c:crossBetween val="between"/>
        <c:majorUnit val="10000"/>
      </c:valAx>
      <c:spPr>
        <a:noFill/>
        <a:ln w="0">
          <a:noFill/>
        </a:ln>
      </c:spPr>
    </c:plotArea>
    <c:plotVisOnly val="1"/>
    <c:dispBlanksAs val="span"/>
    <c:showDLblsOverMax val="1"/>
  </c:chart>
  <c:spPr>
    <a:noFill/>
    <a:ln w="0"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1EBAF3-FDE6-FC4D-8FF7-94F71BB5CE42}" type="datetimeFigureOut">
              <a:t>2026-10-01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4BDCBC-9A35-604A-A388-8D66AE1EB991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50600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최종 결과 및 시사점</a:t>
            </a:r>
            <a:r>
              <a:rPr lang="en-US" altLang="ko-KR" dirty="0" smtClean="0"/>
              <a:t>, </a:t>
            </a:r>
            <a:r>
              <a:rPr lang="ko-KR" altLang="en-US" dirty="0" smtClean="0"/>
              <a:t>향후 연구 방향</a:t>
            </a:r>
            <a:r>
              <a:rPr lang="en-US" altLang="ko-KR" dirty="0" smtClean="0"/>
              <a:t>, </a:t>
            </a:r>
            <a:r>
              <a:rPr lang="ko-KR" altLang="en-US" dirty="0" smtClean="0"/>
              <a:t>참고문헌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9210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12783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03957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43328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16175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81611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33378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00" b="1" u="none" strike="noStrike" dirty="0" smtClean="0">
                <a:solidFill>
                  <a:srgbClr val="C8102E"/>
                </a:solidFill>
                <a:effectLst/>
                <a:uFillTx/>
                <a:latin typeface="Pretendard"/>
                <a:ea typeface="Pretendard"/>
              </a:rPr>
              <a:t>Open API</a:t>
            </a:r>
            <a:endParaRPr lang="en-US" altLang="ko-KR" sz="1800" b="0" u="none" strike="noStrike" dirty="0" smtClean="0">
              <a:solidFill>
                <a:srgbClr val="000000"/>
              </a:solidFill>
              <a:effectLst/>
              <a:uFillTx/>
              <a:latin typeface="Arial"/>
              <a:ea typeface="+mn-ea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lang="en-US" altLang="ko-KR" sz="1800" b="1" dirty="0" smtClean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>
            <a:pPr algn="l">
              <a:spcAft>
                <a:spcPts val="300"/>
              </a:spcAft>
            </a:pPr>
            <a:r>
              <a:rPr lang="ko-KR" altLang="en-US" sz="1800" b="1" dirty="0" err="1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소방청</a:t>
            </a:r>
            <a:r>
              <a:rPr lang="ko-KR" altLang="en-US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구급통계서비스</a:t>
            </a:r>
            <a:r>
              <a:rPr lang="en-US" altLang="ko-KR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-</a:t>
            </a:r>
            <a:r>
              <a:rPr lang="en-US" altLang="ko-KR" sz="18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월별 출동 </a:t>
            </a:r>
            <a:r>
              <a:rPr lang="en-US" altLang="ko-KR"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이송 건수</a:t>
            </a:r>
          </a:p>
          <a:p>
            <a:pPr algn="l">
              <a:spcAft>
                <a:spcPts val="300"/>
              </a:spcAft>
            </a:pPr>
            <a:r>
              <a:rPr lang="ko-KR" altLang="en-US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국립중앙의료원 응급의료기관 정보</a:t>
            </a:r>
            <a:r>
              <a:rPr lang="ko-KR" altLang="en-US" sz="18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8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- </a:t>
            </a:r>
            <a:r>
              <a:rPr lang="ko-KR" altLang="en-US"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실시간 응급실 </a:t>
            </a:r>
            <a:r>
              <a:rPr lang="ko-KR" altLang="en-US" sz="1400" b="0" dirty="0" err="1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가용병상</a:t>
            </a:r>
            <a:endParaRPr lang="ko-KR" altLang="en-US" sz="1400" b="0" dirty="0" smtClean="0">
              <a:solidFill>
                <a:srgbClr val="45515E"/>
              </a:solidFill>
              <a:latin typeface="Pretendard"/>
              <a:ea typeface="Pretendard"/>
              <a:cs typeface="Pretendard"/>
            </a:endParaRPr>
          </a:p>
          <a:p>
            <a:pPr algn="l">
              <a:spcAft>
                <a:spcPts val="300"/>
              </a:spcAft>
            </a:pPr>
            <a:r>
              <a:rPr lang="ko-KR" altLang="en-US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안전데이터포털 </a:t>
            </a:r>
            <a:r>
              <a:rPr lang="en-US" altLang="ko-KR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DSSP-IF-00242</a:t>
            </a:r>
            <a:r>
              <a:rPr lang="en-US" altLang="ko-KR" sz="18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- </a:t>
            </a:r>
            <a:r>
              <a:rPr lang="ko-KR" altLang="en-US"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실시간 병상 </a:t>
            </a:r>
            <a:r>
              <a:rPr lang="en-US" altLang="ko-KR"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누락 병원 보완</a:t>
            </a:r>
            <a:r>
              <a:rPr lang="en-US" altLang="ko-KR"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)</a:t>
            </a:r>
          </a:p>
          <a:p>
            <a:pPr algn="l">
              <a:spcAft>
                <a:spcPts val="300"/>
              </a:spcAft>
            </a:pPr>
            <a:r>
              <a:rPr lang="ko-KR" altLang="en-US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안전데이터포털 </a:t>
            </a:r>
            <a:r>
              <a:rPr lang="en-US" altLang="ko-KR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DSSP-IF-10288</a:t>
            </a:r>
            <a:r>
              <a:rPr lang="en-US" altLang="ko-KR" sz="18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- </a:t>
            </a:r>
            <a:r>
              <a:rPr lang="ko-KR" altLang="en-US"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의료기관 목록 </a:t>
            </a:r>
            <a:r>
              <a:rPr lang="en-US" altLang="ko-KR"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응급실 운영 여부</a:t>
            </a:r>
          </a:p>
          <a:p>
            <a:pPr algn="l">
              <a:spcAft>
                <a:spcPts val="300"/>
              </a:spcAft>
            </a:pPr>
            <a:r>
              <a:rPr lang="ko-KR" altLang="en-US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안전데이터포털 </a:t>
            </a:r>
            <a:r>
              <a:rPr lang="en-US" altLang="ko-KR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DSSP-IF-00606</a:t>
            </a:r>
            <a:r>
              <a:rPr lang="en-US" altLang="ko-KR" sz="18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- </a:t>
            </a:r>
            <a:r>
              <a:rPr lang="ko-KR" altLang="en-US"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자치구별 병상 수 </a:t>
            </a:r>
            <a:r>
              <a:rPr lang="en-US" altLang="ko-KR"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연도</a:t>
            </a:r>
            <a:r>
              <a:rPr lang="en-US" altLang="ko-KR"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)</a:t>
            </a:r>
          </a:p>
          <a:p>
            <a:pPr algn="l">
              <a:spcAft>
                <a:spcPts val="300"/>
              </a:spcAft>
            </a:pPr>
            <a:endParaRPr lang="en-US" altLang="ko-KR" sz="1400" b="0" dirty="0" smtClean="0">
              <a:solidFill>
                <a:srgbClr val="45515E"/>
              </a:solidFill>
              <a:latin typeface="Pretendard"/>
              <a:ea typeface="Pretendard"/>
              <a:cs typeface="Pretendard"/>
            </a:endParaRPr>
          </a:p>
          <a:p>
            <a:pPr algn="l">
              <a:spcAft>
                <a:spcPts val="300"/>
              </a:spcAft>
            </a:pPr>
            <a:endParaRPr lang="en-US" altLang="ko-KR" sz="1400" b="0" dirty="0" smtClean="0">
              <a:solidFill>
                <a:srgbClr val="45515E"/>
              </a:solidFill>
              <a:latin typeface="Pretendard"/>
              <a:ea typeface="Pretendard"/>
              <a:cs typeface="Pretendard"/>
            </a:endParaRPr>
          </a:p>
          <a:p>
            <a:pPr algn="l">
              <a:spcAft>
                <a:spcPts val="300"/>
              </a:spcAft>
            </a:pPr>
            <a:r>
              <a:rPr lang="en-US" altLang="ko-KR" sz="2000" b="1" dirty="0" smtClean="0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CSV </a:t>
            </a:r>
            <a:endParaRPr lang="ko-KR" altLang="en-US" sz="2000" b="1" dirty="0" smtClean="0">
              <a:solidFill>
                <a:srgbClr val="C8102E"/>
              </a:solidFill>
              <a:latin typeface="Pretendard"/>
              <a:ea typeface="Pretendard"/>
              <a:cs typeface="Pretendard"/>
            </a:endParaRPr>
          </a:p>
          <a:p>
            <a:pPr algn="l">
              <a:spcAft>
                <a:spcPts val="300"/>
              </a:spcAft>
            </a:pPr>
            <a:r>
              <a:rPr lang="ko-KR" altLang="en-US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서울 </a:t>
            </a:r>
            <a:r>
              <a:rPr lang="ko-KR" altLang="en-US" sz="1400" b="1" dirty="0" err="1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생활인구</a:t>
            </a:r>
            <a:r>
              <a:rPr lang="ko-KR" altLang="en-US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일별 집계표</a:t>
            </a:r>
            <a:r>
              <a:rPr lang="ko-KR" altLang="en-US" sz="14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4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- 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구 </a:t>
            </a:r>
            <a:r>
              <a:rPr lang="en-US" altLang="ko-KR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× 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일 </a:t>
            </a:r>
            <a:r>
              <a:rPr lang="ko-KR" altLang="en-US" sz="1100" b="0" dirty="0" err="1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생활인구</a:t>
            </a:r>
            <a:endParaRPr lang="ko-KR" altLang="en-US" sz="1100" b="0" dirty="0" smtClean="0">
              <a:solidFill>
                <a:srgbClr val="45515E"/>
              </a:solidFill>
              <a:latin typeface="Pretendard"/>
              <a:ea typeface="Pretendard"/>
              <a:cs typeface="Pretendard"/>
            </a:endParaRPr>
          </a:p>
          <a:p>
            <a:pPr algn="l">
              <a:spcAft>
                <a:spcPts val="300"/>
              </a:spcAft>
            </a:pPr>
            <a:r>
              <a:rPr lang="en-US" altLang="ko-KR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119 </a:t>
            </a:r>
            <a:r>
              <a:rPr lang="ko-KR" altLang="en-US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구조활동 실적 </a:t>
            </a:r>
            <a:r>
              <a:rPr lang="en-US" altLang="ko-KR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구별</a:t>
            </a:r>
            <a:r>
              <a:rPr lang="en-US" altLang="ko-KR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)</a:t>
            </a:r>
            <a:r>
              <a:rPr lang="en-US" altLang="ko-KR" sz="14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- 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사고 </a:t>
            </a:r>
            <a:r>
              <a:rPr lang="ko-KR" altLang="en-US" sz="1100" b="0" dirty="0" err="1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원인별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100" b="0" dirty="0" err="1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구조인원</a:t>
            </a:r>
            <a:endParaRPr lang="ko-KR" altLang="en-US" sz="1100" b="0" dirty="0" smtClean="0">
              <a:solidFill>
                <a:srgbClr val="45515E"/>
              </a:solidFill>
              <a:latin typeface="Pretendard"/>
              <a:ea typeface="Pretendard"/>
              <a:cs typeface="Pretendard"/>
            </a:endParaRPr>
          </a:p>
          <a:p>
            <a:pPr algn="l">
              <a:spcAft>
                <a:spcPts val="300"/>
              </a:spcAft>
            </a:pPr>
            <a:r>
              <a:rPr lang="ko-KR" altLang="en-US" sz="1400" b="1" dirty="0" err="1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서울소방서</a:t>
            </a:r>
            <a:r>
              <a:rPr lang="ko-KR" altLang="en-US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119</a:t>
            </a:r>
            <a:r>
              <a:rPr lang="ko-KR" altLang="en-US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안전센터 현황</a:t>
            </a:r>
            <a:r>
              <a:rPr lang="ko-KR" altLang="en-US" sz="14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4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- 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소방서 → 자치구 매핑</a:t>
            </a:r>
          </a:p>
          <a:p>
            <a:pPr algn="l">
              <a:spcAft>
                <a:spcPts val="300"/>
              </a:spcAft>
            </a:pPr>
            <a:r>
              <a:rPr lang="en-US" altLang="ko-KR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119 </a:t>
            </a:r>
            <a:r>
              <a:rPr lang="ko-KR" altLang="en-US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구급활동 실적 </a:t>
            </a:r>
            <a:r>
              <a:rPr lang="en-US" altLang="ko-KR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400" b="1" dirty="0" err="1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소방서별</a:t>
            </a:r>
            <a:r>
              <a:rPr lang="en-US" altLang="ko-KR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)</a:t>
            </a:r>
            <a:r>
              <a:rPr lang="en-US" altLang="ko-KR" sz="14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- 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연도별 출동 </a:t>
            </a:r>
            <a:r>
              <a:rPr lang="en-US" altLang="ko-KR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이송</a:t>
            </a:r>
          </a:p>
          <a:p>
            <a:pPr algn="l">
              <a:spcAft>
                <a:spcPts val="300"/>
              </a:spcAft>
            </a:pPr>
            <a:r>
              <a:rPr lang="ko-KR" altLang="en-US" sz="1400" b="1" dirty="0" err="1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소방청</a:t>
            </a:r>
            <a:r>
              <a:rPr lang="ko-KR" altLang="en-US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400" b="1" dirty="0" err="1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본부별</a:t>
            </a:r>
            <a:r>
              <a:rPr lang="ko-KR" altLang="en-US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구급활동정보</a:t>
            </a:r>
            <a:r>
              <a:rPr lang="ko-KR" altLang="en-US" sz="14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4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- 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시도별 월별 출동 </a:t>
            </a:r>
            <a:r>
              <a:rPr lang="en-US" altLang="ko-KR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이송</a:t>
            </a:r>
          </a:p>
          <a:p>
            <a:pPr algn="l">
              <a:spcAft>
                <a:spcPts val="300"/>
              </a:spcAft>
            </a:pPr>
            <a:r>
              <a:rPr lang="ko-KR" altLang="en-US" sz="1400" b="1" dirty="0" err="1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구급출동</a:t>
            </a:r>
            <a:r>
              <a:rPr lang="ko-KR" altLang="en-US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400" b="1" dirty="0" err="1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건별</a:t>
            </a:r>
            <a:r>
              <a:rPr lang="ko-KR" altLang="en-US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현황 </a:t>
            </a:r>
            <a:r>
              <a:rPr lang="en-US" altLang="ko-KR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2021~2022</a:t>
            </a:r>
            <a:r>
              <a:rPr lang="en-US" altLang="ko-KR" sz="14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- 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출동 </a:t>
            </a:r>
            <a:r>
              <a:rPr lang="en-US" altLang="ko-KR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1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건 </a:t>
            </a:r>
            <a:r>
              <a:rPr lang="en-US" altLang="ko-KR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= 1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행</a:t>
            </a:r>
          </a:p>
          <a:p>
            <a:pPr algn="l">
              <a:spcAft>
                <a:spcPts val="300"/>
              </a:spcAft>
            </a:pPr>
            <a:r>
              <a:rPr lang="ko-KR" altLang="en-US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구급 </a:t>
            </a:r>
            <a:r>
              <a:rPr lang="ko-KR" altLang="en-US" sz="1400" b="1" dirty="0" err="1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건별</a:t>
            </a:r>
            <a:r>
              <a:rPr lang="ko-KR" altLang="en-US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표본 </a:t>
            </a:r>
            <a:r>
              <a:rPr lang="en-US" altLang="ko-KR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data.csv</a:t>
            </a:r>
            <a:r>
              <a:rPr lang="en-US" altLang="ko-KR" sz="14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- </a:t>
            </a:r>
            <a:r>
              <a:rPr lang="ko-KR" altLang="en-US" sz="1100" b="0" dirty="0" err="1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관악소방서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1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개월 표본</a:t>
            </a:r>
          </a:p>
          <a:p>
            <a:pPr algn="l">
              <a:spcAft>
                <a:spcPts val="300"/>
              </a:spcAft>
            </a:pPr>
            <a:endParaRPr lang="en-US" altLang="ko-KR" sz="1400" b="0" dirty="0" smtClean="0">
              <a:solidFill>
                <a:srgbClr val="45515E"/>
              </a:solidFill>
              <a:latin typeface="Pretendard"/>
              <a:ea typeface="Pretendard"/>
              <a:cs typeface="Pretendard"/>
            </a:endParaRPr>
          </a:p>
          <a:p>
            <a:pPr algn="l">
              <a:spcAft>
                <a:spcPts val="300"/>
              </a:spcAft>
            </a:pPr>
            <a:r>
              <a:rPr lang="en-US" altLang="ko-KR" sz="2000" b="1" dirty="0" smtClean="0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XLSX  </a:t>
            </a:r>
            <a:endParaRPr lang="ko-KR" altLang="en-US" sz="2000" b="1" dirty="0" smtClean="0">
              <a:solidFill>
                <a:srgbClr val="C8102E"/>
              </a:solidFill>
              <a:latin typeface="Pretendard"/>
              <a:ea typeface="Pretendard"/>
              <a:cs typeface="Pretendard"/>
            </a:endParaRPr>
          </a:p>
          <a:p>
            <a:pPr algn="l">
              <a:spcAft>
                <a:spcPts val="300"/>
              </a:spcAft>
            </a:pPr>
            <a:r>
              <a:rPr lang="ko-KR" altLang="en-US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서울시 구급 출동 현황 </a:t>
            </a:r>
            <a:r>
              <a:rPr lang="en-US" altLang="ko-KR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2022~2024</a:t>
            </a:r>
            <a:r>
              <a:rPr lang="en-US" altLang="ko-KR" sz="14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- 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구 </a:t>
            </a:r>
            <a:r>
              <a:rPr lang="en-US" altLang="ko-KR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100" b="0" dirty="0" err="1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동별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월별 출동</a:t>
            </a:r>
          </a:p>
          <a:p>
            <a:pPr algn="l">
              <a:spcAft>
                <a:spcPts val="300"/>
              </a:spcAft>
            </a:pPr>
            <a:r>
              <a:rPr lang="ko-KR" altLang="en-US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의료이용 </a:t>
            </a:r>
            <a:r>
              <a:rPr lang="ko-KR" altLang="en-US" sz="1400" b="1" dirty="0" err="1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유출입</a:t>
            </a:r>
            <a:r>
              <a:rPr lang="ko-KR" altLang="en-US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4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2019~2024</a:t>
            </a:r>
            <a:r>
              <a:rPr lang="en-US" altLang="ko-KR" sz="1400" b="1" baseline="0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- 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환자 주소지 </a:t>
            </a:r>
            <a:r>
              <a:rPr lang="en-US" altLang="ko-KR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× </a:t>
            </a:r>
            <a:r>
              <a:rPr lang="ko-KR" altLang="en-US"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의료기관 소재지</a:t>
            </a:r>
          </a:p>
          <a:p>
            <a:pPr algn="l">
              <a:spcAft>
                <a:spcPts val="300"/>
              </a:spcAft>
            </a:pPr>
            <a:endParaRPr lang="en-US" altLang="ko-KR" sz="1400" b="0" dirty="0" smtClean="0">
              <a:solidFill>
                <a:srgbClr val="45515E"/>
              </a:solidFill>
              <a:latin typeface="Pretendard"/>
              <a:ea typeface="Pretendard"/>
              <a:cs typeface="Pretendard"/>
            </a:endParaRPr>
          </a:p>
          <a:p>
            <a:pPr algn="l">
              <a:spcAft>
                <a:spcPts val="300"/>
              </a:spcAft>
            </a:pPr>
            <a:endParaRPr lang="en-US" altLang="ko-KR" sz="1400" b="0" dirty="0" smtClean="0">
              <a:solidFill>
                <a:srgbClr val="45515E"/>
              </a:solidFill>
              <a:latin typeface="Pretendard"/>
              <a:ea typeface="Pretendard"/>
              <a:cs typeface="Pretendard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 b="1" dirty="0" smtClean="0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학습 데이터에 들어간 원본  </a:t>
            </a:r>
            <a:r>
              <a:rPr lang="en-US" altLang="ko-KR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API 1 (</a:t>
            </a:r>
            <a:r>
              <a:rPr lang="ko-KR" altLang="en-US" sz="1800" b="1" dirty="0" err="1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소방청</a:t>
            </a:r>
            <a:r>
              <a:rPr lang="ko-KR" altLang="en-US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800" b="1" dirty="0" err="1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구급통계</a:t>
            </a:r>
            <a:r>
              <a:rPr lang="en-US" altLang="ko-KR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) · CSV 2 (</a:t>
            </a:r>
            <a:r>
              <a:rPr lang="ko-KR" altLang="en-US" sz="1800" b="1" dirty="0" err="1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생활인구</a:t>
            </a:r>
            <a:r>
              <a:rPr lang="ko-KR" altLang="en-US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구조활동</a:t>
            </a:r>
            <a:r>
              <a:rPr lang="en-US" altLang="ko-KR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) · XLSX 1 (</a:t>
            </a:r>
            <a:r>
              <a:rPr lang="ko-KR" altLang="en-US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의료이용</a:t>
            </a:r>
            <a:r>
              <a:rPr lang="en-US" altLang="ko-KR" sz="18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)</a:t>
            </a:r>
            <a:r>
              <a:rPr lang="ko-KR" altLang="en-US" sz="16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  나머지는 매핑 </a:t>
            </a:r>
            <a:r>
              <a:rPr lang="en-US" altLang="ko-KR" sz="16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6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검증 </a:t>
            </a:r>
            <a:r>
              <a:rPr lang="en-US" altLang="ko-KR" sz="16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6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참고용</a:t>
            </a:r>
          </a:p>
          <a:p>
            <a:pPr indent="0">
              <a:buNone/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348150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01_119_공공API_연동_v2 노트북 기준. 소방청 구급통계서비스 get119EmgencyActivityStats를 소방서 · 접수년월(rcptYm) 조건으로 호출.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9368556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01_119_공공API_연동_v2 · 02_119_전처리_검토수정 노트북 기준. 과밀 8곳은 v2 수집 시점의 결과로 수집 시각에 따라 달라짐.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35369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02_119_전처리_검토수정 노트북 기준.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184552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715083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과거 값 붙이기: 과거 표의 날짜를 1개월 · 12개월 뒤로 옮긴 뒤 ds + District로 병합. 연 단위 자료는 연도 + 1 후 병합. 같은 함수로 미래 예측용 입력 행(2026.01~06, 150행)도 계산.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24499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features_transport.csv / features_population.csv 기준. 선택 계산은 2025-01-01 이전 행만 사용(이송 2,264행, 인구 61,400행).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963573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월별 지수: 관할 변경 구간 제외 후 구별 월평균 이송 건수의 월별 평균(전체=100). 이송률: 2018.04~2025.12 구별 월평균 이송 건수 ÷ 월평균 야간인구 × 10,000. 전월값 정확도: 2025년 구별 (1 − MAPE) × 100.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043889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대상: 2018.04~2025.12 구 × 월 2,233행(관할 변경 구간 제외). 구 간 = 구별 평균끼리의 피어슨 상관(25개 점). 구 내 = 각 구의 평균을 뺀 월별 변동끼리의 상관.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123110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가중치 = 선택 지표의 구 간 상관계수 ÷ 선택 지표 상관계수 합. 인구 가중 지수 = Σ(지표 표준화 점수 × 가중치). 지수와 구별 평균 이송 건수의 상관 0.80(야간인구 단독 0.81).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226382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입력: 야간인구(규모), 주야간비(주간÷야간, 유입 정도), 인구 1만명당 이송률. StandardScaler 후 KMeans(n_init=10). 실루엣 계수 k=2 0.31, k=3 0.34, k=4 0.40, k=5 0.38, k=6 0.36 → k=4 선택.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956708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이송률 = 2018.04~2025.12 구별 월평균 이송 건수 ÷ 월평균 야간인구 × 10,000.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296171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월별 지수 = 관할 변경 구간을 제외한 구 × 월 이송 건수의 월별 평균 ÷ 전체 평균 × 100 (2017.01~2025.12). 서울 전체 합계의 가법 시계열 분해(seasonal_decompose, period=12) 계절 성분: 2월 −3,467건, 7월 +2,368건, 8월 +2,360건. 02_119_전처리_검토수정 노트북 결과와 일치.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554907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연도별: 서울 전체 월 이송 건수 합계의 연평균. 자기상관: 관할 변경 구간 제외 후 구별로 n개월 전 값과 현재 값의 상관. 전월값 정확도: 2025년 구 × 월, (1 − MAPE) × 100.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2660643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요일 지수 = 요일별 일최대인구수 평균 ÷ 전체 평균 × 100 (2018.04~2026.07, 25개 구). 주말/평일 비율 = 유형별 주말 평균 일최대인구수 ÷ 평일 평균.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140070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자료: data.csv (2025년 6월 관악소방서 구급 건별 표본 1,000건). 1개 구 1개월 표본이라 서울 전체를 대표하지 않음. 사고 유형은 질병 외 사고로 기록된 건만 해당(빈 값 736건 제외). 연령 -1은 미상.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985462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자료: 119 구조활동 실적(구별) 사고종별 구조인원의 25개 구 합계. 2006년은 분류 체계가 달라 제외. 2024년부터 안전조치 · 위치추적 · 자살추정 · 잠금장치개방이 기타에서 분리되어 기타/미상은 비교에서 제외.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053374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자료: 서울소방재난본부 구급출동 현황(건별) 2021~2022를 구 × 월로 집계한 결과(ambulance_incident_monthly). 발생 구 기준이라 API(소방서 관할 기준)와 구별 수치가 다름. 비중은 전체 출동 1,167,317건 기준.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607557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ko-KR" sz="2000" b="1" u="none" strike="noStrike" dirty="0" smtClean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두 예측 문제는 데이터 단위와 예측 주기가 다</a:t>
            </a:r>
            <a:r>
              <a:rPr lang="ko-KR" altLang="en-US" sz="2000" b="1" u="none" strike="noStrike" dirty="0" err="1" smtClean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름</a:t>
            </a:r>
            <a:r>
              <a:rPr lang="en-US" altLang="ko-KR" sz="2000" b="1" u="none" strike="noStrike" dirty="0" smtClean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.</a:t>
            </a:r>
            <a:r>
              <a:rPr lang="en-US" altLang="ko-KR" sz="2000" b="1" u="none" strike="noStrike" baseline="0" dirty="0" smtClean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 </a:t>
            </a:r>
            <a:r>
              <a:rPr lang="zh-CN" sz="2000" b="0" u="none" strike="noStrike" dirty="0" smtClean="0">
                <a:solidFill>
                  <a:srgbClr val="000000"/>
                </a:solidFill>
                <a:effectLst/>
                <a:uFillTx/>
                <a:latin typeface="Arial"/>
              </a:rPr>
              <a:t>같</a:t>
            </a:r>
            <a:r>
              <a:rPr lang="zh-CN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은 서울시 자치구 데이터지만 이송 건수는 월 단위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인구 밀집은 일 단위입니다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endParaRPr lang="en-US" sz="2000" b="0" u="none" strike="noStrike" dirty="0" smtClean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b="0" u="none" strike="noStrike" dirty="0" smtClean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b="0" u="none" strike="noStrike" dirty="0" smtClean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 b="0" u="none" strike="noStrike" dirty="0" smtClean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sz="2000" b="0" u="none" strike="noStrike" dirty="0" smtClean="0">
                <a:solidFill>
                  <a:srgbClr val="000000"/>
                </a:solidFill>
                <a:effectLst/>
                <a:uFillTx/>
                <a:latin typeface="Arial"/>
              </a:rPr>
              <a:t>그</a:t>
            </a:r>
            <a:r>
              <a:rPr lang="zh-CN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래서 분할 기간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기준선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사용 특성이 모두 다릅니다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이송 건수는 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lang="zh-CN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개월을 이어서 예측하는 재귀 방식으로 성능을 측정했습니다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b="0" u="none" strike="noStrike" dirty="0" smtClean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ko-KR" sz="2000" b="0" u="none" strike="noStrike" dirty="0" smtClean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이송 건수는 자치구 </a:t>
            </a:r>
            <a:r>
              <a:rPr lang="en-US" altLang="ko-KR" sz="2000" b="0" u="none" strike="noStrike" dirty="0" smtClean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× </a:t>
            </a:r>
            <a:r>
              <a:rPr lang="zh-CN" altLang="ko-KR" sz="2000" b="0" u="none" strike="noStrike" dirty="0" smtClean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월</a:t>
            </a:r>
            <a:r>
              <a:rPr lang="en-US" altLang="ko-KR" sz="2000" b="0" u="none" strike="noStrike" dirty="0" smtClean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zh-CN" altLang="ko-KR" sz="2000" b="0" u="none" strike="noStrike" dirty="0" smtClean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인구 밀집은 자치구 </a:t>
            </a:r>
            <a:r>
              <a:rPr lang="en-US" altLang="ko-KR" sz="2000" b="0" u="none" strike="noStrike" dirty="0" smtClean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× </a:t>
            </a:r>
            <a:r>
              <a:rPr lang="zh-CN" altLang="ko-KR" sz="2000" b="0" u="none" strike="noStrike" dirty="0" smtClean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일 단위로 각각 별도의 모델을 만들었다</a:t>
            </a:r>
            <a:endParaRPr lang="en-US" altLang="ko-KR" sz="2000" b="0" u="none" strike="noStrike" dirty="0" smtClean="0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F2E017-841B-45DF-9758-9FBE21CAF3D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89908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13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단계 흐름입니다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색에 주목해 주세요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변수 탐색은 학습 기간만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특성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설정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모델 선택은 검증 데이터만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평가 데이터는 선택이 끝난 뒤 성능 확인에만 썼습니다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인구 밀집 모델은 전처리에서 고른 특성을 그대로 써서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5·6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단계 실험은 이송 건수 모델에만 해당합니다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44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9D9B15-BB90-4F96-8580-A68CF5305B9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251503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시계열이라 무작위로 나누면 미래 데이터가 학습에 섞입니다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그래서 날짜로 잘랐습니다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이송 건수는 마지막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개월이 평가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 앞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개월이 검증이고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인구 밀집은 마지막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년이 평가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 앞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180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일이 검증입니다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평가 점수는 학습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+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검증 데이터로 다시 학습한 모델로 계산했습니다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44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834BC3-6C1B-420B-A7AC-A71D6639F20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016954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전체 데이터로 상관을 구하면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0.69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높게 나옵니다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그런데 자치구별 평균끼리 보면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0.80,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같은 구 안에서 평균을 뺀 값끼리 보면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0.23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즉 높은 상관의 대부분은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큰 구가 이송도 많다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규모 효과이고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"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인구가 평소보다 늘어난 달에 이송도 늘었는가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관계는 약합니다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스피어만은 순위 기반이라 이상치에 덜 민감한 확인용입니다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night_pop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 자치구 간 상관이 가장 높아 대표 컬럼으로 선택됐습니다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44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08980A-CBE8-4BCA-AC62-13A4E3B300F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0393035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구별로 이송 건수와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night_pop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추세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계절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잔차로 분해해 같은 성분끼리 상관을 구했습니다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추세와 잔차는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0.17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약하고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계절 성분은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-0.40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으로 오히려 반대 방향입니다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시차는 같은 달이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0.306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으로 가장 높고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1·2·3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개월 전으로 갈수록 낮아집니다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또 인구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만명당 이송률이 구마다 최대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1.91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배 차이가 나서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인구만으로는 구별 이송 수준을 설명하기 어렵다는 점을 확인했습니다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45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9412E1-9298-4F4D-9D55-6E1E8D5762C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8852224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예측 시점에 이번 달 인구는 알 수 없으므로 전월 값만 후보로 삼았습니다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상관계수는 검증 시작 전 학습 기간 데이터만으로 계산해 검증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평가 기간의 정보가 선택에 섞이지 않게 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절대값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0.30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이상인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개를 골랐고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개는 바로 모델에 넣는 것이 아니라 다음 단계 특성 조합 실험의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인구 특성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으로 사용됩니다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45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05E8A2-9CB1-4AAC-839D-CEFA20D8EF9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2036922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상관이 있다고 예측 성능이 오르는 것은 아닙니다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그래서 실제로 넣어 보고 비교했습니다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A→B→C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이송 기록이 없을 때 인구 정보의 효과를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D→E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이송 기록이 이미 있을 때 인구 정보의 추가 효과를 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모든 조합에 자치구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월 원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핫이 들어갑니다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점선 기준선은 지난달 값을 그대로 쓴 결과입니다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45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4B723C-A552-44EF-B4AA-70809AB9CDC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9404356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이송 기록이 없을 때는 인구 정보가 도움이 됐습니다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A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최고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84.39%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최고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88.03%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올랐습니다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하지만 이송 이력이 들어간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 인구 특성을 더한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오히려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0.177%p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낮았습니다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노트북의 결정 로직에 따라 추가 인구 특성은 넣지 않고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전처리에서 이미 선택된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 특성을 유지했습니다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개에는 전월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night_pop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등 인구 변수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개가 원래 포함돼 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46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4CA1B1-BF93-49A5-80AC-6A5FD6EA73D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5479377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월 원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핫은 몇 월인지만 알려 줍니다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같은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월이라도 설 연휴가 들어가는 해와 아닌 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윤년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월처럼 달력 구성이 다릅니다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이를 반영하려고 일수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주말수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평일공휴일수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명절연휴일수를 만들었습니다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증감량 예측은 정답을 이번 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지난달 차이로 바꾸는 방식입니다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실험은 학습→검증만 사용했고 평가 기간은 건드리지 않았습니다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DNN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 시간이 오래 걸려 제외했습니다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46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4C8D8F-5EDE-44A4-BCDA-FA0FD76F8D1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2613090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선형 모델부터 트리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부스팅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신경망까지 성격이 다른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 모델을 비교했습니다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이송 건수에는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GradientBoosting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Ridge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예측을 평균하는 앙상블을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후보로 추가했습니다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모든 모델은 학습 데이터에만 맞춘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StandardScaler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입력을 표준화했습니다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DNN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 과적합을 막기 위해 배치정규화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드롭아웃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L2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규제를 넣었고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EarlyStopping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으로 검증 손실이 더 이상 줄지 않으면 멈추고 가장 좋았던 가중치로 되돌렸습니다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46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FAE5FF-7616-459F-ABF8-0925F49ECA2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7781796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모델을 고르는 기준은 검증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개월 연속 예측 정확도입니다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앙상블이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94.61%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위였고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이후 평가 데이터에서도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94.59%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기준선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93.25%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보다 높아 일반화 성능을 확인했습니다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참고로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LinearRegression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 검증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위였지만 평가에서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87.87%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떨어졌습니다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앙상블은 두 모델 예측의 단순 평균이며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검증 기간 두 모델의 오차 상관이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0.500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으로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보다 낮아 서로 다른 달에 틀리는 경향이 있었고 그 결과 두 모델 모두보다 검증 정확도가 높았습니다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46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0587D7-7A30-44B6-B8AD-5E6EF8DA9C0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98877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인구 밀집은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 모델을 비교했고 검증 정확도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98.59%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RandomForest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위였습니다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평가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년에서도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98.16%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순위가 유지됐습니다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기준선인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일 전 같은 요일 값도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97.86%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높기 때문에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의미 있는 비교는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MAE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RandomForest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평가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MAE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8,836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명으로 기준선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12,015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명보다 작습니다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오차가 큰 날은 추석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설 연휴 부근이었습니다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47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74E6AF-FF31-496E-8ADC-552A27965CD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8951523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이송 건수는 앙상블 중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GradientBoosting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중요도입니다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전월 이송 건수가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0.893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으로 압도적이고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생활인구 변수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개의 중요도를 모두 더해도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0.015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정도입니다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달력 특성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 합은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0.034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인구 밀집은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RandomForest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기준이며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일 전 일최대인구수가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0.960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으로 대부분을 차지합니다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즉 두 문제 모두 직전 시점의 같은 값이 가장 강한 단서이고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다른 변수는 그 위에서 미세하게 보정하는 역할입니다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475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E1D58C-2690-4BDF-B628-F3DF251A19E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1406934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최종 모델은 검증으로 고르고 평가로 확인한 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전체 데이터로 다시 학습해 저장했습니다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이송 건수는 앙상블을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2,180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행 전체로 재학습해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pickle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저장하고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다시 불러와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2026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1~6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월 구별 이송 건수를 예측했습니다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그래프는 노트북 예측표의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25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 구 값을 월별로 더한 것입니다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인구 밀집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RandomForest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전체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75,825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행으로 재학습해 저장하고 불러오기 동작까지 확인했으며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노트북에는 인구 밀집의 미래 예측 실행 결과는 포함돼 있지 않습니다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478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468E66-1B25-4376-B6FD-ACC1B7E4EE5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7304795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566602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594471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765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3921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3475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761970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7619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761970" rtl="0" eaLnBrk="1" latinLnBrk="0" hangingPunct="1">
        <a:spcBef>
          <a:spcPct val="20000"/>
        </a:spcBef>
        <a:buFont typeface="Arial" pitchFamily="34" charset="0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761970" rtl="0" eaLnBrk="1" latinLnBrk="0" hangingPunct="1">
        <a:spcBef>
          <a:spcPct val="20000"/>
        </a:spcBef>
        <a:buFont typeface="Arial" pitchFamily="34" charset="0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761970" rtl="0" eaLnBrk="1" latinLnBrk="0" hangingPunct="1">
        <a:spcBef>
          <a:spcPct val="20000"/>
        </a:spcBef>
        <a:buFont typeface="Arial" pitchFamily="34" charset="0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2.xml"/><Relationship Id="rId5" Type="http://schemas.openxmlformats.org/officeDocument/2006/relationships/chart" Target="../charts/chart11.xml"/><Relationship Id="rId4" Type="http://schemas.openxmlformats.org/officeDocument/2006/relationships/chart" Target="../charts/char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6.xml"/><Relationship Id="rId5" Type="http://schemas.openxmlformats.org/officeDocument/2006/relationships/chart" Target="../charts/chart15.xml"/><Relationship Id="rId4" Type="http://schemas.openxmlformats.org/officeDocument/2006/relationships/chart" Target="../charts/chart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2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3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4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6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352" y="459125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목차 </a:t>
            </a:r>
            <a:endParaRPr lang="en-US" altLang="ko-KR" sz="3000" b="1" kern="0" spc="-100" dirty="0" smtClean="0">
              <a:solidFill>
                <a:srgbClr val="222222"/>
              </a:solidFill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  <a:p>
            <a:pPr lvl="0" latinLnBrk="0">
              <a:defRPr/>
            </a:pP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  <a:p>
            <a:pPr lvl="0" latinLnBrk="0">
              <a:defRPr/>
            </a:pP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64657" y="2040556"/>
            <a:ext cx="604466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00 </a:t>
            </a:r>
            <a:r>
              <a:rPr lang="ko-KR" altLang="en-US" dirty="0" smtClean="0"/>
              <a:t>프로젝트 소개</a:t>
            </a:r>
            <a:endParaRPr lang="en-US" altLang="ko-KR" dirty="0"/>
          </a:p>
          <a:p>
            <a:r>
              <a:rPr lang="en-US" altLang="ko-KR" dirty="0" smtClean="0"/>
              <a:t>01 </a:t>
            </a:r>
            <a:r>
              <a:rPr lang="ko-KR" altLang="en-US" dirty="0" smtClean="0"/>
              <a:t>데이터 전처리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en-US" altLang="ko-KR" dirty="0" smtClean="0"/>
              <a:t>05 </a:t>
            </a:r>
            <a:r>
              <a:rPr lang="ko-KR" altLang="en-US" dirty="0" smtClean="0"/>
              <a:t>프로젝트 결론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endParaRPr lang="en-US" altLang="ko-KR" dirty="0" smtClean="0"/>
          </a:p>
          <a:p>
            <a:pPr marL="285750" indent="-285750">
              <a:buFontTx/>
              <a:buChar char="-"/>
            </a:pPr>
            <a:endParaRPr lang="en-US" altLang="ko-KR" dirty="0" smtClean="0"/>
          </a:p>
          <a:p>
            <a:pPr marL="285750" indent="-2857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0468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noProof="0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소개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개발 목표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879566" y="2121836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ko-KR" altLang="en-US" dirty="0"/>
          </a:p>
          <a:p>
            <a:r>
              <a:rPr lang="ko-KR" altLang="en-US" dirty="0"/>
              <a:t>① 구급 수요 </a:t>
            </a:r>
            <a:r>
              <a:rPr lang="ko-KR" altLang="en-US" dirty="0" err="1"/>
              <a:t>분석·예측</a:t>
            </a:r>
            <a:endParaRPr lang="ko-KR" altLang="en-US" dirty="0"/>
          </a:p>
          <a:p>
            <a:r>
              <a:rPr lang="ko-KR" altLang="en-US" dirty="0"/>
              <a:t>서울시 자치구별 구급 수요와 </a:t>
            </a:r>
            <a:r>
              <a:rPr lang="ko-KR" altLang="en-US" dirty="0" err="1"/>
              <a:t>생활인구</a:t>
            </a:r>
            <a:r>
              <a:rPr lang="ko-KR" altLang="en-US" dirty="0"/>
              <a:t> 패턴 분석 및 미래 수요 </a:t>
            </a:r>
            <a:r>
              <a:rPr lang="ko-KR" altLang="en-US" dirty="0" smtClean="0"/>
              <a:t>예측</a:t>
            </a:r>
            <a:endParaRPr lang="en-US" altLang="ko-KR" dirty="0" smtClean="0"/>
          </a:p>
          <a:p>
            <a:endParaRPr lang="ko-KR" altLang="en-US" dirty="0"/>
          </a:p>
          <a:p>
            <a:r>
              <a:rPr lang="ko-KR" altLang="en-US" dirty="0"/>
              <a:t>② 구급차 배치 활용</a:t>
            </a:r>
          </a:p>
          <a:p>
            <a:r>
              <a:rPr lang="ko-KR" altLang="en-US" dirty="0" err="1"/>
              <a:t>지역·시기별</a:t>
            </a:r>
            <a:r>
              <a:rPr lang="ko-KR" altLang="en-US" dirty="0"/>
              <a:t> 수요 예측을 통해 구급차 배치에 활용할 수 있는 정보 </a:t>
            </a:r>
            <a:r>
              <a:rPr lang="ko-KR" altLang="en-US" dirty="0" smtClean="0"/>
              <a:t>제공</a:t>
            </a:r>
            <a:endParaRPr lang="en-US" altLang="ko-KR" dirty="0" smtClean="0"/>
          </a:p>
          <a:p>
            <a:endParaRPr lang="ko-KR" altLang="en-US" dirty="0"/>
          </a:p>
          <a:p>
            <a:r>
              <a:rPr lang="ko-KR" altLang="en-US" dirty="0"/>
              <a:t>③ 응급의료 정보 통합</a:t>
            </a:r>
          </a:p>
          <a:p>
            <a:r>
              <a:rPr lang="ko-KR" altLang="en-US" dirty="0" err="1"/>
              <a:t>응급의료시설·실시간</a:t>
            </a:r>
            <a:r>
              <a:rPr lang="ko-KR" altLang="en-US" dirty="0"/>
              <a:t> </a:t>
            </a:r>
            <a:r>
              <a:rPr lang="ko-KR" altLang="en-US" dirty="0" err="1"/>
              <a:t>가용병상</a:t>
            </a:r>
            <a:r>
              <a:rPr lang="ko-KR" altLang="en-US" dirty="0"/>
              <a:t> 정보를 연계한 웹 서비스 구축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7669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소개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개발 환경 </a:t>
            </a:r>
            <a:r>
              <a:rPr lang="en-US" altLang="ko-KR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&amp; </a:t>
            </a: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사용 모델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57200" y="2203025"/>
            <a:ext cx="5172891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 smtClean="0"/>
              <a:t>개발 환경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endParaRPr lang="en-US" altLang="ko-KR" dirty="0" smtClean="0"/>
          </a:p>
          <a:p>
            <a:r>
              <a:rPr lang="en-US" altLang="ko-KR" dirty="0" smtClean="0"/>
              <a:t>- </a:t>
            </a:r>
            <a:r>
              <a:rPr lang="ko-KR" altLang="en-US" dirty="0"/>
              <a:t>운영체제 </a:t>
            </a:r>
            <a:r>
              <a:rPr lang="en-US" altLang="ko-KR" dirty="0"/>
              <a:t>: Windows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개발 언어 </a:t>
            </a:r>
            <a:r>
              <a:rPr lang="en-US" altLang="ko-KR" dirty="0"/>
              <a:t>: Python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개발 도구 </a:t>
            </a:r>
            <a:r>
              <a:rPr lang="en-US" altLang="ko-KR" dirty="0"/>
              <a:t>: Visual Studio Code (VS Code)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데이터 처리 </a:t>
            </a:r>
            <a:r>
              <a:rPr lang="en-US" altLang="ko-KR" dirty="0"/>
              <a:t>: Pandas, </a:t>
            </a:r>
            <a:r>
              <a:rPr lang="en-US" altLang="ko-KR" dirty="0" err="1"/>
              <a:t>NumPy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데이터 시각화 </a:t>
            </a:r>
            <a:r>
              <a:rPr lang="en-US" altLang="ko-KR" dirty="0"/>
              <a:t>: </a:t>
            </a:r>
            <a:r>
              <a:rPr lang="en-US" altLang="ko-KR" dirty="0" err="1"/>
              <a:t>Matplotlib</a:t>
            </a:r>
            <a:r>
              <a:rPr lang="en-US" altLang="ko-KR" dirty="0"/>
              <a:t>, </a:t>
            </a:r>
            <a:r>
              <a:rPr lang="en-US" altLang="ko-KR" dirty="0" err="1"/>
              <a:t>Seaborn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 err="1"/>
              <a:t>머신러닝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en-US" altLang="ko-KR" dirty="0" err="1"/>
              <a:t>Scikit</a:t>
            </a:r>
            <a:r>
              <a:rPr lang="en-US" altLang="ko-KR" dirty="0"/>
              <a:t>-learn</a:t>
            </a:r>
          </a:p>
          <a:p>
            <a:r>
              <a:rPr lang="en-US" altLang="ko-KR" dirty="0"/>
              <a:t>- </a:t>
            </a:r>
            <a:r>
              <a:rPr lang="ko-KR" altLang="en-US" dirty="0" err="1"/>
              <a:t>딥러닝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en-US" altLang="ko-KR" dirty="0" err="1"/>
              <a:t>TensorFlow</a:t>
            </a:r>
            <a:r>
              <a:rPr lang="en-US" altLang="ko-KR" dirty="0"/>
              <a:t> / </a:t>
            </a:r>
            <a:r>
              <a:rPr lang="en-US" altLang="ko-KR" dirty="0" err="1"/>
              <a:t>Keras</a:t>
            </a:r>
            <a:endParaRPr lang="en-US" altLang="ko-KR" dirty="0"/>
          </a:p>
        </p:txBody>
      </p:sp>
      <p:sp>
        <p:nvSpPr>
          <p:cNvPr id="3" name="직사각형 2"/>
          <p:cNvSpPr/>
          <p:nvPr/>
        </p:nvSpPr>
        <p:spPr>
          <a:xfrm>
            <a:off x="6535783" y="2203025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 smtClean="0"/>
              <a:t>사용 모델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endParaRPr lang="ko-KR" altLang="en-US" dirty="0"/>
          </a:p>
          <a:p>
            <a:r>
              <a:rPr lang="ko-KR" altLang="en-US" dirty="0"/>
              <a:t>  · </a:t>
            </a:r>
            <a:r>
              <a:rPr lang="ko-KR" altLang="en-US" dirty="0" err="1"/>
              <a:t>Linear</a:t>
            </a:r>
            <a:r>
              <a:rPr lang="ko-KR" altLang="en-US" dirty="0"/>
              <a:t> </a:t>
            </a:r>
            <a:r>
              <a:rPr lang="ko-KR" altLang="en-US" dirty="0" err="1"/>
              <a:t>Regression</a:t>
            </a:r>
            <a:endParaRPr lang="ko-KR" altLang="en-US" dirty="0"/>
          </a:p>
          <a:p>
            <a:r>
              <a:rPr lang="ko-KR" altLang="en-US" dirty="0"/>
              <a:t>  · </a:t>
            </a:r>
            <a:r>
              <a:rPr lang="ko-KR" altLang="en-US" dirty="0" err="1"/>
              <a:t>Ridge</a:t>
            </a:r>
            <a:r>
              <a:rPr lang="ko-KR" altLang="en-US" dirty="0"/>
              <a:t> </a:t>
            </a:r>
            <a:r>
              <a:rPr lang="ko-KR" altLang="en-US" dirty="0" err="1"/>
              <a:t>Regression</a:t>
            </a:r>
            <a:endParaRPr lang="ko-KR" altLang="en-US" dirty="0"/>
          </a:p>
          <a:p>
            <a:r>
              <a:rPr lang="ko-KR" altLang="en-US" dirty="0"/>
              <a:t>  · </a:t>
            </a:r>
            <a:r>
              <a:rPr lang="ko-KR" altLang="en-US" dirty="0" err="1"/>
              <a:t>Decision</a:t>
            </a:r>
            <a:r>
              <a:rPr lang="ko-KR" altLang="en-US" dirty="0"/>
              <a:t> Tree</a:t>
            </a:r>
          </a:p>
          <a:p>
            <a:r>
              <a:rPr lang="ko-KR" altLang="en-US" dirty="0"/>
              <a:t>  · </a:t>
            </a:r>
            <a:r>
              <a:rPr lang="ko-KR" altLang="en-US" dirty="0" err="1"/>
              <a:t>Random</a:t>
            </a:r>
            <a:r>
              <a:rPr lang="ko-KR" altLang="en-US" dirty="0"/>
              <a:t> </a:t>
            </a:r>
            <a:r>
              <a:rPr lang="ko-KR" altLang="en-US" dirty="0" err="1"/>
              <a:t>Forest</a:t>
            </a:r>
            <a:endParaRPr lang="ko-KR" altLang="en-US" dirty="0"/>
          </a:p>
          <a:p>
            <a:r>
              <a:rPr lang="ko-KR" altLang="en-US" dirty="0"/>
              <a:t>  · </a:t>
            </a:r>
            <a:r>
              <a:rPr lang="ko-KR" altLang="en-US" dirty="0" err="1"/>
              <a:t>Gradient</a:t>
            </a:r>
            <a:r>
              <a:rPr lang="ko-KR" altLang="en-US" dirty="0"/>
              <a:t> </a:t>
            </a:r>
            <a:r>
              <a:rPr lang="ko-KR" altLang="en-US" dirty="0" err="1"/>
              <a:t>Boosting</a:t>
            </a:r>
            <a:endParaRPr lang="ko-KR" altLang="en-US" dirty="0"/>
          </a:p>
          <a:p>
            <a:r>
              <a:rPr lang="ko-KR" altLang="en-US" dirty="0"/>
              <a:t>  · DNN</a:t>
            </a:r>
          </a:p>
        </p:txBody>
      </p:sp>
    </p:spTree>
    <p:extLst>
      <p:ext uri="{BB962C8B-B14F-4D97-AF65-F5344CB8AC3E}">
        <p14:creationId xmlns:p14="http://schemas.microsoft.com/office/powerpoint/2010/main" val="1232221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소개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kumimoji="0" lang="ko-KR" altLang="en-US" sz="3000" b="1" i="0" u="none" strike="noStrike" kern="0" cap="none" spc="-100" normalizeH="0" baseline="0" noProof="0" dirty="0" smtClean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프로젝트 타임라인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72184"/>
            <a:ext cx="11116491" cy="492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542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소개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ko-KR" alt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업무 분담 </a:t>
            </a:r>
            <a:r>
              <a:rPr lang="en-US" altLang="ko-KR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&amp; </a:t>
            </a:r>
            <a:r>
              <a:rPr lang="ko-KR" altLang="en-US" sz="3000" b="1" kern="0" spc="-100" dirty="0" err="1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간트</a:t>
            </a:r>
            <a:r>
              <a:rPr lang="ko-KR" alt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 차트 </a:t>
            </a:r>
            <a:endParaRPr lang="en-US" altLang="ko-KR" sz="3000" b="1" kern="0" spc="-100" dirty="0">
              <a:solidFill>
                <a:srgbClr val="222222"/>
              </a:solidFill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26464"/>
            <a:ext cx="7390119" cy="512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074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소개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ko-KR" alt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업무 분담 </a:t>
            </a:r>
            <a:r>
              <a:rPr lang="en-US" altLang="ko-KR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&amp; </a:t>
            </a:r>
            <a:r>
              <a:rPr lang="ko-KR" altLang="en-US" sz="3000" b="1" kern="0" spc="-100" dirty="0" err="1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간트</a:t>
            </a:r>
            <a:r>
              <a:rPr lang="ko-KR" alt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 차트 </a:t>
            </a:r>
            <a:endParaRPr lang="en-US" altLang="ko-KR" sz="3000" b="1" kern="0" spc="-100" dirty="0">
              <a:solidFill>
                <a:srgbClr val="222222"/>
              </a:solidFill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139" y="1389888"/>
            <a:ext cx="9233167" cy="523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191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소개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ko-KR" alt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업무 분담 </a:t>
            </a:r>
            <a:r>
              <a:rPr lang="en-US" altLang="ko-KR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&amp; </a:t>
            </a:r>
            <a:r>
              <a:rPr lang="ko-KR" altLang="en-US" sz="3000" b="1" kern="0" spc="-100" dirty="0" err="1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간트</a:t>
            </a:r>
            <a:r>
              <a:rPr lang="ko-KR" alt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 차트 </a:t>
            </a:r>
            <a:endParaRPr lang="en-US" altLang="ko-KR" sz="3000" b="1" kern="0" spc="-100" dirty="0">
              <a:solidFill>
                <a:srgbClr val="222222"/>
              </a:solidFill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180" y="1655064"/>
            <a:ext cx="10128308" cy="4878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296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02 데이터 수집 및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50000"/>
            <a:ext cx="11277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데이터 수집 및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00000"/>
            <a:ext cx="112776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어떤 자료를 모았고, 그 안에서 이송 수요에 대해 무엇을 발견했는가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000" y="3700000"/>
            <a:ext cx="1640000" cy="12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6000" y="3850000"/>
            <a:ext cx="1340000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01</a:t>
            </a:r>
          </a:p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데이터 수집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16000" y="4150000"/>
            <a:ext cx="2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6000" y="3700000"/>
            <a:ext cx="1640000" cy="12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66000" y="3850000"/>
            <a:ext cx="1340000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02</a:t>
            </a:r>
          </a:p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데이터 전처리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56000" y="4150000"/>
            <a:ext cx="2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6000" y="3700000"/>
            <a:ext cx="1640000" cy="12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6000" y="3850000"/>
            <a:ext cx="1340000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03</a:t>
            </a:r>
          </a:p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데이터 분석 인사이트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96000" y="4150000"/>
            <a:ext cx="2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6000" y="3700000"/>
            <a:ext cx="1640000" cy="12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46000" y="3850000"/>
            <a:ext cx="1340000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04</a:t>
            </a:r>
          </a:p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가중치 산출
상관분석 · 그룹화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36000" y="4150000"/>
            <a:ext cx="2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6000" y="3700000"/>
            <a:ext cx="1640000" cy="12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86000" y="3850000"/>
            <a:ext cx="1340000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05</a:t>
            </a:r>
          </a:p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시계열 특성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76000" y="4150000"/>
            <a:ext cx="2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76000" y="3700000"/>
            <a:ext cx="1640000" cy="12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26000" y="3850000"/>
            <a:ext cx="1340000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06</a:t>
            </a:r>
          </a:p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키워드 · 트렌드 분석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350000"/>
            <a:ext cx="112776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분석 대상: 서울 25개 자치구 · 소방청 월별 이송 2017.01~2025.12 · 생활인구 일별 2018.04~2026.07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가중치 목적: 생활인구와 이송 건수의 연관성을 수치화해 자치구 수요 차이를 설명</a:t>
            </a:r>
          </a:p>
        </p:txBody>
      </p:sp>
    </p:spTree>
    <p:extLst>
      <p:ext uri="{BB962C8B-B14F-4D97-AF65-F5344CB8AC3E}">
        <p14:creationId xmlns:p14="http://schemas.microsoft.com/office/powerpoint/2010/main" val="3027784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02 데이터 수집 및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77295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1. 데이터 수집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1180" y="1401438"/>
            <a:ext cx="1127729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1-1 </a:t>
            </a:r>
            <a:r>
              <a:rPr lang="ko-KR" altLang="en-US"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주요 데이터 </a:t>
            </a:r>
            <a:r>
              <a:rPr lang="en-US" altLang="ko-KR"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4</a:t>
            </a:r>
            <a:r>
              <a:rPr lang="ko-KR" altLang="en-US"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종을</a:t>
            </a:r>
            <a:r>
              <a:rPr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학습</a:t>
            </a:r>
            <a:r>
              <a:rPr sz="14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데이터로</a:t>
            </a:r>
            <a:r>
              <a:rPr sz="14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통합</a:t>
            </a:r>
            <a:endParaRPr sz="1400" b="0" dirty="0">
              <a:solidFill>
                <a:srgbClr val="45515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1880000"/>
            <a:ext cx="2640000" cy="1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7200" y="2030000"/>
            <a:ext cx="2240000" cy="954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dirty="0" smtClean="0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14종</a:t>
            </a:r>
            <a:endParaRPr sz="2800" b="1" dirty="0">
              <a:solidFill>
                <a:srgbClr val="C8102E"/>
              </a:solidFill>
              <a:latin typeface="Pretendard"/>
              <a:ea typeface="Pretendard"/>
              <a:cs typeface="Pretendard"/>
            </a:endParaRPr>
          </a:p>
          <a:p>
            <a:pPr algn="l">
              <a:spcAft>
                <a:spcPts val="600"/>
              </a:spcAft>
            </a:pPr>
            <a:r>
              <a:rPr sz="1300" b="1" dirty="0" err="1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수집한</a:t>
            </a:r>
            <a:r>
              <a:rPr sz="1300" b="1" dirty="0" smtClean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원본</a:t>
            </a:r>
            <a:r>
              <a:rPr sz="13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데이터</a:t>
            </a:r>
            <a:endParaRPr sz="1300" b="1" dirty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>
            <a:pPr>
              <a:spcAft>
                <a:spcPts val="600"/>
              </a:spcAft>
            </a:pPr>
            <a:r>
              <a:rPr lang="ko-KR" altLang="en-US" sz="110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구급</a:t>
            </a:r>
            <a:r>
              <a:rPr lang="en-US" altLang="ko-KR" sz="110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10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병상</a:t>
            </a:r>
            <a:r>
              <a:rPr lang="en-US" altLang="zh-CN" sz="1100" dirty="0" smtClean="0">
                <a:solidFill>
                  <a:srgbClr val="C8102E"/>
                </a:solidFill>
                <a:latin typeface="Pretendard"/>
                <a:ea typeface="Pretendard"/>
              </a:rPr>
              <a:t> </a:t>
            </a:r>
            <a:r>
              <a:rPr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API · CSV 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· XLSX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6400" y="1880000"/>
            <a:ext cx="2640000" cy="1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36400" y="2030000"/>
            <a:ext cx="2240000" cy="954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4종</a:t>
            </a:r>
          </a:p>
          <a:p>
            <a:pPr algn="l">
              <a:spcAft>
                <a:spcPts val="600"/>
              </a:spcAft>
            </a:pPr>
            <a:r>
              <a:rPr sz="13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학습</a:t>
            </a:r>
            <a:r>
              <a:rPr sz="13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데이터로</a:t>
            </a:r>
            <a:r>
              <a:rPr sz="13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통합</a:t>
            </a:r>
            <a:endParaRPr sz="1300" b="1" dirty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>
            <a:pPr>
              <a:spcAft>
                <a:spcPts val="600"/>
              </a:spcAft>
            </a:pP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이송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생활인구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사고원인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1100" b="0" dirty="0" err="1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의료이용</a:t>
            </a:r>
            <a:endParaRPr sz="1100" b="0" dirty="0">
              <a:solidFill>
                <a:srgbClr val="45515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15600" y="1880000"/>
            <a:ext cx="2640000" cy="1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5600" y="2030000"/>
            <a:ext cx="2240000" cy="11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108개월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이송 건수 기록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2017.01 ~ 2025.12, 월 단위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4800" y="1880000"/>
            <a:ext cx="2640000" cy="1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94800" y="2030000"/>
            <a:ext cx="2240000" cy="11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25개 구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분석 단위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서울 전체 자치구, 구 × 월 / 구 × 일</a:t>
            </a:r>
          </a:p>
        </p:txBody>
      </p:sp>
      <p:graphicFrame>
        <p:nvGraphicFramePr>
          <p:cNvPr id="15" name="Table 13"/>
          <p:cNvGraphicFramePr/>
          <p:nvPr>
            <p:extLst/>
          </p:nvPr>
        </p:nvGraphicFramePr>
        <p:xfrm>
          <a:off x="750875" y="3593118"/>
          <a:ext cx="11077600" cy="2849400"/>
        </p:xfrm>
        <a:graphic>
          <a:graphicData uri="http://schemas.openxmlformats.org/drawingml/2006/table">
            <a:tbl>
              <a:tblPr/>
              <a:tblGrid>
                <a:gridCol w="1919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9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0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97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988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1" u="none" strike="noStrike" dirty="0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데이터</a:t>
                      </a:r>
                      <a:endParaRPr lang="en-US" sz="11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1" u="none" strike="noStrike" dirty="0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출처 </a:t>
                      </a:r>
                      <a:r>
                        <a:rPr lang="en-US" sz="1150" b="1" u="none" strike="noStrike" dirty="0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150" b="1" u="none" strike="noStrike" dirty="0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수집 방법</a:t>
                      </a:r>
                      <a:endParaRPr lang="en-US" sz="11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1" u="none" strike="noStrike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기간 </a:t>
                      </a:r>
                      <a:r>
                        <a:rPr lang="en-US" sz="1150" b="1" u="none" strike="noStrike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150" b="1" u="none" strike="noStrike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단위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1" u="none" strike="noStrike" dirty="0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분석에서의 역할</a:t>
                      </a:r>
                      <a:endParaRPr lang="en-US" sz="11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88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119 </a:t>
                      </a:r>
                      <a:r>
                        <a:rPr lang="zh-CN" sz="12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구급활동 통계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2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소방청 구급통계서비스 </a:t>
                      </a:r>
                      <a:r>
                        <a:rPr lang="en-US" sz="1200" b="0" u="none" strike="noStrike" dirty="0" err="1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OpenAPI</a:t>
                      </a:r>
                      <a:endParaRPr lang="en-US" sz="12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2017.01~2025.12 · </a:t>
                      </a:r>
                      <a:r>
                        <a:rPr lang="zh-CN" sz="12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구 </a:t>
                      </a:r>
                      <a:r>
                        <a:rPr lang="en-US" sz="12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× </a:t>
                      </a:r>
                      <a:r>
                        <a:rPr lang="zh-CN" sz="12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월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2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이송 건수</a:t>
                      </a:r>
                      <a:r>
                        <a:rPr lang="en-US" sz="12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(</a:t>
                      </a:r>
                      <a:r>
                        <a:rPr lang="zh-CN" sz="12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예측 대상</a:t>
                      </a:r>
                      <a:r>
                        <a:rPr lang="en-US" sz="12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) · </a:t>
                      </a:r>
                      <a:r>
                        <a:rPr lang="zh-CN" sz="12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계절성 </a:t>
                      </a:r>
                      <a:r>
                        <a:rPr lang="en-US" sz="12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2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추세</a:t>
                      </a:r>
                      <a:endParaRPr lang="en-US" sz="12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88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2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서울 생활인구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2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자치구단위 서울생활인구 일별 집계표 </a:t>
                      </a:r>
                      <a:r>
                        <a:rPr lang="en-US" sz="12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CSV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2018.04~2026.07 · </a:t>
                      </a:r>
                      <a:r>
                        <a:rPr lang="zh-CN" sz="12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구 </a:t>
                      </a:r>
                      <a:r>
                        <a:rPr lang="en-US" sz="12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× </a:t>
                      </a:r>
                      <a:r>
                        <a:rPr lang="zh-CN" sz="12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일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2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인구 밀집 예측 대상 </a:t>
                      </a:r>
                      <a:r>
                        <a:rPr lang="en-US" sz="12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2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이송 가중치 산출</a:t>
                      </a:r>
                      <a:endParaRPr lang="en-US" sz="12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88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119 </a:t>
                      </a:r>
                      <a:r>
                        <a:rPr lang="zh-CN" sz="12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구조활동 실적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2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서울 구별 구조활동 실적 </a:t>
                      </a:r>
                      <a:r>
                        <a:rPr lang="en-US" sz="12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CSV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2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2006~2025 · </a:t>
                      </a:r>
                      <a:r>
                        <a:rPr lang="zh-CN" sz="12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구 </a:t>
                      </a:r>
                      <a:r>
                        <a:rPr lang="en-US" sz="12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× </a:t>
                      </a:r>
                      <a:r>
                        <a:rPr lang="zh-CN" sz="12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연</a:t>
                      </a:r>
                      <a:endParaRPr lang="en-US" sz="12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2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사고 원인 키워드 </a:t>
                      </a:r>
                      <a:r>
                        <a:rPr lang="en-US" sz="12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2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트렌드</a:t>
                      </a:r>
                      <a:endParaRPr lang="en-US" sz="12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88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2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의료이용 유출입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2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의료이용 유출입 데이터 </a:t>
                      </a:r>
                      <a:r>
                        <a:rPr lang="en-US" sz="12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XLSX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2019~2024 · </a:t>
                      </a:r>
                      <a:r>
                        <a:rPr lang="zh-CN" sz="12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구 </a:t>
                      </a:r>
                      <a:r>
                        <a:rPr lang="en-US" sz="12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× </a:t>
                      </a:r>
                      <a:r>
                        <a:rPr lang="zh-CN" sz="12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연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2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지역 의료 수요 </a:t>
                      </a:r>
                      <a:r>
                        <a:rPr lang="en-US" sz="12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2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공급 참</a:t>
                      </a:r>
                      <a:r>
                        <a:rPr lang="zh-CN" sz="1200" b="0" u="none" strike="noStrike" dirty="0" smtClean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고</a:t>
                      </a:r>
                      <a:endParaRPr lang="en-US" altLang="zh-CN" sz="1200" b="0" u="none" strike="noStrike" dirty="0" smtClean="0">
                        <a:solidFill>
                          <a:srgbClr val="222222"/>
                        </a:solidFill>
                        <a:effectLst/>
                        <a:uFillTx/>
                        <a:latin typeface="Pretendard"/>
                        <a:ea typeface="Pretendard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0874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1"/>
          <p:cNvPicPr/>
          <p:nvPr/>
        </p:nvPicPr>
        <p:blipFill>
          <a:blip r:embed="rId3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TextBox 2"/>
          <p:cNvSpPr/>
          <p:nvPr/>
        </p:nvSpPr>
        <p:spPr>
          <a:xfrm>
            <a:off x="457200" y="384120"/>
            <a:ext cx="5485680" cy="21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8E8E93"/>
                </a:solidFill>
                <a:effectLst/>
                <a:uFillTx/>
                <a:latin typeface="Pretendard"/>
                <a:ea typeface="Pretendard"/>
              </a:rPr>
              <a:t>02 </a:t>
            </a:r>
            <a:r>
              <a:rPr lang="zh-CN" sz="1100" b="1" u="none" strike="noStrike">
                <a:solidFill>
                  <a:srgbClr val="8E8E93"/>
                </a:solidFill>
                <a:effectLst/>
                <a:uFillTx/>
                <a:latin typeface="Pretendard"/>
                <a:ea typeface="Pretendard"/>
              </a:rPr>
              <a:t>데이터 수집 및 분석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Box 3"/>
          <p:cNvSpPr/>
          <p:nvPr/>
        </p:nvSpPr>
        <p:spPr>
          <a:xfrm>
            <a:off x="457200" y="786240"/>
            <a:ext cx="11276640" cy="51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lang="en-US" sz="3000" b="1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1. </a:t>
            </a:r>
            <a:r>
              <a:rPr lang="zh-CN" sz="3000" b="1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데이터 수집 개요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Box 4"/>
          <p:cNvSpPr/>
          <p:nvPr/>
        </p:nvSpPr>
        <p:spPr>
          <a:xfrm>
            <a:off x="551160" y="1401480"/>
            <a:ext cx="112766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45515E"/>
                </a:solidFill>
                <a:effectLst/>
                <a:uFillTx/>
                <a:latin typeface="Pretendard"/>
                <a:ea typeface="Pretendard"/>
              </a:rPr>
              <a:t>1-2 </a:t>
            </a:r>
            <a:r>
              <a:rPr lang="zh-CN" sz="1400" b="0" u="none" strike="noStrike">
                <a:solidFill>
                  <a:srgbClr val="45515E"/>
                </a:solidFill>
                <a:effectLst/>
                <a:uFillTx/>
                <a:latin typeface="Pretendard"/>
                <a:ea typeface="Pretendard"/>
              </a:rPr>
              <a:t>수집 방법별 구성과 분석에서 제외한 데이터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Rounded Rectangle 5"/>
          <p:cNvSpPr/>
          <p:nvPr/>
        </p:nvSpPr>
        <p:spPr>
          <a:xfrm>
            <a:off x="457200" y="1900080"/>
            <a:ext cx="3599280" cy="1999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" name="TextBox 6"/>
          <p:cNvSpPr/>
          <p:nvPr/>
        </p:nvSpPr>
        <p:spPr>
          <a:xfrm>
            <a:off x="657360" y="2019960"/>
            <a:ext cx="3199320" cy="9694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600" b="1" u="none" strike="noStrike" dirty="0" smtClean="0">
                <a:solidFill>
                  <a:srgbClr val="C8102E"/>
                </a:solidFill>
                <a:effectLst/>
                <a:uFillTx/>
                <a:latin typeface="Pretendard"/>
                <a:ea typeface="Pretendard"/>
              </a:rPr>
              <a:t>Open API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소방청 구급통계서비스 </a:t>
            </a: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(</a:t>
            </a:r>
            <a:r>
              <a:rPr lang="zh-CN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월별 이송</a:t>
            </a: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)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국립중앙의료원 응급실 가용병상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안전데이터포털 병상</a:t>
            </a: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·</a:t>
            </a:r>
            <a:r>
              <a:rPr lang="zh-CN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기관</a:t>
            </a: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·</a:t>
            </a:r>
            <a:r>
              <a:rPr lang="zh-CN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연도통계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Rounded Rectangle 7"/>
          <p:cNvSpPr/>
          <p:nvPr/>
        </p:nvSpPr>
        <p:spPr>
          <a:xfrm>
            <a:off x="4295880" y="1900080"/>
            <a:ext cx="3599280" cy="1999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" name="TextBox 8"/>
          <p:cNvSpPr/>
          <p:nvPr/>
        </p:nvSpPr>
        <p:spPr>
          <a:xfrm>
            <a:off x="4496040" y="2019960"/>
            <a:ext cx="3199320" cy="179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600" b="1" u="none" strike="noStrike" dirty="0">
                <a:solidFill>
                  <a:srgbClr val="C8102E"/>
                </a:solidFill>
                <a:effectLst/>
                <a:uFillTx/>
                <a:latin typeface="Pretendard"/>
                <a:ea typeface="Pretendard"/>
              </a:rPr>
              <a:t>CSV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서울 생활인구 일별 집계표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· 119 </a:t>
            </a:r>
            <a:r>
              <a:rPr lang="zh-CN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구조활동 실적 </a:t>
            </a: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(</a:t>
            </a:r>
            <a:r>
              <a:rPr lang="zh-CN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구별</a:t>
            </a: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)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· 119 </a:t>
            </a:r>
            <a:r>
              <a:rPr lang="zh-CN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구급활동 실적 </a:t>
            </a: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(</a:t>
            </a:r>
            <a:r>
              <a:rPr lang="zh-CN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소방서별</a:t>
            </a: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)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소방청 본부별 구급활동정보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구급출동 건별 현황 </a:t>
            </a: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2021~2022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구급 건별 표본 </a:t>
            </a:r>
            <a:r>
              <a:rPr lang="en-US" sz="1150" b="0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data.csv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Rounded Rectangle 9"/>
          <p:cNvSpPr/>
          <p:nvPr/>
        </p:nvSpPr>
        <p:spPr>
          <a:xfrm>
            <a:off x="8134920" y="1900080"/>
            <a:ext cx="3599280" cy="1999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" name="TextBox 10"/>
          <p:cNvSpPr/>
          <p:nvPr/>
        </p:nvSpPr>
        <p:spPr>
          <a:xfrm>
            <a:off x="8334720" y="2019960"/>
            <a:ext cx="3199320" cy="179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600" b="1" u="none" strike="noStrike">
                <a:solidFill>
                  <a:srgbClr val="C8102E"/>
                </a:solidFill>
                <a:effectLst/>
                <a:uFillTx/>
                <a:latin typeface="Pretendard"/>
                <a:ea typeface="Pretendard"/>
              </a:rPr>
              <a:t>XLSX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15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서울시 소방 구급 출동 현황 </a:t>
            </a:r>
            <a:r>
              <a:rPr lang="en-US" sz="115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2022~2024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15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의료이용 유출입 </a:t>
            </a:r>
            <a:r>
              <a:rPr lang="en-US" sz="1150" b="0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2019~2024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3" name="Table 11"/>
          <p:cNvGraphicFramePr/>
          <p:nvPr/>
        </p:nvGraphicFramePr>
        <p:xfrm>
          <a:off x="457200" y="4079880"/>
          <a:ext cx="11277000" cy="2278800"/>
        </p:xfrm>
        <a:graphic>
          <a:graphicData uri="http://schemas.openxmlformats.org/drawingml/2006/table">
            <a:tbl>
              <a:tblPr/>
              <a:tblGrid>
                <a:gridCol w="26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02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980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제외 데이터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제외 이유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대신 사용한 것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80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구급출동 건별 현황 </a:t>
                      </a:r>
                      <a:r>
                        <a:rPr lang="en-US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(</a:t>
                      </a:r>
                      <a:r>
                        <a:rPr lang="zh-CN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월 집계</a:t>
                      </a:r>
                      <a:r>
                        <a:rPr lang="en-US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사고 발생 구 기준 → 소방서 관할 기준인 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API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와 구별 수준이 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0.77~1.54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배로 달라 혼합 불가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API 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한 가지 기준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80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서울시 구급 출동 현황 </a:t>
                      </a:r>
                      <a:r>
                        <a:rPr lang="en-US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XLSX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출동건수만 있고 이송건수 없음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, API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와 기간 중복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API 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이송건수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80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119 </a:t>
                      </a:r>
                      <a:r>
                        <a:rPr lang="zh-CN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구급활동 실적 </a:t>
                      </a:r>
                      <a:r>
                        <a:rPr lang="en-US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(</a:t>
                      </a:r>
                      <a:r>
                        <a:rPr lang="zh-CN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소방서별</a:t>
                      </a:r>
                      <a:r>
                        <a:rPr lang="en-US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연 단위라 월별 분석에 사용 불가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API 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월별 자료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80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소방청 본부별 구급활동정보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시도 단위 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(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구 단위 아님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구별 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API 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합계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80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실시간 병상 </a:t>
                      </a:r>
                      <a:r>
                        <a:rPr lang="en-US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10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구급 건별 표본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병상은 수용 현황 스냅샷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, 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표본은 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개 구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·1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개월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병상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: 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웹 현황 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/ 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표본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: 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빈도 분석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2758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02 데이터 수집 및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77295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1. 데이터 수집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1-3 공공 API 수집 방식: 소방서 단위로 받아 자치구로 정리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00000"/>
            <a:ext cx="2669400" cy="2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7200" y="2030000"/>
            <a:ext cx="2309400" cy="2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dirty="0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①</a:t>
            </a:r>
          </a:p>
          <a:p>
            <a:pPr algn="l">
              <a:spcAft>
                <a:spcPts val="600"/>
              </a:spcAft>
            </a:pPr>
            <a:r>
              <a:rPr sz="135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소방서</a:t>
            </a:r>
            <a:r>
              <a:rPr sz="135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→ </a:t>
            </a:r>
            <a:r>
              <a:rPr sz="135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자치구</a:t>
            </a:r>
            <a:r>
              <a:rPr sz="135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5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매핑</a:t>
            </a:r>
            <a:endParaRPr sz="1350" b="1" dirty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>
            <a:pPr algn="l">
              <a:spcAft>
                <a:spcPts val="600"/>
              </a:spcAft>
            </a:pP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119안전센터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현황의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관할구역에서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"○○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구"를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추출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소방서마다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가장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많이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나온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구로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연결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· 25개 구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누락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검사</a:t>
            </a:r>
            <a:endParaRPr sz="1100" b="0" dirty="0">
              <a:solidFill>
                <a:srgbClr val="45515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326600" y="1900000"/>
            <a:ext cx="2669400" cy="2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06600" y="2030000"/>
            <a:ext cx="2309400" cy="2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dirty="0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②</a:t>
            </a:r>
          </a:p>
          <a:p>
            <a:pPr algn="l">
              <a:spcAft>
                <a:spcPts val="600"/>
              </a:spcAft>
            </a:pPr>
            <a:r>
              <a:rPr sz="135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월별</a:t>
            </a:r>
            <a:r>
              <a:rPr sz="135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5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이어받기</a:t>
            </a:r>
            <a:r>
              <a:rPr sz="135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5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수집</a:t>
            </a:r>
            <a:endParaRPr sz="1350" b="1" dirty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>
            <a:pPr algn="l">
              <a:spcAft>
                <a:spcPts val="600"/>
              </a:spcAft>
            </a:pP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이미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받은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(월,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자치구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)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쌍과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비교해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빠진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것만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호출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· 한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달씩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중간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저장</a:t>
            </a:r>
            <a:endParaRPr sz="1100" b="0" dirty="0">
              <a:solidFill>
                <a:srgbClr val="45515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196000" y="1900000"/>
            <a:ext cx="2669400" cy="2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76000" y="2030000"/>
            <a:ext cx="2309400" cy="2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③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오류 · 사용량 처리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실패 시 2초 → 4초 → 8초 간격 재시도 · 일일 사용량 소진은 감지해 즉시 중단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65400" y="1900000"/>
            <a:ext cx="2669400" cy="2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45400" y="2030000"/>
            <a:ext cx="2309400" cy="2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dirty="0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④</a:t>
            </a:r>
          </a:p>
          <a:p>
            <a:pPr algn="l">
              <a:spcAft>
                <a:spcPts val="600"/>
              </a:spcAft>
            </a:pPr>
            <a:r>
              <a:rPr sz="135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"</a:t>
            </a:r>
            <a:r>
              <a:rPr sz="135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데이터</a:t>
            </a:r>
            <a:r>
              <a:rPr sz="135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5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없음</a:t>
            </a:r>
            <a:r>
              <a:rPr sz="135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" </a:t>
            </a:r>
            <a:r>
              <a:rPr sz="135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기록</a:t>
            </a:r>
            <a:endParaRPr sz="1350" b="1" dirty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>
            <a:pPr algn="l">
              <a:spcAft>
                <a:spcPts val="600"/>
              </a:spcAft>
            </a:pP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정상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응답인데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비어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있는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구-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월은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목록에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기록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→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다음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실행부터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다시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호출하지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않음</a:t>
            </a:r>
            <a:endParaRPr sz="1100" b="0" dirty="0">
              <a:solidFill>
                <a:srgbClr val="45515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57200" y="4450000"/>
            <a:ext cx="11277600" cy="19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7200" y="4580000"/>
            <a:ext cx="3400000" cy="1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수집 결과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2,634행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2017.01 ~ 2025.12 · 25개 자치구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7200" y="4580000"/>
            <a:ext cx="7127600" cy="17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예상 2,700 구-월 중 66개가 비어 있음 → 모두 소방서 개서 전 정상 공백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성동구 2017.01~06 (6개월) · 금천구 2017.01~2021.12 (60개월)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개서 전에는 광진 · 구로소방서가 두 구를 함께 관할 → 전처리에서 관할 변경 구간 처리 (2장)</a:t>
            </a:r>
          </a:p>
        </p:txBody>
      </p:sp>
    </p:spTree>
    <p:extLst>
      <p:ext uri="{BB962C8B-B14F-4D97-AF65-F5344CB8AC3E}">
        <p14:creationId xmlns:p14="http://schemas.microsoft.com/office/powerpoint/2010/main" val="1310213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02 데이터 수집 및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77295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1. 데이터 수집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1-4 응급실 병상 자료: 모델에는 쓰지 않고 참고 표로 관리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00000"/>
            <a:ext cx="2640000" cy="2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7200" y="2050000"/>
            <a:ext cx="2240000" cy="1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51곳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실시간 병상 수집 병원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23개 구 (강북 · 마포는 실시간 자료 없음)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6400" y="1900000"/>
            <a:ext cx="2640000" cy="2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36400" y="2050000"/>
            <a:ext cx="2240000" cy="1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8곳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수집 시점 과밀 병원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가용병상 음수 = 대기 환자가 병상보다 많음 → 0개 + 과밀 표시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5600" y="1900000"/>
            <a:ext cx="2640000" cy="2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5600" y="2050000"/>
            <a:ext cx="2240000" cy="1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70곳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서울 응급실 운영기관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의료기관 목록(10288) 기준, 실시간 51곳 중 50곳 일치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4800" y="1900000"/>
            <a:ext cx="2640000" cy="2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94800" y="2050000"/>
            <a:ext cx="2240000" cy="1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2014~16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자치구별 병상 수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00606 제공 연도. 2017년 값은 2016년과 같아 제외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4150000"/>
          <a:ext cx="11277600" cy="2240000"/>
        </p:xfrm>
        <a:graphic>
          <a:graphicData uri="http://schemas.openxmlformats.org/drawingml/2006/table">
            <a:tbl>
              <a:tblPr/>
              <a:tblGrid>
                <a:gridCol w="6343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3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5515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모델에서 제외한 이유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5515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대신 쓰는 곳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실시간 스냅샷 · 연 단위 자료 → 월별 예측과 시간 단위가 다름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웹 서비스의 자치구별 응급실 · 가용병상 현황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병상 수 자료는 2016년까지 → 학습 기간(2017~2025)과 맞지 않음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ref_ 참고 표 3개로 따로 저장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병상 수는 수요가 아니라 수용 능력 → 이송 건수와 인과 방향이 약함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예측 결과와 나란히 보여주는 보조 지표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6528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02 데이터 수집 및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77295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2. 데이터 전처리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1180" y="1401438"/>
            <a:ext cx="1127729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2-1 </a:t>
            </a:r>
            <a:r>
              <a:rPr sz="14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전처리</a:t>
            </a:r>
            <a:r>
              <a:rPr sz="14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흐름</a:t>
            </a:r>
            <a:r>
              <a:rPr sz="14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: </a:t>
            </a:r>
            <a:r>
              <a:rPr sz="14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원본</a:t>
            </a:r>
            <a:r>
              <a:rPr sz="14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→ </a:t>
            </a:r>
            <a:r>
              <a:rPr sz="14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학습</a:t>
            </a:r>
            <a:r>
              <a:rPr sz="14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데이터</a:t>
            </a:r>
            <a:r>
              <a:rPr sz="14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2종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00000"/>
            <a:ext cx="2080000" cy="22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7200" y="2030000"/>
            <a:ext cx="1720000" cy="1377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 dirty="0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01</a:t>
            </a:r>
          </a:p>
          <a:p>
            <a:pPr>
              <a:spcAft>
                <a:spcPts val="700"/>
              </a:spcAft>
            </a:pPr>
            <a:r>
              <a:rPr lang="ko-KR" altLang="en-US" sz="14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원본 수집</a:t>
            </a:r>
          </a:p>
          <a:p>
            <a:pPr>
              <a:spcAft>
                <a:spcPts val="700"/>
              </a:spcAft>
            </a:pPr>
            <a:r>
              <a:rPr lang="en-US" altLang="ko-KR" sz="14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API·</a:t>
            </a:r>
            <a:r>
              <a:rPr lang="ko-KR" altLang="en-US" sz="14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파일</a:t>
            </a:r>
          </a:p>
          <a:p>
            <a:pPr>
              <a:spcAft>
                <a:spcPts val="700"/>
              </a:spcAft>
            </a:pPr>
            <a:r>
              <a:rPr lang="ko-KR" altLang="en-US" sz="14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구급</a:t>
            </a:r>
            <a:r>
              <a:rPr lang="en-US" altLang="ko-KR" sz="14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4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인구</a:t>
            </a:r>
            <a:r>
              <a:rPr lang="en-US" altLang="ko-KR" sz="14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4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사고</a:t>
            </a:r>
            <a:r>
              <a:rPr lang="en-US" altLang="ko-KR" sz="14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4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의료</a:t>
            </a:r>
            <a:r>
              <a:rPr lang="en-US" altLang="ko-KR" sz="14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4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병상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37200" y="2850000"/>
            <a:ext cx="219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56200" y="1900000"/>
            <a:ext cx="2080000" cy="22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36200" y="2850000"/>
            <a:ext cx="219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55200" y="1900000"/>
            <a:ext cx="2080000" cy="22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35200" y="2030000"/>
            <a:ext cx="1720000" cy="16594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 dirty="0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03</a:t>
            </a:r>
          </a:p>
          <a:p>
            <a:pPr>
              <a:spcAft>
                <a:spcPts val="700"/>
              </a:spcAft>
            </a:pPr>
            <a:r>
              <a:rPr lang="zh-CN" altLang="ko-KR" sz="1400" b="1" dirty="0">
                <a:solidFill>
                  <a:srgbClr val="222222"/>
                </a:solidFill>
                <a:latin typeface="Pretendard"/>
                <a:ea typeface="Pretendard"/>
              </a:rPr>
              <a:t>중복 </a:t>
            </a:r>
            <a:r>
              <a:rPr lang="en-US" altLang="ko-KR" sz="1400" b="1" dirty="0">
                <a:solidFill>
                  <a:srgbClr val="222222"/>
                </a:solidFill>
                <a:latin typeface="Pretendard"/>
                <a:ea typeface="Pretendard"/>
              </a:rPr>
              <a:t>· </a:t>
            </a:r>
            <a:r>
              <a:rPr lang="zh-CN" altLang="ko-KR" sz="1400" b="1" dirty="0">
                <a:solidFill>
                  <a:srgbClr val="222222"/>
                </a:solidFill>
                <a:latin typeface="Pretendard"/>
                <a:ea typeface="Pretendard"/>
              </a:rPr>
              <a:t>제</a:t>
            </a:r>
            <a:r>
              <a:rPr lang="zh-CN" altLang="ko-KR" sz="1400" b="1" dirty="0" smtClean="0">
                <a:solidFill>
                  <a:srgbClr val="222222"/>
                </a:solidFill>
                <a:latin typeface="Pretendard"/>
                <a:ea typeface="Pretendard"/>
              </a:rPr>
              <a:t>외</a:t>
            </a:r>
            <a:endParaRPr sz="1400" b="1" dirty="0" smtClean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>
            <a:pPr>
              <a:spcAft>
                <a:spcPts val="499"/>
              </a:spcAft>
            </a:pPr>
            <a:r>
              <a:rPr lang="en-US" altLang="ko-KR" sz="20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70</a:t>
            </a:r>
            <a:r>
              <a:rPr lang="ko-KR" altLang="en-US" sz="20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행 제외 </a:t>
            </a:r>
            <a:r>
              <a:rPr lang="en-US" altLang="ko-KR" sz="20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/ </a:t>
            </a:r>
            <a:r>
              <a:rPr lang="en-US" altLang="ko-KR" sz="2000" b="1" dirty="0">
                <a:solidFill>
                  <a:srgbClr val="222222"/>
                </a:solidFill>
                <a:latin typeface="Pretendard"/>
                <a:ea typeface="Pretendard"/>
              </a:rPr>
              <a:t>5</a:t>
            </a:r>
            <a:r>
              <a:rPr lang="zh-CN" altLang="ko-KR" sz="2000" b="1" dirty="0">
                <a:solidFill>
                  <a:srgbClr val="222222"/>
                </a:solidFill>
                <a:latin typeface="Pretendard"/>
                <a:ea typeface="Pretendard"/>
              </a:rPr>
              <a:t>개 파일 사용</a:t>
            </a:r>
            <a:endParaRPr lang="en-US" altLang="ko-KR" sz="2000" dirty="0">
              <a:solidFill>
                <a:srgbClr val="000000"/>
              </a:solidFill>
              <a:latin typeface="Arial"/>
            </a:endParaRPr>
          </a:p>
          <a:p>
            <a:pPr algn="l">
              <a:spcAft>
                <a:spcPts val="700"/>
              </a:spcAft>
            </a:pPr>
            <a:r>
              <a:rPr sz="1100" b="0" dirty="0" err="1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형식</a:t>
            </a:r>
            <a:r>
              <a:rPr sz="110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통일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결측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처리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관할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변경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구간</a:t>
            </a:r>
            <a:r>
              <a:rPr sz="11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제외</a:t>
            </a:r>
            <a:endParaRPr sz="1100" b="0" dirty="0">
              <a:solidFill>
                <a:srgbClr val="45515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35200" y="2850000"/>
            <a:ext cx="219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54200" y="1900000"/>
            <a:ext cx="2080000" cy="22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34200" y="2030000"/>
            <a:ext cx="1720000" cy="20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04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데이터 통합</a:t>
            </a:r>
          </a:p>
          <a:p>
            <a:pPr algn="l">
              <a:spcAft>
                <a:spcPts val="700"/>
              </a:spcAft>
            </a:pPr>
            <a:r>
              <a:rPr sz="19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표 2개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구 × 월 이송 표, 구 × 일 인구 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34200" y="2850000"/>
            <a:ext cx="219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53200" y="1900000"/>
            <a:ext cx="2080000" cy="225000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33200" y="2030000"/>
            <a:ext cx="1720000" cy="13619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 dirty="0">
                <a:solidFill>
                  <a:srgbClr val="FF9AA8"/>
                </a:solidFill>
                <a:latin typeface="Pretendard"/>
                <a:ea typeface="Pretendard"/>
                <a:cs typeface="Pretendard"/>
              </a:rPr>
              <a:t>05</a:t>
            </a:r>
          </a:p>
          <a:p>
            <a:pPr algn="l">
              <a:spcAft>
                <a:spcPts val="700"/>
              </a:spcAft>
            </a:pPr>
            <a:r>
              <a:rPr sz="14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변수</a:t>
            </a:r>
            <a:r>
              <a:rPr sz="14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선택</a:t>
            </a:r>
            <a:endParaRPr sz="1400" b="1" dirty="0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  <a:p>
            <a:pPr algn="l">
              <a:spcAft>
                <a:spcPts val="700"/>
              </a:spcAft>
            </a:pPr>
            <a:r>
              <a:rPr sz="1900" b="1" dirty="0" smtClean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</a:t>
            </a:r>
            <a:r>
              <a:rPr sz="19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개 · 5개</a:t>
            </a:r>
          </a:p>
          <a:p>
            <a:pPr algn="l">
              <a:spcAft>
                <a:spcPts val="700"/>
              </a:spcAft>
            </a:pPr>
            <a:r>
              <a:rPr sz="1100" b="0" dirty="0" err="1" smtClean="0">
                <a:solidFill>
                  <a:srgbClr val="C9CDD2"/>
                </a:solidFill>
                <a:latin typeface="Pretendard"/>
                <a:ea typeface="Pretendard"/>
                <a:cs typeface="Pretendard"/>
              </a:rPr>
              <a:t>상관계수</a:t>
            </a:r>
            <a:r>
              <a:rPr sz="1100" b="0" dirty="0" smtClean="0">
                <a:solidFill>
                  <a:srgbClr val="C9CDD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 smtClean="0">
                <a:solidFill>
                  <a:srgbClr val="C9CDD2"/>
                </a:solidFill>
                <a:latin typeface="Pretendard"/>
                <a:ea typeface="Pretendard"/>
                <a:cs typeface="Pretendard"/>
              </a:rPr>
              <a:t>기준</a:t>
            </a:r>
            <a:r>
              <a:rPr lang="ko-KR" altLang="en-US" sz="1100" dirty="0" err="1" smtClean="0">
                <a:solidFill>
                  <a:srgbClr val="C9CDD2"/>
                </a:solidFill>
                <a:latin typeface="Pretendard"/>
                <a:ea typeface="Pretendard"/>
                <a:cs typeface="Pretendard"/>
              </a:rPr>
              <a:t>으로</a:t>
            </a:r>
            <a:r>
              <a:rPr lang="ko-KR" altLang="en-US" sz="1100" dirty="0" smtClean="0">
                <a:solidFill>
                  <a:srgbClr val="C9CDD2"/>
                </a:solidFill>
                <a:latin typeface="Pretendard"/>
                <a:ea typeface="Pretendard"/>
                <a:cs typeface="Pretendard"/>
              </a:rPr>
              <a:t> 입력 변수 선택</a:t>
            </a:r>
            <a:endParaRPr sz="1100" b="0" dirty="0">
              <a:solidFill>
                <a:srgbClr val="C9CDD2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57200" y="4400000"/>
            <a:ext cx="5519400" cy="2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7200" y="4753670"/>
            <a:ext cx="5019400" cy="129266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dirty="0" err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이송</a:t>
            </a:r>
            <a:r>
              <a:rPr sz="1500" b="1" dirty="0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1" dirty="0" err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건수</a:t>
            </a:r>
            <a:r>
              <a:rPr sz="1500" b="1" dirty="0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1" dirty="0" err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예측</a:t>
            </a:r>
            <a:endParaRPr sz="1500" b="1" dirty="0">
              <a:solidFill>
                <a:srgbClr val="C8102E"/>
              </a:solidFill>
              <a:latin typeface="Pretendard"/>
              <a:ea typeface="Pretendard"/>
              <a:cs typeface="Pretendard"/>
            </a:endParaRPr>
          </a:p>
          <a:p>
            <a:pPr algn="l">
              <a:spcAft>
                <a:spcPts val="800"/>
              </a:spcAft>
            </a:pPr>
            <a:r>
              <a:rPr sz="13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지난달</a:t>
            </a:r>
            <a:r>
              <a:rPr sz="13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13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작년</a:t>
            </a:r>
            <a:r>
              <a:rPr sz="13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같은</a:t>
            </a:r>
            <a:r>
              <a:rPr sz="13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달 </a:t>
            </a:r>
            <a:r>
              <a:rPr sz="13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이송</a:t>
            </a:r>
            <a:r>
              <a:rPr sz="13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3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지난달</a:t>
            </a:r>
            <a:r>
              <a:rPr sz="13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생활인구</a:t>
            </a:r>
            <a:r>
              <a:rPr sz="13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3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작년</a:t>
            </a:r>
            <a:r>
              <a:rPr sz="13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사고</a:t>
            </a:r>
            <a:r>
              <a:rPr sz="13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원인</a:t>
            </a:r>
            <a:r>
              <a:rPr sz="13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 →  </a:t>
            </a:r>
            <a:r>
              <a:rPr sz="13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이번</a:t>
            </a:r>
            <a:r>
              <a:rPr sz="13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달 </a:t>
            </a:r>
            <a:r>
              <a:rPr sz="13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구별</a:t>
            </a:r>
            <a:r>
              <a:rPr sz="13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이송</a:t>
            </a:r>
            <a:r>
              <a:rPr sz="13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건수</a:t>
            </a:r>
            <a:endParaRPr sz="1300" b="1" dirty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>
            <a:pPr>
              <a:spcAft>
                <a:spcPts val="800"/>
              </a:spcAft>
            </a:pPr>
            <a:r>
              <a:rPr sz="115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구 × 월 · 2,564행 × 46열 → </a:t>
            </a:r>
            <a:r>
              <a:rPr sz="115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학습용</a:t>
            </a:r>
            <a:r>
              <a:rPr sz="115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2,180행 × 13</a:t>
            </a:r>
            <a:r>
              <a:rPr sz="115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열</a:t>
            </a:r>
            <a:r>
              <a:rPr lang="en-US" sz="115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200" dirty="0">
                <a:solidFill>
                  <a:srgbClr val="45515E"/>
                </a:solidFill>
                <a:latin typeface="Pretendard"/>
                <a:ea typeface="Pretendard"/>
              </a:rPr>
              <a:t>(2018.05~2025.12)</a:t>
            </a:r>
            <a:endParaRPr lang="en-US" altLang="ko-KR" sz="1200" dirty="0">
              <a:solidFill>
                <a:srgbClr val="000000"/>
              </a:solidFill>
              <a:latin typeface="Arial"/>
            </a:endParaRPr>
          </a:p>
          <a:p>
            <a:pPr algn="l">
              <a:spcAft>
                <a:spcPts val="800"/>
              </a:spcAft>
            </a:pPr>
            <a:endParaRPr sz="1150" b="0" dirty="0">
              <a:solidFill>
                <a:srgbClr val="45515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215400" y="4400000"/>
            <a:ext cx="5519400" cy="2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65400" y="4761363"/>
            <a:ext cx="5019400" cy="12772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dirty="0" err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인구</a:t>
            </a:r>
            <a:r>
              <a:rPr sz="1500" b="1" dirty="0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1" dirty="0" err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밀집</a:t>
            </a:r>
            <a:r>
              <a:rPr sz="1500" b="1" dirty="0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1" dirty="0" err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예측</a:t>
            </a:r>
            <a:endParaRPr sz="1500" b="1" dirty="0">
              <a:solidFill>
                <a:srgbClr val="C8102E"/>
              </a:solidFill>
              <a:latin typeface="Pretendard"/>
              <a:ea typeface="Pretendard"/>
              <a:cs typeface="Pretendard"/>
            </a:endParaRPr>
          </a:p>
          <a:p>
            <a:pPr algn="l">
              <a:spcAft>
                <a:spcPts val="800"/>
              </a:spcAft>
            </a:pPr>
            <a:r>
              <a:rPr sz="13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어제</a:t>
            </a:r>
            <a:r>
              <a:rPr sz="13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· 7일 전 </a:t>
            </a:r>
            <a:r>
              <a:rPr sz="13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생활인구</a:t>
            </a:r>
            <a:r>
              <a:rPr sz="13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, 월 · </a:t>
            </a:r>
            <a:r>
              <a:rPr sz="13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요일</a:t>
            </a:r>
            <a:r>
              <a:rPr sz="13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13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주말</a:t>
            </a:r>
            <a:r>
              <a:rPr sz="13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 →  </a:t>
            </a:r>
            <a:r>
              <a:rPr sz="13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오늘</a:t>
            </a:r>
            <a:r>
              <a:rPr sz="13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구별</a:t>
            </a:r>
            <a:r>
              <a:rPr sz="13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일최대인구수</a:t>
            </a:r>
            <a:endParaRPr sz="1300" b="1" dirty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>
            <a:pPr>
              <a:spcAft>
                <a:spcPts val="800"/>
              </a:spcAft>
            </a:pPr>
            <a:r>
              <a:rPr sz="115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구 × 일 · 75,825행 × 20열 → </a:t>
            </a:r>
            <a:r>
              <a:rPr sz="115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학습용</a:t>
            </a:r>
            <a:r>
              <a:rPr sz="115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75,825행 × </a:t>
            </a:r>
            <a:r>
              <a:rPr sz="1150" b="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11</a:t>
            </a:r>
            <a:r>
              <a:rPr lang="en-US" sz="115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150" dirty="0" smtClean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일</a:t>
            </a:r>
            <a:r>
              <a:rPr lang="en-US" altLang="ko-KR" sz="1200" dirty="0" smtClean="0">
                <a:solidFill>
                  <a:srgbClr val="45515E"/>
                </a:solidFill>
                <a:latin typeface="Pretendard"/>
                <a:ea typeface="Pretendard"/>
              </a:rPr>
              <a:t>(2018.04.12~2026.07.31</a:t>
            </a:r>
            <a:r>
              <a:rPr lang="en-US" altLang="ko-KR" sz="1200" dirty="0">
                <a:solidFill>
                  <a:srgbClr val="45515E"/>
                </a:solidFill>
                <a:latin typeface="Pretendard"/>
                <a:ea typeface="Pretendard"/>
              </a:rPr>
              <a:t>)</a:t>
            </a:r>
            <a:endParaRPr lang="en-US" altLang="ko-KR" sz="1200" dirty="0">
              <a:solidFill>
                <a:srgbClr val="000000"/>
              </a:solidFill>
              <a:latin typeface="Arial"/>
            </a:endParaRPr>
          </a:p>
          <a:p>
            <a:pPr algn="l">
              <a:spcAft>
                <a:spcPts val="800"/>
              </a:spcAft>
            </a:pPr>
            <a:endParaRPr sz="1150" b="0" dirty="0">
              <a:solidFill>
                <a:srgbClr val="45515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Box 9"/>
          <p:cNvSpPr/>
          <p:nvPr/>
        </p:nvSpPr>
        <p:spPr>
          <a:xfrm>
            <a:off x="2915960" y="2055033"/>
            <a:ext cx="1739160" cy="169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400" b="1" u="none" strike="noStrike" dirty="0">
                <a:solidFill>
                  <a:srgbClr val="C8102E"/>
                </a:solidFill>
                <a:effectLst/>
                <a:uFillTx/>
                <a:latin typeface="Pretendard"/>
                <a:ea typeface="Pretendard"/>
              </a:rPr>
              <a:t>02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zh-CN" sz="1300" b="1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원본 정제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zh-CN" sz="1700" b="1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기존 </a:t>
            </a:r>
            <a:r>
              <a:rPr lang="en-US" sz="1700" b="1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csv 15</a:t>
            </a:r>
            <a:r>
              <a:rPr lang="zh-CN" sz="1700" b="1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개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zh-CN" sz="1050" b="0" u="none" strike="noStrike" dirty="0">
                <a:solidFill>
                  <a:srgbClr val="45515E"/>
                </a:solidFill>
                <a:effectLst/>
                <a:uFillTx/>
                <a:latin typeface="Pretendard"/>
                <a:ea typeface="Pretendard"/>
              </a:rPr>
              <a:t>헤더 </a:t>
            </a:r>
            <a:r>
              <a:rPr lang="en-US" sz="1050" b="0" u="none" strike="noStrike" dirty="0">
                <a:solidFill>
                  <a:srgbClr val="45515E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050" b="0" u="none" strike="noStrike" dirty="0">
                <a:solidFill>
                  <a:srgbClr val="45515E"/>
                </a:solidFill>
                <a:effectLst/>
                <a:uFillTx/>
                <a:latin typeface="Pretendard"/>
                <a:ea typeface="Pretendard"/>
              </a:rPr>
              <a:t>컬럼명 </a:t>
            </a:r>
            <a:r>
              <a:rPr lang="en-US" sz="1050" b="0" u="none" strike="noStrike" dirty="0">
                <a:solidFill>
                  <a:srgbClr val="45515E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050" b="0" u="none" strike="noStrike" dirty="0">
                <a:solidFill>
                  <a:srgbClr val="45515E"/>
                </a:solidFill>
                <a:effectLst/>
                <a:uFillTx/>
                <a:latin typeface="Pretendard"/>
                <a:ea typeface="Pretendard"/>
              </a:rPr>
              <a:t>날짜 </a:t>
            </a:r>
            <a:r>
              <a:rPr lang="en-US" sz="1050" b="0" u="none" strike="noStrike" dirty="0">
                <a:solidFill>
                  <a:srgbClr val="45515E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050" b="0" u="none" strike="noStrike" dirty="0">
                <a:solidFill>
                  <a:srgbClr val="45515E"/>
                </a:solidFill>
                <a:effectLst/>
                <a:uFillTx/>
                <a:latin typeface="Pretendard"/>
                <a:ea typeface="Pretendard"/>
              </a:rPr>
              <a:t>지역 형식 통일</a:t>
            </a:r>
            <a:r>
              <a:rPr lang="en-US" sz="1050" b="0" u="none" strike="noStrike" dirty="0">
                <a:solidFill>
                  <a:srgbClr val="45515E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zh-CN" sz="1050" b="0" u="none" strike="noStrike" dirty="0">
                <a:solidFill>
                  <a:srgbClr val="45515E"/>
                </a:solidFill>
                <a:effectLst/>
                <a:uFillTx/>
                <a:latin typeface="Pretendard"/>
                <a:ea typeface="Pretendard"/>
              </a:rPr>
              <a:t>결측 처리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10611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02 데이터 수집 및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77295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2. 데이터 전처리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2-2 파일 선택: 결과 csv 중 5개만 학습에 사용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50000"/>
          <a:ext cx="11277598" cy="4480000"/>
        </p:xfrm>
        <a:graphic>
          <a:graphicData uri="http://schemas.openxmlformats.org/drawingml/2006/table">
            <a:tbl>
              <a:tblPr/>
              <a:tblGrid>
                <a:gridCol w="1835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0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08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5515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결정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5515E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파일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5515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이유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사용 (정답)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소방청 API 월별 이송 2017.01~2025.12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거의 모든 달 · 25개 구, 한 가지 집계 기준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사용 (설명)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생활인구 · 사고 원인(wide) · 의료이용 수요 · 공급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 × 일 / 구 × 연 단위로 과거 값 연결 가능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제외 · 중복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202512 API · 사고 원인 long · 의료이용 OD 매트릭스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다른 파일 안에 같은 행 / 같은 내용 / 구별 합계가 같음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제외 · 기준 차이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구급출동 건별 월 집계 2021~2022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발생 구 기준 → 관할 기준 API와 구별 비율 0.77~1.54배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제외 · 단위 차이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소방서별 연도 자료 · 서울 전체 월별 · XLSX 출동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연 단위 / 구 단위 아님 / 이송건수 없음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제외 · 표본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관악 1개월 표본 · 실시간 병상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1개 구 1개월 / 한 시점 스냅샷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8468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02 데이터 수집 및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77295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2. 데이터 전처리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2-3 원본 정제: 서로 다른 형식을 같은 기준(ds · District)으로 통일</a:t>
            </a:r>
          </a:p>
        </p:txBody>
      </p:sp>
      <p:graphicFrame>
        <p:nvGraphicFramePr>
          <p:cNvPr id="7" name="Table 5"/>
          <p:cNvGraphicFramePr/>
          <p:nvPr>
            <p:extLst/>
          </p:nvPr>
        </p:nvGraphicFramePr>
        <p:xfrm>
          <a:off x="457200" y="1900080"/>
          <a:ext cx="11277360" cy="3976020"/>
        </p:xfrm>
        <a:graphic>
          <a:graphicData uri="http://schemas.openxmlformats.org/drawingml/2006/table">
            <a:tbl>
              <a:tblPr/>
              <a:tblGrid>
                <a:gridCol w="1470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87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4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980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1" u="none" strike="noStrike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항목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1" u="none" strike="noStrike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처리 내용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1" u="none" strike="noStrike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이유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1" u="none" strike="noStrike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전 → 후 예시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80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헤더 정리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3~4</a:t>
                      </a:r>
                      <a:r>
                        <a:rPr lang="ko-KR" altLang="en-US" sz="120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줄 헤더를 한 줄로</a:t>
                      </a:r>
                      <a:r>
                        <a:rPr lang="en-US" altLang="ko-KR" sz="120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, </a:t>
                      </a:r>
                      <a:r>
                        <a:rPr lang="ko-KR" altLang="en-US" sz="120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옆으로 펼쳐진 월 컬럼을 세로로</a:t>
                      </a: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바로 계산할 수 있는 </a:t>
                      </a: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"</a:t>
                      </a: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한 행 </a:t>
                      </a: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= </a:t>
                      </a: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한 시점</a:t>
                      </a: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" </a:t>
                      </a: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형태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구분</a:t>
                      </a: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, 1</a:t>
                      </a: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월 … </a:t>
                      </a: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12</a:t>
                      </a: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월 → </a:t>
                      </a: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ds, District, y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80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컬럼명 통일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날짜 </a:t>
                      </a: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ds, </a:t>
                      </a: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지역 </a:t>
                      </a: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District, </a:t>
                      </a: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출동 </a:t>
                      </a: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y, </a:t>
                      </a: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이송 </a:t>
                      </a: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transport_cnt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모든 파일을 같은 키로 병합 </a:t>
                      </a: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(Prophet </a:t>
                      </a: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형식과 동일</a:t>
                      </a: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)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기준일</a:t>
                      </a: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ID · </a:t>
                      </a: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시군구명 → </a:t>
                      </a: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ds · District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9800">
                <a:tc>
                  <a:txBody>
                    <a:bodyPr/>
                    <a:lstStyle/>
                    <a:p>
                      <a:r>
                        <a:rPr lang="ko-KR" altLang="en-US" sz="1200" b="1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날짜 </a:t>
                      </a:r>
                      <a:r>
                        <a:rPr lang="en-US" altLang="ko-KR" sz="1200" b="1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 </a:t>
                      </a:r>
                      <a:r>
                        <a:rPr lang="ko-KR" altLang="en-US" sz="1200" b="1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지역 형식</a:t>
                      </a:r>
                      <a:endParaRPr lang="ko-KR" altLang="en-US" sz="1200" b="1" dirty="0">
                        <a:solidFill>
                          <a:srgbClr val="222222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5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Pretendard"/>
                        </a:rPr>
                        <a:t>월별은 그 달 </a:t>
                      </a:r>
                      <a:r>
                        <a:rPr kumimoji="0" lang="en-US" altLang="ko-KR" sz="125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Pretendard"/>
                        </a:rPr>
                        <a:t>1</a:t>
                      </a:r>
                      <a:r>
                        <a:rPr kumimoji="0" lang="ko-KR" altLang="en-US" sz="125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Pretendard"/>
                        </a:rPr>
                        <a:t>일로</a:t>
                      </a:r>
                      <a:r>
                        <a:rPr kumimoji="0" lang="en-US" altLang="ko-KR" sz="125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Pretendard"/>
                        </a:rPr>
                        <a:t>, </a:t>
                      </a:r>
                      <a:r>
                        <a:rPr kumimoji="0" lang="ko-KR" altLang="en-US" sz="125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Pretendard"/>
                        </a:rPr>
                        <a:t>소방서명은</a:t>
                      </a:r>
                      <a:r>
                        <a:rPr kumimoji="0" lang="ko-KR" altLang="en-US" sz="125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Pretendard"/>
                        </a:rPr>
                        <a:t> 구명으로</a:t>
                      </a:r>
                      <a:r>
                        <a:rPr kumimoji="0" lang="en-US" altLang="ko-KR" sz="125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Pretendard"/>
                        </a:rPr>
                        <a:t>, 25</a:t>
                      </a:r>
                      <a:r>
                        <a:rPr kumimoji="0" lang="ko-KR" altLang="en-US" sz="125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Pretendard"/>
                        </a:rPr>
                        <a:t>개 구 목록만 유지</a:t>
                      </a:r>
                      <a:endParaRPr kumimoji="0" lang="ko-KR" altLang="en-US" sz="12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22222"/>
                        </a:solidFill>
                        <a:effectLst/>
                        <a:uLnTx/>
                        <a:uFillTx/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212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sz="1150" b="0" u="none" strike="noStrike" dirty="0" smtClean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서로 다른 파일의 같은 시점을 같은 값으로</a:t>
                      </a:r>
                      <a:r>
                        <a:rPr lang="en-US" altLang="zh-CN" sz="1150" b="0" u="none" strike="noStrike" dirty="0" smtClean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,</a:t>
                      </a:r>
                      <a:r>
                        <a:rPr kumimoji="0" lang="zh-CN" altLang="en-US" sz="115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구 단위 모델</a:t>
                      </a:r>
                      <a:r>
                        <a:rPr kumimoji="0" lang="en-US" altLang="ko-KR" sz="115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, </a:t>
                      </a:r>
                      <a:r>
                        <a:rPr kumimoji="0" lang="zh-CN" altLang="en-US" sz="115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오타 </a:t>
                      </a:r>
                      <a:r>
                        <a:rPr kumimoji="0" lang="en-US" altLang="ko-KR" sz="115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· </a:t>
                      </a:r>
                      <a:r>
                        <a:rPr kumimoji="0" lang="zh-CN" altLang="en-US" sz="115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합계 행 혼입 방지</a:t>
                      </a:r>
                      <a:endParaRPr kumimoji="0" lang="en-US" altLang="ko-KR" sz="115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  <a:p>
                      <a:pPr defTabSz="762120">
                        <a:lnSpc>
                          <a:spcPct val="100000"/>
                        </a:lnSpc>
                      </a:pPr>
                      <a:endParaRPr lang="en-US" sz="11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15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20180405 → </a:t>
                      </a:r>
                      <a:r>
                        <a:rPr lang="en-US" sz="1150" b="0" u="none" strike="noStrike" dirty="0" smtClean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2018-04-05</a:t>
                      </a:r>
                    </a:p>
                    <a:p>
                      <a:pPr marL="0" marR="0" indent="0" algn="l" defTabSz="76212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ko-KR" sz="1150" b="0" u="none" strike="noStrike" dirty="0" smtClean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중부소방서 → 중구</a:t>
                      </a:r>
                      <a:endParaRPr lang="en-US" altLang="ko-KR" sz="1150" b="0" u="none" strike="noStrike" dirty="0" smtClean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762120">
                        <a:lnSpc>
                          <a:spcPct val="100000"/>
                        </a:lnSpc>
                      </a:pPr>
                      <a:endParaRPr lang="en-US" sz="11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980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1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불필요 행 제거</a:t>
                      </a:r>
                      <a:endParaRPr lang="en-US" sz="11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합계 </a:t>
                      </a: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소계 </a:t>
                      </a: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소방항공대 </a:t>
                      </a: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서울시 합계 </a:t>
                      </a: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동 단위 행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구 단위가 아니고 남기면 중복 집계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XLSX 498</a:t>
                      </a: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행 → 구 </a:t>
                      </a: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25</a:t>
                      </a: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행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980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숫자 정리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0" u="none" strike="noStrike" dirty="0" smtClean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천</a:t>
                      </a:r>
                      <a:r>
                        <a:rPr lang="zh-CN" sz="115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단위 콤마 제거</a:t>
                      </a:r>
                      <a:r>
                        <a:rPr lang="en-US" sz="115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, "-"</a:t>
                      </a:r>
                      <a:r>
                        <a:rPr lang="zh-CN" sz="115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를 </a:t>
                      </a:r>
                      <a:r>
                        <a:rPr lang="en-US" sz="115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</a:t>
                      </a:r>
                      <a:r>
                        <a:rPr lang="zh-CN" sz="115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으로</a:t>
                      </a:r>
                      <a:endParaRPr lang="en-US" sz="11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콤마가 있으면 </a:t>
                      </a: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1,000 </a:t>
                      </a: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이상 값이 전부 결측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"1,234" → 1234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9800">
                <a:tc>
                  <a:txBody>
                    <a:bodyPr/>
                    <a:lstStyle/>
                    <a:p>
                      <a:r>
                        <a:rPr sz="1250" b="1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같은</a:t>
                      </a:r>
                      <a:r>
                        <a:rPr sz="1250" b="1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값 </a:t>
                      </a:r>
                      <a:r>
                        <a:rPr sz="1250" b="1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컬럼</a:t>
                      </a:r>
                      <a:endParaRPr sz="1250" b="1" dirty="0">
                        <a:solidFill>
                          <a:srgbClr val="222222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60000" marR="60000" marT="30000" marB="3000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두 </a:t>
                      </a:r>
                      <a:r>
                        <a:rPr sz="125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컬럼씩</a:t>
                      </a:r>
                      <a:r>
                        <a:rPr sz="125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값 </a:t>
                      </a:r>
                      <a:r>
                        <a:rPr sz="125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비교</a:t>
                      </a:r>
                      <a:r>
                        <a:rPr sz="125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→ </a:t>
                      </a:r>
                      <a:r>
                        <a:rPr sz="125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뒤쪽</a:t>
                      </a:r>
                      <a:r>
                        <a:rPr sz="125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컬럼</a:t>
                      </a:r>
                      <a:r>
                        <a:rPr sz="125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제외</a:t>
                      </a:r>
                      <a:endParaRPr sz="1250" b="0" dirty="0">
                        <a:solidFill>
                          <a:srgbClr val="222222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60000" marR="60000" marT="30000" marB="3000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Pop_Peak</a:t>
                      </a:r>
                      <a:r>
                        <a:rPr sz="125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= </a:t>
                      </a:r>
                      <a:r>
                        <a:rPr sz="125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일최대인구수</a:t>
                      </a:r>
                      <a:r>
                        <a:rPr sz="125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→ </a:t>
                      </a:r>
                      <a:r>
                        <a:rPr sz="125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Pop_Peak</a:t>
                      </a:r>
                      <a:r>
                        <a:rPr sz="125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제외</a:t>
                      </a:r>
                      <a:endParaRPr sz="1250" b="0" dirty="0">
                        <a:solidFill>
                          <a:srgbClr val="222222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60000" marR="60000" marT="30000" marB="3000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1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같은</a:t>
                      </a:r>
                      <a:r>
                        <a:rPr sz="1250" b="1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값 </a:t>
                      </a:r>
                      <a:r>
                        <a:rPr sz="1250" b="1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컬럼</a:t>
                      </a:r>
                      <a:endParaRPr sz="1250" b="1" dirty="0">
                        <a:solidFill>
                          <a:srgbClr val="222222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60000" marR="60000" marT="30000" marB="3000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45052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1"/>
          <p:cNvPicPr/>
          <p:nvPr/>
        </p:nvPicPr>
        <p:blipFill>
          <a:blip r:embed="rId3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TextBox 2"/>
          <p:cNvSpPr/>
          <p:nvPr/>
        </p:nvSpPr>
        <p:spPr>
          <a:xfrm>
            <a:off x="457200" y="384120"/>
            <a:ext cx="5485680" cy="21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8E8E93"/>
                </a:solidFill>
                <a:effectLst/>
                <a:uFillTx/>
                <a:latin typeface="Pretendard"/>
                <a:ea typeface="Pretendard"/>
              </a:rPr>
              <a:t>02 </a:t>
            </a:r>
            <a:r>
              <a:rPr lang="zh-CN" sz="1100" b="1" u="none" strike="noStrike">
                <a:solidFill>
                  <a:srgbClr val="8E8E93"/>
                </a:solidFill>
                <a:effectLst/>
                <a:uFillTx/>
                <a:latin typeface="Pretendard"/>
                <a:ea typeface="Pretendard"/>
              </a:rPr>
              <a:t>데이터 수집 및 분석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3"/>
          <p:cNvSpPr/>
          <p:nvPr/>
        </p:nvSpPr>
        <p:spPr>
          <a:xfrm>
            <a:off x="457200" y="786240"/>
            <a:ext cx="11276640" cy="51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lang="en-US" sz="3000" b="1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2. </a:t>
            </a:r>
            <a:r>
              <a:rPr lang="zh-CN" sz="3000" b="1" u="none" strike="noStrike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데이터 전처리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4"/>
          <p:cNvSpPr/>
          <p:nvPr/>
        </p:nvSpPr>
        <p:spPr>
          <a:xfrm>
            <a:off x="551160" y="1401480"/>
            <a:ext cx="112766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45515E"/>
                </a:solidFill>
                <a:effectLst/>
                <a:uFillTx/>
                <a:latin typeface="Pretendard"/>
                <a:ea typeface="Pretendard"/>
              </a:rPr>
              <a:t>2-3 </a:t>
            </a:r>
            <a:r>
              <a:rPr lang="zh-CN" sz="1400" b="0" u="none" strike="noStrike">
                <a:solidFill>
                  <a:srgbClr val="45515E"/>
                </a:solidFill>
                <a:effectLst/>
                <a:uFillTx/>
                <a:latin typeface="Pretendard"/>
                <a:ea typeface="Pretendard"/>
              </a:rPr>
              <a:t>결측 </a:t>
            </a:r>
            <a:r>
              <a:rPr lang="en-US" sz="1400" b="0" u="none" strike="noStrike">
                <a:solidFill>
                  <a:srgbClr val="45515E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400" b="0" u="none" strike="noStrike">
                <a:solidFill>
                  <a:srgbClr val="45515E"/>
                </a:solidFill>
                <a:effectLst/>
                <a:uFillTx/>
                <a:latin typeface="Pretendard"/>
                <a:ea typeface="Pretendard"/>
              </a:rPr>
              <a:t>중복 </a:t>
            </a:r>
            <a:r>
              <a:rPr lang="en-US" sz="1400" b="0" u="none" strike="noStrike">
                <a:solidFill>
                  <a:srgbClr val="45515E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400" b="0" u="none" strike="noStrike">
                <a:solidFill>
                  <a:srgbClr val="45515E"/>
                </a:solidFill>
                <a:effectLst/>
                <a:uFillTx/>
                <a:latin typeface="Pretendard"/>
                <a:ea typeface="Pretendard"/>
              </a:rPr>
              <a:t>특수 처리</a:t>
            </a:r>
            <a:r>
              <a:rPr lang="en-US" sz="1400" b="0" u="none" strike="noStrike">
                <a:solidFill>
                  <a:srgbClr val="45515E"/>
                </a:solidFill>
                <a:effectLst/>
                <a:uFillTx/>
                <a:latin typeface="Pretendard"/>
                <a:ea typeface="Pretendard"/>
              </a:rPr>
              <a:t>: </a:t>
            </a:r>
            <a:r>
              <a:rPr lang="zh-CN" sz="1400" b="0" u="none" strike="noStrike">
                <a:solidFill>
                  <a:srgbClr val="45515E"/>
                </a:solidFill>
                <a:effectLst/>
                <a:uFillTx/>
                <a:latin typeface="Pretendard"/>
                <a:ea typeface="Pretendard"/>
              </a:rPr>
              <a:t>무엇을 했고 왜 했는가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8" name="Table 5"/>
          <p:cNvGraphicFramePr/>
          <p:nvPr/>
        </p:nvGraphicFramePr>
        <p:xfrm>
          <a:off x="456840" y="2091600"/>
          <a:ext cx="11277000" cy="3592440"/>
        </p:xfrm>
        <a:graphic>
          <a:graphicData uri="http://schemas.openxmlformats.org/drawingml/2006/table">
            <a:tbl>
              <a:tblPr/>
              <a:tblGrid>
                <a:gridCol w="830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1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9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968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1" u="none" strike="noStrike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구분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1" u="none" strike="noStrike" dirty="0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상황</a:t>
                      </a:r>
                      <a:endParaRPr lang="en-US" sz="11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1" u="none" strike="noStrike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처리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1" u="none" strike="noStrike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이유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968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1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결측</a:t>
                      </a:r>
                      <a:endParaRPr lang="en-US" sz="11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76212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 err="1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생활인구</a:t>
                      </a:r>
                      <a:r>
                        <a:rPr lang="ko-KR" altLang="en-US" sz="1100" b="1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lang="en-US" altLang="ko-KR" sz="1100" b="1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2019.10.15~27, 13</a:t>
                      </a:r>
                      <a:r>
                        <a:rPr lang="ko-KR" altLang="en-US" sz="1100" b="1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 누락</a:t>
                      </a:r>
                    </a:p>
                    <a:p>
                      <a:pPr defTabSz="762120">
                        <a:lnSpc>
                          <a:spcPct val="100000"/>
                        </a:lnSpc>
                      </a:pPr>
                      <a:endParaRPr lang="en-US" sz="11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선형 보간 → </a:t>
                      </a:r>
                      <a:r>
                        <a:rPr lang="en-US" altLang="ko-KR" sz="110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25</a:t>
                      </a:r>
                      <a:r>
                        <a:rPr lang="ko-KR" altLang="en-US" sz="110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 구 모두 </a:t>
                      </a:r>
                      <a:r>
                        <a:rPr lang="en-US" altLang="ko-KR" sz="110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3,040</a:t>
                      </a:r>
                      <a:r>
                        <a:rPr lang="ko-KR" altLang="en-US" sz="110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 연속</a:t>
                      </a:r>
                      <a:endParaRPr lang="ko-KR" altLang="en-US" sz="1100" b="0" dirty="0">
                        <a:solidFill>
                          <a:srgbClr val="222222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76212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dirty="0" smtClean="0">
                        <a:solidFill>
                          <a:srgbClr val="222222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marL="0" marR="0" indent="0" algn="l" defTabSz="76212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전일 </a:t>
                      </a:r>
                      <a:r>
                        <a:rPr lang="en-US" altLang="ko-KR" sz="110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 7</a:t>
                      </a:r>
                      <a:r>
                        <a:rPr lang="ko-KR" altLang="en-US" sz="110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 전 값 계산에 날짜 연속 필요</a:t>
                      </a:r>
                    </a:p>
                    <a:p>
                      <a:pPr defTabSz="762120">
                        <a:lnSpc>
                          <a:spcPct val="100000"/>
                        </a:lnSpc>
                      </a:pPr>
                      <a:endParaRPr lang="en-US" sz="11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68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1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결측</a:t>
                      </a:r>
                      <a:endParaRPr lang="en-US" sz="11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소방서 신설 전 값 </a:t>
                      </a:r>
                      <a:r>
                        <a:rPr lang="en-US" sz="11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"-" (</a:t>
                      </a:r>
                      <a:r>
                        <a:rPr lang="zh-CN" sz="11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강북 </a:t>
                      </a:r>
                      <a:r>
                        <a:rPr lang="en-US" sz="11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1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성동 </a:t>
                      </a:r>
                      <a:r>
                        <a:rPr lang="en-US" sz="11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1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금천 등</a:t>
                      </a:r>
                      <a:r>
                        <a:rPr lang="en-US" sz="11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)</a:t>
                      </a:r>
                      <a:endParaRPr lang="en-US" sz="11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으로 바꾸고 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imputed_zero 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표시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실제 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건과 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"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소방서가 없던 기간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" 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구분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968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1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결측</a:t>
                      </a:r>
                      <a:endParaRPr lang="en-US" sz="11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의료이용 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2019 · 2020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년 응급실 항목 없음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빈 값 유지 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(50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칸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없는 값을 만들지 않음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968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1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결측</a:t>
                      </a:r>
                      <a:endParaRPr lang="en-US" sz="11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학습 데이터의 과거 값이 없는 행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평균 </a:t>
                      </a:r>
                      <a:r>
                        <a:rPr lang="en-US" sz="11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0</a:t>
                      </a:r>
                      <a:r>
                        <a:rPr lang="zh-CN" sz="11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으로 채우지 않고 결측 많은 변수 </a:t>
                      </a:r>
                      <a:r>
                        <a:rPr lang="en-US" sz="11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1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빈 행 제외</a:t>
                      </a:r>
                      <a:endParaRPr lang="en-US" sz="11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시계열 값을 임의로 채우면 추세 왜곡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68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1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중복</a:t>
                      </a:r>
                      <a:endParaRPr lang="en-US" sz="11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Pop_Peak = 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일최대인구수 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(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값 완전 동일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100" b="0" u="none" strike="noStrike" dirty="0" err="1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Pop_Peak</a:t>
                      </a:r>
                      <a:r>
                        <a:rPr lang="en-US" sz="11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 </a:t>
                      </a:r>
                      <a:r>
                        <a:rPr lang="zh-CN" sz="11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제외</a:t>
                      </a:r>
                      <a:endParaRPr lang="en-US" sz="11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같은 값 컬럼 제거</a:t>
                      </a:r>
                      <a:endParaRPr lang="en-US" sz="11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968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1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특수</a:t>
                      </a:r>
                      <a:endParaRPr lang="en-US" sz="11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소방서 신설로 관할 변경 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(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성동 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광진 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~2017.7, 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금천 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구로 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~2022.1)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해당 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4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개 구의 변경 전 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70</a:t>
                      </a:r>
                      <a:r>
                        <a:rPr lang="zh-CN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행 제외 </a:t>
                      </a: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(2,634 → 2,564)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가짜 급감 </a:t>
                      </a:r>
                      <a:r>
                        <a:rPr lang="en-US" sz="11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10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급증 학습 방</a:t>
                      </a:r>
                      <a:r>
                        <a:rPr lang="zh-CN" sz="1100" b="0" u="none" strike="noStrike" dirty="0" smtClean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지</a:t>
                      </a:r>
                      <a:endParaRPr lang="en-US" altLang="zh-CN" sz="1100" b="0" u="none" strike="noStrike" dirty="0" smtClean="0">
                        <a:solidFill>
                          <a:srgbClr val="222222"/>
                        </a:solidFill>
                        <a:effectLst/>
                        <a:uFillTx/>
                        <a:latin typeface="Pretendard"/>
                        <a:ea typeface="Pretendard"/>
                      </a:endParaRPr>
                    </a:p>
                    <a:p>
                      <a:pPr marL="0" marR="0" indent="0" algn="l" defTabSz="76212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두 구가 섞인 값 </a:t>
                      </a:r>
                      <a:r>
                        <a:rPr lang="en-US" altLang="ko-KR" sz="110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 </a:t>
                      </a:r>
                      <a:r>
                        <a:rPr lang="ko-KR" altLang="en-US" sz="110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부분 집계 값 제외</a:t>
                      </a: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2916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02 데이터 수집 및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77295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2. 데이터 전처리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2-5 </a:t>
            </a:r>
            <a:r>
              <a:rPr sz="14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데이터</a:t>
            </a:r>
            <a:r>
              <a:rPr sz="14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통합</a:t>
            </a:r>
            <a:r>
              <a:rPr sz="14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: </a:t>
            </a:r>
            <a:r>
              <a:rPr sz="14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과거</a:t>
            </a:r>
            <a:r>
              <a:rPr sz="14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값만</a:t>
            </a:r>
            <a:r>
              <a:rPr sz="14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붙여</a:t>
            </a:r>
            <a:r>
              <a:rPr sz="14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학습</a:t>
            </a:r>
            <a:r>
              <a:rPr sz="1400" b="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표 </a:t>
            </a:r>
            <a:r>
              <a:rPr sz="1400" b="0" dirty="0" err="1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만들기</a:t>
            </a:r>
            <a:endParaRPr sz="1400" b="0" dirty="0">
              <a:solidFill>
                <a:srgbClr val="45515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1950000"/>
            <a:ext cx="6300000" cy="6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7200" y="2020000"/>
            <a:ext cx="5860000" cy="4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소방청 API 월별 이송</a:t>
            </a:r>
            <a:r>
              <a:rPr sz="11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   정답 + 전월 · 전년 동월 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7200" y="2020000"/>
            <a:ext cx="1600000" cy="4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ds + District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50000"/>
            <a:ext cx="6300000" cy="6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7200" y="2720000"/>
            <a:ext cx="5860000" cy="4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생활인구 일별 → 월평균</a:t>
            </a:r>
            <a:r>
              <a:rPr sz="11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   전월 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7200" y="2720000"/>
            <a:ext cx="1600000" cy="4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ds + District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50000"/>
            <a:ext cx="6300000" cy="6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7200" y="3420000"/>
            <a:ext cx="5860000" cy="4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구조활동 사고 원인</a:t>
            </a:r>
            <a:r>
              <a:rPr sz="11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   작년 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7200" y="3420000"/>
            <a:ext cx="1600000" cy="4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연도 + District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050000"/>
            <a:ext cx="6300000" cy="6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7200" y="4120000"/>
            <a:ext cx="5860000" cy="4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의료이용 수요 + 공급</a:t>
            </a:r>
            <a:r>
              <a:rPr sz="11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    작년 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7200" y="4120000"/>
            <a:ext cx="1600000" cy="4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연도 + District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830000"/>
            <a:ext cx="6300000" cy="65000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rIns="6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transport_dataset  ·  구 × 월  ·  2,564행 × 46열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650000"/>
            <a:ext cx="6300000" cy="650000"/>
          </a:xfrm>
          <a:prstGeom prst="roundRect">
            <a:avLst>
              <a:gd name="adj" fmla="val 6000"/>
            </a:avLst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rIns="6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population_dataset  ·  구 × 일  ·  75,825행 × 20열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57200" y="1950000"/>
            <a:ext cx="4677600" cy="43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07200" y="2100000"/>
            <a:ext cx="4177600" cy="4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기준을 맞춘 방법</a:t>
            </a:r>
          </a:p>
          <a:p>
            <a:pPr algn="l">
              <a:spcAft>
                <a:spcPts val="900"/>
              </a:spcAft>
            </a:pPr>
            <a:r>
              <a:rPr sz="12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단위 통일</a:t>
            </a:r>
          </a:p>
          <a:p>
            <a:pPr algn="l">
              <a:spcAft>
                <a:spcPts val="900"/>
              </a:spcAft>
            </a:pPr>
            <a:r>
              <a:rPr sz="11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일별 생활인구 → 월평균</a:t>
            </a:r>
          </a:p>
          <a:p>
            <a:pPr algn="l">
              <a:spcAft>
                <a:spcPts val="900"/>
              </a:spcAft>
            </a:pPr>
            <a:r>
              <a:rPr sz="12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연 단위 연결</a:t>
            </a:r>
          </a:p>
          <a:p>
            <a:pPr algn="l">
              <a:spcAft>
                <a:spcPts val="900"/>
              </a:spcAft>
            </a:pPr>
            <a:r>
              <a:rPr sz="11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사고 원인 · 의료이용은 "연도 + 1"로 작년 값 연결</a:t>
            </a:r>
          </a:p>
          <a:p>
            <a:pPr algn="l">
              <a:spcAft>
                <a:spcPts val="900"/>
              </a:spcAft>
            </a:pPr>
            <a:r>
              <a:rPr sz="12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과거 값만 사용</a:t>
            </a:r>
          </a:p>
          <a:p>
            <a:pPr algn="l">
              <a:spcAft>
                <a:spcPts val="900"/>
              </a:spcAft>
            </a:pPr>
            <a:r>
              <a:rPr sz="11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예측 시점에는 이번 달 값을 알 수 없음 → 지난달 출동 건수도 제외</a:t>
            </a:r>
          </a:p>
          <a:p>
            <a:pPr algn="l">
              <a:spcAft>
                <a:spcPts val="900"/>
              </a:spcAft>
            </a:pPr>
            <a:r>
              <a:rPr sz="12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인구 표</a:t>
            </a:r>
          </a:p>
          <a:p>
            <a:pPr algn="l">
              <a:spcAft>
                <a:spcPts val="900"/>
              </a:spcAft>
            </a:pPr>
            <a:r>
              <a:rPr sz="11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구별 날짜순 정렬 후 하루 · 7일씩 밀기, 날짜 간격이 맞지 않으면 빈 값</a:t>
            </a:r>
          </a:p>
        </p:txBody>
      </p:sp>
    </p:spTree>
    <p:extLst>
      <p:ext uri="{BB962C8B-B14F-4D97-AF65-F5344CB8AC3E}">
        <p14:creationId xmlns:p14="http://schemas.microsoft.com/office/powerpoint/2010/main" val="18434219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02 데이터 수집 및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77295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2. 데이터 전처리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2-6 변수 선택과 최종 학습 데이터셋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6895" y="2364205"/>
            <a:ext cx="2159520" cy="5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rIns="60000" rtlCol="0" anchor="ctr"/>
          <a:lstStyle/>
          <a:p>
            <a:pPr algn="ctr"/>
            <a:r>
              <a:rPr sz="11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① 결측 20% 초과 제외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36415" y="2364205"/>
            <a:ext cx="2159520" cy="5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rIns="60000" rtlCol="0" anchor="ctr"/>
          <a:lstStyle/>
          <a:p>
            <a:pPr algn="ctr"/>
            <a:r>
              <a:rPr sz="11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② 정답과 |r| &lt; 0.3 제외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15935" y="2364205"/>
            <a:ext cx="2159520" cy="5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rIns="60000" rtlCol="0" anchor="ctr"/>
          <a:lstStyle/>
          <a:p>
            <a:pPr algn="ctr"/>
            <a:r>
              <a:rPr sz="11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③ 선택 변수와 |r| ≥ 0.9 제외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95455" y="2364205"/>
            <a:ext cx="2159520" cy="5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rIns="60000" rtlCol="0" anchor="ctr"/>
          <a:lstStyle/>
          <a:p>
            <a:pPr algn="ctr"/>
            <a:r>
              <a:rPr sz="11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④ 빈 값 없는 행 70% 미만이면 제외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74975" y="2364205"/>
            <a:ext cx="2159520" cy="520000"/>
          </a:xfrm>
          <a:prstGeom prst="roundRect">
            <a:avLst>
              <a:gd name="adj" fmla="val 6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rIns="600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⑤ 계산은 2024년까지 데이터만</a:t>
            </a:r>
          </a:p>
        </p:txBody>
      </p:sp>
      <p:graphicFrame>
        <p:nvGraphicFramePr>
          <p:cNvPr id="12" name="Table 25"/>
          <p:cNvGraphicFramePr/>
          <p:nvPr>
            <p:extLst/>
          </p:nvPr>
        </p:nvGraphicFramePr>
        <p:xfrm>
          <a:off x="304920" y="2844984"/>
          <a:ext cx="11277360" cy="3887286"/>
        </p:xfrm>
        <a:graphic>
          <a:graphicData uri="http://schemas.openxmlformats.org/drawingml/2006/table">
            <a:tbl>
              <a:tblPr/>
              <a:tblGrid>
                <a:gridCol w="1749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54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21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788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이송 건수 예측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인구 밀집 예측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881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0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출력 </a:t>
                      </a:r>
                      <a:r>
                        <a:rPr lang="en-US" sz="10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(y)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이번 달 구별 이송 건수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오늘 구별 일최대인구수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881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0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입력 </a:t>
                      </a:r>
                      <a:r>
                        <a:rPr lang="en-US" sz="10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(X)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지난달 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 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작년 같은 달 이송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, 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지난달 야간 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 </a:t>
                      </a:r>
                      <a:r>
                        <a:rPr lang="ko-KR" altLang="en-US" sz="1050" b="0" dirty="0" err="1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일최대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 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동내 이동 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 </a:t>
                      </a:r>
                      <a:r>
                        <a:rPr lang="ko-KR" altLang="en-US" sz="1050" b="0" dirty="0" err="1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서울외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유입 인구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, 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작년 </a:t>
                      </a:r>
                      <a:r>
                        <a:rPr lang="ko-KR" altLang="en-US" sz="1050" b="0" dirty="0" err="1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인명갇힘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 </a:t>
                      </a:r>
                      <a:r>
                        <a:rPr lang="ko-KR" altLang="en-US" sz="1050" b="0" dirty="0" err="1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승강기사고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(8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) + 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월</a:t>
                      </a:r>
                      <a:endParaRPr lang="ko-KR" altLang="en-US" sz="1050" b="0" dirty="0">
                        <a:solidFill>
                          <a:srgbClr val="222222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 전 </a:t>
                      </a:r>
                      <a:r>
                        <a:rPr lang="ko-KR" altLang="en-US" sz="1050" b="0" dirty="0" err="1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일최대인구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, 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어제 야간 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 </a:t>
                      </a:r>
                      <a:r>
                        <a:rPr lang="ko-KR" altLang="en-US" sz="1050" b="0" dirty="0" err="1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일최대이동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 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동내 이동 인구 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 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주야간 차이 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(5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) + 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월 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 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요일 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 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주말</a:t>
                      </a:r>
                      <a:endParaRPr lang="ko-KR" altLang="en-US" sz="1050" b="0" dirty="0">
                        <a:solidFill>
                          <a:srgbClr val="222222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881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0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제외 변수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33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: 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결측 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 (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의료이용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) · 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중복 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 · 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상관 약함 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 · 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계산 불가 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 (2024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년 신설 분류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)</a:t>
                      </a:r>
                      <a:endParaRPr lang="en-US" altLang="ko-KR" sz="1050" b="0" dirty="0">
                        <a:solidFill>
                          <a:srgbClr val="222222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: 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중복 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 · 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상관 약함 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 (</a:t>
                      </a:r>
                      <a:r>
                        <a:rPr lang="ko-KR" altLang="en-US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외국인 인구</a:t>
                      </a:r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)</a:t>
                      </a:r>
                      <a:endParaRPr lang="en-US" altLang="ko-KR" sz="1050" b="0" dirty="0">
                        <a:solidFill>
                          <a:srgbClr val="222222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881">
                <a:tc>
                  <a:txBody>
                    <a:bodyPr/>
                    <a:lstStyle/>
                    <a:p>
                      <a:r>
                        <a:rPr lang="ko-KR" altLang="en-US" sz="1050" b="1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한 행 </a:t>
                      </a:r>
                      <a:r>
                        <a:rPr lang="en-US" altLang="ko-KR" sz="1050" b="1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 </a:t>
                      </a:r>
                      <a:r>
                        <a:rPr lang="ko-KR" altLang="en-US" sz="1050" b="1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기간</a:t>
                      </a:r>
                      <a:endParaRPr lang="ko-KR" altLang="en-US" sz="1050" b="1" dirty="0">
                        <a:solidFill>
                          <a:srgbClr val="222222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자치구 </a:t>
                      </a: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× </a:t>
                      </a: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월 </a:t>
                      </a: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(2018.05~2025.12)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자치구 </a:t>
                      </a: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× </a:t>
                      </a: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일 </a:t>
                      </a: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(2018.04.12~2026.07.31)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881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0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규모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2,564 × 46 → 2,180 × 13</a:t>
                      </a:r>
                      <a:endParaRPr lang="en-US" altLang="ko-KR" sz="1050" b="0" dirty="0">
                        <a:solidFill>
                          <a:srgbClr val="222222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 b="0" dirty="0" smtClean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75,825 × 20 → 75,825 × 11</a:t>
                      </a:r>
                      <a:endParaRPr lang="en-US" altLang="ko-KR" sz="1050" b="0" dirty="0">
                        <a:solidFill>
                          <a:srgbClr val="222222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20"/>
          <p:cNvSpPr/>
          <p:nvPr/>
        </p:nvSpPr>
        <p:spPr>
          <a:xfrm>
            <a:off x="456895" y="1979275"/>
            <a:ext cx="5776920" cy="25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lang="en-US" sz="1300" b="1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2025</a:t>
            </a:r>
            <a:r>
              <a:rPr lang="zh-CN" sz="1300" b="1" u="none" strike="noStrike" dirty="0">
                <a:solidFill>
                  <a:srgbClr val="222222"/>
                </a:solidFill>
                <a:effectLst/>
                <a:uFillTx/>
                <a:latin typeface="Pretendard"/>
                <a:ea typeface="Pretendard"/>
              </a:rPr>
              <a:t>년 이전 자료로 변수 선택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698280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02 데이터 수집 및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77295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3. 데이터 분석 인사이트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3-1 데이터에서 확인한 6가지 사실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00000"/>
            <a:ext cx="3600000" cy="20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7200" y="2050000"/>
            <a:ext cx="3200000" cy="17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25,942건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서울 월평균 이송 건수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2017~2025년 108개월 평균. 최대 31,938건(2018.08), 최소 18,850건(2021.02)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6000" y="1900000"/>
            <a:ext cx="3600000" cy="20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96000" y="2050000"/>
            <a:ext cx="3200000" cy="17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108.6 / 86.8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7월 · 2월 이송 지수 (평균=100)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여름(7·8월)에 가장 많고 2월에 가장 적은 뚜렷한 계절성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4800" y="1900000"/>
            <a:ext cx="3600000" cy="20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34800" y="2050000"/>
            <a:ext cx="3200000" cy="17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r = 0.94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지난달과 이번 달 이송 건수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"이번 달 = 지난달"만으로도 2025년 정확도 94.1% → 직전 값의 설명력이 매우 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150000"/>
            <a:ext cx="3600000" cy="20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7200" y="4300000"/>
            <a:ext cx="3200000" cy="17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0.81 vs 0.28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야간인구 × 이송 상관 (구 간 vs 구 내)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인구가 많은 구가 이송도 많지만, 한 구 안에서 월별 인구 변화는 이송을 거의 설명 못함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6000" y="4150000"/>
            <a:ext cx="3600000" cy="20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96000" y="4300000"/>
            <a:ext cx="3200000" cy="17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−20.5% / −16.7%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2020년 · 2024년 연평균 이송 감소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2019→2020년, 2023→2024년 급감. 2025년도 23,062건으로 낮은 수준 유지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4800" y="4150000"/>
            <a:ext cx="3600000" cy="20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4800" y="4300000"/>
            <a:ext cx="3200000" cy="17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약 2배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인구 1만 명당 이송률 격차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강북구 34.3건 vs 송파구 17.6건 → 인구 규모만으로는 구별 수요를 다 설명할 수 없음</a:t>
            </a:r>
          </a:p>
        </p:txBody>
      </p:sp>
    </p:spTree>
    <p:extLst>
      <p:ext uri="{BB962C8B-B14F-4D97-AF65-F5344CB8AC3E}">
        <p14:creationId xmlns:p14="http://schemas.microsoft.com/office/powerpoint/2010/main" val="17996985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02 데이터 수집 및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77295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3. 데이터 분석 인사이트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3-2 인사이트를 분석 · 모델 설계에 반영한 방법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50000"/>
          <a:ext cx="11277599" cy="4480000"/>
        </p:xfrm>
        <a:graphic>
          <a:graphicData uri="http://schemas.openxmlformats.org/drawingml/2006/table">
            <a:tbl>
              <a:tblPr/>
              <a:tblGrid>
                <a:gridCol w="23881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3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6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5515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인사이트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5515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의미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5515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분석 · 모델에 반영한 방법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뚜렷한 월별 계절성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같은 구라도 달에 따라 이송이 ±10% 이상 달라짐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월(원-핫)과 전년 동월 이송 건수를 입력 변수로 사용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직전 값의 높은 설명력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이송 건수는 급변하지 않고 지난달 수준을 따라감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전월 이송 건수를 핵심 변수로, "전월=이번달"을 비교 기준(베이스라인)으로 설정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인구는 구 간 차이를 설명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구별 이송 규모 차이의 대부분이 야간인구 규모와 연결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생활인구 상관계수로 인구 가중치 산출 (4장)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같은 인구 대비 수요 격차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주거 밀집 · 도심 유입 구의 이송률이 높음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인구 구조와 이송률로 자치구를 4개 유형으로 그룹화 (4장)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연도별 수준 변화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2020년 · 2024년 급감 등 구조적 변화 구간 존재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시간 순서로 학습 · 평가 분리, 최근 연도(2025)로 성능 평가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사고 원인 분류 변화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2024년부터 안전조치 · 위치추적 등 새 분류가 기타에서 분리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원인별 추이는 같은 분류가 유지된 항목 위주로 해석 (6장)</a:t>
                      </a:r>
                    </a:p>
                  </a:txBody>
                  <a:tcPr marL="60000" marR="6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20350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02 데이터 수집 및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77295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4. 가중치 산출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4-1 상관분석: 생활인구 13개 지표 × 이송 건수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850000"/>
          <a:ext cx="7000000" cy="46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07200" y="1900000"/>
            <a:ext cx="4027600" cy="45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27200" y="2050000"/>
            <a:ext cx="3587600" cy="4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두 관점으로 본 이유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구마다 인구 규모 차이가 커서, 전체를 한 번에 보면 "큰 구 = 이송 많음"만 드러남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구 간 상관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야간인구 0.81이 가장 높음 → 밤에 머무는 거주 인구가 구별 이송 규모를 가장 잘 설명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주간인구는 0.64로 낮음 → 낮에 모이는 유동 인구보다 거주 기반 수요가 중요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구 내 상관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모든 지표가 0.33 이하 → 한 구 안에서 인구가 달마다 변해도 이송은 거의 따라 움직이지 않음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결론</a:t>
            </a:r>
          </a:p>
          <a:p>
            <a:pPr algn="l">
              <a:spcAft>
                <a:spcPts val="600"/>
              </a:spcAft>
            </a:pPr>
            <a:r>
              <a:rPr sz="11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생활인구는 "구별 수요 규모"를 정하는 가중치로 쓰고, 월별 변화는 계절성 · 전월 값으로 설명</a:t>
            </a:r>
          </a:p>
        </p:txBody>
      </p:sp>
    </p:spTree>
    <p:extLst>
      <p:ext uri="{BB962C8B-B14F-4D97-AF65-F5344CB8AC3E}">
        <p14:creationId xmlns:p14="http://schemas.microsoft.com/office/powerpoint/2010/main" val="876760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02 데이터 수집 및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77295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4. 가중치 산출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4-2 상관이 크고 서로 겹치지 않는 4개 지표로 인구 가중치 계산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00000"/>
            <a:ext cx="2640000" cy="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7200" y="1990000"/>
            <a:ext cx="2280000" cy="7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① 구 간 상관 |r| ≥ 0.3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이송과 관련 있는 지표만 후보로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6400" y="1900000"/>
            <a:ext cx="2640000" cy="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16400" y="1990000"/>
            <a:ext cx="2280000" cy="7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② 서로 |r| ≥ 0.9 제외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같은 정보를 두 번 세지 않도록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5600" y="1900000"/>
            <a:ext cx="2640000" cy="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95600" y="1990000"/>
            <a:ext cx="2280000" cy="7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③ 가중치 = r ÷ Σr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상관이 클수록 큰 비중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4800" y="1900000"/>
            <a:ext cx="2640000" cy="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74800" y="1990000"/>
            <a:ext cx="2280000" cy="7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④ 표준화 점수 × 가중치 합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구별 인구 가중 지수 산출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7200" y="3000000"/>
            <a:ext cx="47276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지표별 가중치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7007200" y="3250000"/>
          <a:ext cx="4727600" cy="21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457200" y="5550000"/>
            <a:ext cx="11277600" cy="8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7200" y="5620000"/>
            <a:ext cx="108376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검증  </a:t>
            </a:r>
            <a:r>
              <a:rPr sz="12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인구 가중 지수와 구별 평균 이송 건수의 상관 0.80  ·  야간인구 단독 0.81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→ 가중 지수는 야간인구 하나와 설명력이 비슷함. 야간인구가 가중치의 중심이고, 나머지 지표는 주간 유입 · 이동 특성을 보완하는 역할</a:t>
            </a:r>
          </a:p>
        </p:txBody>
      </p:sp>
      <p:graphicFrame>
        <p:nvGraphicFramePr>
          <p:cNvPr id="19" name="Table 13"/>
          <p:cNvGraphicFramePr/>
          <p:nvPr/>
        </p:nvGraphicFramePr>
        <p:xfrm>
          <a:off x="457200" y="2999880"/>
          <a:ext cx="6299280" cy="2349000"/>
        </p:xfrm>
        <a:graphic>
          <a:graphicData uri="http://schemas.openxmlformats.org/drawingml/2006/table">
            <a:tbl>
              <a:tblPr/>
              <a:tblGrid>
                <a:gridCol w="177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7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980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선택 지표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구 간 상관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가중치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같은 정보로 묶여 제외된 지표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80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야간인구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15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0.81</a:t>
                      </a:r>
                      <a:endParaRPr lang="en-US" sz="11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30.6%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일최소인구 </a:t>
                      </a: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내국인 생활인구 </a:t>
                      </a: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총 생활인구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80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동일구 행정동간 이동인구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0.79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29.9%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—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80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일최대인구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0.68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25.8%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주간인구 </a:t>
                      </a: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일최대 이동인구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80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서울외 유입인구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0.36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13.7%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15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자치구간 이동인구</a:t>
                      </a:r>
                      <a:endParaRPr lang="en-US" sz="11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90137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02 데이터 수집 및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77295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4. 가중치 산출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4-3 그룹화: KMeans로 25개 구를 4개 유형으로 분류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2150000"/>
          <a:ext cx="5600000" cy="43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Oval 6"/>
          <p:cNvSpPr/>
          <p:nvPr/>
        </p:nvSpPr>
        <p:spPr>
          <a:xfrm>
            <a:off x="457200" y="1950000"/>
            <a:ext cx="150000" cy="150000"/>
          </a:xfrm>
          <a:prstGeom prst="ellipse">
            <a:avLst/>
          </a:prstGeom>
          <a:solidFill>
            <a:srgbClr val="5B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200" y="1905000"/>
            <a:ext cx="120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대규모 거점형</a:t>
            </a:r>
          </a:p>
        </p:txBody>
      </p:sp>
      <p:sp>
        <p:nvSpPr>
          <p:cNvPr id="9" name="Oval 8"/>
          <p:cNvSpPr/>
          <p:nvPr/>
        </p:nvSpPr>
        <p:spPr>
          <a:xfrm>
            <a:off x="1857200" y="1950000"/>
            <a:ext cx="150000" cy="150000"/>
          </a:xfrm>
          <a:prstGeom prst="ellipse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67200" y="1905000"/>
            <a:ext cx="120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도심 유입형</a:t>
            </a:r>
          </a:p>
        </p:txBody>
      </p:sp>
      <p:sp>
        <p:nvSpPr>
          <p:cNvPr id="11" name="Oval 10"/>
          <p:cNvSpPr/>
          <p:nvPr/>
        </p:nvSpPr>
        <p:spPr>
          <a:xfrm>
            <a:off x="3257200" y="1950000"/>
            <a:ext cx="150000" cy="150000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67200" y="1905000"/>
            <a:ext cx="120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주거 고수요형</a:t>
            </a:r>
          </a:p>
        </p:txBody>
      </p:sp>
      <p:sp>
        <p:nvSpPr>
          <p:cNvPr id="13" name="Oval 12"/>
          <p:cNvSpPr/>
          <p:nvPr/>
        </p:nvSpPr>
        <p:spPr>
          <a:xfrm>
            <a:off x="4657200" y="1950000"/>
            <a:ext cx="150000" cy="150000"/>
          </a:xfrm>
          <a:prstGeom prst="ellipse">
            <a:avLst/>
          </a:prstGeom>
          <a:solidFill>
            <a:srgbClr val="C9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67200" y="1905000"/>
            <a:ext cx="120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일반 주거형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7200" y="4950000"/>
            <a:ext cx="5477600" cy="14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유형별 해석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대규모 거점형: 인구가 가장 많지만 1만 명당 이송은 가장 낮음 (19.2)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도심 유입형: 주간인구가 야간의 1.6배, 거주 인구 대비 이송이 높게 잡힘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주거 고수요형: 인구 규모는 중간이지만 1만 명당 이송이 가장 높음 (29.6)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일반 주거형: 13개 구, 서울 평균에 가까운 수요</a:t>
            </a:r>
          </a:p>
        </p:txBody>
      </p:sp>
      <p:graphicFrame>
        <p:nvGraphicFramePr>
          <p:cNvPr id="18" name="Table 14"/>
          <p:cNvGraphicFramePr/>
          <p:nvPr/>
        </p:nvGraphicFramePr>
        <p:xfrm>
          <a:off x="6257160" y="1900080"/>
          <a:ext cx="5476680" cy="2810700"/>
        </p:xfrm>
        <a:graphic>
          <a:graphicData uri="http://schemas.openxmlformats.org/drawingml/2006/table">
            <a:tbl>
              <a:tblPr/>
              <a:tblGrid>
                <a:gridCol w="1037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5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5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2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980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050" b="1" u="none" strike="noStrike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유형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050" b="1" u="none" strike="noStrike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자치구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050" b="1" u="none" strike="noStrike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야간인구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050" b="1" u="none" strike="noStrike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주야간비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050" b="1" u="none" strike="noStrike">
                          <a:solidFill>
                            <a:srgbClr val="45515E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이송률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9360">
                      <a:solidFill>
                        <a:srgbClr val="45515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80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0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대규모 거점형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강남 </a:t>
                      </a: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서초 </a:t>
                      </a: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송파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68</a:t>
                      </a: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만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1.21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19.2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455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80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0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도심 유입형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종로 </a:t>
                      </a: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중구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25</a:t>
                      </a: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만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1.58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29.2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980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050" b="1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주거 고수요형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강북 </a:t>
                      </a: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구로 </a:t>
                      </a: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금천 </a:t>
                      </a: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도봉</a:t>
                      </a:r>
                      <a:r>
                        <a:rPr sz="1050"/>
                        <a:t/>
                      </a:r>
                      <a:br>
                        <a:rPr sz="1050"/>
                      </a:b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동대문 </a:t>
                      </a: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양천 </a:t>
                      </a: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중랑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34</a:t>
                      </a: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만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0.94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29.6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9800"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050" b="1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일반 주거형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강동 </a:t>
                      </a: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강서 </a:t>
                      </a: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관악 </a:t>
                      </a: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광진 </a:t>
                      </a: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노원</a:t>
                      </a:r>
                      <a:r>
                        <a:rPr sz="1050"/>
                        <a:t/>
                      </a:r>
                      <a:br>
                        <a:rPr sz="1050"/>
                      </a:b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동작 </a:t>
                      </a: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마포 </a:t>
                      </a: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서대문 </a:t>
                      </a: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성동</a:t>
                      </a:r>
                      <a:r>
                        <a:rPr sz="1050"/>
                        <a:t/>
                      </a:r>
                      <a:br>
                        <a:rPr sz="1050"/>
                      </a:b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성북 </a:t>
                      </a: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영등포 </a:t>
                      </a: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용산 </a:t>
                      </a: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은평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45</a:t>
                      </a:r>
                      <a:r>
                        <a:rPr lang="zh-CN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만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0.98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762120">
                        <a:lnSpc>
                          <a:spcPct val="100000"/>
                        </a:lnSpc>
                      </a:pPr>
                      <a:r>
                        <a:rPr lang="en-US" sz="1050" b="0" u="none" strike="noStrike" dirty="0">
                          <a:solidFill>
                            <a:srgbClr val="222222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22.5</a:t>
                      </a:r>
                      <a:endParaRPr lang="en-US" sz="10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9760" marR="597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 cap="flat" cmpd="sng" algn="ctr">
                      <a:solidFill>
                        <a:srgbClr val="C9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C9CDD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6427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02 데이터 수집 및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77295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4. 가중치 산출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4-4 시각화: 자치구별 인구 1만 명당 이송률과 유형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80000"/>
            <a:ext cx="112776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자치구별 인구 1만 명당 월 이송 건수 (색 = 유형)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2150000"/>
          <a:ext cx="11277600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5130000"/>
            <a:ext cx="160000" cy="160000"/>
          </a:xfrm>
          <a:prstGeom prst="rect">
            <a:avLst/>
          </a:prstGeom>
          <a:solidFill>
            <a:srgbClr val="5B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7200" y="5090000"/>
            <a:ext cx="160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대규모 거점형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57200" y="5130000"/>
            <a:ext cx="160000" cy="160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87200" y="5090000"/>
            <a:ext cx="160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도심 유입형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7200" y="5130000"/>
            <a:ext cx="160000" cy="160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7200" y="5090000"/>
            <a:ext cx="160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주거 고수요형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7200" y="5130000"/>
            <a:ext cx="160000" cy="160000"/>
          </a:xfrm>
          <a:prstGeom prst="rect">
            <a:avLst/>
          </a:prstGeom>
          <a:solidFill>
            <a:srgbClr val="C9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7200" y="5090000"/>
            <a:ext cx="160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일반 주거형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450000"/>
            <a:ext cx="3600000" cy="9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7200" y="5540000"/>
            <a:ext cx="324000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상위권은 주거 고수요형 · 도심 유입형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강북 34.3 · 구로 31.6 · 도봉 30.0 · 중구 29.3 · 양천 29.2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6000" y="5450000"/>
            <a:ext cx="3600000" cy="9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76000" y="5540000"/>
            <a:ext cx="324000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하위권은 대규모 거점형 포함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송파 17.6 · 동작 18.9 · 강남 19.0 · 광진 20.1 · 성동 20.5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4800" y="5450000"/>
            <a:ext cx="3600000" cy="9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14800" y="5540000"/>
            <a:ext cx="324000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가중치 활용 방향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인구 가중 지수로 규모를, 유형으로 같은 인구 대비 수요 수준을 함께 반영</a:t>
            </a:r>
          </a:p>
        </p:txBody>
      </p:sp>
    </p:spTree>
    <p:extLst>
      <p:ext uri="{BB962C8B-B14F-4D97-AF65-F5344CB8AC3E}">
        <p14:creationId xmlns:p14="http://schemas.microsoft.com/office/powerpoint/2010/main" val="19465142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02 데이터 수집 및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77295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5. 시계열 특성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5-1 월별 계절성: 여름에 늘고 2월에 가장 적음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80000"/>
            <a:ext cx="73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월별 이송 지수 (전체 평균 = 100)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2150000"/>
          <a:ext cx="7300000" cy="42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007200" y="1900000"/>
            <a:ext cx="3727600" cy="4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7200" y="2050000"/>
            <a:ext cx="3287600" cy="4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성수기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7월 108.6 · 8월 108.4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두 달 모두 평균보다 8% 이상 높음 (원인은 별도 분석 필요)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비수기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2월 86.8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28일인 달이라 월 합계가 작아지는 영향 포함 (일수 차이만으로 약 −8%)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시계열 분해 (서울 전체)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계절 효과 폭 약 5,835건 = 월평균의 약 22%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→ 월(원-핫)과 전년 동월 값을 예측 변수로 사용</a:t>
            </a:r>
          </a:p>
        </p:txBody>
      </p:sp>
    </p:spTree>
    <p:extLst>
      <p:ext uri="{BB962C8B-B14F-4D97-AF65-F5344CB8AC3E}">
        <p14:creationId xmlns:p14="http://schemas.microsoft.com/office/powerpoint/2010/main" val="17882374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02 데이터 수집 및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77295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5. 시계열 특성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5-2 연도별 추이와 자기상관: 수준은 변해도 직전 값을 따라감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80000"/>
            <a:ext cx="55194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서울 월평균 이송 건수 (연도별)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2150000"/>
          <a:ext cx="5519400" cy="30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5400" y="1880000"/>
            <a:ext cx="55194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자기상관: n개월 전 이송 건수와 현재 값의 상관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215400" y="2150000"/>
          <a:ext cx="5519400" cy="30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57200" y="5300000"/>
            <a:ext cx="3600000" cy="11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7200" y="5390000"/>
            <a:ext cx="3240000" cy="9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2020년 −20.5%, 2024년 −16.7%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두 차례 급감 후 2025년 23,062건. 코로나19 시기(2020)와 겹치며, 2024년 감소 원인은 추가 확인 필요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6000" y="5300000"/>
            <a:ext cx="3600000" cy="11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76000" y="5390000"/>
            <a:ext cx="3240000" cy="9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1개월 전 0.94 · 12개월 전 0.81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가장 가까운 과거일수록 설명력이 크고, 1년 전 같은 달도 다시 높아짐 → 계절 반복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4800" y="5300000"/>
            <a:ext cx="3600000" cy="11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14800" y="5390000"/>
            <a:ext cx="3240000" cy="9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"이번 달 = 지난달" 94.1%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단순 기준만으로 높은 정확도 → 모델은 이 기준을 넘어서는지로 평가</a:t>
            </a:r>
          </a:p>
        </p:txBody>
      </p:sp>
    </p:spTree>
    <p:extLst>
      <p:ext uri="{BB962C8B-B14F-4D97-AF65-F5344CB8AC3E}">
        <p14:creationId xmlns:p14="http://schemas.microsoft.com/office/powerpoint/2010/main" val="29442773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02 데이터 수집 및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77295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5. 시계열 특성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5-3 생활인구의 주간 패턴: 주말에 줄고, 도심일수록 크게 줄어듦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80000"/>
            <a:ext cx="55194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요일별 일최대인구 지수 (평균 = 100)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2150000"/>
          <a:ext cx="5519400" cy="30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5400" y="1880000"/>
            <a:ext cx="55194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유형별 주말 ÷ 평일 일최대인구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215400" y="2150000"/>
          <a:ext cx="5519400" cy="30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57200" y="5350000"/>
            <a:ext cx="3600000" cy="10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7200" y="5440000"/>
            <a:ext cx="324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평일 101.7~102.5 → 주말 93.6~95.8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토 · 일요일에 일최대인구가 평일보다 약 7~9% 낮음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6000" y="5350000"/>
            <a:ext cx="3600000" cy="10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76000" y="5440000"/>
            <a:ext cx="324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도심 유입형은 주말에 27% 감소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종로 · 중구는 출퇴근 인구 비중이 커서 주말 변화가 가장 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4800" y="5350000"/>
            <a:ext cx="3600000" cy="10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14800" y="5440000"/>
            <a:ext cx="324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주거형은 주말에도 2~3%만 감소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인구 밀집 예측에 요일 · 주말 변수와 구 유형을 함께 반영</a:t>
            </a:r>
          </a:p>
        </p:txBody>
      </p:sp>
    </p:spTree>
    <p:extLst>
      <p:ext uri="{BB962C8B-B14F-4D97-AF65-F5344CB8AC3E}">
        <p14:creationId xmlns:p14="http://schemas.microsoft.com/office/powerpoint/2010/main" val="23490476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02 데이터 수집 및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77295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6. 키워드 · 트렌드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6-1 키워드 분석: 구급 건별 표본의 발생 장소 · 사고 유형 빈도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2150000"/>
          <a:ext cx="3600000" cy="30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296000" y="2150000"/>
          <a:ext cx="3600000" cy="30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134800" y="2150000"/>
          <a:ext cx="3600000" cy="30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1880000"/>
            <a:ext cx="36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발생 장소 (상위 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6000" y="1880000"/>
            <a:ext cx="36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질병 외 사고 유형 (상위 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4800" y="1880000"/>
            <a:ext cx="36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환자 연령대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300000"/>
            <a:ext cx="3600000" cy="11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200" y="5390000"/>
            <a:ext cx="3240000" cy="9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"집" 66.8%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구급 출동 3건 중 2건이 집에서 발생 → 거주(야간) 인구와 이송의 강한 연관을 뒷받침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6000" y="5300000"/>
            <a:ext cx="3600000" cy="11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76000" y="5390000"/>
            <a:ext cx="3240000" cy="9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"낙상" 사고 유형 1위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질병 외 사고 중 낙상 134건으로 오토바이 · 주취의 5배 수준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4800" y="5300000"/>
            <a:ext cx="3600000" cy="11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14800" y="5390000"/>
            <a:ext cx="3240000" cy="9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60세 이상 58.3%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70대 20.4% · 80대 19.2% → 표본 기준 고령 환자 비중이 가장 큼</a:t>
            </a:r>
          </a:p>
        </p:txBody>
      </p:sp>
    </p:spTree>
    <p:extLst>
      <p:ext uri="{BB962C8B-B14F-4D97-AF65-F5344CB8AC3E}">
        <p14:creationId xmlns:p14="http://schemas.microsoft.com/office/powerpoint/2010/main" val="7759022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02 데이터 수집 및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77295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6. 키워드 · 트렌드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6-2 트렌드 분석: 사고 원인별 구조인원 추이 (2007~2025, 서울 합계)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850000"/>
          <a:ext cx="7400000" cy="4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107200" y="1900000"/>
            <a:ext cx="3627600" cy="4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07200" y="2030000"/>
            <a:ext cx="3227600" cy="4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승강기사고 · 가장 많은 원인 유지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2017년 8,464명 정점 → 2025년 4,793명. 2020~21년 급감 후 회복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인명갇힘 · 장기 감소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2016년 5,833명 → 2025년 1,826명 (−69%)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교통사고 · 2020년 이후 절반 이하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2019년 1,572명 → 2020년 656명, 이후 400~800명대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수난사고 · 2021년 정점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2021년 2,109명 → 2024년 425명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해석 시 주의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2024년 분류 체계 변경 (안전조치 · 위치추적 등 신설) → 기타 항목은 비교 제외. 원인별 연도 값은 이송 예측의 "전년 사고 원인" 변수로 사용</a:t>
            </a:r>
          </a:p>
        </p:txBody>
      </p:sp>
    </p:spTree>
    <p:extLst>
      <p:ext uri="{BB962C8B-B14F-4D97-AF65-F5344CB8AC3E}">
        <p14:creationId xmlns:p14="http://schemas.microsoft.com/office/powerpoint/2010/main" val="34537003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02 데이터 수집 및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77295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6. 키워드 · 트렌드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6-3 트렌드 분석: 출동 유형과 이송 여부 (구급출동 건별 2021~2022)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2150000"/>
          <a:ext cx="3600000" cy="30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296000" y="2150000"/>
          <a:ext cx="3600000" cy="30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134800" y="2150000"/>
          <a:ext cx="3600000" cy="30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1880000"/>
            <a:ext cx="36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발생 유형 비중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6000" y="1880000"/>
            <a:ext cx="36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이송 여부 비중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4800" y="1880000"/>
            <a:ext cx="36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연도별 발생 유형 (건)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350000"/>
            <a:ext cx="3600000" cy="10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200" y="5440000"/>
            <a:ext cx="324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질병 47.6% · 질병 외 48.5%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서울 전체로는 질병과 사고가 거의 반반 (관악 표본은 질병 69.4%로 지역 차이 존재)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6000" y="5350000"/>
            <a:ext cx="3600000" cy="10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76000" y="5440000"/>
            <a:ext cx="324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102E"/>
                </a:solidFill>
                <a:latin typeface="Pretendard"/>
                <a:ea typeface="Pretendard"/>
                <a:cs typeface="Pretendard"/>
              </a:rPr>
              <a:t>출동 10건 중 약 6건 이송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이송 57.5% · 미이송 35.8% → "출동 건수"와 "이송 건수"는 다른 목표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4800" y="5350000"/>
            <a:ext cx="3600000" cy="10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14800" y="5440000"/>
            <a:ext cx="324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2021 → 2022 출동 +12.2%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550,061건 → 617,256건, 질병 · 질병 외 모두 증가 (API 연평균 증가와 같은 방향)</a:t>
            </a:r>
          </a:p>
        </p:txBody>
      </p:sp>
    </p:spTree>
    <p:extLst>
      <p:ext uri="{BB962C8B-B14F-4D97-AF65-F5344CB8AC3E}">
        <p14:creationId xmlns:p14="http://schemas.microsoft.com/office/powerpoint/2010/main" val="30808492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4000" b="1" u="none" strike="noStrike" dirty="0">
                <a:effectLst/>
                <a:uFillTx/>
                <a:latin typeface="Pretendard"/>
                <a:ea typeface="Pretendard"/>
              </a:rPr>
              <a:t>서울시 </a:t>
            </a:r>
            <a:r>
              <a:rPr lang="en-US" sz="4000" b="1" u="none" strike="noStrike" dirty="0">
                <a:effectLst/>
                <a:uFillTx/>
                <a:latin typeface="Pretendard"/>
                <a:ea typeface="Pretendard"/>
              </a:rPr>
              <a:t>119 </a:t>
            </a:r>
            <a:r>
              <a:rPr lang="zh-CN" sz="4000" b="1" u="none" strike="noStrike" dirty="0">
                <a:effectLst/>
                <a:uFillTx/>
                <a:latin typeface="Pretendard"/>
                <a:ea typeface="Pretendard"/>
              </a:rPr>
              <a:t>이송 건수 </a:t>
            </a:r>
            <a:r>
              <a:rPr lang="en-US" sz="4000" b="1" u="none" strike="noStrike" dirty="0"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4000" b="1" u="none" strike="noStrike" dirty="0">
                <a:effectLst/>
                <a:uFillTx/>
                <a:latin typeface="Pretendard"/>
                <a:ea typeface="Pretendard"/>
              </a:rPr>
              <a:t>인구 밀집 예측</a:t>
            </a:r>
            <a:endParaRPr lang="en-US" sz="40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4000" b="1" u="none" strike="noStrike">
                <a:effectLst/>
                <a:uFillTx/>
                <a:latin typeface="Pretendard"/>
                <a:ea typeface="Pretendard"/>
              </a:rPr>
              <a:t>모델 개발 과정과 의사결정</a:t>
            </a:r>
            <a:endParaRPr lang="en-US" sz="4000" b="0" u="none" strike="noStrike">
              <a:effectLst/>
              <a:uFillTx/>
              <a:latin typeface="Arial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3794760"/>
            <a:ext cx="106981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700" b="0" u="none" strike="noStrike">
                <a:effectLst/>
                <a:uFillTx/>
                <a:latin typeface="Pretendard"/>
                <a:ea typeface="Pretendard"/>
              </a:rPr>
              <a:t>어떤 변수를 왜 검토했고</a:t>
            </a:r>
            <a:r>
              <a:rPr lang="en-US" sz="1700" b="0" u="none" strike="noStrike">
                <a:effectLst/>
                <a:uFillTx/>
                <a:latin typeface="Pretendard"/>
                <a:ea typeface="Pretendard"/>
              </a:rPr>
              <a:t>, </a:t>
            </a:r>
            <a:r>
              <a:rPr lang="zh-CN" sz="1700" b="0" u="none" strike="noStrike">
                <a:effectLst/>
                <a:uFillTx/>
                <a:latin typeface="Pretendard"/>
                <a:ea typeface="Pretendard"/>
              </a:rPr>
              <a:t>어떤 실험으로 무엇을 결정했으며</a:t>
            </a:r>
            <a:r>
              <a:rPr lang="en-US" sz="1700" b="0" u="none" strike="noStrike">
                <a:effectLst/>
                <a:uFillTx/>
                <a:latin typeface="Pretendard"/>
                <a:ea typeface="Pretendard"/>
              </a:rPr>
              <a:t>, </a:t>
            </a:r>
            <a:r>
              <a:rPr lang="zh-CN" sz="1700" b="0" u="none" strike="noStrike">
                <a:effectLst/>
                <a:uFillTx/>
                <a:latin typeface="Pretendard"/>
                <a:ea typeface="Pretendard"/>
              </a:rPr>
              <a:t>어떤 기준으로 최종 모델을 골랐는가</a:t>
            </a:r>
            <a:endParaRPr lang="en-US" sz="1700" b="0" u="none" strike="noStrike"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954788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0"/>
          <p:cNvSpPr/>
          <p:nvPr/>
        </p:nvSpPr>
        <p:spPr>
          <a:xfrm>
            <a:off x="457200" y="365760"/>
            <a:ext cx="11277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01  </a:t>
            </a:r>
            <a:r>
              <a:rPr lang="zh-CN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모델 개발 개요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3"/>
          <p:cNvSpPr/>
          <p:nvPr/>
        </p:nvSpPr>
        <p:spPr>
          <a:xfrm>
            <a:off x="457200" y="637344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02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4"/>
          <p:cNvSpPr/>
          <p:nvPr/>
        </p:nvSpPr>
        <p:spPr>
          <a:xfrm>
            <a:off x="1371600" y="6373440"/>
            <a:ext cx="1036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출처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: 03_119_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통합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예측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.ipynb — 1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장 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· 4-1 · 5-1 · 5-3 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출력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7" name="Table 0"/>
          <p:cNvGraphicFramePr/>
          <p:nvPr>
            <p:extLst/>
          </p:nvPr>
        </p:nvGraphicFramePr>
        <p:xfrm>
          <a:off x="457200" y="1410224"/>
          <a:ext cx="11277000" cy="36208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0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4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4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2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구분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2F5D8A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119 </a:t>
                      </a:r>
                      <a:r>
                        <a:rPr lang="zh-CN" sz="1200" b="1" u="none" strike="noStrike">
                          <a:solidFill>
                            <a:srgbClr val="2F5D8A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이송 건수 예측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200" b="1" u="none" strike="noStrike">
                          <a:solidFill>
                            <a:srgbClr val="2F5D8A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인구 밀집 예측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2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예측 대상 </a:t>
                      </a:r>
                      <a:r>
                        <a:rPr lang="en-US" sz="12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(</a:t>
                      </a:r>
                      <a:r>
                        <a:rPr lang="zh-CN" sz="12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정답</a:t>
                      </a:r>
                      <a:r>
                        <a:rPr lang="en-US" sz="12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transport_cnt — </a:t>
                      </a: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월별 </a:t>
                      </a:r>
                      <a:r>
                        <a:rPr lang="en-US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119 </a:t>
                      </a: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이송 건수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일최대인구수 — 하루 중 최대 생활인구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2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데이터 단위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200" b="0" u="none" strike="noStrike" dirty="0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자치구 </a:t>
                      </a:r>
                      <a:r>
                        <a:rPr lang="en-US" sz="1200" b="0" u="none" strike="noStrike" dirty="0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× </a:t>
                      </a:r>
                      <a:r>
                        <a:rPr lang="zh-CN" sz="1200" b="0" u="none" strike="noStrike" dirty="0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월</a:t>
                      </a:r>
                      <a:endParaRPr lang="en-US" sz="12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자치구 </a:t>
                      </a:r>
                      <a:r>
                        <a:rPr lang="en-US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× </a:t>
                      </a: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일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2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데이터 기간 </a:t>
                      </a:r>
                      <a:r>
                        <a:rPr lang="en-US" sz="12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2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크기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2017-01 ~ 2025-12, 2,564</a:t>
                      </a: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행 → 결측 제외 </a:t>
                      </a:r>
                      <a:r>
                        <a:rPr lang="en-US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2,180</a:t>
                      </a: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행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2018-04-12 ~ 2026-07-31, 75,825</a:t>
                      </a: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행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2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입력 컬럼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숫자 </a:t>
                      </a:r>
                      <a:r>
                        <a:rPr lang="en-US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8 + </a:t>
                      </a: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구 </a:t>
                      </a:r>
                      <a:r>
                        <a:rPr lang="en-US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25 + </a:t>
                      </a: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월 </a:t>
                      </a:r>
                      <a:r>
                        <a:rPr lang="en-US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12 = 45</a:t>
                      </a: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개 </a:t>
                      </a:r>
                      <a:r>
                        <a:rPr lang="en-US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(</a:t>
                      </a: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달력 채택 후 </a:t>
                      </a:r>
                      <a:r>
                        <a:rPr lang="en-US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49</a:t>
                      </a: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개</a:t>
                      </a:r>
                      <a:r>
                        <a:rPr lang="en-US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숫자 </a:t>
                      </a:r>
                      <a:r>
                        <a:rPr lang="en-US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5 + </a:t>
                      </a: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주말여부 </a:t>
                      </a:r>
                      <a:r>
                        <a:rPr lang="en-US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+ </a:t>
                      </a: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구 </a:t>
                      </a:r>
                      <a:r>
                        <a:rPr lang="en-US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25 + </a:t>
                      </a: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요일 </a:t>
                      </a:r>
                      <a:r>
                        <a:rPr lang="en-US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7 + </a:t>
                      </a: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월 </a:t>
                      </a:r>
                      <a:r>
                        <a:rPr lang="en-US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12 = 50</a:t>
                      </a: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개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2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성능 측정 방식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6</a:t>
                      </a: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개월 연속 예측 </a:t>
                      </a:r>
                      <a:r>
                        <a:rPr lang="en-US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(</a:t>
                      </a: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예측값을 다음 달 전월 값으로 사용</a:t>
                      </a:r>
                      <a:r>
                        <a:rPr lang="en-US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일 단위 예측 </a:t>
                      </a:r>
                      <a:r>
                        <a:rPr lang="en-US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(</a:t>
                      </a: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전일 </a:t>
                      </a:r>
                      <a:r>
                        <a:rPr lang="en-US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7</a:t>
                      </a: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일 전 실제 값 사용</a:t>
                      </a:r>
                      <a:r>
                        <a:rPr lang="en-US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2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비교 기준선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지난달 값 그대로 </a:t>
                      </a:r>
                      <a:r>
                        <a:rPr lang="en-US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전년 동월 값 그대로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7</a:t>
                      </a: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일 전 같은 요일 값 그대로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2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정확도 지표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(1 − MAPE) × 100 — </a:t>
                      </a: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평균 오차율의 반대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 dirty="0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(1 − MAPE) × 100 — </a:t>
                      </a:r>
                      <a:r>
                        <a:rPr lang="zh-CN" sz="1200" b="0" u="none" strike="noStrike" dirty="0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평균 오차율의 반대</a:t>
                      </a:r>
                      <a:endParaRPr lang="en-US" sz="12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8" name="Shape 5"/>
          <p:cNvSpPr/>
          <p:nvPr/>
        </p:nvSpPr>
        <p:spPr>
          <a:xfrm>
            <a:off x="457200" y="5058824"/>
            <a:ext cx="11277000" cy="548280"/>
          </a:xfrm>
          <a:prstGeom prst="roundRect">
            <a:avLst>
              <a:gd name="adj" fmla="val 13333"/>
            </a:avLst>
          </a:prstGeom>
          <a:solidFill>
            <a:srgbClr val="E8EEF5"/>
          </a:solidFill>
          <a:ln w="9525">
            <a:solidFill>
              <a:srgbClr val="E8EEF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6"/>
          <p:cNvSpPr/>
          <p:nvPr/>
        </p:nvSpPr>
        <p:spPr>
          <a:xfrm>
            <a:off x="676800" y="5058824"/>
            <a:ext cx="108352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핵심  </a:t>
            </a:r>
            <a:r>
              <a:rPr lang="zh-CN" sz="13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두 모델 모두 같은 원칙 — 시간순 분할</a:t>
            </a:r>
            <a:r>
              <a:rPr lang="en-US" sz="13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zh-CN" sz="13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검증으로 선택</a:t>
            </a:r>
            <a:r>
              <a:rPr lang="en-US" sz="13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zh-CN" sz="13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평가로 확인 — 을 따르되 기간</a:t>
            </a:r>
            <a:r>
              <a:rPr lang="en-US" sz="13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·</a:t>
            </a:r>
            <a:r>
              <a:rPr lang="zh-CN" sz="13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기준선은 각 데이터 단위에 맞췄다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2"/>
          <p:cNvSpPr/>
          <p:nvPr/>
        </p:nvSpPr>
        <p:spPr>
          <a:xfrm>
            <a:off x="457200" y="861584"/>
            <a:ext cx="11277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66699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457200" y="365760"/>
            <a:ext cx="11277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01  </a:t>
            </a:r>
            <a:r>
              <a:rPr lang="zh-CN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모델 개발 개요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457200" y="768240"/>
            <a:ext cx="11277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전체 개발 프로세스 — 검증으로 고르고 평가로 확</a:t>
            </a:r>
            <a:r>
              <a:rPr lang="zh-CN" sz="3000" b="1" u="none" strike="noStrike" dirty="0" smtClean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인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2"/>
          <p:cNvSpPr/>
          <p:nvPr/>
        </p:nvSpPr>
        <p:spPr>
          <a:xfrm>
            <a:off x="457200" y="1444680"/>
            <a:ext cx="11277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단계마다 어떤 데이터 구간을 사용했는지 색으로 구분했다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457200" y="637344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03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1371600" y="6373440"/>
            <a:ext cx="1036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출처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: 03_119_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통합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예측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.ipynb — 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노트북 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1~6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장 흐름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5"/>
          <p:cNvSpPr/>
          <p:nvPr/>
        </p:nvSpPr>
        <p:spPr>
          <a:xfrm>
            <a:off x="457200" y="1993320"/>
            <a:ext cx="1414800" cy="1142640"/>
          </a:xfrm>
          <a:prstGeom prst="roundRect">
            <a:avLst>
              <a:gd name="adj" fmla="val 6400"/>
            </a:avLst>
          </a:prstGeom>
          <a:solidFill>
            <a:srgbClr val="1F2329"/>
          </a:solidFill>
          <a:ln w="9525">
            <a:solidFill>
              <a:srgbClr val="1F232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585360" y="2103120"/>
            <a:ext cx="1158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DEE5"/>
                </a:solidFill>
                <a:effectLst/>
                <a:uFillTx/>
                <a:latin typeface="Pretendard"/>
                <a:ea typeface="Pretendard"/>
              </a:rPr>
              <a:t>01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7"/>
          <p:cNvSpPr/>
          <p:nvPr/>
        </p:nvSpPr>
        <p:spPr>
          <a:xfrm>
            <a:off x="585360" y="2404800"/>
            <a:ext cx="115884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데이터 구성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8"/>
          <p:cNvSpPr/>
          <p:nvPr/>
        </p:nvSpPr>
        <p:spPr>
          <a:xfrm>
            <a:off x="1899720" y="2564640"/>
            <a:ext cx="173520" cy="360"/>
          </a:xfrm>
          <a:prstGeom prst="line">
            <a:avLst/>
          </a:prstGeom>
          <a:ln w="15875">
            <a:solidFill>
              <a:srgbClr val="8A919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9"/>
          <p:cNvSpPr/>
          <p:nvPr/>
        </p:nvSpPr>
        <p:spPr>
          <a:xfrm>
            <a:off x="2100960" y="1993320"/>
            <a:ext cx="1414800" cy="1142640"/>
          </a:xfrm>
          <a:prstGeom prst="roundRect">
            <a:avLst>
              <a:gd name="adj" fmla="val 6400"/>
            </a:avLst>
          </a:prstGeom>
          <a:solidFill>
            <a:srgbClr val="6B7685"/>
          </a:solidFill>
          <a:ln w="9525">
            <a:solidFill>
              <a:srgbClr val="6B768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0"/>
          <p:cNvSpPr/>
          <p:nvPr/>
        </p:nvSpPr>
        <p:spPr>
          <a:xfrm>
            <a:off x="2228760" y="2103120"/>
            <a:ext cx="1158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DEE5"/>
                </a:solidFill>
                <a:effectLst/>
                <a:uFillTx/>
                <a:latin typeface="Pretendard"/>
                <a:ea typeface="Pretendard"/>
              </a:rPr>
              <a:t>02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1"/>
          <p:cNvSpPr/>
          <p:nvPr/>
        </p:nvSpPr>
        <p:spPr>
          <a:xfrm>
            <a:off x="2228760" y="2404800"/>
            <a:ext cx="115884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독립변수 후보 탐색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2"/>
          <p:cNvSpPr/>
          <p:nvPr/>
        </p:nvSpPr>
        <p:spPr>
          <a:xfrm>
            <a:off x="3543120" y="2564640"/>
            <a:ext cx="173880" cy="360"/>
          </a:xfrm>
          <a:prstGeom prst="line">
            <a:avLst/>
          </a:prstGeom>
          <a:ln w="15875">
            <a:solidFill>
              <a:srgbClr val="8A919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3"/>
          <p:cNvSpPr/>
          <p:nvPr/>
        </p:nvSpPr>
        <p:spPr>
          <a:xfrm>
            <a:off x="3744720" y="1993320"/>
            <a:ext cx="1414800" cy="1142640"/>
          </a:xfrm>
          <a:prstGeom prst="roundRect">
            <a:avLst>
              <a:gd name="adj" fmla="val 6400"/>
            </a:avLst>
          </a:prstGeom>
          <a:solidFill>
            <a:srgbClr val="6B7685"/>
          </a:solidFill>
          <a:ln w="9525">
            <a:solidFill>
              <a:srgbClr val="6B768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4"/>
          <p:cNvSpPr/>
          <p:nvPr/>
        </p:nvSpPr>
        <p:spPr>
          <a:xfrm>
            <a:off x="3872520" y="2103120"/>
            <a:ext cx="1158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DEE5"/>
                </a:solidFill>
                <a:effectLst/>
                <a:uFillTx/>
                <a:latin typeface="Pretendard"/>
                <a:ea typeface="Pretendard"/>
              </a:rPr>
              <a:t>03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5"/>
          <p:cNvSpPr/>
          <p:nvPr/>
        </p:nvSpPr>
        <p:spPr>
          <a:xfrm>
            <a:off x="3872520" y="2404800"/>
            <a:ext cx="115884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생활인구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-</a:t>
            </a: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이송 관계 분석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6"/>
          <p:cNvSpPr/>
          <p:nvPr/>
        </p:nvSpPr>
        <p:spPr>
          <a:xfrm>
            <a:off x="5186880" y="2564640"/>
            <a:ext cx="173880" cy="360"/>
          </a:xfrm>
          <a:prstGeom prst="line">
            <a:avLst/>
          </a:prstGeom>
          <a:ln w="15875">
            <a:solidFill>
              <a:srgbClr val="8A919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7"/>
          <p:cNvSpPr/>
          <p:nvPr/>
        </p:nvSpPr>
        <p:spPr>
          <a:xfrm>
            <a:off x="5388120" y="1993320"/>
            <a:ext cx="1414800" cy="1142640"/>
          </a:xfrm>
          <a:prstGeom prst="roundRect">
            <a:avLst>
              <a:gd name="adj" fmla="val 6400"/>
            </a:avLst>
          </a:prstGeom>
          <a:solidFill>
            <a:srgbClr val="6B7685"/>
          </a:solidFill>
          <a:ln w="9525">
            <a:solidFill>
              <a:srgbClr val="6B768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8"/>
          <p:cNvSpPr/>
          <p:nvPr/>
        </p:nvSpPr>
        <p:spPr>
          <a:xfrm>
            <a:off x="5516280" y="2103120"/>
            <a:ext cx="1158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DEE5"/>
                </a:solidFill>
                <a:effectLst/>
                <a:uFillTx/>
                <a:latin typeface="Pretendard"/>
                <a:ea typeface="Pretendard"/>
              </a:rPr>
              <a:t>04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9"/>
          <p:cNvSpPr/>
          <p:nvPr/>
        </p:nvSpPr>
        <p:spPr>
          <a:xfrm>
            <a:off x="5516280" y="2404800"/>
            <a:ext cx="115884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변수 선택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|r| ≥ 0.30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20"/>
          <p:cNvSpPr/>
          <p:nvPr/>
        </p:nvSpPr>
        <p:spPr>
          <a:xfrm>
            <a:off x="6830640" y="2564640"/>
            <a:ext cx="173880" cy="360"/>
          </a:xfrm>
          <a:prstGeom prst="line">
            <a:avLst/>
          </a:prstGeom>
          <a:ln w="15875">
            <a:solidFill>
              <a:srgbClr val="8A919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21"/>
          <p:cNvSpPr/>
          <p:nvPr/>
        </p:nvSpPr>
        <p:spPr>
          <a:xfrm>
            <a:off x="7031880" y="1993320"/>
            <a:ext cx="1414800" cy="1142640"/>
          </a:xfrm>
          <a:prstGeom prst="roundRect">
            <a:avLst>
              <a:gd name="adj" fmla="val 6400"/>
            </a:avLst>
          </a:prstGeom>
          <a:solidFill>
            <a:srgbClr val="2F5D8A"/>
          </a:solidFill>
          <a:ln w="9525">
            <a:solidFill>
              <a:srgbClr val="2F5D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2"/>
          <p:cNvSpPr/>
          <p:nvPr/>
        </p:nvSpPr>
        <p:spPr>
          <a:xfrm>
            <a:off x="7160040" y="2103120"/>
            <a:ext cx="1158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DEE5"/>
                </a:solidFill>
                <a:effectLst/>
                <a:uFillTx/>
                <a:latin typeface="Pretendard"/>
                <a:ea typeface="Pretendard"/>
              </a:rPr>
              <a:t>05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3"/>
          <p:cNvSpPr/>
          <p:nvPr/>
        </p:nvSpPr>
        <p:spPr>
          <a:xfrm>
            <a:off x="7160040" y="2404800"/>
            <a:ext cx="115884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특성 조합 비교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A ~ 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24"/>
          <p:cNvSpPr/>
          <p:nvPr/>
        </p:nvSpPr>
        <p:spPr>
          <a:xfrm>
            <a:off x="8474400" y="2564640"/>
            <a:ext cx="173520" cy="360"/>
          </a:xfrm>
          <a:prstGeom prst="line">
            <a:avLst/>
          </a:prstGeom>
          <a:ln w="15875">
            <a:solidFill>
              <a:srgbClr val="8A919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25"/>
          <p:cNvSpPr/>
          <p:nvPr/>
        </p:nvSpPr>
        <p:spPr>
          <a:xfrm>
            <a:off x="8675640" y="1993320"/>
            <a:ext cx="1414800" cy="1142640"/>
          </a:xfrm>
          <a:prstGeom prst="roundRect">
            <a:avLst>
              <a:gd name="adj" fmla="val 6400"/>
            </a:avLst>
          </a:prstGeom>
          <a:solidFill>
            <a:srgbClr val="2F5D8A"/>
          </a:solidFill>
          <a:ln w="9525">
            <a:solidFill>
              <a:srgbClr val="2F5D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6"/>
          <p:cNvSpPr/>
          <p:nvPr/>
        </p:nvSpPr>
        <p:spPr>
          <a:xfrm>
            <a:off x="8803800" y="2103120"/>
            <a:ext cx="1158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DEE5"/>
                </a:solidFill>
                <a:effectLst/>
                <a:uFillTx/>
                <a:latin typeface="Pretendard"/>
                <a:ea typeface="Pretendard"/>
              </a:rPr>
              <a:t>06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7"/>
          <p:cNvSpPr/>
          <p:nvPr/>
        </p:nvSpPr>
        <p:spPr>
          <a:xfrm>
            <a:off x="8803800" y="2404800"/>
            <a:ext cx="115884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정확도 개선 실험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달력 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증감량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28"/>
          <p:cNvSpPr/>
          <p:nvPr/>
        </p:nvSpPr>
        <p:spPr>
          <a:xfrm>
            <a:off x="10118160" y="2564640"/>
            <a:ext cx="173520" cy="360"/>
          </a:xfrm>
          <a:prstGeom prst="line">
            <a:avLst/>
          </a:prstGeom>
          <a:ln w="15875">
            <a:solidFill>
              <a:srgbClr val="8A919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29"/>
          <p:cNvSpPr/>
          <p:nvPr/>
        </p:nvSpPr>
        <p:spPr>
          <a:xfrm>
            <a:off x="10319400" y="1993320"/>
            <a:ext cx="1414800" cy="1142640"/>
          </a:xfrm>
          <a:prstGeom prst="roundRect">
            <a:avLst>
              <a:gd name="adj" fmla="val 6400"/>
            </a:avLst>
          </a:prstGeom>
          <a:solidFill>
            <a:srgbClr val="6B7685"/>
          </a:solidFill>
          <a:ln w="9525">
            <a:solidFill>
              <a:srgbClr val="6B768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30"/>
          <p:cNvSpPr/>
          <p:nvPr/>
        </p:nvSpPr>
        <p:spPr>
          <a:xfrm>
            <a:off x="10447560" y="2103120"/>
            <a:ext cx="1158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DEE5"/>
                </a:solidFill>
                <a:effectLst/>
                <a:uFillTx/>
                <a:latin typeface="Pretendard"/>
                <a:ea typeface="Pretendard"/>
              </a:rPr>
              <a:t>07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31"/>
          <p:cNvSpPr/>
          <p:nvPr/>
        </p:nvSpPr>
        <p:spPr>
          <a:xfrm>
            <a:off x="10447560" y="2404800"/>
            <a:ext cx="115884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모델 학습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6</a:t>
            </a: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종 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+ </a:t>
            </a: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앙상블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32"/>
          <p:cNvSpPr/>
          <p:nvPr/>
        </p:nvSpPr>
        <p:spPr>
          <a:xfrm>
            <a:off x="457200" y="3593520"/>
            <a:ext cx="1414800" cy="1142640"/>
          </a:xfrm>
          <a:prstGeom prst="roundRect">
            <a:avLst>
              <a:gd name="adj" fmla="val 6400"/>
            </a:avLst>
          </a:prstGeom>
          <a:solidFill>
            <a:srgbClr val="2F5D8A"/>
          </a:solidFill>
          <a:ln w="9525">
            <a:solidFill>
              <a:srgbClr val="2F5D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33"/>
          <p:cNvSpPr/>
          <p:nvPr/>
        </p:nvSpPr>
        <p:spPr>
          <a:xfrm>
            <a:off x="585360" y="3703320"/>
            <a:ext cx="1158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DEE5"/>
                </a:solidFill>
                <a:effectLst/>
                <a:uFillTx/>
                <a:latin typeface="Pretendard"/>
                <a:ea typeface="Pretendard"/>
              </a:rPr>
              <a:t>08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4"/>
          <p:cNvSpPr/>
          <p:nvPr/>
        </p:nvSpPr>
        <p:spPr>
          <a:xfrm>
            <a:off x="585360" y="4005000"/>
            <a:ext cx="115884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검증 성능 비교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35"/>
          <p:cNvSpPr/>
          <p:nvPr/>
        </p:nvSpPr>
        <p:spPr>
          <a:xfrm>
            <a:off x="1899720" y="4164840"/>
            <a:ext cx="173520" cy="360"/>
          </a:xfrm>
          <a:prstGeom prst="line">
            <a:avLst/>
          </a:prstGeom>
          <a:ln w="15875">
            <a:solidFill>
              <a:srgbClr val="8A919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36"/>
          <p:cNvSpPr/>
          <p:nvPr/>
        </p:nvSpPr>
        <p:spPr>
          <a:xfrm>
            <a:off x="2100960" y="3593520"/>
            <a:ext cx="1414800" cy="1142640"/>
          </a:xfrm>
          <a:prstGeom prst="roundRect">
            <a:avLst>
              <a:gd name="adj" fmla="val 6400"/>
            </a:avLst>
          </a:prstGeom>
          <a:solidFill>
            <a:srgbClr val="2F5D8A"/>
          </a:solidFill>
          <a:ln w="9525">
            <a:solidFill>
              <a:srgbClr val="2F5D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37"/>
          <p:cNvSpPr/>
          <p:nvPr/>
        </p:nvSpPr>
        <p:spPr>
          <a:xfrm>
            <a:off x="2228760" y="3703320"/>
            <a:ext cx="1158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DEE5"/>
                </a:solidFill>
                <a:effectLst/>
                <a:uFillTx/>
                <a:latin typeface="Pretendard"/>
                <a:ea typeface="Pretendard"/>
              </a:rPr>
              <a:t>09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38"/>
          <p:cNvSpPr/>
          <p:nvPr/>
        </p:nvSpPr>
        <p:spPr>
          <a:xfrm>
            <a:off x="2228760" y="4005000"/>
            <a:ext cx="115884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최종 모델 선정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39"/>
          <p:cNvSpPr/>
          <p:nvPr/>
        </p:nvSpPr>
        <p:spPr>
          <a:xfrm>
            <a:off x="3543120" y="4164840"/>
            <a:ext cx="173880" cy="360"/>
          </a:xfrm>
          <a:prstGeom prst="line">
            <a:avLst/>
          </a:prstGeom>
          <a:ln w="15875">
            <a:solidFill>
              <a:srgbClr val="8A919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40"/>
          <p:cNvSpPr/>
          <p:nvPr/>
        </p:nvSpPr>
        <p:spPr>
          <a:xfrm>
            <a:off x="3744720" y="3593520"/>
            <a:ext cx="1414800" cy="1142640"/>
          </a:xfrm>
          <a:prstGeom prst="roundRect">
            <a:avLst>
              <a:gd name="adj" fmla="val 6400"/>
            </a:avLst>
          </a:prstGeom>
          <a:solidFill>
            <a:srgbClr val="9AA7B5"/>
          </a:solidFill>
          <a:ln w="9525">
            <a:solidFill>
              <a:srgbClr val="9AA7B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41"/>
          <p:cNvSpPr/>
          <p:nvPr/>
        </p:nvSpPr>
        <p:spPr>
          <a:xfrm>
            <a:off x="3872520" y="3703320"/>
            <a:ext cx="1158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DEE5"/>
                </a:solidFill>
                <a:effectLst/>
                <a:uFillTx/>
                <a:latin typeface="Pretendard"/>
                <a:ea typeface="Pretendard"/>
              </a:rPr>
              <a:t>10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42"/>
          <p:cNvSpPr/>
          <p:nvPr/>
        </p:nvSpPr>
        <p:spPr>
          <a:xfrm>
            <a:off x="3872520" y="4005000"/>
            <a:ext cx="115884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평가 데이터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성능 확인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43"/>
          <p:cNvSpPr/>
          <p:nvPr/>
        </p:nvSpPr>
        <p:spPr>
          <a:xfrm>
            <a:off x="5186880" y="4164840"/>
            <a:ext cx="173880" cy="360"/>
          </a:xfrm>
          <a:prstGeom prst="line">
            <a:avLst/>
          </a:prstGeom>
          <a:ln w="15875">
            <a:solidFill>
              <a:srgbClr val="8A919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44"/>
          <p:cNvSpPr/>
          <p:nvPr/>
        </p:nvSpPr>
        <p:spPr>
          <a:xfrm>
            <a:off x="5388120" y="3593520"/>
            <a:ext cx="1414800" cy="1142640"/>
          </a:xfrm>
          <a:prstGeom prst="roundRect">
            <a:avLst>
              <a:gd name="adj" fmla="val 6400"/>
            </a:avLst>
          </a:prstGeom>
          <a:solidFill>
            <a:srgbClr val="9AA7B5"/>
          </a:solidFill>
          <a:ln w="9525">
            <a:solidFill>
              <a:srgbClr val="9AA7B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45"/>
          <p:cNvSpPr/>
          <p:nvPr/>
        </p:nvSpPr>
        <p:spPr>
          <a:xfrm>
            <a:off x="5516280" y="3703320"/>
            <a:ext cx="1158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DEE5"/>
                </a:solidFill>
                <a:effectLst/>
                <a:uFillTx/>
                <a:latin typeface="Pretendard"/>
                <a:ea typeface="Pretendard"/>
              </a:rPr>
              <a:t>11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46"/>
          <p:cNvSpPr/>
          <p:nvPr/>
        </p:nvSpPr>
        <p:spPr>
          <a:xfrm>
            <a:off x="5516280" y="4005000"/>
            <a:ext cx="115884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특성 중요도 분석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47"/>
          <p:cNvSpPr/>
          <p:nvPr/>
        </p:nvSpPr>
        <p:spPr>
          <a:xfrm>
            <a:off x="6830640" y="4164840"/>
            <a:ext cx="173880" cy="360"/>
          </a:xfrm>
          <a:prstGeom prst="line">
            <a:avLst/>
          </a:prstGeom>
          <a:ln w="15875">
            <a:solidFill>
              <a:srgbClr val="8A919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48"/>
          <p:cNvSpPr/>
          <p:nvPr/>
        </p:nvSpPr>
        <p:spPr>
          <a:xfrm>
            <a:off x="7031880" y="3593520"/>
            <a:ext cx="1414800" cy="1142640"/>
          </a:xfrm>
          <a:prstGeom prst="roundRect">
            <a:avLst>
              <a:gd name="adj" fmla="val 6400"/>
            </a:avLst>
          </a:prstGeom>
          <a:solidFill>
            <a:srgbClr val="1F2329"/>
          </a:solidFill>
          <a:ln w="9525">
            <a:solidFill>
              <a:srgbClr val="1F232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49"/>
          <p:cNvSpPr/>
          <p:nvPr/>
        </p:nvSpPr>
        <p:spPr>
          <a:xfrm>
            <a:off x="7160040" y="3703320"/>
            <a:ext cx="1158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DEE5"/>
                </a:solidFill>
                <a:effectLst/>
                <a:uFillTx/>
                <a:latin typeface="Pretendard"/>
                <a:ea typeface="Pretendard"/>
              </a:rPr>
              <a:t>12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50"/>
          <p:cNvSpPr/>
          <p:nvPr/>
        </p:nvSpPr>
        <p:spPr>
          <a:xfrm>
            <a:off x="7160040" y="4005000"/>
            <a:ext cx="115884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전체 데이터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재학습 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저장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51"/>
          <p:cNvSpPr/>
          <p:nvPr/>
        </p:nvSpPr>
        <p:spPr>
          <a:xfrm>
            <a:off x="8474400" y="4164840"/>
            <a:ext cx="173520" cy="360"/>
          </a:xfrm>
          <a:prstGeom prst="line">
            <a:avLst/>
          </a:prstGeom>
          <a:ln w="15875">
            <a:solidFill>
              <a:srgbClr val="8A919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52"/>
          <p:cNvSpPr/>
          <p:nvPr/>
        </p:nvSpPr>
        <p:spPr>
          <a:xfrm>
            <a:off x="8675640" y="3593520"/>
            <a:ext cx="1414800" cy="1142640"/>
          </a:xfrm>
          <a:prstGeom prst="roundRect">
            <a:avLst>
              <a:gd name="adj" fmla="val 6400"/>
            </a:avLst>
          </a:prstGeom>
          <a:solidFill>
            <a:srgbClr val="1F2329"/>
          </a:solidFill>
          <a:ln w="9525">
            <a:solidFill>
              <a:srgbClr val="1F232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53"/>
          <p:cNvSpPr/>
          <p:nvPr/>
        </p:nvSpPr>
        <p:spPr>
          <a:xfrm>
            <a:off x="8803800" y="3703320"/>
            <a:ext cx="1158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DEE5"/>
                </a:solidFill>
                <a:effectLst/>
                <a:uFillTx/>
                <a:latin typeface="Pretendard"/>
                <a:ea typeface="Pretendard"/>
              </a:rPr>
              <a:t>13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54"/>
          <p:cNvSpPr/>
          <p:nvPr/>
        </p:nvSpPr>
        <p:spPr>
          <a:xfrm>
            <a:off x="8803800" y="4005000"/>
            <a:ext cx="115884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미래 예측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55"/>
          <p:cNvSpPr/>
          <p:nvPr/>
        </p:nvSpPr>
        <p:spPr>
          <a:xfrm>
            <a:off x="11026800" y="3154680"/>
            <a:ext cx="360" cy="219240"/>
          </a:xfrm>
          <a:prstGeom prst="line">
            <a:avLst/>
          </a:prstGeom>
          <a:ln w="15875">
            <a:solidFill>
              <a:srgbClr val="8A919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56"/>
          <p:cNvSpPr/>
          <p:nvPr/>
        </p:nvSpPr>
        <p:spPr>
          <a:xfrm>
            <a:off x="1164600" y="3373920"/>
            <a:ext cx="9862200" cy="360"/>
          </a:xfrm>
          <a:prstGeom prst="line">
            <a:avLst/>
          </a:prstGeom>
          <a:ln w="15875">
            <a:solidFill>
              <a:srgbClr val="8A919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57"/>
          <p:cNvSpPr/>
          <p:nvPr/>
        </p:nvSpPr>
        <p:spPr>
          <a:xfrm>
            <a:off x="1164600" y="3373920"/>
            <a:ext cx="360" cy="201240"/>
          </a:xfrm>
          <a:prstGeom prst="line">
            <a:avLst/>
          </a:prstGeom>
          <a:ln w="15875">
            <a:solidFill>
              <a:srgbClr val="8A919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58"/>
          <p:cNvSpPr/>
          <p:nvPr/>
        </p:nvSpPr>
        <p:spPr>
          <a:xfrm>
            <a:off x="457200" y="4956120"/>
            <a:ext cx="273960" cy="200880"/>
          </a:xfrm>
          <a:prstGeom prst="roundRect">
            <a:avLst>
              <a:gd name="adj" fmla="val 36364"/>
            </a:avLst>
          </a:prstGeom>
          <a:solidFill>
            <a:srgbClr val="1F2329"/>
          </a:solidFill>
          <a:ln w="9525">
            <a:solidFill>
              <a:srgbClr val="1F232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59"/>
          <p:cNvSpPr/>
          <p:nvPr/>
        </p:nvSpPr>
        <p:spPr>
          <a:xfrm>
            <a:off x="841320" y="491940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전체 사용 가능 데이터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60"/>
          <p:cNvSpPr/>
          <p:nvPr/>
        </p:nvSpPr>
        <p:spPr>
          <a:xfrm>
            <a:off x="3291840" y="4956120"/>
            <a:ext cx="273960" cy="200880"/>
          </a:xfrm>
          <a:prstGeom prst="roundRect">
            <a:avLst>
              <a:gd name="adj" fmla="val 36364"/>
            </a:avLst>
          </a:prstGeom>
          <a:solidFill>
            <a:srgbClr val="6B7685"/>
          </a:solidFill>
          <a:ln w="9525">
            <a:solidFill>
              <a:srgbClr val="6B768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61"/>
          <p:cNvSpPr/>
          <p:nvPr/>
        </p:nvSpPr>
        <p:spPr>
          <a:xfrm>
            <a:off x="3675960" y="491940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학습 기간 데이터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62"/>
          <p:cNvSpPr/>
          <p:nvPr/>
        </p:nvSpPr>
        <p:spPr>
          <a:xfrm>
            <a:off x="6126480" y="4956120"/>
            <a:ext cx="273960" cy="200880"/>
          </a:xfrm>
          <a:prstGeom prst="roundRect">
            <a:avLst>
              <a:gd name="adj" fmla="val 36364"/>
            </a:avLst>
          </a:prstGeom>
          <a:solidFill>
            <a:srgbClr val="2F5D8A"/>
          </a:solidFill>
          <a:ln w="9525">
            <a:solidFill>
              <a:srgbClr val="2F5D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63"/>
          <p:cNvSpPr/>
          <p:nvPr/>
        </p:nvSpPr>
        <p:spPr>
          <a:xfrm>
            <a:off x="6510600" y="491940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검증 데이터 — 선택에 사용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64"/>
          <p:cNvSpPr/>
          <p:nvPr/>
        </p:nvSpPr>
        <p:spPr>
          <a:xfrm>
            <a:off x="8961120" y="4956120"/>
            <a:ext cx="273960" cy="200880"/>
          </a:xfrm>
          <a:prstGeom prst="roundRect">
            <a:avLst>
              <a:gd name="adj" fmla="val 36364"/>
            </a:avLst>
          </a:prstGeom>
          <a:solidFill>
            <a:srgbClr val="9AA7B5"/>
          </a:solidFill>
          <a:ln w="9525">
            <a:solidFill>
              <a:srgbClr val="9AA7B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65"/>
          <p:cNvSpPr/>
          <p:nvPr/>
        </p:nvSpPr>
        <p:spPr>
          <a:xfrm>
            <a:off x="9345240" y="491940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평가 데이터 — 확인에만 사용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66"/>
          <p:cNvSpPr/>
          <p:nvPr/>
        </p:nvSpPr>
        <p:spPr>
          <a:xfrm>
            <a:off x="457200" y="5459040"/>
            <a:ext cx="11277000" cy="731160"/>
          </a:xfrm>
          <a:prstGeom prst="roundRect">
            <a:avLst>
              <a:gd name="adj" fmla="val 10000"/>
            </a:avLst>
          </a:prstGeom>
          <a:solidFill>
            <a:srgbClr val="E8EEF5"/>
          </a:solidFill>
          <a:ln w="9525">
            <a:solidFill>
              <a:srgbClr val="E8EEF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67"/>
          <p:cNvSpPr/>
          <p:nvPr/>
        </p:nvSpPr>
        <p:spPr>
          <a:xfrm>
            <a:off x="676800" y="5459040"/>
            <a:ext cx="1083528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참고  </a:t>
            </a:r>
            <a:r>
              <a:rPr lang="zh-CN" sz="13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인구 밀집 모델은 전처리 단계에서 선택된 특성을 그대로 사용 → </a:t>
            </a:r>
            <a:r>
              <a:rPr lang="en-US" sz="13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5·6</a:t>
            </a:r>
            <a:r>
              <a:rPr lang="zh-CN" sz="13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단계</a:t>
            </a:r>
            <a:r>
              <a:rPr lang="en-US" sz="13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(</a:t>
            </a:r>
            <a:r>
              <a:rPr lang="zh-CN" sz="13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특성 조합 </a:t>
            </a:r>
            <a:r>
              <a:rPr lang="en-US" sz="13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3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개선 실험</a:t>
            </a:r>
            <a:r>
              <a:rPr lang="en-US" sz="13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)</a:t>
            </a:r>
            <a:r>
              <a:rPr lang="zh-CN" sz="13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는 이송 건수 모델에만 적용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7510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 0"/>
          <p:cNvSpPr/>
          <p:nvPr/>
        </p:nvSpPr>
        <p:spPr>
          <a:xfrm>
            <a:off x="457200" y="365760"/>
            <a:ext cx="11277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02  </a:t>
            </a:r>
            <a:r>
              <a:rPr lang="zh-CN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학습 </a:t>
            </a:r>
            <a:r>
              <a:rPr lang="en-US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검증 </a:t>
            </a:r>
            <a:r>
              <a:rPr lang="en-US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평가 방법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"/>
          <p:cNvSpPr/>
          <p:nvPr/>
        </p:nvSpPr>
        <p:spPr>
          <a:xfrm>
            <a:off x="457200" y="768240"/>
            <a:ext cx="11277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시간 순서대로 </a:t>
            </a:r>
            <a:r>
              <a:rPr lang="en-US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3</a:t>
            </a:r>
            <a:r>
              <a:rPr lang="zh-CN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단계 분할 — 미래 정보가 섞이지 않게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"/>
          <p:cNvSpPr/>
          <p:nvPr/>
        </p:nvSpPr>
        <p:spPr>
          <a:xfrm>
            <a:off x="457200" y="1444680"/>
            <a:ext cx="11277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무작위 분할 대신 가장 최근 구간을 평가용으로 남기고</a:t>
            </a:r>
            <a:r>
              <a:rPr lang="en-US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zh-CN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그 직전 구간으로 선택을 진</a:t>
            </a:r>
            <a:r>
              <a:rPr lang="zh-CN" sz="1500" b="0" u="none" strike="noStrike" dirty="0" smtClean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행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3"/>
          <p:cNvSpPr/>
          <p:nvPr/>
        </p:nvSpPr>
        <p:spPr>
          <a:xfrm>
            <a:off x="457200" y="637344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04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4"/>
          <p:cNvSpPr/>
          <p:nvPr/>
        </p:nvSpPr>
        <p:spPr>
          <a:xfrm>
            <a:off x="1371600" y="6373440"/>
            <a:ext cx="1036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출처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: 03_119_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통합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예측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.ipynb — 1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장 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· 4-1 · 5-3 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출력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5"/>
          <p:cNvSpPr/>
          <p:nvPr/>
        </p:nvSpPr>
        <p:spPr>
          <a:xfrm>
            <a:off x="457200" y="19933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119 </a:t>
            </a:r>
            <a:r>
              <a:rPr lang="zh-CN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이송 건수 </a:t>
            </a:r>
            <a:r>
              <a:rPr lang="en-US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(</a:t>
            </a:r>
            <a:r>
              <a:rPr lang="zh-CN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월</a:t>
            </a:r>
            <a:r>
              <a:rPr lang="en-US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6"/>
          <p:cNvSpPr/>
          <p:nvPr/>
        </p:nvSpPr>
        <p:spPr>
          <a:xfrm>
            <a:off x="457200" y="2322720"/>
            <a:ext cx="5074560" cy="712800"/>
          </a:xfrm>
          <a:prstGeom prst="roundRect">
            <a:avLst>
              <a:gd name="adj" fmla="val 10256"/>
            </a:avLst>
          </a:prstGeom>
          <a:solidFill>
            <a:srgbClr val="6B7685"/>
          </a:solidFill>
          <a:ln w="9525">
            <a:solidFill>
              <a:srgbClr val="6B768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7"/>
          <p:cNvSpPr/>
          <p:nvPr/>
        </p:nvSpPr>
        <p:spPr>
          <a:xfrm>
            <a:off x="621720" y="2322720"/>
            <a:ext cx="73116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학습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8"/>
          <p:cNvSpPr/>
          <p:nvPr/>
        </p:nvSpPr>
        <p:spPr>
          <a:xfrm>
            <a:off x="1325880" y="2322720"/>
            <a:ext cx="41144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2018-05 ~ 2024-12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1,880</a:t>
            </a:r>
            <a:r>
              <a:rPr lang="zh-CN" sz="1050" b="0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행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9"/>
          <p:cNvSpPr/>
          <p:nvPr/>
        </p:nvSpPr>
        <p:spPr>
          <a:xfrm>
            <a:off x="5577840" y="2322720"/>
            <a:ext cx="2971440" cy="712800"/>
          </a:xfrm>
          <a:prstGeom prst="roundRect">
            <a:avLst>
              <a:gd name="adj" fmla="val 10256"/>
            </a:avLst>
          </a:prstGeom>
          <a:solidFill>
            <a:srgbClr val="2F5D8A"/>
          </a:solidFill>
          <a:ln w="9525">
            <a:solidFill>
              <a:srgbClr val="2F5D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0"/>
          <p:cNvSpPr/>
          <p:nvPr/>
        </p:nvSpPr>
        <p:spPr>
          <a:xfrm>
            <a:off x="5742360" y="2322720"/>
            <a:ext cx="73116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검증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1"/>
          <p:cNvSpPr/>
          <p:nvPr/>
        </p:nvSpPr>
        <p:spPr>
          <a:xfrm>
            <a:off x="6446520" y="2322720"/>
            <a:ext cx="201132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2025-01 ~ 2025-06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150</a:t>
            </a:r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행 </a:t>
            </a: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· 6</a:t>
            </a:r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개월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2"/>
          <p:cNvSpPr/>
          <p:nvPr/>
        </p:nvSpPr>
        <p:spPr>
          <a:xfrm>
            <a:off x="8595360" y="2322720"/>
            <a:ext cx="3138840" cy="712800"/>
          </a:xfrm>
          <a:prstGeom prst="roundRect">
            <a:avLst>
              <a:gd name="adj" fmla="val 10256"/>
            </a:avLst>
          </a:prstGeom>
          <a:solidFill>
            <a:srgbClr val="9AA7B5"/>
          </a:solidFill>
          <a:ln w="9525">
            <a:solidFill>
              <a:srgbClr val="9AA7B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3"/>
          <p:cNvSpPr/>
          <p:nvPr/>
        </p:nvSpPr>
        <p:spPr>
          <a:xfrm>
            <a:off x="8759880" y="2322720"/>
            <a:ext cx="73116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평가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4"/>
          <p:cNvSpPr/>
          <p:nvPr/>
        </p:nvSpPr>
        <p:spPr>
          <a:xfrm>
            <a:off x="9464040" y="2322720"/>
            <a:ext cx="217872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2025-07 ~ 2025-12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150</a:t>
            </a:r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행 </a:t>
            </a: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· 6</a:t>
            </a:r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개월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5"/>
          <p:cNvSpPr/>
          <p:nvPr/>
        </p:nvSpPr>
        <p:spPr>
          <a:xfrm>
            <a:off x="457200" y="31820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인구 밀집 </a:t>
            </a:r>
            <a:r>
              <a:rPr lang="en-US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(</a:t>
            </a:r>
            <a:r>
              <a:rPr lang="zh-CN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일</a:t>
            </a:r>
            <a:r>
              <a:rPr lang="en-US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6"/>
          <p:cNvSpPr/>
          <p:nvPr/>
        </p:nvSpPr>
        <p:spPr>
          <a:xfrm>
            <a:off x="457200" y="3511440"/>
            <a:ext cx="5074560" cy="712800"/>
          </a:xfrm>
          <a:prstGeom prst="roundRect">
            <a:avLst>
              <a:gd name="adj" fmla="val 10256"/>
            </a:avLst>
          </a:prstGeom>
          <a:solidFill>
            <a:srgbClr val="6B7685"/>
          </a:solidFill>
          <a:ln w="9525">
            <a:solidFill>
              <a:srgbClr val="6B768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7"/>
          <p:cNvSpPr/>
          <p:nvPr/>
        </p:nvSpPr>
        <p:spPr>
          <a:xfrm>
            <a:off x="621720" y="3511440"/>
            <a:ext cx="73116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학습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8"/>
          <p:cNvSpPr/>
          <p:nvPr/>
        </p:nvSpPr>
        <p:spPr>
          <a:xfrm>
            <a:off x="1325880" y="3511440"/>
            <a:ext cx="41144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2018-04-12 ~ 2025-02-01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62,200</a:t>
            </a:r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행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9"/>
          <p:cNvSpPr/>
          <p:nvPr/>
        </p:nvSpPr>
        <p:spPr>
          <a:xfrm>
            <a:off x="5577840" y="3511440"/>
            <a:ext cx="2971440" cy="712800"/>
          </a:xfrm>
          <a:prstGeom prst="roundRect">
            <a:avLst>
              <a:gd name="adj" fmla="val 10256"/>
            </a:avLst>
          </a:prstGeom>
          <a:solidFill>
            <a:srgbClr val="2F5D8A"/>
          </a:solidFill>
          <a:ln w="9525">
            <a:solidFill>
              <a:srgbClr val="2F5D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0"/>
          <p:cNvSpPr/>
          <p:nvPr/>
        </p:nvSpPr>
        <p:spPr>
          <a:xfrm>
            <a:off x="5742360" y="3511440"/>
            <a:ext cx="73116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검증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1"/>
          <p:cNvSpPr/>
          <p:nvPr/>
        </p:nvSpPr>
        <p:spPr>
          <a:xfrm>
            <a:off x="6446520" y="3511440"/>
            <a:ext cx="201132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2025-02-02 ~ 2025-07-31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4,500</a:t>
            </a:r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행 </a:t>
            </a: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· 180</a:t>
            </a:r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일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22"/>
          <p:cNvSpPr/>
          <p:nvPr/>
        </p:nvSpPr>
        <p:spPr>
          <a:xfrm>
            <a:off x="8595360" y="3511440"/>
            <a:ext cx="3138840" cy="712800"/>
          </a:xfrm>
          <a:prstGeom prst="roundRect">
            <a:avLst>
              <a:gd name="adj" fmla="val 10256"/>
            </a:avLst>
          </a:prstGeom>
          <a:solidFill>
            <a:srgbClr val="9AA7B5"/>
          </a:solidFill>
          <a:ln w="9525">
            <a:solidFill>
              <a:srgbClr val="9AA7B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3"/>
          <p:cNvSpPr/>
          <p:nvPr/>
        </p:nvSpPr>
        <p:spPr>
          <a:xfrm>
            <a:off x="8759880" y="3511440"/>
            <a:ext cx="73116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평가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4"/>
          <p:cNvSpPr/>
          <p:nvPr/>
        </p:nvSpPr>
        <p:spPr>
          <a:xfrm>
            <a:off x="9464040" y="3511440"/>
            <a:ext cx="217872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2025-08-01 ~ 2026-07-31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9,125</a:t>
            </a:r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행 </a:t>
            </a: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· 365</a:t>
            </a:r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일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5"/>
          <p:cNvSpPr/>
          <p:nvPr/>
        </p:nvSpPr>
        <p:spPr>
          <a:xfrm>
            <a:off x="10607040" y="4343400"/>
            <a:ext cx="11271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→ 시간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26"/>
          <p:cNvSpPr/>
          <p:nvPr/>
        </p:nvSpPr>
        <p:spPr>
          <a:xfrm>
            <a:off x="457200" y="4636080"/>
            <a:ext cx="3636720" cy="155412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7"/>
          <p:cNvSpPr/>
          <p:nvPr/>
        </p:nvSpPr>
        <p:spPr>
          <a:xfrm>
            <a:off x="676800" y="4818960"/>
            <a:ext cx="1188360" cy="292320"/>
          </a:xfrm>
          <a:prstGeom prst="roundRect">
            <a:avLst>
              <a:gd name="adj" fmla="val 25000"/>
            </a:avLst>
          </a:prstGeom>
          <a:solidFill>
            <a:srgbClr val="6B7685"/>
          </a:solidFill>
          <a:ln w="9525">
            <a:solidFill>
              <a:srgbClr val="6B768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28"/>
          <p:cNvSpPr/>
          <p:nvPr/>
        </p:nvSpPr>
        <p:spPr>
          <a:xfrm>
            <a:off x="676800" y="4818960"/>
            <a:ext cx="1188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학습 데이터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29"/>
          <p:cNvSpPr/>
          <p:nvPr/>
        </p:nvSpPr>
        <p:spPr>
          <a:xfrm>
            <a:off x="1993320" y="4818960"/>
            <a:ext cx="1899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모델 학습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30"/>
          <p:cNvSpPr/>
          <p:nvPr/>
        </p:nvSpPr>
        <p:spPr>
          <a:xfrm>
            <a:off x="676800" y="5257800"/>
            <a:ext cx="31978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연관성 분석 </a:t>
            </a:r>
            <a:r>
              <a:rPr lang="en-US" sz="12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2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인구 변수 선택 </a:t>
            </a:r>
            <a:r>
              <a:rPr lang="en-US" sz="12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2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구별 이송률 계산도 이 기간만 사용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31"/>
          <p:cNvSpPr/>
          <p:nvPr/>
        </p:nvSpPr>
        <p:spPr>
          <a:xfrm>
            <a:off x="4277160" y="4636080"/>
            <a:ext cx="3636720" cy="155412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32"/>
          <p:cNvSpPr/>
          <p:nvPr/>
        </p:nvSpPr>
        <p:spPr>
          <a:xfrm>
            <a:off x="4496760" y="4818960"/>
            <a:ext cx="1188360" cy="292320"/>
          </a:xfrm>
          <a:prstGeom prst="roundRect">
            <a:avLst>
              <a:gd name="adj" fmla="val 25000"/>
            </a:avLst>
          </a:prstGeom>
          <a:solidFill>
            <a:srgbClr val="2F5D8A"/>
          </a:solidFill>
          <a:ln w="9525">
            <a:solidFill>
              <a:srgbClr val="2F5D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33"/>
          <p:cNvSpPr/>
          <p:nvPr/>
        </p:nvSpPr>
        <p:spPr>
          <a:xfrm>
            <a:off x="4496760" y="4818960"/>
            <a:ext cx="1188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검증 데이터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34"/>
          <p:cNvSpPr/>
          <p:nvPr/>
        </p:nvSpPr>
        <p:spPr>
          <a:xfrm>
            <a:off x="5813280" y="4818960"/>
            <a:ext cx="1899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특성 </a:t>
            </a:r>
            <a:r>
              <a:rPr lang="en-US" sz="14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4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설정 </a:t>
            </a:r>
            <a:r>
              <a:rPr lang="en-US" sz="14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4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모델 선택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35"/>
          <p:cNvSpPr/>
          <p:nvPr/>
        </p:nvSpPr>
        <p:spPr>
          <a:xfrm>
            <a:off x="4496760" y="5257800"/>
            <a:ext cx="31978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특성 조합 </a:t>
            </a:r>
            <a:r>
              <a:rPr lang="en-US" sz="12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A~E, </a:t>
            </a:r>
            <a:r>
              <a:rPr lang="zh-CN" sz="12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달력</a:t>
            </a:r>
            <a:r>
              <a:rPr lang="en-US" sz="12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·</a:t>
            </a:r>
            <a:r>
              <a:rPr lang="zh-CN" sz="12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증감량 설정</a:t>
            </a:r>
            <a:r>
              <a:rPr lang="en-US" sz="12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zh-CN" sz="12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모델 </a:t>
            </a:r>
            <a:r>
              <a:rPr lang="en-US" sz="12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7</a:t>
            </a:r>
            <a:r>
              <a:rPr lang="zh-CN" sz="12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종 중 최종 모델을 고르는 데에만 사용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36"/>
          <p:cNvSpPr/>
          <p:nvPr/>
        </p:nvSpPr>
        <p:spPr>
          <a:xfrm>
            <a:off x="8097480" y="4636080"/>
            <a:ext cx="3636720" cy="155412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37"/>
          <p:cNvSpPr/>
          <p:nvPr/>
        </p:nvSpPr>
        <p:spPr>
          <a:xfrm>
            <a:off x="8316720" y="4818960"/>
            <a:ext cx="1188360" cy="292320"/>
          </a:xfrm>
          <a:prstGeom prst="roundRect">
            <a:avLst>
              <a:gd name="adj" fmla="val 25000"/>
            </a:avLst>
          </a:prstGeom>
          <a:solidFill>
            <a:srgbClr val="9AA7B5"/>
          </a:solidFill>
          <a:ln w="9525">
            <a:solidFill>
              <a:srgbClr val="9AA7B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38"/>
          <p:cNvSpPr/>
          <p:nvPr/>
        </p:nvSpPr>
        <p:spPr>
          <a:xfrm>
            <a:off x="8316720" y="4818960"/>
            <a:ext cx="1188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평가 데이터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39"/>
          <p:cNvSpPr/>
          <p:nvPr/>
        </p:nvSpPr>
        <p:spPr>
          <a:xfrm>
            <a:off x="9633600" y="4818960"/>
            <a:ext cx="1899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선택 완료 후 최종 확인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40"/>
          <p:cNvSpPr/>
          <p:nvPr/>
        </p:nvSpPr>
        <p:spPr>
          <a:xfrm>
            <a:off x="8316720" y="5257800"/>
            <a:ext cx="31978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학습</a:t>
            </a:r>
            <a:r>
              <a:rPr lang="en-US" sz="12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+</a:t>
            </a:r>
            <a:r>
              <a:rPr lang="zh-CN" sz="12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검증으로 다시 학습한 모델의 일반화 성능 보고용 — 어떤 선택에도 사용하지 않음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3337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 0"/>
          <p:cNvSpPr/>
          <p:nvPr/>
        </p:nvSpPr>
        <p:spPr>
          <a:xfrm>
            <a:off x="457200" y="365760"/>
            <a:ext cx="11277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03  </a:t>
            </a:r>
            <a:r>
              <a:rPr lang="zh-CN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독립변수 후보 탐색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"/>
          <p:cNvSpPr/>
          <p:nvPr/>
        </p:nvSpPr>
        <p:spPr>
          <a:xfrm>
            <a:off x="457200" y="768240"/>
            <a:ext cx="11277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0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생활인구와 이송 건수의 관계를 네 가지 관점으로 나눠 봤다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"/>
          <p:cNvSpPr/>
          <p:nvPr/>
        </p:nvSpPr>
        <p:spPr>
          <a:xfrm>
            <a:off x="457200" y="1444680"/>
            <a:ext cx="11277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대표 인구 컬럼 </a:t>
            </a:r>
            <a:r>
              <a:rPr lang="en-US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night_pop — </a:t>
            </a:r>
            <a:r>
              <a:rPr lang="zh-CN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상관이 “구 규모”에서 나오는지 “시간 변화”에서 나오는지 구분하기 위해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3"/>
          <p:cNvSpPr/>
          <p:nvPr/>
        </p:nvSpPr>
        <p:spPr>
          <a:xfrm>
            <a:off x="457200" y="637344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05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4"/>
          <p:cNvSpPr/>
          <p:nvPr/>
        </p:nvSpPr>
        <p:spPr>
          <a:xfrm>
            <a:off x="1371600" y="6373440"/>
            <a:ext cx="1036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출처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: 03_119_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통합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예측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.ipynb — 2-2 · 2-3 (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학습 기간 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2018-04 ~ 2024-12, 1,933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행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5"/>
          <p:cNvSpPr/>
          <p:nvPr/>
        </p:nvSpPr>
        <p:spPr>
          <a:xfrm>
            <a:off x="457200" y="1993320"/>
            <a:ext cx="6400440" cy="3465360"/>
          </a:xfrm>
          <a:prstGeom prst="roundRect">
            <a:avLst>
              <a:gd name="adj" fmla="val 2111"/>
            </a:avLst>
          </a:prstGeom>
          <a:solidFill>
            <a:srgbClr val="FFFFFF"/>
          </a:solidFill>
          <a:ln w="9525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5" name="Chart 0"/>
          <p:cNvGraphicFramePr/>
          <p:nvPr/>
        </p:nvGraphicFramePr>
        <p:xfrm>
          <a:off x="548640" y="2057400"/>
          <a:ext cx="6217560" cy="333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6" name="Shape 6"/>
          <p:cNvSpPr/>
          <p:nvPr/>
        </p:nvSpPr>
        <p:spPr>
          <a:xfrm>
            <a:off x="7040880" y="1993320"/>
            <a:ext cx="4693320" cy="1636560"/>
          </a:xfrm>
          <a:prstGeom prst="roundRect">
            <a:avLst>
              <a:gd name="adj" fmla="val 4469"/>
            </a:avLst>
          </a:prstGeom>
          <a:solidFill>
            <a:srgbClr val="E8EEF5"/>
          </a:solidFill>
          <a:ln w="9525">
            <a:solidFill>
              <a:srgbClr val="E8EEF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7"/>
          <p:cNvSpPr/>
          <p:nvPr/>
        </p:nvSpPr>
        <p:spPr>
          <a:xfrm>
            <a:off x="7260480" y="2157840"/>
            <a:ext cx="42544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자치구 간 비교  </a:t>
            </a:r>
            <a:r>
              <a:rPr lang="en-US" sz="15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r = 0.804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8"/>
          <p:cNvSpPr/>
          <p:nvPr/>
        </p:nvSpPr>
        <p:spPr>
          <a:xfrm>
            <a:off x="7260480" y="2523600"/>
            <a:ext cx="4254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0" u="none" strike="noStrike" dirty="0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구별 평균 </a:t>
            </a:r>
            <a:r>
              <a:rPr lang="en-US" sz="1100" b="0" u="none" strike="noStrike" dirty="0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25</a:t>
            </a:r>
            <a:r>
              <a:rPr lang="zh-CN" sz="1100" b="0" u="none" strike="noStrike" dirty="0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개 점끼리 비교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9"/>
          <p:cNvSpPr/>
          <p:nvPr/>
        </p:nvSpPr>
        <p:spPr>
          <a:xfrm>
            <a:off x="7260480" y="2834640"/>
            <a:ext cx="42544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평균 생활인구가 많은 구가 평균 이송 건수도 많은가</a:t>
            </a:r>
            <a:r>
              <a:rPr lang="en-US" sz="1200" b="0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? → </a:t>
            </a:r>
            <a:r>
              <a:rPr lang="zh-CN" sz="1200" b="0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강한 양의 관계 </a:t>
            </a:r>
            <a:r>
              <a:rPr lang="en-US" sz="1200" b="0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(</a:t>
            </a:r>
            <a:r>
              <a:rPr lang="zh-CN" sz="1200" b="0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구 규모 효과</a:t>
            </a:r>
            <a:r>
              <a:rPr lang="en-US" sz="1200" b="0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)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0"/>
          <p:cNvSpPr/>
          <p:nvPr/>
        </p:nvSpPr>
        <p:spPr>
          <a:xfrm>
            <a:off x="7040880" y="3813120"/>
            <a:ext cx="4693320" cy="1636560"/>
          </a:xfrm>
          <a:prstGeom prst="roundRect">
            <a:avLst>
              <a:gd name="adj" fmla="val 4469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1"/>
          <p:cNvSpPr/>
          <p:nvPr/>
        </p:nvSpPr>
        <p:spPr>
          <a:xfrm>
            <a:off x="7260480" y="3977640"/>
            <a:ext cx="42544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자치구 내 비교  </a:t>
            </a:r>
            <a:r>
              <a:rPr lang="en-US" sz="15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r = 0.230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2"/>
          <p:cNvSpPr/>
          <p:nvPr/>
        </p:nvSpPr>
        <p:spPr>
          <a:xfrm>
            <a:off x="7260480" y="4343400"/>
            <a:ext cx="4254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각 구의 평균을 뺀 값끼리 비교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3"/>
          <p:cNvSpPr/>
          <p:nvPr/>
        </p:nvSpPr>
        <p:spPr>
          <a:xfrm>
            <a:off x="7260480" y="4654440"/>
            <a:ext cx="42544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같은 구에서 인구가 평소보다 많은 달에 이송도 많은가</a:t>
            </a:r>
            <a:r>
              <a:rPr lang="en-US" sz="1200" b="0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? → </a:t>
            </a:r>
            <a:r>
              <a:rPr lang="zh-CN" sz="1200" b="0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약한 관계 </a:t>
            </a:r>
            <a:r>
              <a:rPr lang="en-US" sz="1200" b="0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(</a:t>
            </a:r>
            <a:r>
              <a:rPr lang="zh-CN" sz="1200" b="0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계절 제거 시 </a:t>
            </a:r>
            <a:r>
              <a:rPr lang="en-US" sz="1200" b="0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0.306)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4"/>
          <p:cNvSpPr/>
          <p:nvPr/>
        </p:nvSpPr>
        <p:spPr>
          <a:xfrm>
            <a:off x="457200" y="5641920"/>
            <a:ext cx="11277000" cy="548280"/>
          </a:xfrm>
          <a:prstGeom prst="roundRect">
            <a:avLst>
              <a:gd name="adj" fmla="val 13333"/>
            </a:avLst>
          </a:prstGeom>
          <a:solidFill>
            <a:srgbClr val="1F2329"/>
          </a:solidFill>
          <a:ln w="9525">
            <a:solidFill>
              <a:srgbClr val="1F232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5"/>
          <p:cNvSpPr/>
          <p:nvPr/>
        </p:nvSpPr>
        <p:spPr>
          <a:xfrm>
            <a:off x="676800" y="5641920"/>
            <a:ext cx="108352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해석  </a:t>
            </a:r>
            <a:r>
              <a:rPr lang="zh-CN" sz="1300" b="0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전체 상관 </a:t>
            </a:r>
            <a:r>
              <a:rPr lang="en-US" sz="1300" b="0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0.69</a:t>
            </a:r>
            <a:r>
              <a:rPr lang="zh-CN" sz="1300" b="0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는 주로 구 규모 차이에서 </a:t>
            </a:r>
            <a:r>
              <a:rPr lang="ko-KR" altLang="en-US" sz="1300" dirty="0" smtClean="0">
                <a:solidFill>
                  <a:srgbClr val="FFFFFF"/>
                </a:solidFill>
                <a:latin typeface="Pretendard"/>
                <a:ea typeface="Pretendard"/>
              </a:rPr>
              <a:t>나옴</a:t>
            </a:r>
            <a:r>
              <a:rPr lang="zh-CN" sz="1300" b="0" u="none" strike="noStrike" dirty="0" smtClean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 </a:t>
            </a:r>
            <a:r>
              <a:rPr lang="zh-CN" sz="1300" b="0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— 시간에 따른 인구 변화와 이송 변화의 관계는 </a:t>
            </a:r>
            <a:r>
              <a:rPr lang="zh-CN" sz="1300" b="0" u="none" strike="noStrike" dirty="0" smtClean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약</a:t>
            </a:r>
            <a:r>
              <a:rPr lang="ko-KR" altLang="en-US" sz="1300" b="0" u="none" strike="noStrike" dirty="0" smtClean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함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4598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0"/>
          <p:cNvSpPr/>
          <p:nvPr/>
        </p:nvSpPr>
        <p:spPr>
          <a:xfrm>
            <a:off x="457200" y="365760"/>
            <a:ext cx="11277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03  </a:t>
            </a:r>
            <a:r>
              <a:rPr lang="zh-CN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독립변수 후보 탐색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"/>
          <p:cNvSpPr/>
          <p:nvPr/>
        </p:nvSpPr>
        <p:spPr>
          <a:xfrm>
            <a:off x="457200" y="768240"/>
            <a:ext cx="11277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시계열 성분 </a:t>
            </a:r>
            <a:r>
              <a:rPr lang="en-US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시차 </a:t>
            </a:r>
            <a:r>
              <a:rPr lang="en-US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이송률로 관계를 다시 확</a:t>
            </a:r>
            <a:r>
              <a:rPr lang="zh-CN" sz="3000" b="1" u="none" strike="noStrike" dirty="0" smtClean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인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"/>
          <p:cNvSpPr/>
          <p:nvPr/>
        </p:nvSpPr>
        <p:spPr>
          <a:xfrm>
            <a:off x="457200" y="1444680"/>
            <a:ext cx="11277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같은 구 안에서 성분별로 </a:t>
            </a:r>
            <a:r>
              <a:rPr lang="zh-CN" sz="1500" b="0" u="none" strike="noStrike" dirty="0" smtClean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쪼</a:t>
            </a:r>
            <a:r>
              <a:rPr lang="ko-KR" altLang="en-US" sz="1500" b="0" u="none" strike="noStrike" dirty="0" smtClean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갠 뒤</a:t>
            </a:r>
            <a:r>
              <a:rPr lang="en-US" altLang="ko-KR" sz="1500" b="0" u="none" strike="noStrike" dirty="0" smtClean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,</a:t>
            </a:r>
            <a:r>
              <a:rPr lang="en-US" sz="1500" b="0" u="none" strike="noStrike" dirty="0" smtClean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 </a:t>
            </a:r>
            <a:r>
              <a:rPr lang="zh-CN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몇 개월 전 인구가 이송과 가장 가까운지 확</a:t>
            </a:r>
            <a:r>
              <a:rPr lang="zh-CN" sz="1500" b="0" u="none" strike="noStrike" dirty="0" smtClean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인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3"/>
          <p:cNvSpPr/>
          <p:nvPr/>
        </p:nvSpPr>
        <p:spPr>
          <a:xfrm>
            <a:off x="457200" y="637344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06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4"/>
          <p:cNvSpPr/>
          <p:nvPr/>
        </p:nvSpPr>
        <p:spPr>
          <a:xfrm>
            <a:off x="1371600" y="6373440"/>
            <a:ext cx="1036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출처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: 03_119_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통합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예측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.ipynb — 2-3 · 2-4 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출력 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(25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개 구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학습 기간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5"/>
          <p:cNvSpPr/>
          <p:nvPr/>
        </p:nvSpPr>
        <p:spPr>
          <a:xfrm>
            <a:off x="457200" y="1993320"/>
            <a:ext cx="3636720" cy="3465360"/>
          </a:xfrm>
          <a:prstGeom prst="roundRect">
            <a:avLst>
              <a:gd name="adj" fmla="val 2111"/>
            </a:avLst>
          </a:prstGeom>
          <a:solidFill>
            <a:srgbClr val="FFFFFF"/>
          </a:solidFill>
          <a:ln w="9525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6"/>
          <p:cNvSpPr/>
          <p:nvPr/>
        </p:nvSpPr>
        <p:spPr>
          <a:xfrm>
            <a:off x="4277160" y="1993320"/>
            <a:ext cx="3636720" cy="3465360"/>
          </a:xfrm>
          <a:prstGeom prst="roundRect">
            <a:avLst>
              <a:gd name="adj" fmla="val 2111"/>
            </a:avLst>
          </a:prstGeom>
          <a:solidFill>
            <a:srgbClr val="FFFFFF"/>
          </a:solidFill>
          <a:ln w="9525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7"/>
          <p:cNvSpPr/>
          <p:nvPr/>
        </p:nvSpPr>
        <p:spPr>
          <a:xfrm>
            <a:off x="8097480" y="1993320"/>
            <a:ext cx="3636720" cy="3465360"/>
          </a:xfrm>
          <a:prstGeom prst="roundRect">
            <a:avLst>
              <a:gd name="adj" fmla="val 2111"/>
            </a:avLst>
          </a:prstGeom>
          <a:solidFill>
            <a:srgbClr val="FFFFFF"/>
          </a:solidFill>
          <a:ln w="9525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4" name="Chart 0"/>
          <p:cNvGraphicFramePr/>
          <p:nvPr/>
        </p:nvGraphicFramePr>
        <p:xfrm>
          <a:off x="548640" y="2057400"/>
          <a:ext cx="3453840" cy="2742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5" name="Text 8"/>
          <p:cNvSpPr/>
          <p:nvPr/>
        </p:nvSpPr>
        <p:spPr>
          <a:xfrm>
            <a:off x="676800" y="4846320"/>
            <a:ext cx="31978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계절 패턴은 반대 방향</a:t>
            </a:r>
            <a:r>
              <a:rPr lang="en-US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(−0.40)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추세</a:t>
            </a:r>
            <a:r>
              <a:rPr lang="en-US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·</a:t>
            </a:r>
            <a:r>
              <a:rPr lang="zh-CN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잔차는 약한 양의 관계</a:t>
            </a:r>
            <a:r>
              <a:rPr lang="en-US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(0.17)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6" name="Chart 1"/>
          <p:cNvGraphicFramePr/>
          <p:nvPr/>
        </p:nvGraphicFramePr>
        <p:xfrm>
          <a:off x="4368600" y="2057400"/>
          <a:ext cx="3453840" cy="2742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7" name="Text 9"/>
          <p:cNvSpPr/>
          <p:nvPr/>
        </p:nvSpPr>
        <p:spPr>
          <a:xfrm>
            <a:off x="4496760" y="4846320"/>
            <a:ext cx="31978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같은 달 인구가 가장 가깝고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시차가 길어질수록 관계가 약해짐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0"/>
          <p:cNvSpPr/>
          <p:nvPr/>
        </p:nvSpPr>
        <p:spPr>
          <a:xfrm>
            <a:off x="8316720" y="2148840"/>
            <a:ext cx="3197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인구 </a:t>
            </a:r>
            <a:r>
              <a:rPr lang="en-US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1</a:t>
            </a:r>
            <a:r>
              <a:rPr lang="zh-CN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만명당 이송률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1"/>
          <p:cNvSpPr/>
          <p:nvPr/>
        </p:nvSpPr>
        <p:spPr>
          <a:xfrm>
            <a:off x="8316720" y="2468880"/>
            <a:ext cx="31978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1.91</a:t>
            </a:r>
            <a:r>
              <a:rPr lang="zh-CN" sz="36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배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2"/>
          <p:cNvSpPr/>
          <p:nvPr/>
        </p:nvSpPr>
        <p:spPr>
          <a:xfrm>
            <a:off x="8316720" y="3063240"/>
            <a:ext cx="31978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구별 이송률 최고 </a:t>
            </a:r>
            <a:r>
              <a:rPr lang="en-US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/ </a:t>
            </a:r>
            <a:r>
              <a:rPr lang="zh-CN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최저 비율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최고 강북구 </a:t>
            </a:r>
            <a:r>
              <a:rPr lang="en-US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34.3</a:t>
            </a:r>
            <a:r>
              <a:rPr lang="zh-CN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건 </a:t>
            </a:r>
            <a:r>
              <a:rPr lang="en-US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(</a:t>
            </a:r>
            <a:r>
              <a:rPr lang="zh-CN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학습 기간</a:t>
            </a:r>
            <a:r>
              <a:rPr lang="en-US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3"/>
          <p:cNvSpPr/>
          <p:nvPr/>
        </p:nvSpPr>
        <p:spPr>
          <a:xfrm>
            <a:off x="8316720" y="3703320"/>
            <a:ext cx="3198240" cy="360"/>
          </a:xfrm>
          <a:prstGeom prst="line">
            <a:avLst/>
          </a:prstGeom>
          <a:ln w="9525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4"/>
          <p:cNvSpPr/>
          <p:nvPr/>
        </p:nvSpPr>
        <p:spPr>
          <a:xfrm>
            <a:off x="8316720" y="3822120"/>
            <a:ext cx="3197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2020</a:t>
            </a:r>
            <a:r>
              <a:rPr lang="zh-CN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년 서울 전체 </a:t>
            </a:r>
            <a:r>
              <a:rPr lang="en-US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(</a:t>
            </a:r>
            <a:r>
              <a:rPr lang="zh-CN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전년 대비</a:t>
            </a:r>
            <a:r>
              <a:rPr lang="en-US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5"/>
          <p:cNvSpPr/>
          <p:nvPr/>
        </p:nvSpPr>
        <p:spPr>
          <a:xfrm>
            <a:off x="8316720" y="4160520"/>
            <a:ext cx="14626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이송 건수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6"/>
          <p:cNvSpPr/>
          <p:nvPr/>
        </p:nvSpPr>
        <p:spPr>
          <a:xfrm>
            <a:off x="9834840" y="4160520"/>
            <a:ext cx="16801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−20.7%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7"/>
          <p:cNvSpPr/>
          <p:nvPr/>
        </p:nvSpPr>
        <p:spPr>
          <a:xfrm>
            <a:off x="8316720" y="4572000"/>
            <a:ext cx="14626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night_pop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8"/>
          <p:cNvSpPr/>
          <p:nvPr/>
        </p:nvSpPr>
        <p:spPr>
          <a:xfrm>
            <a:off x="9834840" y="4572000"/>
            <a:ext cx="16801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−1.8%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9"/>
          <p:cNvSpPr/>
          <p:nvPr/>
        </p:nvSpPr>
        <p:spPr>
          <a:xfrm>
            <a:off x="8316720" y="5074920"/>
            <a:ext cx="3197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인구 변화 없이 이송만 크게 변한 해가 있음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20"/>
          <p:cNvSpPr/>
          <p:nvPr/>
        </p:nvSpPr>
        <p:spPr>
          <a:xfrm>
            <a:off x="457200" y="5641920"/>
            <a:ext cx="11277000" cy="548280"/>
          </a:xfrm>
          <a:prstGeom prst="roundRect">
            <a:avLst>
              <a:gd name="adj" fmla="val 13333"/>
            </a:avLst>
          </a:prstGeom>
          <a:solidFill>
            <a:srgbClr val="1F2329"/>
          </a:solidFill>
          <a:ln w="9525">
            <a:solidFill>
              <a:srgbClr val="1F232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21"/>
          <p:cNvSpPr/>
          <p:nvPr/>
        </p:nvSpPr>
        <p:spPr>
          <a:xfrm>
            <a:off x="676800" y="5641920"/>
            <a:ext cx="108352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결론  </a:t>
            </a:r>
            <a:r>
              <a:rPr lang="zh-CN" sz="1300" b="0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인구만으로는 구별 이송 수준과 시간 변화를 충분히 설명하기 </a:t>
            </a:r>
            <a:r>
              <a:rPr lang="zh-CN" sz="1300" b="0" u="none" strike="noStrike" dirty="0" smtClean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어</a:t>
            </a:r>
            <a:r>
              <a:rPr lang="ko-KR" altLang="en-US" sz="1300" dirty="0" err="1" smtClean="0">
                <a:solidFill>
                  <a:srgbClr val="FFFFFF"/>
                </a:solidFill>
                <a:latin typeface="Pretendard"/>
                <a:ea typeface="Pretendard"/>
              </a:rPr>
              <a:t>려움</a:t>
            </a:r>
            <a:r>
              <a:rPr lang="zh-CN" sz="1300" b="0" u="none" strike="noStrike" dirty="0" smtClean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 </a:t>
            </a:r>
            <a:r>
              <a:rPr lang="zh-CN" sz="1300" b="0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→ 구별 이송률 </a:t>
            </a:r>
            <a:r>
              <a:rPr lang="en-US" sz="1300" b="0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300" b="0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이송 이력 정보가 함께 필요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30571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 0"/>
          <p:cNvSpPr/>
          <p:nvPr/>
        </p:nvSpPr>
        <p:spPr>
          <a:xfrm>
            <a:off x="457200" y="365760"/>
            <a:ext cx="11277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04  </a:t>
            </a:r>
            <a:r>
              <a:rPr lang="zh-CN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변수 선택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"/>
          <p:cNvSpPr/>
          <p:nvPr/>
        </p:nvSpPr>
        <p:spPr>
          <a:xfrm>
            <a:off x="457200" y="768240"/>
            <a:ext cx="11277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학습 기간 상관계수 </a:t>
            </a:r>
            <a:r>
              <a:rPr lang="en-US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|r| ≥ 0.30</a:t>
            </a:r>
            <a:r>
              <a:rPr lang="zh-CN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으로 인구 변수 </a:t>
            </a:r>
            <a:r>
              <a:rPr lang="en-US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9</a:t>
            </a:r>
            <a:r>
              <a:rPr lang="zh-CN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개를 선</a:t>
            </a:r>
            <a:r>
              <a:rPr lang="zh-CN" sz="3000" b="1" u="none" strike="noStrike" dirty="0" smtClean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택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"/>
          <p:cNvSpPr/>
          <p:nvPr/>
        </p:nvSpPr>
        <p:spPr>
          <a:xfrm>
            <a:off x="457200" y="1444680"/>
            <a:ext cx="11277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후보는 예측 시점에 알 수 있는 “전월</a:t>
            </a:r>
            <a:r>
              <a:rPr lang="en-US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_” </a:t>
            </a:r>
            <a:r>
              <a:rPr lang="zh-CN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생활인구 </a:t>
            </a:r>
            <a:r>
              <a:rPr lang="en-US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13</a:t>
            </a:r>
            <a:r>
              <a:rPr lang="zh-CN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개 — 검증 시작</a:t>
            </a:r>
            <a:r>
              <a:rPr lang="en-US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(2025-01) </a:t>
            </a:r>
            <a:r>
              <a:rPr lang="zh-CN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이전 데이터로만 계산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3"/>
          <p:cNvSpPr/>
          <p:nvPr/>
        </p:nvSpPr>
        <p:spPr>
          <a:xfrm>
            <a:off x="457200" y="637344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07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4"/>
          <p:cNvSpPr/>
          <p:nvPr/>
        </p:nvSpPr>
        <p:spPr>
          <a:xfrm>
            <a:off x="1371600" y="6373440"/>
            <a:ext cx="1036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출처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: 03_119_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통합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예측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.ipynb — 3-1 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출력 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(relation_pop_feature_select)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75" name="Table 0"/>
          <p:cNvGraphicFramePr/>
          <p:nvPr/>
        </p:nvGraphicFramePr>
        <p:xfrm>
          <a:off x="457200" y="1993320"/>
          <a:ext cx="6766560" cy="417168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6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변수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Pearson r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1" u="none" strike="noStrike">
                          <a:solidFill>
                            <a:srgbClr val="2F5D8A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선택 여부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전월</a:t>
                      </a:r>
                      <a:r>
                        <a:rPr lang="en-US" sz="11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_night_pop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0.6925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1" u="none" strike="noStrike">
                          <a:solidFill>
                            <a:srgbClr val="2F5D8A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선택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전월</a:t>
                      </a:r>
                      <a:r>
                        <a:rPr lang="en-US" sz="11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_</a:t>
                      </a:r>
                      <a:r>
                        <a:rPr lang="zh-CN" sz="11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내국인생활인구수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0.6586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1" u="none" strike="noStrike">
                          <a:solidFill>
                            <a:srgbClr val="2F5D8A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선택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전월</a:t>
                      </a:r>
                      <a:r>
                        <a:rPr lang="en-US" sz="11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_</a:t>
                      </a:r>
                      <a:r>
                        <a:rPr lang="zh-CN" sz="11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일최소인구수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0.6542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1" u="none" strike="noStrike">
                          <a:solidFill>
                            <a:srgbClr val="2F5D8A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선택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전월</a:t>
                      </a:r>
                      <a:r>
                        <a:rPr lang="en-US" sz="11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_</a:t>
                      </a:r>
                      <a:r>
                        <a:rPr lang="zh-CN" sz="11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동일자치구행정동간이동인구수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0.6487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1" u="none" strike="noStrike">
                          <a:solidFill>
                            <a:srgbClr val="2F5D8A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선택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전월</a:t>
                      </a:r>
                      <a:r>
                        <a:rPr lang="en-US" sz="11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_total_pop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0.6479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1" u="none" strike="noStrike">
                          <a:solidFill>
                            <a:srgbClr val="2F5D8A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선택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전월</a:t>
                      </a:r>
                      <a:r>
                        <a:rPr lang="en-US" sz="11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_</a:t>
                      </a:r>
                      <a:r>
                        <a:rPr lang="zh-CN" sz="11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일최대인구수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0.5971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1" u="none" strike="noStrike">
                          <a:solidFill>
                            <a:srgbClr val="2F5D8A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선택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전월</a:t>
                      </a:r>
                      <a:r>
                        <a:rPr lang="en-US" sz="11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_day_pop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0.5495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1" u="none" strike="noStrike">
                          <a:solidFill>
                            <a:srgbClr val="2F5D8A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선택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전월</a:t>
                      </a:r>
                      <a:r>
                        <a:rPr lang="en-US" sz="11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_</a:t>
                      </a:r>
                      <a:r>
                        <a:rPr lang="zh-CN" sz="11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일최대이동인구수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0.4068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1" u="none" strike="noStrike">
                          <a:solidFill>
                            <a:srgbClr val="2F5D8A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선택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전월</a:t>
                      </a:r>
                      <a:r>
                        <a:rPr lang="en-US" sz="11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_</a:t>
                      </a:r>
                      <a:r>
                        <a:rPr lang="zh-CN" sz="11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서울외유입인구수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0.3400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1" u="none" strike="noStrike">
                          <a:solidFill>
                            <a:srgbClr val="2F5D8A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선택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0" u="none" strike="noStrike">
                          <a:solidFill>
                            <a:srgbClr val="8A919C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전월</a:t>
                      </a:r>
                      <a:r>
                        <a:rPr lang="en-US" sz="1100" b="0" u="none" strike="noStrike">
                          <a:solidFill>
                            <a:srgbClr val="8A919C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_</a:t>
                      </a:r>
                      <a:r>
                        <a:rPr lang="zh-CN" sz="1100" b="0" u="none" strike="noStrike">
                          <a:solidFill>
                            <a:srgbClr val="8A919C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자치구간이동인구수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8A919C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0.1368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0" u="none" strike="noStrike">
                          <a:solidFill>
                            <a:srgbClr val="8A919C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제외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0" u="none" strike="noStrike">
                          <a:solidFill>
                            <a:srgbClr val="8A919C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전월</a:t>
                      </a:r>
                      <a:r>
                        <a:rPr lang="en-US" sz="1100" b="0" u="none" strike="noStrike">
                          <a:solidFill>
                            <a:srgbClr val="8A919C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_pop_diff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8A919C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-0.0253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0" u="none" strike="noStrike">
                          <a:solidFill>
                            <a:srgbClr val="8A919C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제외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0" u="none" strike="noStrike">
                          <a:solidFill>
                            <a:srgbClr val="8A919C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전월</a:t>
                      </a:r>
                      <a:r>
                        <a:rPr lang="en-US" sz="1100" b="0" u="none" strike="noStrike">
                          <a:solidFill>
                            <a:srgbClr val="8A919C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_</a:t>
                      </a:r>
                      <a:r>
                        <a:rPr lang="zh-CN" sz="1100" b="0" u="none" strike="noStrike">
                          <a:solidFill>
                            <a:srgbClr val="8A919C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장기체류외국인인구수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8A919C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-0.0232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0" u="none" strike="noStrike">
                          <a:solidFill>
                            <a:srgbClr val="8A919C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제외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0" u="none" strike="noStrike">
                          <a:solidFill>
                            <a:srgbClr val="8A919C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전월</a:t>
                      </a:r>
                      <a:r>
                        <a:rPr lang="en-US" sz="1100" b="0" u="none" strike="noStrike">
                          <a:solidFill>
                            <a:srgbClr val="8A919C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_</a:t>
                      </a:r>
                      <a:r>
                        <a:rPr lang="zh-CN" sz="1100" b="0" u="none" strike="noStrike">
                          <a:solidFill>
                            <a:srgbClr val="8A919C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단기체류외국인인구수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8A919C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-0.0108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0" u="none" strike="noStrike">
                          <a:solidFill>
                            <a:srgbClr val="8A919C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제외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76" name="Shape 5"/>
          <p:cNvSpPr/>
          <p:nvPr/>
        </p:nvSpPr>
        <p:spPr>
          <a:xfrm>
            <a:off x="7406640" y="1993320"/>
            <a:ext cx="4327560" cy="667080"/>
          </a:xfrm>
          <a:prstGeom prst="roundRect">
            <a:avLst>
              <a:gd name="adj" fmla="val 10959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6"/>
          <p:cNvSpPr/>
          <p:nvPr/>
        </p:nvSpPr>
        <p:spPr>
          <a:xfrm>
            <a:off x="7626240" y="1993320"/>
            <a:ext cx="1005480" cy="66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후보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7"/>
          <p:cNvSpPr/>
          <p:nvPr/>
        </p:nvSpPr>
        <p:spPr>
          <a:xfrm>
            <a:off x="8686800" y="2084760"/>
            <a:ext cx="2827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전월</a:t>
            </a:r>
            <a:r>
              <a:rPr lang="en-US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_ </a:t>
            </a:r>
            <a:r>
              <a:rPr lang="zh-CN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생활인구 </a:t>
            </a:r>
            <a:r>
              <a:rPr lang="en-US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13</a:t>
            </a:r>
            <a:r>
              <a:rPr lang="zh-CN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개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8"/>
          <p:cNvSpPr/>
          <p:nvPr/>
        </p:nvSpPr>
        <p:spPr>
          <a:xfrm>
            <a:off x="8686800" y="2359080"/>
            <a:ext cx="2827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이번 달 인구는 예측 시점에 알 수 없음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9"/>
          <p:cNvSpPr/>
          <p:nvPr/>
        </p:nvSpPr>
        <p:spPr>
          <a:xfrm>
            <a:off x="7406640" y="2752200"/>
            <a:ext cx="4327560" cy="667080"/>
          </a:xfrm>
          <a:prstGeom prst="roundRect">
            <a:avLst>
              <a:gd name="adj" fmla="val 10959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0"/>
          <p:cNvSpPr/>
          <p:nvPr/>
        </p:nvSpPr>
        <p:spPr>
          <a:xfrm>
            <a:off x="7626240" y="2752200"/>
            <a:ext cx="1005480" cy="66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계산 기간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1"/>
          <p:cNvSpPr/>
          <p:nvPr/>
        </p:nvSpPr>
        <p:spPr>
          <a:xfrm>
            <a:off x="8686800" y="2843640"/>
            <a:ext cx="2827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학습 기간만 </a:t>
            </a:r>
            <a:r>
              <a:rPr lang="en-US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(~2024-12)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2"/>
          <p:cNvSpPr/>
          <p:nvPr/>
        </p:nvSpPr>
        <p:spPr>
          <a:xfrm>
            <a:off x="8686800" y="3117960"/>
            <a:ext cx="2827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검증</a:t>
            </a: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·</a:t>
            </a: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평가 정보 누출 방지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3"/>
          <p:cNvSpPr/>
          <p:nvPr/>
        </p:nvSpPr>
        <p:spPr>
          <a:xfrm>
            <a:off x="7406640" y="3511440"/>
            <a:ext cx="4327560" cy="667080"/>
          </a:xfrm>
          <a:prstGeom prst="roundRect">
            <a:avLst>
              <a:gd name="adj" fmla="val 10959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4"/>
          <p:cNvSpPr/>
          <p:nvPr/>
        </p:nvSpPr>
        <p:spPr>
          <a:xfrm>
            <a:off x="7626240" y="3511440"/>
            <a:ext cx="1005480" cy="66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선택 기준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5"/>
          <p:cNvSpPr/>
          <p:nvPr/>
        </p:nvSpPr>
        <p:spPr>
          <a:xfrm>
            <a:off x="8686800" y="3602880"/>
            <a:ext cx="2827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|r| ≥ 0.30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6"/>
          <p:cNvSpPr/>
          <p:nvPr/>
        </p:nvSpPr>
        <p:spPr>
          <a:xfrm>
            <a:off x="8686800" y="3877200"/>
            <a:ext cx="2827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POP_CORR_MIN = 0.30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7"/>
          <p:cNvSpPr/>
          <p:nvPr/>
        </p:nvSpPr>
        <p:spPr>
          <a:xfrm>
            <a:off x="7406640" y="4270320"/>
            <a:ext cx="4327560" cy="667080"/>
          </a:xfrm>
          <a:prstGeom prst="roundRect">
            <a:avLst>
              <a:gd name="adj" fmla="val 10959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8"/>
          <p:cNvSpPr/>
          <p:nvPr/>
        </p:nvSpPr>
        <p:spPr>
          <a:xfrm>
            <a:off x="7626240" y="4270320"/>
            <a:ext cx="1005480" cy="66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결과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9"/>
          <p:cNvSpPr/>
          <p:nvPr/>
        </p:nvSpPr>
        <p:spPr>
          <a:xfrm>
            <a:off x="8686800" y="4361760"/>
            <a:ext cx="2827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9</a:t>
            </a:r>
            <a:r>
              <a:rPr lang="zh-CN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개 선택 </a:t>
            </a:r>
            <a:r>
              <a:rPr lang="en-US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· 4</a:t>
            </a:r>
            <a:r>
              <a:rPr lang="zh-CN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개 제외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0"/>
          <p:cNvSpPr/>
          <p:nvPr/>
        </p:nvSpPr>
        <p:spPr>
          <a:xfrm>
            <a:off x="8686800" y="4636080"/>
            <a:ext cx="2827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외국인</a:t>
            </a: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·</a:t>
            </a: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이동</a:t>
            </a: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·</a:t>
            </a: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주야간 차이 변수 제외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21"/>
          <p:cNvSpPr/>
          <p:nvPr/>
        </p:nvSpPr>
        <p:spPr>
          <a:xfrm>
            <a:off x="7406640" y="5029200"/>
            <a:ext cx="4327560" cy="1161000"/>
          </a:xfrm>
          <a:prstGeom prst="roundRect">
            <a:avLst>
              <a:gd name="adj" fmla="val 6299"/>
            </a:avLst>
          </a:prstGeom>
          <a:solidFill>
            <a:srgbClr val="1F2329"/>
          </a:solidFill>
          <a:ln w="9525">
            <a:solidFill>
              <a:srgbClr val="1F232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22"/>
          <p:cNvSpPr/>
          <p:nvPr/>
        </p:nvSpPr>
        <p:spPr>
          <a:xfrm>
            <a:off x="7626240" y="5139000"/>
            <a:ext cx="3888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9FB6D1"/>
                </a:solidFill>
                <a:effectLst/>
                <a:uFillTx/>
                <a:latin typeface="Pretendard"/>
                <a:ea typeface="Pretendard"/>
              </a:rPr>
              <a:t>다음 단계로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23"/>
          <p:cNvSpPr/>
          <p:nvPr/>
        </p:nvSpPr>
        <p:spPr>
          <a:xfrm>
            <a:off x="7626240" y="5440680"/>
            <a:ext cx="38887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선택된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9</a:t>
            </a:r>
            <a:r>
              <a:rPr lang="zh-CN" sz="120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개는 모델에 바로 넣지 않고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zh-CN" sz="120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특성 조합 실험에서 실제 정확도 개선 여부를 다시 검증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48984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ext 0"/>
          <p:cNvSpPr/>
          <p:nvPr/>
        </p:nvSpPr>
        <p:spPr>
          <a:xfrm>
            <a:off x="457200" y="365760"/>
            <a:ext cx="11277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05  </a:t>
            </a:r>
            <a:r>
              <a:rPr lang="zh-CN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특성 조합 실험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"/>
          <p:cNvSpPr/>
          <p:nvPr/>
        </p:nvSpPr>
        <p:spPr>
          <a:xfrm>
            <a:off x="457200" y="768240"/>
            <a:ext cx="11277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0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생활인구를 넣으면 이송 예측이 실제로 좋아질까</a:t>
            </a:r>
            <a:r>
              <a:rPr lang="en-US" sz="30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?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2"/>
          <p:cNvSpPr/>
          <p:nvPr/>
        </p:nvSpPr>
        <p:spPr>
          <a:xfrm>
            <a:off x="457200" y="1444680"/>
            <a:ext cx="11277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5</a:t>
            </a:r>
            <a:r>
              <a:rPr lang="zh-CN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가지 특성 조합 </a:t>
            </a:r>
            <a:r>
              <a:rPr lang="en-US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× 3</a:t>
            </a:r>
            <a:r>
              <a:rPr lang="zh-CN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개 모델을 같은 행</a:t>
            </a:r>
            <a:r>
              <a:rPr lang="en-US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(</a:t>
            </a:r>
            <a:r>
              <a:rPr lang="zh-CN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학습 </a:t>
            </a:r>
            <a:r>
              <a:rPr lang="en-US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1,880 · </a:t>
            </a:r>
            <a:r>
              <a:rPr lang="zh-CN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검증 </a:t>
            </a:r>
            <a:r>
              <a:rPr lang="en-US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150</a:t>
            </a:r>
            <a:r>
              <a:rPr lang="zh-CN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행</a:t>
            </a:r>
            <a:r>
              <a:rPr lang="en-US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)</a:t>
            </a:r>
            <a:r>
              <a:rPr lang="zh-CN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으로 학습해 검증 정확도를 비</a:t>
            </a:r>
            <a:r>
              <a:rPr lang="zh-CN" sz="1500" b="0" u="none" strike="noStrike" dirty="0" smtClean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교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3"/>
          <p:cNvSpPr/>
          <p:nvPr/>
        </p:nvSpPr>
        <p:spPr>
          <a:xfrm>
            <a:off x="457200" y="637344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08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4"/>
          <p:cNvSpPr/>
          <p:nvPr/>
        </p:nvSpPr>
        <p:spPr>
          <a:xfrm>
            <a:off x="1371600" y="6373440"/>
            <a:ext cx="1036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출처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: 03_119_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통합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예측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.ipynb — 3-2 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출력 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(relation_model_compare)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5"/>
          <p:cNvSpPr/>
          <p:nvPr/>
        </p:nvSpPr>
        <p:spPr>
          <a:xfrm>
            <a:off x="457200" y="1993320"/>
            <a:ext cx="4205880" cy="612360"/>
          </a:xfrm>
          <a:prstGeom prst="roundRect">
            <a:avLst>
              <a:gd name="adj" fmla="val 11940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6"/>
          <p:cNvSpPr/>
          <p:nvPr/>
        </p:nvSpPr>
        <p:spPr>
          <a:xfrm>
            <a:off x="621720" y="1993320"/>
            <a:ext cx="36540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7"/>
          <p:cNvSpPr/>
          <p:nvPr/>
        </p:nvSpPr>
        <p:spPr>
          <a:xfrm>
            <a:off x="1051560" y="2066400"/>
            <a:ext cx="3428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계절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8"/>
          <p:cNvSpPr/>
          <p:nvPr/>
        </p:nvSpPr>
        <p:spPr>
          <a:xfrm>
            <a:off x="1051560" y="2331720"/>
            <a:ext cx="3428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구 </a:t>
            </a: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월 원</a:t>
            </a: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-</a:t>
            </a: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핫만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9"/>
          <p:cNvSpPr/>
          <p:nvPr/>
        </p:nvSpPr>
        <p:spPr>
          <a:xfrm>
            <a:off x="457200" y="2697480"/>
            <a:ext cx="4205880" cy="612360"/>
          </a:xfrm>
          <a:prstGeom prst="roundRect">
            <a:avLst>
              <a:gd name="adj" fmla="val 11940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0"/>
          <p:cNvSpPr/>
          <p:nvPr/>
        </p:nvSpPr>
        <p:spPr>
          <a:xfrm>
            <a:off x="621720" y="2697480"/>
            <a:ext cx="36540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1"/>
          <p:cNvSpPr/>
          <p:nvPr/>
        </p:nvSpPr>
        <p:spPr>
          <a:xfrm>
            <a:off x="1051560" y="2770560"/>
            <a:ext cx="3428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계절 </a:t>
            </a:r>
            <a:r>
              <a:rPr lang="en-US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+ </a:t>
            </a:r>
            <a:r>
              <a:rPr lang="zh-CN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인구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2"/>
          <p:cNvSpPr/>
          <p:nvPr/>
        </p:nvSpPr>
        <p:spPr>
          <a:xfrm>
            <a:off x="1051560" y="3035880"/>
            <a:ext cx="3428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A + </a:t>
            </a: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선택된 인구 변수 </a:t>
            </a: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9</a:t>
            </a: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개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13"/>
          <p:cNvSpPr/>
          <p:nvPr/>
        </p:nvSpPr>
        <p:spPr>
          <a:xfrm>
            <a:off x="457200" y="3401640"/>
            <a:ext cx="4205880" cy="612360"/>
          </a:xfrm>
          <a:prstGeom prst="roundRect">
            <a:avLst>
              <a:gd name="adj" fmla="val 11940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4"/>
          <p:cNvSpPr/>
          <p:nvPr/>
        </p:nvSpPr>
        <p:spPr>
          <a:xfrm>
            <a:off x="621720" y="3401640"/>
            <a:ext cx="36540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5"/>
          <p:cNvSpPr/>
          <p:nvPr/>
        </p:nvSpPr>
        <p:spPr>
          <a:xfrm>
            <a:off x="1051560" y="3474720"/>
            <a:ext cx="3428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계절 </a:t>
            </a:r>
            <a:r>
              <a:rPr lang="en-US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+ </a:t>
            </a:r>
            <a:r>
              <a:rPr lang="zh-CN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인구 </a:t>
            </a:r>
            <a:r>
              <a:rPr lang="en-US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+ </a:t>
            </a:r>
            <a:r>
              <a:rPr lang="zh-CN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이송률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6"/>
          <p:cNvSpPr/>
          <p:nvPr/>
        </p:nvSpPr>
        <p:spPr>
          <a:xfrm>
            <a:off x="1051560" y="3740040"/>
            <a:ext cx="3428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B + </a:t>
            </a: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인구기반</a:t>
            </a: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_</a:t>
            </a: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예상 </a:t>
            </a: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(</a:t>
            </a: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구별 이송률 </a:t>
            </a: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× </a:t>
            </a: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전월 </a:t>
            </a: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night_pop)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17"/>
          <p:cNvSpPr/>
          <p:nvPr/>
        </p:nvSpPr>
        <p:spPr>
          <a:xfrm>
            <a:off x="457200" y="4105800"/>
            <a:ext cx="4205880" cy="612360"/>
          </a:xfrm>
          <a:prstGeom prst="roundRect">
            <a:avLst>
              <a:gd name="adj" fmla="val 11940"/>
            </a:avLst>
          </a:prstGeom>
          <a:solidFill>
            <a:srgbClr val="E8EEF5"/>
          </a:solidFill>
          <a:ln w="9525">
            <a:solidFill>
              <a:srgbClr val="E8EEF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8"/>
          <p:cNvSpPr/>
          <p:nvPr/>
        </p:nvSpPr>
        <p:spPr>
          <a:xfrm>
            <a:off x="621720" y="4105800"/>
            <a:ext cx="36540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9"/>
          <p:cNvSpPr/>
          <p:nvPr/>
        </p:nvSpPr>
        <p:spPr>
          <a:xfrm>
            <a:off x="1051560" y="4178880"/>
            <a:ext cx="3428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계절 </a:t>
            </a:r>
            <a:r>
              <a:rPr lang="en-US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+ </a:t>
            </a:r>
            <a:r>
              <a:rPr lang="zh-CN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이송이력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20"/>
          <p:cNvSpPr/>
          <p:nvPr/>
        </p:nvSpPr>
        <p:spPr>
          <a:xfrm>
            <a:off x="1051560" y="4443840"/>
            <a:ext cx="3428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A + </a:t>
            </a: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전월</a:t>
            </a: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·</a:t>
            </a: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전년동월 이송 건수</a:t>
            </a: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전년 사고원인 등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21"/>
          <p:cNvSpPr/>
          <p:nvPr/>
        </p:nvSpPr>
        <p:spPr>
          <a:xfrm>
            <a:off x="457200" y="4809600"/>
            <a:ext cx="4205880" cy="612360"/>
          </a:xfrm>
          <a:prstGeom prst="roundRect">
            <a:avLst>
              <a:gd name="adj" fmla="val 11940"/>
            </a:avLst>
          </a:prstGeom>
          <a:solidFill>
            <a:srgbClr val="E8EEF5"/>
          </a:solidFill>
          <a:ln w="9525">
            <a:solidFill>
              <a:srgbClr val="E8EEF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22"/>
          <p:cNvSpPr/>
          <p:nvPr/>
        </p:nvSpPr>
        <p:spPr>
          <a:xfrm>
            <a:off x="621720" y="4809600"/>
            <a:ext cx="36540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23"/>
          <p:cNvSpPr/>
          <p:nvPr/>
        </p:nvSpPr>
        <p:spPr>
          <a:xfrm>
            <a:off x="1051560" y="4883040"/>
            <a:ext cx="3428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전체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24"/>
          <p:cNvSpPr/>
          <p:nvPr/>
        </p:nvSpPr>
        <p:spPr>
          <a:xfrm>
            <a:off x="1051560" y="5148000"/>
            <a:ext cx="3428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D + </a:t>
            </a: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인구 변수 </a:t>
            </a: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9</a:t>
            </a: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개 </a:t>
            </a: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+ </a:t>
            </a: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인구기반</a:t>
            </a: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_</a:t>
            </a: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예상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25"/>
          <p:cNvSpPr/>
          <p:nvPr/>
        </p:nvSpPr>
        <p:spPr>
          <a:xfrm>
            <a:off x="4846320" y="1993320"/>
            <a:ext cx="6887880" cy="3465360"/>
          </a:xfrm>
          <a:prstGeom prst="roundRect">
            <a:avLst>
              <a:gd name="adj" fmla="val 2111"/>
            </a:avLst>
          </a:prstGeom>
          <a:solidFill>
            <a:srgbClr val="FFFFFF"/>
          </a:solidFill>
          <a:ln w="9525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21" name="Chart 0"/>
          <p:cNvGraphicFramePr/>
          <p:nvPr/>
        </p:nvGraphicFramePr>
        <p:xfrm>
          <a:off x="4937760" y="2057400"/>
          <a:ext cx="6705000" cy="333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2" name="Shape 26"/>
          <p:cNvSpPr/>
          <p:nvPr/>
        </p:nvSpPr>
        <p:spPr>
          <a:xfrm>
            <a:off x="457200" y="5641920"/>
            <a:ext cx="11277000" cy="548280"/>
          </a:xfrm>
          <a:prstGeom prst="roundRect">
            <a:avLst>
              <a:gd name="adj" fmla="val 13333"/>
            </a:avLst>
          </a:prstGeom>
          <a:solidFill>
            <a:srgbClr val="1F2329"/>
          </a:solidFill>
          <a:ln w="9525">
            <a:solidFill>
              <a:srgbClr val="1F232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27"/>
          <p:cNvSpPr/>
          <p:nvPr/>
        </p:nvSpPr>
        <p:spPr>
          <a:xfrm>
            <a:off x="676800" y="5641920"/>
            <a:ext cx="108352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원칙  </a:t>
            </a:r>
            <a:r>
              <a:rPr lang="zh-CN" sz="1300" b="0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상관관계가 있다는 것과 예측 성능을 높인다는 것은 </a:t>
            </a:r>
            <a:r>
              <a:rPr lang="zh-CN" sz="1300" b="0" u="none" strike="noStrike" dirty="0" smtClean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다</a:t>
            </a:r>
            <a:r>
              <a:rPr lang="ko-KR" altLang="en-US" sz="1300" dirty="0" err="1">
                <a:solidFill>
                  <a:srgbClr val="FFFFFF"/>
                </a:solidFill>
                <a:latin typeface="Pretendard"/>
                <a:ea typeface="Pretendard"/>
              </a:rPr>
              <a:t>름</a:t>
            </a:r>
            <a:r>
              <a:rPr lang="zh-CN" sz="1300" b="0" u="none" strike="noStrike" dirty="0" smtClean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 </a:t>
            </a:r>
            <a:r>
              <a:rPr lang="zh-CN" sz="1300" b="0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— 그래서 특성 추가 여부는 검증 정확도로 결</a:t>
            </a:r>
            <a:r>
              <a:rPr lang="zh-CN" sz="1300" b="0" u="none" strike="noStrike" dirty="0" smtClean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정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76809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 0"/>
          <p:cNvSpPr/>
          <p:nvPr/>
        </p:nvSpPr>
        <p:spPr>
          <a:xfrm>
            <a:off x="457200" y="365760"/>
            <a:ext cx="11277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05  </a:t>
            </a:r>
            <a:r>
              <a:rPr lang="zh-CN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특성 조합 실험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"/>
          <p:cNvSpPr/>
          <p:nvPr/>
        </p:nvSpPr>
        <p:spPr>
          <a:xfrm>
            <a:off x="457200" y="768240"/>
            <a:ext cx="11277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이송 이력이 있으면 인구 특성의 추가 효과는 </a:t>
            </a:r>
            <a:r>
              <a:rPr lang="zh-CN" sz="3000" b="1" u="none" strike="noStrike" dirty="0" smtClean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없</a:t>
            </a:r>
            <a:r>
              <a:rPr lang="ko-KR" altLang="en-US" sz="3000" b="1" dirty="0">
                <a:solidFill>
                  <a:srgbClr val="1F2329"/>
                </a:solidFill>
                <a:latin typeface="Pretendard"/>
                <a:ea typeface="Pretendard"/>
              </a:rPr>
              <a:t>음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2"/>
          <p:cNvSpPr/>
          <p:nvPr/>
        </p:nvSpPr>
        <p:spPr>
          <a:xfrm>
            <a:off x="457200" y="1444680"/>
            <a:ext cx="11277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결정 기준</a:t>
            </a:r>
            <a:r>
              <a:rPr lang="en-US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: </a:t>
            </a:r>
            <a:r>
              <a:rPr lang="zh-CN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검증 정확도에서 </a:t>
            </a:r>
            <a:r>
              <a:rPr lang="en-US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E</a:t>
            </a:r>
            <a:r>
              <a:rPr lang="zh-CN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가 </a:t>
            </a:r>
            <a:r>
              <a:rPr lang="en-US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D</a:t>
            </a:r>
            <a:r>
              <a:rPr lang="zh-CN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보다 높을 때만 인구 특성을 메인 모델에 추가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3"/>
          <p:cNvSpPr/>
          <p:nvPr/>
        </p:nvSpPr>
        <p:spPr>
          <a:xfrm>
            <a:off x="457200" y="637344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09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4"/>
          <p:cNvSpPr/>
          <p:nvPr/>
        </p:nvSpPr>
        <p:spPr>
          <a:xfrm>
            <a:off x="1371600" y="6373440"/>
            <a:ext cx="1036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출처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: 03_119_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통합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예측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.ipynb — 3-2 · 3-3 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출력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5"/>
          <p:cNvSpPr/>
          <p:nvPr/>
        </p:nvSpPr>
        <p:spPr>
          <a:xfrm>
            <a:off x="457200" y="1993320"/>
            <a:ext cx="2681640" cy="1691280"/>
          </a:xfrm>
          <a:prstGeom prst="roundRect">
            <a:avLst>
              <a:gd name="adj" fmla="val 4324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6"/>
          <p:cNvSpPr/>
          <p:nvPr/>
        </p:nvSpPr>
        <p:spPr>
          <a:xfrm>
            <a:off x="676800" y="2176200"/>
            <a:ext cx="22428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84.39%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7"/>
          <p:cNvSpPr/>
          <p:nvPr/>
        </p:nvSpPr>
        <p:spPr>
          <a:xfrm>
            <a:off x="676800" y="2770560"/>
            <a:ext cx="2242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A </a:t>
            </a:r>
            <a:r>
              <a:rPr lang="zh-CN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계절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8"/>
          <p:cNvSpPr/>
          <p:nvPr/>
        </p:nvSpPr>
        <p:spPr>
          <a:xfrm>
            <a:off x="676440" y="3136320"/>
            <a:ext cx="2243160" cy="360"/>
          </a:xfrm>
          <a:prstGeom prst="line">
            <a:avLst/>
          </a:prstGeom>
          <a:ln w="9525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9"/>
          <p:cNvSpPr/>
          <p:nvPr/>
        </p:nvSpPr>
        <p:spPr>
          <a:xfrm>
            <a:off x="676800" y="3209400"/>
            <a:ext cx="22428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이송 기록 없음 </a:t>
            </a:r>
            <a:r>
              <a:rPr lang="en-US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최고 모델 </a:t>
            </a:r>
            <a:r>
              <a:rPr lang="en-US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LR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10"/>
          <p:cNvSpPr/>
          <p:nvPr/>
        </p:nvSpPr>
        <p:spPr>
          <a:xfrm>
            <a:off x="3322080" y="1993320"/>
            <a:ext cx="2681640" cy="1691280"/>
          </a:xfrm>
          <a:prstGeom prst="roundRect">
            <a:avLst>
              <a:gd name="adj" fmla="val 4324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1"/>
          <p:cNvSpPr/>
          <p:nvPr/>
        </p:nvSpPr>
        <p:spPr>
          <a:xfrm>
            <a:off x="3541680" y="2176200"/>
            <a:ext cx="22428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88.03%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2"/>
          <p:cNvSpPr/>
          <p:nvPr/>
        </p:nvSpPr>
        <p:spPr>
          <a:xfrm>
            <a:off x="3541680" y="2770560"/>
            <a:ext cx="2242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C </a:t>
            </a:r>
            <a:r>
              <a:rPr lang="zh-CN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계절</a:t>
            </a:r>
            <a:r>
              <a:rPr lang="en-US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+</a:t>
            </a:r>
            <a:r>
              <a:rPr lang="zh-CN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인구</a:t>
            </a:r>
            <a:r>
              <a:rPr lang="en-US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+</a:t>
            </a:r>
            <a:r>
              <a:rPr lang="zh-CN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이송률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13"/>
          <p:cNvSpPr/>
          <p:nvPr/>
        </p:nvSpPr>
        <p:spPr>
          <a:xfrm>
            <a:off x="3541680" y="3136320"/>
            <a:ext cx="2243160" cy="360"/>
          </a:xfrm>
          <a:prstGeom prst="line">
            <a:avLst/>
          </a:prstGeom>
          <a:ln w="9525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4"/>
          <p:cNvSpPr/>
          <p:nvPr/>
        </p:nvSpPr>
        <p:spPr>
          <a:xfrm>
            <a:off x="3541680" y="3209400"/>
            <a:ext cx="22428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A </a:t>
            </a:r>
            <a:r>
              <a:rPr lang="zh-CN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대비 </a:t>
            </a:r>
            <a:r>
              <a:rPr lang="en-US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+3.64%p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15"/>
          <p:cNvSpPr/>
          <p:nvPr/>
        </p:nvSpPr>
        <p:spPr>
          <a:xfrm>
            <a:off x="6187320" y="1993320"/>
            <a:ext cx="2681640" cy="1691280"/>
          </a:xfrm>
          <a:prstGeom prst="roundRect">
            <a:avLst>
              <a:gd name="adj" fmla="val 4324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6"/>
          <p:cNvSpPr/>
          <p:nvPr/>
        </p:nvSpPr>
        <p:spPr>
          <a:xfrm>
            <a:off x="6406920" y="2176200"/>
            <a:ext cx="22428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94.96%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7"/>
          <p:cNvSpPr/>
          <p:nvPr/>
        </p:nvSpPr>
        <p:spPr>
          <a:xfrm>
            <a:off x="6406920" y="2770560"/>
            <a:ext cx="2242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D </a:t>
            </a:r>
            <a:r>
              <a:rPr lang="zh-CN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계절</a:t>
            </a:r>
            <a:r>
              <a:rPr lang="en-US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+</a:t>
            </a:r>
            <a:r>
              <a:rPr lang="zh-CN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이송이력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18"/>
          <p:cNvSpPr/>
          <p:nvPr/>
        </p:nvSpPr>
        <p:spPr>
          <a:xfrm>
            <a:off x="6406560" y="3136320"/>
            <a:ext cx="2243160" cy="360"/>
          </a:xfrm>
          <a:prstGeom prst="line">
            <a:avLst/>
          </a:prstGeom>
          <a:ln w="9525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9"/>
          <p:cNvSpPr/>
          <p:nvPr/>
        </p:nvSpPr>
        <p:spPr>
          <a:xfrm>
            <a:off x="6406920" y="3209400"/>
            <a:ext cx="22428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최고 모델 </a:t>
            </a:r>
            <a:r>
              <a:rPr lang="en-US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GradientBoosting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20"/>
          <p:cNvSpPr/>
          <p:nvPr/>
        </p:nvSpPr>
        <p:spPr>
          <a:xfrm>
            <a:off x="9052200" y="1993320"/>
            <a:ext cx="2681640" cy="1691280"/>
          </a:xfrm>
          <a:prstGeom prst="roundRect">
            <a:avLst>
              <a:gd name="adj" fmla="val 4324"/>
            </a:avLst>
          </a:prstGeom>
          <a:solidFill>
            <a:srgbClr val="2F5D8A"/>
          </a:solidFill>
          <a:ln w="9525">
            <a:solidFill>
              <a:srgbClr val="2F5D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21"/>
          <p:cNvSpPr/>
          <p:nvPr/>
        </p:nvSpPr>
        <p:spPr>
          <a:xfrm>
            <a:off x="9271800" y="2176200"/>
            <a:ext cx="22428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94.79%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22"/>
          <p:cNvSpPr/>
          <p:nvPr/>
        </p:nvSpPr>
        <p:spPr>
          <a:xfrm>
            <a:off x="9271800" y="2770560"/>
            <a:ext cx="2242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E </a:t>
            </a: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전체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23"/>
          <p:cNvSpPr/>
          <p:nvPr/>
        </p:nvSpPr>
        <p:spPr>
          <a:xfrm>
            <a:off x="9271440" y="3136320"/>
            <a:ext cx="2243520" cy="360"/>
          </a:xfrm>
          <a:prstGeom prst="line">
            <a:avLst/>
          </a:prstGeom>
          <a:ln w="9525">
            <a:solidFill>
              <a:srgbClr val="6F8FB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24"/>
          <p:cNvSpPr/>
          <p:nvPr/>
        </p:nvSpPr>
        <p:spPr>
          <a:xfrm>
            <a:off x="9271800" y="3209400"/>
            <a:ext cx="22428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3EAF3"/>
                </a:solidFill>
                <a:effectLst/>
                <a:uFillTx/>
                <a:latin typeface="Pretendard"/>
                <a:ea typeface="Pretendard"/>
              </a:rPr>
              <a:t>D </a:t>
            </a:r>
            <a:r>
              <a:rPr lang="zh-CN" sz="1100" b="0" u="none" strike="noStrike">
                <a:solidFill>
                  <a:srgbClr val="E3EAF3"/>
                </a:solidFill>
                <a:effectLst/>
                <a:uFillTx/>
                <a:latin typeface="Pretendard"/>
                <a:ea typeface="Pretendard"/>
              </a:rPr>
              <a:t>대비 −</a:t>
            </a:r>
            <a:r>
              <a:rPr lang="en-US" sz="1100" b="0" u="none" strike="noStrike">
                <a:solidFill>
                  <a:srgbClr val="E3EAF3"/>
                </a:solidFill>
                <a:effectLst/>
                <a:uFillTx/>
                <a:latin typeface="Pretendard"/>
                <a:ea typeface="Pretendard"/>
              </a:rPr>
              <a:t>0.177%p (</a:t>
            </a:r>
            <a:r>
              <a:rPr lang="zh-CN" sz="1100" b="0" u="none" strike="noStrike">
                <a:solidFill>
                  <a:srgbClr val="E3EAF3"/>
                </a:solidFill>
                <a:effectLst/>
                <a:uFillTx/>
                <a:latin typeface="Pretendard"/>
                <a:ea typeface="Pretendard"/>
              </a:rPr>
              <a:t>개선 없음</a:t>
            </a:r>
            <a:r>
              <a:rPr lang="en-US" sz="1100" b="0" u="none" strike="noStrike">
                <a:solidFill>
                  <a:srgbClr val="E3EAF3"/>
                </a:solidFill>
                <a:effectLst/>
                <a:uFillTx/>
                <a:latin typeface="Pretendard"/>
                <a:ea typeface="Pretendard"/>
              </a:rPr>
              <a:t>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25"/>
          <p:cNvSpPr/>
          <p:nvPr/>
        </p:nvSpPr>
        <p:spPr>
          <a:xfrm>
            <a:off x="457200" y="37306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특성 조합별 최고 검증 정확도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26"/>
          <p:cNvSpPr/>
          <p:nvPr/>
        </p:nvSpPr>
        <p:spPr>
          <a:xfrm>
            <a:off x="457200" y="4069080"/>
            <a:ext cx="2579040" cy="1096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27"/>
          <p:cNvSpPr/>
          <p:nvPr/>
        </p:nvSpPr>
        <p:spPr>
          <a:xfrm>
            <a:off x="658440" y="4206240"/>
            <a:ext cx="2176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가설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28"/>
          <p:cNvSpPr/>
          <p:nvPr/>
        </p:nvSpPr>
        <p:spPr>
          <a:xfrm>
            <a:off x="658440" y="4507920"/>
            <a:ext cx="21765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생활인구 정보가 이송 예측에 도움이 될 것이다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29"/>
          <p:cNvSpPr/>
          <p:nvPr/>
        </p:nvSpPr>
        <p:spPr>
          <a:xfrm>
            <a:off x="3072960" y="4617720"/>
            <a:ext cx="246960" cy="360"/>
          </a:xfrm>
          <a:prstGeom prst="line">
            <a:avLst/>
          </a:prstGeom>
          <a:ln w="15875">
            <a:solidFill>
              <a:srgbClr val="8A919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30"/>
          <p:cNvSpPr/>
          <p:nvPr/>
        </p:nvSpPr>
        <p:spPr>
          <a:xfrm>
            <a:off x="3356640" y="4069080"/>
            <a:ext cx="2579040" cy="1096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31"/>
          <p:cNvSpPr/>
          <p:nvPr/>
        </p:nvSpPr>
        <p:spPr>
          <a:xfrm>
            <a:off x="3557880" y="4206240"/>
            <a:ext cx="2176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실험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32"/>
          <p:cNvSpPr/>
          <p:nvPr/>
        </p:nvSpPr>
        <p:spPr>
          <a:xfrm>
            <a:off x="3557880" y="4507920"/>
            <a:ext cx="21765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인구 포함 </a:t>
            </a:r>
            <a:r>
              <a:rPr lang="en-US" sz="12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/ </a:t>
            </a:r>
            <a:r>
              <a:rPr lang="zh-CN" sz="12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미포함 조합 </a:t>
            </a:r>
            <a:r>
              <a:rPr lang="en-US" sz="12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5</a:t>
            </a:r>
            <a:r>
              <a:rPr lang="zh-CN" sz="12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개 </a:t>
            </a:r>
            <a:r>
              <a:rPr lang="en-US" sz="12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× </a:t>
            </a:r>
            <a:r>
              <a:rPr lang="zh-CN" sz="12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모델 </a:t>
            </a:r>
            <a:r>
              <a:rPr lang="en-US" sz="12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3</a:t>
            </a:r>
            <a:r>
              <a:rPr lang="zh-CN" sz="12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종 비교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33"/>
          <p:cNvSpPr/>
          <p:nvPr/>
        </p:nvSpPr>
        <p:spPr>
          <a:xfrm>
            <a:off x="5972400" y="4617720"/>
            <a:ext cx="246600" cy="360"/>
          </a:xfrm>
          <a:prstGeom prst="line">
            <a:avLst/>
          </a:prstGeom>
          <a:ln w="15875">
            <a:solidFill>
              <a:srgbClr val="8A919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34"/>
          <p:cNvSpPr/>
          <p:nvPr/>
        </p:nvSpPr>
        <p:spPr>
          <a:xfrm>
            <a:off x="6255720" y="4069080"/>
            <a:ext cx="2579040" cy="1096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35"/>
          <p:cNvSpPr/>
          <p:nvPr/>
        </p:nvSpPr>
        <p:spPr>
          <a:xfrm>
            <a:off x="6456960" y="4206240"/>
            <a:ext cx="2176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결과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36"/>
          <p:cNvSpPr/>
          <p:nvPr/>
        </p:nvSpPr>
        <p:spPr>
          <a:xfrm>
            <a:off x="6456960" y="4507920"/>
            <a:ext cx="21765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이력 없을 땐 </a:t>
            </a:r>
            <a:r>
              <a:rPr lang="en-US" sz="12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+3.64%p, </a:t>
            </a:r>
            <a:r>
              <a:rPr lang="zh-CN" sz="12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이력 있을 땐 −</a:t>
            </a:r>
            <a:r>
              <a:rPr lang="en-US" sz="12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0.177%p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37"/>
          <p:cNvSpPr/>
          <p:nvPr/>
        </p:nvSpPr>
        <p:spPr>
          <a:xfrm>
            <a:off x="8871480" y="4617720"/>
            <a:ext cx="246960" cy="360"/>
          </a:xfrm>
          <a:prstGeom prst="line">
            <a:avLst/>
          </a:prstGeom>
          <a:ln w="15875">
            <a:solidFill>
              <a:srgbClr val="8A919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38"/>
          <p:cNvSpPr/>
          <p:nvPr/>
        </p:nvSpPr>
        <p:spPr>
          <a:xfrm>
            <a:off x="9155160" y="4069080"/>
            <a:ext cx="2579040" cy="1096920"/>
          </a:xfrm>
          <a:prstGeom prst="roundRect">
            <a:avLst>
              <a:gd name="adj" fmla="val 6667"/>
            </a:avLst>
          </a:prstGeom>
          <a:solidFill>
            <a:srgbClr val="1F2329"/>
          </a:solidFill>
          <a:ln w="9525">
            <a:solidFill>
              <a:srgbClr val="1F232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39"/>
          <p:cNvSpPr/>
          <p:nvPr/>
        </p:nvSpPr>
        <p:spPr>
          <a:xfrm>
            <a:off x="9356400" y="4206240"/>
            <a:ext cx="2176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9FB6D1"/>
                </a:solidFill>
                <a:effectLst/>
                <a:uFillTx/>
                <a:latin typeface="Pretendard"/>
                <a:ea typeface="Pretendard"/>
              </a:rPr>
              <a:t>결정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40"/>
          <p:cNvSpPr/>
          <p:nvPr/>
        </p:nvSpPr>
        <p:spPr>
          <a:xfrm>
            <a:off x="9356400" y="4507920"/>
            <a:ext cx="21765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추가 인구 특성 미반영 → 기존 특성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8</a:t>
            </a:r>
            <a:r>
              <a:rPr lang="zh-CN" sz="120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개 유지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41"/>
          <p:cNvSpPr/>
          <p:nvPr/>
        </p:nvSpPr>
        <p:spPr>
          <a:xfrm>
            <a:off x="457200" y="5349240"/>
            <a:ext cx="11277000" cy="840960"/>
          </a:xfrm>
          <a:prstGeom prst="roundRect">
            <a:avLst>
              <a:gd name="adj" fmla="val 8696"/>
            </a:avLst>
          </a:prstGeom>
          <a:solidFill>
            <a:srgbClr val="E8EEF5"/>
          </a:solidFill>
          <a:ln w="9525">
            <a:solidFill>
              <a:srgbClr val="E8EEF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42"/>
          <p:cNvSpPr/>
          <p:nvPr/>
        </p:nvSpPr>
        <p:spPr>
          <a:xfrm>
            <a:off x="676800" y="5440680"/>
            <a:ext cx="10835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유지된 메인 모델 특성 </a:t>
            </a:r>
            <a:r>
              <a:rPr lang="en-US" sz="12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(</a:t>
            </a:r>
            <a:r>
              <a:rPr lang="zh-CN" sz="12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전처리 선택 </a:t>
            </a:r>
            <a:r>
              <a:rPr lang="en-US" sz="12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8</a:t>
            </a:r>
            <a:r>
              <a:rPr lang="zh-CN" sz="12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개</a:t>
            </a:r>
            <a:r>
              <a:rPr lang="en-US" sz="12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43"/>
          <p:cNvSpPr/>
          <p:nvPr/>
        </p:nvSpPr>
        <p:spPr>
          <a:xfrm>
            <a:off x="676800" y="5733360"/>
            <a:ext cx="108352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전월</a:t>
            </a:r>
            <a:r>
              <a:rPr lang="en-US" sz="11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_transport_cnt · </a:t>
            </a:r>
            <a:r>
              <a:rPr lang="zh-CN" sz="11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전년동월</a:t>
            </a:r>
            <a:r>
              <a:rPr lang="en-US" sz="11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_transport_cnt · </a:t>
            </a:r>
            <a:r>
              <a:rPr lang="zh-CN" sz="11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전월</a:t>
            </a:r>
            <a:r>
              <a:rPr lang="en-US" sz="11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_night_pop · </a:t>
            </a:r>
            <a:r>
              <a:rPr lang="zh-CN" sz="11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전월</a:t>
            </a:r>
            <a:r>
              <a:rPr lang="en-US" sz="11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_</a:t>
            </a:r>
            <a:r>
              <a:rPr lang="zh-CN" sz="11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동일자치구행정동간이동인구수 </a:t>
            </a:r>
            <a:r>
              <a:rPr lang="en-US" sz="11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1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전월</a:t>
            </a:r>
            <a:r>
              <a:rPr lang="en-US" sz="11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_</a:t>
            </a:r>
            <a:r>
              <a:rPr lang="zh-CN" sz="11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일최대인구수 </a:t>
            </a:r>
            <a:r>
              <a:rPr lang="en-US" sz="11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1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전월</a:t>
            </a:r>
            <a:r>
              <a:rPr lang="en-US" sz="11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_</a:t>
            </a:r>
            <a:r>
              <a:rPr lang="zh-CN" sz="11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서울외유입인구수 </a:t>
            </a:r>
            <a:r>
              <a:rPr lang="en-US" sz="11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1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전년</a:t>
            </a:r>
            <a:r>
              <a:rPr lang="en-US" sz="11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_</a:t>
            </a:r>
            <a:r>
              <a:rPr lang="zh-CN" sz="11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인명갇힘 </a:t>
            </a:r>
            <a:r>
              <a:rPr lang="en-US" sz="11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1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전년</a:t>
            </a:r>
            <a:r>
              <a:rPr lang="en-US" sz="11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_</a:t>
            </a:r>
            <a:r>
              <a:rPr lang="zh-CN" sz="11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승강기사고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68521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Text 0"/>
          <p:cNvSpPr/>
          <p:nvPr/>
        </p:nvSpPr>
        <p:spPr>
          <a:xfrm>
            <a:off x="457200" y="365760"/>
            <a:ext cx="11277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06  </a:t>
            </a:r>
            <a:r>
              <a:rPr lang="zh-CN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정확도 개선 실험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"/>
          <p:cNvSpPr/>
          <p:nvPr/>
        </p:nvSpPr>
        <p:spPr>
          <a:xfrm>
            <a:off x="457200" y="768240"/>
            <a:ext cx="11277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달력 특성 추가가 </a:t>
            </a:r>
            <a:r>
              <a:rPr lang="en-US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6</a:t>
            </a:r>
            <a:r>
              <a:rPr lang="zh-CN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개월 연속 예측을 가장 크게 개</a:t>
            </a:r>
            <a:r>
              <a:rPr lang="zh-CN" sz="3000" b="1" u="none" strike="noStrike" dirty="0" smtClean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선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2"/>
          <p:cNvSpPr/>
          <p:nvPr/>
        </p:nvSpPr>
        <p:spPr>
          <a:xfrm>
            <a:off x="457200" y="1444680"/>
            <a:ext cx="11277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4</a:t>
            </a:r>
            <a:r>
              <a:rPr lang="zh-CN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가지 설정을 검증 </a:t>
            </a:r>
            <a:r>
              <a:rPr lang="en-US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6</a:t>
            </a:r>
            <a:r>
              <a:rPr lang="zh-CN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개월 연속 예측 정확도로 비교 — 기본 대비 </a:t>
            </a:r>
            <a:r>
              <a:rPr lang="en-US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+0.10%p </a:t>
            </a:r>
            <a:r>
              <a:rPr lang="zh-CN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이상일 때만 채택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3"/>
          <p:cNvSpPr/>
          <p:nvPr/>
        </p:nvSpPr>
        <p:spPr>
          <a:xfrm>
            <a:off x="457200" y="637344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4"/>
          <p:cNvSpPr/>
          <p:nvPr/>
        </p:nvSpPr>
        <p:spPr>
          <a:xfrm>
            <a:off x="1371600" y="6373440"/>
            <a:ext cx="1036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출처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: 03_119_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통합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예측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.ipynb — 4-0 · 4-1-2 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출력 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(transport_improve_experiment)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5"/>
          <p:cNvSpPr/>
          <p:nvPr/>
        </p:nvSpPr>
        <p:spPr>
          <a:xfrm>
            <a:off x="457200" y="1993320"/>
            <a:ext cx="4205880" cy="3465360"/>
          </a:xfrm>
          <a:prstGeom prst="roundRect">
            <a:avLst>
              <a:gd name="adj" fmla="val 2111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6"/>
          <p:cNvSpPr/>
          <p:nvPr/>
        </p:nvSpPr>
        <p:spPr>
          <a:xfrm>
            <a:off x="676800" y="2130480"/>
            <a:ext cx="3767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달력 특성을 만든 이유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7"/>
          <p:cNvSpPr/>
          <p:nvPr/>
        </p:nvSpPr>
        <p:spPr>
          <a:xfrm>
            <a:off x="676800" y="2450520"/>
            <a:ext cx="37670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같은 </a:t>
            </a:r>
            <a:r>
              <a:rPr lang="en-US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1</a:t>
            </a:r>
            <a:r>
              <a:rPr lang="zh-CN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월</a:t>
            </a:r>
            <a:r>
              <a:rPr lang="en-US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·2</a:t>
            </a:r>
            <a:r>
              <a:rPr lang="zh-CN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월이라도 해마다 주말</a:t>
            </a:r>
            <a:r>
              <a:rPr lang="en-US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·</a:t>
            </a:r>
            <a:r>
              <a:rPr lang="zh-CN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공휴일</a:t>
            </a:r>
            <a:r>
              <a:rPr lang="en-US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·</a:t>
            </a:r>
            <a:r>
              <a:rPr lang="zh-CN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명절 구성과 월 길이가 다르다 → 월 정보만으로는 표현 불가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76" name="Table 0"/>
          <p:cNvGraphicFramePr/>
          <p:nvPr/>
        </p:nvGraphicFramePr>
        <p:xfrm>
          <a:off x="676800" y="3200400"/>
          <a:ext cx="3767040" cy="1389600"/>
        </p:xfrm>
        <a:graphic>
          <a:graphicData uri="http://schemas.openxmlformats.org/drawingml/2006/table">
            <a:tbl>
              <a:tblPr/>
              <a:tblGrid>
                <a:gridCol w="840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3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0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월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0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일수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0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주말수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0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평일공휴일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0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명절연휴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2025-01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31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8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2025-02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28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8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2025-10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31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8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2025-11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30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7" name="Text 8"/>
          <p:cNvSpPr/>
          <p:nvPr/>
        </p:nvSpPr>
        <p:spPr>
          <a:xfrm>
            <a:off x="676800" y="4617720"/>
            <a:ext cx="37670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zh-CN" sz="10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명절연휴일수 </a:t>
            </a:r>
            <a:r>
              <a:rPr lang="en-US" sz="10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= </a:t>
            </a:r>
            <a:r>
              <a:rPr lang="zh-CN" sz="10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설</a:t>
            </a:r>
            <a:r>
              <a:rPr lang="en-US" sz="10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·</a:t>
            </a:r>
            <a:r>
              <a:rPr lang="zh-CN" sz="10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추석 전날</a:t>
            </a:r>
            <a:r>
              <a:rPr lang="en-US" sz="10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·</a:t>
            </a:r>
            <a:r>
              <a:rPr lang="zh-CN" sz="10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당일</a:t>
            </a:r>
            <a:r>
              <a:rPr lang="en-US" sz="10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·</a:t>
            </a:r>
            <a:r>
              <a:rPr lang="zh-CN" sz="10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다음날 중 그 달에 걸린 날 수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9"/>
          <p:cNvSpPr/>
          <p:nvPr/>
        </p:nvSpPr>
        <p:spPr>
          <a:xfrm>
            <a:off x="4846320" y="1993320"/>
            <a:ext cx="6887880" cy="3465360"/>
          </a:xfrm>
          <a:prstGeom prst="roundRect">
            <a:avLst>
              <a:gd name="adj" fmla="val 2111"/>
            </a:avLst>
          </a:prstGeom>
          <a:solidFill>
            <a:srgbClr val="FFFFFF"/>
          </a:solidFill>
          <a:ln w="9525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79" name="Chart 0"/>
          <p:cNvGraphicFramePr/>
          <p:nvPr/>
        </p:nvGraphicFramePr>
        <p:xfrm>
          <a:off x="4937760" y="2057400"/>
          <a:ext cx="6705000" cy="333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0" name="Text 10"/>
          <p:cNvSpPr/>
          <p:nvPr/>
        </p:nvSpPr>
        <p:spPr>
          <a:xfrm>
            <a:off x="676800" y="5029200"/>
            <a:ext cx="3767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채택</a:t>
            </a:r>
            <a:r>
              <a:rPr lang="en-US" sz="11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: </a:t>
            </a:r>
            <a:r>
              <a:rPr lang="zh-CN" sz="11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달력 </a:t>
            </a:r>
            <a:r>
              <a:rPr lang="en-US" sz="11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(</a:t>
            </a:r>
            <a:r>
              <a:rPr lang="zh-CN" sz="11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기본 대비 </a:t>
            </a:r>
            <a:r>
              <a:rPr lang="en-US" sz="11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+0.727%p)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11"/>
          <p:cNvSpPr/>
          <p:nvPr/>
        </p:nvSpPr>
        <p:spPr>
          <a:xfrm>
            <a:off x="457200" y="5641920"/>
            <a:ext cx="11883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1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설정별 최고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12"/>
          <p:cNvSpPr/>
          <p:nvPr/>
        </p:nvSpPr>
        <p:spPr>
          <a:xfrm>
            <a:off x="1645920" y="5641920"/>
            <a:ext cx="2384640" cy="548280"/>
          </a:xfrm>
          <a:prstGeom prst="roundRect">
            <a:avLst>
              <a:gd name="adj" fmla="val 13333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13"/>
          <p:cNvSpPr/>
          <p:nvPr/>
        </p:nvSpPr>
        <p:spPr>
          <a:xfrm>
            <a:off x="1828800" y="5641920"/>
            <a:ext cx="12798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기본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14"/>
          <p:cNvSpPr/>
          <p:nvPr/>
        </p:nvSpPr>
        <p:spPr>
          <a:xfrm>
            <a:off x="2926080" y="5641920"/>
            <a:ext cx="9216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93.885%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15"/>
          <p:cNvSpPr/>
          <p:nvPr/>
        </p:nvSpPr>
        <p:spPr>
          <a:xfrm>
            <a:off x="4213800" y="5641920"/>
            <a:ext cx="2384640" cy="548280"/>
          </a:xfrm>
          <a:prstGeom prst="roundRect">
            <a:avLst>
              <a:gd name="adj" fmla="val 13333"/>
            </a:avLst>
          </a:prstGeom>
          <a:solidFill>
            <a:srgbClr val="2F5D8A"/>
          </a:solidFill>
          <a:ln w="9525">
            <a:solidFill>
              <a:srgbClr val="2F5D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16"/>
          <p:cNvSpPr/>
          <p:nvPr/>
        </p:nvSpPr>
        <p:spPr>
          <a:xfrm>
            <a:off x="4396680" y="5641920"/>
            <a:ext cx="12798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달력 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채택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7"/>
          <p:cNvSpPr/>
          <p:nvPr/>
        </p:nvSpPr>
        <p:spPr>
          <a:xfrm>
            <a:off x="5493960" y="5641920"/>
            <a:ext cx="9216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94.612%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18"/>
          <p:cNvSpPr/>
          <p:nvPr/>
        </p:nvSpPr>
        <p:spPr>
          <a:xfrm>
            <a:off x="6781680" y="5641920"/>
            <a:ext cx="2384640" cy="548280"/>
          </a:xfrm>
          <a:prstGeom prst="roundRect">
            <a:avLst>
              <a:gd name="adj" fmla="val 13333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9"/>
          <p:cNvSpPr/>
          <p:nvPr/>
        </p:nvSpPr>
        <p:spPr>
          <a:xfrm>
            <a:off x="6964560" y="5641920"/>
            <a:ext cx="12798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증감량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20"/>
          <p:cNvSpPr/>
          <p:nvPr/>
        </p:nvSpPr>
        <p:spPr>
          <a:xfrm>
            <a:off x="8061840" y="5641920"/>
            <a:ext cx="9216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94.226%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21"/>
          <p:cNvSpPr/>
          <p:nvPr/>
        </p:nvSpPr>
        <p:spPr>
          <a:xfrm>
            <a:off x="9349560" y="5641920"/>
            <a:ext cx="2384640" cy="548280"/>
          </a:xfrm>
          <a:prstGeom prst="roundRect">
            <a:avLst>
              <a:gd name="adj" fmla="val 13333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22"/>
          <p:cNvSpPr/>
          <p:nvPr/>
        </p:nvSpPr>
        <p:spPr>
          <a:xfrm>
            <a:off x="9532440" y="5641920"/>
            <a:ext cx="12798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달력</a:t>
            </a:r>
            <a:r>
              <a:rPr lang="en-US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+</a:t>
            </a:r>
            <a:r>
              <a:rPr lang="zh-CN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증감량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23"/>
          <p:cNvSpPr/>
          <p:nvPr/>
        </p:nvSpPr>
        <p:spPr>
          <a:xfrm>
            <a:off x="10629720" y="5641920"/>
            <a:ext cx="9216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94.470%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13731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Text 0"/>
          <p:cNvSpPr/>
          <p:nvPr/>
        </p:nvSpPr>
        <p:spPr>
          <a:xfrm>
            <a:off x="457200" y="365760"/>
            <a:ext cx="11277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07  </a:t>
            </a:r>
            <a:r>
              <a:rPr lang="zh-CN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모델 구성 및 주요 파라미터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1"/>
          <p:cNvSpPr/>
          <p:nvPr/>
        </p:nvSpPr>
        <p:spPr>
          <a:xfrm>
            <a:off x="457200" y="768240"/>
            <a:ext cx="11277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6</a:t>
            </a:r>
            <a:r>
              <a:rPr lang="zh-CN" sz="30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개 기본 모델 </a:t>
            </a:r>
            <a:r>
              <a:rPr lang="en-US" sz="30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+ </a:t>
            </a:r>
            <a:r>
              <a:rPr lang="zh-CN" sz="30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앙상블</a:t>
            </a:r>
            <a:r>
              <a:rPr lang="en-US" sz="30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zh-CN" sz="30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이해에 필요한 핵심 설정만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2"/>
          <p:cNvSpPr/>
          <p:nvPr/>
        </p:nvSpPr>
        <p:spPr>
          <a:xfrm>
            <a:off x="457200" y="1444680"/>
            <a:ext cx="11277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같은 모델이라도 데이터 크기가 다른 두 문제에 맞춰 설정값을 따</a:t>
            </a:r>
            <a:r>
              <a:rPr lang="zh-CN" sz="1500" b="0" u="none" strike="noStrike" dirty="0" smtClean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로</a:t>
            </a:r>
            <a:r>
              <a:rPr lang="en-US" altLang="zh-CN" sz="1500" b="0" u="none" strike="noStrike" dirty="0" smtClean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 </a:t>
            </a:r>
            <a:r>
              <a:rPr lang="ko-KR" altLang="en-US" sz="1500" b="0" u="none" strike="noStrike" dirty="0" smtClean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정함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3"/>
          <p:cNvSpPr/>
          <p:nvPr/>
        </p:nvSpPr>
        <p:spPr>
          <a:xfrm>
            <a:off x="457200" y="637344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4"/>
          <p:cNvSpPr/>
          <p:nvPr/>
        </p:nvSpPr>
        <p:spPr>
          <a:xfrm>
            <a:off x="1371600" y="6373440"/>
            <a:ext cx="1036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출처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: 03_119_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통합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예측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.ipynb — 0-1 make_ml_models · DNN_SETTINGS · build_dnn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99" name="Table 0"/>
          <p:cNvGraphicFramePr/>
          <p:nvPr/>
        </p:nvGraphicFramePr>
        <p:xfrm>
          <a:off x="457200" y="1993320"/>
          <a:ext cx="11277000" cy="26953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0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05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모델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05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핵심 설정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050" b="1" u="none" strike="noStrike">
                          <a:solidFill>
                            <a:srgbClr val="2F5D8A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이송 건수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050" b="1" u="none" strike="noStrike">
                          <a:solidFill>
                            <a:srgbClr val="2F5D8A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인구 밀집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05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의미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LinearRegression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05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기본 설정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—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—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05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규제 없는 선형 회귀 </a:t>
                      </a:r>
                      <a:r>
                        <a:rPr lang="en-US" sz="105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(</a:t>
                      </a:r>
                      <a:r>
                        <a:rPr lang="zh-CN" sz="105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비교 기준</a:t>
                      </a:r>
                      <a:r>
                        <a:rPr lang="en-US" sz="105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)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Ridge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alpha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0.8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1.0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05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회귀계수 규제 강도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DecisionTree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max_depth / min_samples_leaf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6 / 5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10 / 10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05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트리 복잡도 제한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RandomForest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n_estimators / max_depth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300 / 10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100 / 15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05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트리 개수와 깊이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GradientBoosting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n_estimators / max_depth / learning_rate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300 / 3 / 0.05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200 / 4 / </a:t>
                      </a:r>
                      <a:r>
                        <a:rPr lang="zh-CN" sz="105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기본값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05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순차 학습 규모와 학습률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DNN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05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은닉층 </a:t>
                      </a:r>
                      <a:r>
                        <a:rPr lang="en-US" sz="105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/ epochs / batch_size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64-32 / 500 / 32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128-64-32 / 100 / 256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05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신경망 구조와 학습 규모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Ensemble(GB+Ridge)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GB </a:t>
                      </a:r>
                      <a:r>
                        <a:rPr lang="zh-CN" sz="105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예측과 </a:t>
                      </a:r>
                      <a:r>
                        <a:rPr lang="en-US" sz="105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Ridge </a:t>
                      </a:r>
                      <a:r>
                        <a:rPr lang="zh-CN" sz="105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예측의 평균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05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사용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05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미사용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05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서로 다른 오차 상쇄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00" name="Shape 5"/>
          <p:cNvSpPr/>
          <p:nvPr/>
        </p:nvSpPr>
        <p:spPr>
          <a:xfrm>
            <a:off x="457200" y="4937760"/>
            <a:ext cx="3636720" cy="1252440"/>
          </a:xfrm>
          <a:prstGeom prst="roundRect">
            <a:avLst>
              <a:gd name="adj" fmla="val 5839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6"/>
          <p:cNvSpPr/>
          <p:nvPr/>
        </p:nvSpPr>
        <p:spPr>
          <a:xfrm>
            <a:off x="676800" y="5047560"/>
            <a:ext cx="3197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DNN </a:t>
            </a:r>
            <a:r>
              <a:rPr lang="zh-CN" sz="12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층 구성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7"/>
          <p:cNvSpPr/>
          <p:nvPr/>
        </p:nvSpPr>
        <p:spPr>
          <a:xfrm>
            <a:off x="676800" y="5349240"/>
            <a:ext cx="31978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Dense(elu, he_normal, L2 0.001)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→ BatchNormalization → Dropout 0.2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손실 </a:t>
            </a:r>
            <a:r>
              <a:rPr lang="en-US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MSE · Adam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8"/>
          <p:cNvSpPr/>
          <p:nvPr/>
        </p:nvSpPr>
        <p:spPr>
          <a:xfrm>
            <a:off x="4277160" y="4937760"/>
            <a:ext cx="3636720" cy="1252440"/>
          </a:xfrm>
          <a:prstGeom prst="roundRect">
            <a:avLst>
              <a:gd name="adj" fmla="val 5839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9"/>
          <p:cNvSpPr/>
          <p:nvPr/>
        </p:nvSpPr>
        <p:spPr>
          <a:xfrm>
            <a:off x="4496760" y="5047560"/>
            <a:ext cx="3197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EarlyStopping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10"/>
          <p:cNvSpPr/>
          <p:nvPr/>
        </p:nvSpPr>
        <p:spPr>
          <a:xfrm>
            <a:off x="4496760" y="5349240"/>
            <a:ext cx="31978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val_loss </a:t>
            </a:r>
            <a:r>
              <a:rPr lang="zh-CN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기준 </a:t>
            </a:r>
            <a:r>
              <a:rPr lang="en-US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patience 30 / 10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개선이 없으면 학습 중단</a:t>
            </a:r>
            <a:r>
              <a:rPr lang="en-US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,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가장 좋았던 가중치 복원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11"/>
          <p:cNvSpPr/>
          <p:nvPr/>
        </p:nvSpPr>
        <p:spPr>
          <a:xfrm>
            <a:off x="8097480" y="4937760"/>
            <a:ext cx="3636720" cy="1252440"/>
          </a:xfrm>
          <a:prstGeom prst="roundRect">
            <a:avLst>
              <a:gd name="adj" fmla="val 5839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12"/>
          <p:cNvSpPr/>
          <p:nvPr/>
        </p:nvSpPr>
        <p:spPr>
          <a:xfrm>
            <a:off x="8316720" y="5047560"/>
            <a:ext cx="3197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ReduceLROnPlateau · </a:t>
            </a:r>
            <a:r>
              <a:rPr lang="zh-CN" sz="12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검증 분리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13"/>
          <p:cNvSpPr/>
          <p:nvPr/>
        </p:nvSpPr>
        <p:spPr>
          <a:xfrm>
            <a:off x="8316720" y="5349240"/>
            <a:ext cx="31978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학습률 </a:t>
            </a:r>
            <a:r>
              <a:rPr lang="en-US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×0.5 (patience 15 / 5)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validation_split 0.2 = </a:t>
            </a:r>
            <a:r>
              <a:rPr lang="zh-CN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날짜순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입력의 마지막 </a:t>
            </a:r>
            <a:r>
              <a:rPr lang="en-US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20% (</a:t>
            </a:r>
            <a:r>
              <a:rPr lang="zh-CN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최근 기간</a:t>
            </a:r>
            <a:r>
              <a:rPr lang="en-US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14"/>
          <p:cNvSpPr/>
          <p:nvPr/>
        </p:nvSpPr>
        <p:spPr>
          <a:xfrm>
            <a:off x="5943600" y="4736520"/>
            <a:ext cx="57906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앞 숫자 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= 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이송 건수 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/ 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뒤 숫자 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= 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인구 밀집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445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Text 0"/>
          <p:cNvSpPr/>
          <p:nvPr/>
        </p:nvSpPr>
        <p:spPr>
          <a:xfrm>
            <a:off x="457200" y="365760"/>
            <a:ext cx="11277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08  </a:t>
            </a:r>
            <a:r>
              <a:rPr lang="zh-CN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모델 성능 비교 — </a:t>
            </a:r>
            <a:r>
              <a:rPr lang="en-US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119 </a:t>
            </a:r>
            <a:r>
              <a:rPr lang="zh-CN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이송 건수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1"/>
          <p:cNvSpPr/>
          <p:nvPr/>
        </p:nvSpPr>
        <p:spPr>
          <a:xfrm>
            <a:off x="457200" y="768240"/>
            <a:ext cx="11277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검증 </a:t>
            </a:r>
            <a:r>
              <a:rPr lang="en-US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6</a:t>
            </a:r>
            <a:r>
              <a:rPr lang="zh-CN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개월 정확도 </a:t>
            </a:r>
            <a:r>
              <a:rPr lang="en-US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1</a:t>
            </a:r>
            <a:r>
              <a:rPr lang="zh-CN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위</a:t>
            </a:r>
            <a:r>
              <a:rPr lang="en-US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zh-CN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앙상블을 최종 모델로 선</a:t>
            </a:r>
            <a:r>
              <a:rPr lang="zh-CN" sz="3000" b="1" u="none" strike="noStrike" dirty="0" smtClean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택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2"/>
          <p:cNvSpPr/>
          <p:nvPr/>
        </p:nvSpPr>
        <p:spPr>
          <a:xfrm>
            <a:off x="457200" y="1444680"/>
            <a:ext cx="11277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모델 선택은 검증 점수로만 — 평가 점수는 선택이 끝난 뒤 일반화 성능 확인용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3"/>
          <p:cNvSpPr/>
          <p:nvPr/>
        </p:nvSpPr>
        <p:spPr>
          <a:xfrm>
            <a:off x="457200" y="637344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4"/>
          <p:cNvSpPr/>
          <p:nvPr/>
        </p:nvSpPr>
        <p:spPr>
          <a:xfrm>
            <a:off x="1371600" y="6373440"/>
            <a:ext cx="1036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출처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: 03_119_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통합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예측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.ipynb — 4-2 · 4-2-2 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출력 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(transport_model_scores, transport_ensemble_compare)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5"/>
          <p:cNvSpPr/>
          <p:nvPr/>
        </p:nvSpPr>
        <p:spPr>
          <a:xfrm>
            <a:off x="457200" y="1993320"/>
            <a:ext cx="6949080" cy="4196880"/>
          </a:xfrm>
          <a:prstGeom prst="roundRect">
            <a:avLst>
              <a:gd name="adj" fmla="val 1743"/>
            </a:avLst>
          </a:prstGeom>
          <a:solidFill>
            <a:srgbClr val="FFFFFF"/>
          </a:solidFill>
          <a:ln w="9525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16" name="Chart 0"/>
          <p:cNvGraphicFramePr/>
          <p:nvPr/>
        </p:nvGraphicFramePr>
        <p:xfrm>
          <a:off x="548640" y="2057400"/>
          <a:ext cx="6766200" cy="406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17" name="Shape 6"/>
          <p:cNvSpPr/>
          <p:nvPr/>
        </p:nvSpPr>
        <p:spPr>
          <a:xfrm>
            <a:off x="7589520" y="1993320"/>
            <a:ext cx="4144680" cy="2011320"/>
          </a:xfrm>
          <a:prstGeom prst="roundRect">
            <a:avLst>
              <a:gd name="adj" fmla="val 3636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7"/>
          <p:cNvSpPr/>
          <p:nvPr/>
        </p:nvSpPr>
        <p:spPr>
          <a:xfrm>
            <a:off x="7809120" y="2103120"/>
            <a:ext cx="3705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앙상블 </a:t>
            </a:r>
            <a:r>
              <a:rPr lang="en-US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= </a:t>
            </a:r>
            <a:r>
              <a:rPr lang="zh-CN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두 예측의 평균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8"/>
          <p:cNvSpPr/>
          <p:nvPr/>
        </p:nvSpPr>
        <p:spPr>
          <a:xfrm>
            <a:off x="7809120" y="2514600"/>
            <a:ext cx="1462680" cy="438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9"/>
          <p:cNvSpPr/>
          <p:nvPr/>
        </p:nvSpPr>
        <p:spPr>
          <a:xfrm>
            <a:off x="7809120" y="2514600"/>
            <a:ext cx="14626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GradientBoosting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10"/>
          <p:cNvSpPr/>
          <p:nvPr/>
        </p:nvSpPr>
        <p:spPr>
          <a:xfrm>
            <a:off x="7809120" y="3063240"/>
            <a:ext cx="1462680" cy="438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11"/>
          <p:cNvSpPr/>
          <p:nvPr/>
        </p:nvSpPr>
        <p:spPr>
          <a:xfrm>
            <a:off x="7809120" y="3063240"/>
            <a:ext cx="14626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Ridge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12"/>
          <p:cNvSpPr/>
          <p:nvPr/>
        </p:nvSpPr>
        <p:spPr>
          <a:xfrm>
            <a:off x="9317520" y="3008160"/>
            <a:ext cx="411480" cy="360"/>
          </a:xfrm>
          <a:prstGeom prst="line">
            <a:avLst/>
          </a:prstGeom>
          <a:ln w="15875">
            <a:solidFill>
              <a:srgbClr val="8A919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13"/>
          <p:cNvSpPr/>
          <p:nvPr/>
        </p:nvSpPr>
        <p:spPr>
          <a:xfrm>
            <a:off x="9775080" y="2715840"/>
            <a:ext cx="1739880" cy="585000"/>
          </a:xfrm>
          <a:prstGeom prst="roundRect">
            <a:avLst>
              <a:gd name="adj" fmla="val 12500"/>
            </a:avLst>
          </a:prstGeom>
          <a:solidFill>
            <a:srgbClr val="2F5D8A"/>
          </a:solidFill>
          <a:ln w="9525">
            <a:solidFill>
              <a:srgbClr val="2F5D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14"/>
          <p:cNvSpPr/>
          <p:nvPr/>
        </p:nvSpPr>
        <p:spPr>
          <a:xfrm>
            <a:off x="9775080" y="2715840"/>
            <a:ext cx="173988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(GB + Ridge) / 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15"/>
          <p:cNvSpPr/>
          <p:nvPr/>
        </p:nvSpPr>
        <p:spPr>
          <a:xfrm>
            <a:off x="7809120" y="3611880"/>
            <a:ext cx="3705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GB: </a:t>
            </a:r>
            <a:r>
              <a:rPr lang="zh-CN" sz="95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구</a:t>
            </a:r>
            <a:r>
              <a:rPr lang="en-US" sz="95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·</a:t>
            </a:r>
            <a:r>
              <a:rPr lang="zh-CN" sz="95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월 조합 효과 </a:t>
            </a:r>
            <a:r>
              <a:rPr lang="en-US" sz="95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/ Ridge: </a:t>
            </a:r>
            <a:r>
              <a:rPr lang="zh-CN" sz="95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직선 관계</a:t>
            </a:r>
            <a:r>
              <a:rPr lang="en-US" sz="95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·</a:t>
            </a:r>
            <a:r>
              <a:rPr lang="zh-CN" sz="95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학습 범위 밖 추세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16"/>
          <p:cNvSpPr/>
          <p:nvPr/>
        </p:nvSpPr>
        <p:spPr>
          <a:xfrm>
            <a:off x="7589520" y="4142160"/>
            <a:ext cx="4144680" cy="456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17"/>
          <p:cNvSpPr/>
          <p:nvPr/>
        </p:nvSpPr>
        <p:spPr>
          <a:xfrm>
            <a:off x="7772400" y="4142160"/>
            <a:ext cx="1279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0.500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18"/>
          <p:cNvSpPr/>
          <p:nvPr/>
        </p:nvSpPr>
        <p:spPr>
          <a:xfrm>
            <a:off x="9052560" y="4142160"/>
            <a:ext cx="25444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검증 오차 상관 </a:t>
            </a: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(GB vs Ridge)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19"/>
          <p:cNvSpPr/>
          <p:nvPr/>
        </p:nvSpPr>
        <p:spPr>
          <a:xfrm>
            <a:off x="7589520" y="4672440"/>
            <a:ext cx="4144680" cy="456840"/>
          </a:xfrm>
          <a:prstGeom prst="roundRect">
            <a:avLst>
              <a:gd name="adj" fmla="val 16000"/>
            </a:avLst>
          </a:prstGeom>
          <a:solidFill>
            <a:srgbClr val="E8EEF5"/>
          </a:solidFill>
          <a:ln w="9525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20"/>
          <p:cNvSpPr/>
          <p:nvPr/>
        </p:nvSpPr>
        <p:spPr>
          <a:xfrm>
            <a:off x="7772400" y="4672440"/>
            <a:ext cx="1279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+0.26%p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21"/>
          <p:cNvSpPr/>
          <p:nvPr/>
        </p:nvSpPr>
        <p:spPr>
          <a:xfrm>
            <a:off x="9052560" y="4672440"/>
            <a:ext cx="25444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검증 정확도</a:t>
            </a: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, GB </a:t>
            </a: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대비 </a:t>
            </a: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(94.61 vs 94.35)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22"/>
          <p:cNvSpPr/>
          <p:nvPr/>
        </p:nvSpPr>
        <p:spPr>
          <a:xfrm>
            <a:off x="7589520" y="5203080"/>
            <a:ext cx="4144680" cy="456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23"/>
          <p:cNvSpPr/>
          <p:nvPr/>
        </p:nvSpPr>
        <p:spPr>
          <a:xfrm>
            <a:off x="7772400" y="5203080"/>
            <a:ext cx="1279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43.66</a:t>
            </a:r>
            <a:r>
              <a:rPr lang="zh-CN" sz="15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건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24"/>
          <p:cNvSpPr/>
          <p:nvPr/>
        </p:nvSpPr>
        <p:spPr>
          <a:xfrm>
            <a:off x="9052560" y="5203080"/>
            <a:ext cx="25444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검증 </a:t>
            </a: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MAE (GB 46.52, Ridge 60.11)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25"/>
          <p:cNvSpPr/>
          <p:nvPr/>
        </p:nvSpPr>
        <p:spPr>
          <a:xfrm>
            <a:off x="7589520" y="5733360"/>
            <a:ext cx="4144680" cy="456840"/>
          </a:xfrm>
          <a:prstGeom prst="roundRect">
            <a:avLst>
              <a:gd name="adj" fmla="val 16000"/>
            </a:avLst>
          </a:prstGeom>
          <a:solidFill>
            <a:srgbClr val="1F2329"/>
          </a:solidFill>
          <a:ln w="9525">
            <a:solidFill>
              <a:srgbClr val="1F232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26"/>
          <p:cNvSpPr/>
          <p:nvPr/>
        </p:nvSpPr>
        <p:spPr>
          <a:xfrm>
            <a:off x="7772400" y="5733360"/>
            <a:ext cx="3778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5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평가 </a:t>
            </a: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6</a:t>
            </a:r>
            <a:r>
              <a:rPr lang="zh-CN" sz="115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개월 </a:t>
            </a: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94.59% · </a:t>
            </a:r>
            <a:r>
              <a:rPr lang="zh-CN" sz="115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기준선 </a:t>
            </a: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93.25%</a:t>
            </a:r>
            <a:r>
              <a:rPr lang="zh-CN" sz="115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보다 높음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1686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Text 0"/>
          <p:cNvSpPr/>
          <p:nvPr/>
        </p:nvSpPr>
        <p:spPr>
          <a:xfrm>
            <a:off x="457200" y="365760"/>
            <a:ext cx="11277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09  </a:t>
            </a:r>
            <a:r>
              <a:rPr lang="zh-CN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모델 성능 비교 — 인구 밀집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1"/>
          <p:cNvSpPr/>
          <p:nvPr/>
        </p:nvSpPr>
        <p:spPr>
          <a:xfrm>
            <a:off x="457200" y="768240"/>
            <a:ext cx="11277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검증 정확도 </a:t>
            </a:r>
            <a:r>
              <a:rPr lang="en-US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1</a:t>
            </a:r>
            <a:r>
              <a:rPr lang="zh-CN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위</a:t>
            </a:r>
            <a:r>
              <a:rPr lang="en-US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en-US" sz="3000" b="1" u="none" strike="noStrike" dirty="0" err="1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RandomForest</a:t>
            </a:r>
            <a:r>
              <a:rPr lang="zh-CN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를 최종 모델로 선</a:t>
            </a:r>
            <a:r>
              <a:rPr lang="zh-CN" sz="3000" b="1" u="none" strike="noStrike" dirty="0" smtClean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택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2"/>
          <p:cNvSpPr/>
          <p:nvPr/>
        </p:nvSpPr>
        <p:spPr>
          <a:xfrm>
            <a:off x="457200" y="1444680"/>
            <a:ext cx="11277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검증 </a:t>
            </a:r>
            <a:r>
              <a:rPr lang="en-US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180</a:t>
            </a:r>
            <a:r>
              <a:rPr lang="zh-CN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일로 </a:t>
            </a:r>
            <a:r>
              <a:rPr lang="en-US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6</a:t>
            </a:r>
            <a:r>
              <a:rPr lang="zh-CN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개 모델을 비교해 선택하고</a:t>
            </a:r>
            <a:r>
              <a:rPr lang="en-US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zh-CN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평가 </a:t>
            </a:r>
            <a:r>
              <a:rPr lang="en-US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365</a:t>
            </a:r>
            <a:r>
              <a:rPr lang="zh-CN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일로 일반화 성능을 확</a:t>
            </a:r>
            <a:r>
              <a:rPr lang="zh-CN" sz="1500" b="0" u="none" strike="noStrike" dirty="0" smtClean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인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3"/>
          <p:cNvSpPr/>
          <p:nvPr/>
        </p:nvSpPr>
        <p:spPr>
          <a:xfrm>
            <a:off x="457200" y="637344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4"/>
          <p:cNvSpPr/>
          <p:nvPr/>
        </p:nvSpPr>
        <p:spPr>
          <a:xfrm>
            <a:off x="1371600" y="6373440"/>
            <a:ext cx="1036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출처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: 03_119_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통합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예측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.ipynb — 5-3 · 5-4 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출력 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(population_model_scores)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5"/>
          <p:cNvSpPr/>
          <p:nvPr/>
        </p:nvSpPr>
        <p:spPr>
          <a:xfrm>
            <a:off x="457200" y="1993320"/>
            <a:ext cx="6949080" cy="4196880"/>
          </a:xfrm>
          <a:prstGeom prst="roundRect">
            <a:avLst>
              <a:gd name="adj" fmla="val 1743"/>
            </a:avLst>
          </a:prstGeom>
          <a:solidFill>
            <a:srgbClr val="FFFFFF"/>
          </a:solidFill>
          <a:ln w="9525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44" name="Chart 0"/>
          <p:cNvGraphicFramePr/>
          <p:nvPr/>
        </p:nvGraphicFramePr>
        <p:xfrm>
          <a:off x="548640" y="2057400"/>
          <a:ext cx="6766200" cy="406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5" name="Shape 6"/>
          <p:cNvSpPr/>
          <p:nvPr/>
        </p:nvSpPr>
        <p:spPr>
          <a:xfrm>
            <a:off x="7589520" y="1993320"/>
            <a:ext cx="4144680" cy="914040"/>
          </a:xfrm>
          <a:prstGeom prst="roundRect">
            <a:avLst>
              <a:gd name="adj" fmla="val 8000"/>
            </a:avLst>
          </a:prstGeom>
          <a:solidFill>
            <a:srgbClr val="2F5D8A"/>
          </a:solidFill>
          <a:ln w="9525">
            <a:solidFill>
              <a:srgbClr val="2F5D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7"/>
          <p:cNvSpPr/>
          <p:nvPr/>
        </p:nvSpPr>
        <p:spPr>
          <a:xfrm>
            <a:off x="7809120" y="1993320"/>
            <a:ext cx="18284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98.59%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8"/>
          <p:cNvSpPr/>
          <p:nvPr/>
        </p:nvSpPr>
        <p:spPr>
          <a:xfrm>
            <a:off x="9692640" y="2176200"/>
            <a:ext cx="1858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검증 정확도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9"/>
          <p:cNvSpPr/>
          <p:nvPr/>
        </p:nvSpPr>
        <p:spPr>
          <a:xfrm>
            <a:off x="9692640" y="2468880"/>
            <a:ext cx="1858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E3EAF3"/>
                </a:solidFill>
                <a:effectLst/>
                <a:uFillTx/>
                <a:latin typeface="Pretendard"/>
                <a:ea typeface="Pretendard"/>
              </a:rPr>
              <a:t>GradientBoosting 98.36% · DNN 98.01%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10"/>
          <p:cNvSpPr/>
          <p:nvPr/>
        </p:nvSpPr>
        <p:spPr>
          <a:xfrm>
            <a:off x="7589520" y="3017520"/>
            <a:ext cx="4144680" cy="9140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11"/>
          <p:cNvSpPr/>
          <p:nvPr/>
        </p:nvSpPr>
        <p:spPr>
          <a:xfrm>
            <a:off x="7809120" y="3017520"/>
            <a:ext cx="18284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98.16%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12"/>
          <p:cNvSpPr/>
          <p:nvPr/>
        </p:nvSpPr>
        <p:spPr>
          <a:xfrm>
            <a:off x="9692640" y="3200400"/>
            <a:ext cx="1858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평가 정확도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13"/>
          <p:cNvSpPr/>
          <p:nvPr/>
        </p:nvSpPr>
        <p:spPr>
          <a:xfrm>
            <a:off x="9692640" y="3493080"/>
            <a:ext cx="1858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5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평가에서도 </a:t>
            </a:r>
            <a:r>
              <a:rPr lang="en-US" sz="95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1</a:t>
            </a:r>
            <a:r>
              <a:rPr lang="zh-CN" sz="95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위 유지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14"/>
          <p:cNvSpPr/>
          <p:nvPr/>
        </p:nvSpPr>
        <p:spPr>
          <a:xfrm>
            <a:off x="7589520" y="4041720"/>
            <a:ext cx="4144680" cy="9140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15"/>
          <p:cNvSpPr/>
          <p:nvPr/>
        </p:nvSpPr>
        <p:spPr>
          <a:xfrm>
            <a:off x="7809120" y="4041720"/>
            <a:ext cx="18284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8,836</a:t>
            </a:r>
            <a:r>
              <a:rPr lang="zh-CN" sz="26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명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16"/>
          <p:cNvSpPr/>
          <p:nvPr/>
        </p:nvSpPr>
        <p:spPr>
          <a:xfrm>
            <a:off x="9692640" y="4224600"/>
            <a:ext cx="1858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평가 </a:t>
            </a:r>
            <a:r>
              <a:rPr lang="en-US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MAE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17"/>
          <p:cNvSpPr/>
          <p:nvPr/>
        </p:nvSpPr>
        <p:spPr>
          <a:xfrm>
            <a:off x="9692640" y="4517280"/>
            <a:ext cx="1858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5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기준선</a:t>
            </a:r>
            <a:r>
              <a:rPr lang="en-US" sz="95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(7</a:t>
            </a:r>
            <a:r>
              <a:rPr lang="zh-CN" sz="95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일 전 값</a:t>
            </a:r>
            <a:r>
              <a:rPr lang="en-US" sz="95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) 12,015</a:t>
            </a:r>
            <a:r>
              <a:rPr lang="zh-CN" sz="95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명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18"/>
          <p:cNvSpPr/>
          <p:nvPr/>
        </p:nvSpPr>
        <p:spPr>
          <a:xfrm>
            <a:off x="7589520" y="5102280"/>
            <a:ext cx="4144680" cy="1087920"/>
          </a:xfrm>
          <a:prstGeom prst="roundRect">
            <a:avLst>
              <a:gd name="adj" fmla="val 6723"/>
            </a:avLst>
          </a:prstGeom>
          <a:solidFill>
            <a:srgbClr val="FFFFFF"/>
          </a:solidFill>
          <a:ln w="9525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19"/>
          <p:cNvSpPr/>
          <p:nvPr/>
        </p:nvSpPr>
        <p:spPr>
          <a:xfrm>
            <a:off x="7809120" y="5193720"/>
            <a:ext cx="37058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평가 기간 오차율 상위 날짜 </a:t>
            </a:r>
            <a:r>
              <a:rPr lang="en-US" sz="11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(</a:t>
            </a:r>
            <a:r>
              <a:rPr lang="zh-CN" sz="11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서울 평균</a:t>
            </a:r>
            <a:r>
              <a:rPr lang="en-US" sz="11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20"/>
          <p:cNvSpPr/>
          <p:nvPr/>
        </p:nvSpPr>
        <p:spPr>
          <a:xfrm>
            <a:off x="7809120" y="5468040"/>
            <a:ext cx="37058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2025-10-06  13.07%  ·  2026-02-16  12.36%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2025-10-15  12.06%  ·  2025-10-05  11.31%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→ 명절 연휴 부근에서 오차가 큼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04257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Text 0"/>
          <p:cNvSpPr/>
          <p:nvPr/>
        </p:nvSpPr>
        <p:spPr>
          <a:xfrm>
            <a:off x="457200" y="365760"/>
            <a:ext cx="11277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10  </a:t>
            </a:r>
            <a:r>
              <a:rPr lang="zh-CN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특성 중요도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1"/>
          <p:cNvSpPr/>
          <p:nvPr/>
        </p:nvSpPr>
        <p:spPr>
          <a:xfrm>
            <a:off x="457200" y="768240"/>
            <a:ext cx="11277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두 모델 모두 “직전 같은 값”이 예측을 주</a:t>
            </a:r>
            <a:r>
              <a:rPr lang="zh-CN" sz="3000" b="1" u="none" strike="noStrike" dirty="0" smtClean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도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2"/>
          <p:cNvSpPr/>
          <p:nvPr/>
        </p:nvSpPr>
        <p:spPr>
          <a:xfrm>
            <a:off x="457200" y="1444680"/>
            <a:ext cx="11277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최종 모델의 트리 기반 중요도 </a:t>
            </a:r>
            <a:r>
              <a:rPr lang="en-US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(</a:t>
            </a:r>
            <a:r>
              <a:rPr lang="zh-CN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원</a:t>
            </a:r>
            <a:r>
              <a:rPr lang="en-US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-</a:t>
            </a:r>
            <a:r>
              <a:rPr lang="zh-CN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핫은 구</a:t>
            </a:r>
            <a:r>
              <a:rPr lang="en-US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·</a:t>
            </a:r>
            <a:r>
              <a:rPr lang="zh-CN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월</a:t>
            </a:r>
            <a:r>
              <a:rPr lang="en-US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·</a:t>
            </a:r>
            <a:r>
              <a:rPr lang="zh-CN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요일 단위로 합산</a:t>
            </a:r>
            <a:r>
              <a:rPr lang="en-US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zh-CN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합계 </a:t>
            </a:r>
            <a:r>
              <a:rPr lang="en-US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1)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3"/>
          <p:cNvSpPr/>
          <p:nvPr/>
        </p:nvSpPr>
        <p:spPr>
          <a:xfrm>
            <a:off x="457200" y="637344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4"/>
          <p:cNvSpPr/>
          <p:nvPr/>
        </p:nvSpPr>
        <p:spPr>
          <a:xfrm>
            <a:off x="1371600" y="6373440"/>
            <a:ext cx="1036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출처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: 03_119_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통합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예측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.ipynb — 4-5 · 5-5 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출력 — 학습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+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검증 데이터로 학습한 모델 기준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5"/>
          <p:cNvSpPr/>
          <p:nvPr/>
        </p:nvSpPr>
        <p:spPr>
          <a:xfrm>
            <a:off x="457200" y="1993320"/>
            <a:ext cx="5546880" cy="3465360"/>
          </a:xfrm>
          <a:prstGeom prst="roundRect">
            <a:avLst>
              <a:gd name="adj" fmla="val 2111"/>
            </a:avLst>
          </a:prstGeom>
          <a:solidFill>
            <a:srgbClr val="FFFFFF"/>
          </a:solidFill>
          <a:ln w="9525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6"/>
          <p:cNvSpPr/>
          <p:nvPr/>
        </p:nvSpPr>
        <p:spPr>
          <a:xfrm>
            <a:off x="6187320" y="1993320"/>
            <a:ext cx="5546880" cy="3465360"/>
          </a:xfrm>
          <a:prstGeom prst="roundRect">
            <a:avLst>
              <a:gd name="adj" fmla="val 2111"/>
            </a:avLst>
          </a:prstGeom>
          <a:solidFill>
            <a:srgbClr val="FFFFFF"/>
          </a:solidFill>
          <a:ln w="9525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67" name="Chart 0"/>
          <p:cNvGraphicFramePr/>
          <p:nvPr/>
        </p:nvGraphicFramePr>
        <p:xfrm>
          <a:off x="548640" y="2057400"/>
          <a:ext cx="5364000" cy="333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68" name="Chart 1"/>
          <p:cNvGraphicFramePr/>
          <p:nvPr/>
        </p:nvGraphicFramePr>
        <p:xfrm>
          <a:off x="6278760" y="2057400"/>
          <a:ext cx="5364000" cy="333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69" name="Shape 7"/>
          <p:cNvSpPr/>
          <p:nvPr/>
        </p:nvSpPr>
        <p:spPr>
          <a:xfrm>
            <a:off x="457200" y="5641920"/>
            <a:ext cx="5546880" cy="548280"/>
          </a:xfrm>
          <a:prstGeom prst="roundRect">
            <a:avLst>
              <a:gd name="adj" fmla="val 13333"/>
            </a:avLst>
          </a:prstGeom>
          <a:solidFill>
            <a:srgbClr val="E8EEF5"/>
          </a:solidFill>
          <a:ln w="9525">
            <a:solidFill>
              <a:srgbClr val="E8EEF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8"/>
          <p:cNvSpPr/>
          <p:nvPr/>
        </p:nvSpPr>
        <p:spPr>
          <a:xfrm>
            <a:off x="676800" y="5641920"/>
            <a:ext cx="23770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생활인구 변수 </a:t>
            </a:r>
            <a:r>
              <a:rPr lang="en-US" sz="12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4</a:t>
            </a:r>
            <a:r>
              <a:rPr lang="zh-CN" sz="12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개 합 </a:t>
            </a:r>
            <a:r>
              <a:rPr lang="en-US" sz="12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0.015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9"/>
          <p:cNvSpPr/>
          <p:nvPr/>
        </p:nvSpPr>
        <p:spPr>
          <a:xfrm>
            <a:off x="3063240" y="5641920"/>
            <a:ext cx="27579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인구 변수 기여는 작음 </a:t>
            </a: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달력 </a:t>
            </a: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4</a:t>
            </a: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개 합 </a:t>
            </a: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0.034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10"/>
          <p:cNvSpPr/>
          <p:nvPr/>
        </p:nvSpPr>
        <p:spPr>
          <a:xfrm>
            <a:off x="6187320" y="5641920"/>
            <a:ext cx="5546880" cy="548280"/>
          </a:xfrm>
          <a:prstGeom prst="roundRect">
            <a:avLst>
              <a:gd name="adj" fmla="val 13333"/>
            </a:avLst>
          </a:prstGeom>
          <a:solidFill>
            <a:srgbClr val="E8EEF5"/>
          </a:solidFill>
          <a:ln w="9525">
            <a:solidFill>
              <a:srgbClr val="E8EEF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11"/>
          <p:cNvSpPr/>
          <p:nvPr/>
        </p:nvSpPr>
        <p:spPr>
          <a:xfrm>
            <a:off x="6406920" y="5641920"/>
            <a:ext cx="23770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직전 값 이외 합 </a:t>
            </a:r>
            <a:r>
              <a:rPr lang="en-US" sz="12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0.040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12"/>
          <p:cNvSpPr/>
          <p:nvPr/>
        </p:nvSpPr>
        <p:spPr>
          <a:xfrm>
            <a:off x="8793360" y="5641920"/>
            <a:ext cx="27579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7</a:t>
            </a: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일 전 같은 요일 값이 </a:t>
            </a: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0.960</a:t>
            </a: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을 차지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70938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Text 0"/>
          <p:cNvSpPr/>
          <p:nvPr/>
        </p:nvSpPr>
        <p:spPr>
          <a:xfrm>
            <a:off x="457200" y="365760"/>
            <a:ext cx="11277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11  </a:t>
            </a:r>
            <a:r>
              <a:rPr lang="zh-CN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최종 모델 선정 및 미래 예측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1"/>
          <p:cNvSpPr/>
          <p:nvPr/>
        </p:nvSpPr>
        <p:spPr>
          <a:xfrm>
            <a:off x="457200" y="768240"/>
            <a:ext cx="11277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0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선택 → 확인 → 재학습 → 저장 → 미래 예측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2"/>
          <p:cNvSpPr/>
          <p:nvPr/>
        </p:nvSpPr>
        <p:spPr>
          <a:xfrm>
            <a:off x="457200" y="1444680"/>
            <a:ext cx="11277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평가 확인이 끝난 모델을 사용 가능한 전체 데이터로 다시 학습해 저장하고</a:t>
            </a:r>
            <a:r>
              <a:rPr lang="en-US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zh-CN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불러와서 예</a:t>
            </a:r>
            <a:r>
              <a:rPr lang="zh-CN" sz="1500" b="0" u="none" strike="noStrike" dirty="0" smtClean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측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3"/>
          <p:cNvSpPr/>
          <p:nvPr/>
        </p:nvSpPr>
        <p:spPr>
          <a:xfrm>
            <a:off x="457200" y="637344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15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4"/>
          <p:cNvSpPr/>
          <p:nvPr/>
        </p:nvSpPr>
        <p:spPr>
          <a:xfrm>
            <a:off x="1371600" y="6373440"/>
            <a:ext cx="1036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출처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: 03_119_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통합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예측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.ipynb — 4-6 · 5-5 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출력 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(transport_forecast_by_gu — 25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개 구 예측값 합산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5"/>
          <p:cNvSpPr/>
          <p:nvPr/>
        </p:nvSpPr>
        <p:spPr>
          <a:xfrm>
            <a:off x="1965960" y="1993320"/>
            <a:ext cx="14983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1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검증 비교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6"/>
          <p:cNvSpPr/>
          <p:nvPr/>
        </p:nvSpPr>
        <p:spPr>
          <a:xfrm>
            <a:off x="3619800" y="1993320"/>
            <a:ext cx="14983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1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최종 선택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7"/>
          <p:cNvSpPr/>
          <p:nvPr/>
        </p:nvSpPr>
        <p:spPr>
          <a:xfrm>
            <a:off x="5274000" y="1993320"/>
            <a:ext cx="14983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1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평가 확인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8"/>
          <p:cNvSpPr/>
          <p:nvPr/>
        </p:nvSpPr>
        <p:spPr>
          <a:xfrm>
            <a:off x="6927840" y="1993320"/>
            <a:ext cx="14983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1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전체 재학습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9"/>
          <p:cNvSpPr/>
          <p:nvPr/>
        </p:nvSpPr>
        <p:spPr>
          <a:xfrm>
            <a:off x="8582040" y="1993320"/>
            <a:ext cx="14983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1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저장 </a:t>
            </a:r>
            <a:r>
              <a:rPr lang="en-US" sz="1050" b="1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050" b="1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불러오기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10"/>
          <p:cNvSpPr/>
          <p:nvPr/>
        </p:nvSpPr>
        <p:spPr>
          <a:xfrm>
            <a:off x="10235880" y="1993320"/>
            <a:ext cx="14983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1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미래 예측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11"/>
          <p:cNvSpPr/>
          <p:nvPr/>
        </p:nvSpPr>
        <p:spPr>
          <a:xfrm>
            <a:off x="457200" y="2304360"/>
            <a:ext cx="141696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119 </a:t>
            </a:r>
            <a:r>
              <a:rPr lang="zh-CN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이송 건수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12"/>
          <p:cNvSpPr/>
          <p:nvPr/>
        </p:nvSpPr>
        <p:spPr>
          <a:xfrm>
            <a:off x="1965960" y="2304360"/>
            <a:ext cx="1498320" cy="585000"/>
          </a:xfrm>
          <a:prstGeom prst="roundRect">
            <a:avLst>
              <a:gd name="adj" fmla="val 12500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13"/>
          <p:cNvSpPr/>
          <p:nvPr/>
        </p:nvSpPr>
        <p:spPr>
          <a:xfrm>
            <a:off x="2039040" y="2304360"/>
            <a:ext cx="135180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모델 </a:t>
            </a:r>
            <a:r>
              <a:rPr lang="en-US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7</a:t>
            </a:r>
            <a:r>
              <a:rPr lang="zh-CN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종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14"/>
          <p:cNvSpPr/>
          <p:nvPr/>
        </p:nvSpPr>
        <p:spPr>
          <a:xfrm>
            <a:off x="3473640" y="2596680"/>
            <a:ext cx="137160" cy="360"/>
          </a:xfrm>
          <a:prstGeom prst="line">
            <a:avLst/>
          </a:prstGeom>
          <a:ln w="15875">
            <a:solidFill>
              <a:srgbClr val="8A919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15"/>
          <p:cNvSpPr/>
          <p:nvPr/>
        </p:nvSpPr>
        <p:spPr>
          <a:xfrm>
            <a:off x="3619800" y="2304360"/>
            <a:ext cx="1498320" cy="585000"/>
          </a:xfrm>
          <a:prstGeom prst="roundRect">
            <a:avLst>
              <a:gd name="adj" fmla="val 12500"/>
            </a:avLst>
          </a:prstGeom>
          <a:solidFill>
            <a:srgbClr val="2F5D8A"/>
          </a:solidFill>
          <a:ln w="9525">
            <a:solidFill>
              <a:srgbClr val="2F5D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16"/>
          <p:cNvSpPr/>
          <p:nvPr/>
        </p:nvSpPr>
        <p:spPr>
          <a:xfrm>
            <a:off x="3693240" y="2304360"/>
            <a:ext cx="135180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앙상블 </a:t>
            </a: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GB+Ridge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17"/>
          <p:cNvSpPr/>
          <p:nvPr/>
        </p:nvSpPr>
        <p:spPr>
          <a:xfrm>
            <a:off x="5127480" y="2596680"/>
            <a:ext cx="137160" cy="360"/>
          </a:xfrm>
          <a:prstGeom prst="line">
            <a:avLst/>
          </a:prstGeom>
          <a:ln w="15875">
            <a:solidFill>
              <a:srgbClr val="8A919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18"/>
          <p:cNvSpPr/>
          <p:nvPr/>
        </p:nvSpPr>
        <p:spPr>
          <a:xfrm>
            <a:off x="5274000" y="2304360"/>
            <a:ext cx="1498320" cy="585000"/>
          </a:xfrm>
          <a:prstGeom prst="roundRect">
            <a:avLst>
              <a:gd name="adj" fmla="val 12500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19"/>
          <p:cNvSpPr/>
          <p:nvPr/>
        </p:nvSpPr>
        <p:spPr>
          <a:xfrm>
            <a:off x="5347080" y="2304360"/>
            <a:ext cx="135180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94.59%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20"/>
          <p:cNvSpPr/>
          <p:nvPr/>
        </p:nvSpPr>
        <p:spPr>
          <a:xfrm>
            <a:off x="6781320" y="2596680"/>
            <a:ext cx="137160" cy="360"/>
          </a:xfrm>
          <a:prstGeom prst="line">
            <a:avLst/>
          </a:prstGeom>
          <a:ln w="15875">
            <a:solidFill>
              <a:srgbClr val="8A919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21"/>
          <p:cNvSpPr/>
          <p:nvPr/>
        </p:nvSpPr>
        <p:spPr>
          <a:xfrm>
            <a:off x="6927840" y="2304360"/>
            <a:ext cx="1498320" cy="585000"/>
          </a:xfrm>
          <a:prstGeom prst="roundRect">
            <a:avLst>
              <a:gd name="adj" fmla="val 12500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22"/>
          <p:cNvSpPr/>
          <p:nvPr/>
        </p:nvSpPr>
        <p:spPr>
          <a:xfrm>
            <a:off x="7001280" y="2304360"/>
            <a:ext cx="135180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2,180</a:t>
            </a:r>
            <a:r>
              <a:rPr lang="zh-CN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행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23"/>
          <p:cNvSpPr/>
          <p:nvPr/>
        </p:nvSpPr>
        <p:spPr>
          <a:xfrm>
            <a:off x="8435520" y="2596680"/>
            <a:ext cx="137160" cy="360"/>
          </a:xfrm>
          <a:prstGeom prst="line">
            <a:avLst/>
          </a:prstGeom>
          <a:ln w="15875">
            <a:solidFill>
              <a:srgbClr val="8A919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24"/>
          <p:cNvSpPr/>
          <p:nvPr/>
        </p:nvSpPr>
        <p:spPr>
          <a:xfrm>
            <a:off x="8582040" y="2304360"/>
            <a:ext cx="1498320" cy="585000"/>
          </a:xfrm>
          <a:prstGeom prst="roundRect">
            <a:avLst>
              <a:gd name="adj" fmla="val 12500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25"/>
          <p:cNvSpPr/>
          <p:nvPr/>
        </p:nvSpPr>
        <p:spPr>
          <a:xfrm>
            <a:off x="8655120" y="2304360"/>
            <a:ext cx="135180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pickle · </a:t>
            </a:r>
            <a:r>
              <a:rPr lang="zh-CN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확인 </a:t>
            </a:r>
            <a:r>
              <a:rPr lang="en-US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True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26"/>
          <p:cNvSpPr/>
          <p:nvPr/>
        </p:nvSpPr>
        <p:spPr>
          <a:xfrm>
            <a:off x="10089360" y="2596680"/>
            <a:ext cx="137160" cy="360"/>
          </a:xfrm>
          <a:prstGeom prst="line">
            <a:avLst/>
          </a:prstGeom>
          <a:ln w="15875">
            <a:solidFill>
              <a:srgbClr val="8A919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27"/>
          <p:cNvSpPr/>
          <p:nvPr/>
        </p:nvSpPr>
        <p:spPr>
          <a:xfrm>
            <a:off x="10235880" y="2304360"/>
            <a:ext cx="1498320" cy="585000"/>
          </a:xfrm>
          <a:prstGeom prst="roundRect">
            <a:avLst>
              <a:gd name="adj" fmla="val 12500"/>
            </a:avLst>
          </a:prstGeom>
          <a:solidFill>
            <a:srgbClr val="2F5D8A"/>
          </a:solidFill>
          <a:ln w="9525">
            <a:solidFill>
              <a:srgbClr val="2F5D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28"/>
          <p:cNvSpPr/>
          <p:nvPr/>
        </p:nvSpPr>
        <p:spPr>
          <a:xfrm>
            <a:off x="10308960" y="2304360"/>
            <a:ext cx="135180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2026-01 ~ 06 </a:t>
            </a:r>
            <a:r>
              <a:rPr lang="zh-CN" sz="105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구별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29"/>
          <p:cNvSpPr/>
          <p:nvPr/>
        </p:nvSpPr>
        <p:spPr>
          <a:xfrm>
            <a:off x="457200" y="3017520"/>
            <a:ext cx="141696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인구 밀집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Shape 30"/>
          <p:cNvSpPr/>
          <p:nvPr/>
        </p:nvSpPr>
        <p:spPr>
          <a:xfrm>
            <a:off x="1965960" y="3017520"/>
            <a:ext cx="1498320" cy="585000"/>
          </a:xfrm>
          <a:prstGeom prst="roundRect">
            <a:avLst>
              <a:gd name="adj" fmla="val 12500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31"/>
          <p:cNvSpPr/>
          <p:nvPr/>
        </p:nvSpPr>
        <p:spPr>
          <a:xfrm>
            <a:off x="2039040" y="3017520"/>
            <a:ext cx="135180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모델 </a:t>
            </a:r>
            <a:r>
              <a:rPr lang="en-US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6</a:t>
            </a:r>
            <a:r>
              <a:rPr lang="zh-CN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종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32"/>
          <p:cNvSpPr/>
          <p:nvPr/>
        </p:nvSpPr>
        <p:spPr>
          <a:xfrm>
            <a:off x="3473640" y="3309840"/>
            <a:ext cx="137160" cy="360"/>
          </a:xfrm>
          <a:prstGeom prst="line">
            <a:avLst/>
          </a:prstGeom>
          <a:ln w="15875">
            <a:solidFill>
              <a:srgbClr val="8A919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33"/>
          <p:cNvSpPr/>
          <p:nvPr/>
        </p:nvSpPr>
        <p:spPr>
          <a:xfrm>
            <a:off x="3619800" y="3017520"/>
            <a:ext cx="1498320" cy="585000"/>
          </a:xfrm>
          <a:prstGeom prst="roundRect">
            <a:avLst>
              <a:gd name="adj" fmla="val 12500"/>
            </a:avLst>
          </a:prstGeom>
          <a:solidFill>
            <a:srgbClr val="2F5D8A"/>
          </a:solidFill>
          <a:ln w="9525">
            <a:solidFill>
              <a:srgbClr val="2F5D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34"/>
          <p:cNvSpPr/>
          <p:nvPr/>
        </p:nvSpPr>
        <p:spPr>
          <a:xfrm>
            <a:off x="3693240" y="3017520"/>
            <a:ext cx="135180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RandomForest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35"/>
          <p:cNvSpPr/>
          <p:nvPr/>
        </p:nvSpPr>
        <p:spPr>
          <a:xfrm>
            <a:off x="5127480" y="3309840"/>
            <a:ext cx="137160" cy="360"/>
          </a:xfrm>
          <a:prstGeom prst="line">
            <a:avLst/>
          </a:prstGeom>
          <a:ln w="15875">
            <a:solidFill>
              <a:srgbClr val="8A919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Shape 36"/>
          <p:cNvSpPr/>
          <p:nvPr/>
        </p:nvSpPr>
        <p:spPr>
          <a:xfrm>
            <a:off x="5274000" y="3017520"/>
            <a:ext cx="1498320" cy="585000"/>
          </a:xfrm>
          <a:prstGeom prst="roundRect">
            <a:avLst>
              <a:gd name="adj" fmla="val 12500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37"/>
          <p:cNvSpPr/>
          <p:nvPr/>
        </p:nvSpPr>
        <p:spPr>
          <a:xfrm>
            <a:off x="5347080" y="3017520"/>
            <a:ext cx="135180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98.16%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Shape 38"/>
          <p:cNvSpPr/>
          <p:nvPr/>
        </p:nvSpPr>
        <p:spPr>
          <a:xfrm>
            <a:off x="6781320" y="3309840"/>
            <a:ext cx="137160" cy="360"/>
          </a:xfrm>
          <a:prstGeom prst="line">
            <a:avLst/>
          </a:prstGeom>
          <a:ln w="15875">
            <a:solidFill>
              <a:srgbClr val="8A919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Shape 39"/>
          <p:cNvSpPr/>
          <p:nvPr/>
        </p:nvSpPr>
        <p:spPr>
          <a:xfrm>
            <a:off x="6927840" y="3017520"/>
            <a:ext cx="1498320" cy="585000"/>
          </a:xfrm>
          <a:prstGeom prst="roundRect">
            <a:avLst>
              <a:gd name="adj" fmla="val 12500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40"/>
          <p:cNvSpPr/>
          <p:nvPr/>
        </p:nvSpPr>
        <p:spPr>
          <a:xfrm>
            <a:off x="7001280" y="3017520"/>
            <a:ext cx="135180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75,825</a:t>
            </a:r>
            <a:r>
              <a:rPr lang="zh-CN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행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41"/>
          <p:cNvSpPr/>
          <p:nvPr/>
        </p:nvSpPr>
        <p:spPr>
          <a:xfrm>
            <a:off x="8435520" y="3309840"/>
            <a:ext cx="137160" cy="360"/>
          </a:xfrm>
          <a:prstGeom prst="line">
            <a:avLst/>
          </a:prstGeom>
          <a:ln w="15875">
            <a:solidFill>
              <a:srgbClr val="8A919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42"/>
          <p:cNvSpPr/>
          <p:nvPr/>
        </p:nvSpPr>
        <p:spPr>
          <a:xfrm>
            <a:off x="8582040" y="3017520"/>
            <a:ext cx="1498320" cy="585000"/>
          </a:xfrm>
          <a:prstGeom prst="roundRect">
            <a:avLst>
              <a:gd name="adj" fmla="val 12500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43"/>
          <p:cNvSpPr/>
          <p:nvPr/>
        </p:nvSpPr>
        <p:spPr>
          <a:xfrm>
            <a:off x="8655120" y="3017520"/>
            <a:ext cx="135180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pickle · </a:t>
            </a:r>
            <a:r>
              <a:rPr lang="zh-CN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확인 </a:t>
            </a:r>
            <a:r>
              <a:rPr lang="en-US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True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44"/>
          <p:cNvSpPr/>
          <p:nvPr/>
        </p:nvSpPr>
        <p:spPr>
          <a:xfrm>
            <a:off x="10089360" y="3309840"/>
            <a:ext cx="137160" cy="360"/>
          </a:xfrm>
          <a:prstGeom prst="line">
            <a:avLst/>
          </a:prstGeom>
          <a:ln w="15875">
            <a:solidFill>
              <a:srgbClr val="8A919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45"/>
          <p:cNvSpPr/>
          <p:nvPr/>
        </p:nvSpPr>
        <p:spPr>
          <a:xfrm>
            <a:off x="10235880" y="3017520"/>
            <a:ext cx="1498320" cy="585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46"/>
          <p:cNvSpPr/>
          <p:nvPr/>
        </p:nvSpPr>
        <p:spPr>
          <a:xfrm>
            <a:off x="10308960" y="3017520"/>
            <a:ext cx="135180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1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노트북 내 실행 없음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47"/>
          <p:cNvSpPr/>
          <p:nvPr/>
        </p:nvSpPr>
        <p:spPr>
          <a:xfrm>
            <a:off x="457200" y="3840480"/>
            <a:ext cx="6034680" cy="2349720"/>
          </a:xfrm>
          <a:prstGeom prst="roundRect">
            <a:avLst>
              <a:gd name="adj" fmla="val 3113"/>
            </a:avLst>
          </a:prstGeom>
          <a:solidFill>
            <a:srgbClr val="FFFFFF"/>
          </a:solidFill>
          <a:ln w="9525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23" name="Chart 0"/>
          <p:cNvGraphicFramePr/>
          <p:nvPr/>
        </p:nvGraphicFramePr>
        <p:xfrm>
          <a:off x="548640" y="3886200"/>
          <a:ext cx="5851800" cy="2258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24" name="Shape 48"/>
          <p:cNvSpPr/>
          <p:nvPr/>
        </p:nvSpPr>
        <p:spPr>
          <a:xfrm>
            <a:off x="6675120" y="3840480"/>
            <a:ext cx="5059080" cy="2349720"/>
          </a:xfrm>
          <a:prstGeom prst="roundRect">
            <a:avLst>
              <a:gd name="adj" fmla="val 3113"/>
            </a:avLst>
          </a:prstGeom>
          <a:solidFill>
            <a:srgbClr val="1F2329"/>
          </a:solidFill>
          <a:ln w="9525">
            <a:solidFill>
              <a:srgbClr val="1F232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49"/>
          <p:cNvSpPr/>
          <p:nvPr/>
        </p:nvSpPr>
        <p:spPr>
          <a:xfrm>
            <a:off x="6894720" y="395028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9FB6D1"/>
                </a:solidFill>
                <a:effectLst/>
                <a:uFillTx/>
                <a:latin typeface="Pretendard"/>
                <a:ea typeface="Pretendard"/>
              </a:rPr>
              <a:t>핵심 메시지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50"/>
          <p:cNvSpPr/>
          <p:nvPr/>
        </p:nvSpPr>
        <p:spPr>
          <a:xfrm>
            <a:off x="6894720" y="4316040"/>
            <a:ext cx="2739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9FB6D1"/>
                </a:solidFill>
                <a:effectLst/>
                <a:uFillTx/>
                <a:latin typeface="Pretendard"/>
                <a:ea typeface="Pretendard"/>
              </a:rPr>
              <a:t>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51"/>
          <p:cNvSpPr/>
          <p:nvPr/>
        </p:nvSpPr>
        <p:spPr>
          <a:xfrm>
            <a:off x="7223760" y="4316040"/>
            <a:ext cx="43430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변수는 학습 기간 상관분석으로 탐</a:t>
            </a:r>
            <a:r>
              <a:rPr lang="zh-CN" sz="1200" b="0" u="none" strike="noStrike" dirty="0" smtClean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색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52"/>
          <p:cNvSpPr/>
          <p:nvPr/>
        </p:nvSpPr>
        <p:spPr>
          <a:xfrm>
            <a:off x="6894720" y="4773240"/>
            <a:ext cx="2739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9FB6D1"/>
                </a:solidFill>
                <a:effectLst/>
                <a:uFillTx/>
                <a:latin typeface="Pretendard"/>
                <a:ea typeface="Pretendard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53"/>
          <p:cNvSpPr/>
          <p:nvPr/>
        </p:nvSpPr>
        <p:spPr>
          <a:xfrm>
            <a:off x="7223760" y="4773240"/>
            <a:ext cx="43430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상관만으로 정하지 않고 특성 조합 실험으로 재검</a:t>
            </a:r>
            <a:r>
              <a:rPr lang="zh-CN" sz="1200" b="0" u="none" strike="noStrike" dirty="0" smtClean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증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54"/>
          <p:cNvSpPr/>
          <p:nvPr/>
        </p:nvSpPr>
        <p:spPr>
          <a:xfrm>
            <a:off x="6894720" y="5230440"/>
            <a:ext cx="2739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9FB6D1"/>
                </a:solidFill>
                <a:effectLst/>
                <a:uFillTx/>
                <a:latin typeface="Pretendard"/>
                <a:ea typeface="Pretendard"/>
              </a:rPr>
              <a:t>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55"/>
          <p:cNvSpPr/>
          <p:nvPr/>
        </p:nvSpPr>
        <p:spPr>
          <a:xfrm>
            <a:off x="7223760" y="5230440"/>
            <a:ext cx="43430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특성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·</a:t>
            </a:r>
            <a:r>
              <a:rPr lang="zh-CN" sz="1200" b="0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설정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·</a:t>
            </a:r>
            <a:r>
              <a:rPr lang="zh-CN" sz="1200" b="0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모델은 검증 데이터로만 선</a:t>
            </a:r>
            <a:r>
              <a:rPr lang="zh-CN" sz="1200" b="0" u="none" strike="noStrike" dirty="0" smtClean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택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56"/>
          <p:cNvSpPr/>
          <p:nvPr/>
        </p:nvSpPr>
        <p:spPr>
          <a:xfrm>
            <a:off x="6894720" y="5687640"/>
            <a:ext cx="2739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9FB6D1"/>
                </a:solidFill>
                <a:effectLst/>
                <a:uFillTx/>
                <a:latin typeface="Pretendard"/>
                <a:ea typeface="Pretendard"/>
              </a:rPr>
              <a:t>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57"/>
          <p:cNvSpPr/>
          <p:nvPr/>
        </p:nvSpPr>
        <p:spPr>
          <a:xfrm>
            <a:off x="7223760" y="5687640"/>
            <a:ext cx="43430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가장 복잡한 모델이 아닌 검증 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1</a:t>
            </a:r>
            <a:r>
              <a:rPr lang="zh-CN" sz="1200" b="0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위 모델을 </a:t>
            </a:r>
            <a:r>
              <a:rPr lang="ko-KR" altLang="en-US" sz="1200" dirty="0" smtClean="0">
                <a:solidFill>
                  <a:srgbClr val="FFFFFF"/>
                </a:solidFill>
                <a:latin typeface="Pretendard"/>
                <a:ea typeface="Pretendard"/>
              </a:rPr>
              <a:t>선택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72783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noProof="0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결론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최종 결과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46221"/>
            <a:ext cx="210314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114697" y="2158412"/>
            <a:ext cx="10498183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/>
              <a:t>공공 API </a:t>
            </a:r>
            <a:r>
              <a:rPr lang="ko-KR" altLang="en-US" dirty="0"/>
              <a:t>수집 자동화 및 안정화소방청 </a:t>
            </a:r>
            <a:r>
              <a:rPr lang="ko-KR" altLang="en-US" dirty="0" err="1"/>
              <a:t>구급통계</a:t>
            </a:r>
            <a:r>
              <a:rPr lang="ko-KR" altLang="en-US" dirty="0"/>
              <a:t> 및 국립중앙의료원 응급실 </a:t>
            </a:r>
            <a:r>
              <a:rPr lang="ko-KR" altLang="en-US" dirty="0" err="1"/>
              <a:t>가용병상</a:t>
            </a:r>
            <a:r>
              <a:rPr lang="ko-KR" altLang="en-US" dirty="0"/>
              <a:t> API 연동</a:t>
            </a:r>
            <a:r>
              <a:rPr lang="ko-KR" altLang="en-US" dirty="0" smtClean="0"/>
              <a:t>.</a:t>
            </a:r>
            <a:endParaRPr lang="en-US" altLang="ko-KR" dirty="0" smtClean="0"/>
          </a:p>
          <a:p>
            <a:endParaRPr lang="ko-KR" altLang="en-US" dirty="0"/>
          </a:p>
          <a:p>
            <a:r>
              <a:rPr lang="ko-KR" altLang="en-US" dirty="0"/>
              <a:t>이종 데이터 통합 표준화통계표(KOSIS), </a:t>
            </a:r>
            <a:r>
              <a:rPr lang="ko-KR" altLang="en-US" dirty="0" err="1"/>
              <a:t>생활인구</a:t>
            </a:r>
            <a:r>
              <a:rPr lang="ko-KR" altLang="en-US" dirty="0"/>
              <a:t>, 출동 </a:t>
            </a:r>
            <a:r>
              <a:rPr lang="ko-KR" altLang="en-US" dirty="0" err="1"/>
              <a:t>건별</a:t>
            </a:r>
            <a:r>
              <a:rPr lang="ko-KR" altLang="en-US" dirty="0"/>
              <a:t> 기록(116만 건)을 자치구 × 날짜 표준 키로 통합.   </a:t>
            </a:r>
            <a:endParaRPr lang="en-US" altLang="ko-KR" dirty="0" smtClean="0"/>
          </a:p>
          <a:p>
            <a:endParaRPr lang="ko-KR" altLang="en-US" dirty="0"/>
          </a:p>
          <a:p>
            <a:r>
              <a:rPr lang="ko-KR" altLang="en-US" dirty="0"/>
              <a:t>3행 피벗 헤더 해체, 날짜 </a:t>
            </a:r>
            <a:r>
              <a:rPr lang="ko-KR" altLang="en-US" dirty="0" err="1"/>
              <a:t>선형보간</a:t>
            </a:r>
            <a:r>
              <a:rPr lang="ko-KR" altLang="en-US" dirty="0"/>
              <a:t>, 결측 0 채움 및 플래그 관리 적용.  </a:t>
            </a:r>
            <a:endParaRPr lang="en-US" altLang="ko-KR" dirty="0" smtClean="0"/>
          </a:p>
          <a:p>
            <a:endParaRPr lang="ko-KR" altLang="en-US" dirty="0"/>
          </a:p>
          <a:p>
            <a:r>
              <a:rPr lang="ko-KR" altLang="en-US" dirty="0"/>
              <a:t>주제별 학습 </a:t>
            </a:r>
            <a:r>
              <a:rPr lang="ko-KR" altLang="en-US" dirty="0" err="1"/>
              <a:t>데이터셋</a:t>
            </a:r>
            <a:r>
              <a:rPr lang="ko-KR" altLang="en-US" dirty="0"/>
              <a:t> &amp; 예측 변수 </a:t>
            </a:r>
            <a:r>
              <a:rPr lang="ko-KR" altLang="en-US" dirty="0" err="1"/>
              <a:t>확정이송</a:t>
            </a:r>
            <a:r>
              <a:rPr lang="ko-KR" altLang="en-US" dirty="0"/>
              <a:t> 수요 </a:t>
            </a:r>
            <a:r>
              <a:rPr lang="ko-KR" altLang="en-US" dirty="0" err="1"/>
              <a:t>데이터셋</a:t>
            </a:r>
            <a:r>
              <a:rPr lang="ko-KR" altLang="en-US" dirty="0"/>
              <a:t>: 전년 </a:t>
            </a:r>
            <a:r>
              <a:rPr lang="ko-KR" altLang="en-US" dirty="0" err="1"/>
              <a:t>이송인원</a:t>
            </a:r>
            <a:r>
              <a:rPr lang="ko-KR" altLang="en-US" dirty="0"/>
              <a:t>, </a:t>
            </a:r>
            <a:r>
              <a:rPr lang="ko-KR" altLang="en-US" dirty="0" err="1"/>
              <a:t>승강기사고</a:t>
            </a:r>
            <a:r>
              <a:rPr lang="ko-KR" altLang="en-US" dirty="0"/>
              <a:t>, </a:t>
            </a:r>
            <a:r>
              <a:rPr lang="ko-KR" altLang="en-US" dirty="0" err="1"/>
              <a:t>인명갇힘</a:t>
            </a:r>
            <a:r>
              <a:rPr lang="ko-KR" altLang="en-US" dirty="0"/>
              <a:t> 등 3개 변수 확정.  </a:t>
            </a:r>
            <a:endParaRPr lang="en-US" altLang="ko-KR" dirty="0" smtClean="0"/>
          </a:p>
          <a:p>
            <a:endParaRPr lang="ko-KR" altLang="en-US" dirty="0"/>
          </a:p>
          <a:p>
            <a:r>
              <a:rPr lang="ko-KR" altLang="en-US" dirty="0"/>
              <a:t>인구 밀집 </a:t>
            </a:r>
            <a:r>
              <a:rPr lang="ko-KR" altLang="en-US" dirty="0" err="1"/>
              <a:t>데이터셋</a:t>
            </a:r>
            <a:r>
              <a:rPr lang="ko-KR" altLang="en-US" dirty="0"/>
              <a:t>: 7일 전 </a:t>
            </a:r>
            <a:r>
              <a:rPr lang="ko-KR" altLang="en-US" dirty="0" err="1"/>
              <a:t>최대인구</a:t>
            </a:r>
            <a:r>
              <a:rPr lang="ko-KR" altLang="en-US" dirty="0"/>
              <a:t> 등 과거 인구 지표 5개 변수 확정.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66339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noProof="0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결론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kumimoji="0" lang="ko-KR" altLang="en-US" sz="3000" b="1" i="0" u="none" strike="noStrike" kern="0" cap="none" spc="-100" normalizeH="0" baseline="0" noProof="0" dirty="0" smtClean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참고 문헌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46221"/>
            <a:ext cx="210314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851625" y="1264278"/>
            <a:ext cx="859282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ko-KR" altLang="en-US" dirty="0"/>
          </a:p>
          <a:p>
            <a:r>
              <a:rPr lang="ko-KR" altLang="en-US" dirty="0" smtClean="0"/>
              <a:t>공공 </a:t>
            </a:r>
            <a:r>
              <a:rPr lang="ko-KR" altLang="en-US" dirty="0"/>
              <a:t>데이터 및 API 스펙 </a:t>
            </a:r>
            <a:r>
              <a:rPr lang="ko-KR" altLang="en-US" dirty="0" err="1"/>
              <a:t>문헌:소방청</a:t>
            </a:r>
            <a:r>
              <a:rPr lang="ko-KR" altLang="en-US" dirty="0"/>
              <a:t> (2025). </a:t>
            </a:r>
          </a:p>
          <a:p>
            <a:r>
              <a:rPr lang="ko-KR" altLang="en-US" dirty="0" err="1"/>
              <a:t>소방청</a:t>
            </a:r>
            <a:r>
              <a:rPr lang="ko-KR" altLang="en-US" dirty="0"/>
              <a:t> </a:t>
            </a:r>
            <a:r>
              <a:rPr lang="ko-KR" altLang="en-US" dirty="0" err="1"/>
              <a:t>구급통계</a:t>
            </a:r>
            <a:r>
              <a:rPr lang="ko-KR" altLang="en-US" dirty="0"/>
              <a:t> 서비스 API 개발 가이드 </a:t>
            </a:r>
          </a:p>
          <a:p>
            <a:r>
              <a:rPr lang="ko-KR" altLang="en-US" dirty="0"/>
              <a:t>공공데이터포털 (</a:t>
            </a:r>
            <a:r>
              <a:rPr lang="ko-KR" altLang="en-US" dirty="0" err="1"/>
              <a:t>data.go.kr</a:t>
            </a:r>
            <a:r>
              <a:rPr lang="ko-KR" altLang="en-US" dirty="0"/>
              <a:t>)   </a:t>
            </a:r>
          </a:p>
          <a:p>
            <a:r>
              <a:rPr lang="ko-KR" altLang="en-US" dirty="0"/>
              <a:t>국립중앙의료원. (2026) </a:t>
            </a:r>
          </a:p>
          <a:p>
            <a:r>
              <a:rPr lang="ko-KR" altLang="en-US" dirty="0"/>
              <a:t>응급의료기관 정보 조회 서비스 API</a:t>
            </a:r>
          </a:p>
          <a:p>
            <a:r>
              <a:rPr lang="ko-KR" altLang="en-US" dirty="0"/>
              <a:t>통계청(KOSIS) (2025)</a:t>
            </a:r>
          </a:p>
          <a:p>
            <a:r>
              <a:rPr lang="ko-KR" altLang="en-US" dirty="0"/>
              <a:t>구급활동 실적 및 구조활동 실적 (</a:t>
            </a:r>
            <a:r>
              <a:rPr lang="ko-KR" altLang="en-US" dirty="0" err="1"/>
              <a:t>소방서별·자치구별</a:t>
            </a:r>
            <a:r>
              <a:rPr lang="ko-KR" altLang="en-US" dirty="0"/>
              <a:t>, 2005~2025) </a:t>
            </a:r>
          </a:p>
          <a:p>
            <a:endParaRPr lang="ko-KR" altLang="en-US" dirty="0"/>
          </a:p>
          <a:p>
            <a:r>
              <a:rPr lang="ko-KR" altLang="en-US" dirty="0"/>
              <a:t>공간 및 인구 데이터 문헌:</a:t>
            </a:r>
          </a:p>
          <a:p>
            <a:r>
              <a:rPr lang="ko-KR" altLang="en-US" dirty="0" err="1"/>
              <a:t>자치구단위</a:t>
            </a:r>
            <a:r>
              <a:rPr lang="ko-KR" altLang="en-US" dirty="0"/>
              <a:t> 서울생활인구 일별 집계표 (2018.04~2026.07)</a:t>
            </a:r>
          </a:p>
          <a:p>
            <a:r>
              <a:rPr lang="ko-KR" altLang="en-US" dirty="0" err="1"/>
              <a:t>서울열린데이터광장</a:t>
            </a:r>
            <a:r>
              <a:rPr lang="ko-KR" altLang="en-US" dirty="0"/>
              <a:t>  </a:t>
            </a:r>
          </a:p>
          <a:p>
            <a:r>
              <a:rPr lang="ko-KR" altLang="en-US" dirty="0"/>
              <a:t>서울소방재난본부 (2023)</a:t>
            </a:r>
          </a:p>
          <a:p>
            <a:r>
              <a:rPr lang="ko-KR" altLang="en-US" dirty="0"/>
              <a:t>서울시 </a:t>
            </a:r>
            <a:r>
              <a:rPr lang="ko-KR" altLang="en-US" dirty="0" err="1"/>
              <a:t>구급출동</a:t>
            </a:r>
            <a:r>
              <a:rPr lang="ko-KR" altLang="en-US" dirty="0"/>
              <a:t> 현황 </a:t>
            </a:r>
            <a:r>
              <a:rPr lang="ko-KR" altLang="en-US" dirty="0" err="1"/>
              <a:t>건별</a:t>
            </a:r>
            <a:r>
              <a:rPr lang="ko-KR" altLang="en-US" dirty="0"/>
              <a:t>/월별 </a:t>
            </a:r>
            <a:r>
              <a:rPr lang="ko-KR" altLang="en-US" dirty="0" err="1"/>
              <a:t>데이터셋</a:t>
            </a:r>
            <a:r>
              <a:rPr lang="ko-KR" altLang="en-US" dirty="0"/>
              <a:t> (2021~2022)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83511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noProof="0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결론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ko-KR" altLang="en-US" sz="3000" b="1" kern="0" spc="-100" noProof="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향후 연구 방향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46221"/>
            <a:ext cx="210314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51180" y="1472184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ko-KR" altLang="en-US" dirty="0"/>
          </a:p>
          <a:p>
            <a:r>
              <a:rPr lang="ko-KR" altLang="en-US" dirty="0" smtClean="0"/>
              <a:t>현장 </a:t>
            </a:r>
            <a:r>
              <a:rPr lang="ko-KR" altLang="en-US" dirty="0"/>
              <a:t>이송 시간 최적화 및 시범 운영 실증:</a:t>
            </a:r>
          </a:p>
          <a:p>
            <a:endParaRPr lang="ko-KR" altLang="en-US" dirty="0"/>
          </a:p>
          <a:p>
            <a:r>
              <a:rPr lang="ko-KR" altLang="en-US" dirty="0"/>
              <a:t>단순 </a:t>
            </a:r>
            <a:r>
              <a:rPr lang="ko-KR" altLang="en-US" dirty="0" err="1"/>
              <a:t>이송건수</a:t>
            </a:r>
            <a:r>
              <a:rPr lang="ko-KR" altLang="en-US" dirty="0"/>
              <a:t> 예측을 넘어, 실시간 구급차 이동시간 및 </a:t>
            </a:r>
            <a:r>
              <a:rPr lang="ko-KR" altLang="en-US" dirty="0" err="1"/>
              <a:t>병원별</a:t>
            </a:r>
            <a:r>
              <a:rPr lang="ko-KR" altLang="en-US" dirty="0"/>
              <a:t> 진료 가능 과목 데이터를 결합하여</a:t>
            </a:r>
          </a:p>
          <a:p>
            <a:r>
              <a:rPr lang="ko-KR" altLang="en-US" dirty="0"/>
              <a:t>구급차 최적 경로 안내 및 병원 자동 배정 알고리즘으로 확장하고 현장 시범 검증을 진행함.</a:t>
            </a:r>
          </a:p>
        </p:txBody>
      </p:sp>
    </p:spTree>
    <p:extLst>
      <p:ext uri="{BB962C8B-B14F-4D97-AF65-F5344CB8AC3E}">
        <p14:creationId xmlns:p14="http://schemas.microsoft.com/office/powerpoint/2010/main" val="2901980253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11125</Words>
  <Application>Microsoft Office PowerPoint</Application>
  <PresentationFormat>와이드스크린</PresentationFormat>
  <Paragraphs>1131</Paragraphs>
  <Slides>48</Slides>
  <Notes>42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48</vt:i4>
      </vt:variant>
    </vt:vector>
  </HeadingPairs>
  <TitlesOfParts>
    <vt:vector size="57" baseType="lpstr">
      <vt:lpstr>等线</vt:lpstr>
      <vt:lpstr>Freesentation 5 Medium</vt:lpstr>
      <vt:lpstr>Pretendard</vt:lpstr>
      <vt:lpstr>맑은 고딕</vt:lpstr>
      <vt:lpstr>에이투지체 8 ExtraBold</vt:lpstr>
      <vt:lpstr>Arial</vt:lpstr>
      <vt:lpstr>Calibri</vt:lpstr>
      <vt:lpstr>Times New Roman</vt:lpstr>
      <vt:lpstr>2_Office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Matthew Kim</dc:creator>
  <cp:lastModifiedBy>Admin</cp:lastModifiedBy>
  <cp:revision>14</cp:revision>
  <dcterms:created xsi:type="dcterms:W3CDTF">2026-05-01T14:56:49Z</dcterms:created>
  <dcterms:modified xsi:type="dcterms:W3CDTF">2026-10-01T05:43:39Z</dcterms:modified>
</cp:coreProperties>
</file>