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58" r:id="rId3"/>
    <p:sldId id="259" r:id="rId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3" autoAdjust="0"/>
    <p:restoredTop sz="94660"/>
  </p:normalViewPr>
  <p:slideViewPr>
    <p:cSldViewPr snapToGrid="0">
      <p:cViewPr varScale="1">
        <p:scale>
          <a:sx n="92" d="100"/>
          <a:sy n="92" d="100"/>
        </p:scale>
        <p:origin x="28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3932F-FD85-460C-95CA-BBA884EBA790}" type="datetimeFigureOut">
              <a:rPr lang="ko-KR" altLang="en-US" smtClean="0"/>
              <a:t>2026-10-02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F2BF3B-268F-4AC0-B0DB-81C349C87BA7}" type="slidenum">
              <a:rPr lang="ko-KR" altLang="en-US" smtClean="0"/>
              <a:t>‹#›</a:t>
            </a:fld>
            <a:endParaRPr lang="ko-KR" altLang="en-US"/>
          </a:p>
        </p:txBody>
      </p:sp>
    </p:spTree>
    <p:extLst>
      <p:ext uri="{BB962C8B-B14F-4D97-AF65-F5344CB8AC3E}">
        <p14:creationId xmlns:p14="http://schemas.microsoft.com/office/powerpoint/2010/main" val="1446345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웹 서비스는 메인, 분석·예측, 병상 관제 세 화면으로 구성됩니다. 메인 화면에서 데이터 분석 차트·AI 예측 확인과 실시간 응급실 병상 관제 두 서비스로 바로 이동할 수 있고, 상단 공통 메뉴로 세 화면 사이를 오갈 수 있습니다. 분석·예측 화면은 앞에서 만든 모델의 결과를 대시보드로 보여 주고, 병상 관제 화면은 공공데이터 API로 서울시 응급실 가용병상을 받아 보여 줍니다. Flask로 서버를 구성하고 HTML/CSS(Tailwind), JavaScript, Chart.js로 화면을 만들었습니다.</a:t>
            </a:r>
          </a:p>
        </p:txBody>
      </p:sp>
    </p:spTree>
    <p:extLst>
      <p:ext uri="{BB962C8B-B14F-4D97-AF65-F5344CB8AC3E}">
        <p14:creationId xmlns:p14="http://schemas.microsoft.com/office/powerpoint/2010/main" val="800945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분석·예측 화면입니다. 1~6개월 중 예측 기간과 지역을 고르면 월평균 예상 이송량, 최고 피크 예상 월, 전년 대비 증가율 1위 지역, 모델 정확도가 핵심 지표로 표시됩니다. 캡처는 6개월·서울 전체 기준으로 월평균 23,542건, 피크는 2026년 5월(25,136건), 모델 정확도 94.60%(MAE 51.7건)입니다. 그래프는 과거 실적과 미래 예측을 함께 보여 주고, 자치구별 예상 수요 순위를 클릭하면 해당 구의 결과로 바뀝니다. 상세 분석을 펼치면 평가 기간 정확도, 생활인구 예측, 이송×인구 관계, 사고 유형·연령, 모델 명세를 확인할 수 있습니다. 분석 데이터는 2017.01~2025.12, 예측 기간은 2026.01~2026.06입니다.</a:t>
            </a:r>
          </a:p>
        </p:txBody>
      </p:sp>
    </p:spTree>
    <p:extLst>
      <p:ext uri="{BB962C8B-B14F-4D97-AF65-F5344CB8AC3E}">
        <p14:creationId xmlns:p14="http://schemas.microsoft.com/office/powerpoint/2010/main" val="1021206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실시간 병상 관제 화면입니다. 서버가 공공데이터 API에서 23개 구의 응급실 가용병상을 받아 저장해 두고, 방문자는 저장된 값을 조회합니다. 갱신은 1시간 이상 간격으로 하루 최대 3회 이뤄지며, 공공데이터포털 일일 호출 한도(100회)를 넘지 않도록 관리합니다. 상단에서 관제 대상 자치구, 서울시 총 가용병상, 위험·주의 지역 수를 요약합니다. 캡처 시점(2026-10-02 12시경)에는 총 288석, 위험 5개 구, 주의 9개 구였습니다. 자치구나 병원 이름으로 검색하고, 권역과 위험도로 걸러 볼 수 있으며, 자치구별 카드에서 병원별 가용병상과 연락처, 갱신 시각을 확인합니다. 위험도는 자치구 가용병상 합계 기준으로 5석 이하 위험, 10석 이하 주의, 그 외 원활입니다. 강북구·마포구는 실시간 가용병상 API가 제공되지 않아 등록 응급실 병상 수(강북 3개 병원, 마포 1개 병원)와 인접 자치구의 실시간 정보를 함께 보여 줍니다. 병상 정보가 비어 있는 구도 인접 자치구 병원을 안내합니다.</a:t>
            </a:r>
          </a:p>
        </p:txBody>
      </p:sp>
    </p:spTree>
    <p:extLst>
      <p:ext uri="{BB962C8B-B14F-4D97-AF65-F5344CB8AC3E}">
        <p14:creationId xmlns:p14="http://schemas.microsoft.com/office/powerpoint/2010/main" val="62709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2681268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3004622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551707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4177813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125758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355244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426665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637632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2244516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1134856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A523B32-3F16-4419-8731-547DF69F3544}" type="datetimeFigureOut">
              <a:rPr lang="ko-KR" altLang="en-US" smtClean="0"/>
              <a:t>2026-10-02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3193198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720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23B32-3F16-4419-8731-547DF69F3544}" type="datetimeFigureOut">
              <a:rPr lang="ko-KR" altLang="en-US" smtClean="0"/>
              <a:t>2026-10-02</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7C2B9D-C53B-4E46-85DE-B8011E3FED9B}" type="slidenum">
              <a:rPr lang="ko-KR" altLang="en-US" smtClean="0"/>
              <a:t>‹#›</a:t>
            </a:fld>
            <a:endParaRPr lang="ko-KR" altLang="en-US"/>
          </a:p>
        </p:txBody>
      </p:sp>
    </p:spTree>
    <p:extLst>
      <p:ext uri="{BB962C8B-B14F-4D97-AF65-F5344CB8AC3E}">
        <p14:creationId xmlns:p14="http://schemas.microsoft.com/office/powerpoint/2010/main" val="3013112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웹 서비스 구현 및 구성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구급 수요 분석 · 예측 결과와 실시간 응급실 병상 정보를 단일 웹 서비스로 통합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a:t>
            </a:r>
            <a:endParaRPr lang="en-US" sz="900" dirty="0"/>
          </a:p>
        </p:txBody>
      </p:sp>
      <p:sp>
        <p:nvSpPr>
          <p:cNvPr id="3001" name="W 3001"/>
          <p:cNvSpPr/>
          <p:nvPr/>
        </p:nvSpPr>
        <p:spPr>
          <a:xfrm>
            <a:off x="457200" y="1993392"/>
            <a:ext cx="694944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p/>
        </p:txBody>
      </p:sp>
      <p:pic>
        <p:nvPicPr>
          <p:cNvPr id="3002" name="Picture 3001" descr="f_main.png"/>
          <p:cNvPicPr>
            <a:picLocks noChangeAspect="1"/>
          </p:cNvPicPr>
          <p:nvPr/>
        </p:nvPicPr>
        <p:blipFill>
          <a:blip r:embed="rId4"/>
          <a:stretch>
            <a:fillRect/>
          </a:stretch>
        </p:blipFill>
        <p:spPr>
          <a:xfrm>
            <a:off x="927346" y="2176272"/>
            <a:ext cx="6009148" cy="3831336"/>
          </a:xfrm>
          <a:prstGeom prst="rect">
            <a:avLst/>
          </a:prstGeom>
        </p:spPr>
      </p:pic>
      <p:sp>
        <p:nvSpPr>
          <p:cNvPr id="3002" name="W 3002"/>
          <p:cNvSpPr/>
          <p:nvPr/>
        </p:nvSpPr>
        <p:spPr>
          <a:xfrm>
            <a:off x="7589520" y="199339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p/>
        </p:txBody>
      </p:sp>
      <p:sp>
        <p:nvSpPr>
          <p:cNvPr id="3003" name="W 3003"/>
          <p:cNvSpPr/>
          <p:nvPr/>
        </p:nvSpPr>
        <p:spPr>
          <a:xfrm>
            <a:off x="7589520" y="2176272"/>
            <a:ext cx="54864" cy="621792"/>
          </a:xfrm>
          <a:prstGeom prst="rect">
            <a:avLst/>
          </a:prstGeom>
          <a:solidFill>
            <a:srgbClr val="D62828"/>
          </a:solidFill>
          <a:ln>
            <a:noFill/>
          </a:ln>
        </p:spPr>
        <p:txBody>
          <a:bodyPr/>
          <a:p/>
        </p:txBody>
      </p:sp>
      <p:sp>
        <p:nvSpPr>
          <p:cNvPr id="3004" name="W 3004"/>
          <p:cNvSpPr txBox="1"/>
          <p:nvPr/>
        </p:nvSpPr>
        <p:spPr>
          <a:xfrm>
            <a:off x="7863840" y="213969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메인</a:t>
            </a:r>
          </a:p>
        </p:txBody>
      </p:sp>
      <p:sp>
        <p:nvSpPr>
          <p:cNvPr id="3005" name="W 3005"/>
          <p:cNvSpPr txBox="1"/>
          <p:nvPr/>
        </p:nvSpPr>
        <p:spPr>
          <a:xfrm>
            <a:off x="10271455" y="213969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a:t>
            </a:r>
          </a:p>
        </p:txBody>
      </p:sp>
      <p:sp>
        <p:nvSpPr>
          <p:cNvPr id="3006" name="W 3006"/>
          <p:cNvSpPr txBox="1"/>
          <p:nvPr/>
        </p:nvSpPr>
        <p:spPr>
          <a:xfrm>
            <a:off x="7863840" y="252374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두 핵심 서비스로 바로 이동하는 시작 화면</a:t>
            </a:r>
          </a:p>
        </p:txBody>
      </p:sp>
      <p:sp>
        <p:nvSpPr>
          <p:cNvPr id="3007" name="W 3007"/>
          <p:cNvSpPr/>
          <p:nvPr/>
        </p:nvSpPr>
        <p:spPr>
          <a:xfrm>
            <a:off x="7589520" y="309067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p/>
        </p:txBody>
      </p:sp>
      <p:sp>
        <p:nvSpPr>
          <p:cNvPr id="3008" name="W 3008"/>
          <p:cNvSpPr/>
          <p:nvPr/>
        </p:nvSpPr>
        <p:spPr>
          <a:xfrm>
            <a:off x="7589520" y="3273552"/>
            <a:ext cx="54864" cy="621792"/>
          </a:xfrm>
          <a:prstGeom prst="rect">
            <a:avLst/>
          </a:prstGeom>
          <a:solidFill>
            <a:srgbClr val="D62828"/>
          </a:solidFill>
          <a:ln>
            <a:noFill/>
          </a:ln>
        </p:spPr>
        <p:txBody>
          <a:bodyPr/>
          <a:p/>
        </p:txBody>
      </p:sp>
      <p:sp>
        <p:nvSpPr>
          <p:cNvPr id="3009" name="W 3009"/>
          <p:cNvSpPr txBox="1"/>
          <p:nvPr/>
        </p:nvSpPr>
        <p:spPr>
          <a:xfrm>
            <a:off x="7863840" y="323697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분석 · 예측</a:t>
            </a:r>
          </a:p>
        </p:txBody>
      </p:sp>
      <p:sp>
        <p:nvSpPr>
          <p:cNvPr id="3010" name="W 3010"/>
          <p:cNvSpPr txBox="1"/>
          <p:nvPr/>
        </p:nvSpPr>
        <p:spPr>
          <a:xfrm>
            <a:off x="10271455" y="323697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/analysis</a:t>
            </a:r>
          </a:p>
        </p:txBody>
      </p:sp>
      <p:sp>
        <p:nvSpPr>
          <p:cNvPr id="3011" name="W 3011"/>
          <p:cNvSpPr txBox="1"/>
          <p:nvPr/>
        </p:nvSpPr>
        <p:spPr>
          <a:xfrm>
            <a:off x="7863840" y="362102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구급 수요 분석 및 AI 예측 결과 대시보드</a:t>
            </a:r>
          </a:p>
        </p:txBody>
      </p:sp>
      <p:sp>
        <p:nvSpPr>
          <p:cNvPr id="3012" name="W 3012"/>
          <p:cNvSpPr/>
          <p:nvPr/>
        </p:nvSpPr>
        <p:spPr>
          <a:xfrm>
            <a:off x="7589520" y="418795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p/>
        </p:txBody>
      </p:sp>
      <p:sp>
        <p:nvSpPr>
          <p:cNvPr id="3013" name="W 3013"/>
          <p:cNvSpPr/>
          <p:nvPr/>
        </p:nvSpPr>
        <p:spPr>
          <a:xfrm>
            <a:off x="7589520" y="4370832"/>
            <a:ext cx="54864" cy="621792"/>
          </a:xfrm>
          <a:prstGeom prst="rect">
            <a:avLst/>
          </a:prstGeom>
          <a:solidFill>
            <a:srgbClr val="D62828"/>
          </a:solidFill>
          <a:ln>
            <a:noFill/>
          </a:ln>
        </p:spPr>
        <p:txBody>
          <a:bodyPr/>
          <a:p/>
        </p:txBody>
      </p:sp>
      <p:sp>
        <p:nvSpPr>
          <p:cNvPr id="3014" name="W 3014"/>
          <p:cNvSpPr txBox="1"/>
          <p:nvPr/>
        </p:nvSpPr>
        <p:spPr>
          <a:xfrm>
            <a:off x="7863840" y="433425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병상 관제</a:t>
            </a:r>
          </a:p>
        </p:txBody>
      </p:sp>
      <p:sp>
        <p:nvSpPr>
          <p:cNvPr id="3015" name="W 3015"/>
          <p:cNvSpPr txBox="1"/>
          <p:nvPr/>
        </p:nvSpPr>
        <p:spPr>
          <a:xfrm>
            <a:off x="10271455" y="433425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/beds</a:t>
            </a:r>
          </a:p>
        </p:txBody>
      </p:sp>
      <p:sp>
        <p:nvSpPr>
          <p:cNvPr id="3016" name="W 3016"/>
          <p:cNvSpPr txBox="1"/>
          <p:nvPr/>
        </p:nvSpPr>
        <p:spPr>
          <a:xfrm>
            <a:off x="7863840" y="471830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서울시 응급실 가용병상 실시간 조회</a:t>
            </a:r>
          </a:p>
        </p:txBody>
      </p:sp>
      <p:sp>
        <p:nvSpPr>
          <p:cNvPr id="3017" name="W 3017"/>
          <p:cNvSpPr/>
          <p:nvPr/>
        </p:nvSpPr>
        <p:spPr>
          <a:xfrm>
            <a:off x="7589520" y="5285232"/>
            <a:ext cx="4144975" cy="905256"/>
          </a:xfrm>
          <a:prstGeom prst="roundRect">
            <a:avLst>
              <a:gd name="adj" fmla="val 10101"/>
            </a:avLst>
          </a:prstGeom>
          <a:solidFill>
            <a:srgbClr val="FFFFFF"/>
          </a:solidFill>
          <a:ln>
            <a:noFill/>
          </a:ln>
          <a:effectLst>
            <a:outerShdw blurRad="38100" dist="25400" dir="5400000" algn="t" rotWithShape="0">
              <a:srgbClr val="000000">
                <a:alpha val="8000"/>
              </a:srgbClr>
            </a:outerShdw>
          </a:effectLst>
        </p:spPr>
        <p:txBody>
          <a:bodyPr/>
          <a:p/>
        </p:txBody>
      </p:sp>
      <p:sp>
        <p:nvSpPr>
          <p:cNvPr id="3018" name="W 3018"/>
          <p:cNvSpPr txBox="1"/>
          <p:nvPr/>
        </p:nvSpPr>
        <p:spPr>
          <a:xfrm>
            <a:off x="7863840" y="5376672"/>
            <a:ext cx="3687775" cy="292608"/>
          </a:xfrm>
          <a:prstGeom prst="rect">
            <a:avLst/>
          </a:prstGeom>
          <a:noFill/>
        </p:spPr>
        <p:txBody>
          <a:bodyPr wrap="square" lIns="0" tIns="0" rIns="0" bIns="0" rtlCol="0" anchor="ctr"/>
          <a:lstStyle/>
          <a:p>
            <a:pPr algn="l"/>
            <a:r>
              <a:rPr lang="ko-KR" sz="1200" b="1" dirty="0">
                <a:solidFill>
                  <a:srgbClr val="222222"/>
                </a:solidFill>
                <a:latin typeface="에이투지체 5 Medium"/>
                <a:ea typeface="에이투지체 5 Medium"/>
                <a:cs typeface="에이투지체 5 Medium"/>
              </a:rPr>
              <a:t>기술 스택</a:t>
            </a:r>
          </a:p>
        </p:txBody>
      </p:sp>
      <p:sp>
        <p:nvSpPr>
          <p:cNvPr id="3019" name="W 3019"/>
          <p:cNvSpPr txBox="1"/>
          <p:nvPr/>
        </p:nvSpPr>
        <p:spPr>
          <a:xfrm>
            <a:off x="7863840" y="5705856"/>
            <a:ext cx="3687775" cy="347472"/>
          </a:xfrm>
          <a:prstGeom prst="rect">
            <a:avLst/>
          </a:prstGeom>
          <a:noFill/>
        </p:spPr>
        <p:txBody>
          <a:bodyPr wrap="square" lIns="0" tIns="0" rIns="0" bIns="0" rtlCol="0" anchor="ctr"/>
          <a:lstStyle/>
          <a:p>
            <a:pPr algn="l"/>
            <a:r>
              <a:rPr lang="ko-KR" sz="1000" dirty="0">
                <a:solidFill>
                  <a:srgbClr val="45515E"/>
                </a:solidFill>
                <a:latin typeface="에이투지체 5 Medium"/>
                <a:ea typeface="에이투지체 5 Medium"/>
                <a:cs typeface="에이투지체 5 Medium"/>
              </a:rPr>
              <a:t>Flask · Tailwind CSS · JavaScript · Chart.js · 공공데이터 API</a:t>
            </a:r>
          </a:p>
        </p:txBody>
      </p:sp>
    </p:spTree>
    <p:extLst>
      <p:ext uri="{BB962C8B-B14F-4D97-AF65-F5344CB8AC3E}">
        <p14:creationId xmlns:p14="http://schemas.microsoft.com/office/powerpoint/2010/main" val="39873698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구급 수요 분석 · 예측 대시보드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1~6개월 예측 기간 선택, 서울 전체 및 자치구별 예측 · 순위 · 상세 분석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 · dashboard_data</a:t>
            </a:r>
            <a:endParaRPr lang="en-US" sz="900" dirty="0"/>
          </a:p>
        </p:txBody>
      </p:sp>
      <p:sp>
        <p:nvSpPr>
          <p:cNvPr id="3020" name="W 3020"/>
          <p:cNvSpPr/>
          <p:nvPr/>
        </p:nvSpPr>
        <p:spPr>
          <a:xfrm>
            <a:off x="457200" y="1993392"/>
            <a:ext cx="2514600" cy="4197096"/>
          </a:xfrm>
          <a:prstGeom prst="roundRect">
            <a:avLst>
              <a:gd name="adj" fmla="val 3636"/>
            </a:avLst>
          </a:prstGeom>
          <a:solidFill>
            <a:srgbClr val="FFFFFF"/>
          </a:solidFill>
          <a:ln>
            <a:noFill/>
          </a:ln>
          <a:effectLst>
            <a:outerShdw blurRad="38100" dist="25400" dir="5400000" algn="t" rotWithShape="0">
              <a:srgbClr val="000000">
                <a:alpha val="8000"/>
              </a:srgbClr>
            </a:outerShdw>
          </a:effectLst>
        </p:spPr>
        <p:txBody>
          <a:bodyPr/>
          <a:p/>
        </p:txBody>
      </p:sp>
      <p:sp>
        <p:nvSpPr>
          <p:cNvPr id="3021" name="W 3021"/>
          <p:cNvSpPr txBox="1"/>
          <p:nvPr/>
        </p:nvSpPr>
        <p:spPr>
          <a:xfrm>
            <a:off x="640080" y="2103120"/>
            <a:ext cx="2148840" cy="256032"/>
          </a:xfrm>
          <a:prstGeom prst="rect">
            <a:avLst/>
          </a:prstGeom>
          <a:noFill/>
        </p:spPr>
        <p:txBody>
          <a:bodyPr wrap="square" lIns="0" tIns="0" rIns="0" bIns="0" rtlCol="0" anchor="ctr"/>
          <a:lstStyle/>
          <a:p>
            <a:pPr algn="ctr"/>
            <a:r>
              <a:rPr lang="ko-KR" sz="1100" b="1" dirty="0">
                <a:solidFill>
                  <a:srgbClr val="8E8E93"/>
                </a:solidFill>
                <a:latin typeface="에이투지체 5 Medium"/>
                <a:ea typeface="에이투지체 5 Medium"/>
                <a:cs typeface="에이투지체 5 Medium"/>
              </a:rPr>
              <a:t>전체 화면</a:t>
            </a:r>
          </a:p>
        </p:txBody>
      </p:sp>
      <p:pic>
        <p:nvPicPr>
          <p:cNvPr id="3022" name="Picture 3021" descr="f_ana_full.png"/>
          <p:cNvPicPr>
            <a:picLocks noChangeAspect="1"/>
          </p:cNvPicPr>
          <p:nvPr/>
        </p:nvPicPr>
        <p:blipFill>
          <a:blip r:embed="rId6"/>
          <a:stretch>
            <a:fillRect/>
          </a:stretch>
        </p:blipFill>
        <p:spPr>
          <a:xfrm>
            <a:off x="629560" y="2404872"/>
            <a:ext cx="2169880" cy="3694176"/>
          </a:xfrm>
          <a:prstGeom prst="rect">
            <a:avLst/>
          </a:prstGeom>
        </p:spPr>
      </p:pic>
      <p:sp>
        <p:nvSpPr>
          <p:cNvPr id="3022" name="W 3022"/>
          <p:cNvSpPr/>
          <p:nvPr/>
        </p:nvSpPr>
        <p:spPr>
          <a:xfrm>
            <a:off x="629560" y="2404872"/>
            <a:ext cx="2169880" cy="3694176"/>
          </a:xfrm>
          <a:prstGeom prst="rect">
            <a:avLst/>
          </a:prstGeom>
          <a:noFill/>
          <a:ln w="6350">
            <a:solidFill>
              <a:srgbClr val="E5E7EB"/>
            </a:solidFill>
          </a:ln>
        </p:spPr>
        <p:txBody>
          <a:bodyPr/>
          <a:p/>
        </p:txBody>
      </p:sp>
      <p:sp>
        <p:nvSpPr>
          <p:cNvPr id="3023" name="W 3023"/>
          <p:cNvSpPr/>
          <p:nvPr/>
        </p:nvSpPr>
        <p:spPr>
          <a:xfrm>
            <a:off x="3154680"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24" name="W 3024"/>
          <p:cNvSpPr/>
          <p:nvPr/>
        </p:nvSpPr>
        <p:spPr>
          <a:xfrm>
            <a:off x="3319272"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25" name="Picture 3024" descr="f_sel.png"/>
          <p:cNvPicPr>
            <a:picLocks noChangeAspect="1"/>
          </p:cNvPicPr>
          <p:nvPr/>
        </p:nvPicPr>
        <p:blipFill>
          <a:blip r:embed="rId7"/>
          <a:stretch>
            <a:fillRect/>
          </a:stretch>
        </p:blipFill>
        <p:spPr>
          <a:xfrm>
            <a:off x="3392424" y="2586167"/>
            <a:ext cx="3722980" cy="314065"/>
          </a:xfrm>
          <a:prstGeom prst="rect">
            <a:avLst/>
          </a:prstGeom>
        </p:spPr>
      </p:pic>
      <p:sp>
        <p:nvSpPr>
          <p:cNvPr id="3025" name="W 3025"/>
          <p:cNvSpPr txBox="1"/>
          <p:nvPr/>
        </p:nvSpPr>
        <p:spPr>
          <a:xfrm>
            <a:off x="3374136"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기간 · 지역 선택</a:t>
            </a:r>
          </a:p>
        </p:txBody>
      </p:sp>
      <p:sp>
        <p:nvSpPr>
          <p:cNvPr id="3026" name="W 3026"/>
          <p:cNvSpPr txBox="1"/>
          <p:nvPr/>
        </p:nvSpPr>
        <p:spPr>
          <a:xfrm>
            <a:off x="3374136"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1~6개월 예측 범위와 지역(서울 전체 · 자치구) 선택</a:t>
            </a:r>
          </a:p>
        </p:txBody>
      </p:sp>
      <p:sp>
        <p:nvSpPr>
          <p:cNvPr id="3027" name="W 3027"/>
          <p:cNvSpPr/>
          <p:nvPr/>
        </p:nvSpPr>
        <p:spPr>
          <a:xfrm>
            <a:off x="7536028"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28" name="W 3028"/>
          <p:cNvSpPr/>
          <p:nvPr/>
        </p:nvSpPr>
        <p:spPr>
          <a:xfrm>
            <a:off x="7700620"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29" name="Picture 3028" descr="f_kpi.png"/>
          <p:cNvPicPr>
            <a:picLocks noChangeAspect="1"/>
          </p:cNvPicPr>
          <p:nvPr/>
        </p:nvPicPr>
        <p:blipFill>
          <a:blip r:embed="rId8"/>
          <a:stretch>
            <a:fillRect/>
          </a:stretch>
        </p:blipFill>
        <p:spPr>
          <a:xfrm>
            <a:off x="7948114" y="2231136"/>
            <a:ext cx="3374295" cy="1024128"/>
          </a:xfrm>
          <a:prstGeom prst="rect">
            <a:avLst/>
          </a:prstGeom>
        </p:spPr>
      </p:pic>
      <p:sp>
        <p:nvSpPr>
          <p:cNvPr id="3029" name="W 3029"/>
          <p:cNvSpPr txBox="1"/>
          <p:nvPr/>
        </p:nvSpPr>
        <p:spPr>
          <a:xfrm>
            <a:off x="7755484"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핵심 지표</a:t>
            </a:r>
          </a:p>
        </p:txBody>
      </p:sp>
      <p:sp>
        <p:nvSpPr>
          <p:cNvPr id="3030" name="W 3030"/>
          <p:cNvSpPr txBox="1"/>
          <p:nvPr/>
        </p:nvSpPr>
        <p:spPr>
          <a:xfrm>
            <a:off x="7755484"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예상 이송량 · 피크 예상 월 · 증가율 1위 지역 · 정확도</a:t>
            </a:r>
          </a:p>
        </p:txBody>
      </p:sp>
      <p:sp>
        <p:nvSpPr>
          <p:cNvPr id="3031" name="W 3031"/>
          <p:cNvSpPr/>
          <p:nvPr/>
        </p:nvSpPr>
        <p:spPr>
          <a:xfrm>
            <a:off x="3154680"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32" name="W 3032"/>
          <p:cNvSpPr/>
          <p:nvPr/>
        </p:nvSpPr>
        <p:spPr>
          <a:xfrm>
            <a:off x="3319272"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33" name="Picture 3032" descr="f_rank.png"/>
          <p:cNvPicPr>
            <a:picLocks noChangeAspect="1"/>
          </p:cNvPicPr>
          <p:nvPr/>
        </p:nvPicPr>
        <p:blipFill>
          <a:blip r:embed="rId9"/>
          <a:stretch>
            <a:fillRect/>
          </a:stretch>
        </p:blipFill>
        <p:spPr>
          <a:xfrm>
            <a:off x="3392424" y="4507114"/>
            <a:ext cx="3722980" cy="843004"/>
          </a:xfrm>
          <a:prstGeom prst="rect">
            <a:avLst/>
          </a:prstGeom>
        </p:spPr>
      </p:pic>
      <p:sp>
        <p:nvSpPr>
          <p:cNvPr id="3033" name="W 3033"/>
          <p:cNvSpPr txBox="1"/>
          <p:nvPr/>
        </p:nvSpPr>
        <p:spPr>
          <a:xfrm>
            <a:off x="3374136"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자치구별 예상 수요 순위</a:t>
            </a:r>
          </a:p>
        </p:txBody>
      </p:sp>
      <p:sp>
        <p:nvSpPr>
          <p:cNvPr id="3034" name="W 3034"/>
          <p:cNvSpPr txBox="1"/>
          <p:nvPr/>
        </p:nvSpPr>
        <p:spPr>
          <a:xfrm>
            <a:off x="3374136" y="5879592"/>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월평균 예상 이송 건수 순위, 클릭 시 해당 구로 전환</a:t>
            </a:r>
          </a:p>
        </p:txBody>
      </p:sp>
      <p:sp>
        <p:nvSpPr>
          <p:cNvPr id="3035" name="W 3035"/>
          <p:cNvSpPr/>
          <p:nvPr/>
        </p:nvSpPr>
        <p:spPr>
          <a:xfrm>
            <a:off x="7536028"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36" name="W 3036"/>
          <p:cNvSpPr/>
          <p:nvPr/>
        </p:nvSpPr>
        <p:spPr>
          <a:xfrm>
            <a:off x="7700620"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37" name="Picture 3036" descr="image.png"/>
          <p:cNvPicPr>
            <a:picLocks noChangeAspect="1"/>
          </p:cNvPicPr>
          <p:nvPr/>
        </p:nvPicPr>
        <p:blipFill>
          <a:blip r:embed="rId5"/>
          <a:stretch>
            <a:fillRect/>
          </a:stretch>
        </p:blipFill>
        <p:spPr>
          <a:xfrm>
            <a:off x="7773772" y="4750928"/>
            <a:ext cx="3722980" cy="355375"/>
          </a:xfrm>
          <a:prstGeom prst="rect">
            <a:avLst/>
          </a:prstGeom>
        </p:spPr>
      </p:pic>
      <p:sp>
        <p:nvSpPr>
          <p:cNvPr id="3037" name="W 3037"/>
          <p:cNvSpPr txBox="1"/>
          <p:nvPr/>
        </p:nvSpPr>
        <p:spPr>
          <a:xfrm>
            <a:off x="7755484"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상세 분석</a:t>
            </a:r>
          </a:p>
        </p:txBody>
      </p:sp>
      <p:sp>
        <p:nvSpPr>
          <p:cNvPr id="3038" name="W 3038"/>
          <p:cNvSpPr txBox="1"/>
          <p:nvPr/>
        </p:nvSpPr>
        <p:spPr>
          <a:xfrm>
            <a:off x="7755484" y="5879592"/>
            <a:ext cx="3759556" cy="256032"/>
          </a:xfrm>
          <a:prstGeom prst="rect">
            <a:avLst/>
          </a:prstGeom>
          <a:noFill/>
        </p:spPr>
        <p:txBody>
          <a:bodyPr wrap="square" lIns="0" tIns="0" rIns="0" bIns="0" rtlCol="0" anchor="ctr"/>
          <a:lstStyle/>
          <a:p>
            <a:pPr algn="l"/>
            <a:r>
              <a:rPr lang="ko-KR" sz="1000" dirty="0">
                <a:solidFill>
                  <a:srgbClr val="45515E"/>
                </a:solidFill>
                <a:latin typeface="에이투지체 5 Medium"/>
                <a:ea typeface="에이투지체 5 Medium"/>
                <a:cs typeface="에이투지체 5 Medium"/>
              </a:rPr>
              <a:t>평가 정확도 · 생활인구 · 이송×인구 · 사고 유형 · 모델 명세</a:t>
            </a:r>
          </a:p>
        </p:txBody>
      </p:sp>
    </p:spTree>
    <p:extLst>
      <p:ext uri="{BB962C8B-B14F-4D97-AF65-F5344CB8AC3E}">
        <p14:creationId xmlns:p14="http://schemas.microsoft.com/office/powerpoint/2010/main" val="22961259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실시간 응급실 병상 관제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공공데이터 API 연계, 서울시 25개 자치구 응급실 가용병상 실시간 조회</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 · 실시간_병상관제_v1</a:t>
            </a:r>
            <a:endParaRPr lang="en-US" sz="900" dirty="0"/>
          </a:p>
        </p:txBody>
      </p:sp>
      <p:sp>
        <p:nvSpPr>
          <p:cNvPr id="3039" name="W 3039"/>
          <p:cNvSpPr/>
          <p:nvPr/>
        </p:nvSpPr>
        <p:spPr>
          <a:xfrm>
            <a:off x="457200" y="1993392"/>
            <a:ext cx="2514600" cy="4197096"/>
          </a:xfrm>
          <a:prstGeom prst="roundRect">
            <a:avLst>
              <a:gd name="adj" fmla="val 3636"/>
            </a:avLst>
          </a:prstGeom>
          <a:solidFill>
            <a:srgbClr val="FFFFFF"/>
          </a:solidFill>
          <a:ln>
            <a:noFill/>
          </a:ln>
          <a:effectLst>
            <a:outerShdw blurRad="38100" dist="25400" dir="5400000" algn="t" rotWithShape="0">
              <a:srgbClr val="000000">
                <a:alpha val="8000"/>
              </a:srgbClr>
            </a:outerShdw>
          </a:effectLst>
        </p:spPr>
        <p:txBody>
          <a:bodyPr/>
          <a:p/>
        </p:txBody>
      </p:sp>
      <p:sp>
        <p:nvSpPr>
          <p:cNvPr id="3040" name="W 3040"/>
          <p:cNvSpPr txBox="1"/>
          <p:nvPr/>
        </p:nvSpPr>
        <p:spPr>
          <a:xfrm>
            <a:off x="640080" y="2103120"/>
            <a:ext cx="2148840" cy="256032"/>
          </a:xfrm>
          <a:prstGeom prst="rect">
            <a:avLst/>
          </a:prstGeom>
          <a:noFill/>
        </p:spPr>
        <p:txBody>
          <a:bodyPr wrap="square" lIns="0" tIns="0" rIns="0" bIns="0" rtlCol="0" anchor="ctr"/>
          <a:lstStyle/>
          <a:p>
            <a:pPr algn="ctr"/>
            <a:r>
              <a:rPr lang="ko-KR" sz="1100" b="1" dirty="0">
                <a:solidFill>
                  <a:srgbClr val="8E8E93"/>
                </a:solidFill>
                <a:latin typeface="에이투지체 5 Medium"/>
                <a:ea typeface="에이투지체 5 Medium"/>
                <a:cs typeface="에이투지체 5 Medium"/>
              </a:rPr>
              <a:t>전체 화면</a:t>
            </a:r>
          </a:p>
        </p:txBody>
      </p:sp>
      <p:pic>
        <p:nvPicPr>
          <p:cNvPr id="3041" name="Picture 3040" descr="f_beds_full.png"/>
          <p:cNvPicPr>
            <a:picLocks noChangeAspect="1"/>
          </p:cNvPicPr>
          <p:nvPr/>
        </p:nvPicPr>
        <p:blipFill>
          <a:blip r:embed="rId4"/>
          <a:stretch>
            <a:fillRect/>
          </a:stretch>
        </p:blipFill>
        <p:spPr>
          <a:xfrm>
            <a:off x="594360" y="2404872"/>
            <a:ext cx="2240280" cy="3615923"/>
          </a:xfrm>
          <a:prstGeom prst="rect">
            <a:avLst/>
          </a:prstGeom>
        </p:spPr>
      </p:pic>
      <p:sp>
        <p:nvSpPr>
          <p:cNvPr id="3041" name="W 3041"/>
          <p:cNvSpPr/>
          <p:nvPr/>
        </p:nvSpPr>
        <p:spPr>
          <a:xfrm>
            <a:off x="594360" y="2404872"/>
            <a:ext cx="2240280" cy="3615923"/>
          </a:xfrm>
          <a:prstGeom prst="rect">
            <a:avLst/>
          </a:prstGeom>
          <a:noFill/>
          <a:ln w="6350">
            <a:solidFill>
              <a:srgbClr val="E5E7EB"/>
            </a:solidFill>
          </a:ln>
        </p:spPr>
        <p:txBody>
          <a:bodyPr/>
          <a:p/>
        </p:txBody>
      </p:sp>
      <p:sp>
        <p:nvSpPr>
          <p:cNvPr id="3042" name="W 3042"/>
          <p:cNvSpPr/>
          <p:nvPr/>
        </p:nvSpPr>
        <p:spPr>
          <a:xfrm>
            <a:off x="3154680"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43" name="W 3043"/>
          <p:cNvSpPr/>
          <p:nvPr/>
        </p:nvSpPr>
        <p:spPr>
          <a:xfrm>
            <a:off x="3319272"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44" name="Picture 3043" descr="f_bkpi.png"/>
          <p:cNvPicPr>
            <a:picLocks noChangeAspect="1"/>
          </p:cNvPicPr>
          <p:nvPr/>
        </p:nvPicPr>
        <p:blipFill>
          <a:blip r:embed="rId5"/>
          <a:stretch>
            <a:fillRect/>
          </a:stretch>
        </p:blipFill>
        <p:spPr>
          <a:xfrm>
            <a:off x="3392424" y="2351307"/>
            <a:ext cx="3722980" cy="783785"/>
          </a:xfrm>
          <a:prstGeom prst="rect">
            <a:avLst/>
          </a:prstGeom>
        </p:spPr>
      </p:pic>
      <p:sp>
        <p:nvSpPr>
          <p:cNvPr id="3044" name="W 3044"/>
          <p:cNvSpPr txBox="1"/>
          <p:nvPr/>
        </p:nvSpPr>
        <p:spPr>
          <a:xfrm>
            <a:off x="3374136"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실시간 현황</a:t>
            </a:r>
          </a:p>
        </p:txBody>
      </p:sp>
      <p:sp>
        <p:nvSpPr>
          <p:cNvPr id="3045" name="W 3045"/>
          <p:cNvSpPr txBox="1"/>
          <p:nvPr/>
        </p:nvSpPr>
        <p:spPr>
          <a:xfrm>
            <a:off x="3374136"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관제 대상 25개 구 · 총 가용병상 · 위험 / 주의 지역 수</a:t>
            </a:r>
          </a:p>
        </p:txBody>
      </p:sp>
      <p:sp>
        <p:nvSpPr>
          <p:cNvPr id="3046" name="W 3046"/>
          <p:cNvSpPr/>
          <p:nvPr/>
        </p:nvSpPr>
        <p:spPr>
          <a:xfrm>
            <a:off x="7536028"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47" name="W 3047"/>
          <p:cNvSpPr/>
          <p:nvPr/>
        </p:nvSpPr>
        <p:spPr>
          <a:xfrm>
            <a:off x="7700620"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48" name="Picture 3047" descr="f_search.png"/>
          <p:cNvPicPr>
            <a:picLocks noChangeAspect="1"/>
          </p:cNvPicPr>
          <p:nvPr/>
        </p:nvPicPr>
        <p:blipFill>
          <a:blip r:embed="rId6"/>
          <a:stretch>
            <a:fillRect/>
          </a:stretch>
        </p:blipFill>
        <p:spPr>
          <a:xfrm>
            <a:off x="7773772" y="2547254"/>
            <a:ext cx="3722980" cy="391893"/>
          </a:xfrm>
          <a:prstGeom prst="rect">
            <a:avLst/>
          </a:prstGeom>
        </p:spPr>
      </p:pic>
      <p:sp>
        <p:nvSpPr>
          <p:cNvPr id="3048" name="W 3048"/>
          <p:cNvSpPr txBox="1"/>
          <p:nvPr/>
        </p:nvSpPr>
        <p:spPr>
          <a:xfrm>
            <a:off x="7755484"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검색 · 필터</a:t>
            </a:r>
          </a:p>
        </p:txBody>
      </p:sp>
      <p:sp>
        <p:nvSpPr>
          <p:cNvPr id="3049" name="W 3049"/>
          <p:cNvSpPr txBox="1"/>
          <p:nvPr/>
        </p:nvSpPr>
        <p:spPr>
          <a:xfrm>
            <a:off x="7755484"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 · 병원명 검색, 권역 · 위험도별 필터</a:t>
            </a:r>
          </a:p>
        </p:txBody>
      </p:sp>
      <p:sp>
        <p:nvSpPr>
          <p:cNvPr id="3050" name="W 3050"/>
          <p:cNvSpPr/>
          <p:nvPr/>
        </p:nvSpPr>
        <p:spPr>
          <a:xfrm>
            <a:off x="3154680"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51" name="W 3051"/>
          <p:cNvSpPr/>
          <p:nvPr/>
        </p:nvSpPr>
        <p:spPr>
          <a:xfrm>
            <a:off x="3319272"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52" name="Picture 3051" descr="f_hosp.png"/>
          <p:cNvPicPr>
            <a:picLocks noChangeAspect="1"/>
          </p:cNvPicPr>
          <p:nvPr/>
        </p:nvPicPr>
        <p:blipFill>
          <a:blip r:embed="rId7"/>
          <a:stretch>
            <a:fillRect/>
          </a:stretch>
        </p:blipFill>
        <p:spPr>
          <a:xfrm>
            <a:off x="4171375" y="4416552"/>
            <a:ext cx="2165077" cy="1024128"/>
          </a:xfrm>
          <a:prstGeom prst="rect">
            <a:avLst/>
          </a:prstGeom>
        </p:spPr>
      </p:pic>
      <p:sp>
        <p:nvSpPr>
          <p:cNvPr id="3052" name="W 3052"/>
          <p:cNvSpPr txBox="1"/>
          <p:nvPr/>
        </p:nvSpPr>
        <p:spPr>
          <a:xfrm>
            <a:off x="3374136"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병원별 가용병상</a:t>
            </a:r>
          </a:p>
        </p:txBody>
      </p:sp>
      <p:sp>
        <p:nvSpPr>
          <p:cNvPr id="3053" name="W 3053"/>
          <p:cNvSpPr txBox="1"/>
          <p:nvPr/>
        </p:nvSpPr>
        <p:spPr>
          <a:xfrm>
            <a:off x="3374136" y="5879592"/>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자치구별 병원 가용병상 · 연락처 · 갱신 시각</a:t>
            </a:r>
          </a:p>
        </p:txBody>
      </p:sp>
      <p:sp>
        <p:nvSpPr>
          <p:cNvPr id="3054" name="W 3054"/>
          <p:cNvSpPr/>
          <p:nvPr/>
        </p:nvSpPr>
        <p:spPr>
          <a:xfrm>
            <a:off x="7536028"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55" name="W 3055"/>
          <p:cNvSpPr txBox="1"/>
          <p:nvPr/>
        </p:nvSpPr>
        <p:spPr>
          <a:xfrm>
            <a:off x="7755484" y="4315968"/>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위험도 기준</a:t>
            </a:r>
          </a:p>
        </p:txBody>
      </p:sp>
      <p:sp>
        <p:nvSpPr>
          <p:cNvPr id="3056" name="W 3056"/>
          <p:cNvSpPr txBox="1"/>
          <p:nvPr/>
        </p:nvSpPr>
        <p:spPr>
          <a:xfrm>
            <a:off x="7755484" y="46085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 가용병상 합계 기준 · 1시간 간격 갱신 (일 최대 3회)</a:t>
            </a:r>
          </a:p>
        </p:txBody>
      </p:sp>
      <p:sp>
        <p:nvSpPr>
          <p:cNvPr id="3057" name="W 3057"/>
          <p:cNvSpPr/>
          <p:nvPr/>
        </p:nvSpPr>
        <p:spPr>
          <a:xfrm>
            <a:off x="7755484" y="4983480"/>
            <a:ext cx="1143457" cy="365760"/>
          </a:xfrm>
          <a:prstGeom prst="roundRect">
            <a:avLst>
              <a:gd name="adj" fmla="val 50000"/>
            </a:avLst>
          </a:prstGeom>
          <a:solidFill>
            <a:srgbClr val="D62828"/>
          </a:solidFill>
          <a:ln>
            <a:noFill/>
          </a:ln>
          <a:effectLst>
            <a:outerShdw blurRad="38100" dist="25400" dir="5400000" algn="t" rotWithShape="0">
              <a:srgbClr val="000000">
                <a:alpha val="8000"/>
              </a:srgbClr>
            </a:outerShdw>
          </a:effectLst>
        </p:spPr>
        <p:txBody>
          <a:bodyPr/>
          <a:p/>
        </p:txBody>
      </p:sp>
      <p:sp>
        <p:nvSpPr>
          <p:cNvPr id="3058" name="W 3058"/>
          <p:cNvSpPr txBox="1"/>
          <p:nvPr/>
        </p:nvSpPr>
        <p:spPr>
          <a:xfrm>
            <a:off x="7755484" y="4983480"/>
            <a:ext cx="1143457" cy="365760"/>
          </a:xfrm>
          <a:prstGeom prst="rect">
            <a:avLst/>
          </a:prstGeom>
          <a:noFill/>
        </p:spPr>
        <p:txBody>
          <a:bodyPr wrap="square" lIns="0" tIns="0" rIns="0" bIns="0" rtlCol="0" anchor="ctr"/>
          <a:lstStyle/>
          <a:p>
            <a:pPr algn="ctr"/>
            <a:r>
              <a:rPr lang="ko-KR" sz="1150" b="1" dirty="0">
                <a:solidFill>
                  <a:srgbClr val="FFFFFF"/>
                </a:solidFill>
                <a:latin typeface="에이투지체 5 Medium"/>
                <a:ea typeface="에이투지체 5 Medium"/>
                <a:cs typeface="에이투지체 5 Medium"/>
              </a:rPr>
              <a:t>위험</a:t>
            </a:r>
          </a:p>
        </p:txBody>
      </p:sp>
      <p:sp>
        <p:nvSpPr>
          <p:cNvPr id="3059" name="W 3059"/>
          <p:cNvSpPr txBox="1"/>
          <p:nvPr/>
        </p:nvSpPr>
        <p:spPr>
          <a:xfrm>
            <a:off x="7755484"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5석 이하</a:t>
            </a:r>
          </a:p>
        </p:txBody>
      </p:sp>
      <p:sp>
        <p:nvSpPr>
          <p:cNvPr id="3060" name="W 3060"/>
          <p:cNvSpPr/>
          <p:nvPr/>
        </p:nvSpPr>
        <p:spPr>
          <a:xfrm>
            <a:off x="9008669" y="4983480"/>
            <a:ext cx="1143457" cy="365760"/>
          </a:xfrm>
          <a:prstGeom prst="roundRect">
            <a:avLst>
              <a:gd name="adj" fmla="val 50000"/>
            </a:avLst>
          </a:prstGeom>
          <a:solidFill>
            <a:srgbClr val="FDE3E3"/>
          </a:solidFill>
          <a:ln>
            <a:noFill/>
          </a:ln>
          <a:effectLst>
            <a:outerShdw blurRad="38100" dist="25400" dir="5400000" algn="t" rotWithShape="0">
              <a:srgbClr val="000000">
                <a:alpha val="8000"/>
              </a:srgbClr>
            </a:outerShdw>
          </a:effectLst>
        </p:spPr>
        <p:txBody>
          <a:bodyPr/>
          <a:p/>
        </p:txBody>
      </p:sp>
      <p:sp>
        <p:nvSpPr>
          <p:cNvPr id="3061" name="W 3061"/>
          <p:cNvSpPr txBox="1"/>
          <p:nvPr/>
        </p:nvSpPr>
        <p:spPr>
          <a:xfrm>
            <a:off x="9008669" y="4983480"/>
            <a:ext cx="1143457" cy="365760"/>
          </a:xfrm>
          <a:prstGeom prst="rect">
            <a:avLst/>
          </a:prstGeom>
          <a:noFill/>
        </p:spPr>
        <p:txBody>
          <a:bodyPr wrap="square" lIns="0" tIns="0" rIns="0" bIns="0" rtlCol="0" anchor="ctr"/>
          <a:lstStyle/>
          <a:p>
            <a:pPr algn="ctr"/>
            <a:r>
              <a:rPr lang="ko-KR" sz="1150" b="1" dirty="0">
                <a:solidFill>
                  <a:srgbClr val="8A1414"/>
                </a:solidFill>
                <a:latin typeface="에이투지체 5 Medium"/>
                <a:ea typeface="에이투지체 5 Medium"/>
                <a:cs typeface="에이투지체 5 Medium"/>
              </a:rPr>
              <a:t>주의</a:t>
            </a:r>
          </a:p>
        </p:txBody>
      </p:sp>
      <p:sp>
        <p:nvSpPr>
          <p:cNvPr id="3062" name="W 3062"/>
          <p:cNvSpPr txBox="1"/>
          <p:nvPr/>
        </p:nvSpPr>
        <p:spPr>
          <a:xfrm>
            <a:off x="9008669"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10석 이하</a:t>
            </a:r>
          </a:p>
        </p:txBody>
      </p:sp>
      <p:sp>
        <p:nvSpPr>
          <p:cNvPr id="3063" name="W 3063"/>
          <p:cNvSpPr/>
          <p:nvPr/>
        </p:nvSpPr>
        <p:spPr>
          <a:xfrm>
            <a:off x="10261854" y="4983480"/>
            <a:ext cx="1143457" cy="365760"/>
          </a:xfrm>
          <a:prstGeom prst="roundRect">
            <a:avLst>
              <a:gd name="adj" fmla="val 50000"/>
            </a:avLst>
          </a:prstGeom>
          <a:solidFill>
            <a:srgbClr val="F2F3F5"/>
          </a:solidFill>
          <a:ln>
            <a:noFill/>
          </a:ln>
          <a:effectLst>
            <a:outerShdw blurRad="38100" dist="25400" dir="5400000" algn="t" rotWithShape="0">
              <a:srgbClr val="000000">
                <a:alpha val="8000"/>
              </a:srgbClr>
            </a:outerShdw>
          </a:effectLst>
        </p:spPr>
        <p:txBody>
          <a:bodyPr/>
          <a:p/>
        </p:txBody>
      </p:sp>
      <p:sp>
        <p:nvSpPr>
          <p:cNvPr id="3064" name="W 3064"/>
          <p:cNvSpPr txBox="1"/>
          <p:nvPr/>
        </p:nvSpPr>
        <p:spPr>
          <a:xfrm>
            <a:off x="10261854" y="4983480"/>
            <a:ext cx="1143457" cy="365760"/>
          </a:xfrm>
          <a:prstGeom prst="rect">
            <a:avLst/>
          </a:prstGeom>
          <a:noFill/>
        </p:spPr>
        <p:txBody>
          <a:bodyPr wrap="square" lIns="0" tIns="0" rIns="0" bIns="0" rtlCol="0" anchor="ctr"/>
          <a:lstStyle/>
          <a:p>
            <a:pPr algn="ctr"/>
            <a:r>
              <a:rPr lang="ko-KR" sz="1150" b="1" dirty="0">
                <a:solidFill>
                  <a:srgbClr val="45515E"/>
                </a:solidFill>
                <a:latin typeface="에이투지체 5 Medium"/>
                <a:ea typeface="에이투지체 5 Medium"/>
                <a:cs typeface="에이투지체 5 Medium"/>
              </a:rPr>
              <a:t>원활</a:t>
            </a:r>
          </a:p>
        </p:txBody>
      </p:sp>
      <p:sp>
        <p:nvSpPr>
          <p:cNvPr id="3065" name="W 3065"/>
          <p:cNvSpPr txBox="1"/>
          <p:nvPr/>
        </p:nvSpPr>
        <p:spPr>
          <a:xfrm>
            <a:off x="10261854"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11석 이상</a:t>
            </a:r>
          </a:p>
        </p:txBody>
      </p:sp>
      <p:sp>
        <p:nvSpPr>
          <p:cNvPr id="3066" name="W 3066"/>
          <p:cNvSpPr txBox="1"/>
          <p:nvPr/>
        </p:nvSpPr>
        <p:spPr>
          <a:xfrm>
            <a:off x="7755484" y="5760720"/>
            <a:ext cx="3759556" cy="274320"/>
          </a:xfrm>
          <a:prstGeom prst="rect">
            <a:avLst/>
          </a:prstGeom>
          <a:noFill/>
        </p:spPr>
        <p:txBody>
          <a:bodyPr wrap="square" lIns="0" tIns="0" rIns="0" bIns="0" rtlCol="0" anchor="ctr"/>
          <a:lstStyle/>
          <a:p>
            <a:pPr algn="l"/>
            <a:r>
              <a:rPr lang="ko-KR" sz="900" dirty="0">
                <a:solidFill>
                  <a:srgbClr val="8E8E93"/>
                </a:solidFill>
                <a:latin typeface="에이투지체 5 Medium"/>
                <a:ea typeface="에이투지체 5 Medium"/>
                <a:cs typeface="에이투지체 5 Medium"/>
              </a:rPr>
              <a:t>※ 강북 · 마포: 실시간 API 미제공 → 등록 병상 · 인접 구 정보 제공</a:t>
            </a:r>
          </a:p>
        </p:txBody>
      </p:sp>
    </p:spTree>
    <p:extLst>
      <p:ext uri="{BB962C8B-B14F-4D97-AF65-F5344CB8AC3E}">
        <p14:creationId xmlns:p14="http://schemas.microsoft.com/office/powerpoint/2010/main" val="4063849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Words>
  <Application>Microsoft Office PowerPoint</Application>
  <PresentationFormat>와이드스크린</PresentationFormat>
  <Paragraphs>85</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vt:i4>
      </vt:variant>
    </vt:vector>
  </HeadingPairs>
  <TitlesOfParts>
    <vt:vector size="9" baseType="lpstr">
      <vt:lpstr>맑은 고딕</vt:lpstr>
      <vt:lpstr>에이투지체 4 Regular</vt:lpstr>
      <vt:lpstr>에이투지체 5 Medium</vt:lpstr>
      <vt:lpstr>에이투지체 6 SemiBold</vt:lpstr>
      <vt:lpstr>Arial</vt:lpstr>
      <vt:lpstr>Office 테마</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Admin</dc:creator>
  <cp:lastModifiedBy>Admin</cp:lastModifiedBy>
  <cp:revision>1</cp:revision>
  <dcterms:created xsi:type="dcterms:W3CDTF">2026-10-02T03:53:11Z</dcterms:created>
  <dcterms:modified xsi:type="dcterms:W3CDTF">2026-10-02T03:53:28Z</dcterms:modified>
</cp:coreProperties>
</file>