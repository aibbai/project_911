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0984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에이투지체 4 Regular" pitchFamily="50" charset="-127"/>
                <a:ea typeface="에이투지체 4 Regular" pitchFamily="50" charset="-127"/>
                <a:cs typeface="Pretendard SemiBold" pitchFamily="34" charset="-120"/>
              </a:rPr>
              <a:t>02  데이터 수집 및 분석</a:t>
            </a:r>
            <a:endParaRPr lang="en-US" sz="1200" dirty="0">
              <a:latin typeface="에이투지체 4 Regular" pitchFamily="50" charset="-127"/>
              <a:ea typeface="에이투지체 4 Regular" pitchFamily="50" charset="-12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768096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40" dirty="0">
                <a:ln w="15875">
                  <a:solidFill>
                    <a:srgbClr val="222222"/>
                  </a:solidFill>
                </a:ln>
                <a:solidFill>
                  <a:srgbClr val="222222"/>
                </a:solidFill>
                <a:latin typeface="에이투지체 7 Bold" pitchFamily="50" charset="-127"/>
                <a:ea typeface="에이투지체 7 Bold" pitchFamily="50" charset="-127"/>
                <a:cs typeface="Pretendard Black" pitchFamily="34" charset="-120"/>
              </a:rPr>
              <a:t>1. 데이터 수집 개요</a:t>
            </a:r>
            <a:endParaRPr lang="en-US" sz="3600" b="1" dirty="0">
              <a:latin typeface="에이투지체 7 Bold" pitchFamily="50" charset="-127"/>
              <a:ea typeface="에이투지체 7 Bold" pitchFamily="50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1444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n w="7620">
                  <a:solidFill>
                    <a:srgbClr val="3A3A3F"/>
                  </a:solidFill>
                </a:ln>
                <a:solidFill>
                  <a:srgbClr val="3A3A3F"/>
                </a:solidFill>
                <a:latin typeface="에이투지체 5 Medium" pitchFamily="50" charset="-127"/>
                <a:ea typeface="에이투지체 5 Medium" pitchFamily="50" charset="-127"/>
                <a:cs typeface="Pretendard Black" pitchFamily="34" charset="-120"/>
              </a:rPr>
              <a:t>1-1 주요 데이터 4종을 학습 데이터로 통합</a:t>
            </a:r>
            <a:endParaRPr lang="en-US" sz="16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5" name="HeroKPI"/>
          <p:cNvSpPr/>
          <p:nvPr/>
        </p:nvSpPr>
        <p:spPr>
          <a:xfrm>
            <a:off x="457200" y="1993392"/>
            <a:ext cx="2682164" cy="1828800"/>
          </a:xfrm>
          <a:prstGeom prst="roundRect">
            <a:avLst>
              <a:gd name="adj" fmla="val 7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  <a:effectLst>
            <a:outerShdw blurRad="95250" dist="50800" dir="5400000" algn="bl" rotWithShape="0">
              <a:srgbClr val="8A1414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76656" y="2176272"/>
            <a:ext cx="22432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FFFFFF"/>
                </a:solidFill>
                <a:latin typeface="에이투지체 5 Medium" pitchFamily="50" charset="-127"/>
                <a:ea typeface="에이투지체 5 Medium" pitchFamily="50" charset="-127"/>
                <a:cs typeface="Pretendard Black" pitchFamily="34" charset="-120"/>
              </a:rPr>
              <a:t>14종</a:t>
            </a:r>
            <a:endParaRPr lang="en-US" sz="36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76656" y="2779776"/>
            <a:ext cx="2243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에이투지체 5 Medium" pitchFamily="50" charset="-127"/>
                <a:ea typeface="에이투지체 5 Medium" pitchFamily="50" charset="-127"/>
                <a:cs typeface="Pretendard" pitchFamily="34" charset="-120"/>
              </a:rPr>
              <a:t>수집한 원본 데이터</a:t>
            </a:r>
            <a:endParaRPr lang="en-US" sz="14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76656" y="3182112"/>
            <a:ext cx="2243252" cy="0"/>
          </a:xfrm>
          <a:prstGeom prst="line">
            <a:avLst/>
          </a:prstGeom>
          <a:noFill/>
          <a:ln w="9525">
            <a:solidFill>
              <a:srgbClr val="E87A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" y="3291840"/>
            <a:ext cx="22432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FDE3E3"/>
                </a:solidFill>
                <a:latin typeface="에이투지체 5 Medium" pitchFamily="50" charset="-127"/>
                <a:ea typeface="에이투지체 5 Medium" pitchFamily="50" charset="-127"/>
                <a:cs typeface="Pretendard Medium" pitchFamily="34" charset="-120"/>
              </a:rPr>
              <a:t>구급·병상 API · CSV · XLSX</a:t>
            </a:r>
            <a:endParaRPr lang="en-US" sz="11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10" name="KPI1"/>
          <p:cNvSpPr/>
          <p:nvPr/>
        </p:nvSpPr>
        <p:spPr>
          <a:xfrm>
            <a:off x="3322244" y="1993392"/>
            <a:ext cx="26821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41700" y="2176272"/>
            <a:ext cx="22432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D62828"/>
                </a:solidFill>
                <a:latin typeface="에이투지체 5 Medium" pitchFamily="50" charset="-127"/>
                <a:ea typeface="에이투지체 5 Medium" pitchFamily="50" charset="-127"/>
                <a:cs typeface="Pretendard Black" pitchFamily="34" charset="-120"/>
              </a:rPr>
              <a:t>4종</a:t>
            </a:r>
            <a:endParaRPr lang="en-US" sz="36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541700" y="2779776"/>
            <a:ext cx="2243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 pitchFamily="50" charset="-127"/>
                <a:ea typeface="에이투지체 5 Medium" pitchFamily="50" charset="-127"/>
                <a:cs typeface="Pretendard" pitchFamily="34" charset="-120"/>
              </a:rPr>
              <a:t>학습 데이터로 통합</a:t>
            </a:r>
            <a:endParaRPr lang="en-US" sz="14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541700" y="3182112"/>
            <a:ext cx="22432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41700" y="3291840"/>
            <a:ext cx="22432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 pitchFamily="50" charset="-127"/>
                <a:ea typeface="에이투지체 5 Medium" pitchFamily="50" charset="-127"/>
                <a:cs typeface="Pretendard Medium" pitchFamily="34" charset="-120"/>
              </a:rPr>
              <a:t>이송 · 생활인구 · 사고원인 · 의료이용</a:t>
            </a:r>
            <a:endParaRPr lang="en-US" sz="11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15" name="KPI2"/>
          <p:cNvSpPr/>
          <p:nvPr/>
        </p:nvSpPr>
        <p:spPr>
          <a:xfrm>
            <a:off x="6187288" y="1993392"/>
            <a:ext cx="26821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6744" y="2176272"/>
            <a:ext cx="22432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D62828"/>
                </a:solidFill>
                <a:latin typeface="에이투지체 5 Medium" pitchFamily="50" charset="-127"/>
                <a:ea typeface="에이투지체 5 Medium" pitchFamily="50" charset="-127"/>
                <a:cs typeface="Pretendard Black" pitchFamily="34" charset="-120"/>
              </a:rPr>
              <a:t>108개월</a:t>
            </a:r>
            <a:endParaRPr lang="en-US" sz="36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406744" y="2779776"/>
            <a:ext cx="2243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 pitchFamily="50" charset="-127"/>
                <a:ea typeface="에이투지체 5 Medium" pitchFamily="50" charset="-127"/>
                <a:cs typeface="Pretendard" pitchFamily="34" charset="-120"/>
              </a:rPr>
              <a:t>이송 건수 기록</a:t>
            </a:r>
            <a:endParaRPr lang="en-US" sz="14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6744" y="3182112"/>
            <a:ext cx="22432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6744" y="3291840"/>
            <a:ext cx="22432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 pitchFamily="50" charset="-127"/>
                <a:ea typeface="에이투지체 5 Medium" pitchFamily="50" charset="-127"/>
                <a:cs typeface="Pretendard Medium" pitchFamily="34" charset="-120"/>
              </a:rPr>
              <a:t>2017.01 ~ 2025.12, 월 단위</a:t>
            </a:r>
            <a:endParaRPr lang="en-US" sz="11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20" name="KPI3"/>
          <p:cNvSpPr/>
          <p:nvPr/>
        </p:nvSpPr>
        <p:spPr>
          <a:xfrm>
            <a:off x="9052331" y="1993392"/>
            <a:ext cx="26821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271787" y="2176272"/>
            <a:ext cx="22432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kern="0" spc="-108" dirty="0">
                <a:solidFill>
                  <a:srgbClr val="D62828"/>
                </a:solidFill>
                <a:latin typeface="에이투지체 5 Medium" pitchFamily="50" charset="-127"/>
                <a:ea typeface="에이투지체 5 Medium" pitchFamily="50" charset="-127"/>
                <a:cs typeface="Pretendard Black" pitchFamily="34" charset="-120"/>
              </a:rPr>
              <a:t>25개 구</a:t>
            </a:r>
            <a:endParaRPr lang="en-US" sz="36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271787" y="2779776"/>
            <a:ext cx="2243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에이투지체 5 Medium" pitchFamily="50" charset="-127"/>
                <a:ea typeface="에이투지체 5 Medium" pitchFamily="50" charset="-127"/>
                <a:cs typeface="Pretendard" pitchFamily="34" charset="-120"/>
              </a:rPr>
              <a:t>분석 단위</a:t>
            </a:r>
            <a:endParaRPr lang="en-US" sz="14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271787" y="3182112"/>
            <a:ext cx="224325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71787" y="3291840"/>
            <a:ext cx="22432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에이투지체 5 Medium" pitchFamily="50" charset="-127"/>
                <a:ea typeface="에이투지체 5 Medium" pitchFamily="50" charset="-127"/>
                <a:cs typeface="Pretendard Medium" pitchFamily="34" charset="-120"/>
              </a:rPr>
              <a:t>서울 전체 자치구, 구 × 월 / 구 × 일</a:t>
            </a:r>
            <a:endParaRPr lang="en-US" sz="1100" dirty="0">
              <a:latin typeface="에이투지체 5 Medium" pitchFamily="50" charset="-127"/>
              <a:ea typeface="에이투지체 5 Medium" pitchFamily="50" charset="-127"/>
            </a:endParaRPr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785038"/>
              </p:ext>
            </p:extLst>
          </p:nvPr>
        </p:nvGraphicFramePr>
        <p:xfrm>
          <a:off x="457200" y="4121595"/>
          <a:ext cx="11277295" cy="206654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SemiBold" pitchFamily="34" charset="-120"/>
                        </a:rPr>
                        <a:t>데이터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SemiBol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SemiBold" pitchFamily="34" charset="-120"/>
                        </a:rPr>
                        <a:t>출처 · 수집 방법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SemiBol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SemiBold" pitchFamily="34" charset="-120"/>
                        </a:rPr>
                        <a:t>기간 · 단위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SemiBol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62828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SemiBold" pitchFamily="34" charset="-120"/>
                        </a:rPr>
                        <a:t>분석에서의 역할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SemiBol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" pitchFamily="34" charset="-120"/>
                        </a:rPr>
                        <a:t>119 구급활동 통계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Medium" pitchFamily="34" charset="-120"/>
                        </a:rPr>
                        <a:t>소방청 구급통계서비스 OpenAPI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Medium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Medium" pitchFamily="34" charset="-120"/>
                        </a:rPr>
                        <a:t>2017.01~2025.12 · 구 × 월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Medium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" pitchFamily="34" charset="-120"/>
                        </a:rPr>
                        <a:t>이송 건수(예측 대상) · 계절성 · 추세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" pitchFamily="34" charset="-120"/>
                        </a:rPr>
                        <a:t>서울 생활인구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Medium" pitchFamily="34" charset="-120"/>
                        </a:rPr>
                        <a:t>자치구단위 서울생활인구 일별 집계표 CSV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Medium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Medium" pitchFamily="34" charset="-120"/>
                        </a:rPr>
                        <a:t>2018.04~2026.07 · 구 × 일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Medium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" pitchFamily="34" charset="-120"/>
                        </a:rPr>
                        <a:t>인구 밀집 예측 대상 · 이송 가중치 산출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" pitchFamily="34" charset="-120"/>
                        </a:rPr>
                        <a:t>119 구조활동 실적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Medium" pitchFamily="34" charset="-120"/>
                        </a:rPr>
                        <a:t>서울 구별 구조활동 실적 CSV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Medium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Medium" pitchFamily="34" charset="-120"/>
                        </a:rPr>
                        <a:t>2006~2025 · 구 × 연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Medium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" pitchFamily="34" charset="-120"/>
                        </a:rPr>
                        <a:t>사고 원인 키워드 · 트렌드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" pitchFamily="34" charset="-120"/>
                        </a:rPr>
                        <a:t>의료이용 유출입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Medium" pitchFamily="34" charset="-120"/>
                        </a:rPr>
                        <a:t>의료이용 유출입 데이터 XLSX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Medium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 Medium" pitchFamily="34" charset="-120"/>
                        </a:rPr>
                        <a:t>2019~2024 · 구 × 연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 Medium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에이투지체 5 Medium" pitchFamily="50" charset="-127"/>
                          <a:ea typeface="에이투지체 5 Medium" pitchFamily="50" charset="-127"/>
                          <a:cs typeface="Pretendard" pitchFamily="34" charset="-120"/>
                        </a:rPr>
                        <a:t>지역 의료 수요 · 공급 참고</a:t>
                      </a:r>
                      <a:endParaRPr lang="en-US" sz="1200" dirty="0">
                        <a:latin typeface="에이투지체 5 Medium" pitchFamily="50" charset="-127"/>
                        <a:ea typeface="에이투지체 5 Medium" pitchFamily="50" charset="-127"/>
                        <a:cs typeface="Pretendard" charset="0"/>
                      </a:endParaRPr>
                    </a:p>
                  </a:txBody>
                  <a:tcPr marL="155448" marR="15544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457200" y="6371019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에이투지체 4 Regular" pitchFamily="50" charset="-127"/>
                <a:ea typeface="에이투지체 4 Regular" pitchFamily="50" charset="-127"/>
                <a:cs typeface="Pretendard Medium" pitchFamily="34" charset="-120"/>
              </a:rPr>
              <a:t>출처: 소방청 구급통계서비스 OpenAPI · 서울 생활인구 · 서울 구조활동 실적 · 의료이용 유출입 데이터</a:t>
            </a:r>
            <a:endParaRPr lang="en-US" sz="900" dirty="0">
              <a:latin typeface="에이투지체 4 Regular" pitchFamily="50" charset="-127"/>
              <a:ea typeface="에이투지체 4 Regular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Black"/>
        <a:ea typeface="Pretendard Black"/>
        <a:cs typeface="Pretendard Black"/>
        <a:font script="Jpan" typeface="游ゴシック Light"/>
        <a:font script="Hang" typeface="Pretendard Black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Medium"/>
        <a:ea typeface="Pretendard Medium"/>
        <a:cs typeface="Pretendard Medium"/>
        <a:font script="Jpan" typeface="游ゴシック"/>
        <a:font script="Hang" typeface="Pretendard Medium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173</Words>
  <Application>Microsoft Office PowerPoint</Application>
  <PresentationFormat>와이드스크린</PresentationFormat>
  <Paragraphs>37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Pretendard</vt:lpstr>
      <vt:lpstr>Pretendard Black</vt:lpstr>
      <vt:lpstr>Pretendard Medium</vt:lpstr>
      <vt:lpstr>Pretendard SemiBold</vt:lpstr>
      <vt:lpstr>맑은 고딕</vt:lpstr>
      <vt:lpstr>에이투지체 4 Regular</vt:lpstr>
      <vt:lpstr>에이투지체 5 Medium</vt:lpstr>
      <vt:lpstr>에이투지체 7 Bold</vt:lpstr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2</cp:revision>
  <dcterms:created xsi:type="dcterms:W3CDTF">2026-09-30T08:16:33Z</dcterms:created>
  <dcterms:modified xsi:type="dcterms:W3CDTF">2026-09-30T08:20:14Z</dcterms:modified>
</cp:coreProperties>
</file>