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49" autoAdjust="0"/>
  </p:normalViewPr>
  <p:slideViewPr>
    <p:cSldViewPr snapToGrid="0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night_pop ×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이송 건수 상관계수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모두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p &lt; 0.05)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night_pop r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1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전체 (피어슨)</c:v>
                </c:pt>
                <c:pt idx="1">
                  <c:v>전체 (스피어만)</c:v>
                </c:pt>
                <c:pt idx="2">
                  <c:v>자치구 간</c:v>
                </c:pt>
                <c:pt idx="3">
                  <c:v>자치구 내</c:v>
                </c:pt>
                <c:pt idx="4">
                  <c:v>자치구 내 (계절 제거)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0.69399999999999995</c:v>
                </c:pt>
                <c:pt idx="1">
                  <c:v>0.69899999999999995</c:v>
                </c:pt>
                <c:pt idx="2">
                  <c:v>0.80400000000000005</c:v>
                </c:pt>
                <c:pt idx="3">
                  <c:v>0.23</c:v>
                </c:pt>
                <c:pt idx="4">
                  <c:v>0.30599999999999999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4C-4AB5-B464-6B9C0B66F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6374227"/>
        <c:axId val="37454021"/>
      </c:barChart>
      <c:catAx>
        <c:axId val="5637422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7454021"/>
        <c:crosses val="autoZero"/>
        <c:auto val="1"/>
        <c:lblAlgn val="ctr"/>
        <c:lblOffset val="100"/>
        <c:noMultiLvlLbl val="0"/>
      </c:catAx>
      <c:valAx>
        <c:axId val="37454021"/>
        <c:scaling>
          <c:orientation val="minMax"/>
          <c:max val="1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6374227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시계열 분해 성분별 상관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구 평균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성분 상관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원본</c:v>
                </c:pt>
                <c:pt idx="1">
                  <c:v>추세</c:v>
                </c:pt>
                <c:pt idx="2">
                  <c:v>계절</c:v>
                </c:pt>
                <c:pt idx="3">
                  <c:v>잔차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0.19</c:v>
                </c:pt>
                <c:pt idx="1">
                  <c:v>0.17</c:v>
                </c:pt>
                <c:pt idx="2">
                  <c:v>-0.4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E-4B18-8CC0-887CB9800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14311576"/>
        <c:axId val="67849292"/>
      </c:barChart>
      <c:catAx>
        <c:axId val="143115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67849292"/>
        <c:crosses val="autoZero"/>
        <c:auto val="1"/>
        <c:lblAlgn val="ctr"/>
        <c:lblOffset val="100"/>
        <c:noMultiLvlLbl val="0"/>
      </c:catAx>
      <c:valAx>
        <c:axId val="67849292"/>
        <c:scaling>
          <c:orientation val="minMax"/>
          <c:max val="0.4"/>
          <c:min val="-0.6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4311576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시차별 상관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자치구 내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·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계절 제거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상관계수</c:v>
                </c:pt>
              </c:strCache>
            </c:strRef>
          </c:tx>
          <c:spPr>
            <a:ln w="31680">
              <a:solidFill>
                <a:srgbClr val="2F5D8A"/>
              </a:solidFill>
              <a:round/>
            </a:ln>
          </c:spPr>
          <c:marker>
            <c:symbol val="circle"/>
            <c:size val="8"/>
            <c:spPr>
              <a:solidFill>
                <a:srgbClr val="2F5D8A"/>
              </a:solidFill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1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당월</c:v>
                </c:pt>
                <c:pt idx="1">
                  <c:v>1개월 전</c:v>
                </c:pt>
                <c:pt idx="2">
                  <c:v>2개월 전</c:v>
                </c:pt>
                <c:pt idx="3">
                  <c:v>3개월 전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0.30599999999999999</c:v>
                </c:pt>
                <c:pt idx="1">
                  <c:v>0.26100000000000001</c:v>
                </c:pt>
                <c:pt idx="2">
                  <c:v>0.216</c:v>
                </c:pt>
                <c:pt idx="3">
                  <c:v>0.16300000000000001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6E-4E35-8C62-D50F986503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59628507"/>
        <c:axId val="32593681"/>
      </c:lineChart>
      <c:catAx>
        <c:axId val="596285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2593681"/>
        <c:crosses val="autoZero"/>
        <c:auto val="1"/>
        <c:lblAlgn val="ctr"/>
        <c:lblOffset val="100"/>
        <c:noMultiLvlLbl val="0"/>
      </c:catAx>
      <c:valAx>
        <c:axId val="32593681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9628507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특성 조합별 검증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 · 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기준선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지난달 값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 92.74%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LinearRegression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84.39</c:v>
                </c:pt>
                <c:pt idx="1">
                  <c:v>83.37</c:v>
                </c:pt>
                <c:pt idx="2">
                  <c:v>83.29</c:v>
                </c:pt>
                <c:pt idx="3">
                  <c:v>94.34</c:v>
                </c:pt>
                <c:pt idx="4">
                  <c:v>94.45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4-4396-880E-8109C98C8F1F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80.680000000000007</c:v>
                </c:pt>
                <c:pt idx="1">
                  <c:v>85.83</c:v>
                </c:pt>
                <c:pt idx="2">
                  <c:v>87.4</c:v>
                </c:pt>
                <c:pt idx="3">
                  <c:v>94.17</c:v>
                </c:pt>
                <c:pt idx="4">
                  <c:v>94.1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F4-4396-880E-8109C98C8F1F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GradientBoosting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 계절</c:v>
                </c:pt>
                <c:pt idx="1">
                  <c:v>B +인구</c:v>
                </c:pt>
                <c:pt idx="2">
                  <c:v>C +이송률</c:v>
                </c:pt>
                <c:pt idx="3">
                  <c:v>D 이송이력</c:v>
                </c:pt>
                <c:pt idx="4">
                  <c:v>E 전체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82.96</c:v>
                </c:pt>
                <c:pt idx="1">
                  <c:v>87.21</c:v>
                </c:pt>
                <c:pt idx="2">
                  <c:v>88.03</c:v>
                </c:pt>
                <c:pt idx="3">
                  <c:v>94.96</c:v>
                </c:pt>
                <c:pt idx="4">
                  <c:v>94.79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F4-4396-880E-8109C98C8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53810291"/>
        <c:axId val="81543839"/>
      </c:barChart>
      <c:catAx>
        <c:axId val="5381029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81543839"/>
        <c:crosses val="autoZero"/>
        <c:auto val="1"/>
        <c:lblAlgn val="ctr"/>
        <c:lblOffset val="100"/>
        <c:noMultiLvlLbl val="0"/>
      </c:catAx>
      <c:valAx>
        <c:axId val="81543839"/>
        <c:scaling>
          <c:orientation val="minMax"/>
          <c:max val="97"/>
          <c:min val="78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3810291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설정별 검증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6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개월 연속 예측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 · 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평가 데이터 미사용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Ensemble(GB+Ridge)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93.885000000000005</c:v>
                </c:pt>
                <c:pt idx="1">
                  <c:v>94.611999999999995</c:v>
                </c:pt>
                <c:pt idx="2">
                  <c:v>94.225999999999999</c:v>
                </c:pt>
                <c:pt idx="3">
                  <c:v>94.47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6-4337-98AD-8203BF28AC03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GradientBoosting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93.426000000000002</c:v>
                </c:pt>
                <c:pt idx="1">
                  <c:v>94.353999999999999</c:v>
                </c:pt>
                <c:pt idx="2">
                  <c:v>93.570999999999998</c:v>
                </c:pt>
                <c:pt idx="3">
                  <c:v>91.747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6-4337-98AD-8203BF28AC03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92.497</c:v>
                </c:pt>
                <c:pt idx="1">
                  <c:v>92.51</c:v>
                </c:pt>
                <c:pt idx="2">
                  <c:v>93.662999999999997</c:v>
                </c:pt>
                <c:pt idx="3">
                  <c:v>87.227999999999994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76-4337-98AD-8203BF28AC03}"/>
            </c:ext>
          </c:extLst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DCE2E8"/>
            </a:solidFill>
            <a:ln w="0">
              <a:noFill/>
            </a:ln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기본</c:v>
                </c:pt>
                <c:pt idx="1">
                  <c:v>달력</c:v>
                </c:pt>
                <c:pt idx="2">
                  <c:v>증감량</c:v>
                </c:pt>
                <c:pt idx="3">
                  <c:v>달력+증감량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4"/>
                <c:pt idx="0">
                  <c:v>93.088999999999999</c:v>
                </c:pt>
                <c:pt idx="1">
                  <c:v>92.733999999999995</c:v>
                </c:pt>
                <c:pt idx="2">
                  <c:v>93.128</c:v>
                </c:pt>
                <c:pt idx="3">
                  <c:v>92.79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76-4337-98AD-8203BF28A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95398613"/>
        <c:axId val="65134812"/>
      </c:barChart>
      <c:catAx>
        <c:axId val="9539861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65134812"/>
        <c:crosses val="autoZero"/>
        <c:auto val="1"/>
        <c:lblAlgn val="ctr"/>
        <c:lblOffset val="100"/>
        <c:noMultiLvlLbl val="0"/>
      </c:catAx>
      <c:valAx>
        <c:axId val="65134812"/>
        <c:scaling>
          <c:orientation val="minMax"/>
          <c:max val="96"/>
          <c:min val="86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95398613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6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개월 연속 예측 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—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위에서부터 검증 순위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평가 6개월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DNN</c:v>
                </c:pt>
                <c:pt idx="1">
                  <c:v>DecisionTree</c:v>
                </c:pt>
                <c:pt idx="2">
                  <c:v>기준선(지난달 값)</c:v>
                </c:pt>
                <c:pt idx="3">
                  <c:v>RandomForest</c:v>
                </c:pt>
                <c:pt idx="4">
                  <c:v>Ridge</c:v>
                </c:pt>
                <c:pt idx="5">
                  <c:v>LinearRegression</c:v>
                </c:pt>
                <c:pt idx="6">
                  <c:v>GradientBoosting</c:v>
                </c:pt>
                <c:pt idx="7">
                  <c:v>Ensemble(GB+Ridge)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91.67</c:v>
                </c:pt>
                <c:pt idx="1">
                  <c:v>92.76</c:v>
                </c:pt>
                <c:pt idx="2">
                  <c:v>93.25</c:v>
                </c:pt>
                <c:pt idx="3">
                  <c:v>93.98</c:v>
                </c:pt>
                <c:pt idx="4">
                  <c:v>94.27</c:v>
                </c:pt>
                <c:pt idx="5">
                  <c:v>87.87</c:v>
                </c:pt>
                <c:pt idx="6">
                  <c:v>93.27</c:v>
                </c:pt>
                <c:pt idx="7">
                  <c:v>94.59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2-4C02-80C5-FA43D5C8BD02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검증 6개월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DNN</c:v>
                </c:pt>
                <c:pt idx="1">
                  <c:v>DecisionTree</c:v>
                </c:pt>
                <c:pt idx="2">
                  <c:v>기준선(지난달 값)</c:v>
                </c:pt>
                <c:pt idx="3">
                  <c:v>RandomForest</c:v>
                </c:pt>
                <c:pt idx="4">
                  <c:v>Ridge</c:v>
                </c:pt>
                <c:pt idx="5">
                  <c:v>LinearRegression</c:v>
                </c:pt>
                <c:pt idx="6">
                  <c:v>GradientBoosting</c:v>
                </c:pt>
                <c:pt idx="7">
                  <c:v>Ensemble(GB+Ridge)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88.29</c:v>
                </c:pt>
                <c:pt idx="1">
                  <c:v>91.45</c:v>
                </c:pt>
                <c:pt idx="2">
                  <c:v>91.82</c:v>
                </c:pt>
                <c:pt idx="3">
                  <c:v>92.51</c:v>
                </c:pt>
                <c:pt idx="4">
                  <c:v>92.73</c:v>
                </c:pt>
                <c:pt idx="5">
                  <c:v>92.78</c:v>
                </c:pt>
                <c:pt idx="6">
                  <c:v>94.35</c:v>
                </c:pt>
                <c:pt idx="7">
                  <c:v>94.61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62-4C02-80C5-FA43D5C8B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35600961"/>
        <c:axId val="17927139"/>
      </c:barChart>
      <c:catAx>
        <c:axId val="3560096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7927139"/>
        <c:crosses val="autoZero"/>
        <c:auto val="1"/>
        <c:lblAlgn val="ctr"/>
        <c:lblOffset val="100"/>
        <c:noMultiLvlLbl val="0"/>
      </c:catAx>
      <c:valAx>
        <c:axId val="17927139"/>
        <c:scaling>
          <c:orientation val="minMax"/>
          <c:max val="96"/>
          <c:min val="85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35600961"/>
        <c:crosses val="autoZero"/>
        <c:crossBetween val="between"/>
        <c:majorUnit val="2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정확도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(%) —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위에서부터 검증 순위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평가 (365일)</c:v>
                </c:pt>
              </c:strCache>
            </c:strRef>
          </c:tx>
          <c:spPr>
            <a:solidFill>
              <a:srgbClr val="B7C2CE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LinearRegression</c:v>
                </c:pt>
                <c:pt idx="1">
                  <c:v>Ridge</c:v>
                </c:pt>
                <c:pt idx="2">
                  <c:v>DecisionTree</c:v>
                </c:pt>
                <c:pt idx="3">
                  <c:v>기준선(7일 전 값)</c:v>
                </c:pt>
                <c:pt idx="4">
                  <c:v>DNN</c:v>
                </c:pt>
                <c:pt idx="5">
                  <c:v>GradientBoosting</c:v>
                </c:pt>
                <c:pt idx="6">
                  <c:v>RandomForest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97.11</c:v>
                </c:pt>
                <c:pt idx="1">
                  <c:v>97.11</c:v>
                </c:pt>
                <c:pt idx="2">
                  <c:v>97.48</c:v>
                </c:pt>
                <c:pt idx="3">
                  <c:v>97.54</c:v>
                </c:pt>
                <c:pt idx="4">
                  <c:v>97.76</c:v>
                </c:pt>
                <c:pt idx="5">
                  <c:v>97.97</c:v>
                </c:pt>
                <c:pt idx="6">
                  <c:v>98.16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91-481F-B23D-E138D1614D3C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검증 (180일)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LinearRegression</c:v>
                </c:pt>
                <c:pt idx="1">
                  <c:v>Ridge</c:v>
                </c:pt>
                <c:pt idx="2">
                  <c:v>DecisionTree</c:v>
                </c:pt>
                <c:pt idx="3">
                  <c:v>기준선(7일 전 값)</c:v>
                </c:pt>
                <c:pt idx="4">
                  <c:v>DNN</c:v>
                </c:pt>
                <c:pt idx="5">
                  <c:v>GradientBoosting</c:v>
                </c:pt>
                <c:pt idx="6">
                  <c:v>RandomForest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97.34</c:v>
                </c:pt>
                <c:pt idx="1">
                  <c:v>97.34</c:v>
                </c:pt>
                <c:pt idx="2">
                  <c:v>97.86</c:v>
                </c:pt>
                <c:pt idx="3">
                  <c:v>97.86</c:v>
                </c:pt>
                <c:pt idx="4">
                  <c:v>98.01</c:v>
                </c:pt>
                <c:pt idx="5">
                  <c:v>98.36</c:v>
                </c:pt>
                <c:pt idx="6">
                  <c:v>98.59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91-481F-B23D-E138D1614D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49107343"/>
        <c:axId val="48591767"/>
      </c:barChart>
      <c:catAx>
        <c:axId val="49107343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8591767"/>
        <c:crosses val="autoZero"/>
        <c:auto val="1"/>
        <c:lblAlgn val="ctr"/>
        <c:lblOffset val="100"/>
        <c:noMultiLvlLbl val="0"/>
      </c:catAx>
      <c:valAx>
        <c:axId val="48591767"/>
        <c:scaling>
          <c:orientation val="minMax"/>
          <c:max val="99"/>
          <c:min val="96.5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9107343"/>
        <c:crosses val="autoZero"/>
        <c:crossBetween val="between"/>
        <c:majorUnit val="0.5"/>
      </c:valAx>
      <c:spPr>
        <a:noFill/>
        <a:ln w="0">
          <a:noFill/>
        </a:ln>
      </c:spPr>
    </c:plotArea>
    <c:legend>
      <c:legendPos val="t"/>
      <c:layout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4A5260"/>
              </a:solidFill>
              <a:uFillTx/>
              <a:latin typeface="Pretendard"/>
              <a:ea typeface="Pretendard"/>
            </a:defRPr>
          </a:pPr>
          <a:endParaRPr lang="ko-KR"/>
        </a:p>
      </c:txPr>
    </c:legend>
    <c:plotVisOnly val="1"/>
    <c:dispBlanksAs val="span"/>
    <c:showDLblsOverMax val="1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119 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이송 건수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</a:t>
            </a:r>
            <a:r>
              <a:rPr 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GradientBoosting 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상위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10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전월_서울외유입인구수</c:v>
                </c:pt>
                <c:pt idx="1">
                  <c:v>전월_일최대인구수</c:v>
                </c:pt>
                <c:pt idx="2">
                  <c:v>명절연휴일수</c:v>
                </c:pt>
                <c:pt idx="3">
                  <c:v>전월_night_pop</c:v>
                </c:pt>
                <c:pt idx="4">
                  <c:v>전월_동일자치구행정동간이동인구수</c:v>
                </c:pt>
                <c:pt idx="5">
                  <c:v>주말수</c:v>
                </c:pt>
                <c:pt idx="6">
                  <c:v>일수</c:v>
                </c:pt>
                <c:pt idx="7">
                  <c:v>월(합계)</c:v>
                </c:pt>
                <c:pt idx="8">
                  <c:v>전년동월_transport_cnt</c:v>
                </c:pt>
                <c:pt idx="9">
                  <c:v>전월_transport_cnt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2E-3</c:v>
                </c:pt>
                <c:pt idx="1">
                  <c:v>2E-3</c:v>
                </c:pt>
                <c:pt idx="2">
                  <c:v>5.0000000000000001E-3</c:v>
                </c:pt>
                <c:pt idx="3">
                  <c:v>5.0000000000000001E-3</c:v>
                </c:pt>
                <c:pt idx="4">
                  <c:v>6.0000000000000001E-3</c:v>
                </c:pt>
                <c:pt idx="5">
                  <c:v>7.0000000000000001E-3</c:v>
                </c:pt>
                <c:pt idx="6">
                  <c:v>0.02</c:v>
                </c:pt>
                <c:pt idx="7">
                  <c:v>2.5999999999999999E-2</c:v>
                </c:pt>
                <c:pt idx="8">
                  <c:v>2.7E-2</c:v>
                </c:pt>
                <c:pt idx="9">
                  <c:v>0.89300000000000002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05-44C9-A406-34F754DC0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94095285"/>
        <c:axId val="20529096"/>
      </c:barChart>
      <c:catAx>
        <c:axId val="94095285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85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20529096"/>
        <c:crosses val="autoZero"/>
        <c:auto val="1"/>
        <c:lblAlgn val="ctr"/>
        <c:lblOffset val="100"/>
        <c:noMultiLvlLbl val="0"/>
      </c:catAx>
      <c:valAx>
        <c:axId val="20529096"/>
        <c:scaling>
          <c:orientation val="minMax"/>
          <c:max val="1"/>
          <c:min val="0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94095285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인구 밀집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RandomForest 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전체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9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중요도</c:v>
                </c:pt>
              </c:strCache>
            </c:strRef>
          </c:tx>
          <c:spPr>
            <a:solidFill>
              <a:srgbClr val="6B7685"/>
            </a:solidFill>
            <a:ln w="0">
              <a:noFill/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월(합계)</c:v>
                </c:pt>
                <c:pt idx="1">
                  <c:v>주말여부</c:v>
                </c:pt>
                <c:pt idx="2">
                  <c:v>요일(합계)</c:v>
                </c:pt>
                <c:pt idx="3">
                  <c:v>전일_동일자치구행정동간이동인구수</c:v>
                </c:pt>
                <c:pt idx="4">
                  <c:v>구(합계)</c:v>
                </c:pt>
                <c:pt idx="5">
                  <c:v>전일_일최대이동인구수</c:v>
                </c:pt>
                <c:pt idx="6">
                  <c:v>전일_pop_diff</c:v>
                </c:pt>
                <c:pt idx="7">
                  <c:v>전일_night_pop</c:v>
                </c:pt>
                <c:pt idx="8">
                  <c:v>7일전_일최대인구수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1E-3</c:v>
                </c:pt>
                <c:pt idx="1">
                  <c:v>2E-3</c:v>
                </c:pt>
                <c:pt idx="2">
                  <c:v>3.0000000000000001E-3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4.0000000000000001E-3</c:v>
                </c:pt>
                <c:pt idx="6">
                  <c:v>1.0999999999999999E-2</c:v>
                </c:pt>
                <c:pt idx="7">
                  <c:v>1.4E-2</c:v>
                </c:pt>
                <c:pt idx="8">
                  <c:v>0.96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D9-47F4-9A2D-C82D4333E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48521752"/>
        <c:axId val="5282433"/>
      </c:barChart>
      <c:catAx>
        <c:axId val="485217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85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5282433"/>
        <c:crosses val="autoZero"/>
        <c:auto val="1"/>
        <c:lblAlgn val="ctr"/>
        <c:lblOffset val="100"/>
        <c:noMultiLvlLbl val="0"/>
      </c:catAx>
      <c:valAx>
        <c:axId val="5282433"/>
        <c:scaling>
          <c:orientation val="minMax"/>
          <c:max val="1"/>
          <c:min val="0"/>
        </c:scaling>
        <c:delete val="0"/>
        <c:axPos val="b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48521752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미래 이송 건수 예측 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— 25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개 구 합계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(</a:t>
            </a:r>
            <a:r>
              <a:rPr lang="ko-KR" altLang="en-US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건</a:t>
            </a:r>
            <a:r>
              <a:rPr lang="en-US" altLang="ko-KR" sz="1200" b="0" u="none" strike="noStrike">
                <a:solidFill>
                  <a:srgbClr val="1F2329"/>
                </a:solidFill>
                <a:uFillTx/>
                <a:latin typeface="Pretendard"/>
                <a:ea typeface="Pretendard"/>
              </a:rPr>
              <a:t>)</a:t>
            </a:r>
          </a:p>
        </c:rich>
      </c:tx>
      <c:layout/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서울 합계</c:v>
                </c:pt>
              </c:strCache>
            </c:strRef>
          </c:tx>
          <c:spPr>
            <a:solidFill>
              <a:srgbClr val="2F5D8A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900" b="0" u="none" strike="noStrike">
                    <a:solidFill>
                      <a:srgbClr val="1F2329"/>
                    </a:solidFill>
                    <a:uFillTx/>
                    <a:latin typeface="Pretendard"/>
                    <a:ea typeface="Pretendard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23879</c:v>
                </c:pt>
                <c:pt idx="1">
                  <c:v>21643</c:v>
                </c:pt>
                <c:pt idx="2">
                  <c:v>22570</c:v>
                </c:pt>
                <c:pt idx="3">
                  <c:v>23048</c:v>
                </c:pt>
                <c:pt idx="4">
                  <c:v>25138</c:v>
                </c:pt>
                <c:pt idx="5">
                  <c:v>24980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6-4F2C-82EF-4E7485484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9991430"/>
        <c:axId val="83935056"/>
      </c:barChart>
      <c:catAx>
        <c:axId val="1999143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83935056"/>
        <c:crosses val="autoZero"/>
        <c:auto val="1"/>
        <c:lblAlgn val="ctr"/>
        <c:lblOffset val="100"/>
        <c:noMultiLvlLbl val="0"/>
      </c:catAx>
      <c:valAx>
        <c:axId val="83935056"/>
        <c:scaling>
          <c:orientation val="minMax"/>
          <c:max val="30000"/>
          <c:min val="0"/>
        </c:scaling>
        <c:delete val="0"/>
        <c:axPos val="l"/>
        <c:majorGridlines>
          <c:spPr>
            <a:ln w="9360">
              <a:solidFill>
                <a:srgbClr val="E3E6EA"/>
              </a:solidFill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900" b="0" u="none" strike="noStrike">
                <a:solidFill>
                  <a:srgbClr val="4A5260"/>
                </a:solidFill>
                <a:uFillTx/>
                <a:latin typeface="Pretendard"/>
                <a:ea typeface="Pretendard"/>
              </a:defRPr>
            </a:pPr>
            <a:endParaRPr lang="ko-KR"/>
          </a:p>
        </c:txPr>
        <c:crossAx val="19991430"/>
        <c:crosses val="autoZero"/>
        <c:crossBetween val="between"/>
        <c:majorUnit val="10000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075E22-737D-4156-BE10-8881B66CA2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발표는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03_119_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.ipynb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실제 실행 결과만으로 구성했습니다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변수 탐색 → 실험 → 특성 결정 → 모델 비교 → 최종 선정의 순서로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단계에서 무엇을 근거로 어떤 결정을 했는지를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8E86CE-BEEF-4A57-814B-01FD36179B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ko-KR" sz="2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예측 문제는 데이터 단위와 예측 주기가 다</a:t>
            </a:r>
            <a:r>
              <a:rPr lang="ko-KR" altLang="en-US" sz="2000" b="1" u="none" strike="noStrike" dirty="0" err="1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름</a:t>
            </a:r>
            <a:r>
              <a:rPr lang="en-US" altLang="ko-KR" sz="2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.</a:t>
            </a:r>
            <a:r>
              <a:rPr lang="en-US" altLang="ko-KR" sz="2000" b="1" u="none" strike="noStrike" baseline="0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같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은 서울시 자치구 데이터지만 이송 건수는 월 단위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인구 밀집은 일 단위입니다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그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래서 분할 기간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기준선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사용 특성이 모두 다릅니다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이송 건수는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개월을 이어서 예측하는 재귀 방식으로 성능을 측정했습니다</a:t>
            </a:r>
            <a:r>
              <a:rPr lang="en-US" sz="2000" b="0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 smtClean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건수는 자치구 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밀집은 자치구 </a:t>
            </a:r>
            <a:r>
              <a:rPr lang="en-US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altLang="ko-KR" sz="20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단위로 각각 별도의 모델을 만들었다</a:t>
            </a:r>
            <a:endParaRPr lang="en-US" altLang="ko-KR" sz="2000" b="0" u="none" strike="noStrike" dirty="0" smtClean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F2E017-841B-45DF-9758-9FBE21CAF3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 흐름입니다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색에 주목해 주세요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변수 탐색은 학습 기간만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 선택은 검증 데이터만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데이터는 선택이 끝난 뒤 성능 확인에만 썼습니다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 모델은 전처리에서 고른 특성을 그대로 써서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5·6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 실험은 이송 건수 모델에만 해당합니다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D9B15-BB90-4F96-8580-A68CF5305B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시계열이라 무작위로 나누면 미래 데이터가 학습에 섞입니다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날짜로 잘랐습니다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마지막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개월이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개월이 검증이고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마지막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년이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일이 검증입니다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점수는 학습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데이터로 다시 학습한 모델로 계산했습니다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834BC3-6C1B-420B-A7AC-A71D6639F2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데이터로 상관을 구하면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0.69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높게 나옵니다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그런데 자치구별 평균끼리 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0.80,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구 안에서 평균을 뺀 값끼리 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0.23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높은 상관의 대부분은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큰 구가 이송도 많다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규모 효과이고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인구가 평소보다 늘어난 달에 이송도 늘었는가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관계는 약합니다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스피어만은 순위 기반이라 이상치에 덜 민감한 확인용입니다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night_pop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자치구 간 상관이 가장 높아 대표 컬럼으로 선택됐습니다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8980A-CBE8-4BCA-AC62-13A4E3B300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구별로 이송 건수와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night_pop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추세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잔차로 분해해 같은 성분끼리 상관을 구했습니다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추세와 잔차는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약하고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계절 성분은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-0.40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오히려 반대 방향입니다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시차는 같은 달이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0.306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가장 높고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1·2·3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 전으로 갈수록 낮아집니다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인구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만명당 이송률이 구마다 최대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1.91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 차이가 나서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인구만으로는 구별 이송 수준을 설명하기 어렵다는 점을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412E1-9298-4F4D-9D55-6E1E8D5762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예측 시점에 이번 달 인구는 알 수 없으므로 전월 값만 후보로 삼았습니다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상관계수는 검증 시작 전 학습 기간 데이터만으로 계산해 검증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기간의 정보가 선택에 섞이지 않게 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절대값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0.30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이상인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개를 골랐고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개는 바로 모델에 넣는 것이 아니라 다음 단계 특성 조합 실험의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특성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사용됩니다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05E8A2-9CB1-4AAC-839D-CEFA20D8E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상관이 있다고 예측 성능이 오르는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실제로 넣어 보고 비교했습니다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A→B→C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이송 기록이 없을 때 인구 정보의 효과를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D→E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이송 기록이 이미 있을 때 인구 정보의 추가 효과를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조합에 자치구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핫이 들어갑니다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점선 기준선은 지난달 값을 그대로 쓴 결과입니다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4B723C-A552-44EF-B4AA-70809AB9CD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기록이 없을 때는 인구 정보가 도움이 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84.39%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88.03%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올랐습니다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하지만 이송 이력이 들어간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인구 특성을 더한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오히려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0.177%p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낮았습니다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노트북의 결정 로직에 따라 추가 인구 특성은 넣지 않고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전처리에서 이미 선택된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특성을 유지했습니다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개에는 전월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night_pop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등 인구 변수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개가 원래 포함돼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4CA1B1-BF93-49A5-80AC-6A5FD6EA73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핫은 몇 월인지만 알려 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월이라도 설 연휴가 들어가는 해와 아닌 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윤년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월처럼 달력 구성이 다릅니다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이를 반영하려고 일수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주말수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평일공휴일수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명절연휴일수를 만들었습니다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증감량 예측은 정답을 이번 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지난달 차이로 바꾸는 방식입니다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실험은 학습→검증만 사용했고 평가 기간은 건드리지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DNN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시간이 오래 걸려 제외했습니다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4C8D8F-5EDE-44A4-BCDA-FA0FD76F8D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선형 모델부터 트리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부스팅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신경망까지 성격이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모델을 비교했습니다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GradientBoosting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Ridge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예측을 평균하는 앙상블을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번째 후보로 추가했습니다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모델은 학습 데이터에만 맞춘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StandardScaler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입력을 표준화했습니다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DNN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과적합을 막기 위해 배치정규화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드롭아웃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L2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규제를 넣었고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EarlyStopping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검증 손실이 더 이상 줄지 않으면 멈추고 가장 좋았던 가중치로 되돌렸습니다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AE5FF-7616-459F-ABF8-0925F49ECA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모델을 고르는 기준은 검증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개월 연속 예측 정확도입니다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앙상블이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94.61%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평가 데이터에서도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94.59%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기준선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93.25%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높아 일반화 성능을 확인했습니다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참고로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LinearRegression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검증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위였지만 평가에서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87.87%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떨어졌습니다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앙상블은 두 모델 예측의 단순 평균이며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기간 두 모델의 오차 상관이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0.500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낮아 서로 다른 달에 틀리는 경향이 있었고 그 결과 두 모델 모두보다 검증 정확도가 높았습니다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6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0587D7-7A30-44B6-B8AD-5E6EF8DA9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모델을 비교했고 검증 정확도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98.59%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위였습니다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년에서도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98.16%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순위가 유지됐습니다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기준선인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전 같은 요일 값도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97.86%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높기 때문에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의미 있는 비교는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평가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8,836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명으로 기준선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12,015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명보다 작습니다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오차가 큰 날은 추석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 연휴 부근이었습니다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4E6AF-FF31-496E-8ADC-552A27965C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앙상블 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GradientBoosting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중요도입니다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전월 이송 건수가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0.893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압도적이고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생활인구 변수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개의 중요도를 모두 더해도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0.015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달력 특성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합은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0.034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기준이며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 전 일최대인구수가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0.960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대부분을 차지합니다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두 문제 모두 직전 시점의 같은 값이 가장 강한 단서이고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변수는 그 위에서 미세하게 보정하는 역할입니다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E1D58C-2690-4BDF-B628-F3DF251A19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모델은 검증으로 고르고 평가로 확인한 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 데이터로 다시 학습해 저장했습니다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이송 건수는 앙상블을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2,180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 전체로 재학습해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pickle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저장하고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다시 불러와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1~6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구별 이송 건수를 예측했습니다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그래프는 노트북 예측표의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구 값을 월별로 더한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인구 밀집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RandomForest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75,825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행으로 재학습해 저장하고 불러오기 동작까지 확인했으며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노트북에는 인구 밀집의 미래 예측 실행 결과는 포함돼 있지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7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68E66-1B25-4376-B6FD-ACC1B7E4EE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retendard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31520" y="210312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서울시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인구 밀집 예측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283464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4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모델 개발 과정과 의사결정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379476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0" u="none" strike="noStrike">
                <a:solidFill>
                  <a:srgbClr val="C9CED6"/>
                </a:solidFill>
                <a:effectLst/>
                <a:uFillTx/>
                <a:latin typeface="Pretendard"/>
                <a:ea typeface="Pretendard"/>
              </a:rPr>
              <a:t>어떤 변수를 왜 검토했고</a:t>
            </a:r>
            <a:r>
              <a:rPr lang="en-US" sz="1700" b="0" u="none" strike="noStrike">
                <a:solidFill>
                  <a:srgbClr val="C9CED6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700" b="0" u="none" strike="noStrike">
                <a:solidFill>
                  <a:srgbClr val="C9CED6"/>
                </a:solidFill>
                <a:effectLst/>
                <a:uFillTx/>
                <a:latin typeface="Pretendard"/>
                <a:ea typeface="Pretendard"/>
              </a:rPr>
              <a:t>어떤 실험으로 무엇을 결정했으며</a:t>
            </a:r>
            <a:r>
              <a:rPr lang="en-US" sz="1700" b="0" u="none" strike="noStrike">
                <a:solidFill>
                  <a:srgbClr val="C9CED6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700" b="0" u="none" strike="noStrike">
                <a:solidFill>
                  <a:srgbClr val="C9CED6"/>
                </a:solidFill>
                <a:effectLst/>
                <a:uFillTx/>
                <a:latin typeface="Pretendard"/>
                <a:ea typeface="Pretendard"/>
              </a:rPr>
              <a:t>어떤 기준으로 최종 모델을 골랐는가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603504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기준 노트북</a:t>
            </a: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 ·  </a:t>
            </a: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모든 수치는 노트북 실행 결과 기준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개발 개요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1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4-1 · 5-1 · 5-3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" name="Table 0"/>
          <p:cNvGraphicFramePr/>
          <p:nvPr>
            <p:extLst>
              <p:ext uri="{D42A27DB-BD31-4B8C-83A1-F6EECF244321}">
                <p14:modId xmlns:p14="http://schemas.microsoft.com/office/powerpoint/2010/main" val="1207164901"/>
              </p:ext>
            </p:extLst>
          </p:nvPr>
        </p:nvGraphicFramePr>
        <p:xfrm>
          <a:off x="457200" y="1410224"/>
          <a:ext cx="11277000" cy="3620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4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 예측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 예측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 대상 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정답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transport_cnt —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월별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119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 — 하루 중 최대 생활인구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 단위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×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데이터 기간 </a:t>
                      </a:r>
                      <a:r>
                        <a:rPr lang="en-US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크기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2017-01 ~ 2025-12, 2,564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 → 결측 제외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2,180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2018-04-12 ~ 2026-07-31, 75,825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행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입력 컬럼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 = 45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달력 채택 후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49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숫자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주말여부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구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25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요일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 +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 = 50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성능 측정 방식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 연속 예측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예측값을 다음 달 전월 값으로 사용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단위 예측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전일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7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전 실제 값 사용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비교 기준선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지난달 값 그대로 </a:t>
                      </a: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·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전년 동월 값 그대로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 전 같은 요일 값 그대로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2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정확도 지표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(1 − MAPE) × 100 — </a:t>
                      </a:r>
                      <a:r>
                        <a:rPr lang="zh-CN" sz="12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오차율의 반대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(1 − MAPE) × 100 — </a:t>
                      </a:r>
                      <a:r>
                        <a:rPr lang="zh-CN" sz="1200" b="0" u="none" strike="noStrike" dirty="0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평균 오차율의 반대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5"/>
          <p:cNvSpPr/>
          <p:nvPr/>
        </p:nvSpPr>
        <p:spPr>
          <a:xfrm>
            <a:off x="457200" y="5058824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76800" y="5058824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핵심 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모델 모두 같은 원칙 — 시간순 분할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검증으로 선택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평가로 확인 — 을 따르되 기간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기준선은 각 데이터 단위에 맞췄다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457200" y="861584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개발 개요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전체 개발 프로세스 — 검증으로 고르고 평가로 확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단계마다 어떤 데이터 구간을 사용했는지 색으로 구분했다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노트북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1~6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흐름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5720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853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853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데이터 구성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189972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210096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22287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2287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354312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374472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87252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387252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생활인구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이송 관계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518688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538812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551628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551628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변수 선택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6830640" y="25646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703188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716004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716004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조합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A ~ 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4"/>
          <p:cNvSpPr/>
          <p:nvPr/>
        </p:nvSpPr>
        <p:spPr>
          <a:xfrm>
            <a:off x="847440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5"/>
          <p:cNvSpPr/>
          <p:nvPr/>
        </p:nvSpPr>
        <p:spPr>
          <a:xfrm>
            <a:off x="867564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6"/>
          <p:cNvSpPr/>
          <p:nvPr/>
        </p:nvSpPr>
        <p:spPr>
          <a:xfrm>
            <a:off x="880380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7"/>
          <p:cNvSpPr/>
          <p:nvPr/>
        </p:nvSpPr>
        <p:spPr>
          <a:xfrm>
            <a:off x="880380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정확도 개선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10118160" y="25646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9"/>
          <p:cNvSpPr/>
          <p:nvPr/>
        </p:nvSpPr>
        <p:spPr>
          <a:xfrm>
            <a:off x="10319400" y="19933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10447560" y="21031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1"/>
          <p:cNvSpPr/>
          <p:nvPr/>
        </p:nvSpPr>
        <p:spPr>
          <a:xfrm>
            <a:off x="10447560" y="24048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모델 학습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종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앙상블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2"/>
          <p:cNvSpPr/>
          <p:nvPr/>
        </p:nvSpPr>
        <p:spPr>
          <a:xfrm>
            <a:off x="45720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3"/>
          <p:cNvSpPr/>
          <p:nvPr/>
        </p:nvSpPr>
        <p:spPr>
          <a:xfrm>
            <a:off x="58536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4"/>
          <p:cNvSpPr/>
          <p:nvPr/>
        </p:nvSpPr>
        <p:spPr>
          <a:xfrm>
            <a:off x="58536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성능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5"/>
          <p:cNvSpPr/>
          <p:nvPr/>
        </p:nvSpPr>
        <p:spPr>
          <a:xfrm>
            <a:off x="1899720" y="41648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210096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222876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222876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최종 모델 선정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9"/>
          <p:cNvSpPr/>
          <p:nvPr/>
        </p:nvSpPr>
        <p:spPr>
          <a:xfrm>
            <a:off x="354312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0"/>
          <p:cNvSpPr/>
          <p:nvPr/>
        </p:nvSpPr>
        <p:spPr>
          <a:xfrm>
            <a:off x="374472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1"/>
          <p:cNvSpPr/>
          <p:nvPr/>
        </p:nvSpPr>
        <p:spPr>
          <a:xfrm>
            <a:off x="387252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2"/>
          <p:cNvSpPr/>
          <p:nvPr/>
        </p:nvSpPr>
        <p:spPr>
          <a:xfrm>
            <a:off x="387252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데이터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성능 확인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3"/>
          <p:cNvSpPr/>
          <p:nvPr/>
        </p:nvSpPr>
        <p:spPr>
          <a:xfrm>
            <a:off x="518688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4"/>
          <p:cNvSpPr/>
          <p:nvPr/>
        </p:nvSpPr>
        <p:spPr>
          <a:xfrm>
            <a:off x="538812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5"/>
          <p:cNvSpPr/>
          <p:nvPr/>
        </p:nvSpPr>
        <p:spPr>
          <a:xfrm>
            <a:off x="551628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6"/>
          <p:cNvSpPr/>
          <p:nvPr/>
        </p:nvSpPr>
        <p:spPr>
          <a:xfrm>
            <a:off x="551628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중요도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7"/>
          <p:cNvSpPr/>
          <p:nvPr/>
        </p:nvSpPr>
        <p:spPr>
          <a:xfrm>
            <a:off x="6830640" y="4164840"/>
            <a:ext cx="1738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703188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9"/>
          <p:cNvSpPr/>
          <p:nvPr/>
        </p:nvSpPr>
        <p:spPr>
          <a:xfrm>
            <a:off x="716004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0"/>
          <p:cNvSpPr/>
          <p:nvPr/>
        </p:nvSpPr>
        <p:spPr>
          <a:xfrm>
            <a:off x="716004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 데이터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재학습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저장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1"/>
          <p:cNvSpPr/>
          <p:nvPr/>
        </p:nvSpPr>
        <p:spPr>
          <a:xfrm>
            <a:off x="8474400" y="4164840"/>
            <a:ext cx="17352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2"/>
          <p:cNvSpPr/>
          <p:nvPr/>
        </p:nvSpPr>
        <p:spPr>
          <a:xfrm>
            <a:off x="8675640" y="3593520"/>
            <a:ext cx="1414800" cy="1142640"/>
          </a:xfrm>
          <a:prstGeom prst="roundRect">
            <a:avLst>
              <a:gd name="adj" fmla="val 64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3"/>
          <p:cNvSpPr/>
          <p:nvPr/>
        </p:nvSpPr>
        <p:spPr>
          <a:xfrm>
            <a:off x="8803800" y="3703320"/>
            <a:ext cx="115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9DEE5"/>
                </a:solidFill>
                <a:effectLst/>
                <a:uFillTx/>
                <a:latin typeface="Pretendard"/>
                <a:ea typeface="Pretendard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4"/>
          <p:cNvSpPr/>
          <p:nvPr/>
        </p:nvSpPr>
        <p:spPr>
          <a:xfrm>
            <a:off x="8803800" y="4005000"/>
            <a:ext cx="11588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미래 예측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11026800" y="3154680"/>
            <a:ext cx="360" cy="219240"/>
          </a:xfrm>
          <a:prstGeom prst="line">
            <a:avLst/>
          </a:prstGeom>
          <a:ln w="15875">
            <a:solidFill>
              <a:srgbClr val="8A91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6"/>
          <p:cNvSpPr/>
          <p:nvPr/>
        </p:nvSpPr>
        <p:spPr>
          <a:xfrm>
            <a:off x="1164600" y="3373920"/>
            <a:ext cx="9862200" cy="360"/>
          </a:xfrm>
          <a:prstGeom prst="line">
            <a:avLst/>
          </a:prstGeom>
          <a:ln w="15875">
            <a:solidFill>
              <a:srgbClr val="8A919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7"/>
          <p:cNvSpPr/>
          <p:nvPr/>
        </p:nvSpPr>
        <p:spPr>
          <a:xfrm>
            <a:off x="1164600" y="3373920"/>
            <a:ext cx="360" cy="20124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8"/>
          <p:cNvSpPr/>
          <p:nvPr/>
        </p:nvSpPr>
        <p:spPr>
          <a:xfrm>
            <a:off x="45720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9"/>
          <p:cNvSpPr/>
          <p:nvPr/>
        </p:nvSpPr>
        <p:spPr>
          <a:xfrm>
            <a:off x="84132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전체 사용 가능 데이터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0"/>
          <p:cNvSpPr/>
          <p:nvPr/>
        </p:nvSpPr>
        <p:spPr>
          <a:xfrm>
            <a:off x="329184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1"/>
          <p:cNvSpPr/>
          <p:nvPr/>
        </p:nvSpPr>
        <p:spPr>
          <a:xfrm>
            <a:off x="367596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기간 데이터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2"/>
          <p:cNvSpPr/>
          <p:nvPr/>
        </p:nvSpPr>
        <p:spPr>
          <a:xfrm>
            <a:off x="612648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3"/>
          <p:cNvSpPr/>
          <p:nvPr/>
        </p:nvSpPr>
        <p:spPr>
          <a:xfrm>
            <a:off x="651060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데이터 — 선택에 사용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4"/>
          <p:cNvSpPr/>
          <p:nvPr/>
        </p:nvSpPr>
        <p:spPr>
          <a:xfrm>
            <a:off x="8961120" y="4956120"/>
            <a:ext cx="273960" cy="200880"/>
          </a:xfrm>
          <a:prstGeom prst="roundRect">
            <a:avLst>
              <a:gd name="adj" fmla="val 36364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5"/>
          <p:cNvSpPr/>
          <p:nvPr/>
        </p:nvSpPr>
        <p:spPr>
          <a:xfrm>
            <a:off x="9345240" y="4919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데이터 — 확인에만 사용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6"/>
          <p:cNvSpPr/>
          <p:nvPr/>
        </p:nvSpPr>
        <p:spPr>
          <a:xfrm>
            <a:off x="457200" y="5459040"/>
            <a:ext cx="11277000" cy="73116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7"/>
          <p:cNvSpPr/>
          <p:nvPr/>
        </p:nvSpPr>
        <p:spPr>
          <a:xfrm>
            <a:off x="676800" y="5459040"/>
            <a:ext cx="10835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참고 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 모델은 전처리 단계에서 선택된 특성을 그대로 사용 → 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5·6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단계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특성 조합 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개선 실험</a:t>
            </a:r>
            <a:r>
              <a:rPr lang="en-US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3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는 이송 건수 모델에만 적용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02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평가 방법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시간 순서대로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3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단계 분할 — 미래 정보가 섞이지 않게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무작위 분할 대신 가장 최근 구간을 평가용으로 남기고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그 직전 구간으로 선택을 진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1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4-1 · 5-3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57200" y="1993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457200" y="232272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62172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1325880" y="2322720"/>
            <a:ext cx="41144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2018-05 ~ 2024-12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1,880</a:t>
            </a:r>
            <a:r>
              <a:rPr lang="zh-CN" sz="105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5577840" y="2322720"/>
            <a:ext cx="2971440" cy="712800"/>
          </a:xfrm>
          <a:prstGeom prst="roundRect">
            <a:avLst>
              <a:gd name="adj" fmla="val 10256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0"/>
          <p:cNvSpPr/>
          <p:nvPr/>
        </p:nvSpPr>
        <p:spPr>
          <a:xfrm>
            <a:off x="574236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6446520" y="232272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2025-01 ~ 2025-06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6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2"/>
          <p:cNvSpPr/>
          <p:nvPr/>
        </p:nvSpPr>
        <p:spPr>
          <a:xfrm>
            <a:off x="8595360" y="2322720"/>
            <a:ext cx="3138840" cy="712800"/>
          </a:xfrm>
          <a:prstGeom prst="roundRect">
            <a:avLst>
              <a:gd name="adj" fmla="val 10256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8759880" y="232272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9464040" y="2322720"/>
            <a:ext cx="2178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2025-07 ~ 2025-12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6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457200" y="3182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일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457200" y="351144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62172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1325880" y="3511440"/>
            <a:ext cx="41144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2018-04-12 ~ 2025-02-01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62,200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5577840" y="3511440"/>
            <a:ext cx="2971440" cy="712800"/>
          </a:xfrm>
          <a:prstGeom prst="roundRect">
            <a:avLst>
              <a:gd name="adj" fmla="val 10256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574236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6446520" y="351144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2025-02-02 ~ 2025-07-31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4,500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180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8595360" y="3511440"/>
            <a:ext cx="3138840" cy="712800"/>
          </a:xfrm>
          <a:prstGeom prst="roundRect">
            <a:avLst>
              <a:gd name="adj" fmla="val 10256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8759880" y="3511440"/>
            <a:ext cx="7311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9464040" y="3511440"/>
            <a:ext cx="217872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2025-08-01 ~ 2026-07-31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9,125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행 </a:t>
            </a: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365</a:t>
            </a:r>
            <a:r>
              <a:rPr lang="zh-CN" sz="105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10607040" y="4343400"/>
            <a:ext cx="112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→ 시간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45720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7"/>
          <p:cNvSpPr/>
          <p:nvPr/>
        </p:nvSpPr>
        <p:spPr>
          <a:xfrm>
            <a:off x="67680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6B7685"/>
          </a:solidFill>
          <a:ln w="9525">
            <a:solidFill>
              <a:srgbClr val="6B76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8"/>
          <p:cNvSpPr/>
          <p:nvPr/>
        </p:nvSpPr>
        <p:spPr>
          <a:xfrm>
            <a:off x="67680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학습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9"/>
          <p:cNvSpPr/>
          <p:nvPr/>
        </p:nvSpPr>
        <p:spPr>
          <a:xfrm>
            <a:off x="199332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학습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0"/>
          <p:cNvSpPr/>
          <p:nvPr/>
        </p:nvSpPr>
        <p:spPr>
          <a:xfrm>
            <a:off x="67680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연관성 분석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선택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계산도 이 기간만 사용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1"/>
          <p:cNvSpPr/>
          <p:nvPr/>
        </p:nvSpPr>
        <p:spPr>
          <a:xfrm>
            <a:off x="427716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2"/>
          <p:cNvSpPr/>
          <p:nvPr/>
        </p:nvSpPr>
        <p:spPr>
          <a:xfrm>
            <a:off x="449676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3"/>
          <p:cNvSpPr/>
          <p:nvPr/>
        </p:nvSpPr>
        <p:spPr>
          <a:xfrm>
            <a:off x="449676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4"/>
          <p:cNvSpPr/>
          <p:nvPr/>
        </p:nvSpPr>
        <p:spPr>
          <a:xfrm>
            <a:off x="581328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특성 </a:t>
            </a:r>
            <a:r>
              <a:rPr lang="en-US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설정 </a:t>
            </a:r>
            <a:r>
              <a:rPr lang="en-US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선택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5"/>
          <p:cNvSpPr/>
          <p:nvPr/>
        </p:nvSpPr>
        <p:spPr>
          <a:xfrm>
            <a:off x="449676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특성 조합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A~E,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달력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증감량 설정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종 중 최종 모델을 고르는 데에만 사용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6"/>
          <p:cNvSpPr/>
          <p:nvPr/>
        </p:nvSpPr>
        <p:spPr>
          <a:xfrm>
            <a:off x="8097480" y="4636080"/>
            <a:ext cx="3636720" cy="15541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7"/>
          <p:cNvSpPr/>
          <p:nvPr/>
        </p:nvSpPr>
        <p:spPr>
          <a:xfrm>
            <a:off x="8316720" y="4818960"/>
            <a:ext cx="1188360" cy="292320"/>
          </a:xfrm>
          <a:prstGeom prst="roundRect">
            <a:avLst>
              <a:gd name="adj" fmla="val 25000"/>
            </a:avLst>
          </a:prstGeom>
          <a:solidFill>
            <a:srgbClr val="9AA7B5"/>
          </a:solidFill>
          <a:ln w="9525">
            <a:solidFill>
              <a:srgbClr val="9AA7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38"/>
          <p:cNvSpPr/>
          <p:nvPr/>
        </p:nvSpPr>
        <p:spPr>
          <a:xfrm>
            <a:off x="8316720" y="481896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데이터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9"/>
          <p:cNvSpPr/>
          <p:nvPr/>
        </p:nvSpPr>
        <p:spPr>
          <a:xfrm>
            <a:off x="9633600" y="4818960"/>
            <a:ext cx="1899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선택 완료 후 최종 확인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0"/>
          <p:cNvSpPr/>
          <p:nvPr/>
        </p:nvSpPr>
        <p:spPr>
          <a:xfrm>
            <a:off x="8316720" y="525780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</a:t>
            </a:r>
            <a:r>
              <a:rPr lang="en-US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2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검증으로 다시 학습한 모델의 일반화 성능 보고용 — 어떤 선택에도 사용하지 않음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생활인구와 이송 건수의 관계를 네 가지 관점으로 나눠 봤다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대표 인구 컬럼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 —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상관이 “구 규모”에서 나오는지 “시간 변화”에서 나오는지 구분하기 위해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2-2 · 2-3 (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기간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2018-04 ~ 2024-12, 1,933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행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457200" y="1993320"/>
            <a:ext cx="640044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Chart 0"/>
          <p:cNvGraphicFramePr/>
          <p:nvPr/>
        </p:nvGraphicFramePr>
        <p:xfrm>
          <a:off x="548640" y="2057400"/>
          <a:ext cx="621756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6" name="Shape 6"/>
          <p:cNvSpPr/>
          <p:nvPr/>
        </p:nvSpPr>
        <p:spPr>
          <a:xfrm>
            <a:off x="7040880" y="1993320"/>
            <a:ext cx="4693320" cy="1636560"/>
          </a:xfrm>
          <a:prstGeom prst="roundRect">
            <a:avLst>
              <a:gd name="adj" fmla="val 4469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7260480" y="2157840"/>
            <a:ext cx="4254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자치구 간 비교  </a:t>
            </a: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 = 0.804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7260480" y="2523600"/>
            <a:ext cx="425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구별 평균 </a:t>
            </a:r>
            <a:r>
              <a:rPr lang="en-US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25</a:t>
            </a:r>
            <a:r>
              <a:rPr lang="zh-CN" sz="1100" b="0" u="none" strike="noStrike" dirty="0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점끼리 비교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7260480" y="2834640"/>
            <a:ext cx="4254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평균 생활인구가 많은 구가 평균 이송 건수도 많은가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 → 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강한 양의 관계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구 규모 효과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7040880" y="3813120"/>
            <a:ext cx="4693320" cy="1636560"/>
          </a:xfrm>
          <a:prstGeom prst="roundRect">
            <a:avLst>
              <a:gd name="adj" fmla="val 446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1"/>
          <p:cNvSpPr/>
          <p:nvPr/>
        </p:nvSpPr>
        <p:spPr>
          <a:xfrm>
            <a:off x="7260480" y="3977640"/>
            <a:ext cx="4254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자치구 내 비교  </a:t>
            </a: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 = 0.230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7260480" y="4343400"/>
            <a:ext cx="425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각 구의 평균을 뺀 값끼리 비교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7260480" y="4654440"/>
            <a:ext cx="4254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같은 구에서 인구가 평소보다 많은 달에 이송도 많은가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 → 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약한 관계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제거 시 </a:t>
            </a:r>
            <a:r>
              <a:rPr lang="en-US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0.306)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5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해석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 상관 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0.69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는 주로 구 규모 차이에서 </a:t>
            </a:r>
            <a:r>
              <a:rPr lang="ko-KR" altLang="en-US" sz="1300" dirty="0" smtClean="0">
                <a:solidFill>
                  <a:srgbClr val="FFFFFF"/>
                </a:solidFill>
                <a:latin typeface="Pretendard"/>
                <a:ea typeface="Pretendard"/>
              </a:rPr>
              <a:t>나옴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— 시간에 따른 인구 변화와 이송 변화의 관계는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약</a:t>
            </a:r>
            <a:r>
              <a:rPr lang="ko-KR" altLang="en-US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함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03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독립변수 후보 탐색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시계열 성분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시차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이송률로 관계를 다시 확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구 안에서 성분별로 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쪼</a:t>
            </a:r>
            <a:r>
              <a:rPr lang="ko-KR" alt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갠 뒤</a:t>
            </a:r>
            <a:r>
              <a:rPr lang="en-US" altLang="ko-KR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</a:t>
            </a:r>
            <a:r>
              <a:rPr 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몇 개월 전 인구가 이송과 가장 가까운지 확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2-3 · 2-4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(25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구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학습 기간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45720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427716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8097480" y="1993320"/>
            <a:ext cx="363672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Chart 0"/>
          <p:cNvGraphicFramePr/>
          <p:nvPr/>
        </p:nvGraphicFramePr>
        <p:xfrm>
          <a:off x="548640" y="2057400"/>
          <a:ext cx="34538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5" name="Text 8"/>
          <p:cNvSpPr/>
          <p:nvPr/>
        </p:nvSpPr>
        <p:spPr>
          <a:xfrm>
            <a:off x="676800" y="4846320"/>
            <a:ext cx="3197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계절 패턴은 반대 방향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(−0.40)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추세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잔차는 약한 양의 관계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(0.17)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Chart 1"/>
          <p:cNvGraphicFramePr/>
          <p:nvPr/>
        </p:nvGraphicFramePr>
        <p:xfrm>
          <a:off x="4368600" y="2057400"/>
          <a:ext cx="34538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7" name="Text 9"/>
          <p:cNvSpPr/>
          <p:nvPr/>
        </p:nvSpPr>
        <p:spPr>
          <a:xfrm>
            <a:off x="4496760" y="4846320"/>
            <a:ext cx="3197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달 인구가 가장 가깝고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시차가 길어질수록 관계가 약해짐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8316720" y="214884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만명당 이송률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8316720" y="2468880"/>
            <a:ext cx="3197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1.91</a:t>
            </a:r>
            <a:r>
              <a:rPr lang="zh-CN" sz="3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8316720" y="3063240"/>
            <a:ext cx="319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최고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최저 비율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강북구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34.3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건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기간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8316720" y="3703320"/>
            <a:ext cx="319824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8316720" y="382212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2020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년 서울 전체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 대비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8316720" y="416052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9834840" y="4160520"/>
            <a:ext cx="168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−20.7%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8316720" y="4572000"/>
            <a:ext cx="146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9834840" y="4572000"/>
            <a:ext cx="168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−1.8%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8316720" y="507492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변화 없이 이송만 크게 변한 해가 있음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0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결론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인구만으로는 구별 이송 수준과 시간 변화를 충분히 설명하기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어</a:t>
            </a:r>
            <a:r>
              <a:rPr lang="ko-KR" altLang="en-US" sz="1300" dirty="0" err="1" smtClean="0">
                <a:solidFill>
                  <a:srgbClr val="FFFFFF"/>
                </a:solidFill>
                <a:latin typeface="Pretendard"/>
                <a:ea typeface="Pretendard"/>
              </a:rPr>
              <a:t>려움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→ 구별 이송률 </a:t>
            </a:r>
            <a:r>
              <a:rPr lang="en-US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이송 이력 정보가 함께 필요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04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변수 선택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 기간 상관계수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으로 인구 변수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개를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후보는 예측 시점에 알 수 있는 “전월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_”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생활인구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13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— 검증 시작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(2025-01)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이전 데이터로만 계산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3-1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(relation_pop_feature_select)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Table 0"/>
          <p:cNvGraphicFramePr/>
          <p:nvPr/>
        </p:nvGraphicFramePr>
        <p:xfrm>
          <a:off x="457200" y="1993320"/>
          <a:ext cx="6766560" cy="41716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6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변수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Pearson 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 여부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_night_pop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0.6925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내국인생활인구수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0.6586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일최소인구수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0.6542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동일자치구행정동간이동인구수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0.6487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_total_pop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0.6479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0.5971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_day_pop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0.5495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일최대이동인구수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0.4068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서울외유입인구수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0.3400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선택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자치구간이동인구수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0.1368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_pop_diff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-0.0253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장기체류외국인인구수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-0.0232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전월</a:t>
                      </a: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_</a:t>
                      </a: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단기체류외국인인구수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-0.0108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100" b="0" u="none" strike="noStrike">
                          <a:solidFill>
                            <a:srgbClr val="8A919C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제외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76" name="Shape 5"/>
          <p:cNvSpPr/>
          <p:nvPr/>
        </p:nvSpPr>
        <p:spPr>
          <a:xfrm>
            <a:off x="7406640" y="199332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7626240" y="199332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후보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8686800" y="208476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13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8686800" y="235908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이번 달 인구는 예측 시점에 알 수 없음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7406640" y="275220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626240" y="275220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계산 기간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8686800" y="284364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 기간만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(~2024-12)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8686800" y="311796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정보 누출 방지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7406640" y="351144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7626240" y="351144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선택 기준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8686800" y="360288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|r| ≥ 0.30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8686800" y="387720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POP_CORR_MIN = 0.30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7406640" y="4270320"/>
            <a:ext cx="4327560" cy="667080"/>
          </a:xfrm>
          <a:prstGeom prst="roundRect">
            <a:avLst>
              <a:gd name="adj" fmla="val 1095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7626240" y="4270320"/>
            <a:ext cx="100548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결과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8686800" y="4361760"/>
            <a:ext cx="2827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선택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4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제외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8686800" y="4636080"/>
            <a:ext cx="2827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외국인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이동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주야간 차이 변수 제외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7406640" y="5029200"/>
            <a:ext cx="4327560" cy="1161000"/>
          </a:xfrm>
          <a:prstGeom prst="roundRect">
            <a:avLst>
              <a:gd name="adj" fmla="val 6299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7626240" y="5139000"/>
            <a:ext cx="3888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다음 단계로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3"/>
          <p:cNvSpPr/>
          <p:nvPr/>
        </p:nvSpPr>
        <p:spPr>
          <a:xfrm>
            <a:off x="7626240" y="5440680"/>
            <a:ext cx="3888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선택된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개는 모델에 바로 넣지 않고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 조합 실험에서 실제 정확도 개선 여부를 다시 검증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생활인구를 넣으면 이송 예측이 실제로 좋아질까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?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5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가지 특성 조합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3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모델을 같은 행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1,880 ·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150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행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으로 학습해 검증 정확도를 비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교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(relation_model_compare)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457200" y="199332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621720" y="199332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051560" y="206640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1051560" y="233172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 원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핫만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457200" y="269748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621720" y="269748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1051560" y="277056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1051560" y="303588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선택된 인구 변수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3"/>
          <p:cNvSpPr/>
          <p:nvPr/>
        </p:nvSpPr>
        <p:spPr>
          <a:xfrm>
            <a:off x="457200" y="340164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621720" y="340164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1051560" y="34747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1051560" y="374004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B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인구기반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예상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구별 이송률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전월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night_pop)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457200" y="410580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8"/>
          <p:cNvSpPr/>
          <p:nvPr/>
        </p:nvSpPr>
        <p:spPr>
          <a:xfrm>
            <a:off x="621720" y="410580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1051560" y="4178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이송이력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0"/>
          <p:cNvSpPr/>
          <p:nvPr/>
        </p:nvSpPr>
        <p:spPr>
          <a:xfrm>
            <a:off x="1051560" y="444384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전년동월 이송 건수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전년 사고원인 등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1"/>
          <p:cNvSpPr/>
          <p:nvPr/>
        </p:nvSpPr>
        <p:spPr>
          <a:xfrm>
            <a:off x="457200" y="4809600"/>
            <a:ext cx="4205880" cy="612360"/>
          </a:xfrm>
          <a:prstGeom prst="roundRect">
            <a:avLst>
              <a:gd name="adj" fmla="val 11940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621720" y="4809600"/>
            <a:ext cx="365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3"/>
          <p:cNvSpPr/>
          <p:nvPr/>
        </p:nvSpPr>
        <p:spPr>
          <a:xfrm>
            <a:off x="1051560" y="488304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4"/>
          <p:cNvSpPr/>
          <p:nvPr/>
        </p:nvSpPr>
        <p:spPr>
          <a:xfrm>
            <a:off x="1051560" y="5148000"/>
            <a:ext cx="3428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D 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인구기반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예상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5"/>
          <p:cNvSpPr/>
          <p:nvPr/>
        </p:nvSpPr>
        <p:spPr>
          <a:xfrm>
            <a:off x="4846320" y="1993320"/>
            <a:ext cx="6887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1" name="Chart 0"/>
          <p:cNvGraphicFramePr/>
          <p:nvPr/>
        </p:nvGraphicFramePr>
        <p:xfrm>
          <a:off x="4937760" y="2057400"/>
          <a:ext cx="6705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2" name="Shape 26"/>
          <p:cNvSpPr/>
          <p:nvPr/>
        </p:nvSpPr>
        <p:spPr>
          <a:xfrm>
            <a:off x="457200" y="5641920"/>
            <a:ext cx="11277000" cy="548280"/>
          </a:xfrm>
          <a:prstGeom prst="roundRect">
            <a:avLst>
              <a:gd name="adj" fmla="val 1333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7"/>
          <p:cNvSpPr/>
          <p:nvPr/>
        </p:nvSpPr>
        <p:spPr>
          <a:xfrm>
            <a:off x="676800" y="5641920"/>
            <a:ext cx="10835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원칙 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상관관계가 있다는 것과 예측 성능을 높인다는 것은 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다</a:t>
            </a:r>
            <a:r>
              <a:rPr lang="ko-KR" altLang="en-US" sz="1300" dirty="0" err="1">
                <a:solidFill>
                  <a:srgbClr val="FFFFFF"/>
                </a:solidFill>
                <a:latin typeface="Pretendard"/>
                <a:ea typeface="Pretendard"/>
              </a:rPr>
              <a:t>름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zh-CN" sz="13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— 그래서 특성 추가 여부는 검증 정확도로 결</a:t>
            </a:r>
            <a:r>
              <a:rPr lang="zh-CN" sz="13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정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05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이력이 있으면 인구 특성의 추가 효과는 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없</a:t>
            </a:r>
            <a:r>
              <a:rPr lang="ko-KR" altLang="en-US" sz="3000" b="1" dirty="0">
                <a:solidFill>
                  <a:srgbClr val="1F2329"/>
                </a:solidFill>
                <a:latin typeface="Pretendard"/>
                <a:ea typeface="Pretendard"/>
              </a:rPr>
              <a:t>음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결정 기준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정확도에서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E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D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보다 높을 때만 인구 특성을 메인 모델에 추가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3-2 · 3-3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45720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67680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84.39%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67680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A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8"/>
          <p:cNvSpPr/>
          <p:nvPr/>
        </p:nvSpPr>
        <p:spPr>
          <a:xfrm>
            <a:off x="67644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67680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이송 기록 없음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모델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LR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332208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354168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88.03%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354168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C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54168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354168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A 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대비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+3.64%p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618732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640692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94.96%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640692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D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계절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이송이력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6406560" y="3136320"/>
            <a:ext cx="2243160" cy="360"/>
          </a:xfrm>
          <a:prstGeom prst="line">
            <a:avLst/>
          </a:prstGeom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640692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최고 모델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GradientBoosting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9052200" y="1993320"/>
            <a:ext cx="2681640" cy="1691280"/>
          </a:xfrm>
          <a:prstGeom prst="roundRect">
            <a:avLst>
              <a:gd name="adj" fmla="val 4324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9271800" y="2176200"/>
            <a:ext cx="2242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94.79%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9271800" y="2770560"/>
            <a:ext cx="224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E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전체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9271440" y="3136320"/>
            <a:ext cx="2243520" cy="360"/>
          </a:xfrm>
          <a:prstGeom prst="line">
            <a:avLst/>
          </a:prstGeom>
          <a:ln w="9525">
            <a:solidFill>
              <a:srgbClr val="6F8F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4"/>
          <p:cNvSpPr/>
          <p:nvPr/>
        </p:nvSpPr>
        <p:spPr>
          <a:xfrm>
            <a:off x="9271800" y="3209400"/>
            <a:ext cx="2242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D </a:t>
            </a:r>
            <a:r>
              <a:rPr lang="zh-CN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대비 −</a:t>
            </a: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0.177%p (</a:t>
            </a:r>
            <a:r>
              <a:rPr lang="zh-CN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개선 없음</a:t>
            </a:r>
            <a:r>
              <a:rPr lang="en-US" sz="110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5"/>
          <p:cNvSpPr/>
          <p:nvPr/>
        </p:nvSpPr>
        <p:spPr>
          <a:xfrm>
            <a:off x="457200" y="3730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조합별 최고 검증 정확도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6"/>
          <p:cNvSpPr/>
          <p:nvPr/>
        </p:nvSpPr>
        <p:spPr>
          <a:xfrm>
            <a:off x="45720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7"/>
          <p:cNvSpPr/>
          <p:nvPr/>
        </p:nvSpPr>
        <p:spPr>
          <a:xfrm>
            <a:off x="65844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가설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8"/>
          <p:cNvSpPr/>
          <p:nvPr/>
        </p:nvSpPr>
        <p:spPr>
          <a:xfrm>
            <a:off x="65844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생활인구 정보가 이송 예측에 도움이 될 것이다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9"/>
          <p:cNvSpPr/>
          <p:nvPr/>
        </p:nvSpPr>
        <p:spPr>
          <a:xfrm>
            <a:off x="3072960" y="4617720"/>
            <a:ext cx="2469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0"/>
          <p:cNvSpPr/>
          <p:nvPr/>
        </p:nvSpPr>
        <p:spPr>
          <a:xfrm>
            <a:off x="335664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1"/>
          <p:cNvSpPr/>
          <p:nvPr/>
        </p:nvSpPr>
        <p:spPr>
          <a:xfrm>
            <a:off x="355788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2"/>
          <p:cNvSpPr/>
          <p:nvPr/>
        </p:nvSpPr>
        <p:spPr>
          <a:xfrm>
            <a:off x="355788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포함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미포함 조합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5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×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3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 비교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3"/>
          <p:cNvSpPr/>
          <p:nvPr/>
        </p:nvSpPr>
        <p:spPr>
          <a:xfrm>
            <a:off x="5972400" y="4617720"/>
            <a:ext cx="24660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4"/>
          <p:cNvSpPr/>
          <p:nvPr/>
        </p:nvSpPr>
        <p:spPr>
          <a:xfrm>
            <a:off x="625572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5"/>
          <p:cNvSpPr/>
          <p:nvPr/>
        </p:nvSpPr>
        <p:spPr>
          <a:xfrm>
            <a:off x="645696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결과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6"/>
          <p:cNvSpPr/>
          <p:nvPr/>
        </p:nvSpPr>
        <p:spPr>
          <a:xfrm>
            <a:off x="645696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이력 없을 땐 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+3.64%p, </a:t>
            </a:r>
            <a:r>
              <a:rPr lang="zh-CN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이력 있을 땐 −</a:t>
            </a:r>
            <a:r>
              <a:rPr lang="en-US" sz="12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0.177%p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7"/>
          <p:cNvSpPr/>
          <p:nvPr/>
        </p:nvSpPr>
        <p:spPr>
          <a:xfrm>
            <a:off x="8871480" y="4617720"/>
            <a:ext cx="2469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8"/>
          <p:cNvSpPr/>
          <p:nvPr/>
        </p:nvSpPr>
        <p:spPr>
          <a:xfrm>
            <a:off x="9155160" y="4069080"/>
            <a:ext cx="2579040" cy="1096920"/>
          </a:xfrm>
          <a:prstGeom prst="roundRect">
            <a:avLst>
              <a:gd name="adj" fmla="val 6667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9"/>
          <p:cNvSpPr/>
          <p:nvPr/>
        </p:nvSpPr>
        <p:spPr>
          <a:xfrm>
            <a:off x="9356400" y="4206240"/>
            <a:ext cx="2176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결정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0"/>
          <p:cNvSpPr/>
          <p:nvPr/>
        </p:nvSpPr>
        <p:spPr>
          <a:xfrm>
            <a:off x="9356400" y="4507920"/>
            <a:ext cx="21765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추가 인구 특성 미반영 → 기존 특성 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lang="zh-CN" sz="1200" b="0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 유지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1"/>
          <p:cNvSpPr/>
          <p:nvPr/>
        </p:nvSpPr>
        <p:spPr>
          <a:xfrm>
            <a:off x="457200" y="5349240"/>
            <a:ext cx="11277000" cy="840960"/>
          </a:xfrm>
          <a:prstGeom prst="roundRect">
            <a:avLst>
              <a:gd name="adj" fmla="val 8696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2"/>
          <p:cNvSpPr/>
          <p:nvPr/>
        </p:nvSpPr>
        <p:spPr>
          <a:xfrm>
            <a:off x="676800" y="5440680"/>
            <a:ext cx="10835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유지된 메인 모델 특성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전처리 선택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개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3"/>
          <p:cNvSpPr/>
          <p:nvPr/>
        </p:nvSpPr>
        <p:spPr>
          <a:xfrm>
            <a:off x="676800" y="5733360"/>
            <a:ext cx="10835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_transport_cnt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전년동월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_transport_cnt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_night_pop 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동일자치구행정동간이동인구수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일최대인구수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전월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서울외유입인구수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인명갇힘 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전년</a:t>
            </a:r>
            <a:r>
              <a:rPr lang="en-US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110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승강기사고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06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정확도 개선 실험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 특성 추가가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개월 연속 예측을 가장 크게 개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가지 설정을 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개월 연속 예측 정확도로 비교 — 기본 대비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+0.10%p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이상일 때만 채택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4-0 · 4-1-2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(transport_improve_experiment)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5"/>
          <p:cNvSpPr/>
          <p:nvPr/>
        </p:nvSpPr>
        <p:spPr>
          <a:xfrm>
            <a:off x="457200" y="1993320"/>
            <a:ext cx="4205880" cy="3465360"/>
          </a:xfrm>
          <a:prstGeom prst="roundRect">
            <a:avLst>
              <a:gd name="adj" fmla="val 2111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6"/>
          <p:cNvSpPr/>
          <p:nvPr/>
        </p:nvSpPr>
        <p:spPr>
          <a:xfrm>
            <a:off x="676800" y="2130480"/>
            <a:ext cx="3767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 특성을 만든 이유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7"/>
          <p:cNvSpPr/>
          <p:nvPr/>
        </p:nvSpPr>
        <p:spPr>
          <a:xfrm>
            <a:off x="676800" y="2450520"/>
            <a:ext cx="3767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·2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월이라도 해마다 주말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공휴일</a:t>
            </a:r>
            <a:r>
              <a:rPr lang="en-US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1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명절 구성과 월 길이가 다르다 → 월 정보만으로는 표현 불가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0"/>
          <p:cNvGraphicFramePr/>
          <p:nvPr/>
        </p:nvGraphicFramePr>
        <p:xfrm>
          <a:off x="676800" y="3200400"/>
          <a:ext cx="3767040" cy="1389600"/>
        </p:xfrm>
        <a:graphic>
          <a:graphicData uri="http://schemas.openxmlformats.org/drawingml/2006/table">
            <a:tbl>
              <a:tblPr/>
              <a:tblGrid>
                <a:gridCol w="8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3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월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일수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주말수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평일공휴일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명절연휴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2025-11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4720" marR="54720"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7" name="Text 8"/>
          <p:cNvSpPr/>
          <p:nvPr/>
        </p:nvSpPr>
        <p:spPr>
          <a:xfrm>
            <a:off x="676800" y="4617720"/>
            <a:ext cx="3767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명절연휴일수 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설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추석 전날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당일</a:t>
            </a:r>
            <a:r>
              <a:rPr lang="en-US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0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다음날 중 그 달에 걸린 날 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4846320" y="1993320"/>
            <a:ext cx="6887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9" name="Chart 0"/>
          <p:cNvGraphicFramePr/>
          <p:nvPr/>
        </p:nvGraphicFramePr>
        <p:xfrm>
          <a:off x="4937760" y="2057400"/>
          <a:ext cx="6705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0" name="Text 10"/>
          <p:cNvSpPr/>
          <p:nvPr/>
        </p:nvSpPr>
        <p:spPr>
          <a:xfrm>
            <a:off x="676800" y="5029200"/>
            <a:ext cx="3767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채택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기본 대비 </a:t>
            </a:r>
            <a:r>
              <a:rPr lang="en-US" sz="11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+0.727%p)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1"/>
          <p:cNvSpPr/>
          <p:nvPr/>
        </p:nvSpPr>
        <p:spPr>
          <a:xfrm>
            <a:off x="457200" y="564192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설정별 최고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"/>
          <p:cNvSpPr/>
          <p:nvPr/>
        </p:nvSpPr>
        <p:spPr>
          <a:xfrm>
            <a:off x="164592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3"/>
          <p:cNvSpPr/>
          <p:nvPr/>
        </p:nvSpPr>
        <p:spPr>
          <a:xfrm>
            <a:off x="182880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4"/>
          <p:cNvSpPr/>
          <p:nvPr/>
        </p:nvSpPr>
        <p:spPr>
          <a:xfrm>
            <a:off x="292608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93.885%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5"/>
          <p:cNvSpPr/>
          <p:nvPr/>
        </p:nvSpPr>
        <p:spPr>
          <a:xfrm>
            <a:off x="421380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6"/>
          <p:cNvSpPr/>
          <p:nvPr/>
        </p:nvSpPr>
        <p:spPr>
          <a:xfrm>
            <a:off x="439668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채택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7"/>
          <p:cNvSpPr/>
          <p:nvPr/>
        </p:nvSpPr>
        <p:spPr>
          <a:xfrm>
            <a:off x="549396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94.612%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8"/>
          <p:cNvSpPr/>
          <p:nvPr/>
        </p:nvSpPr>
        <p:spPr>
          <a:xfrm>
            <a:off x="678168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9"/>
          <p:cNvSpPr/>
          <p:nvPr/>
        </p:nvSpPr>
        <p:spPr>
          <a:xfrm>
            <a:off x="696456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0"/>
          <p:cNvSpPr/>
          <p:nvPr/>
        </p:nvSpPr>
        <p:spPr>
          <a:xfrm>
            <a:off x="806184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94.226%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1"/>
          <p:cNvSpPr/>
          <p:nvPr/>
        </p:nvSpPr>
        <p:spPr>
          <a:xfrm>
            <a:off x="9349560" y="5641920"/>
            <a:ext cx="2384640" cy="5482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2"/>
          <p:cNvSpPr/>
          <p:nvPr/>
        </p:nvSpPr>
        <p:spPr>
          <a:xfrm>
            <a:off x="9532440" y="5641920"/>
            <a:ext cx="12798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달력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증감량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3"/>
          <p:cNvSpPr/>
          <p:nvPr/>
        </p:nvSpPr>
        <p:spPr>
          <a:xfrm>
            <a:off x="10629720" y="5641920"/>
            <a:ext cx="921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94.470%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07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구성 및 주요 파라미터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 기본 모델 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+ 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</a:t>
            </a:r>
            <a:r>
              <a:rPr lang="en-US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이해에 필요한 핵심 설정만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같은 모델이라도 데이터 크기가 다른 두 문제에 맞춰 설정값을 따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로</a:t>
            </a:r>
            <a:r>
              <a:rPr lang="en-US" alt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lang="ko-KR" altLang="en-US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정함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0-1 make_ml_models · DNN_SETTINGS · build_dnn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9" name="Table 0"/>
          <p:cNvGraphicFramePr/>
          <p:nvPr/>
        </p:nvGraphicFramePr>
        <p:xfrm>
          <a:off x="457200" y="1993320"/>
          <a:ext cx="11277000" cy="2695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04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모델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핵심 설정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이송 건수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2F5D8A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인구 밀집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의미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LinearRegression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기본 설정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—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규제 없는 선형 회귀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비교 기준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Ridge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alpha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0.8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회귀계수 규제 강도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DecisionTree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max_depth / min_samples_leaf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 / 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 / 10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트리 복잡도 제한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RandomForest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n_estimators / max_depth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300 / 10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100 / 15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트리 개수와 깊이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GradientBoosting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n_estimators / max_depth / learning_rate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300 / 3 / 0.05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200 / 4 / </a:t>
                      </a: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기본값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순차 학습 규모와 학습률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DNN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은닉층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/ epochs / batch_size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64-32 / 500 / 32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128-64-32 / 100 / 256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신경망 구조와 학습 규모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Ensemble(GB+Ridge)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GB 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예측과 </a:t>
                      </a:r>
                      <a:r>
                        <a:rPr lang="en-US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Ridge </a:t>
                      </a: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예측의 평균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사용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1" u="none" strike="noStrike">
                          <a:solidFill>
                            <a:srgbClr val="1F2329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미사용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zh-CN" sz="1050" b="0" u="none" strike="noStrike">
                          <a:solidFill>
                            <a:srgbClr val="4A526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서로 다른 오차 상쇄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36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360">
                      <a:solidFill>
                        <a:srgbClr val="E3E6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0" name="Shape 5"/>
          <p:cNvSpPr/>
          <p:nvPr/>
        </p:nvSpPr>
        <p:spPr>
          <a:xfrm>
            <a:off x="45720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"/>
          <p:cNvSpPr/>
          <p:nvPr/>
        </p:nvSpPr>
        <p:spPr>
          <a:xfrm>
            <a:off x="67680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DNN 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층 구성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"/>
          <p:cNvSpPr/>
          <p:nvPr/>
        </p:nvSpPr>
        <p:spPr>
          <a:xfrm>
            <a:off x="67680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Dense(elu, he_normal, L2 0.001)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→ BatchNormalization → Dropout 0.2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손실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MSE · Adam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8"/>
          <p:cNvSpPr/>
          <p:nvPr/>
        </p:nvSpPr>
        <p:spPr>
          <a:xfrm>
            <a:off x="427716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449676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EarlyStopping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0"/>
          <p:cNvSpPr/>
          <p:nvPr/>
        </p:nvSpPr>
        <p:spPr>
          <a:xfrm>
            <a:off x="449676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val_loss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기준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patience 30 / 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개선이 없으면 학습 중단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가장 좋았던 가중치 복원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1"/>
          <p:cNvSpPr/>
          <p:nvPr/>
        </p:nvSpPr>
        <p:spPr>
          <a:xfrm>
            <a:off x="8097480" y="4937760"/>
            <a:ext cx="3636720" cy="1252440"/>
          </a:xfrm>
          <a:prstGeom prst="roundRect">
            <a:avLst>
              <a:gd name="adj" fmla="val 5839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8316720" y="5047560"/>
            <a:ext cx="3197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ReduceLROnPlateau · 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검증 분리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3"/>
          <p:cNvSpPr/>
          <p:nvPr/>
        </p:nvSpPr>
        <p:spPr>
          <a:xfrm>
            <a:off x="8316720" y="5349240"/>
            <a:ext cx="3197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학습률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×0.5 (patience 15 / 5)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validation_split 0.2 =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날짜순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입력의 마지막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20% (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최근 기간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4"/>
          <p:cNvSpPr/>
          <p:nvPr/>
        </p:nvSpPr>
        <p:spPr>
          <a:xfrm>
            <a:off x="5943600" y="4736520"/>
            <a:ext cx="5790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앞 숫자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이송 건수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/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뒤 숫자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인구 밀집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08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성능 비교 — </a:t>
            </a: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개월 정확도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위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앙상블을 최종 모델로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모델 선택은 검증 점수로만 — 평가 점수는 선택이 끝난 뒤 일반화 성능 확인용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4-2 · 4-2-2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(transport_model_scores, transport_ensemble_compare)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457200" y="1993320"/>
            <a:ext cx="6949080" cy="4196880"/>
          </a:xfrm>
          <a:prstGeom prst="roundRect">
            <a:avLst>
              <a:gd name="adj" fmla="val 174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Chart 0"/>
          <p:cNvGraphicFramePr/>
          <p:nvPr/>
        </p:nvGraphicFramePr>
        <p:xfrm>
          <a:off x="548640" y="2057400"/>
          <a:ext cx="676620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7" name="Shape 6"/>
          <p:cNvSpPr/>
          <p:nvPr/>
        </p:nvSpPr>
        <p:spPr>
          <a:xfrm>
            <a:off x="7589520" y="1993320"/>
            <a:ext cx="4144680" cy="2011320"/>
          </a:xfrm>
          <a:prstGeom prst="roundRect">
            <a:avLst>
              <a:gd name="adj" fmla="val 3636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7"/>
          <p:cNvSpPr/>
          <p:nvPr/>
        </p:nvSpPr>
        <p:spPr>
          <a:xfrm>
            <a:off x="7809120" y="2103120"/>
            <a:ext cx="370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앙상블 </a:t>
            </a:r>
            <a:r>
              <a:rPr lang="en-US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= </a:t>
            </a:r>
            <a:r>
              <a:rPr lang="zh-CN" sz="13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예측의 평균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8"/>
          <p:cNvSpPr/>
          <p:nvPr/>
        </p:nvSpPr>
        <p:spPr>
          <a:xfrm>
            <a:off x="7809120" y="2514600"/>
            <a:ext cx="1462680" cy="4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9"/>
          <p:cNvSpPr/>
          <p:nvPr/>
        </p:nvSpPr>
        <p:spPr>
          <a:xfrm>
            <a:off x="7809120" y="2514600"/>
            <a:ext cx="1462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GradientBoosting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7809120" y="3063240"/>
            <a:ext cx="1462680" cy="43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7809120" y="3063240"/>
            <a:ext cx="14626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Ridge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2"/>
          <p:cNvSpPr/>
          <p:nvPr/>
        </p:nvSpPr>
        <p:spPr>
          <a:xfrm>
            <a:off x="9317520" y="3008160"/>
            <a:ext cx="41148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3"/>
          <p:cNvSpPr/>
          <p:nvPr/>
        </p:nvSpPr>
        <p:spPr>
          <a:xfrm>
            <a:off x="9775080" y="2715840"/>
            <a:ext cx="173988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4"/>
          <p:cNvSpPr/>
          <p:nvPr/>
        </p:nvSpPr>
        <p:spPr>
          <a:xfrm>
            <a:off x="9775080" y="2715840"/>
            <a:ext cx="173988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(GB + Ridge) /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7809120" y="3611880"/>
            <a:ext cx="3705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GB: 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구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 조합 효과 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/ Ridge: 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직선 관계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학습 범위 밖 추세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6"/>
          <p:cNvSpPr/>
          <p:nvPr/>
        </p:nvSpPr>
        <p:spPr>
          <a:xfrm>
            <a:off x="7589520" y="414216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772400" y="414216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0.500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8"/>
          <p:cNvSpPr/>
          <p:nvPr/>
        </p:nvSpPr>
        <p:spPr>
          <a:xfrm>
            <a:off x="9052560" y="414216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오차 상관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(GB vs Ridge)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9"/>
          <p:cNvSpPr/>
          <p:nvPr/>
        </p:nvSpPr>
        <p:spPr>
          <a:xfrm>
            <a:off x="7589520" y="467244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E8EEF5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0"/>
          <p:cNvSpPr/>
          <p:nvPr/>
        </p:nvSpPr>
        <p:spPr>
          <a:xfrm>
            <a:off x="7772400" y="467244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+0.26%p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1"/>
          <p:cNvSpPr/>
          <p:nvPr/>
        </p:nvSpPr>
        <p:spPr>
          <a:xfrm>
            <a:off x="9052560" y="467244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정확도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GB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대비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(94.61 vs 94.35)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2"/>
          <p:cNvSpPr/>
          <p:nvPr/>
        </p:nvSpPr>
        <p:spPr>
          <a:xfrm>
            <a:off x="7589520" y="520308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3"/>
          <p:cNvSpPr/>
          <p:nvPr/>
        </p:nvSpPr>
        <p:spPr>
          <a:xfrm>
            <a:off x="7772400" y="520308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43.66</a:t>
            </a:r>
            <a:r>
              <a:rPr lang="zh-CN" sz="15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4"/>
          <p:cNvSpPr/>
          <p:nvPr/>
        </p:nvSpPr>
        <p:spPr>
          <a:xfrm>
            <a:off x="9052560" y="5203080"/>
            <a:ext cx="254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MAE (GB 46.52, Ridge 60.11)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5"/>
          <p:cNvSpPr/>
          <p:nvPr/>
        </p:nvSpPr>
        <p:spPr>
          <a:xfrm>
            <a:off x="7589520" y="5733360"/>
            <a:ext cx="4144680" cy="456840"/>
          </a:xfrm>
          <a:prstGeom prst="roundRect">
            <a:avLst>
              <a:gd name="adj" fmla="val 16000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6"/>
          <p:cNvSpPr/>
          <p:nvPr/>
        </p:nvSpPr>
        <p:spPr>
          <a:xfrm>
            <a:off x="7772400" y="5733360"/>
            <a:ext cx="3778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개월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94.59% · 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기준선 </a:t>
            </a: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93.25%</a:t>
            </a:r>
            <a:r>
              <a:rPr lang="zh-CN" sz="11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보다 높음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09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모델 성능 비교 — 인구 밀집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검증 정확도 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위</a:t>
            </a:r>
            <a:r>
              <a:rPr lang="en-US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en-US" sz="3000" b="1" u="none" strike="noStrike" dirty="0" err="1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RandomForest</a:t>
            </a: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를 최종 모델로 선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검증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180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일로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모델을 비교해 선택하고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365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일로 일반화 성능을 확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5-3 · 5-4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(population_model_scores)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457200" y="1993320"/>
            <a:ext cx="6949080" cy="4196880"/>
          </a:xfrm>
          <a:prstGeom prst="roundRect">
            <a:avLst>
              <a:gd name="adj" fmla="val 174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4" name="Chart 0"/>
          <p:cNvGraphicFramePr/>
          <p:nvPr/>
        </p:nvGraphicFramePr>
        <p:xfrm>
          <a:off x="548640" y="2057400"/>
          <a:ext cx="676620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5" name="Shape 6"/>
          <p:cNvSpPr/>
          <p:nvPr/>
        </p:nvSpPr>
        <p:spPr>
          <a:xfrm>
            <a:off x="7589520" y="19933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7"/>
          <p:cNvSpPr/>
          <p:nvPr/>
        </p:nvSpPr>
        <p:spPr>
          <a:xfrm>
            <a:off x="7809120" y="19933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98.59%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9692640" y="21762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검증 정확도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9"/>
          <p:cNvSpPr/>
          <p:nvPr/>
        </p:nvSpPr>
        <p:spPr>
          <a:xfrm>
            <a:off x="9692640" y="24688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3EAF3"/>
                </a:solidFill>
                <a:effectLst/>
                <a:uFillTx/>
                <a:latin typeface="Pretendard"/>
                <a:ea typeface="Pretendard"/>
              </a:rPr>
              <a:t>GradientBoosting 98.36% · DNN 98.01%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7589520" y="30175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1"/>
          <p:cNvSpPr/>
          <p:nvPr/>
        </p:nvSpPr>
        <p:spPr>
          <a:xfrm>
            <a:off x="7809120" y="30175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98.16%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2"/>
          <p:cNvSpPr/>
          <p:nvPr/>
        </p:nvSpPr>
        <p:spPr>
          <a:xfrm>
            <a:off x="9692640" y="32004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정확도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3"/>
          <p:cNvSpPr/>
          <p:nvPr/>
        </p:nvSpPr>
        <p:spPr>
          <a:xfrm>
            <a:off x="9692640" y="34930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평가에서도 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위 유지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589520" y="4041720"/>
            <a:ext cx="4144680" cy="9140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5"/>
          <p:cNvSpPr/>
          <p:nvPr/>
        </p:nvSpPr>
        <p:spPr>
          <a:xfrm>
            <a:off x="7809120" y="4041720"/>
            <a:ext cx="1828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8,836</a:t>
            </a:r>
            <a:r>
              <a:rPr lang="zh-CN" sz="26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명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6"/>
          <p:cNvSpPr/>
          <p:nvPr/>
        </p:nvSpPr>
        <p:spPr>
          <a:xfrm>
            <a:off x="9692640" y="422460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</a:t>
            </a: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MAE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9692640" y="4517280"/>
            <a:ext cx="185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기준선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(7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전 값</a:t>
            </a:r>
            <a:r>
              <a:rPr lang="en-US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) 12,015</a:t>
            </a:r>
            <a:r>
              <a:rPr lang="zh-CN" sz="95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명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7589520" y="5102280"/>
            <a:ext cx="4144680" cy="108792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7809120" y="5193720"/>
            <a:ext cx="3705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평가 기간 오차율 상위 날짜 </a:t>
            </a:r>
            <a:r>
              <a:rPr lang="en-US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서울 평균</a:t>
            </a:r>
            <a:r>
              <a:rPr lang="en-US" sz="11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0"/>
          <p:cNvSpPr/>
          <p:nvPr/>
        </p:nvSpPr>
        <p:spPr>
          <a:xfrm>
            <a:off x="7809120" y="5468040"/>
            <a:ext cx="37058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2025-10-06  13.07%  ·  2026-02-16  12.36%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2025-10-15  12.06%  ·  2025-10-05  11.31%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→ 명절 연휴 부근에서 오차가 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10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특성 중요도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 dirty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두 모델 모두 “직전 같은 값”이 예측을 주</a:t>
            </a:r>
            <a:r>
              <a:rPr lang="zh-CN" sz="3000" b="1" u="none" strike="noStrike" dirty="0" smtClean="0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도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최종 모델의 트리 기반 중요도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원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핫은 구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월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요일 단위로 합산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합계 </a:t>
            </a:r>
            <a:r>
              <a:rPr lang="en-US" sz="15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4-5 · 5-5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— 학습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+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데이터로 학습한 모델 기준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5"/>
          <p:cNvSpPr/>
          <p:nvPr/>
        </p:nvSpPr>
        <p:spPr>
          <a:xfrm>
            <a:off x="457200" y="1993320"/>
            <a:ext cx="5546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6"/>
          <p:cNvSpPr/>
          <p:nvPr/>
        </p:nvSpPr>
        <p:spPr>
          <a:xfrm>
            <a:off x="6187320" y="1993320"/>
            <a:ext cx="5546880" cy="3465360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7" name="Chart 0"/>
          <p:cNvGraphicFramePr/>
          <p:nvPr/>
        </p:nvGraphicFramePr>
        <p:xfrm>
          <a:off x="548640" y="2057400"/>
          <a:ext cx="5364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8" name="Chart 1"/>
          <p:cNvGraphicFramePr/>
          <p:nvPr/>
        </p:nvGraphicFramePr>
        <p:xfrm>
          <a:off x="6278760" y="2057400"/>
          <a:ext cx="536400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9" name="Shape 7"/>
          <p:cNvSpPr/>
          <p:nvPr/>
        </p:nvSpPr>
        <p:spPr>
          <a:xfrm>
            <a:off x="457200" y="5641920"/>
            <a:ext cx="554688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"/>
          <p:cNvSpPr/>
          <p:nvPr/>
        </p:nvSpPr>
        <p:spPr>
          <a:xfrm>
            <a:off x="676800" y="56419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생활인구 변수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개 합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0.015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3063240" y="5641920"/>
            <a:ext cx="2757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인구 변수 기여는 작음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달력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4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개 합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0.034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0"/>
          <p:cNvSpPr/>
          <p:nvPr/>
        </p:nvSpPr>
        <p:spPr>
          <a:xfrm>
            <a:off x="6187320" y="5641920"/>
            <a:ext cx="5546880" cy="548280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 w="9525">
            <a:solidFill>
              <a:srgbClr val="E8EE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1"/>
          <p:cNvSpPr/>
          <p:nvPr/>
        </p:nvSpPr>
        <p:spPr>
          <a:xfrm>
            <a:off x="6406920" y="56419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직전 값 이외 합 </a:t>
            </a:r>
            <a:r>
              <a:rPr lang="en-US" sz="1200" b="1" u="none" strike="noStrike">
                <a:solidFill>
                  <a:srgbClr val="2F5D8A"/>
                </a:solidFill>
                <a:effectLst/>
                <a:uFillTx/>
                <a:latin typeface="Pretendard"/>
                <a:ea typeface="Pretendard"/>
              </a:rPr>
              <a:t>0.040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8793360" y="5641920"/>
            <a:ext cx="2757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일 전 같은 요일 값이 </a:t>
            </a:r>
            <a:r>
              <a:rPr lang="en-US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0.960</a:t>
            </a:r>
            <a:r>
              <a:rPr lang="zh-CN" sz="1000" b="0" u="none" strike="noStrike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을 차지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457200" y="365760"/>
            <a:ext cx="1127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11  </a:t>
            </a:r>
            <a:r>
              <a:rPr lang="zh-CN" sz="12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최종 모델 선정 및 미래 예측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457200" y="7682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선택 → 확인 → 재학습 → 저장 → 미래 예측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457200" y="1444680"/>
            <a:ext cx="1127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평가 확인이 끝난 모델을 사용 가능한 전체 데이터로 다시 학습해 저장하고</a:t>
            </a:r>
            <a:r>
              <a:rPr lang="en-US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lang="zh-CN" sz="1500" b="0" u="none" strike="noStrike" dirty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불러와서 예</a:t>
            </a:r>
            <a:r>
              <a:rPr lang="zh-CN" sz="1500" b="0" u="none" strike="noStrike" dirty="0" smtClean="0">
                <a:solidFill>
                  <a:srgbClr val="4A5260"/>
                </a:solidFill>
                <a:effectLst/>
                <a:uFillTx/>
                <a:latin typeface="Pretendard"/>
                <a:ea typeface="Pretendard"/>
              </a:rPr>
              <a:t>측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457200" y="637344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"/>
          <p:cNvSpPr/>
          <p:nvPr/>
        </p:nvSpPr>
        <p:spPr>
          <a:xfrm>
            <a:off x="1371600" y="6373440"/>
            <a:ext cx="1036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출처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: 03_119_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통합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_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예측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.ipynb — 4-6 · 5-5 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출력 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(transport_forecast_by_gu — 25</a:t>
            </a:r>
            <a:r>
              <a:rPr lang="zh-CN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개 구 예측값 합산</a:t>
            </a:r>
            <a:r>
              <a:rPr lang="en-US" sz="900" b="0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196596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검증 비교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361980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최종 선택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"/>
          <p:cNvSpPr/>
          <p:nvPr/>
        </p:nvSpPr>
        <p:spPr>
          <a:xfrm>
            <a:off x="527400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평가 확인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692784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전체 재학습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58204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저장 </a:t>
            </a:r>
            <a:r>
              <a:rPr lang="en-US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· </a:t>
            </a: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불러오기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0"/>
          <p:cNvSpPr/>
          <p:nvPr/>
        </p:nvSpPr>
        <p:spPr>
          <a:xfrm>
            <a:off x="10235880" y="1993320"/>
            <a:ext cx="1498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미래 예측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457200" y="2304360"/>
            <a:ext cx="14169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119 </a:t>
            </a: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이송 건수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2"/>
          <p:cNvSpPr/>
          <p:nvPr/>
        </p:nvSpPr>
        <p:spPr>
          <a:xfrm>
            <a:off x="196596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3"/>
          <p:cNvSpPr/>
          <p:nvPr/>
        </p:nvSpPr>
        <p:spPr>
          <a:xfrm>
            <a:off x="203904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4"/>
          <p:cNvSpPr/>
          <p:nvPr/>
        </p:nvSpPr>
        <p:spPr>
          <a:xfrm>
            <a:off x="347364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5"/>
          <p:cNvSpPr/>
          <p:nvPr/>
        </p:nvSpPr>
        <p:spPr>
          <a:xfrm>
            <a:off x="361980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6"/>
          <p:cNvSpPr/>
          <p:nvPr/>
        </p:nvSpPr>
        <p:spPr>
          <a:xfrm>
            <a:off x="369324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앙상블 </a:t>
            </a: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GB+Ridge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7"/>
          <p:cNvSpPr/>
          <p:nvPr/>
        </p:nvSpPr>
        <p:spPr>
          <a:xfrm>
            <a:off x="512748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8"/>
          <p:cNvSpPr/>
          <p:nvPr/>
        </p:nvSpPr>
        <p:spPr>
          <a:xfrm>
            <a:off x="527400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9"/>
          <p:cNvSpPr/>
          <p:nvPr/>
        </p:nvSpPr>
        <p:spPr>
          <a:xfrm>
            <a:off x="534708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94.59%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0"/>
          <p:cNvSpPr/>
          <p:nvPr/>
        </p:nvSpPr>
        <p:spPr>
          <a:xfrm>
            <a:off x="678132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1"/>
          <p:cNvSpPr/>
          <p:nvPr/>
        </p:nvSpPr>
        <p:spPr>
          <a:xfrm>
            <a:off x="692784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2"/>
          <p:cNvSpPr/>
          <p:nvPr/>
        </p:nvSpPr>
        <p:spPr>
          <a:xfrm>
            <a:off x="700128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2,180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3"/>
          <p:cNvSpPr/>
          <p:nvPr/>
        </p:nvSpPr>
        <p:spPr>
          <a:xfrm>
            <a:off x="843552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4"/>
          <p:cNvSpPr/>
          <p:nvPr/>
        </p:nvSpPr>
        <p:spPr>
          <a:xfrm>
            <a:off x="858204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5"/>
          <p:cNvSpPr/>
          <p:nvPr/>
        </p:nvSpPr>
        <p:spPr>
          <a:xfrm>
            <a:off x="865512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pickle ·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확인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6"/>
          <p:cNvSpPr/>
          <p:nvPr/>
        </p:nvSpPr>
        <p:spPr>
          <a:xfrm>
            <a:off x="10089360" y="259668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7"/>
          <p:cNvSpPr/>
          <p:nvPr/>
        </p:nvSpPr>
        <p:spPr>
          <a:xfrm>
            <a:off x="10235880" y="230436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8"/>
          <p:cNvSpPr/>
          <p:nvPr/>
        </p:nvSpPr>
        <p:spPr>
          <a:xfrm>
            <a:off x="10308960" y="230436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2026-01 ~ 06 </a:t>
            </a:r>
            <a:r>
              <a:rPr lang="zh-CN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구별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9"/>
          <p:cNvSpPr/>
          <p:nvPr/>
        </p:nvSpPr>
        <p:spPr>
          <a:xfrm>
            <a:off x="457200" y="3017520"/>
            <a:ext cx="14169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인구 밀집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0"/>
          <p:cNvSpPr/>
          <p:nvPr/>
        </p:nvSpPr>
        <p:spPr>
          <a:xfrm>
            <a:off x="196596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1"/>
          <p:cNvSpPr/>
          <p:nvPr/>
        </p:nvSpPr>
        <p:spPr>
          <a:xfrm>
            <a:off x="203904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모델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6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32"/>
          <p:cNvSpPr/>
          <p:nvPr/>
        </p:nvSpPr>
        <p:spPr>
          <a:xfrm>
            <a:off x="347364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3"/>
          <p:cNvSpPr/>
          <p:nvPr/>
        </p:nvSpPr>
        <p:spPr>
          <a:xfrm>
            <a:off x="361980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2F5D8A"/>
          </a:solidFill>
          <a:ln w="9525">
            <a:solidFill>
              <a:srgbClr val="2F5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4"/>
          <p:cNvSpPr/>
          <p:nvPr/>
        </p:nvSpPr>
        <p:spPr>
          <a:xfrm>
            <a:off x="369324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RandomForest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35"/>
          <p:cNvSpPr/>
          <p:nvPr/>
        </p:nvSpPr>
        <p:spPr>
          <a:xfrm>
            <a:off x="512748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6"/>
          <p:cNvSpPr/>
          <p:nvPr/>
        </p:nvSpPr>
        <p:spPr>
          <a:xfrm>
            <a:off x="527400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37"/>
          <p:cNvSpPr/>
          <p:nvPr/>
        </p:nvSpPr>
        <p:spPr>
          <a:xfrm>
            <a:off x="534708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98.16%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8"/>
          <p:cNvSpPr/>
          <p:nvPr/>
        </p:nvSpPr>
        <p:spPr>
          <a:xfrm>
            <a:off x="678132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39"/>
          <p:cNvSpPr/>
          <p:nvPr/>
        </p:nvSpPr>
        <p:spPr>
          <a:xfrm>
            <a:off x="692784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0"/>
          <p:cNvSpPr/>
          <p:nvPr/>
        </p:nvSpPr>
        <p:spPr>
          <a:xfrm>
            <a:off x="700128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75,825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41"/>
          <p:cNvSpPr/>
          <p:nvPr/>
        </p:nvSpPr>
        <p:spPr>
          <a:xfrm>
            <a:off x="843552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2"/>
          <p:cNvSpPr/>
          <p:nvPr/>
        </p:nvSpPr>
        <p:spPr>
          <a:xfrm>
            <a:off x="858204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9525">
            <a:solidFill>
              <a:srgbClr val="F4F5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3"/>
          <p:cNvSpPr/>
          <p:nvPr/>
        </p:nvSpPr>
        <p:spPr>
          <a:xfrm>
            <a:off x="865512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pickle · </a:t>
            </a:r>
            <a:r>
              <a:rPr lang="zh-CN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확인 </a:t>
            </a:r>
            <a:r>
              <a:rPr lang="en-US" sz="1050" b="0" u="none" strike="noStrike">
                <a:solidFill>
                  <a:srgbClr val="1F2329"/>
                </a:solidFill>
                <a:effectLst/>
                <a:uFillTx/>
                <a:latin typeface="Pretendard"/>
                <a:ea typeface="Pretendard"/>
              </a:rPr>
              <a:t>True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4"/>
          <p:cNvSpPr/>
          <p:nvPr/>
        </p:nvSpPr>
        <p:spPr>
          <a:xfrm>
            <a:off x="10089360" y="3309840"/>
            <a:ext cx="137160" cy="360"/>
          </a:xfrm>
          <a:prstGeom prst="line">
            <a:avLst/>
          </a:prstGeom>
          <a:ln w="15875">
            <a:solidFill>
              <a:srgbClr val="8A919C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45"/>
          <p:cNvSpPr/>
          <p:nvPr/>
        </p:nvSpPr>
        <p:spPr>
          <a:xfrm>
            <a:off x="10235880" y="3017520"/>
            <a:ext cx="1498320" cy="585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46"/>
          <p:cNvSpPr/>
          <p:nvPr/>
        </p:nvSpPr>
        <p:spPr>
          <a:xfrm>
            <a:off x="10308960" y="3017520"/>
            <a:ext cx="135180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8A919C"/>
                </a:solidFill>
                <a:effectLst/>
                <a:uFillTx/>
                <a:latin typeface="Pretendard"/>
                <a:ea typeface="Pretendard"/>
              </a:rPr>
              <a:t>노트북 내 실행 없음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7"/>
          <p:cNvSpPr/>
          <p:nvPr/>
        </p:nvSpPr>
        <p:spPr>
          <a:xfrm>
            <a:off x="457200" y="3840480"/>
            <a:ext cx="6034680" cy="2349720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9525">
            <a:solidFill>
              <a:srgbClr val="E3E6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3" name="Chart 0"/>
          <p:cNvGraphicFramePr/>
          <p:nvPr/>
        </p:nvGraphicFramePr>
        <p:xfrm>
          <a:off x="548640" y="3886200"/>
          <a:ext cx="5851800" cy="2258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Shape 48"/>
          <p:cNvSpPr/>
          <p:nvPr/>
        </p:nvSpPr>
        <p:spPr>
          <a:xfrm>
            <a:off x="6675120" y="3840480"/>
            <a:ext cx="5059080" cy="2349720"/>
          </a:xfrm>
          <a:prstGeom prst="roundRect">
            <a:avLst>
              <a:gd name="adj" fmla="val 3113"/>
            </a:avLst>
          </a:prstGeom>
          <a:solidFill>
            <a:srgbClr val="1F2329"/>
          </a:solidFill>
          <a:ln w="9525">
            <a:solidFill>
              <a:srgbClr val="1F23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9"/>
          <p:cNvSpPr/>
          <p:nvPr/>
        </p:nvSpPr>
        <p:spPr>
          <a:xfrm>
            <a:off x="6894720" y="39502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핵심 메시지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0"/>
          <p:cNvSpPr/>
          <p:nvPr/>
        </p:nvSpPr>
        <p:spPr>
          <a:xfrm>
            <a:off x="6894720" y="4316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1"/>
          <p:cNvSpPr/>
          <p:nvPr/>
        </p:nvSpPr>
        <p:spPr>
          <a:xfrm>
            <a:off x="7223760" y="43160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변수는 학습 기간 상관분석으로 탐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색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52"/>
          <p:cNvSpPr/>
          <p:nvPr/>
        </p:nvSpPr>
        <p:spPr>
          <a:xfrm>
            <a:off x="6894720" y="47732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53"/>
          <p:cNvSpPr/>
          <p:nvPr/>
        </p:nvSpPr>
        <p:spPr>
          <a:xfrm>
            <a:off x="7223760" y="47732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상관만으로 정하지 않고 특성 조합 실험으로 재검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54"/>
          <p:cNvSpPr/>
          <p:nvPr/>
        </p:nvSpPr>
        <p:spPr>
          <a:xfrm>
            <a:off x="6894720" y="52304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5"/>
          <p:cNvSpPr/>
          <p:nvPr/>
        </p:nvSpPr>
        <p:spPr>
          <a:xfrm>
            <a:off x="7223760" y="52304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특성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설정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·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모델은 검증 데이터로만 선</a:t>
            </a:r>
            <a:r>
              <a:rPr lang="zh-CN" sz="1200" b="0" u="none" strike="noStrike" dirty="0" smtClean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56"/>
          <p:cNvSpPr/>
          <p:nvPr/>
        </p:nvSpPr>
        <p:spPr>
          <a:xfrm>
            <a:off x="6894720" y="56876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FB6D1"/>
                </a:solidFill>
                <a:effectLst/>
                <a:uFillTx/>
                <a:latin typeface="Pretendard"/>
                <a:ea typeface="Pretendard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7"/>
          <p:cNvSpPr/>
          <p:nvPr/>
        </p:nvSpPr>
        <p:spPr>
          <a:xfrm>
            <a:off x="7223760" y="5687640"/>
            <a:ext cx="4343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가장 복잡한 모델이 아닌 검증 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1</a:t>
            </a:r>
            <a:r>
              <a:rPr lang="zh-CN" sz="1200" b="0" u="none" strike="noStrike" dirty="0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위 모델을 </a:t>
            </a:r>
            <a:r>
              <a:rPr lang="ko-KR" altLang="en-US" sz="1200" dirty="0" smtClean="0">
                <a:solidFill>
                  <a:srgbClr val="FFFFFF"/>
                </a:solidFill>
                <a:latin typeface="Pretendard"/>
                <a:ea typeface="Pretendard"/>
              </a:rPr>
              <a:t>선택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6080</Words>
  <Application>Microsoft Office PowerPoint</Application>
  <PresentationFormat>와이드스크린</PresentationFormat>
  <Paragraphs>476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DejaVu Sans</vt:lpstr>
      <vt:lpstr>Pretendard</vt:lpstr>
      <vt:lpstr>Arial</vt:lpstr>
      <vt:lpstr>Symbol</vt:lpstr>
      <vt:lpstr>Times New Roman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Admin</cp:lastModifiedBy>
  <cp:revision>1</cp:revision>
  <dcterms:modified xsi:type="dcterms:W3CDTF">2026-10-01T05:39:35Z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2026-10-01T04:17:13Z</dcterms:created>
  <dc:creator>PptxGenJS</dc:creator>
  <dc:description/>
  <dc:language>en-US</dc:language>
  <cp:lastModifiedBy>PptxGenJS</cp:lastModifiedBy>
  <dcterms:modified xsi:type="dcterms:W3CDTF">2026-10-01T04:17:13Z</dcterms:modified>
  <cp:revision>1</cp:revision>
  <dc:subject>PptxGenJS Presentation</dc:subject>
  <dc:title>서울시 119 이송 건수 · 인구 밀집 예측 모델 개발 과정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