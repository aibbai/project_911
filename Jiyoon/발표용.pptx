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6.xml" ContentType="application/vnd.openxmlformats-officedocument.drawingml.chart+xml"/>
  <Override PartName="/ppt/notesSlides/notesSlide26.xml" ContentType="application/vnd.openxmlformats-officedocument.presentationml.notesSlide+xml"/>
  <Override PartName="/ppt/charts/chart7.xml" ContentType="application/vnd.openxmlformats-officedocument.drawingml.chart+xml"/>
  <Override PartName="/ppt/notesSlides/notesSlide27.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28.xml" ContentType="application/vnd.openxmlformats-officedocument.presentationml.notesSlide+xml"/>
  <Override PartName="/ppt/charts/chart10.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이송 건수 상관계수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구 간 </a:t>
            </a:r>
            <a:r>
              <a:rPr lang="en-US" altLang="ko-KR" sz="1400" b="1" i="0" u="none" strike="noStrike">
                <a:solidFill>
                  <a:srgbClr val="222222"/>
                </a:solidFill>
                <a:latin typeface="에이투지체 5 Medium"/>
                <a:ea typeface="에이투지체 5 Medium"/>
                <a:cs typeface="에이투지체 5 Medium"/>
              </a:rPr>
              <a:t>0.3 </a:t>
            </a:r>
            <a:r>
              <a:rPr lang="ko-KR" altLang="en-US" sz="1400" b="1" i="0" u="none" strike="noStrike">
                <a:solidFill>
                  <a:srgbClr val="222222"/>
                </a:solidFill>
                <a:latin typeface="에이투지체 5 Medium"/>
                <a:ea typeface="에이투지체 5 Medium"/>
                <a:cs typeface="에이투지체 5 Medium"/>
              </a:rPr>
              <a:t>이상 </a:t>
            </a:r>
            <a:r>
              <a:rPr lang="en-US" altLang="ko-KR" sz="1400" b="1" i="0" u="none" strike="noStrike">
                <a:solidFill>
                  <a:srgbClr val="222222"/>
                </a:solidFill>
                <a:latin typeface="에이투지체 5 Medium"/>
                <a:ea typeface="에이투지체 5 Medium"/>
                <a:cs typeface="에이투지체 5 Medium"/>
              </a:rPr>
              <a:t>7</a:t>
            </a:r>
            <a:r>
              <a:rPr lang="ko-KR" altLang="en-US" sz="1400" b="1" i="0" u="none" strike="noStrike">
                <a:solidFill>
                  <a:srgbClr val="222222"/>
                </a:solidFill>
                <a:latin typeface="에이투지체 5 Medium"/>
                <a:ea typeface="에이투지체 5 Medium"/>
                <a:cs typeface="에이투지체 5 Medium"/>
              </a:rPr>
              <a:t>개</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bar"/>
        <c:grouping val="clustered"/>
        <c:varyColors val="0"/>
        <c:ser>
          <c:idx val="0"/>
          <c:order val="0"/>
          <c:tx>
            <c:strRef>
              <c:f>Sheet1!$B$1</c:f>
              <c:strCache>
                <c:ptCount val="1"/>
                <c:pt idx="0">
                  <c:v>구 내 (월별 변화)</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Sheet1!$B$2:$B$8</c:f>
              <c:numCache>
                <c:formatCode>General</c:formatCode>
                <c:ptCount val="7"/>
                <c:pt idx="0">
                  <c:v>0.3</c:v>
                </c:pt>
                <c:pt idx="1">
                  <c:v>0.26500000000000001</c:v>
                </c:pt>
                <c:pt idx="2">
                  <c:v>0.32900000000000001</c:v>
                </c:pt>
                <c:pt idx="3">
                  <c:v>0.28000000000000003</c:v>
                </c:pt>
                <c:pt idx="4">
                  <c:v>0.17799999999999999</c:v>
                </c:pt>
                <c:pt idx="5">
                  <c:v>8.6999999999999994E-2</c:v>
                </c:pt>
                <c:pt idx="6">
                  <c:v>0.28000000000000003</c:v>
                </c:pt>
              </c:numCache>
            </c:numRef>
          </c:val>
          <c:extLst>
            <c:ext xmlns:c16="http://schemas.microsoft.com/office/drawing/2014/chart" uri="{C3380CC4-5D6E-409C-BE32-E72D297353CC}">
              <c16:uniqueId val="{00000000-A774-4DE8-9106-6F8274495B34}"/>
            </c:ext>
          </c:extLst>
        </c:ser>
        <c:ser>
          <c:idx val="1"/>
          <c:order val="1"/>
          <c:tx>
            <c:strRef>
              <c:f>Sheet1!$C$1</c:f>
              <c:strCache>
                <c:ptCount val="1"/>
                <c:pt idx="0">
                  <c:v>구 간 (구별 평균)</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서울외 유입인구</c:v>
                </c:pt>
                <c:pt idx="1">
                  <c:v>주간인구</c:v>
                </c:pt>
                <c:pt idx="2">
                  <c:v>일최대인구</c:v>
                </c:pt>
                <c:pt idx="3">
                  <c:v>총 생활인구</c:v>
                </c:pt>
                <c:pt idx="4">
                  <c:v>일최소인구</c:v>
                </c:pt>
                <c:pt idx="5">
                  <c:v>동일구 행정동간 이동</c:v>
                </c:pt>
                <c:pt idx="6">
                  <c:v>야간인구</c:v>
                </c:pt>
              </c:strCache>
            </c:strRef>
          </c:cat>
          <c:val>
            <c:numRef>
              <c:f>Sheet1!$C$2:$C$8</c:f>
              <c:numCache>
                <c:formatCode>General</c:formatCode>
                <c:ptCount val="7"/>
                <c:pt idx="0">
                  <c:v>0.36099999999999999</c:v>
                </c:pt>
                <c:pt idx="1">
                  <c:v>0.63500000000000001</c:v>
                </c:pt>
                <c:pt idx="2">
                  <c:v>0.68100000000000005</c:v>
                </c:pt>
                <c:pt idx="3">
                  <c:v>0.751</c:v>
                </c:pt>
                <c:pt idx="4">
                  <c:v>0.77400000000000002</c:v>
                </c:pt>
                <c:pt idx="5">
                  <c:v>0.78900000000000003</c:v>
                </c:pt>
                <c:pt idx="6">
                  <c:v>0.80700000000000005</c:v>
                </c:pt>
              </c:numCache>
            </c:numRef>
          </c:val>
          <c:extLst>
            <c:ext xmlns:c16="http://schemas.microsoft.com/office/drawing/2014/chart" uri="{C3380CC4-5D6E-409C-BE32-E72D297353CC}">
              <c16:uniqueId val="{00000001-A774-4DE8-9106-6F8274495B3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지표별 가중치</a:t>
            </a:r>
          </a:p>
        </c:rich>
      </c:tx>
      <c:layout/>
      <c:overlay val="0"/>
    </c:title>
    <c:autoTitleDeleted val="0"/>
    <c:plotArea>
      <c:layout/>
      <c:barChart>
        <c:barDir val="bar"/>
        <c:grouping val="clustered"/>
        <c:varyColors val="0"/>
        <c:ser>
          <c:idx val="0"/>
          <c:order val="0"/>
          <c:tx>
            <c:strRef>
              <c:f>Sheet1!$B$1</c:f>
              <c:strCache>
                <c:ptCount val="1"/>
                <c:pt idx="0">
                  <c:v>가중치</c:v>
                </c:pt>
              </c:strCache>
            </c:strRef>
          </c:tx>
          <c:spPr>
            <a:solidFill>
              <a:srgbClr val="D62828"/>
            </a:solidFill>
            <a:effectLst/>
          </c:spPr>
          <c:invertIfNegative val="0"/>
          <c:dLbls>
            <c:numFmt formatCode="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서울외 유입인구</c:v>
                </c:pt>
                <c:pt idx="1">
                  <c:v>일최대인구</c:v>
                </c:pt>
                <c:pt idx="2">
                  <c:v>동일구 행정동간 이동</c:v>
                </c:pt>
                <c:pt idx="3">
                  <c:v>야간인구</c:v>
                </c:pt>
              </c:strCache>
            </c:strRef>
          </c:cat>
          <c:val>
            <c:numRef>
              <c:f>Sheet1!$B$2:$B$5</c:f>
              <c:numCache>
                <c:formatCode>General</c:formatCode>
                <c:ptCount val="4"/>
                <c:pt idx="0">
                  <c:v>0.13700000000000001</c:v>
                </c:pt>
                <c:pt idx="1">
                  <c:v>0.25800000000000001</c:v>
                </c:pt>
                <c:pt idx="2">
                  <c:v>0.29899999999999999</c:v>
                </c:pt>
                <c:pt idx="3">
                  <c:v>0.30599999999999999</c:v>
                </c:pt>
              </c:numCache>
            </c:numRef>
          </c:val>
          <c:extLst>
            <c:ext xmlns:c16="http://schemas.microsoft.com/office/drawing/2014/chart" uri="{C3380CC4-5D6E-409C-BE32-E72D297353CC}">
              <c16:uniqueId val="{00000000-14E7-4C28-89F6-BA7CB1D99CB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0.4"/>
          <c:min val="0"/>
        </c:scaling>
        <c:delete val="0"/>
        <c:axPos val="b"/>
        <c:majorGridlines>
          <c:spPr>
            <a:ln w="9525" cap="flat">
              <a:solidFill>
                <a:srgbClr val="E5E7EB"/>
              </a:solidFill>
              <a:prstDash val="solid"/>
              <a:round/>
            </a:ln>
          </c:spPr>
        </c:majorGridlines>
        <c:numFmt formatCode="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1"/>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월별 이송 지수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전체 평균 </a:t>
            </a:r>
            <a:r>
              <a:rPr lang="en-US" altLang="ko-KR" sz="1400" b="1" i="0" u="none" strike="noStrike">
                <a:solidFill>
                  <a:srgbClr val="222222"/>
                </a:solidFill>
                <a:latin typeface="에이투지체 5 Medium"/>
                <a:ea typeface="에이투지체 5 Medium"/>
                <a:cs typeface="에이투지체 5 Medium"/>
              </a:rPr>
              <a:t>= 100)</a:t>
            </a:r>
          </a:p>
        </c:rich>
      </c:tx>
      <c:layout/>
      <c:overlay val="0"/>
    </c:title>
    <c:autoTitleDeleted val="0"/>
    <c:plotArea>
      <c:layout/>
      <c:barChart>
        <c:barDir val="col"/>
        <c:grouping val="clustered"/>
        <c:varyColors val="0"/>
        <c:ser>
          <c:idx val="0"/>
          <c:order val="0"/>
          <c:tx>
            <c:strRef>
              <c:f>Sheet1!$B$1</c:f>
              <c:strCache>
                <c:ptCount val="1"/>
                <c:pt idx="0">
                  <c:v>이송 지수</c:v>
                </c:pt>
              </c:strCache>
            </c:strRef>
          </c:tx>
          <c:spPr>
            <a:solidFill>
              <a:srgbClr val="D62828"/>
            </a:solidFill>
            <a:effectLst/>
          </c:spPr>
          <c:invertIfNegative val="0"/>
          <c:dLbls>
            <c:numFmt formatCode="0.0" sourceLinked="0"/>
            <c:spPr>
              <a:noFill/>
              <a:ln>
                <a:noFill/>
              </a:ln>
              <a:effectLst/>
            </c:spPr>
            <c:txPr>
              <a:bodyPr/>
              <a:lstStyle/>
              <a:p>
                <a:pPr>
                  <a:defRPr sz="10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Sheet1!$A$2:$A$13</c:f>
              <c:strCache>
                <c:ptCount val="12"/>
                <c:pt idx="0">
                  <c:v>1월</c:v>
                </c:pt>
                <c:pt idx="1">
                  <c:v>2월</c:v>
                </c:pt>
                <c:pt idx="2">
                  <c:v>3월</c:v>
                </c:pt>
                <c:pt idx="3">
                  <c:v>4월</c:v>
                </c:pt>
                <c:pt idx="4">
                  <c:v>5월</c:v>
                </c:pt>
                <c:pt idx="5">
                  <c:v>6월</c:v>
                </c:pt>
                <c:pt idx="6">
                  <c:v>7월</c:v>
                </c:pt>
                <c:pt idx="7">
                  <c:v>8월</c:v>
                </c:pt>
                <c:pt idx="8">
                  <c:v>9월</c:v>
                </c:pt>
                <c:pt idx="9">
                  <c:v>10월</c:v>
                </c:pt>
                <c:pt idx="10">
                  <c:v>11월</c:v>
                </c:pt>
                <c:pt idx="11">
                  <c:v>12월</c:v>
                </c:pt>
              </c:strCache>
            </c:strRef>
          </c:cat>
          <c:val>
            <c:numRef>
              <c:f>Sheet1!$B$2:$B$13</c:f>
              <c:numCache>
                <c:formatCode>General</c:formatCode>
                <c:ptCount val="12"/>
                <c:pt idx="0">
                  <c:v>100.4</c:v>
                </c:pt>
                <c:pt idx="1">
                  <c:v>86.8</c:v>
                </c:pt>
                <c:pt idx="2">
                  <c:v>93.4</c:v>
                </c:pt>
                <c:pt idx="3">
                  <c:v>95.6</c:v>
                </c:pt>
                <c:pt idx="4">
                  <c:v>103.1</c:v>
                </c:pt>
                <c:pt idx="5">
                  <c:v>102.1</c:v>
                </c:pt>
                <c:pt idx="6">
                  <c:v>108.6</c:v>
                </c:pt>
                <c:pt idx="7">
                  <c:v>108.4</c:v>
                </c:pt>
                <c:pt idx="8">
                  <c:v>100.8</c:v>
                </c:pt>
                <c:pt idx="9">
                  <c:v>100.7</c:v>
                </c:pt>
                <c:pt idx="10">
                  <c:v>97</c:v>
                </c:pt>
                <c:pt idx="11">
                  <c:v>102.8</c:v>
                </c:pt>
              </c:numCache>
            </c:numRef>
          </c:val>
          <c:extLst>
            <c:ext xmlns:c16="http://schemas.microsoft.com/office/drawing/2014/chart" uri="{C3380CC4-5D6E-409C-BE32-E72D297353CC}">
              <c16:uniqueId val="{00000000-2270-47BA-9AE0-F409146F436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12"/>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입력 조합별 최고 검증 정확도 </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최고 검증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A 구·월</c:v>
                </c:pt>
                <c:pt idx="1">
                  <c:v>B +인구</c:v>
                </c:pt>
                <c:pt idx="2">
                  <c:v>C +기대값</c:v>
                </c:pt>
                <c:pt idx="3">
                  <c:v>D +이송 이력</c:v>
                </c:pt>
                <c:pt idx="4">
                  <c:v>E 전체</c:v>
                </c:pt>
              </c:strCache>
            </c:strRef>
          </c:cat>
          <c:val>
            <c:numRef>
              <c:f>Sheet1!$B$2:$B$6</c:f>
              <c:numCache>
                <c:formatCode>General</c:formatCode>
                <c:ptCount val="5"/>
                <c:pt idx="0">
                  <c:v>84.39</c:v>
                </c:pt>
                <c:pt idx="1">
                  <c:v>87.21</c:v>
                </c:pt>
                <c:pt idx="2">
                  <c:v>88.03</c:v>
                </c:pt>
                <c:pt idx="3">
                  <c:v>94.96</c:v>
                </c:pt>
                <c:pt idx="4">
                  <c:v>94.79</c:v>
                </c:pt>
              </c:numCache>
            </c:numRef>
          </c:val>
          <c:extLst>
            <c:ext xmlns:c16="http://schemas.microsoft.com/office/drawing/2014/chart" uri="{C3380CC4-5D6E-409C-BE32-E72D297353CC}">
              <c16:uniqueId val="{00000000-06BE-46B6-B914-7791570D3DA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7"/>
          <c:min val="8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설정별 최고 검증 정확도 </a:t>
            </a: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최고 정확도</c:v>
                </c:pt>
              </c:strCache>
            </c:strRef>
          </c:tx>
          <c:spPr>
            <a:solidFill>
              <a:srgbClr val="D62828"/>
            </a:solidFill>
            <a:effectLst/>
          </c:spPr>
          <c:invertIfNegative val="0"/>
          <c:dLbls>
            <c:numFmt formatCode="0.00&quot;%&quot;"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기본</c:v>
                </c:pt>
                <c:pt idx="1">
                  <c:v>달력 추가</c:v>
                </c:pt>
                <c:pt idx="2">
                  <c:v>증감량 예측</c:v>
                </c:pt>
                <c:pt idx="3">
                  <c:v>달력 + 증감량</c:v>
                </c:pt>
              </c:strCache>
            </c:strRef>
          </c:cat>
          <c:val>
            <c:numRef>
              <c:f>Sheet1!$B$2:$B$5</c:f>
              <c:numCache>
                <c:formatCode>General</c:formatCode>
                <c:ptCount val="4"/>
                <c:pt idx="0">
                  <c:v>93.885000000000005</c:v>
                </c:pt>
                <c:pt idx="1">
                  <c:v>94.611000000000004</c:v>
                </c:pt>
                <c:pt idx="2">
                  <c:v>94.23</c:v>
                </c:pt>
                <c:pt idx="3">
                  <c:v>94.47</c:v>
                </c:pt>
              </c:numCache>
            </c:numRef>
          </c:val>
          <c:extLst>
            <c:ext xmlns:c16="http://schemas.microsoft.com/office/drawing/2014/chart" uri="{C3380CC4-5D6E-409C-BE32-E72D297353CC}">
              <c16:uniqueId val="{00000000-2CDC-4473-A285-65DC4477D96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5"/>
          <c:min val="93"/>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6</a:t>
            </a:r>
            <a:r>
              <a:rPr lang="ko-KR" altLang="en-US" sz="1400" b="1" i="0" u="none" strike="noStrike">
                <a:solidFill>
                  <a:srgbClr val="222222"/>
                </a:solidFill>
                <a:latin typeface="에이투지체 5 Medium"/>
                <a:ea typeface="에이투지체 5 Medium"/>
                <a:cs typeface="에이투지체 5 Medium"/>
              </a:rPr>
              <a:t>개월 연속 예측 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layout/>
      <c:overlay val="0"/>
    </c:title>
    <c:autoTitleDeleted val="0"/>
    <c:plotArea>
      <c:layout/>
      <c:barChart>
        <c:barDir val="bar"/>
        <c:grouping val="clustered"/>
        <c:varyColors val="0"/>
        <c:ser>
          <c:idx val="0"/>
          <c:order val="0"/>
          <c:tx>
            <c:strRef>
              <c:f>Sheet1!$B$1</c:f>
              <c:strCache>
                <c:ptCount val="1"/>
                <c:pt idx="0">
                  <c:v>평가 6개월</c:v>
                </c:pt>
              </c:strCache>
            </c:strRef>
          </c:tx>
          <c:spPr>
            <a:solidFill>
              <a:srgbClr val="8E8E93"/>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Sheet1!$B$2:$B$9</c:f>
              <c:numCache>
                <c:formatCode>General</c:formatCode>
                <c:ptCount val="8"/>
                <c:pt idx="0">
                  <c:v>91.97</c:v>
                </c:pt>
                <c:pt idx="1">
                  <c:v>92.4</c:v>
                </c:pt>
                <c:pt idx="2">
                  <c:v>93.25</c:v>
                </c:pt>
                <c:pt idx="3">
                  <c:v>93.98</c:v>
                </c:pt>
                <c:pt idx="4">
                  <c:v>94.27</c:v>
                </c:pt>
                <c:pt idx="5">
                  <c:v>87.87</c:v>
                </c:pt>
                <c:pt idx="6">
                  <c:v>93.27</c:v>
                </c:pt>
                <c:pt idx="7">
                  <c:v>94.6</c:v>
                </c:pt>
              </c:numCache>
            </c:numRef>
          </c:val>
          <c:extLst>
            <c:ext xmlns:c16="http://schemas.microsoft.com/office/drawing/2014/chart" uri="{C3380CC4-5D6E-409C-BE32-E72D297353CC}">
              <c16:uniqueId val="{00000000-1560-4303-A7C8-DD03E1005BAE}"/>
            </c:ext>
          </c:extLst>
        </c:ser>
        <c:ser>
          <c:idx val="1"/>
          <c:order val="1"/>
          <c:tx>
            <c:strRef>
              <c:f>Sheet1!$C$1</c:f>
              <c:strCache>
                <c:ptCount val="1"/>
                <c:pt idx="0">
                  <c:v>검증 6개월</c:v>
                </c:pt>
              </c:strCache>
            </c:strRef>
          </c:tx>
          <c:spPr>
            <a:solidFill>
              <a:srgbClr val="D62828"/>
            </a:solidFill>
            <a:effectLst/>
          </c:spPr>
          <c:invertIfNegative val="0"/>
          <c:dLbls>
            <c:numFmt formatCode="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Sheet1!$A$2:$A$9</c:f>
              <c:strCache>
                <c:ptCount val="8"/>
                <c:pt idx="0">
                  <c:v>DNN</c:v>
                </c:pt>
                <c:pt idx="1">
                  <c:v>Decision Tree</c:v>
                </c:pt>
                <c:pt idx="2">
                  <c:v>기준선 (지난달 값)</c:v>
                </c:pt>
                <c:pt idx="3">
                  <c:v>Random Forest</c:v>
                </c:pt>
                <c:pt idx="4">
                  <c:v>Ridge</c:v>
                </c:pt>
                <c:pt idx="5">
                  <c:v>Linear Regression</c:v>
                </c:pt>
                <c:pt idx="6">
                  <c:v>Gradient Boosting</c:v>
                </c:pt>
                <c:pt idx="7">
                  <c:v>앙상블 (GB+Ridge)</c:v>
                </c:pt>
              </c:strCache>
            </c:strRef>
          </c:cat>
          <c:val>
            <c:numRef>
              <c:f>Sheet1!$C$2:$C$9</c:f>
              <c:numCache>
                <c:formatCode>General</c:formatCode>
                <c:ptCount val="8"/>
                <c:pt idx="0">
                  <c:v>88.45</c:v>
                </c:pt>
                <c:pt idx="1">
                  <c:v>90.93</c:v>
                </c:pt>
                <c:pt idx="2">
                  <c:v>91.82</c:v>
                </c:pt>
                <c:pt idx="3">
                  <c:v>92.51</c:v>
                </c:pt>
                <c:pt idx="4">
                  <c:v>92.73</c:v>
                </c:pt>
                <c:pt idx="5">
                  <c:v>92.78</c:v>
                </c:pt>
                <c:pt idx="6">
                  <c:v>94.35</c:v>
                </c:pt>
                <c:pt idx="7">
                  <c:v>94.61</c:v>
                </c:pt>
              </c:numCache>
            </c:numRef>
          </c:val>
          <c:extLst>
            <c:ext xmlns:c16="http://schemas.microsoft.com/office/drawing/2014/chart" uri="{C3380CC4-5D6E-409C-BE32-E72D297353CC}">
              <c16:uniqueId val="{00000001-1560-4303-A7C8-DD03E1005BAE}"/>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6"/>
          <c:min val="85"/>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2"/>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정확도 </a:t>
            </a:r>
            <a:r>
              <a:rPr lang="en-US" altLang="ko-KR" sz="1400" b="1" i="0" u="none" strike="noStrike">
                <a:solidFill>
                  <a:srgbClr val="222222"/>
                </a:solidFill>
                <a:latin typeface="에이투지체 5 Medium"/>
                <a:ea typeface="에이투지체 5 Medium"/>
                <a:cs typeface="에이투지체 5 Medium"/>
              </a:rPr>
              <a:t>(%) — </a:t>
            </a:r>
            <a:r>
              <a:rPr lang="ko-KR" altLang="en-US" sz="1400" b="1" i="0" u="none" strike="noStrike">
                <a:solidFill>
                  <a:srgbClr val="222222"/>
                </a:solidFill>
                <a:latin typeface="에이투지체 5 Medium"/>
                <a:ea typeface="에이투지체 5 Medium"/>
                <a:cs typeface="에이투지체 5 Medium"/>
              </a:rPr>
              <a:t>검증 순위순</a:t>
            </a:r>
          </a:p>
        </c:rich>
      </c:tx>
      <c:layout/>
      <c:overlay val="0"/>
    </c:title>
    <c:autoTitleDeleted val="0"/>
    <c:plotArea>
      <c:layout/>
      <c:barChart>
        <c:barDir val="bar"/>
        <c:grouping val="clustered"/>
        <c:varyColors val="0"/>
        <c:ser>
          <c:idx val="0"/>
          <c:order val="0"/>
          <c:tx>
            <c:strRef>
              <c:f>Sheet1!$B$1</c:f>
              <c:strCache>
                <c:ptCount val="1"/>
                <c:pt idx="0">
                  <c:v>평가 (1년)</c:v>
                </c:pt>
              </c:strCache>
            </c:strRef>
          </c:tx>
          <c:spPr>
            <a:solidFill>
              <a:srgbClr val="8E8E93"/>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Sheet1!$B$2:$B$8</c:f>
              <c:numCache>
                <c:formatCode>General</c:formatCode>
                <c:ptCount val="7"/>
                <c:pt idx="0">
                  <c:v>97.11</c:v>
                </c:pt>
                <c:pt idx="1">
                  <c:v>97.11</c:v>
                </c:pt>
                <c:pt idx="2">
                  <c:v>97.54</c:v>
                </c:pt>
                <c:pt idx="3">
                  <c:v>97.86</c:v>
                </c:pt>
                <c:pt idx="4">
                  <c:v>97.52</c:v>
                </c:pt>
                <c:pt idx="5">
                  <c:v>97.97</c:v>
                </c:pt>
                <c:pt idx="6">
                  <c:v>98.16</c:v>
                </c:pt>
              </c:numCache>
            </c:numRef>
          </c:val>
          <c:extLst>
            <c:ext xmlns:c16="http://schemas.microsoft.com/office/drawing/2014/chart" uri="{C3380CC4-5D6E-409C-BE32-E72D297353CC}">
              <c16:uniqueId val="{00000000-1147-4999-A43C-279D337E6CF6}"/>
            </c:ext>
          </c:extLst>
        </c:ser>
        <c:ser>
          <c:idx val="1"/>
          <c:order val="1"/>
          <c:tx>
            <c:strRef>
              <c:f>Sheet1!$C$1</c:f>
              <c:strCache>
                <c:ptCount val="1"/>
                <c:pt idx="0">
                  <c:v>검증 (180일)</c:v>
                </c:pt>
              </c:strCache>
            </c:strRef>
          </c:tx>
          <c:spPr>
            <a:solidFill>
              <a:srgbClr val="D62828"/>
            </a:solidFill>
            <a:effectLst/>
          </c:spPr>
          <c:invertIfNegative val="0"/>
          <c:dLbls>
            <c:numFmt formatCode="0.00" sourceLinked="0"/>
            <c:spPr>
              <a:noFill/>
              <a:ln>
                <a:noFill/>
              </a:ln>
              <a:effectLst/>
            </c:spPr>
            <c:txPr>
              <a:bodyPr/>
              <a:lstStyle/>
              <a:p>
                <a:pPr>
                  <a:defRPr sz="9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Sheet1!$A$2:$A$8</c:f>
              <c:strCache>
                <c:ptCount val="7"/>
                <c:pt idx="0">
                  <c:v>Linear Regression</c:v>
                </c:pt>
                <c:pt idx="1">
                  <c:v>Ridge</c:v>
                </c:pt>
                <c:pt idx="2">
                  <c:v>기준선 (7일 전 값)</c:v>
                </c:pt>
                <c:pt idx="3">
                  <c:v>DNN</c:v>
                </c:pt>
                <c:pt idx="4">
                  <c:v>Decision Tree</c:v>
                </c:pt>
                <c:pt idx="5">
                  <c:v>Gradient Boosting</c:v>
                </c:pt>
                <c:pt idx="6">
                  <c:v>Random Forest</c:v>
                </c:pt>
              </c:strCache>
            </c:strRef>
          </c:cat>
          <c:val>
            <c:numRef>
              <c:f>Sheet1!$C$2:$C$8</c:f>
              <c:numCache>
                <c:formatCode>General</c:formatCode>
                <c:ptCount val="7"/>
                <c:pt idx="0">
                  <c:v>97.34</c:v>
                </c:pt>
                <c:pt idx="1">
                  <c:v>97.34</c:v>
                </c:pt>
                <c:pt idx="2">
                  <c:v>97.86</c:v>
                </c:pt>
                <c:pt idx="3">
                  <c:v>97.95</c:v>
                </c:pt>
                <c:pt idx="4">
                  <c:v>97.99</c:v>
                </c:pt>
                <c:pt idx="5">
                  <c:v>98.36</c:v>
                </c:pt>
                <c:pt idx="6">
                  <c:v>98.59</c:v>
                </c:pt>
              </c:numCache>
            </c:numRef>
          </c:val>
          <c:extLst>
            <c:ext xmlns:c16="http://schemas.microsoft.com/office/drawing/2014/chart" uri="{C3380CC4-5D6E-409C-BE32-E72D297353CC}">
              <c16:uniqueId val="{00000001-1147-4999-A43C-279D337E6CF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99"/>
          <c:min val="96.5"/>
        </c:scaling>
        <c:delete val="0"/>
        <c:axPos val="b"/>
        <c:majorGridlines>
          <c:spPr>
            <a:ln w="9525" cap="flat">
              <a:solidFill>
                <a:srgbClr val="E5E7EB"/>
              </a:solidFill>
              <a:prstDash val="solid"/>
              <a:round/>
            </a:ln>
          </c:spPr>
        </c:majorGridlines>
        <c:numFmt formatCode="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5"/>
      </c:valAx>
      <c:spPr>
        <a:solidFill>
          <a:srgbClr val="FFFFFF"/>
        </a:solidFill>
        <a:ln>
          <a:noFill/>
        </a:ln>
        <a:effectLst/>
      </c:spPr>
    </c:plotArea>
    <c:legend>
      <c:legendPos val="t"/>
      <c:layout/>
      <c:overlay val="0"/>
      <c:txPr>
        <a:bodyPr/>
        <a:lstStyle/>
        <a:p>
          <a:pPr>
            <a:defRPr sz="1000">
              <a:solidFill>
                <a:srgbClr val="45515E"/>
              </a:solidFill>
              <a:latin typeface="에이투지체 5 Medium"/>
              <a:ea typeface="에이투지체 5 Medium"/>
              <a:cs typeface="에이투지체 5 Medium"/>
            </a:defRPr>
          </a:pPr>
          <a:endParaRPr lang="ko-KR"/>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이송 건수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Gradient Boosting</a:t>
            </a:r>
          </a:p>
        </c:rich>
      </c:tx>
      <c:layout/>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D62828"/>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전월 동일구 행정동간 이동</c:v>
                </c:pt>
                <c:pt idx="1">
                  <c:v>주말 수</c:v>
                </c:pt>
                <c:pt idx="2">
                  <c:v>일수</c:v>
                </c:pt>
                <c:pt idx="3">
                  <c:v>월 (원-핫 합계)</c:v>
                </c:pt>
                <c:pt idx="4">
                  <c:v>전년 동월 이송 건수</c:v>
                </c:pt>
                <c:pt idx="5">
                  <c:v>전월 이송 건수</c:v>
                </c:pt>
              </c:strCache>
            </c:strRef>
          </c:cat>
          <c:val>
            <c:numRef>
              <c:f>Sheet1!$B$2:$B$7</c:f>
              <c:numCache>
                <c:formatCode>General</c:formatCode>
                <c:ptCount val="6"/>
                <c:pt idx="0">
                  <c:v>6.0000000000000001E-3</c:v>
                </c:pt>
                <c:pt idx="1">
                  <c:v>7.0000000000000001E-3</c:v>
                </c:pt>
                <c:pt idx="2">
                  <c:v>0.02</c:v>
                </c:pt>
                <c:pt idx="3">
                  <c:v>2.5999999999999999E-2</c:v>
                </c:pt>
                <c:pt idx="4">
                  <c:v>2.7E-2</c:v>
                </c:pt>
                <c:pt idx="5">
                  <c:v>0.89300000000000002</c:v>
                </c:pt>
              </c:numCache>
            </c:numRef>
          </c:val>
          <c:extLst>
            <c:ext xmlns:c16="http://schemas.microsoft.com/office/drawing/2014/chart" uri="{C3380CC4-5D6E-409C-BE32-E72D297353CC}">
              <c16:uniqueId val="{00000000-CB0F-4B28-8C3B-CBDAF0E267AA}"/>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ko-KR" altLang="en-US" sz="1400" b="1" i="0" u="none" strike="noStrike">
                <a:solidFill>
                  <a:srgbClr val="222222"/>
                </a:solidFill>
                <a:latin typeface="에이투지체 5 Medium"/>
                <a:ea typeface="에이투지체 5 Medium"/>
                <a:cs typeface="에이투지체 5 Medium"/>
              </a:rPr>
              <a:t>인구 밀집 </a:t>
            </a:r>
            <a:r>
              <a:rPr lang="en-US" altLang="ko-KR" sz="1400" b="1" i="0" u="none" strike="noStrike">
                <a:solidFill>
                  <a:srgbClr val="222222"/>
                </a:solidFill>
                <a:latin typeface="에이투지체 5 Medium"/>
                <a:ea typeface="에이투지체 5 Medium"/>
                <a:cs typeface="에이투지체 5 Medium"/>
              </a:rPr>
              <a:t>· </a:t>
            </a:r>
            <a:r>
              <a:rPr lang="en-US" sz="1400" b="1" i="0" u="none" strike="noStrike">
                <a:solidFill>
                  <a:srgbClr val="222222"/>
                </a:solidFill>
                <a:latin typeface="에이투지체 5 Medium"/>
                <a:ea typeface="에이투지체 5 Medium"/>
                <a:cs typeface="에이투지체 5 Medium"/>
              </a:rPr>
              <a:t>Random Forest</a:t>
            </a:r>
          </a:p>
        </c:rich>
      </c:tx>
      <c:layout/>
      <c:overlay val="0"/>
    </c:title>
    <c:autoTitleDeleted val="0"/>
    <c:plotArea>
      <c:layout/>
      <c:barChart>
        <c:barDir val="bar"/>
        <c:grouping val="clustered"/>
        <c:varyColors val="0"/>
        <c:ser>
          <c:idx val="0"/>
          <c:order val="0"/>
          <c:tx>
            <c:strRef>
              <c:f>Sheet1!$B$1</c:f>
              <c:strCache>
                <c:ptCount val="1"/>
                <c:pt idx="0">
                  <c:v>중요도</c:v>
                </c:pt>
              </c:strCache>
            </c:strRef>
          </c:tx>
          <c:spPr>
            <a:solidFill>
              <a:srgbClr val="8A1414"/>
            </a:solidFill>
            <a:effectLst/>
          </c:spPr>
          <c:invertIfNegative val="0"/>
          <c:dLbls>
            <c:numFmt formatCode="0.00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전일 동일구 행정동간 이동</c:v>
                </c:pt>
                <c:pt idx="1">
                  <c:v>자치구 (원-핫 합계)</c:v>
                </c:pt>
                <c:pt idx="2">
                  <c:v>전일 일최대 이동인구</c:v>
                </c:pt>
                <c:pt idx="3">
                  <c:v>전일 주야간 인구 차이</c:v>
                </c:pt>
                <c:pt idx="4">
                  <c:v>전일 야간인구</c:v>
                </c:pt>
                <c:pt idx="5">
                  <c:v>7일 전 일최대인구</c:v>
                </c:pt>
              </c:strCache>
            </c:strRef>
          </c:cat>
          <c:val>
            <c:numRef>
              <c:f>Sheet1!$B$2:$B$7</c:f>
              <c:numCache>
                <c:formatCode>General</c:formatCode>
                <c:ptCount val="6"/>
                <c:pt idx="0">
                  <c:v>3.0000000000000001E-3</c:v>
                </c:pt>
                <c:pt idx="1">
                  <c:v>4.0000000000000001E-3</c:v>
                </c:pt>
                <c:pt idx="2">
                  <c:v>4.0000000000000001E-3</c:v>
                </c:pt>
                <c:pt idx="3">
                  <c:v>1.0999999999999999E-2</c:v>
                </c:pt>
                <c:pt idx="4">
                  <c:v>1.4E-2</c:v>
                </c:pt>
                <c:pt idx="5">
                  <c:v>0.96</c:v>
                </c:pt>
              </c:numCache>
            </c:numRef>
          </c:val>
          <c:extLst>
            <c:ext xmlns:c16="http://schemas.microsoft.com/office/drawing/2014/chart" uri="{C3380CC4-5D6E-409C-BE32-E72D297353CC}">
              <c16:uniqueId val="{00000000-B170-4F99-A14F-A9ADD9C0880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5E7EB"/>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0.25"/>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1" i="0" u="none" strike="noStrike">
                <a:solidFill>
                  <a:srgbClr val="222222"/>
                </a:solidFill>
                <a:latin typeface="에이투지체 5 Medium"/>
                <a:ea typeface="에이투지체 5 Medium"/>
                <a:cs typeface="에이투지체 5 Medium"/>
              </a:defRPr>
            </a:pPr>
            <a:r>
              <a:rPr lang="en-US" altLang="ko-KR" sz="1400" b="1" i="0" u="none" strike="noStrike">
                <a:solidFill>
                  <a:srgbClr val="222222"/>
                </a:solidFill>
                <a:latin typeface="에이투지체 5 Medium"/>
                <a:ea typeface="에이투지체 5 Medium"/>
                <a:cs typeface="에이투지체 5 Medium"/>
              </a:rPr>
              <a:t>2026</a:t>
            </a:r>
            <a:r>
              <a:rPr lang="ko-KR" altLang="en-US" sz="1400" b="1" i="0" u="none" strike="noStrike">
                <a:solidFill>
                  <a:srgbClr val="222222"/>
                </a:solidFill>
                <a:latin typeface="에이투지체 5 Medium"/>
                <a:ea typeface="에이투지체 5 Medium"/>
                <a:cs typeface="에이투지체 5 Medium"/>
              </a:rPr>
              <a:t>년 상반기 이송 건수 예측 </a:t>
            </a:r>
            <a:r>
              <a:rPr lang="en-US" altLang="ko-KR" sz="1400" b="1" i="0" u="none" strike="noStrike">
                <a:solidFill>
                  <a:srgbClr val="222222"/>
                </a:solidFill>
                <a:latin typeface="에이투지체 5 Medium"/>
                <a:ea typeface="에이투지체 5 Medium"/>
                <a:cs typeface="에이투지체 5 Medium"/>
              </a:rPr>
              <a:t>— </a:t>
            </a:r>
            <a:r>
              <a:rPr lang="ko-KR" altLang="en-US" sz="1400" b="1" i="0" u="none" strike="noStrike">
                <a:solidFill>
                  <a:srgbClr val="222222"/>
                </a:solidFill>
                <a:latin typeface="에이투지체 5 Medium"/>
                <a:ea typeface="에이투지체 5 Medium"/>
                <a:cs typeface="에이투지체 5 Medium"/>
              </a:rPr>
              <a:t>서울 </a:t>
            </a:r>
            <a:r>
              <a:rPr lang="en-US" altLang="ko-KR" sz="1400" b="1" i="0" u="none" strike="noStrike">
                <a:solidFill>
                  <a:srgbClr val="222222"/>
                </a:solidFill>
                <a:latin typeface="에이투지체 5 Medium"/>
                <a:ea typeface="에이투지체 5 Medium"/>
                <a:cs typeface="에이투지체 5 Medium"/>
              </a:rPr>
              <a:t>25</a:t>
            </a:r>
            <a:r>
              <a:rPr lang="ko-KR" altLang="en-US" sz="1400" b="1" i="0" u="none" strike="noStrike">
                <a:solidFill>
                  <a:srgbClr val="222222"/>
                </a:solidFill>
                <a:latin typeface="에이투지체 5 Medium"/>
                <a:ea typeface="에이투지체 5 Medium"/>
                <a:cs typeface="에이투지체 5 Medium"/>
              </a:rPr>
              <a:t>개 구 합계 </a:t>
            </a:r>
            <a:r>
              <a:rPr lang="en-US" altLang="ko-KR" sz="1400" b="1" i="0" u="none" strike="noStrike">
                <a:solidFill>
                  <a:srgbClr val="222222"/>
                </a:solidFill>
                <a:latin typeface="에이투지체 5 Medium"/>
                <a:ea typeface="에이투지체 5 Medium"/>
                <a:cs typeface="에이투지체 5 Medium"/>
              </a:rPr>
              <a:t>(</a:t>
            </a:r>
            <a:r>
              <a:rPr lang="ko-KR" altLang="en-US" sz="1400" b="1" i="0" u="none" strike="noStrike">
                <a:solidFill>
                  <a:srgbClr val="222222"/>
                </a:solidFill>
                <a:latin typeface="에이투지체 5 Medium"/>
                <a:ea typeface="에이투지체 5 Medium"/>
                <a:cs typeface="에이투지체 5 Medium"/>
              </a:rPr>
              <a:t>건</a:t>
            </a:r>
            <a:r>
              <a:rPr lang="en-US" altLang="ko-KR" sz="1400" b="1" i="0" u="none" strike="noStrike">
                <a:solidFill>
                  <a:srgbClr val="222222"/>
                </a:solidFill>
                <a:latin typeface="에이투지체 5 Medium"/>
                <a:ea typeface="에이투지체 5 Medium"/>
                <a:cs typeface="에이투지체 5 Medium"/>
              </a:rPr>
              <a:t>)</a:t>
            </a:r>
          </a:p>
        </c:rich>
      </c:tx>
      <c:layout/>
      <c:overlay val="0"/>
    </c:title>
    <c:autoTitleDeleted val="0"/>
    <c:plotArea>
      <c:layout/>
      <c:barChart>
        <c:barDir val="col"/>
        <c:grouping val="clustered"/>
        <c:varyColors val="0"/>
        <c:ser>
          <c:idx val="0"/>
          <c:order val="0"/>
          <c:tx>
            <c:strRef>
              <c:f>Sheet1!$B$1</c:f>
              <c:strCache>
                <c:ptCount val="1"/>
                <c:pt idx="0">
                  <c:v>서울 합계</c:v>
                </c:pt>
              </c:strCache>
            </c:strRef>
          </c:tx>
          <c:spPr>
            <a:solidFill>
              <a:srgbClr val="D62828"/>
            </a:solidFill>
            <a:effectLst/>
          </c:spPr>
          <c:invertIfNegative val="0"/>
          <c:dLbls>
            <c:numFmt formatCode="#,##0" sourceLinked="0"/>
            <c:spPr>
              <a:noFill/>
              <a:ln>
                <a:noFill/>
              </a:ln>
              <a:effectLst/>
            </c:spPr>
            <c:txPr>
              <a:bodyPr/>
              <a:lstStyle/>
              <a:p>
                <a:pPr>
                  <a:defRPr sz="1100" b="1" i="0" u="none" strike="noStrike">
                    <a:solidFill>
                      <a:srgbClr val="222222"/>
                    </a:solidFill>
                    <a:latin typeface="에이투지체 5 Medium"/>
                    <a:ea typeface="에이투지체 5 Medium"/>
                    <a:cs typeface="에이투지체 5 Medium"/>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2026.01</c:v>
                </c:pt>
                <c:pt idx="1">
                  <c:v>2026.02</c:v>
                </c:pt>
                <c:pt idx="2">
                  <c:v>2026.03</c:v>
                </c:pt>
                <c:pt idx="3">
                  <c:v>2026.04</c:v>
                </c:pt>
                <c:pt idx="4">
                  <c:v>2026.05</c:v>
                </c:pt>
                <c:pt idx="5">
                  <c:v>2026.06</c:v>
                </c:pt>
              </c:strCache>
            </c:strRef>
          </c:cat>
          <c:val>
            <c:numRef>
              <c:f>Sheet1!$B$2:$B$7</c:f>
              <c:numCache>
                <c:formatCode>General</c:formatCode>
                <c:ptCount val="6"/>
                <c:pt idx="0">
                  <c:v>23880</c:v>
                </c:pt>
                <c:pt idx="1">
                  <c:v>21642</c:v>
                </c:pt>
                <c:pt idx="2">
                  <c:v>22570</c:v>
                </c:pt>
                <c:pt idx="3">
                  <c:v>23046</c:v>
                </c:pt>
                <c:pt idx="4">
                  <c:v>25136</c:v>
                </c:pt>
                <c:pt idx="5">
                  <c:v>24978</c:v>
                </c:pt>
              </c:numCache>
            </c:numRef>
          </c:val>
          <c:extLst>
            <c:ext xmlns:c16="http://schemas.microsoft.com/office/drawing/2014/chart" uri="{C3380CC4-5D6E-409C-BE32-E72D297353CC}">
              <c16:uniqueId val="{00000000-52B2-4964-A876-C1F3A2A2CD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2"/>
        <c:crosses val="autoZero"/>
        <c:auto val="1"/>
        <c:lblAlgn val="ctr"/>
        <c:lblOffset val="100"/>
        <c:noMultiLvlLbl val="1"/>
      </c:catAx>
      <c:valAx>
        <c:axId val="2094734552"/>
        <c:scaling>
          <c:orientation val="minMax"/>
          <c:max val="30000"/>
          <c:min val="0"/>
        </c:scaling>
        <c:delete val="0"/>
        <c:axPos val="l"/>
        <c:majorGridlines>
          <c:spPr>
            <a:ln w="9525" cap="flat">
              <a:solidFill>
                <a:srgbClr val="E5E7EB"/>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45515E"/>
                </a:solidFill>
                <a:latin typeface="에이투지체 5 Medium"/>
                <a:ea typeface="에이투지체 5 Medium"/>
                <a:cs typeface="에이투지체 5 Medium"/>
              </a:defRPr>
            </a:pPr>
            <a:endParaRPr lang="ko-KR"/>
          </a:p>
        </c:txPr>
        <c:crossAx val="2094734554"/>
        <c:crosses val="autoZero"/>
        <c:crossBetween val="between"/>
        <c:majorUnit val="1000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360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서울시 25개 자치구의 119 구급 이송 건수와 인구 밀집을 예측하는 프로젝트입니다. 데이터 수집, 전처리, 분석, 모델 개발, 결론 순서로 발표합니다.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여섯 부분으로 구성됩니다. 각 장의 시작에 해당 장의 구성을 간단히 소개합니다.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장은 프로젝트 소개입니다. 개발 목표와 개발 환경, 일정과 업무 분담을 소개합니다.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세 가지입니다. 첫째, 자치구별 구급 수요와 생활인구 패턴을 분석해 미래 수요를 예측합니다. 둘째, 지역·시기별 예측을 구급차 배치에 활용할 수 있게 합니다. 셋째, 응급실과 실시간 가용병상 정보를 연결한 웹 서비스를 만듭니다. 개발은 Windows, Python, VS Code 환경에서 진행했고, 머신러닝은 Scikit-learn, 딥러닝은 TensorFlow/Keras를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일정입니다. 기획·데이터 수집·웹 설계·전처리로 시작해 웹 구현·EDA·데이터 통합·모델링·API 연동을 거쳐, 모델 평가·웹 테스트·결과 정리·최종 검수 후 발표로 마무리했습니다.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팀원별 업무 분담과 일정입니다. 기획과 데이터 수집은 전원이 함께 진행했고, 웹 설계·전처리·분석·모델링·발표 준비는 담당을 나누어 진행했습니다.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장은 데이터 수집입니다. 어떤 자료를 모았는지, 어떤 자료를 왜 제외했는지, 공공 API를 어떻게 수집했는지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 API, CSV, XLSX로 총 14종의 원본을 모았고, 그중 4종을 학습 표로 합쳤습니다. 예측 대상인 119 이송 건수는 2017년 1월부터 2025년 12월까지 108개월 자료입니다. 의료이용 자료도 학습 표에 합쳤지만 2019년부터만 있어 빈칸이 36~60%였고, 빈칸 20% 기준에 걸려 최종 입력에서는 빠졌습니다. 14종이라는 원본 수는 수집 단계 기준입니다.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구급출동 건별 현황은 사고가 난 구 기준이라 소방서 관할 기준인 API와 구별 수치가 0.77~1.54배 차이 나서 함께 쓸 수 없었습니다. 응급실 실시간 병상은 51개 병원(23개 구, 강북·마포 자료 없음), 응급실 운영기관은 70곳을 확인했습니다. 수집 시점 과밀 병원은 8곳입니다. 병상 자료는 한 시점 자료이거나 2016년까지만 있어 월별 예측과 맞지 않아, 모델 대신 웹 서비스의 참고 정보로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소방청 구급통계 API는 소방서 단위로 자료를 제공합니다. 119안전센터 관할구역에서 구 이름을 추출해 25개 소방서를 25개 자치구에 연결했습니다. 이미 받은 달은 건너뛰고 빠진 달만 받았고, 실패하면 2초, 4초, 8초 간격으로 재시도했습니다. 결과는 2,634행이며, 예상 2,700칸 중 비어 있는 66칸은 성동구 2017년 1~6월, 금천구 2017년 1월~2021년 12월로 소방서 개서 이전 기간입니다.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장은 데이터 전처리입니다. 전체 흐름, 정리 기준, 과거 값만 사용한 통합 방식, 입력 변수 선택 순서로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전처리는 다섯 단계입니다. 원본을 모으고, 날짜·지역·컬럼명 형식을 통일하고, 관할 변경 구간 70행을 뺀 뒤, 구×월 이송 표와 구×일 인구 표 두 개로 합쳤습니다. 마지막으로 상관계수 기준으로 입력 변수를 골라 이송은 8개, 인구는 5개를 남겼습니다. 이송 표는 빈 값이 있는 행을 빼 학습용 2,180행이 됐고, 인구 표는 75,825행 그대로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파일마다 헤더가 3~4줄이거나 월이 옆으로 펼쳐져 있어 한 행이 한 시점이 되도록 바꿨고, 날짜는 ds, 지역은 District로 이름을 맞췄습니다. 천 단위 콤마를 지워 숫자로 읽히게 했습니다. 이 세 가지는 앞 단계 전처리에서 한 작업입니다. 생활인구의 Pop_Peak는 일최대인구수와 값이 완전히 같아 뺐습니다. 소방서 개서 이전이라 API에 없는 66칸은 0이나 평균으로 채우지 않았습니다. 관할이 바뀐 성동·광진(~2017.7), 금천·구로(~2022.1) 구간 70행은 두 구 값이 섞여 있어 뺐습니다. 생활인구는 25개 구 모두 3,040일이 빠짐없이 이어져 있음을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 시점에는 이번 달 값을 알 수 없습니다. 그래서 모든 입력은 과거 값으로만 만들었습니다. 이송 표에는 지난달·작년 같은 달 이송 건수, 지난달 생활인구 월평균, 작년 사고 원인과 의료이용 값을 붙였습니다. 지난달 출동 건수는 미래 시점에 계산할 수 없어 제외했습니다. 인구 표는 구별로 날짜순 정렬 후 하루 전·7일 전 값을 붙였고, 날짜 간격이 맞지 않으면 빈 값으로 두었습니다. 같은 방식으로 미래 예측용 입력 150행(2026.01~06)도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변수는 네 가지 규칙으로 골랐습니다. 결측이 20%를 넘으면 제외, 정답과의 상관계수 절대값이 0.3 미만이면 제외, 이미 선택한 변수와 0.9 이상으로 비슷하면 제외, 추가 시 빈 값 없는 행이 70% 미만이면 제외입니다. 계산은 2025년 1월 이전 자료만 썼습니다(이송 2,264행, 인구 61,400행). 이송은 33개(결측 10, 중복 6, 상관 약함 13, 계산 불가 4), 인구는 9개(중복 7, 상관 약함 2)를 제외했습니다. 여기에 자치구·월·요일·주말 정보가 함께 입력됩니다.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장은 데이터 분석입니다. 생활인구와 이송 건수의 관계, 인구 가중치와 자치구 유형, 월별 계절성을 살펴봅니다.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 간 상관"은 구별 평균끼리 비교해 인구가 많은 구가 이송도 많은지 봅니다. "구 내 상관"은 한 구 안에서 인구가 평소보다 많은 달에 이송도 많은지 봅니다. 야간인구는 구 간 상관이 0.81로 가장 높았지만, 구 내 상관은 모든 지표가 0.33 이하였습니다. 그래프에는 구 간 상관 0.3 이상인 7개 지표만 표시했고, 외국인 인구·주야간 차이 등 나머지 6개는 구 간 상관 0.14 이하입니다. 이 결과는 전체 기간 기준이며, 모델 개발 단계에서는 학습 기간만으로 다시 계산했습니다(야간인구 구 간 0.804, 구 내 0.230).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가중치는 구 간 상관 0.3 이상 지표 중 서로 0.9 이상 겹치는 지표를 하나만 남긴 4개 지표의 상관계수를 합 1로 나눈 값입니다. 야간인구 30.6%, 동일구 행정동간 이동 29.9%, 일최대인구 25.8%, 서울외 유입 13.7%입니다. 가중 지수와 구별 평균 이송 건수의 상관은 0.80으로 야간인구 하나(0.81)와 비슷합니다. 유형 분류는 야간인구, 주야간비(주간÷야간), 인구 1만 명당 이송률 세 가지로 KMeans를 적용했고 실루엣 계수가 k=4에서 0.40으로 가장 높았습니다. 주거 고수요형은 인구는 중간이지만 1만 명당 이송이 가장 높고, 대규모 거점형은 인구가 가장 많지만 이송률은 가장 낮습니다.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월별 평균을 전체 평균 100으로 놓고 비교했습니다. 7월 108.6, 8월 108.4로 평균보다 8% 이상 많고, 2월은 86.8로 가장 적습니다. 2월은 28일이라 생기는 차이도 포함되어 있습니다. 서울 전체를 시계열 분해하면 계절 효과의 폭(가장 많은 달과 가장 적은 달의 차이)이 5,835건으로 월평균 25,942건의 약 22%입니다. 그래서 월 정보와 작년 같은 달 이송 건수를 예측 입력으로 넣었습니다.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장은 모델 개발입니다. 예측 대상과 데이터 분할, 특성 실험, 모델 비교, 최종 모델과 미래 예측 순서로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이송 건수는 자치구별 월 단위, 인구 밀집은 자치구별 일 단위라 모델을 따로 만들었습니다. 시계열 자료를 무작위로 나누면 미래 정보가 학습에 섞이기 때문에 날짜로 잘랐습니다. 학습 데이터로 모델을 학습하고, 검증 데이터로 입력·설정·모델을 골랐으며, 평가 데이터는 모든 선택이 끝난 뒤 성능 확인에만 사용했습니다. 평가 점수는 학습+검증 자료로 다시 학습한 모델로 계산했습니다. 이송: 학습 1,880행, 검증 150행, 평가 150행. 인구: 학습 62,200행, 검증 4,500행, 평가 9,125행. 정확도는 100에서 평균 오차율(MAPE)을 뺀 값입니다.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기간 자료로 상관계수 절대값 0.30 이상인 인구 변수 9개를 후보로 골랐습니다. 입력 조합 5개를 만들어 LinearRegression, RandomForest, GradientBoosting으로 검증 정확도를 비교했고, 그래프는 조합별 최고 점수입니다. 이송 기록이 없을 때는 인구 정보가 도움이 됐지만(A 84.39% → C 88.03%), 이송 기록이 있으면 인구를 더해도 0.177%p 낮아졌습니다(D 94.96% → E 94.79%). 그래서 인구 변수를 추가하지 않고 전처리에서 고른 8개 입력을 유지했습니다. 이 8개에는 인구 변수 4개가 이미 포함되어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"몇 월인지"만으로는 설 연휴가 1월에 있는 해와 2월에 있는 해를 구분할 수 없습니다. 그래서 일수, 주말 수, 평일 공휴일 수, 명절 연휴 일수를 만들었습니다. 정답을 지난달과의 차이로 바꾸는 증감량 방식도 함께 실험했습니다. 4가지 설정을 검증 6개월 연속 예측 정확도로 비교했고, 그래프는 설정별 최고 점수입니다. 달력이 94.611%로 기본 93.885%보다 0.726%p 높아 채택했습니다. 기본보다 0.10%p 이상 좋을 때만 바꾸는 규칙을 적용했습니다. 평가 데이터는 사용하지 않았고, DNN은 학습 시간 문제로 제외했습니다.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세부 설정값입니다. Ridge alpha 이송 1.0 / 인구 1.0. DecisionTree max_depth 이송 6 / 인구 10. RandomForest 트리 300개·깊이 10 / 100개·15. GradientBoosting 300개·깊이 3·학습률 0.05 / 200개·깊이 4·기본 학습률. DNN 은닉층 64-32, 500 epochs, batch 32 / 128-64-32, 100 epochs, batch 256. DNN은 BatchNormalization, Dropout 0.2, L2 규제로 과적합을 막고, EarlyStopping으로 검증 손실이 더 줄지 않으면 학습을 멈춘 뒤 가장 좋았던 상태로 되돌렸습니다. 모든 입력은 학습 데이터 기준으로 표준화했습니다.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검증 점수로만 골랐습니다. 앙상블이 94.61%로 1위였고, 평가 데이터에서도 94.60%로 지난달 값을 그대로 쓰는 기준선(93.25%)보다 높았습니다. 앙상블은 GradientBoosting과 Ridge의 예측 평균입니다. 두 모델의 검증 오차 상관이 0.500으로 서로 다른 달에 틀리는 경향이 있어 평균을 내면 오차가 줄어듭니다. 앙상블의 검증 정확도는 GradientBoosting(94.35%)보다 0.26%p 높았습니다. LinearRegression은 검증 3위였지만 평가에서 87.87%로 떨어졌습니다. 참고로 검증 정확도가 낮은 6개 구(종로·동작·양천·중구·성북·금천)를 진단한 결과 5곳은 예측이 한쪽으로 치우친 "수준 변화형", 금천구는 월별 변동을 따라가지 못한 "변동형"이었습니다.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RandomForest가 검증 98.59%로 1위였고 평가 1년에서도 98.16%로 1위였습니다. 7일 전 같은 요일 값을 그대로 쓰는 기준선도 97.86%로 높기 때문에 평균 오차 인원으로 비교하면 차이가 더 잘 보입니다. RandomForest는 하루 평균 8,836명, 기준선은 12,015명 차이가 났습니다. 오차가 큰 날은 2025년 10월 6일(추석), 2026년 2월 16일(설 연휴) 등 명절 부근이었습니다.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이송 건수는 앙상블 구성 모델 중 GradientBoosting 기준입니다. 지난달 이송 건수가 0.893으로 대부분을 차지했고, 생활인구 변수 4개 합은 0.015, 달력 특성 4개 합은 0.034입니다. 인구 밀집은 RandomForest 기준이며 7일 전 일최대인구수가 0.960입니다. 두 문제 모두 직전 시점의 같은 값이 가장 강한 단서이고 나머지 입력은 미세 보정 역할입니다. 그래프는 상위 6개만 표시했습니다.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모델은 검증으로 고르고 평가로 확인한 뒤, 전체 자료로 다시 학습해 저장했습니다. 저장 파일을 다시 불러와 결과가 같은지도 확인했습니다. 이송 건수는 2026년 1~6월 25개 구별 예측을 만들었고, 그래프는 25개 구 예측값의 월별 합계입니다. 인구 밀집 RandomForest도 전체 75,825행으로 다시 학습해 저장했지만, 이 노트북에는 인구 밀집 미래 예측 실행 결과가 포함되어 있지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장은 결론입니다. 최종 결과와 향후 연구 방향, 참고 자료를 정리합니다.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공공 API 수집을 자동화해 2017~2025년 자치구별 월 이송 자료를 모았고, 여러 형식의 자료를 자치구 × 날짜 기준으로 합쳐 학습 표 두 개를 만들었습니다. 이송 건수는 GradientBoosting과 Ridge 앙상블, 인구 밀집은 RandomForest를 선정했고 평가 정확도는 각각 94.6%, 98.2%입니다. 모델 선정 원칙은 과거 자료만 사용, 실험을 통한 특성 검증, 검증 데이터 기준 선택, 검증 성능 최우수 모델 선택입니다. 향후에는 실시간 구급차 이동 시간과 병원별 진료 가능 과목 자료를 결합해 최적 경로 안내와 병원 자동 배정으로 확장하고 현장 시범 운영으로 검증하는 것이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2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737360"/>
            <a:ext cx="10058400" cy="320040"/>
          </a:xfrm>
          <a:prstGeom prst="rect">
            <a:avLst/>
          </a:prstGeom>
          <a:noFill/>
          <a:ln/>
        </p:spPr>
        <p:txBody>
          <a:bodyPr wrap="square" lIns="0" tIns="0" rIns="0" bIns="0" rtlCol="0" anchor="ctr"/>
          <a:lstStyle/>
          <a:p>
            <a:pPr marL="0" indent="0">
              <a:buNone/>
            </a:pPr>
            <a:r>
              <a:rPr lang="en-US" sz="1400" kern="0" spc="200" dirty="0">
                <a:solidFill>
                  <a:srgbClr val="E87A7A"/>
                </a:solidFill>
                <a:latin typeface="에이투지체 5 Medium"/>
                <a:ea typeface="에이투지체 5 Medium"/>
                <a:cs typeface="에이투지체 5 Medium"/>
              </a:rPr>
              <a:t>SEOUL 119 EMS DEMAND FORECAST</a:t>
            </a:r>
            <a:endParaRPr lang="en-US" sz="1400" dirty="0"/>
          </a:p>
        </p:txBody>
      </p:sp>
      <p:sp>
        <p:nvSpPr>
          <p:cNvPr id="3" name="Text 1"/>
          <p:cNvSpPr txBox="1"/>
          <p:nvPr/>
        </p:nvSpPr>
        <p:spPr>
          <a:xfrm>
            <a:off x="822960" y="2148840"/>
            <a:ext cx="10515600" cy="868680"/>
          </a:xfrm>
          <a:prstGeom prst="rect">
            <a:avLst/>
          </a:prstGeom>
          <a:noFill/>
          <a:ln/>
        </p:spPr>
        <p:txBody>
          <a:bodyPr wrap="square" lIns="0" tIns="0" rIns="0" bIns="0" rtlCol="0" anchor="ctr"/>
          <a:lstStyle/>
          <a:p>
            <a:pPr marL="0" indent="0">
              <a:buNone/>
            </a:pPr>
            <a:r>
              <a:rPr lang="en-US" sz="5200" b="1" dirty="0">
                <a:solidFill>
                  <a:srgbClr val="FFFFFF"/>
                </a:solidFill>
                <a:latin typeface="에이투지체 6 SemiBold"/>
                <a:ea typeface="에이투지체 6 SemiBold"/>
                <a:cs typeface="에이투지체 6 SemiBold"/>
              </a:rPr>
              <a:t>서울시 119 구급 수요 예측</a:t>
            </a:r>
            <a:endParaRPr lang="en-US" sz="5200" dirty="0"/>
          </a:p>
        </p:txBody>
      </p:sp>
      <p:sp>
        <p:nvSpPr>
          <p:cNvPr id="4" name="Text 2"/>
          <p:cNvSpPr txBox="1"/>
          <p:nvPr/>
        </p:nvSpPr>
        <p:spPr>
          <a:xfrm>
            <a:off x="822960" y="310896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자치구별 이송 건수 및 인구 밀집 예측 모델 개발</a:t>
            </a:r>
            <a:endParaRPr lang="en-US" sz="2200" dirty="0"/>
          </a:p>
        </p:txBody>
      </p:sp>
      <p:sp>
        <p:nvSpPr>
          <p:cNvPr id="5" name="Shape 3"/>
          <p:cNvSpPr/>
          <p:nvPr/>
        </p:nvSpPr>
        <p:spPr>
          <a:xfrm>
            <a:off x="822960" y="4206240"/>
            <a:ext cx="1783080" cy="420624"/>
          </a:xfrm>
          <a:prstGeom prst="roundRect">
            <a:avLst>
              <a:gd name="adj" fmla="val 50000"/>
            </a:avLst>
          </a:prstGeom>
          <a:solidFill>
            <a:srgbClr val="2A313B"/>
          </a:solidFill>
          <a:ln w="12700">
            <a:solidFill>
              <a:srgbClr val="2A313B"/>
            </a:solidFill>
            <a:prstDash val="solid"/>
          </a:ln>
        </p:spPr>
      </p:sp>
      <p:sp>
        <p:nvSpPr>
          <p:cNvPr id="6" name="Text 4"/>
          <p:cNvSpPr txBox="1"/>
          <p:nvPr/>
        </p:nvSpPr>
        <p:spPr>
          <a:xfrm>
            <a:off x="822960" y="4206240"/>
            <a:ext cx="1783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에이투지체 5 Medium"/>
                <a:ea typeface="에이투지체 5 Medium"/>
                <a:cs typeface="에이투지체 5 Medium"/>
              </a:rPr>
              <a:t>데이터 수집</a:t>
            </a:r>
            <a:endParaRPr lang="en-US" sz="1300" dirty="0"/>
          </a:p>
        </p:txBody>
      </p:sp>
      <p:sp>
        <p:nvSpPr>
          <p:cNvPr id="7" name="Shape 5"/>
          <p:cNvSpPr/>
          <p:nvPr/>
        </p:nvSpPr>
        <p:spPr>
          <a:xfrm>
            <a:off x="2633472" y="4416552"/>
            <a:ext cx="219456" cy="0"/>
          </a:xfrm>
          <a:prstGeom prst="line">
            <a:avLst/>
          </a:prstGeom>
          <a:noFill/>
          <a:ln w="15875">
            <a:solidFill>
              <a:srgbClr val="6B7280"/>
            </a:solidFill>
            <a:prstDash val="solid"/>
            <a:tailEnd type="triangle"/>
          </a:ln>
        </p:spPr>
      </p:sp>
      <p:sp>
        <p:nvSpPr>
          <p:cNvPr id="8" name="Shape 6"/>
          <p:cNvSpPr/>
          <p:nvPr/>
        </p:nvSpPr>
        <p:spPr>
          <a:xfrm>
            <a:off x="2880360" y="4206240"/>
            <a:ext cx="1783080" cy="420624"/>
          </a:xfrm>
          <a:prstGeom prst="roundRect">
            <a:avLst>
              <a:gd name="adj" fmla="val 50000"/>
            </a:avLst>
          </a:prstGeom>
          <a:solidFill>
            <a:srgbClr val="2A313B"/>
          </a:solidFill>
          <a:ln w="12700">
            <a:solidFill>
              <a:srgbClr val="2A313B"/>
            </a:solidFill>
            <a:prstDash val="solid"/>
          </a:ln>
        </p:spPr>
      </p:sp>
      <p:sp>
        <p:nvSpPr>
          <p:cNvPr id="9" name="Text 7"/>
          <p:cNvSpPr txBox="1"/>
          <p:nvPr/>
        </p:nvSpPr>
        <p:spPr>
          <a:xfrm>
            <a:off x="2880360" y="4206240"/>
            <a:ext cx="1783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에이투지체 5 Medium"/>
                <a:ea typeface="에이투지체 5 Medium"/>
                <a:cs typeface="에이투지체 5 Medium"/>
              </a:rPr>
              <a:t>전처리</a:t>
            </a:r>
            <a:endParaRPr lang="en-US" sz="1300" dirty="0"/>
          </a:p>
        </p:txBody>
      </p:sp>
      <p:sp>
        <p:nvSpPr>
          <p:cNvPr id="10" name="Shape 8"/>
          <p:cNvSpPr/>
          <p:nvPr/>
        </p:nvSpPr>
        <p:spPr>
          <a:xfrm>
            <a:off x="4690872" y="4416552"/>
            <a:ext cx="219456" cy="0"/>
          </a:xfrm>
          <a:prstGeom prst="line">
            <a:avLst/>
          </a:prstGeom>
          <a:noFill/>
          <a:ln w="15875">
            <a:solidFill>
              <a:srgbClr val="6B7280"/>
            </a:solidFill>
            <a:prstDash val="solid"/>
            <a:tailEnd type="triangle"/>
          </a:ln>
        </p:spPr>
      </p:sp>
      <p:sp>
        <p:nvSpPr>
          <p:cNvPr id="11" name="Shape 9"/>
          <p:cNvSpPr/>
          <p:nvPr/>
        </p:nvSpPr>
        <p:spPr>
          <a:xfrm>
            <a:off x="4937760" y="4206240"/>
            <a:ext cx="1783080" cy="420624"/>
          </a:xfrm>
          <a:prstGeom prst="roundRect">
            <a:avLst>
              <a:gd name="adj" fmla="val 50000"/>
            </a:avLst>
          </a:prstGeom>
          <a:solidFill>
            <a:srgbClr val="2A313B"/>
          </a:solidFill>
          <a:ln w="12700">
            <a:solidFill>
              <a:srgbClr val="2A313B"/>
            </a:solidFill>
            <a:prstDash val="solid"/>
          </a:ln>
        </p:spPr>
      </p:sp>
      <p:sp>
        <p:nvSpPr>
          <p:cNvPr id="12" name="Text 10"/>
          <p:cNvSpPr txBox="1"/>
          <p:nvPr/>
        </p:nvSpPr>
        <p:spPr>
          <a:xfrm>
            <a:off x="4937760" y="4206240"/>
            <a:ext cx="1783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에이투지체 5 Medium"/>
                <a:ea typeface="에이투지체 5 Medium"/>
                <a:cs typeface="에이투지체 5 Medium"/>
              </a:rPr>
              <a:t>분석</a:t>
            </a:r>
            <a:endParaRPr lang="en-US" sz="1300" dirty="0"/>
          </a:p>
        </p:txBody>
      </p:sp>
      <p:sp>
        <p:nvSpPr>
          <p:cNvPr id="13" name="Shape 11"/>
          <p:cNvSpPr/>
          <p:nvPr/>
        </p:nvSpPr>
        <p:spPr>
          <a:xfrm>
            <a:off x="6748272" y="4416552"/>
            <a:ext cx="219456" cy="0"/>
          </a:xfrm>
          <a:prstGeom prst="line">
            <a:avLst/>
          </a:prstGeom>
          <a:noFill/>
          <a:ln w="15875">
            <a:solidFill>
              <a:srgbClr val="6B7280"/>
            </a:solidFill>
            <a:prstDash val="solid"/>
            <a:tailEnd type="triangle"/>
          </a:ln>
        </p:spPr>
      </p:sp>
      <p:sp>
        <p:nvSpPr>
          <p:cNvPr id="14" name="Shape 12"/>
          <p:cNvSpPr/>
          <p:nvPr/>
        </p:nvSpPr>
        <p:spPr>
          <a:xfrm>
            <a:off x="6995160" y="4206240"/>
            <a:ext cx="1783080" cy="420624"/>
          </a:xfrm>
          <a:prstGeom prst="roundRect">
            <a:avLst>
              <a:gd name="adj" fmla="val 50000"/>
            </a:avLst>
          </a:prstGeom>
          <a:solidFill>
            <a:srgbClr val="D62828"/>
          </a:solidFill>
          <a:ln w="12700">
            <a:solidFill>
              <a:srgbClr val="D62828"/>
            </a:solidFill>
            <a:prstDash val="solid"/>
          </a:ln>
        </p:spPr>
      </p:sp>
      <p:sp>
        <p:nvSpPr>
          <p:cNvPr id="15" name="Text 13"/>
          <p:cNvSpPr txBox="1"/>
          <p:nvPr/>
        </p:nvSpPr>
        <p:spPr>
          <a:xfrm>
            <a:off x="6995160" y="4206240"/>
            <a:ext cx="1783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에이투지체 5 Medium"/>
                <a:ea typeface="에이투지체 5 Medium"/>
                <a:cs typeface="에이투지체 5 Medium"/>
              </a:rPr>
              <a:t>모델 개발</a:t>
            </a:r>
            <a:endParaRPr lang="en-US" sz="1300" dirty="0"/>
          </a:p>
        </p:txBody>
      </p:sp>
      <p:sp>
        <p:nvSpPr>
          <p:cNvPr id="16" name="Shape 14"/>
          <p:cNvSpPr/>
          <p:nvPr/>
        </p:nvSpPr>
        <p:spPr>
          <a:xfrm>
            <a:off x="8805672" y="4416552"/>
            <a:ext cx="219456" cy="0"/>
          </a:xfrm>
          <a:prstGeom prst="line">
            <a:avLst/>
          </a:prstGeom>
          <a:noFill/>
          <a:ln w="15875">
            <a:solidFill>
              <a:srgbClr val="6B7280"/>
            </a:solidFill>
            <a:prstDash val="solid"/>
            <a:tailEnd type="triangle"/>
          </a:ln>
        </p:spPr>
      </p:sp>
      <p:sp>
        <p:nvSpPr>
          <p:cNvPr id="17" name="Shape 15"/>
          <p:cNvSpPr/>
          <p:nvPr/>
        </p:nvSpPr>
        <p:spPr>
          <a:xfrm>
            <a:off x="9052560" y="4206240"/>
            <a:ext cx="1783080" cy="420624"/>
          </a:xfrm>
          <a:prstGeom prst="roundRect">
            <a:avLst>
              <a:gd name="adj" fmla="val 50000"/>
            </a:avLst>
          </a:prstGeom>
          <a:solidFill>
            <a:srgbClr val="2A313B"/>
          </a:solidFill>
          <a:ln w="12700">
            <a:solidFill>
              <a:srgbClr val="2A313B"/>
            </a:solidFill>
            <a:prstDash val="solid"/>
          </a:ln>
        </p:spPr>
      </p:sp>
      <p:sp>
        <p:nvSpPr>
          <p:cNvPr id="18" name="Text 16"/>
          <p:cNvSpPr txBox="1"/>
          <p:nvPr/>
        </p:nvSpPr>
        <p:spPr>
          <a:xfrm>
            <a:off x="9052560" y="4206240"/>
            <a:ext cx="1783080"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에이투지체 5 Medium"/>
                <a:ea typeface="에이투지체 5 Medium"/>
                <a:cs typeface="에이투지체 5 Medium"/>
              </a:rPr>
              <a:t>결론</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목차</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목차</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프로젝트 소개 → 데이터 수집 → 전처리 → 분석 → 모델 개발 → 결론</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02</a:t>
            </a:r>
            <a:endParaRPr lang="en-US" sz="900" dirty="0"/>
          </a:p>
        </p:txBody>
      </p:sp>
      <p:sp>
        <p:nvSpPr>
          <p:cNvPr id="7" name="Shape 4"/>
          <p:cNvSpPr/>
          <p:nvPr/>
        </p:nvSpPr>
        <p:spPr>
          <a:xfrm>
            <a:off x="457200" y="1993392"/>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8" name="Text 5"/>
          <p:cNvSpPr txBox="1"/>
          <p:nvPr/>
        </p:nvSpPr>
        <p:spPr>
          <a:xfrm>
            <a:off x="777240" y="2249424"/>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00</a:t>
            </a:r>
            <a:endParaRPr lang="en-US" sz="3200" dirty="0"/>
          </a:p>
        </p:txBody>
      </p:sp>
      <p:sp>
        <p:nvSpPr>
          <p:cNvPr id="9" name="Text 6"/>
          <p:cNvSpPr txBox="1"/>
          <p:nvPr/>
        </p:nvSpPr>
        <p:spPr>
          <a:xfrm>
            <a:off x="777240" y="2907792"/>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프로젝트 소개</a:t>
            </a:r>
            <a:endParaRPr lang="en-US" sz="2000" dirty="0"/>
          </a:p>
        </p:txBody>
      </p:sp>
      <p:sp>
        <p:nvSpPr>
          <p:cNvPr id="10" name="Text 7"/>
          <p:cNvSpPr txBox="1"/>
          <p:nvPr/>
        </p:nvSpPr>
        <p:spPr>
          <a:xfrm>
            <a:off x="777240" y="3364992"/>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개발 목표 · 개발 환경 · 일정 · 업무 분담</a:t>
            </a:r>
            <a:endParaRPr lang="en-US" sz="1200" dirty="0"/>
          </a:p>
        </p:txBody>
      </p:sp>
      <p:sp>
        <p:nvSpPr>
          <p:cNvPr id="11" name="Shape 8"/>
          <p:cNvSpPr/>
          <p:nvPr/>
        </p:nvSpPr>
        <p:spPr>
          <a:xfrm>
            <a:off x="4277258" y="1993392"/>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2" name="Text 9"/>
          <p:cNvSpPr txBox="1"/>
          <p:nvPr/>
        </p:nvSpPr>
        <p:spPr>
          <a:xfrm>
            <a:off x="4597298" y="2249424"/>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01</a:t>
            </a:r>
            <a:endParaRPr lang="en-US" sz="3200" dirty="0"/>
          </a:p>
        </p:txBody>
      </p:sp>
      <p:sp>
        <p:nvSpPr>
          <p:cNvPr id="13" name="Text 10"/>
          <p:cNvSpPr txBox="1"/>
          <p:nvPr/>
        </p:nvSpPr>
        <p:spPr>
          <a:xfrm>
            <a:off x="4597298" y="2907792"/>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데이터 수집</a:t>
            </a:r>
            <a:endParaRPr lang="en-US" sz="2000" dirty="0"/>
          </a:p>
        </p:txBody>
      </p:sp>
      <p:sp>
        <p:nvSpPr>
          <p:cNvPr id="14" name="Text 11"/>
          <p:cNvSpPr txBox="1"/>
          <p:nvPr/>
        </p:nvSpPr>
        <p:spPr>
          <a:xfrm>
            <a:off x="4597298" y="3364992"/>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수집 자료 구성 · 제외 기준 · 공공 API 수집</a:t>
            </a:r>
            <a:endParaRPr lang="en-US" sz="1200" dirty="0"/>
          </a:p>
        </p:txBody>
      </p:sp>
      <p:sp>
        <p:nvSpPr>
          <p:cNvPr id="15" name="Shape 12"/>
          <p:cNvSpPr/>
          <p:nvPr/>
        </p:nvSpPr>
        <p:spPr>
          <a:xfrm>
            <a:off x="8097317" y="1993392"/>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6" name="Text 13"/>
          <p:cNvSpPr txBox="1"/>
          <p:nvPr/>
        </p:nvSpPr>
        <p:spPr>
          <a:xfrm>
            <a:off x="8417357" y="2249424"/>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02</a:t>
            </a:r>
            <a:endParaRPr lang="en-US" sz="3200" dirty="0"/>
          </a:p>
        </p:txBody>
      </p:sp>
      <p:sp>
        <p:nvSpPr>
          <p:cNvPr id="17" name="Text 14"/>
          <p:cNvSpPr txBox="1"/>
          <p:nvPr/>
        </p:nvSpPr>
        <p:spPr>
          <a:xfrm>
            <a:off x="8417357" y="2907792"/>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데이터 전처리</a:t>
            </a:r>
            <a:endParaRPr lang="en-US" sz="2000" dirty="0"/>
          </a:p>
        </p:txBody>
      </p:sp>
      <p:sp>
        <p:nvSpPr>
          <p:cNvPr id="18" name="Text 15"/>
          <p:cNvSpPr txBox="1"/>
          <p:nvPr/>
        </p:nvSpPr>
        <p:spPr>
          <a:xfrm>
            <a:off x="8417357" y="3364992"/>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형식 통일 · 결측 및 중복 처리 · 통합 · 변수 선택</a:t>
            </a:r>
            <a:endParaRPr lang="en-US" sz="1200" dirty="0"/>
          </a:p>
        </p:txBody>
      </p:sp>
      <p:sp>
        <p:nvSpPr>
          <p:cNvPr id="19" name="Shape 16"/>
          <p:cNvSpPr/>
          <p:nvPr/>
        </p:nvSpPr>
        <p:spPr>
          <a:xfrm>
            <a:off x="457200" y="4183380"/>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0" name="Text 17"/>
          <p:cNvSpPr txBox="1"/>
          <p:nvPr/>
        </p:nvSpPr>
        <p:spPr>
          <a:xfrm>
            <a:off x="777240" y="4439412"/>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03</a:t>
            </a:r>
            <a:endParaRPr lang="en-US" sz="3200" dirty="0"/>
          </a:p>
        </p:txBody>
      </p:sp>
      <p:sp>
        <p:nvSpPr>
          <p:cNvPr id="21" name="Text 18"/>
          <p:cNvSpPr txBox="1"/>
          <p:nvPr/>
        </p:nvSpPr>
        <p:spPr>
          <a:xfrm>
            <a:off x="777240" y="5097780"/>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데이터 분석</a:t>
            </a:r>
            <a:endParaRPr lang="en-US" sz="2000" dirty="0"/>
          </a:p>
        </p:txBody>
      </p:sp>
      <p:sp>
        <p:nvSpPr>
          <p:cNvPr id="22" name="Text 19"/>
          <p:cNvSpPr txBox="1"/>
          <p:nvPr/>
        </p:nvSpPr>
        <p:spPr>
          <a:xfrm>
            <a:off x="777240" y="5554980"/>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생활인구-이송 관계 · 가중치 · 자치구 유형 · 계절성</a:t>
            </a:r>
            <a:endParaRPr lang="en-US" sz="1200" dirty="0"/>
          </a:p>
        </p:txBody>
      </p:sp>
      <p:sp>
        <p:nvSpPr>
          <p:cNvPr id="23" name="Shape 20"/>
          <p:cNvSpPr/>
          <p:nvPr/>
        </p:nvSpPr>
        <p:spPr>
          <a:xfrm>
            <a:off x="4277258" y="4183380"/>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4597298" y="4439412"/>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04</a:t>
            </a:r>
            <a:endParaRPr lang="en-US" sz="3200" dirty="0"/>
          </a:p>
        </p:txBody>
      </p:sp>
      <p:sp>
        <p:nvSpPr>
          <p:cNvPr id="25" name="Text 22"/>
          <p:cNvSpPr txBox="1"/>
          <p:nvPr/>
        </p:nvSpPr>
        <p:spPr>
          <a:xfrm>
            <a:off x="4597298" y="5097780"/>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모델 개발</a:t>
            </a:r>
            <a:endParaRPr lang="en-US" sz="2000" dirty="0"/>
          </a:p>
        </p:txBody>
      </p:sp>
      <p:sp>
        <p:nvSpPr>
          <p:cNvPr id="26" name="Text 23"/>
          <p:cNvSpPr txBox="1"/>
          <p:nvPr/>
        </p:nvSpPr>
        <p:spPr>
          <a:xfrm>
            <a:off x="4597298" y="5554980"/>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데이터 분할 · 특성 실험 · 모델 비교 · 최종 선정</a:t>
            </a:r>
            <a:endParaRPr lang="en-US" sz="1200" dirty="0"/>
          </a:p>
        </p:txBody>
      </p:sp>
      <p:sp>
        <p:nvSpPr>
          <p:cNvPr id="27" name="Shape 24"/>
          <p:cNvSpPr/>
          <p:nvPr/>
        </p:nvSpPr>
        <p:spPr>
          <a:xfrm>
            <a:off x="8097317" y="4183380"/>
            <a:ext cx="3637178" cy="2007108"/>
          </a:xfrm>
          <a:prstGeom prst="roundRect">
            <a:avLst>
              <a:gd name="adj" fmla="val 4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8" name="Text 25"/>
          <p:cNvSpPr txBox="1"/>
          <p:nvPr/>
        </p:nvSpPr>
        <p:spPr>
          <a:xfrm>
            <a:off x="8417357" y="4439412"/>
            <a:ext cx="1371600" cy="548640"/>
          </a:xfrm>
          <a:prstGeom prst="rect">
            <a:avLst/>
          </a:prstGeom>
          <a:noFill/>
          <a:ln/>
        </p:spPr>
        <p:txBody>
          <a:bodyPr wrap="square" lIns="0" tIns="0" rIns="0" bIns="0" rtlCol="0" anchor="ctr"/>
          <a:lstStyle/>
          <a:p>
            <a:pPr marL="0" indent="0">
              <a:buNone/>
            </a:pPr>
            <a:r>
              <a:rPr lang="en-US" sz="3200" kern="0" spc="-100" dirty="0">
                <a:solidFill>
                  <a:srgbClr val="D62828"/>
                </a:solidFill>
                <a:latin typeface="에이투지체 5 Medium"/>
                <a:ea typeface="에이투지체 5 Medium"/>
                <a:cs typeface="에이투지체 5 Medium"/>
              </a:rPr>
              <a:t>05</a:t>
            </a:r>
            <a:endParaRPr lang="en-US" sz="3200" dirty="0"/>
          </a:p>
        </p:txBody>
      </p:sp>
      <p:sp>
        <p:nvSpPr>
          <p:cNvPr id="29" name="Text 26"/>
          <p:cNvSpPr txBox="1"/>
          <p:nvPr/>
        </p:nvSpPr>
        <p:spPr>
          <a:xfrm>
            <a:off x="8417357" y="5097780"/>
            <a:ext cx="2997098" cy="384048"/>
          </a:xfrm>
          <a:prstGeom prst="rect">
            <a:avLst/>
          </a:prstGeom>
          <a:noFill/>
          <a:ln/>
        </p:spPr>
        <p:txBody>
          <a:bodyPr wrap="square" lIns="0" tIns="0" rIns="0" bIns="0" rtlCol="0" anchor="ctr"/>
          <a:lstStyle/>
          <a:p>
            <a:pPr marL="0" indent="0">
              <a:buNone/>
            </a:pPr>
            <a:r>
              <a:rPr lang="en-US" sz="2000" b="1" dirty="0">
                <a:solidFill>
                  <a:srgbClr val="222222"/>
                </a:solidFill>
                <a:latin typeface="에이투지체 5 Medium"/>
                <a:ea typeface="에이투지체 5 Medium"/>
                <a:cs typeface="에이투지체 5 Medium"/>
              </a:rPr>
              <a:t>결론</a:t>
            </a:r>
            <a:endParaRPr lang="en-US" sz="2000" dirty="0"/>
          </a:p>
        </p:txBody>
      </p:sp>
      <p:sp>
        <p:nvSpPr>
          <p:cNvPr id="30" name="Text 27"/>
          <p:cNvSpPr txBox="1"/>
          <p:nvPr/>
        </p:nvSpPr>
        <p:spPr>
          <a:xfrm>
            <a:off x="8417357" y="5554980"/>
            <a:ext cx="2997098" cy="36576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최종 결과 · 향후 연구 방향 · 참고 자료</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00</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프로젝트 소개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개발 목표와 개발 환경, 프로젝트 일정 및 업무 분담</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개발 목표 및 개발 환경</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프로젝트 일정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업무 분담 및 간트 차트</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개발 목표 및 개발 환경</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구급 수요 예측 기반 구급차 배치 지원 및 응급의료 정보 제공</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a:t>
            </a:r>
            <a:endParaRPr lang="en-US" sz="900" dirty="0"/>
          </a:p>
        </p:txBody>
      </p:sp>
      <p:sp>
        <p:nvSpPr>
          <p:cNvPr id="8" name="Shape 5"/>
          <p:cNvSpPr/>
          <p:nvPr/>
        </p:nvSpPr>
        <p:spPr>
          <a:xfrm>
            <a:off x="457200" y="1993392"/>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9" name="Text 6"/>
          <p:cNvSpPr txBox="1"/>
          <p:nvPr/>
        </p:nvSpPr>
        <p:spPr>
          <a:xfrm>
            <a:off x="676656" y="2176272"/>
            <a:ext cx="3198266" cy="457200"/>
          </a:xfrm>
          <a:prstGeom prst="rect">
            <a:avLst/>
          </a:prstGeom>
          <a:noFill/>
          <a:ln/>
        </p:spPr>
        <p:txBody>
          <a:bodyPr wrap="square" lIns="0" tIns="0" rIns="0" bIns="0" rtlCol="0" anchor="ctr"/>
          <a:lstStyle/>
          <a:p>
            <a:pPr marL="0" indent="0" algn="ctr">
              <a:buNone/>
            </a:pPr>
            <a:r>
              <a:rPr lang="en-US" sz="2800" dirty="0">
                <a:solidFill>
                  <a:srgbClr val="FFFFFF"/>
                </a:solidFill>
                <a:latin typeface="에이투지체 5 Medium"/>
                <a:ea typeface="에이투지체 5 Medium"/>
                <a:cs typeface="에이투지체 5 Medium"/>
              </a:rPr>
              <a:t>01</a:t>
            </a:r>
            <a:endParaRPr lang="en-US" sz="2800" dirty="0"/>
          </a:p>
        </p:txBody>
      </p:sp>
      <p:sp>
        <p:nvSpPr>
          <p:cNvPr id="10" name="Text 7"/>
          <p:cNvSpPr txBox="1"/>
          <p:nvPr/>
        </p:nvSpPr>
        <p:spPr>
          <a:xfrm>
            <a:off x="676656" y="2670048"/>
            <a:ext cx="3198266"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구급 수요 예측</a:t>
            </a:r>
            <a:endParaRPr lang="en-US" sz="1600" dirty="0"/>
          </a:p>
        </p:txBody>
      </p:sp>
      <p:sp>
        <p:nvSpPr>
          <p:cNvPr id="11" name="Shape 8"/>
          <p:cNvSpPr/>
          <p:nvPr/>
        </p:nvSpPr>
        <p:spPr>
          <a:xfrm>
            <a:off x="676656" y="3090672"/>
            <a:ext cx="3198266" cy="0"/>
          </a:xfrm>
          <a:prstGeom prst="line">
            <a:avLst/>
          </a:prstGeom>
          <a:noFill/>
          <a:ln w="9525">
            <a:solidFill>
              <a:srgbClr val="E87A7A"/>
            </a:solidFill>
            <a:prstDash val="solid"/>
          </a:ln>
        </p:spPr>
      </p:sp>
      <p:sp>
        <p:nvSpPr>
          <p:cNvPr id="12" name="Text 9"/>
          <p:cNvSpPr txBox="1"/>
          <p:nvPr/>
        </p:nvSpPr>
        <p:spPr>
          <a:xfrm>
            <a:off x="676656" y="3200400"/>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자치구별 구급 수요 · 생활인구 패턴 분석 및 미래 수요 예측</a:t>
            </a:r>
            <a:endParaRPr lang="en-US" sz="1100" dirty="0"/>
          </a:p>
        </p:txBody>
      </p:sp>
      <p:sp>
        <p:nvSpPr>
          <p:cNvPr id="13" name="Shape 10"/>
          <p:cNvSpPr/>
          <p:nvPr/>
        </p:nvSpPr>
        <p:spPr>
          <a:xfrm>
            <a:off x="4277258"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Text 11"/>
          <p:cNvSpPr txBox="1"/>
          <p:nvPr/>
        </p:nvSpPr>
        <p:spPr>
          <a:xfrm>
            <a:off x="4496714"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02</a:t>
            </a:r>
            <a:endParaRPr lang="en-US" sz="2800" dirty="0"/>
          </a:p>
        </p:txBody>
      </p:sp>
      <p:sp>
        <p:nvSpPr>
          <p:cNvPr id="15" name="Text 12"/>
          <p:cNvSpPr txBox="1"/>
          <p:nvPr/>
        </p:nvSpPr>
        <p:spPr>
          <a:xfrm>
            <a:off x="4496714"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구급차 배치 지원</a:t>
            </a:r>
            <a:endParaRPr lang="en-US" sz="1600" dirty="0"/>
          </a:p>
        </p:txBody>
      </p:sp>
      <p:sp>
        <p:nvSpPr>
          <p:cNvPr id="16" name="Shape 13"/>
          <p:cNvSpPr/>
          <p:nvPr/>
        </p:nvSpPr>
        <p:spPr>
          <a:xfrm>
            <a:off x="4496714" y="3090672"/>
            <a:ext cx="3198266" cy="0"/>
          </a:xfrm>
          <a:prstGeom prst="line">
            <a:avLst/>
          </a:prstGeom>
          <a:noFill/>
          <a:ln w="9525">
            <a:solidFill>
              <a:srgbClr val="E5E7EB"/>
            </a:solidFill>
            <a:prstDash val="solid"/>
          </a:ln>
        </p:spPr>
      </p:sp>
      <p:sp>
        <p:nvSpPr>
          <p:cNvPr id="17" name="Text 14"/>
          <p:cNvSpPr txBox="1"/>
          <p:nvPr/>
        </p:nvSpPr>
        <p:spPr>
          <a:xfrm>
            <a:off x="4496714"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지역 · 시기별 예측 결과 기반 구급차 배치 판단 지원</a:t>
            </a:r>
            <a:endParaRPr lang="en-US" sz="1100" dirty="0"/>
          </a:p>
        </p:txBody>
      </p:sp>
      <p:sp>
        <p:nvSpPr>
          <p:cNvPr id="18" name="Shape 15"/>
          <p:cNvSpPr/>
          <p:nvPr/>
        </p:nvSpPr>
        <p:spPr>
          <a:xfrm>
            <a:off x="8097317" y="1993392"/>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Text 16"/>
          <p:cNvSpPr txBox="1"/>
          <p:nvPr/>
        </p:nvSpPr>
        <p:spPr>
          <a:xfrm>
            <a:off x="8316773" y="2176272"/>
            <a:ext cx="3198266" cy="457200"/>
          </a:xfrm>
          <a:prstGeom prst="rect">
            <a:avLst/>
          </a:prstGeom>
          <a:noFill/>
          <a:ln/>
        </p:spPr>
        <p:txBody>
          <a:bodyPr wrap="square" lIns="0" tIns="0" rIns="0" bIns="0" rtlCol="0" anchor="ctr"/>
          <a:lstStyle/>
          <a:p>
            <a:pPr marL="0" indent="0" algn="ctr">
              <a:buNone/>
            </a:pPr>
            <a:r>
              <a:rPr lang="en-US" sz="2800" dirty="0">
                <a:solidFill>
                  <a:srgbClr val="D62828"/>
                </a:solidFill>
                <a:latin typeface="에이투지체 5 Medium"/>
                <a:ea typeface="에이투지체 5 Medium"/>
                <a:cs typeface="에이투지체 5 Medium"/>
              </a:rPr>
              <a:t>03</a:t>
            </a:r>
            <a:endParaRPr lang="en-US" sz="2800" dirty="0"/>
          </a:p>
        </p:txBody>
      </p:sp>
      <p:sp>
        <p:nvSpPr>
          <p:cNvPr id="20" name="Text 17"/>
          <p:cNvSpPr txBox="1"/>
          <p:nvPr/>
        </p:nvSpPr>
        <p:spPr>
          <a:xfrm>
            <a:off x="8316773" y="2670048"/>
            <a:ext cx="3198266" cy="292608"/>
          </a:xfrm>
          <a:prstGeom prst="rect">
            <a:avLst/>
          </a:prstGeom>
          <a:noFill/>
          <a:ln/>
        </p:spPr>
        <p:txBody>
          <a:bodyPr wrap="square" lIns="0" tIns="0" rIns="0" bIns="0" rtlCol="0" anchor="ctr"/>
          <a:lstStyle/>
          <a:p>
            <a:pPr marL="0" indent="0" algn="ctr">
              <a:buNone/>
            </a:pPr>
            <a:r>
              <a:rPr lang="en-US" sz="1600" b="1" dirty="0">
                <a:solidFill>
                  <a:srgbClr val="222222"/>
                </a:solidFill>
                <a:latin typeface="에이투지체 5 Medium"/>
                <a:ea typeface="에이투지체 5 Medium"/>
                <a:cs typeface="에이투지체 5 Medium"/>
              </a:rPr>
              <a:t>응급의료 정보 통합</a:t>
            </a:r>
            <a:endParaRPr lang="en-US" sz="1600" dirty="0"/>
          </a:p>
        </p:txBody>
      </p:sp>
      <p:sp>
        <p:nvSpPr>
          <p:cNvPr id="21" name="Shape 18"/>
          <p:cNvSpPr/>
          <p:nvPr/>
        </p:nvSpPr>
        <p:spPr>
          <a:xfrm>
            <a:off x="8316773" y="3090672"/>
            <a:ext cx="3198266" cy="0"/>
          </a:xfrm>
          <a:prstGeom prst="line">
            <a:avLst/>
          </a:prstGeom>
          <a:noFill/>
          <a:ln w="9525">
            <a:solidFill>
              <a:srgbClr val="E5E7EB"/>
            </a:solidFill>
            <a:prstDash val="solid"/>
          </a:ln>
        </p:spPr>
      </p:sp>
      <p:sp>
        <p:nvSpPr>
          <p:cNvPr id="22" name="Text 19"/>
          <p:cNvSpPr txBox="1"/>
          <p:nvPr/>
        </p:nvSpPr>
        <p:spPr>
          <a:xfrm>
            <a:off x="8316773" y="3200400"/>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응급실 · 실시간 가용병상 정보 연계 웹 서비스 구축</a:t>
            </a:r>
            <a:endParaRPr lang="en-US" sz="1100" dirty="0"/>
          </a:p>
        </p:txBody>
      </p:sp>
      <p:sp>
        <p:nvSpPr>
          <p:cNvPr id="23" name="Shape 20"/>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개발 환경</a:t>
            </a:r>
            <a:endParaRPr lang="en-US" sz="1800" dirty="0"/>
          </a:p>
        </p:txBody>
      </p:sp>
      <p:sp>
        <p:nvSpPr>
          <p:cNvPr id="25" name="Shape 22"/>
          <p:cNvSpPr/>
          <p:nvPr/>
        </p:nvSpPr>
        <p:spPr>
          <a:xfrm>
            <a:off x="676656" y="4663440"/>
            <a:ext cx="5108753" cy="0"/>
          </a:xfrm>
          <a:prstGeom prst="line">
            <a:avLst/>
          </a:prstGeom>
          <a:noFill/>
          <a:ln w="9525">
            <a:solidFill>
              <a:srgbClr val="E5E7EB"/>
            </a:solidFill>
            <a:prstDash val="solid"/>
          </a:ln>
        </p:spPr>
      </p:sp>
      <p:sp>
        <p:nvSpPr>
          <p:cNvPr id="26" name="Text 23"/>
          <p:cNvSpPr txBox="1"/>
          <p:nvPr/>
        </p:nvSpPr>
        <p:spPr>
          <a:xfrm>
            <a:off x="676656"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운영체제 · 언어: Windows · Python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개발 도구: Visual Studio Code</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데이터 처리: Pandas · NumPy</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시각화: Matplotlib · Seaborn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머신러닝 · 딥러닝: Scikit-learn · TensorFlow / Keras</a:t>
            </a:r>
            <a:endParaRPr lang="en-US" sz="1200" dirty="0"/>
          </a:p>
        </p:txBody>
      </p:sp>
      <p:sp>
        <p:nvSpPr>
          <p:cNvPr id="27" name="Shape 24"/>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8" name="Text 25"/>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비교 모델</a:t>
            </a:r>
            <a:endParaRPr lang="en-US" sz="1800" dirty="0"/>
          </a:p>
        </p:txBody>
      </p:sp>
      <p:sp>
        <p:nvSpPr>
          <p:cNvPr id="29" name="Shape 26"/>
          <p:cNvSpPr/>
          <p:nvPr/>
        </p:nvSpPr>
        <p:spPr>
          <a:xfrm>
            <a:off x="6407201" y="4663440"/>
            <a:ext cx="5108753" cy="0"/>
          </a:xfrm>
          <a:prstGeom prst="line">
            <a:avLst/>
          </a:prstGeom>
          <a:noFill/>
          <a:ln w="9525">
            <a:solidFill>
              <a:srgbClr val="E5E7EB"/>
            </a:solidFill>
            <a:prstDash val="solid"/>
          </a:ln>
        </p:spPr>
      </p:sp>
      <p:sp>
        <p:nvSpPr>
          <p:cNvPr id="30" name="Text 27"/>
          <p:cNvSpPr txBox="1"/>
          <p:nvPr/>
        </p:nvSpPr>
        <p:spPr>
          <a:xfrm>
            <a:off x="6407201" y="4773168"/>
            <a:ext cx="5108753" cy="1289304"/>
          </a:xfrm>
          <a:prstGeom prst="rect">
            <a:avLst/>
          </a:prstGeom>
          <a:noFill/>
          <a:ln/>
        </p:spPr>
        <p:txBody>
          <a:bodyPr wrap="square" lIns="0" tIns="0" rIns="0" bIns="0" rtlCol="0" anchor="t"/>
          <a:lstStyle/>
          <a:p>
            <a:pPr marL="0" indent="0">
              <a:lnSpc>
                <a:spcPct val="125000"/>
              </a:lnSpc>
              <a:buNone/>
            </a:pPr>
            <a:r>
              <a:rPr lang="en-US" sz="1200" dirty="0">
                <a:solidFill>
                  <a:srgbClr val="45515E"/>
                </a:solidFill>
                <a:latin typeface="에이투지체 5 Medium"/>
                <a:ea typeface="에이투지체 5 Medium"/>
                <a:cs typeface="에이투지체 5 Medium"/>
              </a:rPr>
              <a:t>· Linear Regression · Ridge Regression</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Decision Tree · Random Forest</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Gradient Boosting</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DNN (Deep Neural Network)</a:t>
            </a:r>
            <a:endParaRPr lang="en-US" sz="1200" dirty="0"/>
          </a:p>
          <a:p>
            <a:pPr marL="0" indent="0">
              <a:lnSpc>
                <a:spcPct val="125000"/>
              </a:lnSpc>
              <a:buNone/>
            </a:pPr>
            <a:r>
              <a:rPr lang="en-US" sz="1200" dirty="0">
                <a:solidFill>
                  <a:srgbClr val="45515E"/>
                </a:solidFill>
                <a:latin typeface="에이투지체 5 Medium"/>
                <a:ea typeface="에이투지체 5 Medium"/>
                <a:cs typeface="에이투지체 5 Medium"/>
              </a:rPr>
              <a:t>· 이송 건수: Gradient Boosting + Ridge 앙상블 추가</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프로젝트 일정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기획 · 데이터 수집 → 전처리 · 분석 → 모델링 · 웹 구현 → 평가 · 발표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 (프로젝트 타임라인)</a:t>
            </a:r>
            <a:endParaRPr lang="en-US" sz="900" dirty="0"/>
          </a:p>
        </p:txBody>
      </p:sp>
      <p:sp>
        <p:nvSpPr>
          <p:cNvPr id="8" name="Shape 5"/>
          <p:cNvSpPr/>
          <p:nvPr/>
        </p:nvSpPr>
        <p:spPr>
          <a:xfrm>
            <a:off x="457200" y="1993392"/>
            <a:ext cx="11277295"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pic>
        <p:nvPicPr>
          <p:cNvPr id="9" name="Image 0" descr="tl.png"/>
          <p:cNvPicPr>
            <a:picLocks noChangeAspect="1"/>
          </p:cNvPicPr>
          <p:nvPr/>
        </p:nvPicPr>
        <p:blipFill>
          <a:blip r:embed="rId3"/>
          <a:stretch>
            <a:fillRect/>
          </a:stretch>
        </p:blipFill>
        <p:spPr>
          <a:xfrm>
            <a:off x="1603725" y="2103120"/>
            <a:ext cx="8984245" cy="3977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00  프로젝트 소개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업무 분담 및 간트 차트</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기획 · 수집 · 웹 · 전처리 · 분석 · 모델링 · 발표 준비 단계별 담당 지정</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기존 발표자료 (업무 분담 &amp; 간트 차트)</a:t>
            </a:r>
            <a:endParaRPr lang="en-US" sz="900" dirty="0"/>
          </a:p>
        </p:txBody>
      </p:sp>
      <p:sp>
        <p:nvSpPr>
          <p:cNvPr id="8" name="Shape 5"/>
          <p:cNvSpPr/>
          <p:nvPr/>
        </p:nvSpPr>
        <p:spPr>
          <a:xfrm>
            <a:off x="457200" y="1993392"/>
            <a:ext cx="11277295"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pic>
        <p:nvPicPr>
          <p:cNvPr id="9" name="Image 0" descr="g1.png"/>
          <p:cNvPicPr>
            <a:picLocks noChangeAspect="1"/>
          </p:cNvPicPr>
          <p:nvPr/>
        </p:nvPicPr>
        <p:blipFill>
          <a:blip r:embed="rId3"/>
          <a:stretch>
            <a:fillRect/>
          </a:stretch>
        </p:blipFill>
        <p:spPr>
          <a:xfrm>
            <a:off x="548640" y="2084832"/>
            <a:ext cx="5782998" cy="4014216"/>
          </a:xfrm>
          <a:prstGeom prst="rect">
            <a:avLst/>
          </a:prstGeom>
        </p:spPr>
      </p:pic>
      <p:pic>
        <p:nvPicPr>
          <p:cNvPr id="10" name="Image 1" descr="g2.png"/>
          <p:cNvPicPr>
            <a:picLocks noChangeAspect="1"/>
          </p:cNvPicPr>
          <p:nvPr/>
        </p:nvPicPr>
        <p:blipFill>
          <a:blip r:embed="rId4"/>
          <a:stretch>
            <a:fillRect/>
          </a:stretch>
        </p:blipFill>
        <p:spPr>
          <a:xfrm>
            <a:off x="6514518" y="2084832"/>
            <a:ext cx="3740277" cy="2121351"/>
          </a:xfrm>
          <a:prstGeom prst="rect">
            <a:avLst/>
          </a:prstGeom>
        </p:spPr>
      </p:pic>
      <p:pic>
        <p:nvPicPr>
          <p:cNvPr id="11" name="Image 2" descr="g3.png"/>
          <p:cNvPicPr>
            <a:picLocks noChangeAspect="1"/>
          </p:cNvPicPr>
          <p:nvPr/>
        </p:nvPicPr>
        <p:blipFill>
          <a:blip r:embed="rId5"/>
          <a:stretch>
            <a:fillRect/>
          </a:stretch>
        </p:blipFill>
        <p:spPr>
          <a:xfrm>
            <a:off x="6514518" y="4297623"/>
            <a:ext cx="3740277" cy="1801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01</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수집</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수집 자료 구성과 학습 제외 기준, 공공 API 수집 방식</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데이터 수집 개요</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학습 제외 자료</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공공 API 수집 방식</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데이터 수집 개요</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14종 원본 수집 → 4종 학습 표 통합 (서울 25개 자치구)</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14종</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원본</a:t>
            </a:r>
            <a:endParaRPr lang="en-US" sz="1400" dirty="0"/>
          </a:p>
        </p:txBody>
      </p:sp>
      <p:sp>
        <p:nvSpPr>
          <p:cNvPr id="11" name="Shape 8"/>
          <p:cNvSpPr/>
          <p:nvPr/>
        </p:nvSpPr>
        <p:spPr>
          <a:xfrm>
            <a:off x="676656" y="3182112"/>
            <a:ext cx="2243023" cy="0"/>
          </a:xfrm>
          <a:prstGeom prst="line">
            <a:avLst/>
          </a:prstGeom>
          <a:noFill/>
          <a:ln w="9525">
            <a:solidFill>
              <a:srgbClr val="E87A7A"/>
            </a:solidFill>
            <a:prstDash val="solid"/>
          </a:ln>
        </p:spPr>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Open API · CSV · XLSX</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4종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통합</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최종 입력: 이송 · 인구 · 사고</a:t>
            </a:r>
            <a:endParaRPr lang="en-US" sz="1100" dirty="0"/>
          </a:p>
        </p:txBody>
      </p:sp>
      <p:sp>
        <p:nvSpPr>
          <p:cNvPr id="18" name="Shape 15"/>
          <p:cNvSpPr/>
          <p:nvPr/>
        </p:nvSpPr>
        <p:spPr>
          <a:xfrm>
            <a:off x="618683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108개월</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이송 건수 기록</a:t>
            </a:r>
            <a:endParaRPr lang="en-US" sz="1400" dirty="0"/>
          </a:p>
        </p:txBody>
      </p:sp>
      <p:sp>
        <p:nvSpPr>
          <p:cNvPr id="21" name="Shape 18"/>
          <p:cNvSpPr/>
          <p:nvPr/>
        </p:nvSpPr>
        <p:spPr>
          <a:xfrm>
            <a:off x="6406286" y="3182112"/>
            <a:ext cx="2243023" cy="0"/>
          </a:xfrm>
          <a:prstGeom prst="line">
            <a:avLst/>
          </a:prstGeom>
          <a:noFill/>
          <a:ln w="9525">
            <a:solidFill>
              <a:srgbClr val="E5E7EB"/>
            </a:solidFill>
            <a:prstDash val="solid"/>
          </a:ln>
        </p:spPr>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2017.01 ~ 2025.12</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25개 구</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분석 단위</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구 × 월 / 구 × 일</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4123944"/>
          <a:ext cx="11277295" cy="2066544"/>
        </p:xfrm>
        <a:graphic>
          <a:graphicData uri="http://schemas.openxmlformats.org/drawingml/2006/table">
            <a:tbl>
              <a:tblPr/>
              <a:tblGrid>
                <a:gridCol w="22860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출처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기간 · 단위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활용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구급활동 통계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소방청 구급통계 OpenAPI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2017.01~2025.12 · 구 × 월</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건수 (예측 대상)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서울 생활인구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자치구단위 서울생활인구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2018.04~2026.07 · 구 × 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인구 밀집 예측 · 이송 설명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119 구조활동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구별 구조활동 실적 CSV</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2006~2025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사고 원인 변수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b="1" dirty="0">
                          <a:solidFill>
                            <a:srgbClr val="222222"/>
                          </a:solidFill>
                          <a:latin typeface="에이투지체 5 Medium"/>
                          <a:ea typeface="에이투지체 5 Medium"/>
                          <a:cs typeface="에이투지체 5 Medium"/>
                        </a:rPr>
                        <a:t>의료이용 유출입</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의료이용 유출입 XLSX</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2019~2024 · 구 × 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통합 후 결측 과다로 입력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학습 제외 자료 및 제외 사유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집계 기준 · 시간 단위 불일치 자료 제외, 병상 자료는 웹 서비스 활용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09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7589520" cy="3456432"/>
        </p:xfrm>
        <a:graphic>
          <a:graphicData uri="http://schemas.openxmlformats.org/drawingml/2006/table">
            <a:tbl>
              <a:tblPr/>
              <a:tblGrid>
                <a:gridCol w="21945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제외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제외 사유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대체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구급출동 건별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발생 구 기준 집계 (API 대비 0.77~1.54배)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관할 기준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서울시 구급 출동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출동 건수만 존재, 이송 건수 없음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이송 건수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소방서별 구급 실적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연 단위 집계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API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서울 전체 월별 자료</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시 단위 합계 (구 단위 아님)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구별 API</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구급 건별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1개 구 · 1개월 표본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빈도 참고용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200" b="1" dirty="0">
                          <a:solidFill>
                            <a:srgbClr val="222222"/>
                          </a:solidFill>
                          <a:latin typeface="에이투지체 5 Medium"/>
                          <a:ea typeface="에이투지체 5 Medium"/>
                          <a:cs typeface="에이투지체 5 Medium"/>
                        </a:rPr>
                        <a:t>응급실 실시간 병상</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시점 스냅샷, 시간 단위 불일치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웹 서비스 현황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8229600" y="1993392"/>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7" name="Text 6"/>
          <p:cNvSpPr txBox="1"/>
          <p:nvPr/>
        </p:nvSpPr>
        <p:spPr>
          <a:xfrm>
            <a:off x="8412480" y="1993392"/>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51곳</a:t>
            </a:r>
            <a:endParaRPr lang="en-US" sz="2800" dirty="0"/>
          </a:p>
        </p:txBody>
      </p:sp>
      <p:sp>
        <p:nvSpPr>
          <p:cNvPr id="11" name="Text 7"/>
          <p:cNvSpPr txBox="1"/>
          <p:nvPr/>
        </p:nvSpPr>
        <p:spPr>
          <a:xfrm>
            <a:off x="9692640" y="2194560"/>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실시간 병상 병원</a:t>
            </a:r>
            <a:endParaRPr lang="en-US" sz="1300" dirty="0"/>
          </a:p>
        </p:txBody>
      </p:sp>
      <p:sp>
        <p:nvSpPr>
          <p:cNvPr id="12" name="Text 8"/>
          <p:cNvSpPr txBox="1"/>
          <p:nvPr/>
        </p:nvSpPr>
        <p:spPr>
          <a:xfrm>
            <a:off x="9692640" y="2523744"/>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23개 구 (강북 · 마포 자료 없음)</a:t>
            </a:r>
            <a:endParaRPr lang="en-US" sz="1000" dirty="0"/>
          </a:p>
        </p:txBody>
      </p:sp>
      <p:sp>
        <p:nvSpPr>
          <p:cNvPr id="13" name="Shape 9"/>
          <p:cNvSpPr/>
          <p:nvPr/>
        </p:nvSpPr>
        <p:spPr>
          <a:xfrm>
            <a:off x="8229600" y="3145536"/>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Text 10"/>
          <p:cNvSpPr txBox="1"/>
          <p:nvPr/>
        </p:nvSpPr>
        <p:spPr>
          <a:xfrm>
            <a:off x="8412480" y="3145536"/>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70곳</a:t>
            </a:r>
            <a:endParaRPr lang="en-US" sz="2800" dirty="0"/>
          </a:p>
        </p:txBody>
      </p:sp>
      <p:sp>
        <p:nvSpPr>
          <p:cNvPr id="15" name="Text 11"/>
          <p:cNvSpPr txBox="1"/>
          <p:nvPr/>
        </p:nvSpPr>
        <p:spPr>
          <a:xfrm>
            <a:off x="9692640" y="3346704"/>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응급실 운영기관</a:t>
            </a:r>
            <a:endParaRPr lang="en-US" sz="1300" dirty="0"/>
          </a:p>
        </p:txBody>
      </p:sp>
      <p:sp>
        <p:nvSpPr>
          <p:cNvPr id="16" name="Text 12"/>
          <p:cNvSpPr txBox="1"/>
          <p:nvPr/>
        </p:nvSpPr>
        <p:spPr>
          <a:xfrm>
            <a:off x="9692640" y="3675888"/>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의료기관 목록 기준</a:t>
            </a:r>
            <a:endParaRPr lang="en-US" sz="1000" dirty="0"/>
          </a:p>
        </p:txBody>
      </p:sp>
      <p:sp>
        <p:nvSpPr>
          <p:cNvPr id="17" name="Shape 13"/>
          <p:cNvSpPr/>
          <p:nvPr/>
        </p:nvSpPr>
        <p:spPr>
          <a:xfrm>
            <a:off x="8229600" y="4297680"/>
            <a:ext cx="3504895" cy="1033272"/>
          </a:xfrm>
          <a:prstGeom prst="roundRect">
            <a:avLst>
              <a:gd name="adj" fmla="val 885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8" name="Text 14"/>
          <p:cNvSpPr txBox="1"/>
          <p:nvPr/>
        </p:nvSpPr>
        <p:spPr>
          <a:xfrm>
            <a:off x="8412480" y="4297680"/>
            <a:ext cx="1280160" cy="1033272"/>
          </a:xfrm>
          <a:prstGeom prst="rect">
            <a:avLst/>
          </a:prstGeom>
          <a:noFill/>
          <a:ln/>
        </p:spPr>
        <p:txBody>
          <a:bodyPr wrap="square" lIns="0" tIns="0" rIns="0" bIns="0" rtlCol="0" anchor="ctr"/>
          <a:lstStyle/>
          <a:p>
            <a:pPr marL="0" indent="0">
              <a:buNone/>
            </a:pPr>
            <a:r>
              <a:rPr lang="en-US" sz="2800" kern="0" spc="-80" dirty="0">
                <a:solidFill>
                  <a:srgbClr val="D62828"/>
                </a:solidFill>
                <a:latin typeface="에이투지체 5 Medium"/>
                <a:ea typeface="에이투지체 5 Medium"/>
                <a:cs typeface="에이투지체 5 Medium"/>
              </a:rPr>
              <a:t>8곳</a:t>
            </a:r>
            <a:endParaRPr lang="en-US" sz="2800" dirty="0"/>
          </a:p>
        </p:txBody>
      </p:sp>
      <p:sp>
        <p:nvSpPr>
          <p:cNvPr id="19" name="Text 15"/>
          <p:cNvSpPr txBox="1"/>
          <p:nvPr/>
        </p:nvSpPr>
        <p:spPr>
          <a:xfrm>
            <a:off x="9692640" y="4498848"/>
            <a:ext cx="192024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과밀 병원</a:t>
            </a:r>
            <a:endParaRPr lang="en-US" sz="1300" dirty="0"/>
          </a:p>
        </p:txBody>
      </p:sp>
      <p:sp>
        <p:nvSpPr>
          <p:cNvPr id="20" name="Text 16"/>
          <p:cNvSpPr txBox="1"/>
          <p:nvPr/>
        </p:nvSpPr>
        <p:spPr>
          <a:xfrm>
            <a:off x="9692640" y="4828032"/>
            <a:ext cx="1965960" cy="32004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수집 시점 기준</a:t>
            </a:r>
            <a:endParaRPr lang="en-US" sz="1000" dirty="0"/>
          </a:p>
        </p:txBody>
      </p:sp>
      <p:sp>
        <p:nvSpPr>
          <p:cNvPr id="21" name="Shape 17"/>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2" name="Text 18"/>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예측</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모델은 구 × 월 단위의 단일 집계 기준 자료만 사용, 병상 자료는 서비스 참고 정보로 분리</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01  데이터 수집</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공공 API 수집 방식</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소방서 단위 수집 → 자치구 매핑, 누락 월 재수집 자동화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01_119_공공API_연동_v2.ipynb · 02_119_전처리_검토수정.ipynb</a:t>
            </a:r>
            <a:endParaRPr lang="en-US" sz="900" dirty="0"/>
          </a:p>
        </p:txBody>
      </p:sp>
      <p:sp>
        <p:nvSpPr>
          <p:cNvPr id="8" name="Shape 5"/>
          <p:cNvSpPr/>
          <p:nvPr/>
        </p:nvSpPr>
        <p:spPr>
          <a:xfrm>
            <a:off x="457200"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자치구 매핑</a:t>
            </a:r>
            <a:endParaRPr lang="en-US" sz="1600" dirty="0"/>
          </a:p>
        </p:txBody>
      </p:sp>
      <p:sp>
        <p:nvSpPr>
          <p:cNvPr id="11" name="Shape 8"/>
          <p:cNvSpPr/>
          <p:nvPr/>
        </p:nvSpPr>
        <p:spPr>
          <a:xfrm>
            <a:off x="676656" y="2907792"/>
            <a:ext cx="2174672" cy="0"/>
          </a:xfrm>
          <a:prstGeom prst="line">
            <a:avLst/>
          </a:prstGeom>
          <a:noFill/>
          <a:ln w="9525">
            <a:solidFill>
              <a:srgbClr val="E5E7EB"/>
            </a:solidFill>
            <a:prstDash val="solid"/>
          </a:ln>
        </p:spPr>
      </p:sp>
      <p:sp>
        <p:nvSpPr>
          <p:cNvPr id="12" name="Text 9"/>
          <p:cNvSpPr txBox="1"/>
          <p:nvPr/>
        </p:nvSpPr>
        <p:spPr>
          <a:xfrm>
            <a:off x="676656"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관할구역에서 구 이름 추출 → 소방서별 최빈 자치구 연결</a:t>
            </a:r>
            <a:endParaRPr lang="en-US" sz="1100" dirty="0"/>
          </a:p>
        </p:txBody>
      </p:sp>
      <p:sp>
        <p:nvSpPr>
          <p:cNvPr id="13" name="Shape 10"/>
          <p:cNvSpPr/>
          <p:nvPr/>
        </p:nvSpPr>
        <p:spPr>
          <a:xfrm>
            <a:off x="3107360" y="3040380"/>
            <a:ext cx="201168" cy="0"/>
          </a:xfrm>
          <a:prstGeom prst="line">
            <a:avLst/>
          </a:prstGeom>
          <a:noFill/>
          <a:ln w="15875">
            <a:solidFill>
              <a:srgbClr val="8E8E93"/>
            </a:solidFill>
            <a:prstDash val="solid"/>
            <a:tailEnd type="triangle"/>
          </a:ln>
        </p:spPr>
      </p:sp>
      <p:sp>
        <p:nvSpPr>
          <p:cNvPr id="14" name="Shape 11"/>
          <p:cNvSpPr/>
          <p:nvPr/>
        </p:nvSpPr>
        <p:spPr>
          <a:xfrm>
            <a:off x="3345104"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5" name="Text 12"/>
          <p:cNvSpPr txBox="1"/>
          <p:nvPr/>
        </p:nvSpPr>
        <p:spPr>
          <a:xfrm>
            <a:off x="3564560"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3564560"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누락 월 수집</a:t>
            </a:r>
            <a:endParaRPr lang="en-US" sz="1600" dirty="0"/>
          </a:p>
        </p:txBody>
      </p:sp>
      <p:sp>
        <p:nvSpPr>
          <p:cNvPr id="17" name="Shape 14"/>
          <p:cNvSpPr/>
          <p:nvPr/>
        </p:nvSpPr>
        <p:spPr>
          <a:xfrm>
            <a:off x="3564560" y="2907792"/>
            <a:ext cx="2174672" cy="0"/>
          </a:xfrm>
          <a:prstGeom prst="line">
            <a:avLst/>
          </a:prstGeom>
          <a:noFill/>
          <a:ln w="9525">
            <a:solidFill>
              <a:srgbClr val="E5E7EB"/>
            </a:solidFill>
            <a:prstDash val="solid"/>
          </a:ln>
        </p:spPr>
      </p:sp>
      <p:sp>
        <p:nvSpPr>
          <p:cNvPr id="18" name="Text 15"/>
          <p:cNvSpPr txBox="1"/>
          <p:nvPr/>
        </p:nvSpPr>
        <p:spPr>
          <a:xfrm>
            <a:off x="3564560"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수집 완료 월 제외, 누락 월만 호출 및 월별 중간 저장</a:t>
            </a:r>
            <a:endParaRPr lang="en-US" sz="1100" dirty="0"/>
          </a:p>
        </p:txBody>
      </p:sp>
      <p:sp>
        <p:nvSpPr>
          <p:cNvPr id="19" name="Shape 16"/>
          <p:cNvSpPr/>
          <p:nvPr/>
        </p:nvSpPr>
        <p:spPr>
          <a:xfrm>
            <a:off x="5995264" y="3040380"/>
            <a:ext cx="201168" cy="0"/>
          </a:xfrm>
          <a:prstGeom prst="line">
            <a:avLst/>
          </a:prstGeom>
          <a:noFill/>
          <a:ln w="15875">
            <a:solidFill>
              <a:srgbClr val="8E8E93"/>
            </a:solidFill>
            <a:prstDash val="solid"/>
            <a:tailEnd type="triangle"/>
          </a:ln>
        </p:spPr>
      </p:sp>
      <p:sp>
        <p:nvSpPr>
          <p:cNvPr id="20" name="Shape 17"/>
          <p:cNvSpPr/>
          <p:nvPr/>
        </p:nvSpPr>
        <p:spPr>
          <a:xfrm>
            <a:off x="6233008"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1" name="Text 18"/>
          <p:cNvSpPr txBox="1"/>
          <p:nvPr/>
        </p:nvSpPr>
        <p:spPr>
          <a:xfrm>
            <a:off x="6452464"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6452464"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오류 재시도</a:t>
            </a:r>
            <a:endParaRPr lang="en-US" sz="1600" dirty="0"/>
          </a:p>
        </p:txBody>
      </p:sp>
      <p:sp>
        <p:nvSpPr>
          <p:cNvPr id="23" name="Shape 20"/>
          <p:cNvSpPr/>
          <p:nvPr/>
        </p:nvSpPr>
        <p:spPr>
          <a:xfrm>
            <a:off x="6452464" y="2907792"/>
            <a:ext cx="2174672" cy="0"/>
          </a:xfrm>
          <a:prstGeom prst="line">
            <a:avLst/>
          </a:prstGeom>
          <a:noFill/>
          <a:ln w="9525">
            <a:solidFill>
              <a:srgbClr val="E5E7EB"/>
            </a:solidFill>
            <a:prstDash val="solid"/>
          </a:ln>
        </p:spPr>
      </p:sp>
      <p:sp>
        <p:nvSpPr>
          <p:cNvPr id="24" name="Text 21"/>
          <p:cNvSpPr txBox="1"/>
          <p:nvPr/>
        </p:nvSpPr>
        <p:spPr>
          <a:xfrm>
            <a:off x="6452464"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2초 → 4초 → 8초 간격 재시도, 사용량 소진 시 중단</a:t>
            </a:r>
            <a:endParaRPr lang="en-US" sz="1100" dirty="0"/>
          </a:p>
        </p:txBody>
      </p:sp>
      <p:sp>
        <p:nvSpPr>
          <p:cNvPr id="25" name="Shape 22"/>
          <p:cNvSpPr/>
          <p:nvPr/>
        </p:nvSpPr>
        <p:spPr>
          <a:xfrm>
            <a:off x="8883167" y="3040380"/>
            <a:ext cx="201168" cy="0"/>
          </a:xfrm>
          <a:prstGeom prst="line">
            <a:avLst/>
          </a:prstGeom>
          <a:noFill/>
          <a:ln w="15875">
            <a:solidFill>
              <a:srgbClr val="8E8E93"/>
            </a:solidFill>
            <a:prstDash val="solid"/>
            <a:tailEnd type="triangle"/>
          </a:ln>
        </p:spPr>
      </p:sp>
      <p:sp>
        <p:nvSpPr>
          <p:cNvPr id="26" name="Shape 23"/>
          <p:cNvSpPr/>
          <p:nvPr/>
        </p:nvSpPr>
        <p:spPr>
          <a:xfrm>
            <a:off x="9120911" y="1993392"/>
            <a:ext cx="2613584"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7" name="Text 24"/>
          <p:cNvSpPr txBox="1"/>
          <p:nvPr/>
        </p:nvSpPr>
        <p:spPr>
          <a:xfrm>
            <a:off x="9340367"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9340367" y="2468880"/>
            <a:ext cx="2174672"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빈 자료 기록</a:t>
            </a:r>
            <a:endParaRPr lang="en-US" sz="1600" dirty="0"/>
          </a:p>
        </p:txBody>
      </p:sp>
      <p:sp>
        <p:nvSpPr>
          <p:cNvPr id="29" name="Shape 26"/>
          <p:cNvSpPr/>
          <p:nvPr/>
        </p:nvSpPr>
        <p:spPr>
          <a:xfrm>
            <a:off x="9340367" y="2907792"/>
            <a:ext cx="2174672" cy="0"/>
          </a:xfrm>
          <a:prstGeom prst="line">
            <a:avLst/>
          </a:prstGeom>
          <a:noFill/>
          <a:ln w="9525">
            <a:solidFill>
              <a:srgbClr val="E5E7EB"/>
            </a:solidFill>
            <a:prstDash val="solid"/>
          </a:ln>
        </p:spPr>
      </p:sp>
      <p:sp>
        <p:nvSpPr>
          <p:cNvPr id="30" name="Text 27"/>
          <p:cNvSpPr txBox="1"/>
          <p:nvPr/>
        </p:nvSpPr>
        <p:spPr>
          <a:xfrm>
            <a:off x="9340367" y="3017520"/>
            <a:ext cx="2174672" cy="950976"/>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정상 응답 빈 구-월 기록, 재호출 방지</a:t>
            </a:r>
            <a:endParaRPr lang="en-US" sz="1100" dirty="0"/>
          </a:p>
        </p:txBody>
      </p:sp>
      <p:sp>
        <p:nvSpPr>
          <p:cNvPr id="31" name="Shape 28"/>
          <p:cNvSpPr/>
          <p:nvPr/>
        </p:nvSpPr>
        <p:spPr>
          <a:xfrm>
            <a:off x="457200" y="4361688"/>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32" name="Text 29"/>
          <p:cNvSpPr txBox="1"/>
          <p:nvPr/>
        </p:nvSpPr>
        <p:spPr>
          <a:xfrm>
            <a:off x="67665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2,634행</a:t>
            </a:r>
            <a:endParaRPr lang="en-US" sz="3600" dirty="0"/>
          </a:p>
        </p:txBody>
      </p:sp>
      <p:sp>
        <p:nvSpPr>
          <p:cNvPr id="33" name="Text 30"/>
          <p:cNvSpPr txBox="1"/>
          <p:nvPr/>
        </p:nvSpPr>
        <p:spPr>
          <a:xfrm>
            <a:off x="676656" y="5148072"/>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수집 결과</a:t>
            </a:r>
            <a:endParaRPr lang="en-US" sz="1400" dirty="0"/>
          </a:p>
        </p:txBody>
      </p:sp>
      <p:sp>
        <p:nvSpPr>
          <p:cNvPr id="34" name="Shape 31"/>
          <p:cNvSpPr/>
          <p:nvPr/>
        </p:nvSpPr>
        <p:spPr>
          <a:xfrm>
            <a:off x="676656" y="5550408"/>
            <a:ext cx="2243023" cy="0"/>
          </a:xfrm>
          <a:prstGeom prst="line">
            <a:avLst/>
          </a:prstGeom>
          <a:noFill/>
          <a:ln w="9525">
            <a:solidFill>
              <a:srgbClr val="E87A7A"/>
            </a:solidFill>
            <a:prstDash val="solid"/>
          </a:ln>
        </p:spPr>
      </p:sp>
      <p:sp>
        <p:nvSpPr>
          <p:cNvPr id="35" name="Text 32"/>
          <p:cNvSpPr txBox="1"/>
          <p:nvPr/>
        </p:nvSpPr>
        <p:spPr>
          <a:xfrm>
            <a:off x="67665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2017.01 ~ 2025.12 · 25개 구</a:t>
            </a:r>
            <a:endParaRPr lang="en-US" sz="1100" dirty="0"/>
          </a:p>
        </p:txBody>
      </p:sp>
      <p:sp>
        <p:nvSpPr>
          <p:cNvPr id="36" name="Shape 33"/>
          <p:cNvSpPr/>
          <p:nvPr/>
        </p:nvSpPr>
        <p:spPr>
          <a:xfrm>
            <a:off x="3322015"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7" name="Text 34"/>
          <p:cNvSpPr txBox="1"/>
          <p:nvPr/>
        </p:nvSpPr>
        <p:spPr>
          <a:xfrm>
            <a:off x="3541471"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2,700칸</a:t>
            </a:r>
            <a:endParaRPr lang="en-US" sz="3600" dirty="0"/>
          </a:p>
        </p:txBody>
      </p:sp>
      <p:sp>
        <p:nvSpPr>
          <p:cNvPr id="38" name="Text 35"/>
          <p:cNvSpPr txBox="1"/>
          <p:nvPr/>
        </p:nvSpPr>
        <p:spPr>
          <a:xfrm>
            <a:off x="3541471"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예상 구-월</a:t>
            </a:r>
            <a:endParaRPr lang="en-US" sz="1400" dirty="0"/>
          </a:p>
        </p:txBody>
      </p:sp>
      <p:sp>
        <p:nvSpPr>
          <p:cNvPr id="39" name="Shape 36"/>
          <p:cNvSpPr/>
          <p:nvPr/>
        </p:nvSpPr>
        <p:spPr>
          <a:xfrm>
            <a:off x="3541471" y="5550408"/>
            <a:ext cx="2243023" cy="0"/>
          </a:xfrm>
          <a:prstGeom prst="line">
            <a:avLst/>
          </a:prstGeom>
          <a:noFill/>
          <a:ln w="9525">
            <a:solidFill>
              <a:srgbClr val="E5E7EB"/>
            </a:solidFill>
            <a:prstDash val="solid"/>
          </a:ln>
        </p:spPr>
      </p:sp>
      <p:sp>
        <p:nvSpPr>
          <p:cNvPr id="40" name="Text 37"/>
          <p:cNvSpPr txBox="1"/>
          <p:nvPr/>
        </p:nvSpPr>
        <p:spPr>
          <a:xfrm>
            <a:off x="3541471"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25개 구 × 108개월</a:t>
            </a:r>
            <a:endParaRPr lang="en-US" sz="1100" dirty="0"/>
          </a:p>
        </p:txBody>
      </p:sp>
      <p:sp>
        <p:nvSpPr>
          <p:cNvPr id="41" name="Shape 38"/>
          <p:cNvSpPr/>
          <p:nvPr/>
        </p:nvSpPr>
        <p:spPr>
          <a:xfrm>
            <a:off x="6186830"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42" name="Text 39"/>
          <p:cNvSpPr txBox="1"/>
          <p:nvPr/>
        </p:nvSpPr>
        <p:spPr>
          <a:xfrm>
            <a:off x="6406286"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66칸</a:t>
            </a:r>
            <a:endParaRPr lang="en-US" sz="3600" dirty="0"/>
          </a:p>
        </p:txBody>
      </p:sp>
      <p:sp>
        <p:nvSpPr>
          <p:cNvPr id="43" name="Text 40"/>
          <p:cNvSpPr txBox="1"/>
          <p:nvPr/>
        </p:nvSpPr>
        <p:spPr>
          <a:xfrm>
            <a:off x="6406286"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미수집 구-월</a:t>
            </a:r>
            <a:endParaRPr lang="en-US" sz="1400" dirty="0"/>
          </a:p>
        </p:txBody>
      </p:sp>
      <p:sp>
        <p:nvSpPr>
          <p:cNvPr id="44" name="Shape 41"/>
          <p:cNvSpPr/>
          <p:nvPr/>
        </p:nvSpPr>
        <p:spPr>
          <a:xfrm>
            <a:off x="6406286" y="5550408"/>
            <a:ext cx="2243023" cy="0"/>
          </a:xfrm>
          <a:prstGeom prst="line">
            <a:avLst/>
          </a:prstGeom>
          <a:noFill/>
          <a:ln w="9525">
            <a:solidFill>
              <a:srgbClr val="E5E7EB"/>
            </a:solidFill>
            <a:prstDash val="solid"/>
          </a:ln>
        </p:spPr>
      </p:sp>
      <p:sp>
        <p:nvSpPr>
          <p:cNvPr id="45" name="Text 42"/>
          <p:cNvSpPr txBox="1"/>
          <p:nvPr/>
        </p:nvSpPr>
        <p:spPr>
          <a:xfrm>
            <a:off x="6406286"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성동 6개월 · 금천 60개월</a:t>
            </a:r>
            <a:endParaRPr lang="en-US" sz="1100" dirty="0"/>
          </a:p>
        </p:txBody>
      </p:sp>
      <p:sp>
        <p:nvSpPr>
          <p:cNvPr id="46" name="Shape 43"/>
          <p:cNvSpPr/>
          <p:nvPr/>
        </p:nvSpPr>
        <p:spPr>
          <a:xfrm>
            <a:off x="9051646" y="4361688"/>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47" name="Text 44"/>
          <p:cNvSpPr txBox="1"/>
          <p:nvPr/>
        </p:nvSpPr>
        <p:spPr>
          <a:xfrm>
            <a:off x="9271102" y="4544568"/>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25 → 25</a:t>
            </a:r>
            <a:endParaRPr lang="en-US" sz="3600" dirty="0"/>
          </a:p>
        </p:txBody>
      </p:sp>
      <p:sp>
        <p:nvSpPr>
          <p:cNvPr id="48" name="Text 45"/>
          <p:cNvSpPr txBox="1"/>
          <p:nvPr/>
        </p:nvSpPr>
        <p:spPr>
          <a:xfrm>
            <a:off x="9271102" y="5148072"/>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소방서 → 자치구</a:t>
            </a:r>
            <a:endParaRPr lang="en-US" sz="1400" dirty="0"/>
          </a:p>
        </p:txBody>
      </p:sp>
      <p:sp>
        <p:nvSpPr>
          <p:cNvPr id="49" name="Shape 46"/>
          <p:cNvSpPr/>
          <p:nvPr/>
        </p:nvSpPr>
        <p:spPr>
          <a:xfrm>
            <a:off x="9271102" y="5550408"/>
            <a:ext cx="2243023" cy="0"/>
          </a:xfrm>
          <a:prstGeom prst="line">
            <a:avLst/>
          </a:prstGeom>
          <a:noFill/>
          <a:ln w="9525">
            <a:solidFill>
              <a:srgbClr val="E5E7EB"/>
            </a:solidFill>
            <a:prstDash val="solid"/>
          </a:ln>
        </p:spPr>
      </p:sp>
      <p:sp>
        <p:nvSpPr>
          <p:cNvPr id="50" name="Text 47"/>
          <p:cNvSpPr txBox="1"/>
          <p:nvPr/>
        </p:nvSpPr>
        <p:spPr>
          <a:xfrm>
            <a:off x="9271102" y="5660136"/>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누락 · 중복 매핑 없음</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02</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전처리</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형식 통일, 결측 및 중복 처리, 데이터 통합, 입력 변수 선택</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전처리 흐름</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자료 정리 기준</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과거 값 기반 통합</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입력 변수 선택</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전처리 흐름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원본 정리 → 제외 → 통합 → 입력 선택, 학습 표 2종 생성</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01</a:t>
            </a:r>
            <a:endParaRPr lang="en-US" sz="1300" dirty="0"/>
          </a:p>
        </p:txBody>
      </p:sp>
      <p:sp>
        <p:nvSpPr>
          <p:cNvPr id="10" name="Text 7"/>
          <p:cNvSpPr txBox="1"/>
          <p:nvPr/>
        </p:nvSpPr>
        <p:spPr>
          <a:xfrm>
            <a:off x="676656"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원본 수집</a:t>
            </a:r>
            <a:endParaRPr lang="en-US" sz="1600" dirty="0"/>
          </a:p>
        </p:txBody>
      </p:sp>
      <p:sp>
        <p:nvSpPr>
          <p:cNvPr id="11" name="Shape 8"/>
          <p:cNvSpPr/>
          <p:nvPr/>
        </p:nvSpPr>
        <p:spPr>
          <a:xfrm>
            <a:off x="676656" y="2907792"/>
            <a:ext cx="1597091" cy="0"/>
          </a:xfrm>
          <a:prstGeom prst="line">
            <a:avLst/>
          </a:prstGeom>
          <a:noFill/>
          <a:ln w="9525">
            <a:solidFill>
              <a:srgbClr val="E5E7EB"/>
            </a:solidFill>
            <a:prstDash val="solid"/>
          </a:ln>
        </p:spPr>
      </p:sp>
      <p:sp>
        <p:nvSpPr>
          <p:cNvPr id="12" name="Text 9"/>
          <p:cNvSpPr txBox="1"/>
          <p:nvPr/>
        </p:nvSpPr>
        <p:spPr>
          <a:xfrm>
            <a:off x="676656"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결과 파일 15개 로드 (구급 · 인구 · 사고 · 의료 · 병상)</a:t>
            </a:r>
            <a:endParaRPr lang="en-US" sz="1100" dirty="0"/>
          </a:p>
        </p:txBody>
      </p:sp>
      <p:sp>
        <p:nvSpPr>
          <p:cNvPr id="13" name="Shape 10"/>
          <p:cNvSpPr/>
          <p:nvPr/>
        </p:nvSpPr>
        <p:spPr>
          <a:xfrm>
            <a:off x="2529779" y="2907792"/>
            <a:ext cx="201168" cy="0"/>
          </a:xfrm>
          <a:prstGeom prst="line">
            <a:avLst/>
          </a:prstGeom>
          <a:noFill/>
          <a:ln w="15875">
            <a:solidFill>
              <a:srgbClr val="8E8E93"/>
            </a:solidFill>
            <a:prstDash val="solid"/>
            <a:tailEnd type="triangle"/>
          </a:ln>
        </p:spPr>
      </p:sp>
      <p:sp>
        <p:nvSpPr>
          <p:cNvPr id="14" name="Shape 11"/>
          <p:cNvSpPr/>
          <p:nvPr/>
        </p:nvSpPr>
        <p:spPr>
          <a:xfrm>
            <a:off x="2767523"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5" name="Text 12"/>
          <p:cNvSpPr txBox="1"/>
          <p:nvPr/>
        </p:nvSpPr>
        <p:spPr>
          <a:xfrm>
            <a:off x="2986979"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02</a:t>
            </a:r>
            <a:endParaRPr lang="en-US" sz="1300" dirty="0"/>
          </a:p>
        </p:txBody>
      </p:sp>
      <p:sp>
        <p:nvSpPr>
          <p:cNvPr id="16" name="Text 13"/>
          <p:cNvSpPr txBox="1"/>
          <p:nvPr/>
        </p:nvSpPr>
        <p:spPr>
          <a:xfrm>
            <a:off x="2986979"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형식 통일</a:t>
            </a:r>
            <a:endParaRPr lang="en-US" sz="1600" dirty="0"/>
          </a:p>
        </p:txBody>
      </p:sp>
      <p:sp>
        <p:nvSpPr>
          <p:cNvPr id="17" name="Shape 14"/>
          <p:cNvSpPr/>
          <p:nvPr/>
        </p:nvSpPr>
        <p:spPr>
          <a:xfrm>
            <a:off x="2986979" y="2907792"/>
            <a:ext cx="1597091" cy="0"/>
          </a:xfrm>
          <a:prstGeom prst="line">
            <a:avLst/>
          </a:prstGeom>
          <a:noFill/>
          <a:ln w="9525">
            <a:solidFill>
              <a:srgbClr val="E5E7EB"/>
            </a:solidFill>
            <a:prstDash val="solid"/>
          </a:ln>
        </p:spPr>
      </p:sp>
      <p:sp>
        <p:nvSpPr>
          <p:cNvPr id="18" name="Text 15"/>
          <p:cNvSpPr txBox="1"/>
          <p:nvPr/>
        </p:nvSpPr>
        <p:spPr>
          <a:xfrm>
            <a:off x="2986979"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날짜 · 지역 · 컬럼명 기준 통일</a:t>
            </a:r>
            <a:endParaRPr lang="en-US" sz="1100" dirty="0"/>
          </a:p>
        </p:txBody>
      </p:sp>
      <p:sp>
        <p:nvSpPr>
          <p:cNvPr id="19" name="Shape 16"/>
          <p:cNvSpPr/>
          <p:nvPr/>
        </p:nvSpPr>
        <p:spPr>
          <a:xfrm>
            <a:off x="4840102" y="2907792"/>
            <a:ext cx="201168" cy="0"/>
          </a:xfrm>
          <a:prstGeom prst="line">
            <a:avLst/>
          </a:prstGeom>
          <a:noFill/>
          <a:ln w="15875">
            <a:solidFill>
              <a:srgbClr val="8E8E93"/>
            </a:solidFill>
            <a:prstDash val="solid"/>
            <a:tailEnd type="triangle"/>
          </a:ln>
        </p:spPr>
      </p:sp>
      <p:sp>
        <p:nvSpPr>
          <p:cNvPr id="20" name="Shape 17"/>
          <p:cNvSpPr/>
          <p:nvPr/>
        </p:nvSpPr>
        <p:spPr>
          <a:xfrm>
            <a:off x="5077846"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1" name="Text 18"/>
          <p:cNvSpPr txBox="1"/>
          <p:nvPr/>
        </p:nvSpPr>
        <p:spPr>
          <a:xfrm>
            <a:off x="5297302"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03</a:t>
            </a:r>
            <a:endParaRPr lang="en-US" sz="1300" dirty="0"/>
          </a:p>
        </p:txBody>
      </p:sp>
      <p:sp>
        <p:nvSpPr>
          <p:cNvPr id="22" name="Text 19"/>
          <p:cNvSpPr txBox="1"/>
          <p:nvPr/>
        </p:nvSpPr>
        <p:spPr>
          <a:xfrm>
            <a:off x="5297302"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구간 제외</a:t>
            </a:r>
            <a:endParaRPr lang="en-US" sz="1600" dirty="0"/>
          </a:p>
        </p:txBody>
      </p:sp>
      <p:sp>
        <p:nvSpPr>
          <p:cNvPr id="23" name="Shape 20"/>
          <p:cNvSpPr/>
          <p:nvPr/>
        </p:nvSpPr>
        <p:spPr>
          <a:xfrm>
            <a:off x="5297302" y="2907792"/>
            <a:ext cx="1597091" cy="0"/>
          </a:xfrm>
          <a:prstGeom prst="line">
            <a:avLst/>
          </a:prstGeom>
          <a:noFill/>
          <a:ln w="9525">
            <a:solidFill>
              <a:srgbClr val="E5E7EB"/>
            </a:solidFill>
            <a:prstDash val="solid"/>
          </a:ln>
        </p:spPr>
      </p:sp>
      <p:sp>
        <p:nvSpPr>
          <p:cNvPr id="24" name="Text 21"/>
          <p:cNvSpPr txBox="1"/>
          <p:nvPr/>
        </p:nvSpPr>
        <p:spPr>
          <a:xfrm>
            <a:off x="5297302"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관할 변경 구간 70행 제외</a:t>
            </a:r>
            <a:endParaRPr lang="en-US" sz="1100" dirty="0"/>
          </a:p>
        </p:txBody>
      </p:sp>
      <p:sp>
        <p:nvSpPr>
          <p:cNvPr id="25" name="Shape 22"/>
          <p:cNvSpPr/>
          <p:nvPr/>
        </p:nvSpPr>
        <p:spPr>
          <a:xfrm>
            <a:off x="7150425" y="2907792"/>
            <a:ext cx="201168" cy="0"/>
          </a:xfrm>
          <a:prstGeom prst="line">
            <a:avLst/>
          </a:prstGeom>
          <a:noFill/>
          <a:ln w="15875">
            <a:solidFill>
              <a:srgbClr val="8E8E93"/>
            </a:solidFill>
            <a:prstDash val="solid"/>
            <a:tailEnd type="triangle"/>
          </a:ln>
        </p:spPr>
      </p:sp>
      <p:sp>
        <p:nvSpPr>
          <p:cNvPr id="26" name="Shape 23"/>
          <p:cNvSpPr/>
          <p:nvPr/>
        </p:nvSpPr>
        <p:spPr>
          <a:xfrm>
            <a:off x="7388169" y="1993392"/>
            <a:ext cx="2036003"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7" name="Text 24"/>
          <p:cNvSpPr txBox="1"/>
          <p:nvPr/>
        </p:nvSpPr>
        <p:spPr>
          <a:xfrm>
            <a:off x="7607625" y="2176272"/>
            <a:ext cx="548640" cy="274320"/>
          </a:xfrm>
          <a:prstGeom prst="rect">
            <a:avLst/>
          </a:prstGeom>
          <a:noFill/>
          <a:ln/>
        </p:spPr>
        <p:txBody>
          <a:bodyPr wrap="square" lIns="0" tIns="0" rIns="0" bIns="0" rtlCol="0" anchor="ctr"/>
          <a:lstStyle/>
          <a:p>
            <a:pPr marL="0" indent="0">
              <a:buNone/>
            </a:pPr>
            <a:r>
              <a:rPr lang="en-US" sz="1300" b="1" dirty="0">
                <a:solidFill>
                  <a:srgbClr val="D62828"/>
                </a:solidFill>
                <a:latin typeface="에이투지체 5 Medium"/>
                <a:ea typeface="에이투지체 5 Medium"/>
                <a:cs typeface="에이투지체 5 Medium"/>
              </a:rPr>
              <a:t>04</a:t>
            </a:r>
            <a:endParaRPr lang="en-US" sz="1300" dirty="0"/>
          </a:p>
        </p:txBody>
      </p:sp>
      <p:sp>
        <p:nvSpPr>
          <p:cNvPr id="28" name="Text 25"/>
          <p:cNvSpPr txBox="1"/>
          <p:nvPr/>
        </p:nvSpPr>
        <p:spPr>
          <a:xfrm>
            <a:off x="7607625" y="2468880"/>
            <a:ext cx="1597091" cy="347472"/>
          </a:xfrm>
          <a:prstGeom prst="rect">
            <a:avLst/>
          </a:prstGeom>
          <a:noFill/>
          <a:ln/>
        </p:spPr>
        <p:txBody>
          <a:bodyPr wrap="square" lIns="0" tIns="0" rIns="0" bIns="0" rtlCol="0" anchor="ctr"/>
          <a:lstStyle/>
          <a:p>
            <a:pPr marL="0" indent="0">
              <a:buNone/>
            </a:pPr>
            <a:r>
              <a:rPr lang="en-US" sz="1600" b="1" dirty="0">
                <a:solidFill>
                  <a:srgbClr val="222222"/>
                </a:solidFill>
                <a:latin typeface="에이투지체 5 Medium"/>
                <a:ea typeface="에이투지체 5 Medium"/>
                <a:cs typeface="에이투지체 5 Medium"/>
              </a:rPr>
              <a:t>데이터 통합</a:t>
            </a:r>
            <a:endParaRPr lang="en-US" sz="1600" dirty="0"/>
          </a:p>
        </p:txBody>
      </p:sp>
      <p:sp>
        <p:nvSpPr>
          <p:cNvPr id="29" name="Shape 26"/>
          <p:cNvSpPr/>
          <p:nvPr/>
        </p:nvSpPr>
        <p:spPr>
          <a:xfrm>
            <a:off x="7607625" y="2907792"/>
            <a:ext cx="1597091" cy="0"/>
          </a:xfrm>
          <a:prstGeom prst="line">
            <a:avLst/>
          </a:prstGeom>
          <a:noFill/>
          <a:ln w="9525">
            <a:solidFill>
              <a:srgbClr val="E5E7EB"/>
            </a:solidFill>
            <a:prstDash val="solid"/>
          </a:ln>
        </p:spPr>
      </p:sp>
      <p:sp>
        <p:nvSpPr>
          <p:cNvPr id="30" name="Text 27"/>
          <p:cNvSpPr txBox="1"/>
          <p:nvPr/>
        </p:nvSpPr>
        <p:spPr>
          <a:xfrm>
            <a:off x="7607625"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45515E"/>
                </a:solidFill>
                <a:latin typeface="에이투지체 5 Medium"/>
                <a:ea typeface="에이투지체 5 Medium"/>
                <a:cs typeface="에이투지체 5 Medium"/>
              </a:rPr>
              <a:t>이송 표 (구 × 월), 인구 표 (구 × 일)</a:t>
            </a:r>
            <a:endParaRPr lang="en-US" sz="1100" dirty="0"/>
          </a:p>
        </p:txBody>
      </p:sp>
      <p:sp>
        <p:nvSpPr>
          <p:cNvPr id="31" name="Shape 28"/>
          <p:cNvSpPr/>
          <p:nvPr/>
        </p:nvSpPr>
        <p:spPr>
          <a:xfrm>
            <a:off x="9460748" y="2907792"/>
            <a:ext cx="201168" cy="0"/>
          </a:xfrm>
          <a:prstGeom prst="line">
            <a:avLst/>
          </a:prstGeom>
          <a:noFill/>
          <a:ln w="15875">
            <a:solidFill>
              <a:srgbClr val="8E8E93"/>
            </a:solidFill>
            <a:prstDash val="solid"/>
            <a:tailEnd type="triangle"/>
          </a:ln>
        </p:spPr>
      </p:sp>
      <p:sp>
        <p:nvSpPr>
          <p:cNvPr id="32" name="Shape 29"/>
          <p:cNvSpPr/>
          <p:nvPr/>
        </p:nvSpPr>
        <p:spPr>
          <a:xfrm>
            <a:off x="9698492" y="1993392"/>
            <a:ext cx="2036003"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33" name="Text 30"/>
          <p:cNvSpPr txBox="1"/>
          <p:nvPr/>
        </p:nvSpPr>
        <p:spPr>
          <a:xfrm>
            <a:off x="9917948" y="2176272"/>
            <a:ext cx="548640" cy="274320"/>
          </a:xfrm>
          <a:prstGeom prst="rect">
            <a:avLst/>
          </a:prstGeom>
          <a:noFill/>
          <a:ln/>
        </p:spPr>
        <p:txBody>
          <a:bodyPr wrap="square" lIns="0" tIns="0" rIns="0" bIns="0" rtlCol="0" anchor="ctr"/>
          <a:lstStyle/>
          <a:p>
            <a:pPr marL="0" indent="0">
              <a:buNone/>
            </a:pPr>
            <a:r>
              <a:rPr lang="en-US" sz="1300" b="1" dirty="0">
                <a:solidFill>
                  <a:srgbClr val="FDE3E3"/>
                </a:solidFill>
                <a:latin typeface="에이투지체 5 Medium"/>
                <a:ea typeface="에이투지체 5 Medium"/>
                <a:cs typeface="에이투지체 5 Medium"/>
              </a:rPr>
              <a:t>05</a:t>
            </a:r>
            <a:endParaRPr lang="en-US" sz="1300" dirty="0"/>
          </a:p>
        </p:txBody>
      </p:sp>
      <p:sp>
        <p:nvSpPr>
          <p:cNvPr id="34" name="Text 31"/>
          <p:cNvSpPr txBox="1"/>
          <p:nvPr/>
        </p:nvSpPr>
        <p:spPr>
          <a:xfrm>
            <a:off x="9917948" y="2468880"/>
            <a:ext cx="1597091" cy="347472"/>
          </a:xfrm>
          <a:prstGeom prst="rect">
            <a:avLst/>
          </a:prstGeom>
          <a:noFill/>
          <a:ln/>
        </p:spPr>
        <p:txBody>
          <a:bodyPr wrap="square" lIns="0" tIns="0" rIns="0" bIns="0" rtlCol="0" anchor="ctr"/>
          <a:lstStyle/>
          <a:p>
            <a:pPr marL="0" indent="0">
              <a:buNone/>
            </a:pPr>
            <a:r>
              <a:rPr lang="en-US" sz="1600" b="1" dirty="0">
                <a:solidFill>
                  <a:srgbClr val="FFFFFF"/>
                </a:solidFill>
                <a:latin typeface="에이투지체 5 Medium"/>
                <a:ea typeface="에이투지체 5 Medium"/>
                <a:cs typeface="에이투지체 5 Medium"/>
              </a:rPr>
              <a:t>입력 선택</a:t>
            </a:r>
            <a:endParaRPr lang="en-US" sz="1600" dirty="0"/>
          </a:p>
        </p:txBody>
      </p:sp>
      <p:sp>
        <p:nvSpPr>
          <p:cNvPr id="35" name="Shape 32"/>
          <p:cNvSpPr/>
          <p:nvPr/>
        </p:nvSpPr>
        <p:spPr>
          <a:xfrm>
            <a:off x="9917948" y="2907792"/>
            <a:ext cx="1597091" cy="0"/>
          </a:xfrm>
          <a:prstGeom prst="line">
            <a:avLst/>
          </a:prstGeom>
          <a:noFill/>
          <a:ln w="9525">
            <a:solidFill>
              <a:srgbClr val="E87A7A"/>
            </a:solidFill>
            <a:prstDash val="solid"/>
          </a:ln>
        </p:spPr>
      </p:sp>
      <p:sp>
        <p:nvSpPr>
          <p:cNvPr id="36" name="Text 33"/>
          <p:cNvSpPr txBox="1"/>
          <p:nvPr/>
        </p:nvSpPr>
        <p:spPr>
          <a:xfrm>
            <a:off x="9917948" y="3017520"/>
            <a:ext cx="1597091" cy="685800"/>
          </a:xfrm>
          <a:prstGeom prst="rect">
            <a:avLst/>
          </a:prstGeom>
          <a:noFill/>
          <a:ln/>
        </p:spPr>
        <p:txBody>
          <a:bodyPr wrap="square" lIns="0" tIns="0" rIns="0" bIns="0" rtlCol="0" anchor="t"/>
          <a:lstStyle/>
          <a:p>
            <a:pPr marL="0" indent="0">
              <a:lnSpc>
                <a:spcPct val="130000"/>
              </a:lnSpc>
              <a:buNone/>
            </a:pPr>
            <a:r>
              <a:rPr lang="en-US" sz="1100" dirty="0">
                <a:solidFill>
                  <a:srgbClr val="FDE3E3"/>
                </a:solidFill>
                <a:latin typeface="에이투지체 5 Medium"/>
                <a:ea typeface="에이투지체 5 Medium"/>
                <a:cs typeface="에이투지체 5 Medium"/>
              </a:rPr>
              <a:t>이송 8개 · 인구 5개</a:t>
            </a:r>
            <a:endParaRPr lang="en-US" sz="1100" dirty="0"/>
          </a:p>
        </p:txBody>
      </p:sp>
      <p:sp>
        <p:nvSpPr>
          <p:cNvPr id="37" name="Shape 34"/>
          <p:cNvSpPr/>
          <p:nvPr/>
        </p:nvSpPr>
        <p:spPr>
          <a:xfrm>
            <a:off x="457200"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8" name="Text 35"/>
          <p:cNvSpPr txBox="1"/>
          <p:nvPr/>
        </p:nvSpPr>
        <p:spPr>
          <a:xfrm>
            <a:off x="676656"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예측용 표</a:t>
            </a:r>
            <a:endParaRPr lang="en-US" sz="1800" dirty="0"/>
          </a:p>
        </p:txBody>
      </p:sp>
      <p:sp>
        <p:nvSpPr>
          <p:cNvPr id="39" name="Shape 36"/>
          <p:cNvSpPr/>
          <p:nvPr/>
        </p:nvSpPr>
        <p:spPr>
          <a:xfrm>
            <a:off x="676656" y="4663440"/>
            <a:ext cx="5108753" cy="0"/>
          </a:xfrm>
          <a:prstGeom prst="line">
            <a:avLst/>
          </a:prstGeom>
          <a:noFill/>
          <a:ln w="9525">
            <a:solidFill>
              <a:srgbClr val="E5E7EB"/>
            </a:solidFill>
            <a:prstDash val="solid"/>
          </a:ln>
        </p:spPr>
      </p:sp>
      <p:sp>
        <p:nvSpPr>
          <p:cNvPr id="40" name="Text 37"/>
          <p:cNvSpPr txBox="1"/>
          <p:nvPr/>
        </p:nvSpPr>
        <p:spPr>
          <a:xfrm>
            <a:off x="676656"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월</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2,564행 × 46열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2,180행 × 13열 (결측 행 제외)</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2018.05 ~ 2025.12</a:t>
            </a:r>
            <a:endParaRPr lang="en-US" sz="1300" dirty="0"/>
          </a:p>
        </p:txBody>
      </p:sp>
      <p:sp>
        <p:nvSpPr>
          <p:cNvPr id="41" name="Shape 38"/>
          <p:cNvSpPr/>
          <p:nvPr/>
        </p:nvSpPr>
        <p:spPr>
          <a:xfrm>
            <a:off x="6187745" y="4096512"/>
            <a:ext cx="5547665" cy="2093976"/>
          </a:xfrm>
          <a:prstGeom prst="roundRect">
            <a:avLst>
              <a:gd name="adj" fmla="val 43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42" name="Text 39"/>
          <p:cNvSpPr txBox="1"/>
          <p:nvPr/>
        </p:nvSpPr>
        <p:spPr>
          <a:xfrm>
            <a:off x="6407201" y="4261104"/>
            <a:ext cx="510875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예측용 표</a:t>
            </a:r>
            <a:endParaRPr lang="en-US" sz="1800" dirty="0"/>
          </a:p>
        </p:txBody>
      </p:sp>
      <p:sp>
        <p:nvSpPr>
          <p:cNvPr id="43" name="Shape 40"/>
          <p:cNvSpPr/>
          <p:nvPr/>
        </p:nvSpPr>
        <p:spPr>
          <a:xfrm>
            <a:off x="6407201" y="4663440"/>
            <a:ext cx="5108753" cy="0"/>
          </a:xfrm>
          <a:prstGeom prst="line">
            <a:avLst/>
          </a:prstGeom>
          <a:noFill/>
          <a:ln w="9525">
            <a:solidFill>
              <a:srgbClr val="E5E7EB"/>
            </a:solidFill>
            <a:prstDash val="solid"/>
          </a:ln>
        </p:spPr>
      </p:sp>
      <p:sp>
        <p:nvSpPr>
          <p:cNvPr id="44" name="Text 41"/>
          <p:cNvSpPr txBox="1"/>
          <p:nvPr/>
        </p:nvSpPr>
        <p:spPr>
          <a:xfrm>
            <a:off x="6407201" y="4773168"/>
            <a:ext cx="5108753" cy="1289304"/>
          </a:xfrm>
          <a:prstGeom prst="rect">
            <a:avLst/>
          </a:prstGeom>
          <a:noFill/>
          <a:ln/>
        </p:spPr>
        <p:txBody>
          <a:bodyPr wrap="square" lIns="0" tIns="0" rIns="0" bIns="0" rtlCol="0" anchor="t"/>
          <a:lstStyle/>
          <a:p>
            <a:pPr marL="0" indent="0">
              <a:lnSpc>
                <a:spcPct val="135000"/>
              </a:lnSpc>
              <a:buNone/>
            </a:pPr>
            <a:r>
              <a:rPr lang="en-US" sz="1300" dirty="0">
                <a:solidFill>
                  <a:srgbClr val="45515E"/>
                </a:solidFill>
                <a:latin typeface="에이투지체 5 Medium"/>
                <a:ea typeface="에이투지체 5 Medium"/>
                <a:cs typeface="에이투지체 5 Medium"/>
              </a:rPr>
              <a:t>· 단위: 자치구 × 일</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통합 결과: 75,825행 × 20열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학습용: 75,825행 × 11열</a:t>
            </a:r>
            <a:endParaRPr lang="en-US" sz="1300" dirty="0"/>
          </a:p>
          <a:p>
            <a:pPr marL="0" indent="0">
              <a:lnSpc>
                <a:spcPct val="135000"/>
              </a:lnSpc>
              <a:buNone/>
            </a:pPr>
            <a:r>
              <a:rPr lang="en-US" sz="1300" dirty="0">
                <a:solidFill>
                  <a:srgbClr val="45515E"/>
                </a:solidFill>
                <a:latin typeface="에이투지체 5 Medium"/>
                <a:ea typeface="에이투지체 5 Medium"/>
                <a:cs typeface="에이투지체 5 Medium"/>
              </a:rPr>
              <a:t>· 기간: 2018.04.12 ~ 2026.07.31</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자료 정리 및 결측 · 중복 처리</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임의 값 생성 없이 형식 통일 및 이상 구간 제외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(형식 · 숫자 정리는 이전 전처리 단계)</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3401568"/>
        </p:xfrm>
        <a:graphic>
          <a:graphicData uri="http://schemas.openxmlformats.org/drawingml/2006/table">
            <a:tbl>
              <a:tblPr/>
              <a:tblGrid>
                <a:gridCol w="1645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구분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문제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처리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결과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형식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3~4줄 헤더, 가로로 펼친 월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한 행 = 한 시점 구조로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세로형 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명칭</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파일별 날짜 · 지역 컬럼명 상이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ds · District로 통일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공통 키 병합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숫자</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천 단위 콤마, "-" 표기</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콤마 제거, "-" → 0</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숫자형 변환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중복 컬럼</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Pop_Peak = 일최대인구수</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뒤쪽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1개 컬럼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미수집 구간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소방서 개서 이전 66칸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임의 값 미입력</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빈 구간 유지</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00" b="1" dirty="0">
                          <a:solidFill>
                            <a:srgbClr val="222222"/>
                          </a:solidFill>
                          <a:latin typeface="에이투지체 5 Medium"/>
                          <a:ea typeface="에이투지체 5 Medium"/>
                          <a:cs typeface="에이투지체 5 Medium"/>
                        </a:rPr>
                        <a:t>관할 변경</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성동 · 광진 ~2017.7, 금천 · 구로 ~2022.1</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변경 이전 구간 제외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2,634 → 2,564행</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bl>
          </a:graphicData>
        </a:graphic>
      </p:graphicFrame>
      <p:sp>
        <p:nvSpPr>
          <p:cNvPr id="9" name="Shape 5"/>
          <p:cNvSpPr/>
          <p:nvPr/>
        </p:nvSpPr>
        <p:spPr>
          <a:xfrm>
            <a:off x="457200" y="5596128"/>
            <a:ext cx="11277295" cy="594360"/>
          </a:xfrm>
          <a:prstGeom prst="roundRect">
            <a:avLst>
              <a:gd name="adj" fmla="val 15385"/>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0" name="Text 6"/>
          <p:cNvSpPr txBox="1"/>
          <p:nvPr/>
        </p:nvSpPr>
        <p:spPr>
          <a:xfrm>
            <a:off x="640080" y="5596128"/>
            <a:ext cx="10908792" cy="59436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25개 구 × 3,040일 연속 확인, 결측의 평균 · 0 대체 미적용</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과거 값 기반 학습 표 통합</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예측 시점에 확인 가능한 지난달 · 작년 · 전일 값만 입력으로 사용</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a:t>
            </a:r>
            <a:endParaRPr lang="en-US" sz="900" dirty="0"/>
          </a:p>
        </p:txBody>
      </p:sp>
      <p:sp>
        <p:nvSpPr>
          <p:cNvPr id="8" name="Shape 5"/>
          <p:cNvSpPr/>
          <p:nvPr/>
        </p:nvSpPr>
        <p:spPr>
          <a:xfrm>
            <a:off x="457200" y="199339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199339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소방청 API 이송 건수</a:t>
            </a:r>
            <a:endParaRPr lang="en-US" sz="1300" dirty="0"/>
          </a:p>
        </p:txBody>
      </p:sp>
      <p:sp>
        <p:nvSpPr>
          <p:cNvPr id="10" name="Shape 7"/>
          <p:cNvSpPr/>
          <p:nvPr/>
        </p:nvSpPr>
        <p:spPr>
          <a:xfrm>
            <a:off x="3017520" y="2221992"/>
            <a:ext cx="1280160" cy="274320"/>
          </a:xfrm>
          <a:prstGeom prst="roundRect">
            <a:avLst>
              <a:gd name="adj" fmla="val 50000"/>
            </a:avLst>
          </a:prstGeom>
          <a:solidFill>
            <a:srgbClr val="FDE3E3"/>
          </a:solidFill>
          <a:ln w="12700">
            <a:solidFill>
              <a:srgbClr val="FDE3E3"/>
            </a:solidFill>
            <a:prstDash val="solid"/>
          </a:ln>
        </p:spPr>
      </p:sp>
      <p:sp>
        <p:nvSpPr>
          <p:cNvPr id="11" name="Text 8"/>
          <p:cNvSpPr txBox="1"/>
          <p:nvPr/>
        </p:nvSpPr>
        <p:spPr>
          <a:xfrm>
            <a:off x="3017520" y="222199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 · 전년 동월</a:t>
            </a:r>
            <a:endParaRPr lang="en-US" sz="1050" dirty="0"/>
          </a:p>
        </p:txBody>
      </p:sp>
      <p:sp>
        <p:nvSpPr>
          <p:cNvPr id="12" name="Shape 9"/>
          <p:cNvSpPr/>
          <p:nvPr/>
        </p:nvSpPr>
        <p:spPr>
          <a:xfrm>
            <a:off x="4572000" y="2359152"/>
            <a:ext cx="502920" cy="0"/>
          </a:xfrm>
          <a:prstGeom prst="line">
            <a:avLst/>
          </a:prstGeom>
          <a:noFill/>
          <a:ln w="15875">
            <a:solidFill>
              <a:srgbClr val="D62828"/>
            </a:solidFill>
            <a:prstDash val="solid"/>
            <a:tailEnd type="triangle"/>
          </a:ln>
        </p:spPr>
      </p:sp>
      <p:sp>
        <p:nvSpPr>
          <p:cNvPr id="13" name="Shape 10"/>
          <p:cNvSpPr/>
          <p:nvPr/>
        </p:nvSpPr>
        <p:spPr>
          <a:xfrm>
            <a:off x="457200" y="286207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Text 11"/>
          <p:cNvSpPr txBox="1"/>
          <p:nvPr/>
        </p:nvSpPr>
        <p:spPr>
          <a:xfrm>
            <a:off x="676656" y="286207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생활인구 (일 → 월평균)</a:t>
            </a:r>
            <a:endParaRPr lang="en-US" sz="1300" dirty="0"/>
          </a:p>
        </p:txBody>
      </p:sp>
      <p:sp>
        <p:nvSpPr>
          <p:cNvPr id="15" name="Shape 12"/>
          <p:cNvSpPr/>
          <p:nvPr/>
        </p:nvSpPr>
        <p:spPr>
          <a:xfrm>
            <a:off x="3017520" y="3090672"/>
            <a:ext cx="1280160" cy="274320"/>
          </a:xfrm>
          <a:prstGeom prst="roundRect">
            <a:avLst>
              <a:gd name="adj" fmla="val 50000"/>
            </a:avLst>
          </a:prstGeom>
          <a:solidFill>
            <a:srgbClr val="FDE3E3"/>
          </a:solidFill>
          <a:ln w="12700">
            <a:solidFill>
              <a:srgbClr val="FDE3E3"/>
            </a:solidFill>
            <a:prstDash val="solid"/>
          </a:ln>
        </p:spPr>
      </p:sp>
      <p:sp>
        <p:nvSpPr>
          <p:cNvPr id="16" name="Text 13"/>
          <p:cNvSpPr txBox="1"/>
          <p:nvPr/>
        </p:nvSpPr>
        <p:spPr>
          <a:xfrm>
            <a:off x="3017520" y="309067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전월</a:t>
            </a:r>
            <a:endParaRPr lang="en-US" sz="1050" dirty="0"/>
          </a:p>
        </p:txBody>
      </p:sp>
      <p:sp>
        <p:nvSpPr>
          <p:cNvPr id="17" name="Shape 14"/>
          <p:cNvSpPr/>
          <p:nvPr/>
        </p:nvSpPr>
        <p:spPr>
          <a:xfrm>
            <a:off x="4572000" y="3227832"/>
            <a:ext cx="502920" cy="0"/>
          </a:xfrm>
          <a:prstGeom prst="line">
            <a:avLst/>
          </a:prstGeom>
          <a:noFill/>
          <a:ln w="15875">
            <a:solidFill>
              <a:srgbClr val="D62828"/>
            </a:solidFill>
            <a:prstDash val="solid"/>
            <a:tailEnd type="triangle"/>
          </a:ln>
        </p:spPr>
      </p:sp>
      <p:sp>
        <p:nvSpPr>
          <p:cNvPr id="18" name="Shape 15"/>
          <p:cNvSpPr/>
          <p:nvPr/>
        </p:nvSpPr>
        <p:spPr>
          <a:xfrm>
            <a:off x="457200" y="373075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Text 16"/>
          <p:cNvSpPr txBox="1"/>
          <p:nvPr/>
        </p:nvSpPr>
        <p:spPr>
          <a:xfrm>
            <a:off x="676656" y="373075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구조활동 사고 원인</a:t>
            </a:r>
            <a:endParaRPr lang="en-US" sz="1300" dirty="0"/>
          </a:p>
        </p:txBody>
      </p:sp>
      <p:sp>
        <p:nvSpPr>
          <p:cNvPr id="20" name="Shape 17"/>
          <p:cNvSpPr/>
          <p:nvPr/>
        </p:nvSpPr>
        <p:spPr>
          <a:xfrm>
            <a:off x="3017520" y="3959352"/>
            <a:ext cx="1280160" cy="274320"/>
          </a:xfrm>
          <a:prstGeom prst="roundRect">
            <a:avLst>
              <a:gd name="adj" fmla="val 50000"/>
            </a:avLst>
          </a:prstGeom>
          <a:solidFill>
            <a:srgbClr val="FDE3E3"/>
          </a:solidFill>
          <a:ln w="12700">
            <a:solidFill>
              <a:srgbClr val="FDE3E3"/>
            </a:solidFill>
            <a:prstDash val="solid"/>
          </a:ln>
        </p:spPr>
      </p:sp>
      <p:sp>
        <p:nvSpPr>
          <p:cNvPr id="21" name="Text 18"/>
          <p:cNvSpPr txBox="1"/>
          <p:nvPr/>
        </p:nvSpPr>
        <p:spPr>
          <a:xfrm>
            <a:off x="3017520" y="395935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2" name="Shape 19"/>
          <p:cNvSpPr/>
          <p:nvPr/>
        </p:nvSpPr>
        <p:spPr>
          <a:xfrm>
            <a:off x="4572000" y="4096512"/>
            <a:ext cx="502920" cy="0"/>
          </a:xfrm>
          <a:prstGeom prst="line">
            <a:avLst/>
          </a:prstGeom>
          <a:noFill/>
          <a:ln w="15875">
            <a:solidFill>
              <a:srgbClr val="D62828"/>
            </a:solidFill>
            <a:prstDash val="solid"/>
            <a:tailEnd type="triangle"/>
          </a:ln>
        </p:spPr>
      </p:sp>
      <p:sp>
        <p:nvSpPr>
          <p:cNvPr id="23" name="Shape 20"/>
          <p:cNvSpPr/>
          <p:nvPr/>
        </p:nvSpPr>
        <p:spPr>
          <a:xfrm>
            <a:off x="457200" y="4599432"/>
            <a:ext cx="4023360" cy="731520"/>
          </a:xfrm>
          <a:prstGeom prst="roundRect">
            <a:avLst>
              <a:gd name="adj" fmla="val 125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676656" y="4599432"/>
            <a:ext cx="2377440" cy="731520"/>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의료이용 수요 · 공급</a:t>
            </a:r>
            <a:endParaRPr lang="en-US" sz="1300" dirty="0"/>
          </a:p>
        </p:txBody>
      </p:sp>
      <p:sp>
        <p:nvSpPr>
          <p:cNvPr id="25" name="Shape 22"/>
          <p:cNvSpPr/>
          <p:nvPr/>
        </p:nvSpPr>
        <p:spPr>
          <a:xfrm>
            <a:off x="3017520" y="4828032"/>
            <a:ext cx="1280160" cy="274320"/>
          </a:xfrm>
          <a:prstGeom prst="roundRect">
            <a:avLst>
              <a:gd name="adj" fmla="val 50000"/>
            </a:avLst>
          </a:prstGeom>
          <a:solidFill>
            <a:srgbClr val="FDE3E3"/>
          </a:solidFill>
          <a:ln w="12700">
            <a:solidFill>
              <a:srgbClr val="FDE3E3"/>
            </a:solidFill>
            <a:prstDash val="solid"/>
          </a:ln>
        </p:spPr>
      </p:sp>
      <p:sp>
        <p:nvSpPr>
          <p:cNvPr id="26" name="Text 23"/>
          <p:cNvSpPr txBox="1"/>
          <p:nvPr/>
        </p:nvSpPr>
        <p:spPr>
          <a:xfrm>
            <a:off x="3017520" y="4828032"/>
            <a:ext cx="128016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전년</a:t>
            </a:r>
            <a:endParaRPr lang="en-US" sz="1050" dirty="0"/>
          </a:p>
        </p:txBody>
      </p:sp>
      <p:sp>
        <p:nvSpPr>
          <p:cNvPr id="27" name="Shape 24"/>
          <p:cNvSpPr/>
          <p:nvPr/>
        </p:nvSpPr>
        <p:spPr>
          <a:xfrm>
            <a:off x="4572000" y="4965192"/>
            <a:ext cx="502920" cy="0"/>
          </a:xfrm>
          <a:prstGeom prst="line">
            <a:avLst/>
          </a:prstGeom>
          <a:noFill/>
          <a:ln w="15875">
            <a:solidFill>
              <a:srgbClr val="D62828"/>
            </a:solidFill>
            <a:prstDash val="solid"/>
            <a:tailEnd type="triangle"/>
          </a:ln>
        </p:spPr>
      </p:sp>
      <p:sp>
        <p:nvSpPr>
          <p:cNvPr id="28" name="Shape 25"/>
          <p:cNvSpPr/>
          <p:nvPr/>
        </p:nvSpPr>
        <p:spPr>
          <a:xfrm>
            <a:off x="5212080" y="1993392"/>
            <a:ext cx="2743200" cy="3337560"/>
          </a:xfrm>
          <a:prstGeom prst="roundRect">
            <a:avLst>
              <a:gd name="adj" fmla="val 4667"/>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29" name="Text 26"/>
          <p:cNvSpPr txBox="1"/>
          <p:nvPr/>
        </p:nvSpPr>
        <p:spPr>
          <a:xfrm>
            <a:off x="5431536" y="2286000"/>
            <a:ext cx="2304288"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에이투지체 5 Medium"/>
                <a:ea typeface="에이투지체 5 Medium"/>
                <a:cs typeface="에이투지체 5 Medium"/>
              </a:rPr>
              <a:t>이송 예측 표</a:t>
            </a:r>
            <a:endParaRPr lang="en-US" sz="1800" dirty="0"/>
          </a:p>
        </p:txBody>
      </p:sp>
      <p:sp>
        <p:nvSpPr>
          <p:cNvPr id="30" name="Text 27"/>
          <p:cNvSpPr txBox="1"/>
          <p:nvPr/>
        </p:nvSpPr>
        <p:spPr>
          <a:xfrm>
            <a:off x="5431536" y="2743200"/>
            <a:ext cx="2304288" cy="640080"/>
          </a:xfrm>
          <a:prstGeom prst="rect">
            <a:avLst/>
          </a:prstGeom>
          <a:noFill/>
          <a:ln/>
        </p:spPr>
        <p:txBody>
          <a:bodyPr wrap="square" lIns="0" tIns="0" rIns="0" bIns="0" rtlCol="0" anchor="ctr"/>
          <a:lstStyle/>
          <a:p>
            <a:pPr marL="0" indent="0" algn="ctr">
              <a:buNone/>
            </a:pPr>
            <a:r>
              <a:rPr lang="en-US" sz="1300" dirty="0">
                <a:solidFill>
                  <a:srgbClr val="FDE3E3"/>
                </a:solidFill>
                <a:latin typeface="에이투지체 5 Medium"/>
                <a:ea typeface="에이투지체 5 Medium"/>
                <a:cs typeface="에이투지체 5 Medium"/>
              </a:rPr>
              <a:t>구 × 월</a:t>
            </a:r>
            <a:endParaRPr lang="en-US" sz="1300" dirty="0"/>
          </a:p>
          <a:p>
            <a:pPr marL="0" indent="0" algn="ctr">
              <a:buNone/>
            </a:pPr>
            <a:r>
              <a:rPr lang="en-US" sz="1300" dirty="0">
                <a:solidFill>
                  <a:srgbClr val="FDE3E3"/>
                </a:solidFill>
                <a:latin typeface="에이투지체 5 Medium"/>
                <a:ea typeface="에이투지체 5 Medium"/>
                <a:cs typeface="에이투지체 5 Medium"/>
              </a:rPr>
              <a:t>2,564행 × 46열</a:t>
            </a:r>
            <a:endParaRPr lang="en-US" sz="1300" dirty="0"/>
          </a:p>
        </p:txBody>
      </p:sp>
      <p:sp>
        <p:nvSpPr>
          <p:cNvPr id="31" name="Shape 28"/>
          <p:cNvSpPr/>
          <p:nvPr/>
        </p:nvSpPr>
        <p:spPr>
          <a:xfrm>
            <a:off x="5431536" y="3566160"/>
            <a:ext cx="2304288" cy="0"/>
          </a:xfrm>
          <a:prstGeom prst="line">
            <a:avLst/>
          </a:prstGeom>
          <a:noFill/>
          <a:ln w="9525">
            <a:solidFill>
              <a:srgbClr val="E87A7A"/>
            </a:solidFill>
            <a:prstDash val="solid"/>
          </a:ln>
        </p:spPr>
      </p:sp>
      <p:sp>
        <p:nvSpPr>
          <p:cNvPr id="32" name="Text 29"/>
          <p:cNvSpPr txBox="1"/>
          <p:nvPr/>
        </p:nvSpPr>
        <p:spPr>
          <a:xfrm>
            <a:off x="5431536" y="3703320"/>
            <a:ext cx="2304288" cy="27432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정답</a:t>
            </a:r>
            <a:endParaRPr lang="en-US" sz="1100" dirty="0"/>
          </a:p>
        </p:txBody>
      </p:sp>
      <p:sp>
        <p:nvSpPr>
          <p:cNvPr id="33" name="Text 30"/>
          <p:cNvSpPr txBox="1"/>
          <p:nvPr/>
        </p:nvSpPr>
        <p:spPr>
          <a:xfrm>
            <a:off x="5431536" y="4023360"/>
            <a:ext cx="2304288"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에이투지체 5 Medium"/>
                <a:ea typeface="에이투지체 5 Medium"/>
                <a:cs typeface="에이투지체 5 Medium"/>
              </a:rPr>
              <a:t>당월 이송 건수</a:t>
            </a:r>
            <a:endParaRPr lang="en-US" sz="1600" dirty="0"/>
          </a:p>
        </p:txBody>
      </p:sp>
      <p:sp>
        <p:nvSpPr>
          <p:cNvPr id="34" name="Shape 31"/>
          <p:cNvSpPr/>
          <p:nvPr/>
        </p:nvSpPr>
        <p:spPr>
          <a:xfrm>
            <a:off x="8138160" y="1993392"/>
            <a:ext cx="3596335" cy="3337560"/>
          </a:xfrm>
          <a:prstGeom prst="roundRect">
            <a:avLst>
              <a:gd name="adj" fmla="val 27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5" name="Text 32"/>
          <p:cNvSpPr txBox="1"/>
          <p:nvPr/>
        </p:nvSpPr>
        <p:spPr>
          <a:xfrm>
            <a:off x="8357616" y="2176272"/>
            <a:ext cx="315468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예측 표</a:t>
            </a:r>
            <a:endParaRPr lang="en-US" sz="1800" dirty="0"/>
          </a:p>
        </p:txBody>
      </p:sp>
      <p:sp>
        <p:nvSpPr>
          <p:cNvPr id="36" name="Shape 33"/>
          <p:cNvSpPr/>
          <p:nvPr/>
        </p:nvSpPr>
        <p:spPr>
          <a:xfrm>
            <a:off x="8357616" y="2578608"/>
            <a:ext cx="3154680" cy="0"/>
          </a:xfrm>
          <a:prstGeom prst="line">
            <a:avLst/>
          </a:prstGeom>
          <a:noFill/>
          <a:ln w="9525">
            <a:solidFill>
              <a:srgbClr val="E5E7EB"/>
            </a:solidFill>
            <a:prstDash val="solid"/>
          </a:ln>
        </p:spPr>
      </p:sp>
      <p:sp>
        <p:nvSpPr>
          <p:cNvPr id="37" name="Shape 34"/>
          <p:cNvSpPr/>
          <p:nvPr/>
        </p:nvSpPr>
        <p:spPr>
          <a:xfrm>
            <a:off x="8357616" y="2816352"/>
            <a:ext cx="1097280" cy="274320"/>
          </a:xfrm>
          <a:prstGeom prst="roundRect">
            <a:avLst>
              <a:gd name="adj" fmla="val 50000"/>
            </a:avLst>
          </a:prstGeom>
          <a:solidFill>
            <a:srgbClr val="F2F3F5"/>
          </a:solidFill>
          <a:ln w="12700">
            <a:solidFill>
              <a:srgbClr val="F2F3F5"/>
            </a:solidFill>
            <a:prstDash val="solid"/>
          </a:ln>
        </p:spPr>
      </p:sp>
      <p:sp>
        <p:nvSpPr>
          <p:cNvPr id="38" name="Text 35"/>
          <p:cNvSpPr txBox="1"/>
          <p:nvPr/>
        </p:nvSpPr>
        <p:spPr>
          <a:xfrm>
            <a:off x="8357616" y="2816352"/>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전일 값</a:t>
            </a:r>
            <a:endParaRPr lang="en-US" sz="1050" dirty="0"/>
          </a:p>
        </p:txBody>
      </p:sp>
      <p:sp>
        <p:nvSpPr>
          <p:cNvPr id="39" name="Text 36"/>
          <p:cNvSpPr txBox="1"/>
          <p:nvPr/>
        </p:nvSpPr>
        <p:spPr>
          <a:xfrm>
            <a:off x="9601200" y="2743200"/>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전일 생활인구 지표</a:t>
            </a:r>
            <a:endParaRPr lang="en-US" sz="1200" dirty="0"/>
          </a:p>
        </p:txBody>
      </p:sp>
      <p:sp>
        <p:nvSpPr>
          <p:cNvPr id="40" name="Shape 37"/>
          <p:cNvSpPr/>
          <p:nvPr/>
        </p:nvSpPr>
        <p:spPr>
          <a:xfrm>
            <a:off x="8357616" y="3346704"/>
            <a:ext cx="1097280" cy="274320"/>
          </a:xfrm>
          <a:prstGeom prst="roundRect">
            <a:avLst>
              <a:gd name="adj" fmla="val 50000"/>
            </a:avLst>
          </a:prstGeom>
          <a:solidFill>
            <a:srgbClr val="F2F3F5"/>
          </a:solidFill>
          <a:ln w="12700">
            <a:solidFill>
              <a:srgbClr val="F2F3F5"/>
            </a:solidFill>
            <a:prstDash val="solid"/>
          </a:ln>
        </p:spPr>
      </p:sp>
      <p:sp>
        <p:nvSpPr>
          <p:cNvPr id="41" name="Text 38"/>
          <p:cNvSpPr txBox="1"/>
          <p:nvPr/>
        </p:nvSpPr>
        <p:spPr>
          <a:xfrm>
            <a:off x="8357616" y="3346704"/>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7일 전 값</a:t>
            </a:r>
            <a:endParaRPr lang="en-US" sz="1050" dirty="0"/>
          </a:p>
        </p:txBody>
      </p:sp>
      <p:sp>
        <p:nvSpPr>
          <p:cNvPr id="42" name="Text 39"/>
          <p:cNvSpPr txBox="1"/>
          <p:nvPr/>
        </p:nvSpPr>
        <p:spPr>
          <a:xfrm>
            <a:off x="9601200" y="3273552"/>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전주 동일 요일</a:t>
            </a:r>
            <a:endParaRPr lang="en-US" sz="1200" dirty="0"/>
          </a:p>
        </p:txBody>
      </p:sp>
      <p:sp>
        <p:nvSpPr>
          <p:cNvPr id="43" name="Shape 40"/>
          <p:cNvSpPr/>
          <p:nvPr/>
        </p:nvSpPr>
        <p:spPr>
          <a:xfrm>
            <a:off x="8357616" y="3877056"/>
            <a:ext cx="1097280" cy="274320"/>
          </a:xfrm>
          <a:prstGeom prst="roundRect">
            <a:avLst>
              <a:gd name="adj" fmla="val 50000"/>
            </a:avLst>
          </a:prstGeom>
          <a:solidFill>
            <a:srgbClr val="F2F3F5"/>
          </a:solidFill>
          <a:ln w="12700">
            <a:solidFill>
              <a:srgbClr val="F2F3F5"/>
            </a:solidFill>
            <a:prstDash val="solid"/>
          </a:ln>
        </p:spPr>
      </p:sp>
      <p:sp>
        <p:nvSpPr>
          <p:cNvPr id="44" name="Text 41"/>
          <p:cNvSpPr txBox="1"/>
          <p:nvPr/>
        </p:nvSpPr>
        <p:spPr>
          <a:xfrm>
            <a:off x="8357616" y="3877056"/>
            <a:ext cx="109728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달력 정보</a:t>
            </a:r>
            <a:endParaRPr lang="en-US" sz="1050" dirty="0"/>
          </a:p>
        </p:txBody>
      </p:sp>
      <p:sp>
        <p:nvSpPr>
          <p:cNvPr id="45" name="Text 42"/>
          <p:cNvSpPr txBox="1"/>
          <p:nvPr/>
        </p:nvSpPr>
        <p:spPr>
          <a:xfrm>
            <a:off x="9601200" y="3803904"/>
            <a:ext cx="1920240" cy="420624"/>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월 · 요일 · 주말</a:t>
            </a:r>
            <a:endParaRPr lang="en-US" sz="1200" dirty="0"/>
          </a:p>
        </p:txBody>
      </p:sp>
      <p:sp>
        <p:nvSpPr>
          <p:cNvPr id="46" name="Text 43"/>
          <p:cNvSpPr txBox="1"/>
          <p:nvPr/>
        </p:nvSpPr>
        <p:spPr>
          <a:xfrm>
            <a:off x="8357616" y="4434840"/>
            <a:ext cx="3154680" cy="640080"/>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정답: 당일 일최대인구수</a:t>
            </a:r>
            <a:endParaRPr lang="en-US" sz="1200" dirty="0"/>
          </a:p>
          <a:p>
            <a:pPr marL="0" indent="0" algn="ctr">
              <a:buNone/>
            </a:pPr>
            <a:r>
              <a:rPr lang="en-US" sz="1200" b="1" dirty="0">
                <a:solidFill>
                  <a:srgbClr val="222222"/>
                </a:solidFill>
                <a:latin typeface="에이투지체 5 Medium"/>
                <a:ea typeface="에이투지체 5 Medium"/>
                <a:cs typeface="에이투지체 5 Medium"/>
              </a:rPr>
              <a:t>75,825행 × 20열</a:t>
            </a:r>
            <a:endParaRPr lang="en-US" sz="1200" dirty="0"/>
          </a:p>
        </p:txBody>
      </p:sp>
      <p:sp>
        <p:nvSpPr>
          <p:cNvPr id="47" name="Shape 44"/>
          <p:cNvSpPr/>
          <p:nvPr/>
        </p:nvSpPr>
        <p:spPr>
          <a:xfrm>
            <a:off x="457200" y="5550408"/>
            <a:ext cx="11277295" cy="640080"/>
          </a:xfrm>
          <a:prstGeom prst="roundRect">
            <a:avLst>
              <a:gd name="adj" fmla="val 1428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48" name="Text 45"/>
          <p:cNvSpPr txBox="1"/>
          <p:nvPr/>
        </p:nvSpPr>
        <p:spPr>
          <a:xfrm>
            <a:off x="640080" y="5550408"/>
            <a:ext cx="10908792" cy="64008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지난달</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출동 건수 등 미래 시점에 계산 불가한 값은 입력에서 제외, 미래 예측 입력 150행 동일 방식 생성</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02  데이터 전처리</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입력 변수 선택 기준 및 결과</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2024년까지 자료 기준 4단계 규칙 적용 → 이송 8개 · 인구 5개</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features_transport · features_population</a:t>
            </a:r>
            <a:endParaRPr lang="en-US" sz="900" dirty="0"/>
          </a:p>
        </p:txBody>
      </p:sp>
      <p:sp>
        <p:nvSpPr>
          <p:cNvPr id="8" name="Shape 5"/>
          <p:cNvSpPr/>
          <p:nvPr/>
        </p:nvSpPr>
        <p:spPr>
          <a:xfrm>
            <a:off x="457200" y="1993392"/>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Shape 6"/>
          <p:cNvSpPr/>
          <p:nvPr/>
        </p:nvSpPr>
        <p:spPr>
          <a:xfrm>
            <a:off x="658368" y="2258568"/>
            <a:ext cx="411480" cy="411480"/>
          </a:xfrm>
          <a:prstGeom prst="roundRect">
            <a:avLst>
              <a:gd name="adj" fmla="val 48889"/>
            </a:avLst>
          </a:prstGeom>
          <a:solidFill>
            <a:srgbClr val="D62828"/>
          </a:solidFill>
          <a:ln w="12700">
            <a:solidFill>
              <a:srgbClr val="D62828"/>
            </a:solidFill>
            <a:prstDash val="solid"/>
          </a:ln>
        </p:spPr>
      </p:sp>
      <p:sp>
        <p:nvSpPr>
          <p:cNvPr id="10" name="Text 7"/>
          <p:cNvSpPr txBox="1"/>
          <p:nvPr/>
        </p:nvSpPr>
        <p:spPr>
          <a:xfrm>
            <a:off x="658368" y="225856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1</a:t>
            </a:r>
            <a:endParaRPr lang="en-US" sz="1400" dirty="0"/>
          </a:p>
        </p:txBody>
      </p:sp>
      <p:sp>
        <p:nvSpPr>
          <p:cNvPr id="11" name="Text 8"/>
          <p:cNvSpPr txBox="1"/>
          <p:nvPr/>
        </p:nvSpPr>
        <p:spPr>
          <a:xfrm>
            <a:off x="1234440" y="2148840"/>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결측 20% 초과 제외</a:t>
            </a:r>
            <a:endParaRPr lang="en-US" sz="1400" dirty="0"/>
          </a:p>
        </p:txBody>
      </p:sp>
      <p:sp>
        <p:nvSpPr>
          <p:cNvPr id="12" name="Text 9"/>
          <p:cNvSpPr txBox="1"/>
          <p:nvPr/>
        </p:nvSpPr>
        <p:spPr>
          <a:xfrm>
            <a:off x="1234440" y="2496312"/>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행 손실 방지</a:t>
            </a:r>
            <a:endParaRPr lang="en-US" sz="1100" dirty="0"/>
          </a:p>
        </p:txBody>
      </p:sp>
      <p:sp>
        <p:nvSpPr>
          <p:cNvPr id="13" name="Shape 10"/>
          <p:cNvSpPr/>
          <p:nvPr/>
        </p:nvSpPr>
        <p:spPr>
          <a:xfrm>
            <a:off x="457200" y="3063240"/>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Shape 11"/>
          <p:cNvSpPr/>
          <p:nvPr/>
        </p:nvSpPr>
        <p:spPr>
          <a:xfrm>
            <a:off x="658368" y="3328416"/>
            <a:ext cx="411480" cy="411480"/>
          </a:xfrm>
          <a:prstGeom prst="roundRect">
            <a:avLst>
              <a:gd name="adj" fmla="val 48889"/>
            </a:avLst>
          </a:prstGeom>
          <a:solidFill>
            <a:srgbClr val="D62828"/>
          </a:solidFill>
          <a:ln w="12700">
            <a:solidFill>
              <a:srgbClr val="D62828"/>
            </a:solidFill>
            <a:prstDash val="solid"/>
          </a:ln>
        </p:spPr>
      </p:sp>
      <p:sp>
        <p:nvSpPr>
          <p:cNvPr id="15" name="Text 12"/>
          <p:cNvSpPr txBox="1"/>
          <p:nvPr/>
        </p:nvSpPr>
        <p:spPr>
          <a:xfrm>
            <a:off x="658368" y="3328416"/>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2</a:t>
            </a:r>
            <a:endParaRPr lang="en-US" sz="1400" dirty="0"/>
          </a:p>
        </p:txBody>
      </p:sp>
      <p:sp>
        <p:nvSpPr>
          <p:cNvPr id="16" name="Text 13"/>
          <p:cNvSpPr txBox="1"/>
          <p:nvPr/>
        </p:nvSpPr>
        <p:spPr>
          <a:xfrm>
            <a:off x="1234440" y="3218688"/>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정답과 |r| &lt; 0.3 제외</a:t>
            </a:r>
            <a:endParaRPr lang="en-US" sz="1400" dirty="0"/>
          </a:p>
        </p:txBody>
      </p:sp>
      <p:sp>
        <p:nvSpPr>
          <p:cNvPr id="17" name="Text 14"/>
          <p:cNvSpPr txBox="1"/>
          <p:nvPr/>
        </p:nvSpPr>
        <p:spPr>
          <a:xfrm>
            <a:off x="1234440" y="3566160"/>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관계가 약한 변수 제외</a:t>
            </a:r>
            <a:endParaRPr lang="en-US" sz="1100" dirty="0"/>
          </a:p>
        </p:txBody>
      </p:sp>
      <p:sp>
        <p:nvSpPr>
          <p:cNvPr id="18" name="Shape 15"/>
          <p:cNvSpPr/>
          <p:nvPr/>
        </p:nvSpPr>
        <p:spPr>
          <a:xfrm>
            <a:off x="457200" y="4133088"/>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Shape 16"/>
          <p:cNvSpPr/>
          <p:nvPr/>
        </p:nvSpPr>
        <p:spPr>
          <a:xfrm>
            <a:off x="658368" y="4398264"/>
            <a:ext cx="411480" cy="411480"/>
          </a:xfrm>
          <a:prstGeom prst="roundRect">
            <a:avLst>
              <a:gd name="adj" fmla="val 48889"/>
            </a:avLst>
          </a:prstGeom>
          <a:solidFill>
            <a:srgbClr val="D62828"/>
          </a:solidFill>
          <a:ln w="12700">
            <a:solidFill>
              <a:srgbClr val="D62828"/>
            </a:solidFill>
            <a:prstDash val="solid"/>
          </a:ln>
        </p:spPr>
      </p:sp>
      <p:sp>
        <p:nvSpPr>
          <p:cNvPr id="20" name="Text 17"/>
          <p:cNvSpPr txBox="1"/>
          <p:nvPr/>
        </p:nvSpPr>
        <p:spPr>
          <a:xfrm>
            <a:off x="658368" y="439826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3</a:t>
            </a:r>
            <a:endParaRPr lang="en-US" sz="1400" dirty="0"/>
          </a:p>
        </p:txBody>
      </p:sp>
      <p:sp>
        <p:nvSpPr>
          <p:cNvPr id="21" name="Text 18"/>
          <p:cNvSpPr txBox="1"/>
          <p:nvPr/>
        </p:nvSpPr>
        <p:spPr>
          <a:xfrm>
            <a:off x="1234440" y="4288536"/>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선택 변수와 |r| ≥ 0.9 제외</a:t>
            </a:r>
            <a:endParaRPr lang="en-US" sz="1400" dirty="0"/>
          </a:p>
        </p:txBody>
      </p:sp>
      <p:sp>
        <p:nvSpPr>
          <p:cNvPr id="22" name="Text 19"/>
          <p:cNvSpPr txBox="1"/>
          <p:nvPr/>
        </p:nvSpPr>
        <p:spPr>
          <a:xfrm>
            <a:off x="1234440" y="4636008"/>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중복 정보 제외</a:t>
            </a:r>
            <a:endParaRPr lang="en-US" sz="1100" dirty="0"/>
          </a:p>
        </p:txBody>
      </p:sp>
      <p:sp>
        <p:nvSpPr>
          <p:cNvPr id="23" name="Shape 20"/>
          <p:cNvSpPr/>
          <p:nvPr/>
        </p:nvSpPr>
        <p:spPr>
          <a:xfrm>
            <a:off x="457200" y="5202936"/>
            <a:ext cx="3749040" cy="941832"/>
          </a:xfrm>
          <a:prstGeom prst="roundRect">
            <a:avLst>
              <a:gd name="adj" fmla="val 970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Shape 21"/>
          <p:cNvSpPr/>
          <p:nvPr/>
        </p:nvSpPr>
        <p:spPr>
          <a:xfrm>
            <a:off x="658368" y="5468112"/>
            <a:ext cx="411480" cy="411480"/>
          </a:xfrm>
          <a:prstGeom prst="roundRect">
            <a:avLst>
              <a:gd name="adj" fmla="val 48889"/>
            </a:avLst>
          </a:prstGeom>
          <a:solidFill>
            <a:srgbClr val="D62828"/>
          </a:solidFill>
          <a:ln w="12700">
            <a:solidFill>
              <a:srgbClr val="D62828"/>
            </a:solidFill>
            <a:prstDash val="solid"/>
          </a:ln>
        </p:spPr>
      </p:sp>
      <p:sp>
        <p:nvSpPr>
          <p:cNvPr id="25" name="Text 22"/>
          <p:cNvSpPr txBox="1"/>
          <p:nvPr/>
        </p:nvSpPr>
        <p:spPr>
          <a:xfrm>
            <a:off x="658368" y="54681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4</a:t>
            </a:r>
            <a:endParaRPr lang="en-US" sz="1400" dirty="0"/>
          </a:p>
        </p:txBody>
      </p:sp>
      <p:sp>
        <p:nvSpPr>
          <p:cNvPr id="26" name="Text 23"/>
          <p:cNvSpPr txBox="1"/>
          <p:nvPr/>
        </p:nvSpPr>
        <p:spPr>
          <a:xfrm>
            <a:off x="1234440" y="5358384"/>
            <a:ext cx="2834640" cy="329184"/>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계산 기간: 2024년까지</a:t>
            </a:r>
            <a:endParaRPr lang="en-US" sz="1400" dirty="0"/>
          </a:p>
        </p:txBody>
      </p:sp>
      <p:sp>
        <p:nvSpPr>
          <p:cNvPr id="27" name="Text 24"/>
          <p:cNvSpPr txBox="1"/>
          <p:nvPr/>
        </p:nvSpPr>
        <p:spPr>
          <a:xfrm>
            <a:off x="1234440" y="5705856"/>
            <a:ext cx="2834640" cy="27432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이후 기간 정보 차단</a:t>
            </a:r>
            <a:endParaRPr lang="en-US" sz="1100" dirty="0"/>
          </a:p>
        </p:txBody>
      </p:sp>
      <p:sp>
        <p:nvSpPr>
          <p:cNvPr id="28" name="Shape 25"/>
          <p:cNvSpPr/>
          <p:nvPr/>
        </p:nvSpPr>
        <p:spPr>
          <a:xfrm>
            <a:off x="4389120" y="1993392"/>
            <a:ext cx="3673145" cy="4197096"/>
          </a:xfrm>
          <a:prstGeom prst="roundRect">
            <a:avLst>
              <a:gd name="adj" fmla="val 248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9" name="Text 26"/>
          <p:cNvSpPr txBox="1"/>
          <p:nvPr/>
        </p:nvSpPr>
        <p:spPr>
          <a:xfrm>
            <a:off x="4608576" y="2157984"/>
            <a:ext cx="3234233"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이송 건수 · 8개 (33개 제외)</a:t>
            </a:r>
            <a:endParaRPr lang="en-US" sz="1800" dirty="0"/>
          </a:p>
        </p:txBody>
      </p:sp>
      <p:sp>
        <p:nvSpPr>
          <p:cNvPr id="30" name="Shape 27"/>
          <p:cNvSpPr/>
          <p:nvPr/>
        </p:nvSpPr>
        <p:spPr>
          <a:xfrm>
            <a:off x="4608576" y="2560320"/>
            <a:ext cx="3234233" cy="0"/>
          </a:xfrm>
          <a:prstGeom prst="line">
            <a:avLst/>
          </a:prstGeom>
          <a:noFill/>
          <a:ln w="9525">
            <a:solidFill>
              <a:srgbClr val="E5E7EB"/>
            </a:solidFill>
            <a:prstDash val="solid"/>
          </a:ln>
        </p:spPr>
      </p:sp>
      <p:sp>
        <p:nvSpPr>
          <p:cNvPr id="31" name="Text 28"/>
          <p:cNvSpPr txBox="1"/>
          <p:nvPr/>
        </p:nvSpPr>
        <p:spPr>
          <a:xfrm>
            <a:off x="4608576" y="2670048"/>
            <a:ext cx="3234233"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전월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동월 이송 건수</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전월 서울외 유입인구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인명갇힘 사고</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전년 승강기 사고</a:t>
            </a:r>
            <a:endParaRPr lang="en-US" sz="1300" dirty="0"/>
          </a:p>
        </p:txBody>
      </p:sp>
      <p:sp>
        <p:nvSpPr>
          <p:cNvPr id="32" name="Shape 29"/>
          <p:cNvSpPr/>
          <p:nvPr/>
        </p:nvSpPr>
        <p:spPr>
          <a:xfrm>
            <a:off x="8245145" y="1993392"/>
            <a:ext cx="3489350" cy="4197096"/>
          </a:xfrm>
          <a:prstGeom prst="roundRect">
            <a:avLst>
              <a:gd name="adj" fmla="val 262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3" name="Text 30"/>
          <p:cNvSpPr txBox="1"/>
          <p:nvPr/>
        </p:nvSpPr>
        <p:spPr>
          <a:xfrm>
            <a:off x="8464601" y="2157984"/>
            <a:ext cx="305043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인구 밀집 · 5개 (9개 제외)</a:t>
            </a:r>
            <a:endParaRPr lang="en-US" sz="1800" dirty="0"/>
          </a:p>
        </p:txBody>
      </p:sp>
      <p:sp>
        <p:nvSpPr>
          <p:cNvPr id="34" name="Shape 31"/>
          <p:cNvSpPr/>
          <p:nvPr/>
        </p:nvSpPr>
        <p:spPr>
          <a:xfrm>
            <a:off x="8464601" y="2560320"/>
            <a:ext cx="3050438" cy="0"/>
          </a:xfrm>
          <a:prstGeom prst="line">
            <a:avLst/>
          </a:prstGeom>
          <a:noFill/>
          <a:ln w="9525">
            <a:solidFill>
              <a:srgbClr val="E5E7EB"/>
            </a:solidFill>
            <a:prstDash val="solid"/>
          </a:ln>
        </p:spPr>
      </p:sp>
      <p:sp>
        <p:nvSpPr>
          <p:cNvPr id="35" name="Text 32"/>
          <p:cNvSpPr txBox="1"/>
          <p:nvPr/>
        </p:nvSpPr>
        <p:spPr>
          <a:xfrm>
            <a:off x="8464601" y="2670048"/>
            <a:ext cx="3050438" cy="3392424"/>
          </a:xfrm>
          <a:prstGeom prst="rect">
            <a:avLst/>
          </a:prstGeom>
          <a:noFill/>
          <a:ln/>
        </p:spPr>
        <p:txBody>
          <a:bodyPr wrap="square" lIns="0" tIns="0" rIns="0" bIns="0" rtlCol="0" anchor="t"/>
          <a:lstStyle/>
          <a:p>
            <a:pPr marL="0" indent="0">
              <a:lnSpc>
                <a:spcPct val="145000"/>
              </a:lnSpc>
              <a:buNone/>
            </a:pPr>
            <a:r>
              <a:rPr lang="en-US" sz="1300" dirty="0">
                <a:solidFill>
                  <a:srgbClr val="45515E"/>
                </a:solidFill>
                <a:latin typeface="에이투지체 5 Medium"/>
                <a:ea typeface="에이투지체 5 Medium"/>
                <a:cs typeface="에이투지체 5 Medium"/>
              </a:rPr>
              <a:t>· 7일 전 일최대인구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야간인구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일최대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동일구 행정동간 이동인구</a:t>
            </a:r>
            <a:endParaRPr lang="en-US" sz="1300" dirty="0"/>
          </a:p>
          <a:p>
            <a:pPr marL="0" indent="0">
              <a:lnSpc>
                <a:spcPct val="145000"/>
              </a:lnSpc>
              <a:buNone/>
            </a:pPr>
            <a:r>
              <a:rPr lang="en-US" sz="1300" dirty="0">
                <a:solidFill>
                  <a:srgbClr val="45515E"/>
                </a:solidFill>
                <a:latin typeface="에이투지체 5 Medium"/>
                <a:ea typeface="에이투지체 5 Medium"/>
                <a:cs typeface="에이투지체 5 Medium"/>
              </a:rPr>
              <a:t>· 전일 주야간 인구 차이</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03</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데이터 분석</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생활인구와 이송 건수의 관계, 인구 가중치 및 자치구 유형, 계절성</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생활인구-이송 관계</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인구 가중치 및 자치구 유형</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월별 계절성</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생활인구와 이송 건수의 관계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구 간 비교(규모)와 구 내 비교(월별 변화)의 상관 차이</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(2018.04~2025.12, 2,233행)</a:t>
            </a:r>
            <a:endParaRPr lang="en-US" sz="900" dirty="0"/>
          </a:p>
        </p:txBody>
      </p:sp>
      <p:sp>
        <p:nvSpPr>
          <p:cNvPr id="8" name="Shape 5"/>
          <p:cNvSpPr/>
          <p:nvPr/>
        </p:nvSpPr>
        <p:spPr>
          <a:xfrm>
            <a:off x="457200" y="1993392"/>
            <a:ext cx="731520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7132320"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955280" y="1993392"/>
            <a:ext cx="3779215" cy="1645920"/>
          </a:xfrm>
          <a:prstGeom prst="roundRect">
            <a:avLst>
              <a:gd name="adj" fmla="val 7778"/>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11" name="Text 7"/>
          <p:cNvSpPr txBox="1"/>
          <p:nvPr/>
        </p:nvSpPr>
        <p:spPr>
          <a:xfrm>
            <a:off x="8174736" y="2176272"/>
            <a:ext cx="334030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0.81</a:t>
            </a:r>
            <a:endParaRPr lang="en-US" sz="3600" dirty="0"/>
          </a:p>
        </p:txBody>
      </p:sp>
      <p:sp>
        <p:nvSpPr>
          <p:cNvPr id="12" name="Text 8"/>
          <p:cNvSpPr txBox="1"/>
          <p:nvPr/>
        </p:nvSpPr>
        <p:spPr>
          <a:xfrm>
            <a:off x="8174736" y="2779776"/>
            <a:ext cx="334030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구 간 상관 (야간인구)</a:t>
            </a:r>
            <a:endParaRPr lang="en-US" sz="1400" dirty="0"/>
          </a:p>
        </p:txBody>
      </p:sp>
      <p:sp>
        <p:nvSpPr>
          <p:cNvPr id="13" name="Shape 9"/>
          <p:cNvSpPr/>
          <p:nvPr/>
        </p:nvSpPr>
        <p:spPr>
          <a:xfrm>
            <a:off x="8174736" y="3182112"/>
            <a:ext cx="3340303" cy="0"/>
          </a:xfrm>
          <a:prstGeom prst="line">
            <a:avLst/>
          </a:prstGeom>
          <a:noFill/>
          <a:ln w="9525">
            <a:solidFill>
              <a:srgbClr val="E87A7A"/>
            </a:solidFill>
            <a:prstDash val="solid"/>
          </a:ln>
        </p:spPr>
      </p:sp>
      <p:sp>
        <p:nvSpPr>
          <p:cNvPr id="14" name="Text 10"/>
          <p:cNvSpPr txBox="1"/>
          <p:nvPr/>
        </p:nvSpPr>
        <p:spPr>
          <a:xfrm>
            <a:off x="8174736" y="3291840"/>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인구 규모가 큰 구일수록</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이송 건수 증가</a:t>
            </a:r>
            <a:endParaRPr lang="en-US" sz="1100" dirty="0"/>
          </a:p>
        </p:txBody>
      </p:sp>
      <p:sp>
        <p:nvSpPr>
          <p:cNvPr id="15" name="Shape 11"/>
          <p:cNvSpPr/>
          <p:nvPr/>
        </p:nvSpPr>
        <p:spPr>
          <a:xfrm>
            <a:off x="7955280" y="3813048"/>
            <a:ext cx="3779215" cy="1645920"/>
          </a:xfrm>
          <a:prstGeom prst="roundRect">
            <a:avLst>
              <a:gd name="adj" fmla="val 555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6" name="Text 12"/>
          <p:cNvSpPr txBox="1"/>
          <p:nvPr/>
        </p:nvSpPr>
        <p:spPr>
          <a:xfrm>
            <a:off x="8174736" y="3995928"/>
            <a:ext cx="334030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 0.33</a:t>
            </a:r>
            <a:endParaRPr lang="en-US" sz="3600" dirty="0"/>
          </a:p>
        </p:txBody>
      </p:sp>
      <p:sp>
        <p:nvSpPr>
          <p:cNvPr id="17" name="Text 13"/>
          <p:cNvSpPr txBox="1"/>
          <p:nvPr/>
        </p:nvSpPr>
        <p:spPr>
          <a:xfrm>
            <a:off x="8174736" y="4599432"/>
            <a:ext cx="334030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구 내 상관 (전 지표)</a:t>
            </a:r>
            <a:endParaRPr lang="en-US" sz="1400" dirty="0"/>
          </a:p>
        </p:txBody>
      </p:sp>
      <p:sp>
        <p:nvSpPr>
          <p:cNvPr id="18" name="Shape 14"/>
          <p:cNvSpPr/>
          <p:nvPr/>
        </p:nvSpPr>
        <p:spPr>
          <a:xfrm>
            <a:off x="8174736" y="5001768"/>
            <a:ext cx="3340303" cy="0"/>
          </a:xfrm>
          <a:prstGeom prst="line">
            <a:avLst/>
          </a:prstGeom>
          <a:noFill/>
          <a:ln w="9525">
            <a:solidFill>
              <a:srgbClr val="E5E7EB"/>
            </a:solidFill>
            <a:prstDash val="solid"/>
          </a:ln>
        </p:spPr>
      </p:sp>
      <p:sp>
        <p:nvSpPr>
          <p:cNvPr id="19" name="Text 15"/>
          <p:cNvSpPr txBox="1"/>
          <p:nvPr/>
        </p:nvSpPr>
        <p:spPr>
          <a:xfrm>
            <a:off x="8174736" y="5111496"/>
            <a:ext cx="3340303" cy="21945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같은 구의 월별 인구 변화와</a:t>
            </a:r>
            <a:endParaRPr lang="en-US" sz="1100" dirty="0"/>
          </a:p>
          <a:p>
            <a:pPr marL="0" indent="0" algn="ctr">
              <a:lnSpc>
                <a:spcPct val="120000"/>
              </a:lnSpc>
              <a:buNone/>
            </a:pPr>
            <a:r>
              <a:rPr lang="en-US" sz="1100" dirty="0">
                <a:solidFill>
                  <a:srgbClr val="45515E"/>
                </a:solidFill>
                <a:latin typeface="에이투지체 5 Medium"/>
                <a:ea typeface="에이투지체 5 Medium"/>
                <a:cs typeface="에이투지체 5 Medium"/>
              </a:rPr>
              <a:t>이송 변화의 관계 약함</a:t>
            </a:r>
            <a:endParaRPr lang="en-US" sz="1100" dirty="0"/>
          </a:p>
        </p:txBody>
      </p:sp>
      <p:sp>
        <p:nvSpPr>
          <p:cNvPr id="20" name="Shape 16"/>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1" name="Text 17"/>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생활인구는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구별 수요 규모 설명 변수, 월별 변화는 계절 · 전월 값으로 설명</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가중치 및 자치구 유형</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중복 없는 인구 지표 4개 가중치 산출, KMeans 4개 유형 분류</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 population_dataset 재계산 (KMeans, k = 4)</a:t>
            </a:r>
            <a:endParaRPr lang="en-US" sz="900" dirty="0"/>
          </a:p>
        </p:txBody>
      </p:sp>
      <p:sp>
        <p:nvSpPr>
          <p:cNvPr id="8" name="Shape 5"/>
          <p:cNvSpPr/>
          <p:nvPr/>
        </p:nvSpPr>
        <p:spPr>
          <a:xfrm>
            <a:off x="457200" y="1993392"/>
            <a:ext cx="4937760" cy="3008376"/>
          </a:xfrm>
          <a:prstGeom prst="roundRect">
            <a:avLst>
              <a:gd name="adj" fmla="val 304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4754880" cy="28620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457200" y="5184648"/>
            <a:ext cx="4937760" cy="1005840"/>
          </a:xfrm>
          <a:prstGeom prst="roundRect">
            <a:avLst>
              <a:gd name="adj" fmla="val 90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1" name="Text 7"/>
          <p:cNvSpPr txBox="1"/>
          <p:nvPr/>
        </p:nvSpPr>
        <p:spPr>
          <a:xfrm>
            <a:off x="640080" y="5184648"/>
            <a:ext cx="1188720" cy="1005840"/>
          </a:xfrm>
          <a:prstGeom prst="rect">
            <a:avLst/>
          </a:prstGeom>
          <a:noFill/>
          <a:ln/>
        </p:spPr>
        <p:txBody>
          <a:bodyPr wrap="square" lIns="0" tIns="0" rIns="0" bIns="0" rtlCol="0" anchor="ctr"/>
          <a:lstStyle/>
          <a:p>
            <a:pPr marL="0" indent="0">
              <a:buNone/>
            </a:pPr>
            <a:r>
              <a:rPr lang="en-US" sz="3000" kern="0" spc="-80" dirty="0">
                <a:solidFill>
                  <a:srgbClr val="D62828"/>
                </a:solidFill>
                <a:latin typeface="에이투지체 5 Medium"/>
                <a:ea typeface="에이투지체 5 Medium"/>
                <a:cs typeface="에이투지체 5 Medium"/>
              </a:rPr>
              <a:t>0.80</a:t>
            </a:r>
            <a:endParaRPr lang="en-US" sz="3000" dirty="0"/>
          </a:p>
        </p:txBody>
      </p:sp>
      <p:sp>
        <p:nvSpPr>
          <p:cNvPr id="12" name="Text 8"/>
          <p:cNvSpPr txBox="1"/>
          <p:nvPr/>
        </p:nvSpPr>
        <p:spPr>
          <a:xfrm>
            <a:off x="1874520" y="5330952"/>
            <a:ext cx="3383280" cy="292608"/>
          </a:xfrm>
          <a:prstGeom prst="rect">
            <a:avLst/>
          </a:prstGeom>
          <a:noFill/>
          <a:ln/>
        </p:spPr>
        <p:txBody>
          <a:bodyPr wrap="square" lIns="0" tIns="0" rIns="0" bIns="0" rtlCol="0" anchor="ctr"/>
          <a:lstStyle/>
          <a:p>
            <a:pPr marL="0" indent="0">
              <a:buNone/>
            </a:pPr>
            <a:r>
              <a:rPr lang="en-US" sz="1300" b="1" dirty="0">
                <a:solidFill>
                  <a:srgbClr val="222222"/>
                </a:solidFill>
                <a:latin typeface="에이투지체 5 Medium"/>
                <a:ea typeface="에이투지체 5 Medium"/>
                <a:cs typeface="에이투지체 5 Medium"/>
              </a:rPr>
              <a:t>가중 지수 - 이송 건수 상관</a:t>
            </a:r>
            <a:endParaRPr lang="en-US" sz="1300" dirty="0"/>
          </a:p>
        </p:txBody>
      </p:sp>
      <p:sp>
        <p:nvSpPr>
          <p:cNvPr id="13" name="Text 9"/>
          <p:cNvSpPr txBox="1"/>
          <p:nvPr/>
        </p:nvSpPr>
        <p:spPr>
          <a:xfrm>
            <a:off x="1874520" y="5669280"/>
            <a:ext cx="3383280" cy="320040"/>
          </a:xfrm>
          <a:prstGeom prst="rect">
            <a:avLst/>
          </a:prstGeom>
          <a:noFill/>
          <a:ln/>
        </p:spPr>
        <p:txBody>
          <a:bodyPr wrap="square" lIns="0" tIns="0" rIns="0" bIns="0" rtlCol="0" anchor="ctr"/>
          <a:lstStyle/>
          <a:p>
            <a:pPr marL="0" indent="0">
              <a:buNone/>
            </a:pPr>
            <a:r>
              <a:rPr lang="en-US" sz="1100" dirty="0">
                <a:solidFill>
                  <a:srgbClr val="45515E"/>
                </a:solidFill>
                <a:latin typeface="에이투지체 5 Medium"/>
                <a:ea typeface="에이투지체 5 Medium"/>
                <a:cs typeface="에이투지체 5 Medium"/>
              </a:rPr>
              <a:t>야간인구 단독 0.81과 유사 → 야간인구 중심</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577840" y="1993392"/>
          <a:ext cx="6156655" cy="4041648"/>
        </p:xfrm>
        <a:graphic>
          <a:graphicData uri="http://schemas.openxmlformats.org/drawingml/2006/table">
            <a:tbl>
              <a:tblPr/>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81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유형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해당 자치구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야간인구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1만 명당 이송</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주거 고수요형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강북 · 구로 · 금천 · 도봉 · 동대문 · 양천 · 중랑</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34만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29.6건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도심 유입형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종로 · 중구 (주야간비 1.58)</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25만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일반 주거형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강동 · 강서 · 관악 · 마포 등 13개 구</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45만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22.5건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marL="0" indent="0" algn="l">
                        <a:buNone/>
                      </a:pPr>
                      <a:r>
                        <a:rPr lang="en-US" sz="1200" b="1" dirty="0">
                          <a:solidFill>
                            <a:srgbClr val="222222"/>
                          </a:solidFill>
                          <a:latin typeface="에이투지체 5 Medium"/>
                          <a:ea typeface="에이투지체 5 Medium"/>
                          <a:cs typeface="에이투지체 5 Medium"/>
                        </a:rPr>
                        <a:t>대규모 거점형</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강남 · 서초 · 송파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68만</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19.2건</a:t>
                      </a:r>
                      <a:endParaRPr lang="en-US" sz="1200" dirty="0">
                        <a:latin typeface="에이투지체 5 Medium"/>
                        <a:ea typeface="에이투지체 5 Medium"/>
                        <a:cs typeface="에이투지체 5 Medium"/>
                      </a:endParaRPr>
                    </a:p>
                  </a:txBody>
                  <a:tcPr marL="73152" marR="73152"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03  데이터 분석</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월별 계절성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7 · 8월 최다, 2월 최소 — 월 정보 및 전년 동월 값 입력 근거</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19</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transport_dataset 월별 평균 · 02_119_전처리_검토수정.ipynb 시계열 분해</a:t>
            </a:r>
            <a:endParaRPr lang="en-US" sz="900" dirty="0"/>
          </a:p>
        </p:txBody>
      </p:sp>
      <p:sp>
        <p:nvSpPr>
          <p:cNvPr id="8" name="Shape 5"/>
          <p:cNvSpPr/>
          <p:nvPr/>
        </p:nvSpPr>
        <p:spPr>
          <a:xfrm>
            <a:off x="457200" y="1993392"/>
            <a:ext cx="76809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74980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8321040" y="1993392"/>
            <a:ext cx="3413455" cy="1307592"/>
          </a:xfrm>
          <a:prstGeom prst="roundRect">
            <a:avLst>
              <a:gd name="adj" fmla="val 979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11" name="Text 7"/>
          <p:cNvSpPr txBox="1"/>
          <p:nvPr/>
        </p:nvSpPr>
        <p:spPr>
          <a:xfrm>
            <a:off x="8540496" y="1993392"/>
            <a:ext cx="1325880" cy="1307592"/>
          </a:xfrm>
          <a:prstGeom prst="rect">
            <a:avLst/>
          </a:prstGeom>
          <a:noFill/>
          <a:ln/>
        </p:spPr>
        <p:txBody>
          <a:bodyPr wrap="square" lIns="0" tIns="0" rIns="0" bIns="0" rtlCol="0" anchor="ctr"/>
          <a:lstStyle/>
          <a:p>
            <a:pPr marL="0" indent="0">
              <a:buNone/>
            </a:pPr>
            <a:r>
              <a:rPr lang="en-US" sz="3000" kern="0" spc="-90" dirty="0">
                <a:solidFill>
                  <a:srgbClr val="FFFFFF"/>
                </a:solidFill>
                <a:latin typeface="에이투지체 5 Medium"/>
                <a:ea typeface="에이투지체 5 Medium"/>
                <a:cs typeface="에이투지체 5 Medium"/>
              </a:rPr>
              <a:t>108.6</a:t>
            </a:r>
            <a:endParaRPr lang="en-US" sz="3000" dirty="0"/>
          </a:p>
        </p:txBody>
      </p:sp>
      <p:sp>
        <p:nvSpPr>
          <p:cNvPr id="12" name="Text 8"/>
          <p:cNvSpPr txBox="1"/>
          <p:nvPr/>
        </p:nvSpPr>
        <p:spPr>
          <a:xfrm>
            <a:off x="9866376" y="2281428"/>
            <a:ext cx="1648663" cy="310896"/>
          </a:xfrm>
          <a:prstGeom prst="rect">
            <a:avLst/>
          </a:prstGeom>
          <a:noFill/>
          <a:ln/>
        </p:spPr>
        <p:txBody>
          <a:bodyPr wrap="square" lIns="0" tIns="0" rIns="0" bIns="0" rtlCol="0" anchor="ctr"/>
          <a:lstStyle/>
          <a:p>
            <a:pPr marL="0" indent="0">
              <a:buNone/>
            </a:pPr>
            <a:r>
              <a:rPr lang="en-US" sz="1400" b="1" dirty="0">
                <a:solidFill>
                  <a:srgbClr val="FFFFFF"/>
                </a:solidFill>
                <a:latin typeface="에이투지체 5 Medium"/>
                <a:ea typeface="에이투지체 5 Medium"/>
                <a:cs typeface="에이투지체 5 Medium"/>
              </a:rPr>
              <a:t>7월 최다</a:t>
            </a:r>
            <a:endParaRPr lang="en-US" sz="1400" dirty="0"/>
          </a:p>
        </p:txBody>
      </p:sp>
      <p:sp>
        <p:nvSpPr>
          <p:cNvPr id="13" name="Text 9"/>
          <p:cNvSpPr txBox="1"/>
          <p:nvPr/>
        </p:nvSpPr>
        <p:spPr>
          <a:xfrm>
            <a:off x="9866376" y="2628900"/>
            <a:ext cx="1648663"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8월 108.4 동반 상승</a:t>
            </a:r>
            <a:endParaRPr lang="en-US" sz="1100" dirty="0"/>
          </a:p>
        </p:txBody>
      </p:sp>
      <p:sp>
        <p:nvSpPr>
          <p:cNvPr id="14" name="Shape 10"/>
          <p:cNvSpPr/>
          <p:nvPr/>
        </p:nvSpPr>
        <p:spPr>
          <a:xfrm>
            <a:off x="8321040" y="3422599"/>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5" name="Text 11"/>
          <p:cNvSpPr txBox="1"/>
          <p:nvPr/>
        </p:nvSpPr>
        <p:spPr>
          <a:xfrm>
            <a:off x="8540496" y="3422599"/>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86.8</a:t>
            </a:r>
            <a:endParaRPr lang="en-US" sz="3000" dirty="0"/>
          </a:p>
        </p:txBody>
      </p:sp>
      <p:sp>
        <p:nvSpPr>
          <p:cNvPr id="16" name="Text 12"/>
          <p:cNvSpPr txBox="1"/>
          <p:nvPr/>
        </p:nvSpPr>
        <p:spPr>
          <a:xfrm>
            <a:off x="9866376" y="3710635"/>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2월 최소</a:t>
            </a:r>
            <a:endParaRPr lang="en-US" sz="1400" dirty="0"/>
          </a:p>
        </p:txBody>
      </p:sp>
      <p:sp>
        <p:nvSpPr>
          <p:cNvPr id="17" name="Text 13"/>
          <p:cNvSpPr txBox="1"/>
          <p:nvPr/>
        </p:nvSpPr>
        <p:spPr>
          <a:xfrm>
            <a:off x="9866376" y="4058107"/>
            <a:ext cx="1648663"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28일 월 길이 영향 포함</a:t>
            </a:r>
            <a:endParaRPr lang="en-US" sz="1100" dirty="0"/>
          </a:p>
        </p:txBody>
      </p:sp>
      <p:sp>
        <p:nvSpPr>
          <p:cNvPr id="18" name="Shape 14"/>
          <p:cNvSpPr/>
          <p:nvPr/>
        </p:nvSpPr>
        <p:spPr>
          <a:xfrm>
            <a:off x="8321040" y="4851806"/>
            <a:ext cx="3413455" cy="1307592"/>
          </a:xfrm>
          <a:prstGeom prst="roundRect">
            <a:avLst>
              <a:gd name="adj" fmla="val 6993"/>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Text 15"/>
          <p:cNvSpPr txBox="1"/>
          <p:nvPr/>
        </p:nvSpPr>
        <p:spPr>
          <a:xfrm>
            <a:off x="8540496" y="4851806"/>
            <a:ext cx="1325880" cy="1307592"/>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22%</a:t>
            </a:r>
            <a:endParaRPr lang="en-US" sz="3000" dirty="0"/>
          </a:p>
        </p:txBody>
      </p:sp>
      <p:sp>
        <p:nvSpPr>
          <p:cNvPr id="20" name="Text 16"/>
          <p:cNvSpPr txBox="1"/>
          <p:nvPr/>
        </p:nvSpPr>
        <p:spPr>
          <a:xfrm>
            <a:off x="9866376" y="5139842"/>
            <a:ext cx="1648663"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계절 효과 폭</a:t>
            </a:r>
            <a:endParaRPr lang="en-US" sz="1400" dirty="0"/>
          </a:p>
        </p:txBody>
      </p:sp>
      <p:sp>
        <p:nvSpPr>
          <p:cNvPr id="21" name="Text 17"/>
          <p:cNvSpPr txBox="1"/>
          <p:nvPr/>
        </p:nvSpPr>
        <p:spPr>
          <a:xfrm>
            <a:off x="9866376" y="5487314"/>
            <a:ext cx="1648663"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5,835건 / 월평균 25,942건</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04</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모델 개발</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데이터 분할부터 특성 실험, 모델 비교, 최종 모델 선정까지</a:t>
            </a:r>
            <a:endParaRPr lang="en-US" sz="2200" dirty="0"/>
          </a:p>
        </p:txBody>
      </p:sp>
      <p:sp>
        <p:nvSpPr>
          <p:cNvPr id="5" name="Shape 3"/>
          <p:cNvSpPr/>
          <p:nvPr/>
        </p:nvSpPr>
        <p:spPr>
          <a:xfrm>
            <a:off x="822960" y="4434840"/>
            <a:ext cx="2499284" cy="0"/>
          </a:xfrm>
          <a:prstGeom prst="line">
            <a:avLst/>
          </a:prstGeom>
          <a:noFill/>
          <a:ln w="25400">
            <a:solidFill>
              <a:srgbClr val="D62828"/>
            </a:solidFill>
            <a:prstDash val="solid"/>
          </a:ln>
        </p:spPr>
      </p:sp>
      <p:sp>
        <p:nvSpPr>
          <p:cNvPr id="6" name="Text 4"/>
          <p:cNvSpPr txBox="1"/>
          <p:nvPr/>
        </p:nvSpPr>
        <p:spPr>
          <a:xfrm>
            <a:off x="822960" y="4572000"/>
            <a:ext cx="2499284"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예측 대상 및 분할</a:t>
            </a:r>
            <a:endParaRPr lang="en-US" sz="1500" dirty="0"/>
          </a:p>
        </p:txBody>
      </p:sp>
      <p:sp>
        <p:nvSpPr>
          <p:cNvPr id="8" name="Shape 6"/>
          <p:cNvSpPr/>
          <p:nvPr/>
        </p:nvSpPr>
        <p:spPr>
          <a:xfrm>
            <a:off x="3505124" y="4434840"/>
            <a:ext cx="2499284" cy="0"/>
          </a:xfrm>
          <a:prstGeom prst="line">
            <a:avLst/>
          </a:prstGeom>
          <a:noFill/>
          <a:ln w="25400">
            <a:solidFill>
              <a:srgbClr val="3A414B"/>
            </a:solidFill>
            <a:prstDash val="solid"/>
          </a:ln>
        </p:spPr>
      </p:sp>
      <p:sp>
        <p:nvSpPr>
          <p:cNvPr id="9" name="Text 7"/>
          <p:cNvSpPr txBox="1"/>
          <p:nvPr/>
        </p:nvSpPr>
        <p:spPr>
          <a:xfrm>
            <a:off x="3505124"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3505124"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특성 실험</a:t>
            </a:r>
            <a:endParaRPr lang="en-US" sz="1500" dirty="0"/>
          </a:p>
        </p:txBody>
      </p:sp>
      <p:sp>
        <p:nvSpPr>
          <p:cNvPr id="11" name="Shape 9"/>
          <p:cNvSpPr/>
          <p:nvPr/>
        </p:nvSpPr>
        <p:spPr>
          <a:xfrm>
            <a:off x="6187288" y="4434840"/>
            <a:ext cx="2499284" cy="0"/>
          </a:xfrm>
          <a:prstGeom prst="line">
            <a:avLst/>
          </a:prstGeom>
          <a:noFill/>
          <a:ln w="25400">
            <a:solidFill>
              <a:srgbClr val="3A414B"/>
            </a:solidFill>
            <a:prstDash val="solid"/>
          </a:ln>
        </p:spPr>
      </p:sp>
      <p:sp>
        <p:nvSpPr>
          <p:cNvPr id="12" name="Text 10"/>
          <p:cNvSpPr txBox="1"/>
          <p:nvPr/>
        </p:nvSpPr>
        <p:spPr>
          <a:xfrm>
            <a:off x="6187288"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6187288"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모델 비교</a:t>
            </a:r>
            <a:endParaRPr lang="en-US" sz="1500" dirty="0"/>
          </a:p>
        </p:txBody>
      </p:sp>
      <p:sp>
        <p:nvSpPr>
          <p:cNvPr id="14" name="Shape 12"/>
          <p:cNvSpPr/>
          <p:nvPr/>
        </p:nvSpPr>
        <p:spPr>
          <a:xfrm>
            <a:off x="8869451" y="4434840"/>
            <a:ext cx="2499284" cy="0"/>
          </a:xfrm>
          <a:prstGeom prst="line">
            <a:avLst/>
          </a:prstGeom>
          <a:noFill/>
          <a:ln w="25400">
            <a:solidFill>
              <a:srgbClr val="3A414B"/>
            </a:solidFill>
            <a:prstDash val="solid"/>
          </a:ln>
        </p:spPr>
      </p:sp>
      <p:sp>
        <p:nvSpPr>
          <p:cNvPr id="15" name="Text 13"/>
          <p:cNvSpPr txBox="1"/>
          <p:nvPr/>
        </p:nvSpPr>
        <p:spPr>
          <a:xfrm>
            <a:off x="8869451" y="4572000"/>
            <a:ext cx="2499284"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04</a:t>
            </a:r>
            <a:endParaRPr lang="en-US" sz="1200" dirty="0"/>
          </a:p>
        </p:txBody>
      </p:sp>
      <p:sp>
        <p:nvSpPr>
          <p:cNvPr id="16" name="Text 14"/>
          <p:cNvSpPr txBox="1"/>
          <p:nvPr/>
        </p:nvSpPr>
        <p:spPr>
          <a:xfrm>
            <a:off x="8869451" y="4864608"/>
            <a:ext cx="2499284"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모델 및 예측</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예측 대상 및 데이터 분할</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시간순 3단계 분할: 학습 → 검증 (선택) → 평가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21</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(1장 · 4-1 · 5-3)</a:t>
            </a:r>
            <a:endParaRPr lang="en-US" sz="900" dirty="0"/>
          </a:p>
        </p:txBody>
      </p:sp>
      <p:sp>
        <p:nvSpPr>
          <p:cNvPr id="8" name="Shape 5"/>
          <p:cNvSpPr/>
          <p:nvPr/>
        </p:nvSpPr>
        <p:spPr>
          <a:xfrm>
            <a:off x="457200" y="199339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5798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0" name="Text 7"/>
          <p:cNvSpPr txBox="1"/>
          <p:nvPr/>
        </p:nvSpPr>
        <p:spPr>
          <a:xfrm>
            <a:off x="676656" y="252374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월 · 6개월 연속 예측</a:t>
            </a:r>
            <a:endParaRPr lang="en-US" sz="1000" dirty="0"/>
          </a:p>
        </p:txBody>
      </p:sp>
      <p:sp>
        <p:nvSpPr>
          <p:cNvPr id="11" name="Shape 8"/>
          <p:cNvSpPr/>
          <p:nvPr/>
        </p:nvSpPr>
        <p:spPr>
          <a:xfrm>
            <a:off x="2606040" y="2176272"/>
            <a:ext cx="3694176" cy="685800"/>
          </a:xfrm>
          <a:prstGeom prst="roundRect">
            <a:avLst>
              <a:gd name="adj" fmla="val 8000"/>
            </a:avLst>
          </a:prstGeom>
          <a:solidFill>
            <a:srgbClr val="8E8E93"/>
          </a:solidFill>
          <a:ln w="12700">
            <a:solidFill>
              <a:srgbClr val="8E8E93"/>
            </a:solidFill>
            <a:prstDash val="solid"/>
          </a:ln>
        </p:spPr>
      </p:sp>
      <p:sp>
        <p:nvSpPr>
          <p:cNvPr id="12" name="Text 9"/>
          <p:cNvSpPr txBox="1"/>
          <p:nvPr/>
        </p:nvSpPr>
        <p:spPr>
          <a:xfrm>
            <a:off x="274320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13" name="Text 10"/>
          <p:cNvSpPr txBox="1"/>
          <p:nvPr/>
        </p:nvSpPr>
        <p:spPr>
          <a:xfrm>
            <a:off x="3291840" y="2176272"/>
            <a:ext cx="2916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2018.05 ~ 2024.12</a:t>
            </a:r>
            <a:endParaRPr lang="en-US" sz="1050" dirty="0"/>
          </a:p>
          <a:p>
            <a:pPr marL="0" indent="0">
              <a:buNone/>
            </a:pPr>
            <a:r>
              <a:rPr lang="en-US" sz="1050" dirty="0">
                <a:solidFill>
                  <a:srgbClr val="FFFFFF"/>
                </a:solidFill>
                <a:latin typeface="에이투지체 5 Medium"/>
                <a:ea typeface="에이투지체 5 Medium"/>
                <a:cs typeface="에이투지체 5 Medium"/>
              </a:rPr>
              <a:t>1,880행</a:t>
            </a:r>
            <a:endParaRPr lang="en-US" sz="1050" dirty="0"/>
          </a:p>
        </p:txBody>
      </p:sp>
      <p:sp>
        <p:nvSpPr>
          <p:cNvPr id="14" name="Shape 11"/>
          <p:cNvSpPr/>
          <p:nvPr/>
        </p:nvSpPr>
        <p:spPr>
          <a:xfrm>
            <a:off x="6355080" y="2176272"/>
            <a:ext cx="2551176" cy="685800"/>
          </a:xfrm>
          <a:prstGeom prst="roundRect">
            <a:avLst>
              <a:gd name="adj" fmla="val 8000"/>
            </a:avLst>
          </a:prstGeom>
          <a:solidFill>
            <a:srgbClr val="D62828"/>
          </a:solidFill>
          <a:ln w="12700">
            <a:solidFill>
              <a:srgbClr val="D62828"/>
            </a:solidFill>
            <a:prstDash val="solid"/>
          </a:ln>
        </p:spPr>
      </p:sp>
      <p:sp>
        <p:nvSpPr>
          <p:cNvPr id="15" name="Text 12"/>
          <p:cNvSpPr txBox="1"/>
          <p:nvPr/>
        </p:nvSpPr>
        <p:spPr>
          <a:xfrm>
            <a:off x="649224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16" name="Text 13"/>
          <p:cNvSpPr txBox="1"/>
          <p:nvPr/>
        </p:nvSpPr>
        <p:spPr>
          <a:xfrm>
            <a:off x="7040880" y="2176272"/>
            <a:ext cx="1773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2025.01 ~ 06</a:t>
            </a:r>
            <a:endParaRPr lang="en-US" sz="1050" dirty="0"/>
          </a:p>
          <a:p>
            <a:pPr marL="0" indent="0">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17" name="Shape 14"/>
          <p:cNvSpPr/>
          <p:nvPr/>
        </p:nvSpPr>
        <p:spPr>
          <a:xfrm>
            <a:off x="8961120" y="2176272"/>
            <a:ext cx="2724912" cy="685800"/>
          </a:xfrm>
          <a:prstGeom prst="roundRect">
            <a:avLst>
              <a:gd name="adj" fmla="val 8000"/>
            </a:avLst>
          </a:prstGeom>
          <a:solidFill>
            <a:srgbClr val="45515E"/>
          </a:solidFill>
          <a:ln w="12700">
            <a:solidFill>
              <a:srgbClr val="45515E"/>
            </a:solidFill>
            <a:prstDash val="solid"/>
          </a:ln>
        </p:spPr>
      </p:sp>
      <p:sp>
        <p:nvSpPr>
          <p:cNvPr id="18" name="Text 15"/>
          <p:cNvSpPr txBox="1"/>
          <p:nvPr/>
        </p:nvSpPr>
        <p:spPr>
          <a:xfrm>
            <a:off x="9098280" y="217627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19" name="Text 16"/>
          <p:cNvSpPr txBox="1"/>
          <p:nvPr/>
        </p:nvSpPr>
        <p:spPr>
          <a:xfrm>
            <a:off x="9646920" y="2176272"/>
            <a:ext cx="1947672"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2025.07 ~ 12</a:t>
            </a:r>
            <a:endParaRPr lang="en-US" sz="1050" dirty="0"/>
          </a:p>
          <a:p>
            <a:pPr marL="0" indent="0">
              <a:buNone/>
            </a:pPr>
            <a:r>
              <a:rPr lang="en-US" sz="1050" dirty="0">
                <a:solidFill>
                  <a:srgbClr val="FFFFFF"/>
                </a:solidFill>
                <a:latin typeface="에이투지체 5 Medium"/>
                <a:ea typeface="에이투지체 5 Medium"/>
                <a:cs typeface="에이투지체 5 Medium"/>
              </a:rPr>
              <a:t>150행</a:t>
            </a:r>
            <a:endParaRPr lang="en-US" sz="1050" dirty="0"/>
          </a:p>
        </p:txBody>
      </p:sp>
      <p:sp>
        <p:nvSpPr>
          <p:cNvPr id="20" name="Shape 17"/>
          <p:cNvSpPr/>
          <p:nvPr/>
        </p:nvSpPr>
        <p:spPr>
          <a:xfrm>
            <a:off x="457200" y="3182112"/>
            <a:ext cx="11277295" cy="1051560"/>
          </a:xfrm>
          <a:prstGeom prst="roundRect">
            <a:avLst>
              <a:gd name="adj" fmla="val 8696"/>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1" name="Text 18"/>
          <p:cNvSpPr txBox="1"/>
          <p:nvPr/>
        </p:nvSpPr>
        <p:spPr>
          <a:xfrm>
            <a:off x="676656" y="3346704"/>
            <a:ext cx="1828800" cy="320040"/>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2" name="Text 19"/>
          <p:cNvSpPr txBox="1"/>
          <p:nvPr/>
        </p:nvSpPr>
        <p:spPr>
          <a:xfrm>
            <a:off x="676656" y="3712464"/>
            <a:ext cx="1828800" cy="365760"/>
          </a:xfrm>
          <a:prstGeom prst="rect">
            <a:avLst/>
          </a:prstGeom>
          <a:noFill/>
          <a:ln/>
        </p:spPr>
        <p:txBody>
          <a:bodyPr wrap="square" lIns="0" tIns="0" rIns="0" bIns="0" rtlCol="0" anchor="ctr"/>
          <a:lstStyle/>
          <a:p>
            <a:pPr marL="0" indent="0">
              <a:buNone/>
            </a:pPr>
            <a:r>
              <a:rPr lang="en-US" sz="1000" dirty="0">
                <a:solidFill>
                  <a:srgbClr val="45515E"/>
                </a:solidFill>
                <a:latin typeface="에이투지체 5 Medium"/>
                <a:ea typeface="에이투지체 5 Medium"/>
                <a:cs typeface="에이투지체 5 Medium"/>
              </a:rPr>
              <a:t>자치구 × 일 · 일별 예측</a:t>
            </a:r>
            <a:endParaRPr lang="en-US" sz="1000" dirty="0"/>
          </a:p>
        </p:txBody>
      </p:sp>
      <p:sp>
        <p:nvSpPr>
          <p:cNvPr id="23" name="Shape 20"/>
          <p:cNvSpPr/>
          <p:nvPr/>
        </p:nvSpPr>
        <p:spPr>
          <a:xfrm>
            <a:off x="2606040" y="3364992"/>
            <a:ext cx="3694176" cy="685800"/>
          </a:xfrm>
          <a:prstGeom prst="roundRect">
            <a:avLst>
              <a:gd name="adj" fmla="val 8000"/>
            </a:avLst>
          </a:prstGeom>
          <a:solidFill>
            <a:srgbClr val="8E8E93"/>
          </a:solidFill>
          <a:ln w="12700">
            <a:solidFill>
              <a:srgbClr val="8E8E93"/>
            </a:solidFill>
            <a:prstDash val="solid"/>
          </a:ln>
        </p:spPr>
      </p:sp>
      <p:sp>
        <p:nvSpPr>
          <p:cNvPr id="24" name="Text 21"/>
          <p:cNvSpPr txBox="1"/>
          <p:nvPr/>
        </p:nvSpPr>
        <p:spPr>
          <a:xfrm>
            <a:off x="274320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학습</a:t>
            </a:r>
            <a:endParaRPr lang="en-US" sz="1300" dirty="0"/>
          </a:p>
        </p:txBody>
      </p:sp>
      <p:sp>
        <p:nvSpPr>
          <p:cNvPr id="25" name="Text 22"/>
          <p:cNvSpPr txBox="1"/>
          <p:nvPr/>
        </p:nvSpPr>
        <p:spPr>
          <a:xfrm>
            <a:off x="3291840" y="3364992"/>
            <a:ext cx="2916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2018.04 ~ 2025.02</a:t>
            </a:r>
            <a:endParaRPr lang="en-US" sz="1050" dirty="0"/>
          </a:p>
          <a:p>
            <a:pPr marL="0" indent="0">
              <a:buNone/>
            </a:pPr>
            <a:r>
              <a:rPr lang="en-US" sz="1050" dirty="0">
                <a:solidFill>
                  <a:srgbClr val="FFFFFF"/>
                </a:solidFill>
                <a:latin typeface="에이투지체 5 Medium"/>
                <a:ea typeface="에이투지체 5 Medium"/>
                <a:cs typeface="에이투지체 5 Medium"/>
              </a:rPr>
              <a:t>62,200행</a:t>
            </a:r>
            <a:endParaRPr lang="en-US" sz="1050" dirty="0"/>
          </a:p>
        </p:txBody>
      </p:sp>
      <p:sp>
        <p:nvSpPr>
          <p:cNvPr id="26" name="Shape 23"/>
          <p:cNvSpPr/>
          <p:nvPr/>
        </p:nvSpPr>
        <p:spPr>
          <a:xfrm>
            <a:off x="6355080" y="3364992"/>
            <a:ext cx="2551176" cy="685800"/>
          </a:xfrm>
          <a:prstGeom prst="roundRect">
            <a:avLst>
              <a:gd name="adj" fmla="val 8000"/>
            </a:avLst>
          </a:prstGeom>
          <a:solidFill>
            <a:srgbClr val="D62828"/>
          </a:solidFill>
          <a:ln w="12700">
            <a:solidFill>
              <a:srgbClr val="D62828"/>
            </a:solidFill>
            <a:prstDash val="solid"/>
          </a:ln>
        </p:spPr>
      </p:sp>
      <p:sp>
        <p:nvSpPr>
          <p:cNvPr id="27" name="Text 24"/>
          <p:cNvSpPr txBox="1"/>
          <p:nvPr/>
        </p:nvSpPr>
        <p:spPr>
          <a:xfrm>
            <a:off x="649224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검증</a:t>
            </a:r>
            <a:endParaRPr lang="en-US" sz="1300" dirty="0"/>
          </a:p>
        </p:txBody>
      </p:sp>
      <p:sp>
        <p:nvSpPr>
          <p:cNvPr id="28" name="Text 25"/>
          <p:cNvSpPr txBox="1"/>
          <p:nvPr/>
        </p:nvSpPr>
        <p:spPr>
          <a:xfrm>
            <a:off x="7040880" y="3364992"/>
            <a:ext cx="1773936"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2025.02 ~ 07</a:t>
            </a:r>
            <a:endParaRPr lang="en-US" sz="1050" dirty="0"/>
          </a:p>
          <a:p>
            <a:pPr marL="0" indent="0">
              <a:buNone/>
            </a:pPr>
            <a:r>
              <a:rPr lang="en-US" sz="1050" dirty="0">
                <a:solidFill>
                  <a:srgbClr val="FFFFFF"/>
                </a:solidFill>
                <a:latin typeface="에이투지체 5 Medium"/>
                <a:ea typeface="에이투지체 5 Medium"/>
                <a:cs typeface="에이투지체 5 Medium"/>
              </a:rPr>
              <a:t>4,500행</a:t>
            </a:r>
            <a:endParaRPr lang="en-US" sz="1050" dirty="0"/>
          </a:p>
        </p:txBody>
      </p:sp>
      <p:sp>
        <p:nvSpPr>
          <p:cNvPr id="29" name="Shape 26"/>
          <p:cNvSpPr/>
          <p:nvPr/>
        </p:nvSpPr>
        <p:spPr>
          <a:xfrm>
            <a:off x="8961120" y="3364992"/>
            <a:ext cx="2724912" cy="685800"/>
          </a:xfrm>
          <a:prstGeom prst="roundRect">
            <a:avLst>
              <a:gd name="adj" fmla="val 8000"/>
            </a:avLst>
          </a:prstGeom>
          <a:solidFill>
            <a:srgbClr val="45515E"/>
          </a:solidFill>
          <a:ln w="12700">
            <a:solidFill>
              <a:srgbClr val="45515E"/>
            </a:solidFill>
            <a:prstDash val="solid"/>
          </a:ln>
        </p:spPr>
      </p:sp>
      <p:sp>
        <p:nvSpPr>
          <p:cNvPr id="30" name="Text 27"/>
          <p:cNvSpPr txBox="1"/>
          <p:nvPr/>
        </p:nvSpPr>
        <p:spPr>
          <a:xfrm>
            <a:off x="9098280" y="3364992"/>
            <a:ext cx="548640" cy="685800"/>
          </a:xfrm>
          <a:prstGeom prst="rect">
            <a:avLst/>
          </a:prstGeom>
          <a:noFill/>
          <a:ln/>
        </p:spPr>
        <p:txBody>
          <a:bodyPr wrap="square" lIns="0" tIns="0" rIns="0" bIns="0" rtlCol="0" anchor="ctr"/>
          <a:lstStyle/>
          <a:p>
            <a:pPr marL="0" indent="0">
              <a:buNone/>
            </a:pPr>
            <a:r>
              <a:rPr lang="en-US" sz="1300" b="1" dirty="0">
                <a:solidFill>
                  <a:srgbClr val="FFFFFF"/>
                </a:solidFill>
                <a:latin typeface="에이투지체 5 Medium"/>
                <a:ea typeface="에이투지체 5 Medium"/>
                <a:cs typeface="에이투지체 5 Medium"/>
              </a:rPr>
              <a:t>평가</a:t>
            </a:r>
            <a:endParaRPr lang="en-US" sz="1300" dirty="0"/>
          </a:p>
        </p:txBody>
      </p:sp>
      <p:sp>
        <p:nvSpPr>
          <p:cNvPr id="31" name="Text 28"/>
          <p:cNvSpPr txBox="1"/>
          <p:nvPr/>
        </p:nvSpPr>
        <p:spPr>
          <a:xfrm>
            <a:off x="9646920" y="3364992"/>
            <a:ext cx="1947672" cy="685800"/>
          </a:xfrm>
          <a:prstGeom prst="rect">
            <a:avLst/>
          </a:prstGeom>
          <a:noFill/>
          <a:ln/>
        </p:spPr>
        <p:txBody>
          <a:bodyPr wrap="square" lIns="0" tIns="0" rIns="0" bIns="0" rtlCol="0" anchor="ctr"/>
          <a:lstStyle/>
          <a:p>
            <a:pPr marL="0" indent="0">
              <a:buNone/>
            </a:pPr>
            <a:r>
              <a:rPr lang="en-US" sz="1050" dirty="0">
                <a:solidFill>
                  <a:srgbClr val="FFFFFF"/>
                </a:solidFill>
                <a:latin typeface="에이투지체 5 Medium"/>
                <a:ea typeface="에이투지체 5 Medium"/>
                <a:cs typeface="에이투지체 5 Medium"/>
              </a:rPr>
              <a:t>2025.08 ~ 2026.07</a:t>
            </a:r>
            <a:endParaRPr lang="en-US" sz="1050" dirty="0"/>
          </a:p>
          <a:p>
            <a:pPr marL="0" indent="0">
              <a:buNone/>
            </a:pPr>
            <a:r>
              <a:rPr lang="en-US" sz="1050" dirty="0">
                <a:solidFill>
                  <a:srgbClr val="FFFFFF"/>
                </a:solidFill>
                <a:latin typeface="에이투지체 5 Medium"/>
                <a:ea typeface="에이투지체 5 Medium"/>
                <a:cs typeface="에이투지체 5 Medium"/>
              </a:rPr>
              <a:t>9,125행</a:t>
            </a:r>
            <a:endParaRPr lang="en-US" sz="1050" dirty="0"/>
          </a:p>
        </p:txBody>
      </p:sp>
      <p:sp>
        <p:nvSpPr>
          <p:cNvPr id="32" name="Shape 29"/>
          <p:cNvSpPr/>
          <p:nvPr/>
        </p:nvSpPr>
        <p:spPr>
          <a:xfrm>
            <a:off x="457200"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3" name="Shape 30"/>
          <p:cNvSpPr/>
          <p:nvPr/>
        </p:nvSpPr>
        <p:spPr>
          <a:xfrm>
            <a:off x="1589989" y="4544568"/>
            <a:ext cx="1371600" cy="274320"/>
          </a:xfrm>
          <a:prstGeom prst="roundRect">
            <a:avLst>
              <a:gd name="adj" fmla="val 50000"/>
            </a:avLst>
          </a:prstGeom>
          <a:solidFill>
            <a:srgbClr val="F2F3F5"/>
          </a:solidFill>
          <a:ln w="12700">
            <a:solidFill>
              <a:srgbClr val="F2F3F5"/>
            </a:solidFill>
            <a:prstDash val="solid"/>
          </a:ln>
        </p:spPr>
      </p:sp>
      <p:sp>
        <p:nvSpPr>
          <p:cNvPr id="34" name="Text 31"/>
          <p:cNvSpPr txBox="1"/>
          <p:nvPr/>
        </p:nvSpPr>
        <p:spPr>
          <a:xfrm>
            <a:off x="1589989"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학습 데이터</a:t>
            </a:r>
            <a:endParaRPr lang="en-US" sz="1050" dirty="0"/>
          </a:p>
        </p:txBody>
      </p:sp>
      <p:sp>
        <p:nvSpPr>
          <p:cNvPr id="35" name="Text 32"/>
          <p:cNvSpPr txBox="1"/>
          <p:nvPr/>
        </p:nvSpPr>
        <p:spPr>
          <a:xfrm>
            <a:off x="676656"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모델 학습</a:t>
            </a:r>
            <a:endParaRPr lang="en-US" sz="2000" dirty="0"/>
          </a:p>
        </p:txBody>
      </p:sp>
      <p:sp>
        <p:nvSpPr>
          <p:cNvPr id="36" name="Shape 33"/>
          <p:cNvSpPr/>
          <p:nvPr/>
        </p:nvSpPr>
        <p:spPr>
          <a:xfrm>
            <a:off x="676656" y="5504688"/>
            <a:ext cx="3198266" cy="0"/>
          </a:xfrm>
          <a:prstGeom prst="line">
            <a:avLst/>
          </a:prstGeom>
          <a:noFill/>
          <a:ln w="9525">
            <a:solidFill>
              <a:srgbClr val="E5E7EB"/>
            </a:solidFill>
            <a:prstDash val="solid"/>
          </a:ln>
        </p:spPr>
      </p:sp>
      <p:sp>
        <p:nvSpPr>
          <p:cNvPr id="37" name="Text 34"/>
          <p:cNvSpPr txBox="1"/>
          <p:nvPr/>
        </p:nvSpPr>
        <p:spPr>
          <a:xfrm>
            <a:off x="676656"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연관성 분석 · 변수 선택도 학습 기간만 사용</a:t>
            </a:r>
            <a:endParaRPr lang="en-US" sz="1100" dirty="0"/>
          </a:p>
        </p:txBody>
      </p:sp>
      <p:sp>
        <p:nvSpPr>
          <p:cNvPr id="38" name="Shape 35"/>
          <p:cNvSpPr/>
          <p:nvPr/>
        </p:nvSpPr>
        <p:spPr>
          <a:xfrm>
            <a:off x="4277258" y="4361688"/>
            <a:ext cx="3637178"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39" name="Shape 36"/>
          <p:cNvSpPr/>
          <p:nvPr/>
        </p:nvSpPr>
        <p:spPr>
          <a:xfrm>
            <a:off x="5410048" y="4544568"/>
            <a:ext cx="1371600" cy="274320"/>
          </a:xfrm>
          <a:prstGeom prst="roundRect">
            <a:avLst>
              <a:gd name="adj" fmla="val 50000"/>
            </a:avLst>
          </a:prstGeom>
          <a:solidFill>
            <a:srgbClr val="FDE3E3"/>
          </a:solidFill>
          <a:ln w="12700">
            <a:solidFill>
              <a:srgbClr val="FDE3E3"/>
            </a:solidFill>
            <a:prstDash val="solid"/>
          </a:ln>
        </p:spPr>
      </p:sp>
      <p:sp>
        <p:nvSpPr>
          <p:cNvPr id="40" name="Text 37"/>
          <p:cNvSpPr txBox="1"/>
          <p:nvPr/>
        </p:nvSpPr>
        <p:spPr>
          <a:xfrm>
            <a:off x="5410048" y="4544568"/>
            <a:ext cx="1371600" cy="274320"/>
          </a:xfrm>
          <a:prstGeom prst="rect">
            <a:avLst/>
          </a:prstGeom>
          <a:noFill/>
          <a:ln/>
        </p:spPr>
        <p:txBody>
          <a:bodyPr wrap="square" lIns="0" tIns="0" rIns="0" bIns="0" rtlCol="0" anchor="ctr"/>
          <a:lstStyle/>
          <a:p>
            <a:pPr marL="0" indent="0" algn="ctr">
              <a:buNone/>
            </a:pPr>
            <a:r>
              <a:rPr lang="en-US" sz="1050" b="1" dirty="0">
                <a:solidFill>
                  <a:srgbClr val="8A1414"/>
                </a:solidFill>
                <a:latin typeface="에이투지체 5 Medium"/>
                <a:ea typeface="에이투지체 5 Medium"/>
                <a:cs typeface="에이투지체 5 Medium"/>
              </a:rPr>
              <a:t>검증 데이터</a:t>
            </a:r>
            <a:endParaRPr lang="en-US" sz="1050" dirty="0"/>
          </a:p>
        </p:txBody>
      </p:sp>
      <p:sp>
        <p:nvSpPr>
          <p:cNvPr id="41" name="Text 38"/>
          <p:cNvSpPr txBox="1"/>
          <p:nvPr/>
        </p:nvSpPr>
        <p:spPr>
          <a:xfrm>
            <a:off x="4496714" y="4956048"/>
            <a:ext cx="3198266" cy="411480"/>
          </a:xfrm>
          <a:prstGeom prst="rect">
            <a:avLst/>
          </a:prstGeom>
          <a:noFill/>
          <a:ln/>
        </p:spPr>
        <p:txBody>
          <a:bodyPr wrap="square" lIns="0" tIns="0" rIns="0" bIns="0" rtlCol="0" anchor="ctr"/>
          <a:lstStyle/>
          <a:p>
            <a:pPr marL="0" indent="0" algn="ctr">
              <a:buNone/>
            </a:pPr>
            <a:r>
              <a:rPr lang="en-US" sz="2000" b="1" dirty="0">
                <a:solidFill>
                  <a:srgbClr val="FFFFFF"/>
                </a:solidFill>
                <a:latin typeface="에이투지체 5 Medium"/>
                <a:ea typeface="에이투지체 5 Medium"/>
                <a:cs typeface="에이투지체 5 Medium"/>
              </a:rPr>
              <a:t>특성 · 설정 · 모델 선택</a:t>
            </a:r>
            <a:endParaRPr lang="en-US" sz="2000" dirty="0"/>
          </a:p>
        </p:txBody>
      </p:sp>
      <p:sp>
        <p:nvSpPr>
          <p:cNvPr id="42" name="Shape 39"/>
          <p:cNvSpPr/>
          <p:nvPr/>
        </p:nvSpPr>
        <p:spPr>
          <a:xfrm>
            <a:off x="4496714" y="5504688"/>
            <a:ext cx="3198266" cy="0"/>
          </a:xfrm>
          <a:prstGeom prst="line">
            <a:avLst/>
          </a:prstGeom>
          <a:noFill/>
          <a:ln w="9525">
            <a:solidFill>
              <a:srgbClr val="E87A7A"/>
            </a:solidFill>
            <a:prstDash val="solid"/>
          </a:ln>
        </p:spPr>
      </p:sp>
      <p:sp>
        <p:nvSpPr>
          <p:cNvPr id="43" name="Text 40"/>
          <p:cNvSpPr txBox="1"/>
          <p:nvPr/>
        </p:nvSpPr>
        <p:spPr>
          <a:xfrm>
            <a:off x="4496714" y="5596128"/>
            <a:ext cx="3198266" cy="457200"/>
          </a:xfrm>
          <a:prstGeom prst="rect">
            <a:avLst/>
          </a:prstGeom>
          <a:noFill/>
          <a:ln/>
        </p:spPr>
        <p:txBody>
          <a:bodyPr wrap="square" lIns="0" tIns="0" rIns="0" bIns="0" rtlCol="0" anchor="ctr"/>
          <a:lstStyle/>
          <a:p>
            <a:pPr marL="0" indent="0" algn="ctr">
              <a:buNone/>
            </a:pPr>
            <a:r>
              <a:rPr lang="en-US" sz="1100" dirty="0">
                <a:solidFill>
                  <a:srgbClr val="FDE3E3"/>
                </a:solidFill>
                <a:latin typeface="에이투지체 5 Medium"/>
                <a:ea typeface="에이투지체 5 Medium"/>
                <a:cs typeface="에이투지체 5 Medium"/>
              </a:rPr>
              <a:t>특성 조합, 달력 설정, 모델 7종 비교에만 사용</a:t>
            </a:r>
            <a:endParaRPr lang="en-US" sz="1100" dirty="0"/>
          </a:p>
        </p:txBody>
      </p:sp>
      <p:sp>
        <p:nvSpPr>
          <p:cNvPr id="44" name="Shape 41"/>
          <p:cNvSpPr/>
          <p:nvPr/>
        </p:nvSpPr>
        <p:spPr>
          <a:xfrm>
            <a:off x="8097317" y="4361688"/>
            <a:ext cx="3637178"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45" name="Shape 42"/>
          <p:cNvSpPr/>
          <p:nvPr/>
        </p:nvSpPr>
        <p:spPr>
          <a:xfrm>
            <a:off x="9230106" y="4544568"/>
            <a:ext cx="1371600" cy="274320"/>
          </a:xfrm>
          <a:prstGeom prst="roundRect">
            <a:avLst>
              <a:gd name="adj" fmla="val 50000"/>
            </a:avLst>
          </a:prstGeom>
          <a:solidFill>
            <a:srgbClr val="F2F3F5"/>
          </a:solidFill>
          <a:ln w="12700">
            <a:solidFill>
              <a:srgbClr val="F2F3F5"/>
            </a:solidFill>
            <a:prstDash val="solid"/>
          </a:ln>
        </p:spPr>
      </p:sp>
      <p:sp>
        <p:nvSpPr>
          <p:cNvPr id="46" name="Text 43"/>
          <p:cNvSpPr txBox="1"/>
          <p:nvPr/>
        </p:nvSpPr>
        <p:spPr>
          <a:xfrm>
            <a:off x="9230106" y="4544568"/>
            <a:ext cx="1371600" cy="274320"/>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평가 데이터</a:t>
            </a:r>
            <a:endParaRPr lang="en-US" sz="1050" dirty="0"/>
          </a:p>
        </p:txBody>
      </p:sp>
      <p:sp>
        <p:nvSpPr>
          <p:cNvPr id="47" name="Text 44"/>
          <p:cNvSpPr txBox="1"/>
          <p:nvPr/>
        </p:nvSpPr>
        <p:spPr>
          <a:xfrm>
            <a:off x="8316773" y="4956048"/>
            <a:ext cx="3198266" cy="411480"/>
          </a:xfrm>
          <a:prstGeom prst="rect">
            <a:avLst/>
          </a:prstGeom>
          <a:noFill/>
          <a:ln/>
        </p:spPr>
        <p:txBody>
          <a:bodyPr wrap="square" lIns="0" tIns="0" rIns="0" bIns="0" rtlCol="0" anchor="ctr"/>
          <a:lstStyle/>
          <a:p>
            <a:pPr marL="0" indent="0" algn="ctr">
              <a:buNone/>
            </a:pPr>
            <a:r>
              <a:rPr lang="en-US" sz="2000" b="1" dirty="0">
                <a:solidFill>
                  <a:srgbClr val="222222"/>
                </a:solidFill>
                <a:latin typeface="에이투지체 5 Medium"/>
                <a:ea typeface="에이투지체 5 Medium"/>
                <a:cs typeface="에이투지체 5 Medium"/>
              </a:rPr>
              <a:t>최종 성능 확인</a:t>
            </a:r>
            <a:endParaRPr lang="en-US" sz="2000" dirty="0"/>
          </a:p>
        </p:txBody>
      </p:sp>
      <p:sp>
        <p:nvSpPr>
          <p:cNvPr id="48" name="Shape 45"/>
          <p:cNvSpPr/>
          <p:nvPr/>
        </p:nvSpPr>
        <p:spPr>
          <a:xfrm>
            <a:off x="8316773" y="5504688"/>
            <a:ext cx="3198266" cy="0"/>
          </a:xfrm>
          <a:prstGeom prst="line">
            <a:avLst/>
          </a:prstGeom>
          <a:noFill/>
          <a:ln w="9525">
            <a:solidFill>
              <a:srgbClr val="E5E7EB"/>
            </a:solidFill>
            <a:prstDash val="solid"/>
          </a:ln>
        </p:spPr>
      </p:sp>
      <p:sp>
        <p:nvSpPr>
          <p:cNvPr id="49" name="Text 46"/>
          <p:cNvSpPr txBox="1"/>
          <p:nvPr/>
        </p:nvSpPr>
        <p:spPr>
          <a:xfrm>
            <a:off x="8316773" y="5596128"/>
            <a:ext cx="3198266" cy="457200"/>
          </a:xfrm>
          <a:prstGeom prst="rect">
            <a:avLst/>
          </a:prstGeom>
          <a:noFill/>
          <a:ln/>
        </p:spPr>
        <p:txBody>
          <a:bodyPr wrap="square" lIns="0" tIns="0" rIns="0" bIns="0" rtlCol="0" anchor="ctr"/>
          <a:lstStyle/>
          <a:p>
            <a:pPr marL="0" indent="0" algn="ctr">
              <a:buNone/>
            </a:pPr>
            <a:r>
              <a:rPr lang="en-US" sz="1100" dirty="0">
                <a:solidFill>
                  <a:srgbClr val="45515E"/>
                </a:solidFill>
                <a:latin typeface="에이투지체 5 Medium"/>
                <a:ea typeface="에이투지체 5 Medium"/>
                <a:cs typeface="에이투지체 5 Medium"/>
              </a:rPr>
              <a:t>선택 완료 후 일반화 성능 확인에만 사용</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상관관계 ≠ 성능 향상 — 5개 입력 조합의 검증 정확도 비교</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22</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(3-1 · 3-2 · 3-3)</a:t>
            </a:r>
            <a:endParaRPr lang="en-US" sz="900" dirty="0"/>
          </a:p>
        </p:txBody>
      </p:sp>
      <p:sp>
        <p:nvSpPr>
          <p:cNvPr id="8" name="Shape 5"/>
          <p:cNvSpPr/>
          <p:nvPr/>
        </p:nvSpPr>
        <p:spPr>
          <a:xfrm>
            <a:off x="457200" y="1993392"/>
            <a:ext cx="3291840"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57984"/>
            <a:ext cx="285292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입력 조합</a:t>
            </a:r>
            <a:endParaRPr lang="en-US" sz="1800" dirty="0"/>
          </a:p>
        </p:txBody>
      </p:sp>
      <p:sp>
        <p:nvSpPr>
          <p:cNvPr id="10" name="Shape 7"/>
          <p:cNvSpPr/>
          <p:nvPr/>
        </p:nvSpPr>
        <p:spPr>
          <a:xfrm>
            <a:off x="676656" y="2560320"/>
            <a:ext cx="2852928" cy="0"/>
          </a:xfrm>
          <a:prstGeom prst="line">
            <a:avLst/>
          </a:prstGeom>
          <a:noFill/>
          <a:ln w="9525">
            <a:solidFill>
              <a:srgbClr val="E5E7EB"/>
            </a:solidFill>
            <a:prstDash val="solid"/>
          </a:ln>
        </p:spPr>
      </p:sp>
      <p:sp>
        <p:nvSpPr>
          <p:cNvPr id="11" name="Text 8"/>
          <p:cNvSpPr txBox="1"/>
          <p:nvPr/>
        </p:nvSpPr>
        <p:spPr>
          <a:xfrm>
            <a:off x="676656" y="2670048"/>
            <a:ext cx="2852928" cy="1837944"/>
          </a:xfrm>
          <a:prstGeom prst="rect">
            <a:avLst/>
          </a:prstGeom>
          <a:noFill/>
          <a:ln/>
        </p:spPr>
        <p:txBody>
          <a:bodyPr wrap="square" lIns="0" tIns="0" rIns="0" bIns="0" rtlCol="0" anchor="t"/>
          <a:lstStyle/>
          <a:p>
            <a:pPr marL="0" indent="0">
              <a:lnSpc>
                <a:spcPct val="150000"/>
              </a:lnSpc>
              <a:buNone/>
            </a:pPr>
            <a:r>
              <a:rPr lang="en-US" sz="1250" dirty="0">
                <a:solidFill>
                  <a:srgbClr val="45515E"/>
                </a:solidFill>
                <a:latin typeface="에이투지체 5 Medium"/>
                <a:ea typeface="에이투지체 5 Medium"/>
                <a:cs typeface="에이투지체 5 Medium"/>
              </a:rPr>
              <a:t>A  구 · 월 원-핫</a:t>
            </a:r>
            <a:endParaRPr lang="en-US" sz="1250" dirty="0"/>
          </a:p>
          <a:p>
            <a:pPr marL="0" indent="0">
              <a:lnSpc>
                <a:spcPct val="150000"/>
              </a:lnSpc>
              <a:buNone/>
            </a:pPr>
            <a:r>
              <a:rPr lang="en-US" sz="1250" dirty="0">
                <a:solidFill>
                  <a:srgbClr val="45515E"/>
                </a:solidFill>
                <a:latin typeface="에이투지체 5 Medium"/>
                <a:ea typeface="에이투지체 5 Medium"/>
                <a:cs typeface="에이투지체 5 Medium"/>
              </a:rPr>
              <a:t>B  A + 인구 변수 9개</a:t>
            </a:r>
            <a:endParaRPr lang="en-US" sz="1250" dirty="0"/>
          </a:p>
          <a:p>
            <a:pPr marL="0" indent="0">
              <a:lnSpc>
                <a:spcPct val="150000"/>
              </a:lnSpc>
              <a:buNone/>
            </a:pPr>
            <a:r>
              <a:rPr lang="en-US" sz="1250" dirty="0">
                <a:solidFill>
                  <a:srgbClr val="45515E"/>
                </a:solidFill>
                <a:latin typeface="에이투지체 5 Medium"/>
                <a:ea typeface="에이투지체 5 Medium"/>
                <a:cs typeface="에이투지체 5 Medium"/>
              </a:rPr>
              <a:t>C  B + 인구 기반 기대값</a:t>
            </a:r>
            <a:endParaRPr lang="en-US" sz="1250" dirty="0"/>
          </a:p>
          <a:p>
            <a:pPr marL="0" indent="0">
              <a:lnSpc>
                <a:spcPct val="150000"/>
              </a:lnSpc>
              <a:buNone/>
            </a:pPr>
            <a:r>
              <a:rPr lang="en-US" sz="1250" dirty="0">
                <a:solidFill>
                  <a:srgbClr val="45515E"/>
                </a:solidFill>
                <a:latin typeface="에이투지체 5 Medium"/>
                <a:ea typeface="에이투지체 5 Medium"/>
                <a:cs typeface="에이투지체 5 Medium"/>
              </a:rPr>
              <a:t>D  A + 이송 이력</a:t>
            </a:r>
            <a:endParaRPr lang="en-US" sz="1250" dirty="0"/>
          </a:p>
          <a:p>
            <a:pPr marL="0" indent="0">
              <a:lnSpc>
                <a:spcPct val="150000"/>
              </a:lnSpc>
              <a:buNone/>
            </a:pPr>
            <a:r>
              <a:rPr lang="en-US" sz="1250" dirty="0">
                <a:solidFill>
                  <a:srgbClr val="45515E"/>
                </a:solidFill>
                <a:latin typeface="에이투지체 5 Medium"/>
                <a:ea typeface="에이투지체 5 Medium"/>
                <a:cs typeface="에이투지체 5 Medium"/>
              </a:rPr>
              <a:t>E  D + 인구 변수 전체</a:t>
            </a:r>
            <a:endParaRPr lang="en-US" sz="1250" dirty="0"/>
          </a:p>
        </p:txBody>
      </p:sp>
      <p:sp>
        <p:nvSpPr>
          <p:cNvPr id="12" name="Shape 9"/>
          <p:cNvSpPr/>
          <p:nvPr/>
        </p:nvSpPr>
        <p:spPr>
          <a:xfrm>
            <a:off x="3931920" y="1993392"/>
            <a:ext cx="7802575" cy="2642616"/>
          </a:xfrm>
          <a:prstGeom prst="roundRect">
            <a:avLst>
              <a:gd name="adj" fmla="val 346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13" name="Chart 0"/>
          <p:cNvGraphicFramePr/>
          <p:nvPr/>
        </p:nvGraphicFramePr>
        <p:xfrm>
          <a:off x="4023360" y="2066544"/>
          <a:ext cx="7619695" cy="249631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5" name="Text 11"/>
          <p:cNvSpPr txBox="1"/>
          <p:nvPr/>
        </p:nvSpPr>
        <p:spPr>
          <a:xfrm>
            <a:off x="676656" y="4818888"/>
            <a:ext cx="2011680" cy="1371600"/>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+3.64%p</a:t>
            </a:r>
            <a:endParaRPr lang="en-US" sz="3000" dirty="0"/>
          </a:p>
        </p:txBody>
      </p:sp>
      <p:sp>
        <p:nvSpPr>
          <p:cNvPr id="16" name="Text 12"/>
          <p:cNvSpPr txBox="1"/>
          <p:nvPr/>
        </p:nvSpPr>
        <p:spPr>
          <a:xfrm>
            <a:off x="2688336" y="5138928"/>
            <a:ext cx="1186586"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이송 이력 없음</a:t>
            </a:r>
            <a:endParaRPr lang="en-US" sz="1400" dirty="0"/>
          </a:p>
        </p:txBody>
      </p:sp>
      <p:sp>
        <p:nvSpPr>
          <p:cNvPr id="17" name="Text 13"/>
          <p:cNvSpPr txBox="1"/>
          <p:nvPr/>
        </p:nvSpPr>
        <p:spPr>
          <a:xfrm>
            <a:off x="2688336" y="5486400"/>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A → C 88.03%</a:t>
            </a:r>
            <a:endParaRPr lang="en-US" sz="1100" dirty="0"/>
          </a:p>
        </p:txBody>
      </p:sp>
      <p:sp>
        <p:nvSpPr>
          <p:cNvPr id="18" name="Shape 14"/>
          <p:cNvSpPr/>
          <p:nvPr/>
        </p:nvSpPr>
        <p:spPr>
          <a:xfrm>
            <a:off x="4277258" y="4818888"/>
            <a:ext cx="3637178" cy="1371600"/>
          </a:xfrm>
          <a:prstGeom prst="roundRect">
            <a:avLst>
              <a:gd name="adj" fmla="val 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9" name="Text 15"/>
          <p:cNvSpPr txBox="1"/>
          <p:nvPr/>
        </p:nvSpPr>
        <p:spPr>
          <a:xfrm>
            <a:off x="4496714" y="4818888"/>
            <a:ext cx="2011680" cy="1371600"/>
          </a:xfrm>
          <a:prstGeom prst="rect">
            <a:avLst/>
          </a:prstGeom>
          <a:noFill/>
          <a:ln/>
        </p:spPr>
        <p:txBody>
          <a:bodyPr wrap="square" lIns="0" tIns="0" rIns="0" bIns="0" rtlCol="0" anchor="ctr"/>
          <a:lstStyle/>
          <a:p>
            <a:pPr marL="0" indent="0">
              <a:buNone/>
            </a:pPr>
            <a:r>
              <a:rPr lang="en-US" sz="3000" kern="0" spc="-90" dirty="0">
                <a:solidFill>
                  <a:srgbClr val="D62828"/>
                </a:solidFill>
                <a:latin typeface="에이투지체 5 Medium"/>
                <a:ea typeface="에이투지체 5 Medium"/>
                <a:cs typeface="에이투지체 5 Medium"/>
              </a:rPr>
              <a:t>−0.18%p</a:t>
            </a:r>
            <a:endParaRPr lang="en-US" sz="3000" dirty="0"/>
          </a:p>
        </p:txBody>
      </p:sp>
      <p:sp>
        <p:nvSpPr>
          <p:cNvPr id="20" name="Text 16"/>
          <p:cNvSpPr txBox="1"/>
          <p:nvPr/>
        </p:nvSpPr>
        <p:spPr>
          <a:xfrm>
            <a:off x="6508394" y="5138928"/>
            <a:ext cx="1186586" cy="310896"/>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이송 이력 있음</a:t>
            </a:r>
            <a:endParaRPr lang="en-US" sz="1400" dirty="0"/>
          </a:p>
        </p:txBody>
      </p:sp>
      <p:sp>
        <p:nvSpPr>
          <p:cNvPr id="21" name="Text 17"/>
          <p:cNvSpPr txBox="1"/>
          <p:nvPr/>
        </p:nvSpPr>
        <p:spPr>
          <a:xfrm>
            <a:off x="6508394" y="5486400"/>
            <a:ext cx="1186586" cy="457200"/>
          </a:xfrm>
          <a:prstGeom prst="rect">
            <a:avLst/>
          </a:prstGeom>
          <a:noFill/>
          <a:ln/>
        </p:spPr>
        <p:txBody>
          <a:bodyPr wrap="square" lIns="0" tIns="0" rIns="0" bIns="0" rtlCol="0" anchor="t"/>
          <a:lstStyle/>
          <a:p>
            <a:pPr marL="0" indent="0">
              <a:buNone/>
            </a:pPr>
            <a:r>
              <a:rPr lang="en-US" sz="1100" dirty="0">
                <a:solidFill>
                  <a:srgbClr val="45515E"/>
                </a:solidFill>
                <a:latin typeface="에이투지체 5 Medium"/>
                <a:ea typeface="에이투지체 5 Medium"/>
                <a:cs typeface="에이투지체 5 Medium"/>
              </a:rPr>
              <a:t>D → E 94.79%</a:t>
            </a:r>
            <a:endParaRPr lang="en-US" sz="1100" dirty="0"/>
          </a:p>
        </p:txBody>
      </p:sp>
      <p:sp>
        <p:nvSpPr>
          <p:cNvPr id="22" name="Shape 18"/>
          <p:cNvSpPr/>
          <p:nvPr/>
        </p:nvSpPr>
        <p:spPr>
          <a:xfrm>
            <a:off x="8097317" y="4818888"/>
            <a:ext cx="3637178" cy="1371600"/>
          </a:xfrm>
          <a:prstGeom prst="roundRect">
            <a:avLst>
              <a:gd name="adj" fmla="val 9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23" name="Text 19"/>
          <p:cNvSpPr txBox="1"/>
          <p:nvPr/>
        </p:nvSpPr>
        <p:spPr>
          <a:xfrm>
            <a:off x="8316773" y="4818888"/>
            <a:ext cx="2011680" cy="1371600"/>
          </a:xfrm>
          <a:prstGeom prst="rect">
            <a:avLst/>
          </a:prstGeom>
          <a:noFill/>
          <a:ln/>
        </p:spPr>
        <p:txBody>
          <a:bodyPr wrap="square" lIns="0" tIns="0" rIns="0" bIns="0" rtlCol="0" anchor="ctr"/>
          <a:lstStyle/>
          <a:p>
            <a:pPr marL="0" indent="0">
              <a:buNone/>
            </a:pPr>
            <a:r>
              <a:rPr lang="en-US" sz="3000" kern="0" spc="-90" dirty="0">
                <a:solidFill>
                  <a:srgbClr val="FFFFFF"/>
                </a:solidFill>
                <a:latin typeface="에이투지체 5 Medium"/>
                <a:ea typeface="에이투지체 5 Medium"/>
                <a:cs typeface="에이투지체 5 Medium"/>
              </a:rPr>
              <a:t>미반영</a:t>
            </a:r>
            <a:endParaRPr lang="en-US" sz="3000" dirty="0"/>
          </a:p>
        </p:txBody>
      </p:sp>
      <p:sp>
        <p:nvSpPr>
          <p:cNvPr id="24" name="Text 20"/>
          <p:cNvSpPr txBox="1"/>
          <p:nvPr/>
        </p:nvSpPr>
        <p:spPr>
          <a:xfrm>
            <a:off x="10328453" y="5138928"/>
            <a:ext cx="1186586" cy="310896"/>
          </a:xfrm>
          <a:prstGeom prst="rect">
            <a:avLst/>
          </a:prstGeom>
          <a:noFill/>
          <a:ln/>
        </p:spPr>
        <p:txBody>
          <a:bodyPr wrap="square" lIns="0" tIns="0" rIns="0" bIns="0" rtlCol="0" anchor="ctr"/>
          <a:lstStyle/>
          <a:p>
            <a:pPr marL="0" indent="0">
              <a:buNone/>
            </a:pPr>
            <a:r>
              <a:rPr lang="en-US" sz="1400" b="1" dirty="0">
                <a:solidFill>
                  <a:srgbClr val="FFFFFF"/>
                </a:solidFill>
                <a:latin typeface="에이투지체 5 Medium"/>
                <a:ea typeface="에이투지체 5 Medium"/>
                <a:cs typeface="에이투지체 5 Medium"/>
              </a:rPr>
              <a:t>결정</a:t>
            </a:r>
            <a:endParaRPr lang="en-US" sz="1400" dirty="0"/>
          </a:p>
        </p:txBody>
      </p:sp>
      <p:sp>
        <p:nvSpPr>
          <p:cNvPr id="25" name="Text 21"/>
          <p:cNvSpPr txBox="1"/>
          <p:nvPr/>
        </p:nvSpPr>
        <p:spPr>
          <a:xfrm>
            <a:off x="10328453" y="5486400"/>
            <a:ext cx="1186586" cy="457200"/>
          </a:xfrm>
          <a:prstGeom prst="rect">
            <a:avLst/>
          </a:prstGeom>
          <a:noFill/>
          <a:ln/>
        </p:spPr>
        <p:txBody>
          <a:bodyPr wrap="square" lIns="0" tIns="0" rIns="0" bIns="0" rtlCol="0" anchor="t"/>
          <a:lstStyle/>
          <a:p>
            <a:pPr marL="0" indent="0">
              <a:buNone/>
            </a:pPr>
            <a:r>
              <a:rPr lang="en-US" sz="1100" dirty="0">
                <a:solidFill>
                  <a:srgbClr val="FDE3E3"/>
                </a:solidFill>
                <a:latin typeface="에이투지체 5 Medium"/>
                <a:ea typeface="에이투지체 5 Medium"/>
                <a:cs typeface="에이투지체 5 Medium"/>
              </a:rPr>
              <a:t>기존 8개 유지</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달력 특성 추가 실험</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주말 · 공휴일 · 명절 구성 차이 반영, 검증 6개월 정확도 기준 채택</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23</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(4-0 · 4-1-2)</a:t>
            </a:r>
            <a:endParaRPr lang="en-US" sz="900" dirty="0"/>
          </a:p>
        </p:txBody>
      </p:sp>
      <p:sp>
        <p:nvSpPr>
          <p:cNvPr id="8" name="Shape 5"/>
          <p:cNvSpPr/>
          <p:nvPr/>
        </p:nvSpPr>
        <p:spPr>
          <a:xfrm>
            <a:off x="457200" y="1993392"/>
            <a:ext cx="4023360"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57984"/>
            <a:ext cx="3584448"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달력 특성 4종</a:t>
            </a:r>
            <a:endParaRPr lang="en-US" sz="1800" dirty="0"/>
          </a:p>
        </p:txBody>
      </p:sp>
      <p:sp>
        <p:nvSpPr>
          <p:cNvPr id="10" name="Shape 7"/>
          <p:cNvSpPr/>
          <p:nvPr/>
        </p:nvSpPr>
        <p:spPr>
          <a:xfrm>
            <a:off x="676656" y="2560320"/>
            <a:ext cx="3584448" cy="0"/>
          </a:xfrm>
          <a:prstGeom prst="line">
            <a:avLst/>
          </a:prstGeom>
          <a:noFill/>
          <a:ln w="9525">
            <a:solidFill>
              <a:srgbClr val="E5E7EB"/>
            </a:solidFill>
            <a:prstDash val="solid"/>
          </a:ln>
        </p:spPr>
      </p:sp>
      <p:sp>
        <p:nvSpPr>
          <p:cNvPr id="11" name="Text 8"/>
          <p:cNvSpPr txBox="1"/>
          <p:nvPr/>
        </p:nvSpPr>
        <p:spPr>
          <a:xfrm>
            <a:off x="676656" y="2670048"/>
            <a:ext cx="3584448" cy="2660904"/>
          </a:xfrm>
          <a:prstGeom prst="rect">
            <a:avLst/>
          </a:prstGeom>
          <a:noFill/>
          <a:ln/>
        </p:spPr>
        <p:txBody>
          <a:bodyPr wrap="square" lIns="0" tIns="0" rIns="0" bIns="0" rtlCol="0" anchor="t"/>
          <a:lstStyle/>
          <a:p>
            <a:pPr marL="0" indent="0">
              <a:lnSpc>
                <a:spcPct val="140000"/>
              </a:lnSpc>
              <a:buNone/>
            </a:pPr>
            <a:r>
              <a:rPr lang="en-US" sz="1200" dirty="0">
                <a:solidFill>
                  <a:srgbClr val="45515E"/>
                </a:solidFill>
                <a:latin typeface="에이투지체 5 Medium"/>
                <a:ea typeface="에이투지체 5 Medium"/>
                <a:cs typeface="에이투지체 5 Medium"/>
              </a:rPr>
              <a:t>· 일수: 28 ~ 31일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주말 수: 토 · 일 일수</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평일 공휴일 수: 주말 외 공휴일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명절 연휴 일수: 설 · 추석 연휴</a:t>
            </a:r>
            <a:endParaRPr lang="en-US" sz="1200" dirty="0"/>
          </a:p>
          <a:p>
            <a:pPr marL="0" indent="0">
              <a:lnSpc>
                <a:spcPct val="140000"/>
              </a:lnSpc>
              <a:buNone/>
            </a:pP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예시</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2025.01: 31일 · 평일 공휴일 4일 · 명절 3일</a:t>
            </a:r>
            <a:endParaRPr lang="en-US" sz="1200" dirty="0"/>
          </a:p>
          <a:p>
            <a:pPr marL="0" indent="0">
              <a:lnSpc>
                <a:spcPct val="140000"/>
              </a:lnSpc>
              <a:buNone/>
            </a:pPr>
            <a:r>
              <a:rPr lang="en-US" sz="1200" dirty="0">
                <a:solidFill>
                  <a:srgbClr val="45515E"/>
                </a:solidFill>
                <a:latin typeface="에이투지체 5 Medium"/>
                <a:ea typeface="에이투지체 5 Medium"/>
                <a:cs typeface="에이투지체 5 Medium"/>
              </a:rPr>
              <a:t>· 2025.02: 28일 · 평일 공휴일 0일 · 명절 0일</a:t>
            </a:r>
            <a:endParaRPr lang="en-US" sz="1200" dirty="0"/>
          </a:p>
        </p:txBody>
      </p:sp>
      <p:sp>
        <p:nvSpPr>
          <p:cNvPr id="12" name="Shape 9"/>
          <p:cNvSpPr/>
          <p:nvPr/>
        </p:nvSpPr>
        <p:spPr>
          <a:xfrm>
            <a:off x="4663440" y="1993392"/>
            <a:ext cx="7071055"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13" name="Chart 0"/>
          <p:cNvGraphicFramePr/>
          <p:nvPr/>
        </p:nvGraphicFramePr>
        <p:xfrm>
          <a:off x="4754880" y="2066544"/>
          <a:ext cx="6888175"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457200" y="5641848"/>
            <a:ext cx="11277295" cy="548640"/>
          </a:xfrm>
          <a:prstGeom prst="roundRect">
            <a:avLst>
              <a:gd name="adj" fmla="val 23333"/>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15" name="Text 11"/>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FFFFFF"/>
                </a:solidFill>
                <a:latin typeface="에이투지체 5 Medium"/>
                <a:ea typeface="에이투지체 5 Medium"/>
                <a:cs typeface="에이투지체 5 Medium"/>
              </a:rPr>
              <a:t>달력</a:t>
            </a:r>
            <a:r>
              <a:rPr lang="en-US" sz="1400" dirty="0" smtClean="0">
                <a:solidFill>
                  <a:srgbClr val="FFFFFF"/>
                </a:solidFill>
                <a:latin typeface="에이투지체 5 Medium"/>
                <a:ea typeface="에이투지체 5 Medium"/>
                <a:cs typeface="에이투지체 5 Medium"/>
              </a:rPr>
              <a:t> </a:t>
            </a:r>
            <a:r>
              <a:rPr lang="en-US" sz="1400" dirty="0">
                <a:solidFill>
                  <a:srgbClr val="FFFFFF"/>
                </a:solidFill>
                <a:latin typeface="에이투지체 5 Medium"/>
                <a:ea typeface="에이투지체 5 Medium"/>
                <a:cs typeface="에이투지체 5 Medium"/>
              </a:rPr>
              <a:t>특성 채택 (기본 대비 +0.73%p), 검증 데이터 기준 결정 · 평가 데이터 미사용</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비교 모델 구성</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선형 · 트리 · 부스팅 · 신경망 6종 + 이송 건수 앙상블</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24</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(0-1 모델 설정)</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993392"/>
          <a:ext cx="11277295" cy="4160520"/>
        </p:xfrm>
        <a:graphic>
          <a:graphicData uri="http://schemas.openxmlformats.org/drawingml/2006/table">
            <a:tbl>
              <a:tblPr/>
              <a:tblGrid>
                <a:gridCol w="256032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224735">
                  <a:extLst>
                    <a:ext uri="{9D8B030D-6E8A-4147-A177-3AD203B41FA5}">
                      <a16:colId xmlns:a16="http://schemas.microsoft.com/office/drawing/2014/main" val="20003"/>
                    </a:ext>
                  </a:extLst>
                </a:gridCol>
              </a:tblGrid>
              <a:tr h="384048">
                <a:tc>
                  <a:txBody>
                    <a:bodyPr/>
                    <a:lstStyle/>
                    <a:p>
                      <a:pPr marL="0" indent="0" algn="ctr">
                        <a:buNone/>
                      </a:pPr>
                      <a:r>
                        <a:rPr lang="en-US" sz="1200" dirty="0">
                          <a:solidFill>
                            <a:srgbClr val="222222"/>
                          </a:solidFill>
                          <a:latin typeface="에이투지체 5 Medium"/>
                          <a:ea typeface="에이투지체 5 Medium"/>
                          <a:cs typeface="에이투지체 5 Medium"/>
                        </a:rPr>
                        <a:t>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예측 방식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222222"/>
                          </a:solidFill>
                          <a:latin typeface="에이투지체 5 Medium"/>
                          <a:ea typeface="에이투지체 5 Medium"/>
                          <a:cs typeface="에이투지체 5 Medium"/>
                        </a:rPr>
                        <a:t>특징</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tc>
                  <a:txBody>
                    <a:bodyPr/>
                    <a:lstStyle/>
                    <a:p>
                      <a:pPr marL="0" indent="0" algn="ctr">
                        <a:buNone/>
                      </a:pPr>
                      <a:r>
                        <a:rPr lang="en-US" sz="1200" dirty="0">
                          <a:solidFill>
                            <a:srgbClr val="D62828"/>
                          </a:solidFill>
                          <a:latin typeface="에이투지체 5 Medium"/>
                          <a:ea typeface="에이투지체 5 Medium"/>
                          <a:cs typeface="에이투지체 5 Medium"/>
                        </a:rPr>
                        <a:t>적용</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0" cap="flat" cmpd="sng" algn="ctr">
                      <a:noFill/>
                    </a:lnT>
                    <a:lnB w="9525" cap="flat" cmpd="sng" algn="ctr">
                      <a:solidFill>
                        <a:srgbClr val="E5E7EB"/>
                      </a:solidFill>
                      <a:prstDash val="solid"/>
                      <a:round/>
                      <a:headEnd type="none" w="med" len="med"/>
                      <a:tailEnd type="none" w="med" len="med"/>
                    </a:lnB>
                    <a:solidFill>
                      <a:srgbClr val="F2F3F5"/>
                    </a:solidFill>
                  </a:tcPr>
                </a:tc>
                <a:extLst>
                  <a:ext uri="{0D108BD9-81ED-4DB2-BD59-A6C34878D82A}">
                    <a16:rowId xmlns:a16="http://schemas.microsoft.com/office/drawing/2014/main" val="10000"/>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Linear Regression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입력과 정답의 직선 관계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비교 기준 모델</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직선 관계 + 계수 크기 규제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과적합 억제</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Decision Tree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조건 분기 반복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해석 용이</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Random Forest</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다수 트리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예측 안정성</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Gradient Boosting</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이전 트리 오차를 다음 트리가 보완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높은 정확도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DNN</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다층 인공 신경망</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복잡한 관계 학습</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 · 인구</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AFAFA"/>
                    </a:solidFill>
                  </a:tcPr>
                </a:tc>
                <a:extLst>
                  <a:ext uri="{0D108BD9-81ED-4DB2-BD59-A6C34878D82A}">
                    <a16:rowId xmlns:a16="http://schemas.microsoft.com/office/drawing/2014/main" val="10006"/>
                  </a:ext>
                </a:extLst>
              </a:tr>
              <a:tr h="539496">
                <a:tc>
                  <a:txBody>
                    <a:bodyPr/>
                    <a:lstStyle/>
                    <a:p>
                      <a:pPr marL="0" indent="0" algn="l">
                        <a:buNone/>
                      </a:pPr>
                      <a:r>
                        <a:rPr lang="en-US" sz="1200" b="1" dirty="0">
                          <a:solidFill>
                            <a:srgbClr val="222222"/>
                          </a:solidFill>
                          <a:latin typeface="에이투지체 5 Medium"/>
                          <a:ea typeface="에이투지체 5 Medium"/>
                          <a:cs typeface="에이투지체 5 Medium"/>
                        </a:rPr>
                        <a:t>앙상블 (GB + Ridge)</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Gradient Boosting · Ridge 예측 평균</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45515E"/>
                          </a:solidFill>
                          <a:latin typeface="에이투지체 5 Medium"/>
                          <a:ea typeface="에이투지체 5 Medium"/>
                          <a:cs typeface="에이투지체 5 Medium"/>
                        </a:rPr>
                        <a:t>서로 다른 오차 상쇄</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222222"/>
                          </a:solidFill>
                          <a:latin typeface="에이투지체 5 Medium"/>
                          <a:ea typeface="에이투지체 5 Medium"/>
                          <a:cs typeface="에이투지체 5 Medium"/>
                        </a:rPr>
                        <a:t>이송</a:t>
                      </a:r>
                      <a:endParaRPr lang="en-US" sz="1200" dirty="0">
                        <a:latin typeface="에이투지체 5 Medium"/>
                        <a:ea typeface="에이투지체 5 Medium"/>
                        <a:cs typeface="에이투지체 5 Medium"/>
                      </a:endParaRPr>
                    </a:p>
                  </a:txBody>
                  <a:tcPr marL="155448" marR="155448" marT="0" marB="0"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이송 건수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6개월 정확도 1위 앙상블 선정, 평가 정확도 94.6%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25</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(4-2 · 4-2-2)</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1" name="Text 7"/>
          <p:cNvSpPr txBox="1"/>
          <p:nvPr/>
        </p:nvSpPr>
        <p:spPr>
          <a:xfrm>
            <a:off x="8083296" y="2157984"/>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앙상블 구성</a:t>
            </a:r>
            <a:endParaRPr lang="en-US" sz="1800" dirty="0"/>
          </a:p>
        </p:txBody>
      </p:sp>
      <p:sp>
        <p:nvSpPr>
          <p:cNvPr id="12" name="Shape 8"/>
          <p:cNvSpPr/>
          <p:nvPr/>
        </p:nvSpPr>
        <p:spPr>
          <a:xfrm>
            <a:off x="8083296" y="2560320"/>
            <a:ext cx="3429000" cy="0"/>
          </a:xfrm>
          <a:prstGeom prst="line">
            <a:avLst/>
          </a:prstGeom>
          <a:noFill/>
          <a:ln w="9525">
            <a:solidFill>
              <a:srgbClr val="E5E7EB"/>
            </a:solidFill>
            <a:prstDash val="solid"/>
          </a:ln>
        </p:spPr>
      </p:sp>
      <p:sp>
        <p:nvSpPr>
          <p:cNvPr id="13" name="Shape 9"/>
          <p:cNvSpPr/>
          <p:nvPr/>
        </p:nvSpPr>
        <p:spPr>
          <a:xfrm>
            <a:off x="8083296" y="2743200"/>
            <a:ext cx="1645920" cy="329184"/>
          </a:xfrm>
          <a:prstGeom prst="roundRect">
            <a:avLst>
              <a:gd name="adj" fmla="val 50000"/>
            </a:avLst>
          </a:prstGeom>
          <a:solidFill>
            <a:srgbClr val="F2F3F5"/>
          </a:solidFill>
          <a:ln w="12700">
            <a:solidFill>
              <a:srgbClr val="F2F3F5"/>
            </a:solidFill>
            <a:prstDash val="solid"/>
          </a:ln>
        </p:spPr>
      </p:sp>
      <p:sp>
        <p:nvSpPr>
          <p:cNvPr id="14" name="Text 10"/>
          <p:cNvSpPr txBox="1"/>
          <p:nvPr/>
        </p:nvSpPr>
        <p:spPr>
          <a:xfrm>
            <a:off x="8083296" y="27432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Gradient Boosting</a:t>
            </a:r>
            <a:endParaRPr lang="en-US" sz="1050" dirty="0"/>
          </a:p>
        </p:txBody>
      </p:sp>
      <p:sp>
        <p:nvSpPr>
          <p:cNvPr id="15" name="Shape 11"/>
          <p:cNvSpPr/>
          <p:nvPr/>
        </p:nvSpPr>
        <p:spPr>
          <a:xfrm>
            <a:off x="8083296" y="3200400"/>
            <a:ext cx="1645920" cy="329184"/>
          </a:xfrm>
          <a:prstGeom prst="roundRect">
            <a:avLst>
              <a:gd name="adj" fmla="val 50000"/>
            </a:avLst>
          </a:prstGeom>
          <a:solidFill>
            <a:srgbClr val="F2F3F5"/>
          </a:solidFill>
          <a:ln w="12700">
            <a:solidFill>
              <a:srgbClr val="F2F3F5"/>
            </a:solidFill>
            <a:prstDash val="solid"/>
          </a:ln>
        </p:spPr>
      </p:sp>
      <p:sp>
        <p:nvSpPr>
          <p:cNvPr id="16" name="Text 12"/>
          <p:cNvSpPr txBox="1"/>
          <p:nvPr/>
        </p:nvSpPr>
        <p:spPr>
          <a:xfrm>
            <a:off x="8083296" y="3200400"/>
            <a:ext cx="1645920" cy="329184"/>
          </a:xfrm>
          <a:prstGeom prst="rect">
            <a:avLst/>
          </a:prstGeom>
          <a:noFill/>
          <a:ln/>
        </p:spPr>
        <p:txBody>
          <a:bodyPr wrap="square" lIns="0" tIns="0" rIns="0" bIns="0" rtlCol="0" anchor="ctr"/>
          <a:lstStyle/>
          <a:p>
            <a:pPr marL="0" indent="0" algn="ctr">
              <a:buNone/>
            </a:pPr>
            <a:r>
              <a:rPr lang="en-US" sz="1050" b="1" dirty="0">
                <a:solidFill>
                  <a:srgbClr val="45515E"/>
                </a:solidFill>
                <a:latin typeface="에이투지체 5 Medium"/>
                <a:ea typeface="에이투지체 5 Medium"/>
                <a:cs typeface="에이투지체 5 Medium"/>
              </a:rPr>
              <a:t>Ridge</a:t>
            </a:r>
            <a:endParaRPr lang="en-US" sz="1050" dirty="0"/>
          </a:p>
        </p:txBody>
      </p:sp>
      <p:sp>
        <p:nvSpPr>
          <p:cNvPr id="17" name="Shape 13"/>
          <p:cNvSpPr/>
          <p:nvPr/>
        </p:nvSpPr>
        <p:spPr>
          <a:xfrm>
            <a:off x="9784080" y="3136392"/>
            <a:ext cx="320040" cy="0"/>
          </a:xfrm>
          <a:prstGeom prst="line">
            <a:avLst/>
          </a:prstGeom>
          <a:noFill/>
          <a:ln w="15875">
            <a:solidFill>
              <a:srgbClr val="D62828"/>
            </a:solidFill>
            <a:prstDash val="solid"/>
            <a:tailEnd type="triangle"/>
          </a:ln>
        </p:spPr>
      </p:sp>
      <p:sp>
        <p:nvSpPr>
          <p:cNvPr id="18" name="Shape 14"/>
          <p:cNvSpPr/>
          <p:nvPr/>
        </p:nvSpPr>
        <p:spPr>
          <a:xfrm>
            <a:off x="10149840" y="2944368"/>
            <a:ext cx="1362456" cy="384048"/>
          </a:xfrm>
          <a:prstGeom prst="roundRect">
            <a:avLst>
              <a:gd name="adj" fmla="val 50000"/>
            </a:avLst>
          </a:prstGeom>
          <a:solidFill>
            <a:srgbClr val="D62828"/>
          </a:solidFill>
          <a:ln w="12700">
            <a:solidFill>
              <a:srgbClr val="D62828"/>
            </a:solidFill>
            <a:prstDash val="solid"/>
          </a:ln>
        </p:spPr>
      </p:sp>
      <p:sp>
        <p:nvSpPr>
          <p:cNvPr id="19" name="Text 15"/>
          <p:cNvSpPr txBox="1"/>
          <p:nvPr/>
        </p:nvSpPr>
        <p:spPr>
          <a:xfrm>
            <a:off x="10149840" y="2944368"/>
            <a:ext cx="1362456"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에이투지체 5 Medium"/>
                <a:ea typeface="에이투지체 5 Medium"/>
                <a:cs typeface="에이투지체 5 Medium"/>
              </a:rPr>
              <a:t>예측 평균</a:t>
            </a:r>
            <a:endParaRPr lang="en-US" sz="1050" dirty="0"/>
          </a:p>
        </p:txBody>
      </p:sp>
      <p:sp>
        <p:nvSpPr>
          <p:cNvPr id="20" name="Text 16"/>
          <p:cNvSpPr txBox="1"/>
          <p:nvPr/>
        </p:nvSpPr>
        <p:spPr>
          <a:xfrm>
            <a:off x="8083296" y="3685032"/>
            <a:ext cx="3429000" cy="320040"/>
          </a:xfrm>
          <a:prstGeom prst="rect">
            <a:avLst/>
          </a:prstGeom>
          <a:noFill/>
          <a:ln/>
        </p:spPr>
        <p:txBody>
          <a:bodyPr wrap="square" lIns="0" tIns="0" rIns="0" bIns="0" rtlCol="0" anchor="ctr"/>
          <a:lstStyle/>
          <a:p>
            <a:pPr marL="0" indent="0" algn="ctr">
              <a:buNone/>
            </a:pPr>
            <a:r>
              <a:rPr lang="en-US" sz="1050" dirty="0">
                <a:solidFill>
                  <a:srgbClr val="45515E"/>
                </a:solidFill>
                <a:latin typeface="에이투지체 5 Medium"/>
                <a:ea typeface="에이투지체 5 Medium"/>
                <a:cs typeface="에이투지체 5 Medium"/>
              </a:rPr>
              <a:t>검증 오차 상관 0.500 · GB 대비 검증 +0.26%p</a:t>
            </a:r>
            <a:endParaRPr lang="en-US" sz="1050" dirty="0"/>
          </a:p>
        </p:txBody>
      </p:sp>
      <p:sp>
        <p:nvSpPr>
          <p:cNvPr id="21" name="Shape 17"/>
          <p:cNvSpPr/>
          <p:nvPr/>
        </p:nvSpPr>
        <p:spPr>
          <a:xfrm>
            <a:off x="7863840" y="4361688"/>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22" name="Text 18"/>
          <p:cNvSpPr txBox="1"/>
          <p:nvPr/>
        </p:nvSpPr>
        <p:spPr>
          <a:xfrm>
            <a:off x="8083296" y="4544568"/>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3" name="Text 19"/>
          <p:cNvSpPr txBox="1"/>
          <p:nvPr/>
        </p:nvSpPr>
        <p:spPr>
          <a:xfrm>
            <a:off x="8083296" y="5148072"/>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6개월 정확도</a:t>
            </a:r>
            <a:endParaRPr lang="en-US" sz="1400" dirty="0"/>
          </a:p>
        </p:txBody>
      </p:sp>
      <p:sp>
        <p:nvSpPr>
          <p:cNvPr id="24" name="Shape 20"/>
          <p:cNvSpPr/>
          <p:nvPr/>
        </p:nvSpPr>
        <p:spPr>
          <a:xfrm>
            <a:off x="8083296" y="5550408"/>
            <a:ext cx="3431743" cy="0"/>
          </a:xfrm>
          <a:prstGeom prst="line">
            <a:avLst/>
          </a:prstGeom>
          <a:noFill/>
          <a:ln w="9525">
            <a:solidFill>
              <a:srgbClr val="E87A7A"/>
            </a:solidFill>
            <a:prstDash val="solid"/>
          </a:ln>
        </p:spPr>
      </p:sp>
      <p:sp>
        <p:nvSpPr>
          <p:cNvPr id="25" name="Text 21"/>
          <p:cNvSpPr txBox="1"/>
          <p:nvPr/>
        </p:nvSpPr>
        <p:spPr>
          <a:xfrm>
            <a:off x="8083296" y="5660136"/>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기준선 93.25% 대비 우수</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인구 밀집 모델 성능 비교</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검증 정확도 1위 Random Forest 선정, 평가 정확도 98.2% 확인</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26</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(5-3 · 5-4)</a:t>
            </a:r>
            <a:endParaRPr lang="en-US" sz="900" dirty="0"/>
          </a:p>
        </p:txBody>
      </p:sp>
      <p:sp>
        <p:nvSpPr>
          <p:cNvPr id="8" name="Shape 5"/>
          <p:cNvSpPr/>
          <p:nvPr/>
        </p:nvSpPr>
        <p:spPr>
          <a:xfrm>
            <a:off x="457200" y="1993392"/>
            <a:ext cx="7223760" cy="4197096"/>
          </a:xfrm>
          <a:prstGeom prst="roundRect">
            <a:avLst>
              <a:gd name="adj" fmla="val 217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7040880" cy="405079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7863840" y="1993392"/>
            <a:ext cx="387065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11" name="Text 7"/>
          <p:cNvSpPr txBox="1"/>
          <p:nvPr/>
        </p:nvSpPr>
        <p:spPr>
          <a:xfrm>
            <a:off x="8083296" y="2176272"/>
            <a:ext cx="343174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98.2%</a:t>
            </a:r>
            <a:endParaRPr lang="en-US" sz="3600" dirty="0"/>
          </a:p>
        </p:txBody>
      </p:sp>
      <p:sp>
        <p:nvSpPr>
          <p:cNvPr id="12" name="Text 8"/>
          <p:cNvSpPr txBox="1"/>
          <p:nvPr/>
        </p:nvSpPr>
        <p:spPr>
          <a:xfrm>
            <a:off x="8083296" y="2779776"/>
            <a:ext cx="343174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평가 정확도</a:t>
            </a:r>
            <a:endParaRPr lang="en-US" sz="1400" dirty="0"/>
          </a:p>
        </p:txBody>
      </p:sp>
      <p:sp>
        <p:nvSpPr>
          <p:cNvPr id="13" name="Shape 9"/>
          <p:cNvSpPr/>
          <p:nvPr/>
        </p:nvSpPr>
        <p:spPr>
          <a:xfrm>
            <a:off x="8083296" y="3182112"/>
            <a:ext cx="3431743" cy="0"/>
          </a:xfrm>
          <a:prstGeom prst="line">
            <a:avLst/>
          </a:prstGeom>
          <a:noFill/>
          <a:ln w="9525">
            <a:solidFill>
              <a:srgbClr val="E87A7A"/>
            </a:solidFill>
            <a:prstDash val="solid"/>
          </a:ln>
        </p:spPr>
      </p:sp>
      <p:sp>
        <p:nvSpPr>
          <p:cNvPr id="14" name="Text 10"/>
          <p:cNvSpPr txBox="1"/>
          <p:nvPr/>
        </p:nvSpPr>
        <p:spPr>
          <a:xfrm>
            <a:off x="8083296" y="3291840"/>
            <a:ext cx="343174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검증 98.59% → 평가 98.16%</a:t>
            </a:r>
            <a:endParaRPr lang="en-US" sz="1100" dirty="0"/>
          </a:p>
          <a:p>
            <a:pPr marL="0" indent="0" algn="ctr">
              <a:lnSpc>
                <a:spcPct val="120000"/>
              </a:lnSpc>
              <a:buNone/>
            </a:pPr>
            <a:r>
              <a:rPr lang="en-US" sz="1100" dirty="0">
                <a:solidFill>
                  <a:srgbClr val="FDE3E3"/>
                </a:solidFill>
                <a:latin typeface="에이투지체 5 Medium"/>
                <a:ea typeface="에이투지체 5 Medium"/>
                <a:cs typeface="에이투지체 5 Medium"/>
              </a:rPr>
              <a:t>평가에서도 1위 유지</a:t>
            </a:r>
            <a:endParaRPr lang="en-US" sz="1100" dirty="0"/>
          </a:p>
        </p:txBody>
      </p:sp>
      <p:sp>
        <p:nvSpPr>
          <p:cNvPr id="15" name="Shape 11"/>
          <p:cNvSpPr/>
          <p:nvPr/>
        </p:nvSpPr>
        <p:spPr>
          <a:xfrm>
            <a:off x="7863840" y="4005072"/>
            <a:ext cx="3870655"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6" name="Text 12"/>
          <p:cNvSpPr txBox="1"/>
          <p:nvPr/>
        </p:nvSpPr>
        <p:spPr>
          <a:xfrm>
            <a:off x="8083296" y="4169664"/>
            <a:ext cx="3429000"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일평균 오차 인원 (평가)</a:t>
            </a:r>
            <a:endParaRPr lang="en-US" sz="1800" dirty="0"/>
          </a:p>
        </p:txBody>
      </p:sp>
      <p:sp>
        <p:nvSpPr>
          <p:cNvPr id="17" name="Shape 13"/>
          <p:cNvSpPr/>
          <p:nvPr/>
        </p:nvSpPr>
        <p:spPr>
          <a:xfrm>
            <a:off x="8083296" y="4572000"/>
            <a:ext cx="3429000" cy="0"/>
          </a:xfrm>
          <a:prstGeom prst="line">
            <a:avLst/>
          </a:prstGeom>
          <a:noFill/>
          <a:ln w="9525">
            <a:solidFill>
              <a:srgbClr val="E5E7EB"/>
            </a:solidFill>
            <a:prstDash val="solid"/>
          </a:ln>
        </p:spPr>
      </p:sp>
      <p:sp>
        <p:nvSpPr>
          <p:cNvPr id="18" name="Text 14"/>
          <p:cNvSpPr txBox="1"/>
          <p:nvPr/>
        </p:nvSpPr>
        <p:spPr>
          <a:xfrm>
            <a:off x="8083296" y="4681728"/>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Random Forest</a:t>
            </a:r>
            <a:endParaRPr lang="en-US" sz="1200" dirty="0"/>
          </a:p>
        </p:txBody>
      </p:sp>
      <p:sp>
        <p:nvSpPr>
          <p:cNvPr id="19" name="Text 15"/>
          <p:cNvSpPr txBox="1"/>
          <p:nvPr/>
        </p:nvSpPr>
        <p:spPr>
          <a:xfrm>
            <a:off x="9875520" y="4681728"/>
            <a:ext cx="1636776" cy="411480"/>
          </a:xfrm>
          <a:prstGeom prst="rect">
            <a:avLst/>
          </a:prstGeom>
          <a:noFill/>
          <a:ln/>
        </p:spPr>
        <p:txBody>
          <a:bodyPr wrap="square" lIns="0" tIns="0" rIns="0" bIns="0" rtlCol="0" anchor="ctr"/>
          <a:lstStyle/>
          <a:p>
            <a:pPr marL="0" indent="0" algn="r">
              <a:buNone/>
            </a:pPr>
            <a:r>
              <a:rPr lang="en-US" sz="2000" dirty="0">
                <a:solidFill>
                  <a:srgbClr val="D62828"/>
                </a:solidFill>
                <a:latin typeface="에이투지체 5 Medium"/>
                <a:ea typeface="에이투지체 5 Medium"/>
                <a:cs typeface="에이투지체 5 Medium"/>
              </a:rPr>
              <a:t>8,836명</a:t>
            </a:r>
            <a:endParaRPr lang="en-US" sz="2000" dirty="0"/>
          </a:p>
        </p:txBody>
      </p:sp>
      <p:sp>
        <p:nvSpPr>
          <p:cNvPr id="20" name="Text 16"/>
          <p:cNvSpPr txBox="1"/>
          <p:nvPr/>
        </p:nvSpPr>
        <p:spPr>
          <a:xfrm>
            <a:off x="8083296" y="5138928"/>
            <a:ext cx="1828800" cy="411480"/>
          </a:xfrm>
          <a:prstGeom prst="rect">
            <a:avLst/>
          </a:prstGeom>
          <a:noFill/>
          <a:ln/>
        </p:spPr>
        <p:txBody>
          <a:bodyPr wrap="square" lIns="0" tIns="0" rIns="0" bIns="0" rtlCol="0" anchor="ctr"/>
          <a:lstStyle/>
          <a:p>
            <a:pPr marL="0" indent="0">
              <a:buNone/>
            </a:pPr>
            <a:r>
              <a:rPr lang="en-US" sz="1200" dirty="0">
                <a:solidFill>
                  <a:srgbClr val="45515E"/>
                </a:solidFill>
                <a:latin typeface="에이투지체 5 Medium"/>
                <a:ea typeface="에이투지체 5 Medium"/>
                <a:cs typeface="에이투지체 5 Medium"/>
              </a:rPr>
              <a:t>기준선 (7일 전 값)</a:t>
            </a:r>
            <a:endParaRPr lang="en-US" sz="1200" dirty="0"/>
          </a:p>
        </p:txBody>
      </p:sp>
      <p:sp>
        <p:nvSpPr>
          <p:cNvPr id="21" name="Text 17"/>
          <p:cNvSpPr txBox="1"/>
          <p:nvPr/>
        </p:nvSpPr>
        <p:spPr>
          <a:xfrm>
            <a:off x="9875520" y="5138928"/>
            <a:ext cx="1636776" cy="411480"/>
          </a:xfrm>
          <a:prstGeom prst="rect">
            <a:avLst/>
          </a:prstGeom>
          <a:noFill/>
          <a:ln/>
        </p:spPr>
        <p:txBody>
          <a:bodyPr wrap="square" lIns="0" tIns="0" rIns="0" bIns="0" rtlCol="0" anchor="ctr"/>
          <a:lstStyle/>
          <a:p>
            <a:pPr marL="0" indent="0" algn="r">
              <a:buNone/>
            </a:pPr>
            <a:r>
              <a:rPr lang="en-US" sz="2000" dirty="0">
                <a:solidFill>
                  <a:srgbClr val="8E8E93"/>
                </a:solidFill>
                <a:latin typeface="에이투지체 5 Medium"/>
                <a:ea typeface="에이투지체 5 Medium"/>
                <a:cs typeface="에이투지체 5 Medium"/>
              </a:rPr>
              <a:t>12,015명</a:t>
            </a:r>
            <a:endParaRPr lang="en-US" sz="2000" dirty="0"/>
          </a:p>
        </p:txBody>
      </p:sp>
      <p:sp>
        <p:nvSpPr>
          <p:cNvPr id="22" name="Text 18"/>
          <p:cNvSpPr txBox="1"/>
          <p:nvPr/>
        </p:nvSpPr>
        <p:spPr>
          <a:xfrm>
            <a:off x="8083296" y="5669280"/>
            <a:ext cx="3429000" cy="320040"/>
          </a:xfrm>
          <a:prstGeom prst="rect">
            <a:avLst/>
          </a:prstGeom>
          <a:noFill/>
          <a:ln/>
        </p:spPr>
        <p:txBody>
          <a:bodyPr wrap="square" lIns="0" tIns="0" rIns="0" bIns="0" rtlCol="0" anchor="ctr"/>
          <a:lstStyle/>
          <a:p>
            <a:pPr marL="0" indent="0" algn="ctr">
              <a:buNone/>
            </a:pPr>
            <a:r>
              <a:rPr lang="en-US" sz="1000" dirty="0">
                <a:solidFill>
                  <a:srgbClr val="45515E"/>
                </a:solidFill>
                <a:latin typeface="에이투지체 5 Medium"/>
                <a:ea typeface="에이투지체 5 Medium"/>
                <a:cs typeface="에이투지체 5 Medium"/>
              </a:rPr>
              <a:t>명절 연휴 부근 오차 최대 (2025.10.06 · 2026.02.16)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특성 중요도</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직전 시점의 동일 값이 예측 주도 (중요도 합계 1)</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27</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(4-5 · 5-5)</a:t>
            </a:r>
            <a:endParaRPr lang="en-US" sz="900" dirty="0"/>
          </a:p>
        </p:txBody>
      </p:sp>
      <p:sp>
        <p:nvSpPr>
          <p:cNvPr id="8" name="Shape 5"/>
          <p:cNvSpPr/>
          <p:nvPr/>
        </p:nvSpPr>
        <p:spPr>
          <a:xfrm>
            <a:off x="457200"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9" name="Chart 0"/>
          <p:cNvGraphicFramePr/>
          <p:nvPr/>
        </p:nvGraphicFramePr>
        <p:xfrm>
          <a:off x="548640" y="2066544"/>
          <a:ext cx="5364328" cy="331927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187288" y="1993392"/>
            <a:ext cx="5547208" cy="3465576"/>
          </a:xfrm>
          <a:prstGeom prst="roundRect">
            <a:avLst>
              <a:gd name="adj" fmla="val 263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11" name="Chart 1"/>
          <p:cNvGraphicFramePr/>
          <p:nvPr/>
        </p:nvGraphicFramePr>
        <p:xfrm>
          <a:off x="6278728" y="2066544"/>
          <a:ext cx="5364328" cy="3319272"/>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7"/>
          <p:cNvSpPr/>
          <p:nvPr/>
        </p:nvSpPr>
        <p:spPr>
          <a:xfrm>
            <a:off x="457200" y="5641848"/>
            <a:ext cx="11277295" cy="548640"/>
          </a:xfrm>
          <a:prstGeom prst="roundRect">
            <a:avLst>
              <a:gd name="adj" fmla="val 16667"/>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3" name="Text 8"/>
          <p:cNvSpPr txBox="1"/>
          <p:nvPr/>
        </p:nvSpPr>
        <p:spPr>
          <a:xfrm>
            <a:off x="640080" y="5641848"/>
            <a:ext cx="10908792" cy="548640"/>
          </a:xfrm>
          <a:prstGeom prst="rect">
            <a:avLst/>
          </a:prstGeom>
          <a:noFill/>
          <a:ln/>
        </p:spPr>
        <p:txBody>
          <a:bodyPr wrap="square" lIns="0" tIns="0" rIns="0" bIns="0" rtlCol="0" anchor="ctr"/>
          <a:lstStyle/>
          <a:p>
            <a:pPr marL="0" indent="0" algn="ctr">
              <a:buNone/>
            </a:pPr>
            <a:r>
              <a:rPr lang="en-US" sz="1400" dirty="0" err="1" smtClean="0">
                <a:solidFill>
                  <a:srgbClr val="222222"/>
                </a:solidFill>
                <a:latin typeface="에이투지체 5 Medium"/>
                <a:ea typeface="에이투지체 5 Medium"/>
                <a:cs typeface="에이투지체 5 Medium"/>
              </a:rPr>
              <a:t>전월</a:t>
            </a:r>
            <a:r>
              <a:rPr lang="en-US" sz="1400" dirty="0" smtClean="0">
                <a:solidFill>
                  <a:srgbClr val="222222"/>
                </a:solidFill>
                <a:latin typeface="에이투지체 5 Medium"/>
                <a:ea typeface="에이투지체 5 Medium"/>
                <a:cs typeface="에이투지체 5 Medium"/>
              </a:rPr>
              <a:t> </a:t>
            </a:r>
            <a:r>
              <a:rPr lang="en-US" sz="1400" dirty="0">
                <a:solidFill>
                  <a:srgbClr val="222222"/>
                </a:solidFill>
                <a:latin typeface="에이투지체 5 Medium"/>
                <a:ea typeface="에이투지체 5 Medium"/>
                <a:cs typeface="에이투지체 5 Medium"/>
              </a:rPr>
              <a:t>· 7일 전 값이 핵심 단서, 생활인구(합 0.015) · 달력(합 0.034) 특성은 보정 역할</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04  모델 개발</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최종 모델 재학습 및 미래 예측</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전체 데이터 재학습 · 저장 후 2026년 1~6월 구별 이송 건수 예측</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28</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03_119_통합_예측_1.ipynb (4-6 · 5-5, 예측표 25개 구 합산)</a:t>
            </a:r>
            <a:endParaRPr lang="en-US" sz="900" dirty="0"/>
          </a:p>
        </p:txBody>
      </p:sp>
      <p:sp>
        <p:nvSpPr>
          <p:cNvPr id="8" name="Text 5"/>
          <p:cNvSpPr txBox="1"/>
          <p:nvPr/>
        </p:nvSpPr>
        <p:spPr>
          <a:xfrm>
            <a:off x="2057400" y="1993392"/>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모델 선정</a:t>
            </a:r>
            <a:endParaRPr lang="en-US" sz="1100" dirty="0"/>
          </a:p>
        </p:txBody>
      </p:sp>
      <p:sp>
        <p:nvSpPr>
          <p:cNvPr id="9" name="Text 6"/>
          <p:cNvSpPr txBox="1"/>
          <p:nvPr/>
        </p:nvSpPr>
        <p:spPr>
          <a:xfrm>
            <a:off x="4029395" y="1993392"/>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평가 확인</a:t>
            </a:r>
            <a:endParaRPr lang="en-US" sz="1100" dirty="0"/>
          </a:p>
        </p:txBody>
      </p:sp>
      <p:sp>
        <p:nvSpPr>
          <p:cNvPr id="10" name="Text 7"/>
          <p:cNvSpPr txBox="1"/>
          <p:nvPr/>
        </p:nvSpPr>
        <p:spPr>
          <a:xfrm>
            <a:off x="6001390" y="1993392"/>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전체 재학습</a:t>
            </a:r>
            <a:endParaRPr lang="en-US" sz="1100" dirty="0"/>
          </a:p>
        </p:txBody>
      </p:sp>
      <p:sp>
        <p:nvSpPr>
          <p:cNvPr id="11" name="Text 8"/>
          <p:cNvSpPr txBox="1"/>
          <p:nvPr/>
        </p:nvSpPr>
        <p:spPr>
          <a:xfrm>
            <a:off x="7973385" y="1993392"/>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저장 · 검증</a:t>
            </a:r>
            <a:endParaRPr lang="en-US" sz="1100" dirty="0"/>
          </a:p>
        </p:txBody>
      </p:sp>
      <p:sp>
        <p:nvSpPr>
          <p:cNvPr id="12" name="Text 9"/>
          <p:cNvSpPr txBox="1"/>
          <p:nvPr/>
        </p:nvSpPr>
        <p:spPr>
          <a:xfrm>
            <a:off x="9945380" y="1993392"/>
            <a:ext cx="1789115" cy="274320"/>
          </a:xfrm>
          <a:prstGeom prst="rect">
            <a:avLst/>
          </a:prstGeom>
          <a:noFill/>
          <a:ln/>
        </p:spPr>
        <p:txBody>
          <a:bodyPr wrap="square" lIns="0" tIns="0" rIns="0" bIns="0" rtlCol="0" anchor="ctr"/>
          <a:lstStyle/>
          <a:p>
            <a:pPr marL="0" indent="0" algn="ctr">
              <a:buNone/>
            </a:pPr>
            <a:r>
              <a:rPr lang="en-US" sz="1100" b="1" dirty="0">
                <a:solidFill>
                  <a:srgbClr val="8E8E93"/>
                </a:solidFill>
                <a:latin typeface="에이투지체 5 Medium"/>
                <a:ea typeface="에이투지체 5 Medium"/>
                <a:cs typeface="에이투지체 5 Medium"/>
              </a:rPr>
              <a:t>미래 예측</a:t>
            </a:r>
            <a:endParaRPr lang="en-US" sz="1100" dirty="0"/>
          </a:p>
        </p:txBody>
      </p:sp>
      <p:sp>
        <p:nvSpPr>
          <p:cNvPr id="13" name="Text 10"/>
          <p:cNvSpPr txBox="1"/>
          <p:nvPr/>
        </p:nvSpPr>
        <p:spPr>
          <a:xfrm>
            <a:off x="457200" y="2331720"/>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119 이송 건수</a:t>
            </a:r>
            <a:endParaRPr lang="en-US" sz="1400" dirty="0"/>
          </a:p>
        </p:txBody>
      </p:sp>
      <p:sp>
        <p:nvSpPr>
          <p:cNvPr id="14" name="Shape 11"/>
          <p:cNvSpPr/>
          <p:nvPr/>
        </p:nvSpPr>
        <p:spPr>
          <a:xfrm>
            <a:off x="2057400" y="233172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5" name="Text 12"/>
          <p:cNvSpPr txBox="1"/>
          <p:nvPr/>
        </p:nvSpPr>
        <p:spPr>
          <a:xfrm>
            <a:off x="2130552" y="2331720"/>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앙상블 (GB+Ridge)</a:t>
            </a:r>
            <a:endParaRPr lang="en-US" sz="1200" dirty="0"/>
          </a:p>
        </p:txBody>
      </p:sp>
      <p:sp>
        <p:nvSpPr>
          <p:cNvPr id="16" name="Shape 13"/>
          <p:cNvSpPr/>
          <p:nvPr/>
        </p:nvSpPr>
        <p:spPr>
          <a:xfrm>
            <a:off x="3864803" y="2615184"/>
            <a:ext cx="146304" cy="0"/>
          </a:xfrm>
          <a:prstGeom prst="line">
            <a:avLst/>
          </a:prstGeom>
          <a:noFill/>
          <a:ln w="15875">
            <a:solidFill>
              <a:srgbClr val="8E8E93"/>
            </a:solidFill>
            <a:prstDash val="solid"/>
            <a:tailEnd type="triangle"/>
          </a:ln>
        </p:spPr>
      </p:sp>
      <p:sp>
        <p:nvSpPr>
          <p:cNvPr id="17" name="Shape 14"/>
          <p:cNvSpPr/>
          <p:nvPr/>
        </p:nvSpPr>
        <p:spPr>
          <a:xfrm>
            <a:off x="4029395" y="233172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8" name="Text 15"/>
          <p:cNvSpPr txBox="1"/>
          <p:nvPr/>
        </p:nvSpPr>
        <p:spPr>
          <a:xfrm>
            <a:off x="4102547" y="2331720"/>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94.6%</a:t>
            </a:r>
            <a:endParaRPr lang="en-US" sz="1200" dirty="0"/>
          </a:p>
        </p:txBody>
      </p:sp>
      <p:sp>
        <p:nvSpPr>
          <p:cNvPr id="19" name="Shape 16"/>
          <p:cNvSpPr/>
          <p:nvPr/>
        </p:nvSpPr>
        <p:spPr>
          <a:xfrm>
            <a:off x="5836798" y="2615184"/>
            <a:ext cx="146304" cy="0"/>
          </a:xfrm>
          <a:prstGeom prst="line">
            <a:avLst/>
          </a:prstGeom>
          <a:noFill/>
          <a:ln w="15875">
            <a:solidFill>
              <a:srgbClr val="8E8E93"/>
            </a:solidFill>
            <a:prstDash val="solid"/>
            <a:tailEnd type="triangle"/>
          </a:ln>
        </p:spPr>
      </p:sp>
      <p:sp>
        <p:nvSpPr>
          <p:cNvPr id="20" name="Shape 17"/>
          <p:cNvSpPr/>
          <p:nvPr/>
        </p:nvSpPr>
        <p:spPr>
          <a:xfrm>
            <a:off x="6001390" y="233172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1" name="Text 18"/>
          <p:cNvSpPr txBox="1"/>
          <p:nvPr/>
        </p:nvSpPr>
        <p:spPr>
          <a:xfrm>
            <a:off x="6074542" y="2331720"/>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2,180행</a:t>
            </a:r>
            <a:endParaRPr lang="en-US" sz="1200" dirty="0"/>
          </a:p>
        </p:txBody>
      </p:sp>
      <p:sp>
        <p:nvSpPr>
          <p:cNvPr id="22" name="Shape 19"/>
          <p:cNvSpPr/>
          <p:nvPr/>
        </p:nvSpPr>
        <p:spPr>
          <a:xfrm>
            <a:off x="7808793" y="2615184"/>
            <a:ext cx="146304" cy="0"/>
          </a:xfrm>
          <a:prstGeom prst="line">
            <a:avLst/>
          </a:prstGeom>
          <a:noFill/>
          <a:ln w="15875">
            <a:solidFill>
              <a:srgbClr val="8E8E93"/>
            </a:solidFill>
            <a:prstDash val="solid"/>
            <a:tailEnd type="triangle"/>
          </a:ln>
        </p:spPr>
      </p:sp>
      <p:sp>
        <p:nvSpPr>
          <p:cNvPr id="23" name="Shape 20"/>
          <p:cNvSpPr/>
          <p:nvPr/>
        </p:nvSpPr>
        <p:spPr>
          <a:xfrm>
            <a:off x="7973385" y="2331720"/>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8046537" y="2331720"/>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불러오기 일치</a:t>
            </a:r>
            <a:endParaRPr lang="en-US" sz="1200" dirty="0"/>
          </a:p>
        </p:txBody>
      </p:sp>
      <p:sp>
        <p:nvSpPr>
          <p:cNvPr id="25" name="Shape 22"/>
          <p:cNvSpPr/>
          <p:nvPr/>
        </p:nvSpPr>
        <p:spPr>
          <a:xfrm>
            <a:off x="9780788" y="2615184"/>
            <a:ext cx="146304" cy="0"/>
          </a:xfrm>
          <a:prstGeom prst="line">
            <a:avLst/>
          </a:prstGeom>
          <a:noFill/>
          <a:ln w="15875">
            <a:solidFill>
              <a:srgbClr val="8E8E93"/>
            </a:solidFill>
            <a:prstDash val="solid"/>
            <a:tailEnd type="triangle"/>
          </a:ln>
        </p:spPr>
      </p:sp>
      <p:sp>
        <p:nvSpPr>
          <p:cNvPr id="26" name="Shape 23"/>
          <p:cNvSpPr/>
          <p:nvPr/>
        </p:nvSpPr>
        <p:spPr>
          <a:xfrm>
            <a:off x="9945380" y="2331720"/>
            <a:ext cx="1789115" cy="566928"/>
          </a:xfrm>
          <a:prstGeom prst="roundRect">
            <a:avLst>
              <a:gd name="adj" fmla="val 22581"/>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27" name="Text 24"/>
          <p:cNvSpPr txBox="1"/>
          <p:nvPr/>
        </p:nvSpPr>
        <p:spPr>
          <a:xfrm>
            <a:off x="10018532" y="2331720"/>
            <a:ext cx="1642811"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에이투지체 5 Medium"/>
                <a:ea typeface="에이투지체 5 Medium"/>
                <a:cs typeface="에이투지체 5 Medium"/>
              </a:rPr>
              <a:t>2026.01~06 구별</a:t>
            </a:r>
            <a:endParaRPr lang="en-US" sz="1200" dirty="0"/>
          </a:p>
        </p:txBody>
      </p:sp>
      <p:sp>
        <p:nvSpPr>
          <p:cNvPr id="28" name="Text 25"/>
          <p:cNvSpPr txBox="1"/>
          <p:nvPr/>
        </p:nvSpPr>
        <p:spPr>
          <a:xfrm>
            <a:off x="457200" y="3044952"/>
            <a:ext cx="1600200" cy="566928"/>
          </a:xfrm>
          <a:prstGeom prst="rect">
            <a:avLst/>
          </a:prstGeom>
          <a:noFill/>
          <a:ln/>
        </p:spPr>
        <p:txBody>
          <a:bodyPr wrap="square" lIns="0" tIns="0" rIns="0" bIns="0" rtlCol="0" anchor="ctr"/>
          <a:lstStyle/>
          <a:p>
            <a:pPr marL="0" indent="0">
              <a:buNone/>
            </a:pPr>
            <a:r>
              <a:rPr lang="en-US" sz="1400" b="1" dirty="0">
                <a:solidFill>
                  <a:srgbClr val="222222"/>
                </a:solidFill>
                <a:latin typeface="에이투지체 5 Medium"/>
                <a:ea typeface="에이투지체 5 Medium"/>
                <a:cs typeface="에이투지체 5 Medium"/>
              </a:rPr>
              <a:t>인구 밀집</a:t>
            </a:r>
            <a:endParaRPr lang="en-US" sz="1400" dirty="0"/>
          </a:p>
        </p:txBody>
      </p:sp>
      <p:sp>
        <p:nvSpPr>
          <p:cNvPr id="29" name="Shape 26"/>
          <p:cNvSpPr/>
          <p:nvPr/>
        </p:nvSpPr>
        <p:spPr>
          <a:xfrm>
            <a:off x="2057400" y="3044952"/>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0" name="Text 27"/>
          <p:cNvSpPr txBox="1"/>
          <p:nvPr/>
        </p:nvSpPr>
        <p:spPr>
          <a:xfrm>
            <a:off x="2130552" y="3044952"/>
            <a:ext cx="1642811" cy="566928"/>
          </a:xfrm>
          <a:prstGeom prst="rect">
            <a:avLst/>
          </a:prstGeom>
          <a:noFill/>
          <a:ln/>
        </p:spPr>
        <p:txBody>
          <a:bodyPr wrap="square" lIns="0" tIns="0" rIns="0" bIns="0" rtlCol="0" anchor="ctr"/>
          <a:lstStyle/>
          <a:p>
            <a:pPr marL="0" indent="0" algn="ctr">
              <a:buNone/>
            </a:pPr>
            <a:r>
              <a:rPr lang="en-US" sz="1200" b="1" dirty="0">
                <a:solidFill>
                  <a:srgbClr val="222222"/>
                </a:solidFill>
                <a:latin typeface="에이투지체 5 Medium"/>
                <a:ea typeface="에이투지체 5 Medium"/>
                <a:cs typeface="에이투지체 5 Medium"/>
              </a:rPr>
              <a:t>Random Forest</a:t>
            </a:r>
            <a:endParaRPr lang="en-US" sz="1200" dirty="0"/>
          </a:p>
        </p:txBody>
      </p:sp>
      <p:sp>
        <p:nvSpPr>
          <p:cNvPr id="31" name="Shape 28"/>
          <p:cNvSpPr/>
          <p:nvPr/>
        </p:nvSpPr>
        <p:spPr>
          <a:xfrm>
            <a:off x="3864803" y="3328416"/>
            <a:ext cx="146304" cy="0"/>
          </a:xfrm>
          <a:prstGeom prst="line">
            <a:avLst/>
          </a:prstGeom>
          <a:noFill/>
          <a:ln w="15875">
            <a:solidFill>
              <a:srgbClr val="8E8E93"/>
            </a:solidFill>
            <a:prstDash val="solid"/>
            <a:tailEnd type="triangle"/>
          </a:ln>
        </p:spPr>
      </p:sp>
      <p:sp>
        <p:nvSpPr>
          <p:cNvPr id="32" name="Shape 29"/>
          <p:cNvSpPr/>
          <p:nvPr/>
        </p:nvSpPr>
        <p:spPr>
          <a:xfrm>
            <a:off x="4029395" y="3044952"/>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3" name="Text 30"/>
          <p:cNvSpPr txBox="1"/>
          <p:nvPr/>
        </p:nvSpPr>
        <p:spPr>
          <a:xfrm>
            <a:off x="4102547" y="3044952"/>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98.2%</a:t>
            </a:r>
            <a:endParaRPr lang="en-US" sz="1200" dirty="0"/>
          </a:p>
        </p:txBody>
      </p:sp>
      <p:sp>
        <p:nvSpPr>
          <p:cNvPr id="34" name="Shape 31"/>
          <p:cNvSpPr/>
          <p:nvPr/>
        </p:nvSpPr>
        <p:spPr>
          <a:xfrm>
            <a:off x="5836798" y="3328416"/>
            <a:ext cx="146304" cy="0"/>
          </a:xfrm>
          <a:prstGeom prst="line">
            <a:avLst/>
          </a:prstGeom>
          <a:noFill/>
          <a:ln w="15875">
            <a:solidFill>
              <a:srgbClr val="8E8E93"/>
            </a:solidFill>
            <a:prstDash val="solid"/>
            <a:tailEnd type="triangle"/>
          </a:ln>
        </p:spPr>
      </p:sp>
      <p:sp>
        <p:nvSpPr>
          <p:cNvPr id="35" name="Shape 32"/>
          <p:cNvSpPr/>
          <p:nvPr/>
        </p:nvSpPr>
        <p:spPr>
          <a:xfrm>
            <a:off x="6001390" y="3044952"/>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6" name="Text 33"/>
          <p:cNvSpPr txBox="1"/>
          <p:nvPr/>
        </p:nvSpPr>
        <p:spPr>
          <a:xfrm>
            <a:off x="6074542" y="3044952"/>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75,825행</a:t>
            </a:r>
            <a:endParaRPr lang="en-US" sz="1200" dirty="0"/>
          </a:p>
        </p:txBody>
      </p:sp>
      <p:sp>
        <p:nvSpPr>
          <p:cNvPr id="37" name="Shape 34"/>
          <p:cNvSpPr/>
          <p:nvPr/>
        </p:nvSpPr>
        <p:spPr>
          <a:xfrm>
            <a:off x="7808793" y="3328416"/>
            <a:ext cx="146304" cy="0"/>
          </a:xfrm>
          <a:prstGeom prst="line">
            <a:avLst/>
          </a:prstGeom>
          <a:noFill/>
          <a:ln w="15875">
            <a:solidFill>
              <a:srgbClr val="8E8E93"/>
            </a:solidFill>
            <a:prstDash val="solid"/>
            <a:tailEnd type="triangle"/>
          </a:ln>
        </p:spPr>
      </p:sp>
      <p:sp>
        <p:nvSpPr>
          <p:cNvPr id="38" name="Shape 35"/>
          <p:cNvSpPr/>
          <p:nvPr/>
        </p:nvSpPr>
        <p:spPr>
          <a:xfrm>
            <a:off x="7973385" y="3044952"/>
            <a:ext cx="1789115" cy="566928"/>
          </a:xfrm>
          <a:prstGeom prst="roundRect">
            <a:avLst>
              <a:gd name="adj" fmla="val 16129"/>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9" name="Text 36"/>
          <p:cNvSpPr txBox="1"/>
          <p:nvPr/>
        </p:nvSpPr>
        <p:spPr>
          <a:xfrm>
            <a:off x="8046537" y="3044952"/>
            <a:ext cx="1642811" cy="566928"/>
          </a:xfrm>
          <a:prstGeom prst="rect">
            <a:avLst/>
          </a:prstGeom>
          <a:noFill/>
          <a:ln/>
        </p:spPr>
        <p:txBody>
          <a:bodyPr wrap="square" lIns="0" tIns="0" rIns="0" bIns="0" rtlCol="0" anchor="ctr"/>
          <a:lstStyle/>
          <a:p>
            <a:pPr marL="0" indent="0" algn="ctr">
              <a:buNone/>
            </a:pPr>
            <a:r>
              <a:rPr lang="en-US" sz="1200" dirty="0">
                <a:solidFill>
                  <a:srgbClr val="222222"/>
                </a:solidFill>
                <a:latin typeface="에이투지체 5 Medium"/>
                <a:ea typeface="에이투지체 5 Medium"/>
                <a:cs typeface="에이투지체 5 Medium"/>
              </a:rPr>
              <a:t>불러오기 일치</a:t>
            </a:r>
            <a:endParaRPr lang="en-US" sz="1200" dirty="0"/>
          </a:p>
        </p:txBody>
      </p:sp>
      <p:sp>
        <p:nvSpPr>
          <p:cNvPr id="40" name="Shape 37"/>
          <p:cNvSpPr/>
          <p:nvPr/>
        </p:nvSpPr>
        <p:spPr>
          <a:xfrm>
            <a:off x="9780788" y="3328416"/>
            <a:ext cx="146304" cy="0"/>
          </a:xfrm>
          <a:prstGeom prst="line">
            <a:avLst/>
          </a:prstGeom>
          <a:noFill/>
          <a:ln w="15875">
            <a:solidFill>
              <a:srgbClr val="8E8E93"/>
            </a:solidFill>
            <a:prstDash val="solid"/>
            <a:tailEnd type="triangle"/>
          </a:ln>
        </p:spPr>
      </p:sp>
      <p:sp>
        <p:nvSpPr>
          <p:cNvPr id="41" name="Shape 38"/>
          <p:cNvSpPr/>
          <p:nvPr/>
        </p:nvSpPr>
        <p:spPr>
          <a:xfrm>
            <a:off x="9945380" y="3044952"/>
            <a:ext cx="1789115" cy="566928"/>
          </a:xfrm>
          <a:prstGeom prst="roundRect">
            <a:avLst>
              <a:gd name="adj" fmla="val 12903"/>
            </a:avLst>
          </a:prstGeom>
          <a:solidFill>
            <a:srgbClr val="F2F3F5"/>
          </a:solidFill>
          <a:ln w="12700">
            <a:solidFill>
              <a:srgbClr val="F2F3F5"/>
            </a:solidFill>
            <a:prstDash val="solid"/>
          </a:ln>
        </p:spPr>
      </p:sp>
      <p:sp>
        <p:nvSpPr>
          <p:cNvPr id="42" name="Text 39"/>
          <p:cNvSpPr txBox="1"/>
          <p:nvPr/>
        </p:nvSpPr>
        <p:spPr>
          <a:xfrm>
            <a:off x="10018532" y="3044952"/>
            <a:ext cx="1642811" cy="566928"/>
          </a:xfrm>
          <a:prstGeom prst="rect">
            <a:avLst/>
          </a:prstGeom>
          <a:noFill/>
          <a:ln/>
        </p:spPr>
        <p:txBody>
          <a:bodyPr wrap="square" lIns="0" tIns="0" rIns="0" bIns="0" rtlCol="0" anchor="ctr"/>
          <a:lstStyle/>
          <a:p>
            <a:pPr marL="0" indent="0" algn="ctr">
              <a:buNone/>
            </a:pPr>
            <a:r>
              <a:rPr lang="en-US" sz="1200" dirty="0">
                <a:solidFill>
                  <a:srgbClr val="8E8E93"/>
                </a:solidFill>
                <a:latin typeface="에이투지체 5 Medium"/>
                <a:ea typeface="에이투지체 5 Medium"/>
                <a:cs typeface="에이투지체 5 Medium"/>
              </a:rPr>
              <a:t>실행 결과 없음</a:t>
            </a:r>
            <a:endParaRPr lang="en-US" sz="1200" dirty="0"/>
          </a:p>
        </p:txBody>
      </p:sp>
      <p:sp>
        <p:nvSpPr>
          <p:cNvPr id="43" name="Shape 40"/>
          <p:cNvSpPr/>
          <p:nvPr/>
        </p:nvSpPr>
        <p:spPr>
          <a:xfrm>
            <a:off x="457200" y="3840480"/>
            <a:ext cx="11277295" cy="2350008"/>
          </a:xfrm>
          <a:prstGeom prst="roundRect">
            <a:avLst>
              <a:gd name="adj" fmla="val 3891"/>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graphicFrame>
        <p:nvGraphicFramePr>
          <p:cNvPr id="44" name="Chart 0"/>
          <p:cNvGraphicFramePr/>
          <p:nvPr/>
        </p:nvGraphicFramePr>
        <p:xfrm>
          <a:off x="548640" y="3913632"/>
          <a:ext cx="11094415" cy="220370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1E25"/>
        </a:solidFill>
        <a:effectLst/>
      </p:bgPr>
    </p:bg>
    <p:spTree>
      <p:nvGrpSpPr>
        <p:cNvPr id="1" name=""/>
        <p:cNvGrpSpPr/>
        <p:nvPr/>
      </p:nvGrpSpPr>
      <p:grpSpPr>
        <a:xfrm>
          <a:off x="0" y="0"/>
          <a:ext cx="0" cy="0"/>
          <a:chOff x="0" y="0"/>
          <a:chExt cx="0" cy="0"/>
        </a:xfrm>
      </p:grpSpPr>
      <p:sp>
        <p:nvSpPr>
          <p:cNvPr id="2" name="Text 0"/>
          <p:cNvSpPr txBox="1"/>
          <p:nvPr/>
        </p:nvSpPr>
        <p:spPr>
          <a:xfrm>
            <a:off x="822960" y="1965960"/>
            <a:ext cx="3657600" cy="365760"/>
          </a:xfrm>
          <a:prstGeom prst="rect">
            <a:avLst/>
          </a:prstGeom>
          <a:noFill/>
          <a:ln/>
        </p:spPr>
        <p:txBody>
          <a:bodyPr wrap="square" lIns="0" tIns="0" rIns="0" bIns="0" rtlCol="0" anchor="ctr"/>
          <a:lstStyle/>
          <a:p>
            <a:pPr marL="0" indent="0">
              <a:buNone/>
            </a:pPr>
            <a:r>
              <a:rPr lang="en-US" sz="1400" dirty="0">
                <a:solidFill>
                  <a:srgbClr val="FFFFFF">
                    <a:alpha val="60000"/>
                  </a:srgbClr>
                </a:solidFill>
                <a:latin typeface="에이투지체 5 Medium"/>
                <a:ea typeface="에이투지체 5 Medium"/>
                <a:cs typeface="에이투지체 5 Medium"/>
              </a:rPr>
              <a:t>05</a:t>
            </a:r>
            <a:endParaRPr lang="en-US" sz="1400" dirty="0"/>
          </a:p>
        </p:txBody>
      </p:sp>
      <p:sp>
        <p:nvSpPr>
          <p:cNvPr id="3" name="Text 1"/>
          <p:cNvSpPr txBox="1"/>
          <p:nvPr/>
        </p:nvSpPr>
        <p:spPr>
          <a:xfrm>
            <a:off x="822960" y="2377440"/>
            <a:ext cx="10515600" cy="868680"/>
          </a:xfrm>
          <a:prstGeom prst="rect">
            <a:avLst/>
          </a:prstGeom>
          <a:noFill/>
          <a:ln/>
        </p:spPr>
        <p:txBody>
          <a:bodyPr wrap="square" lIns="0" tIns="0" rIns="0" bIns="0" rtlCol="0" anchor="ctr"/>
          <a:lstStyle/>
          <a:p>
            <a:pPr marL="0" indent="0">
              <a:buNone/>
            </a:pPr>
            <a:r>
              <a:rPr lang="en-US" sz="5600" b="1" dirty="0">
                <a:solidFill>
                  <a:srgbClr val="FFFFFF"/>
                </a:solidFill>
                <a:latin typeface="에이투지체 6 SemiBold"/>
                <a:ea typeface="에이투지체 6 SemiBold"/>
                <a:cs typeface="에이투지체 6 SemiBold"/>
              </a:rPr>
              <a:t>결론</a:t>
            </a:r>
            <a:endParaRPr lang="en-US" sz="5600" dirty="0"/>
          </a:p>
        </p:txBody>
      </p:sp>
      <p:sp>
        <p:nvSpPr>
          <p:cNvPr id="4" name="Text 2"/>
          <p:cNvSpPr txBox="1"/>
          <p:nvPr/>
        </p:nvSpPr>
        <p:spPr>
          <a:xfrm>
            <a:off x="822960" y="3383280"/>
            <a:ext cx="10515600" cy="457200"/>
          </a:xfrm>
          <a:prstGeom prst="rect">
            <a:avLst/>
          </a:prstGeom>
          <a:noFill/>
          <a:ln/>
        </p:spPr>
        <p:txBody>
          <a:bodyPr wrap="square" lIns="0" tIns="0" rIns="0" bIns="0" rtlCol="0" anchor="ctr"/>
          <a:lstStyle/>
          <a:p>
            <a:pPr marL="0" indent="0">
              <a:buNone/>
            </a:pPr>
            <a:r>
              <a:rPr lang="en-US" sz="2200" dirty="0">
                <a:solidFill>
                  <a:srgbClr val="FFFFFF">
                    <a:alpha val="70000"/>
                  </a:srgbClr>
                </a:solidFill>
                <a:latin typeface="에이투지체 5 Medium"/>
                <a:ea typeface="에이투지체 5 Medium"/>
                <a:cs typeface="에이투지체 5 Medium"/>
              </a:rPr>
              <a:t>최종 결과와 향후 연구 방향, 참고 자료</a:t>
            </a:r>
            <a:endParaRPr lang="en-US" sz="2200" dirty="0"/>
          </a:p>
        </p:txBody>
      </p:sp>
      <p:sp>
        <p:nvSpPr>
          <p:cNvPr id="5" name="Shape 3"/>
          <p:cNvSpPr/>
          <p:nvPr/>
        </p:nvSpPr>
        <p:spPr>
          <a:xfrm>
            <a:off x="822960" y="4434840"/>
            <a:ext cx="3393338" cy="0"/>
          </a:xfrm>
          <a:prstGeom prst="line">
            <a:avLst/>
          </a:prstGeom>
          <a:noFill/>
          <a:ln w="25400">
            <a:solidFill>
              <a:srgbClr val="D62828"/>
            </a:solidFill>
            <a:prstDash val="solid"/>
          </a:ln>
        </p:spPr>
      </p:sp>
      <p:sp>
        <p:nvSpPr>
          <p:cNvPr id="6" name="Text 4"/>
          <p:cNvSpPr txBox="1"/>
          <p:nvPr/>
        </p:nvSpPr>
        <p:spPr>
          <a:xfrm>
            <a:off x="822960" y="4572000"/>
            <a:ext cx="3393338" cy="274320"/>
          </a:xfrm>
          <a:prstGeom prst="rect">
            <a:avLst/>
          </a:prstGeom>
          <a:noFill/>
          <a:ln/>
        </p:spPr>
        <p:txBody>
          <a:bodyPr wrap="square" lIns="0" tIns="0" rIns="0" bIns="0" rtlCol="0" anchor="ctr"/>
          <a:lstStyle/>
          <a:p>
            <a:pPr marL="0" indent="0">
              <a:buNone/>
            </a:pPr>
            <a:r>
              <a:rPr lang="en-US" sz="1200" b="1" dirty="0">
                <a:solidFill>
                  <a:srgbClr val="E87A7A"/>
                </a:solidFill>
                <a:latin typeface="에이투지체 5 Medium"/>
                <a:ea typeface="에이투지체 5 Medium"/>
                <a:cs typeface="에이투지체 5 Medium"/>
              </a:rPr>
              <a:t>01</a:t>
            </a:r>
            <a:endParaRPr lang="en-US" sz="1200" dirty="0"/>
          </a:p>
        </p:txBody>
      </p:sp>
      <p:sp>
        <p:nvSpPr>
          <p:cNvPr id="7" name="Text 5"/>
          <p:cNvSpPr txBox="1"/>
          <p:nvPr/>
        </p:nvSpPr>
        <p:spPr>
          <a:xfrm>
            <a:off x="822960"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최종 결과</a:t>
            </a:r>
            <a:endParaRPr lang="en-US" sz="1500" dirty="0"/>
          </a:p>
        </p:txBody>
      </p:sp>
      <p:sp>
        <p:nvSpPr>
          <p:cNvPr id="8" name="Shape 6"/>
          <p:cNvSpPr/>
          <p:nvPr/>
        </p:nvSpPr>
        <p:spPr>
          <a:xfrm>
            <a:off x="4399178" y="4434840"/>
            <a:ext cx="3393338" cy="0"/>
          </a:xfrm>
          <a:prstGeom prst="line">
            <a:avLst/>
          </a:prstGeom>
          <a:noFill/>
          <a:ln w="25400">
            <a:solidFill>
              <a:srgbClr val="3A414B"/>
            </a:solidFill>
            <a:prstDash val="solid"/>
          </a:ln>
        </p:spPr>
      </p:sp>
      <p:sp>
        <p:nvSpPr>
          <p:cNvPr id="9" name="Text 7"/>
          <p:cNvSpPr txBox="1"/>
          <p:nvPr/>
        </p:nvSpPr>
        <p:spPr>
          <a:xfrm>
            <a:off x="4399178"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02</a:t>
            </a:r>
            <a:endParaRPr lang="en-US" sz="1200" dirty="0"/>
          </a:p>
        </p:txBody>
      </p:sp>
      <p:sp>
        <p:nvSpPr>
          <p:cNvPr id="10" name="Text 8"/>
          <p:cNvSpPr txBox="1"/>
          <p:nvPr/>
        </p:nvSpPr>
        <p:spPr>
          <a:xfrm>
            <a:off x="4399178"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향후 연구 방향</a:t>
            </a:r>
            <a:endParaRPr lang="en-US" sz="1500" dirty="0"/>
          </a:p>
        </p:txBody>
      </p:sp>
      <p:sp>
        <p:nvSpPr>
          <p:cNvPr id="11" name="Shape 9"/>
          <p:cNvSpPr/>
          <p:nvPr/>
        </p:nvSpPr>
        <p:spPr>
          <a:xfrm>
            <a:off x="7975397" y="4434840"/>
            <a:ext cx="3393338" cy="0"/>
          </a:xfrm>
          <a:prstGeom prst="line">
            <a:avLst/>
          </a:prstGeom>
          <a:noFill/>
          <a:ln w="25400">
            <a:solidFill>
              <a:srgbClr val="3A414B"/>
            </a:solidFill>
            <a:prstDash val="solid"/>
          </a:ln>
        </p:spPr>
      </p:sp>
      <p:sp>
        <p:nvSpPr>
          <p:cNvPr id="12" name="Text 10"/>
          <p:cNvSpPr txBox="1"/>
          <p:nvPr/>
        </p:nvSpPr>
        <p:spPr>
          <a:xfrm>
            <a:off x="7975397" y="4572000"/>
            <a:ext cx="3393338" cy="274320"/>
          </a:xfrm>
          <a:prstGeom prst="rect">
            <a:avLst/>
          </a:prstGeom>
          <a:noFill/>
          <a:ln/>
        </p:spPr>
        <p:txBody>
          <a:bodyPr wrap="square" lIns="0" tIns="0" rIns="0" bIns="0" rtlCol="0" anchor="ctr"/>
          <a:lstStyle/>
          <a:p>
            <a:pPr marL="0" indent="0">
              <a:buNone/>
            </a:pPr>
            <a:r>
              <a:rPr lang="en-US" sz="1200" b="1" dirty="0">
                <a:solidFill>
                  <a:srgbClr val="8E8E93"/>
                </a:solidFill>
                <a:latin typeface="에이투지체 5 Medium"/>
                <a:ea typeface="에이투지체 5 Medium"/>
                <a:cs typeface="에이투지체 5 Medium"/>
              </a:rPr>
              <a:t>03</a:t>
            </a:r>
            <a:endParaRPr lang="en-US" sz="1200" dirty="0"/>
          </a:p>
        </p:txBody>
      </p:sp>
      <p:sp>
        <p:nvSpPr>
          <p:cNvPr id="13" name="Text 11"/>
          <p:cNvSpPr txBox="1"/>
          <p:nvPr/>
        </p:nvSpPr>
        <p:spPr>
          <a:xfrm>
            <a:off x="7975397" y="4864608"/>
            <a:ext cx="3393338" cy="411480"/>
          </a:xfrm>
          <a:prstGeom prst="rect">
            <a:avLst/>
          </a:prstGeom>
          <a:noFill/>
          <a:ln/>
        </p:spPr>
        <p:txBody>
          <a:bodyPr wrap="square" lIns="0" tIns="0" rIns="0" bIns="0" rtlCol="0" anchor="ctr"/>
          <a:lstStyle/>
          <a:p>
            <a:pPr marL="0" indent="0">
              <a:buNone/>
            </a:pPr>
            <a:r>
              <a:rPr lang="en-US" sz="1500" b="1" dirty="0">
                <a:solidFill>
                  <a:srgbClr val="FFFFFF"/>
                </a:solidFill>
                <a:latin typeface="에이투지체 5 Medium"/>
                <a:ea typeface="에이투지체 5 Medium"/>
                <a:cs typeface="에이투지체 5 Medium"/>
              </a:rPr>
              <a:t>참고 자료</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4F4"/>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11277295" cy="274320"/>
          </a:xfrm>
          <a:prstGeom prst="rect">
            <a:avLst/>
          </a:prstGeom>
          <a:noFill/>
          <a:ln/>
        </p:spPr>
        <p:txBody>
          <a:bodyPr wrap="square" lIns="0" tIns="0" rIns="0" bIns="0" rtlCol="0" anchor="ctr"/>
          <a:lstStyle/>
          <a:p>
            <a:pPr marL="0" indent="0">
              <a:buNone/>
            </a:pPr>
            <a:r>
              <a:rPr lang="en-US" sz="1200" dirty="0">
                <a:solidFill>
                  <a:srgbClr val="8E8E93"/>
                </a:solidFill>
                <a:latin typeface="에이투지체 4 Regular"/>
                <a:ea typeface="에이투지체 4 Regular"/>
                <a:cs typeface="에이투지체 4 Regular"/>
              </a:rPr>
              <a:t>05  결론</a:t>
            </a:r>
            <a:endParaRPr lang="en-US" sz="1200" dirty="0"/>
          </a:p>
        </p:txBody>
      </p:sp>
      <p:sp>
        <p:nvSpPr>
          <p:cNvPr id="3" name="Text 1"/>
          <p:cNvSpPr txBox="1"/>
          <p:nvPr/>
        </p:nvSpPr>
        <p:spPr>
          <a:xfrm>
            <a:off x="457200" y="768096"/>
            <a:ext cx="11277295" cy="548640"/>
          </a:xfrm>
          <a:prstGeom prst="rect">
            <a:avLst/>
          </a:prstGeom>
          <a:noFill/>
          <a:ln/>
        </p:spPr>
        <p:txBody>
          <a:bodyPr wrap="square" lIns="0" tIns="0" rIns="0" bIns="0" rtlCol="0" anchor="ctr"/>
          <a:lstStyle/>
          <a:p>
            <a:pPr marL="0" indent="0">
              <a:buNone/>
            </a:pPr>
            <a:r>
              <a:rPr lang="en-US" sz="3600" b="1" kern="0" spc="-40" dirty="0">
                <a:ln w="15875">
                  <a:solidFill>
                    <a:srgbClr val="222222"/>
                  </a:solidFill>
                </a:ln>
                <a:solidFill>
                  <a:srgbClr val="222222"/>
                </a:solidFill>
                <a:latin typeface="에이투지체 6 SemiBold"/>
                <a:ea typeface="에이투지체 6 SemiBold"/>
                <a:cs typeface="에이투지체 6 SemiBold"/>
              </a:rPr>
              <a:t>최종 결과 및 향후 과제</a:t>
            </a:r>
            <a:endParaRPr lang="en-US" sz="3600" dirty="0"/>
          </a:p>
        </p:txBody>
      </p:sp>
      <p:sp>
        <p:nvSpPr>
          <p:cNvPr id="4" name="Text 2"/>
          <p:cNvSpPr txBox="1"/>
          <p:nvPr/>
        </p:nvSpPr>
        <p:spPr>
          <a:xfrm>
            <a:off x="457200" y="1444752"/>
            <a:ext cx="11277295" cy="365760"/>
          </a:xfrm>
          <a:prstGeom prst="rect">
            <a:avLst/>
          </a:prstGeom>
          <a:noFill/>
          <a:ln/>
        </p:spPr>
        <p:txBody>
          <a:bodyPr wrap="square" lIns="0" tIns="0" rIns="0" bIns="0" rtlCol="0" anchor="ctr"/>
          <a:lstStyle/>
          <a:p>
            <a:pPr marL="0" indent="0">
              <a:buNone/>
            </a:pPr>
            <a:r>
              <a:rPr lang="en-US" sz="1600" dirty="0">
                <a:ln w="7620">
                  <a:solidFill>
                    <a:srgbClr val="3A3A3F"/>
                  </a:solidFill>
                </a:ln>
                <a:solidFill>
                  <a:srgbClr val="3A3A3F"/>
                </a:solidFill>
                <a:latin typeface="에이투지체 5 Medium"/>
                <a:ea typeface="에이투지체 5 Medium"/>
                <a:cs typeface="에이투지체 5 Medium"/>
              </a:rPr>
              <a:t>자료 수집부터 미래 예측까지 단일 흐름 구축</a:t>
            </a:r>
            <a:endParaRPr lang="en-US" sz="1600" dirty="0"/>
          </a:p>
        </p:txBody>
      </p:sp>
      <p:sp>
        <p:nvSpPr>
          <p:cNvPr id="5" name="Text 3"/>
          <p:cNvSpPr txBox="1"/>
          <p:nvPr/>
        </p:nvSpPr>
        <p:spPr>
          <a:xfrm>
            <a:off x="457200" y="6373368"/>
            <a:ext cx="914400" cy="228600"/>
          </a:xfrm>
          <a:prstGeom prst="rect">
            <a:avLst/>
          </a:prstGeom>
          <a:noFill/>
          <a:ln/>
        </p:spPr>
        <p:txBody>
          <a:bodyPr wrap="square" lIns="0" tIns="0" rIns="0" bIns="0" rtlCol="0" anchor="ctr"/>
          <a:lstStyle/>
          <a:p>
            <a:pPr marL="0" indent="0">
              <a:buNone/>
            </a:pPr>
            <a:r>
              <a:rPr lang="en-US" sz="900" dirty="0">
                <a:solidFill>
                  <a:srgbClr val="8E8E93"/>
                </a:solidFill>
                <a:latin typeface="에이투지체 4 Regular"/>
                <a:ea typeface="에이투지체 4 Regular"/>
                <a:cs typeface="에이투지체 4 Regular"/>
              </a:rPr>
              <a:t>30</a:t>
            </a:r>
            <a:endParaRPr lang="en-US" sz="900" dirty="0"/>
          </a:p>
        </p:txBody>
      </p:sp>
      <p:sp>
        <p:nvSpPr>
          <p:cNvPr id="6" name="Text 4"/>
          <p:cNvSpPr txBox="1"/>
          <p:nvPr/>
        </p:nvSpPr>
        <p:spPr>
          <a:xfrm>
            <a:off x="1371600" y="6373368"/>
            <a:ext cx="10362895" cy="228600"/>
          </a:xfrm>
          <a:prstGeom prst="rect">
            <a:avLst/>
          </a:prstGeom>
          <a:noFill/>
          <a:ln/>
        </p:spPr>
        <p:txBody>
          <a:bodyPr wrap="square" lIns="0" tIns="0" rIns="0" bIns="0" rtlCol="0" anchor="ctr"/>
          <a:lstStyle/>
          <a:p>
            <a:pPr marL="0" indent="0" algn="r">
              <a:buNone/>
            </a:pPr>
            <a:r>
              <a:rPr lang="en-US" sz="900" dirty="0">
                <a:solidFill>
                  <a:srgbClr val="8E8E93"/>
                </a:solidFill>
                <a:latin typeface="에이투지체 4 Regular"/>
                <a:ea typeface="에이투지체 4 Regular"/>
                <a:cs typeface="에이투지체 4 Regular"/>
              </a:rPr>
              <a:t>출처: 02_119_전처리_검토수정.ipynb · 03_119_통합_예측_1.ipynb</a:t>
            </a:r>
            <a:endParaRPr lang="en-US" sz="900" dirty="0"/>
          </a:p>
        </p:txBody>
      </p:sp>
      <p:sp>
        <p:nvSpPr>
          <p:cNvPr id="8" name="Shape 5"/>
          <p:cNvSpPr/>
          <p:nvPr/>
        </p:nvSpPr>
        <p:spPr>
          <a:xfrm>
            <a:off x="457200"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9" name="Text 6"/>
          <p:cNvSpPr txBox="1"/>
          <p:nvPr/>
        </p:nvSpPr>
        <p:spPr>
          <a:xfrm>
            <a:off x="67665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2,634행</a:t>
            </a:r>
            <a:endParaRPr lang="en-US" sz="3600" dirty="0"/>
          </a:p>
        </p:txBody>
      </p:sp>
      <p:sp>
        <p:nvSpPr>
          <p:cNvPr id="10" name="Text 7"/>
          <p:cNvSpPr txBox="1"/>
          <p:nvPr/>
        </p:nvSpPr>
        <p:spPr>
          <a:xfrm>
            <a:off x="676656"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API 자동 수집</a:t>
            </a:r>
            <a:endParaRPr lang="en-US" sz="1400" dirty="0"/>
          </a:p>
        </p:txBody>
      </p:sp>
      <p:sp>
        <p:nvSpPr>
          <p:cNvPr id="11" name="Shape 8"/>
          <p:cNvSpPr/>
          <p:nvPr/>
        </p:nvSpPr>
        <p:spPr>
          <a:xfrm>
            <a:off x="676656" y="3182112"/>
            <a:ext cx="2243023" cy="0"/>
          </a:xfrm>
          <a:prstGeom prst="line">
            <a:avLst/>
          </a:prstGeom>
          <a:noFill/>
          <a:ln w="9525">
            <a:solidFill>
              <a:srgbClr val="E5E7EB"/>
            </a:solidFill>
            <a:prstDash val="solid"/>
          </a:ln>
        </p:spPr>
      </p:sp>
      <p:sp>
        <p:nvSpPr>
          <p:cNvPr id="12" name="Text 9"/>
          <p:cNvSpPr txBox="1"/>
          <p:nvPr/>
        </p:nvSpPr>
        <p:spPr>
          <a:xfrm>
            <a:off x="67665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2017~2025 · 25개 구 월별 이송</a:t>
            </a:r>
            <a:endParaRPr lang="en-US" sz="1100" dirty="0"/>
          </a:p>
        </p:txBody>
      </p:sp>
      <p:sp>
        <p:nvSpPr>
          <p:cNvPr id="13" name="Shape 10"/>
          <p:cNvSpPr/>
          <p:nvPr/>
        </p:nvSpPr>
        <p:spPr>
          <a:xfrm>
            <a:off x="3322015"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14" name="Text 11"/>
          <p:cNvSpPr txBox="1"/>
          <p:nvPr/>
        </p:nvSpPr>
        <p:spPr>
          <a:xfrm>
            <a:off x="3541471"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2종</a:t>
            </a:r>
            <a:endParaRPr lang="en-US" sz="3600" dirty="0"/>
          </a:p>
        </p:txBody>
      </p:sp>
      <p:sp>
        <p:nvSpPr>
          <p:cNvPr id="15" name="Text 12"/>
          <p:cNvSpPr txBox="1"/>
          <p:nvPr/>
        </p:nvSpPr>
        <p:spPr>
          <a:xfrm>
            <a:off x="3541471"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학습 표 구축</a:t>
            </a:r>
            <a:endParaRPr lang="en-US" sz="1400" dirty="0"/>
          </a:p>
        </p:txBody>
      </p:sp>
      <p:sp>
        <p:nvSpPr>
          <p:cNvPr id="16" name="Shape 13"/>
          <p:cNvSpPr/>
          <p:nvPr/>
        </p:nvSpPr>
        <p:spPr>
          <a:xfrm>
            <a:off x="3541471" y="3182112"/>
            <a:ext cx="2243023" cy="0"/>
          </a:xfrm>
          <a:prstGeom prst="line">
            <a:avLst/>
          </a:prstGeom>
          <a:noFill/>
          <a:ln w="9525">
            <a:solidFill>
              <a:srgbClr val="E5E7EB"/>
            </a:solidFill>
            <a:prstDash val="solid"/>
          </a:ln>
        </p:spPr>
      </p:sp>
      <p:sp>
        <p:nvSpPr>
          <p:cNvPr id="17" name="Text 14"/>
          <p:cNvSpPr txBox="1"/>
          <p:nvPr/>
        </p:nvSpPr>
        <p:spPr>
          <a:xfrm>
            <a:off x="3541471"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이송 (구 × 월) · 인구 (구 × 일)</a:t>
            </a:r>
            <a:endParaRPr lang="en-US" sz="1100" dirty="0"/>
          </a:p>
        </p:txBody>
      </p:sp>
      <p:sp>
        <p:nvSpPr>
          <p:cNvPr id="18" name="Shape 15"/>
          <p:cNvSpPr/>
          <p:nvPr/>
        </p:nvSpPr>
        <p:spPr>
          <a:xfrm>
            <a:off x="6186830" y="1993392"/>
            <a:ext cx="2681935" cy="1828800"/>
          </a:xfrm>
          <a:prstGeom prst="roundRect">
            <a:avLst>
              <a:gd name="adj" fmla="val 7000"/>
            </a:avLst>
          </a:prstGeom>
          <a:solidFill>
            <a:srgbClr val="D62828"/>
          </a:solidFill>
          <a:ln w="12700">
            <a:solidFill>
              <a:srgbClr val="D62828"/>
            </a:solidFill>
            <a:prstDash val="solid"/>
          </a:ln>
          <a:effectLst>
            <a:outerShdw blurRad="95250" dist="50800" dir="5400000" algn="bl" rotWithShape="0">
              <a:srgbClr val="8A1414">
                <a:alpha val="16000"/>
              </a:srgbClr>
            </a:outerShdw>
          </a:effectLst>
        </p:spPr>
      </p:sp>
      <p:sp>
        <p:nvSpPr>
          <p:cNvPr id="19" name="Text 16"/>
          <p:cNvSpPr txBox="1"/>
          <p:nvPr/>
        </p:nvSpPr>
        <p:spPr>
          <a:xfrm>
            <a:off x="6406286"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FFFFFF"/>
                </a:solidFill>
                <a:latin typeface="에이투지체 5 Medium"/>
                <a:ea typeface="에이투지체 5 Medium"/>
                <a:cs typeface="에이투지체 5 Medium"/>
              </a:rPr>
              <a:t>94.6%</a:t>
            </a:r>
            <a:endParaRPr lang="en-US" sz="3600" dirty="0"/>
          </a:p>
        </p:txBody>
      </p:sp>
      <p:sp>
        <p:nvSpPr>
          <p:cNvPr id="20" name="Text 17"/>
          <p:cNvSpPr txBox="1"/>
          <p:nvPr/>
        </p:nvSpPr>
        <p:spPr>
          <a:xfrm>
            <a:off x="6406286" y="2779776"/>
            <a:ext cx="2243023"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에이투지체 5 Medium"/>
                <a:ea typeface="에이투지체 5 Medium"/>
                <a:cs typeface="에이투지체 5 Medium"/>
              </a:rPr>
              <a:t>이송 건수 예측</a:t>
            </a:r>
            <a:endParaRPr lang="en-US" sz="1400" dirty="0"/>
          </a:p>
        </p:txBody>
      </p:sp>
      <p:sp>
        <p:nvSpPr>
          <p:cNvPr id="21" name="Shape 18"/>
          <p:cNvSpPr/>
          <p:nvPr/>
        </p:nvSpPr>
        <p:spPr>
          <a:xfrm>
            <a:off x="6406286" y="3182112"/>
            <a:ext cx="2243023" cy="0"/>
          </a:xfrm>
          <a:prstGeom prst="line">
            <a:avLst/>
          </a:prstGeom>
          <a:noFill/>
          <a:ln w="9525">
            <a:solidFill>
              <a:srgbClr val="E87A7A"/>
            </a:solidFill>
            <a:prstDash val="solid"/>
          </a:ln>
        </p:spPr>
      </p:sp>
      <p:sp>
        <p:nvSpPr>
          <p:cNvPr id="22" name="Text 19"/>
          <p:cNvSpPr txBox="1"/>
          <p:nvPr/>
        </p:nvSpPr>
        <p:spPr>
          <a:xfrm>
            <a:off x="6406286"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FDE3E3"/>
                </a:solidFill>
                <a:latin typeface="에이투지체 5 Medium"/>
                <a:ea typeface="에이투지체 5 Medium"/>
                <a:cs typeface="에이투지체 5 Medium"/>
              </a:rPr>
              <a:t>앙상블 · 평가 6개월 정확도</a:t>
            </a:r>
            <a:endParaRPr lang="en-US" sz="1100" dirty="0"/>
          </a:p>
        </p:txBody>
      </p:sp>
      <p:sp>
        <p:nvSpPr>
          <p:cNvPr id="23" name="Shape 20"/>
          <p:cNvSpPr/>
          <p:nvPr/>
        </p:nvSpPr>
        <p:spPr>
          <a:xfrm>
            <a:off x="9051646" y="1993392"/>
            <a:ext cx="2681935" cy="1828800"/>
          </a:xfrm>
          <a:prstGeom prst="roundRect">
            <a:avLst>
              <a:gd name="adj" fmla="val 5000"/>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4" name="Text 21"/>
          <p:cNvSpPr txBox="1"/>
          <p:nvPr/>
        </p:nvSpPr>
        <p:spPr>
          <a:xfrm>
            <a:off x="9271102" y="2176272"/>
            <a:ext cx="2243023" cy="566928"/>
          </a:xfrm>
          <a:prstGeom prst="rect">
            <a:avLst/>
          </a:prstGeom>
          <a:noFill/>
          <a:ln/>
        </p:spPr>
        <p:txBody>
          <a:bodyPr wrap="square" lIns="0" tIns="0" rIns="0" bIns="0" rtlCol="0" anchor="ctr"/>
          <a:lstStyle/>
          <a:p>
            <a:pPr marL="0" indent="0" algn="ctr">
              <a:buNone/>
            </a:pPr>
            <a:r>
              <a:rPr lang="en-US" sz="3600" kern="0" spc="-108" dirty="0">
                <a:solidFill>
                  <a:srgbClr val="D62828"/>
                </a:solidFill>
                <a:latin typeface="에이투지체 5 Medium"/>
                <a:ea typeface="에이투지체 5 Medium"/>
                <a:cs typeface="에이투지체 5 Medium"/>
              </a:rPr>
              <a:t>98.2%</a:t>
            </a:r>
            <a:endParaRPr lang="en-US" sz="3600" dirty="0"/>
          </a:p>
        </p:txBody>
      </p:sp>
      <p:sp>
        <p:nvSpPr>
          <p:cNvPr id="25" name="Text 22"/>
          <p:cNvSpPr txBox="1"/>
          <p:nvPr/>
        </p:nvSpPr>
        <p:spPr>
          <a:xfrm>
            <a:off x="9271102" y="2779776"/>
            <a:ext cx="2243023" cy="274320"/>
          </a:xfrm>
          <a:prstGeom prst="rect">
            <a:avLst/>
          </a:prstGeom>
          <a:noFill/>
          <a:ln/>
        </p:spPr>
        <p:txBody>
          <a:bodyPr wrap="square" lIns="0" tIns="0" rIns="0" bIns="0" rtlCol="0" anchor="ctr"/>
          <a:lstStyle/>
          <a:p>
            <a:pPr marL="0" indent="0" algn="ctr">
              <a:buNone/>
            </a:pPr>
            <a:r>
              <a:rPr lang="en-US" sz="1400" b="1" dirty="0">
                <a:solidFill>
                  <a:srgbClr val="222222"/>
                </a:solidFill>
                <a:latin typeface="에이투지체 5 Medium"/>
                <a:ea typeface="에이투지체 5 Medium"/>
                <a:cs typeface="에이투지체 5 Medium"/>
              </a:rPr>
              <a:t>인구 밀집 예측</a:t>
            </a:r>
            <a:endParaRPr lang="en-US" sz="1400" dirty="0"/>
          </a:p>
        </p:txBody>
      </p:sp>
      <p:sp>
        <p:nvSpPr>
          <p:cNvPr id="26" name="Shape 23"/>
          <p:cNvSpPr/>
          <p:nvPr/>
        </p:nvSpPr>
        <p:spPr>
          <a:xfrm>
            <a:off x="9271102" y="3182112"/>
            <a:ext cx="2243023" cy="0"/>
          </a:xfrm>
          <a:prstGeom prst="line">
            <a:avLst/>
          </a:prstGeom>
          <a:noFill/>
          <a:ln w="9525">
            <a:solidFill>
              <a:srgbClr val="E5E7EB"/>
            </a:solidFill>
            <a:prstDash val="solid"/>
          </a:ln>
        </p:spPr>
      </p:sp>
      <p:sp>
        <p:nvSpPr>
          <p:cNvPr id="27" name="Text 24"/>
          <p:cNvSpPr txBox="1"/>
          <p:nvPr/>
        </p:nvSpPr>
        <p:spPr>
          <a:xfrm>
            <a:off x="9271102" y="3291840"/>
            <a:ext cx="2243023" cy="402336"/>
          </a:xfrm>
          <a:prstGeom prst="rect">
            <a:avLst/>
          </a:prstGeom>
          <a:noFill/>
          <a:ln/>
        </p:spPr>
        <p:txBody>
          <a:bodyPr wrap="square" lIns="0" tIns="0" rIns="0" bIns="0" rtlCol="0" anchor="ctr"/>
          <a:lstStyle/>
          <a:p>
            <a:pPr marL="0" indent="0" algn="ctr">
              <a:lnSpc>
                <a:spcPct val="120000"/>
              </a:lnSpc>
              <a:buNone/>
            </a:pPr>
            <a:r>
              <a:rPr lang="en-US" sz="1100" dirty="0">
                <a:solidFill>
                  <a:srgbClr val="45515E"/>
                </a:solidFill>
                <a:latin typeface="에이투지체 5 Medium"/>
                <a:ea typeface="에이투지체 5 Medium"/>
                <a:cs typeface="에이투지체 5 Medium"/>
              </a:rPr>
              <a:t>Random Forest · 평가 정확도</a:t>
            </a:r>
            <a:endParaRPr lang="en-US" sz="1100" dirty="0"/>
          </a:p>
        </p:txBody>
      </p:sp>
      <p:sp>
        <p:nvSpPr>
          <p:cNvPr id="28" name="Shape 25"/>
          <p:cNvSpPr/>
          <p:nvPr/>
        </p:nvSpPr>
        <p:spPr>
          <a:xfrm>
            <a:off x="457200"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29" name="Text 26"/>
          <p:cNvSpPr txBox="1"/>
          <p:nvPr/>
        </p:nvSpPr>
        <p:spPr>
          <a:xfrm>
            <a:off x="676656"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모델 선정 원칙</a:t>
            </a:r>
            <a:endParaRPr lang="en-US" sz="1800" dirty="0"/>
          </a:p>
        </p:txBody>
      </p:sp>
      <p:sp>
        <p:nvSpPr>
          <p:cNvPr id="30" name="Shape 27"/>
          <p:cNvSpPr/>
          <p:nvPr/>
        </p:nvSpPr>
        <p:spPr>
          <a:xfrm>
            <a:off x="676656" y="4572000"/>
            <a:ext cx="3198571" cy="0"/>
          </a:xfrm>
          <a:prstGeom prst="line">
            <a:avLst/>
          </a:prstGeom>
          <a:noFill/>
          <a:ln w="9525">
            <a:solidFill>
              <a:srgbClr val="E5E7EB"/>
            </a:solidFill>
            <a:prstDash val="solid"/>
          </a:ln>
        </p:spPr>
      </p:sp>
      <p:sp>
        <p:nvSpPr>
          <p:cNvPr id="31" name="Text 28"/>
          <p:cNvSpPr txBox="1"/>
          <p:nvPr/>
        </p:nvSpPr>
        <p:spPr>
          <a:xfrm>
            <a:off x="676656" y="4681728"/>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과거 자료 기반 변수 탐색</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실험을 통한 특성 효과 검증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검증 데이터 기준 모델 선택</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평가 데이터는 확인 용도로만 사용</a:t>
            </a:r>
            <a:endParaRPr lang="en-US" sz="1100" dirty="0"/>
          </a:p>
        </p:txBody>
      </p:sp>
      <p:sp>
        <p:nvSpPr>
          <p:cNvPr id="32" name="Shape 29"/>
          <p:cNvSpPr/>
          <p:nvPr/>
        </p:nvSpPr>
        <p:spPr>
          <a:xfrm>
            <a:off x="4277563" y="4005072"/>
            <a:ext cx="3637483"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3" name="Text 30"/>
          <p:cNvSpPr txBox="1"/>
          <p:nvPr/>
        </p:nvSpPr>
        <p:spPr>
          <a:xfrm>
            <a:off x="4497019" y="4169664"/>
            <a:ext cx="3198571"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향후 연구 방향</a:t>
            </a:r>
            <a:endParaRPr lang="en-US" sz="1800" dirty="0"/>
          </a:p>
        </p:txBody>
      </p:sp>
      <p:sp>
        <p:nvSpPr>
          <p:cNvPr id="34" name="Shape 31"/>
          <p:cNvSpPr/>
          <p:nvPr/>
        </p:nvSpPr>
        <p:spPr>
          <a:xfrm>
            <a:off x="4497019" y="4572000"/>
            <a:ext cx="3198571" cy="0"/>
          </a:xfrm>
          <a:prstGeom prst="line">
            <a:avLst/>
          </a:prstGeom>
          <a:noFill/>
          <a:ln w="9525">
            <a:solidFill>
              <a:srgbClr val="E5E7EB"/>
            </a:solidFill>
            <a:prstDash val="solid"/>
          </a:ln>
        </p:spPr>
      </p:sp>
      <p:sp>
        <p:nvSpPr>
          <p:cNvPr id="35" name="Text 32"/>
          <p:cNvSpPr txBox="1"/>
          <p:nvPr/>
        </p:nvSpPr>
        <p:spPr>
          <a:xfrm>
            <a:off x="4497019" y="4681728"/>
            <a:ext cx="3198571" cy="1380744"/>
          </a:xfrm>
          <a:prstGeom prst="rect">
            <a:avLst/>
          </a:prstGeom>
          <a:noFill/>
          <a:ln/>
        </p:spPr>
        <p:txBody>
          <a:bodyPr wrap="square" lIns="0" tIns="0" rIns="0" bIns="0" rtlCol="0" anchor="t"/>
          <a:lstStyle/>
          <a:p>
            <a:pPr marL="0" indent="0">
              <a:lnSpc>
                <a:spcPct val="140000"/>
              </a:lnSpc>
              <a:buNone/>
            </a:pPr>
            <a:r>
              <a:rPr lang="en-US" sz="1100" dirty="0">
                <a:solidFill>
                  <a:srgbClr val="45515E"/>
                </a:solidFill>
                <a:latin typeface="에이투지체 5 Medium"/>
                <a:ea typeface="에이투지체 5 Medium"/>
                <a:cs typeface="에이투지체 5 Medium"/>
              </a:rPr>
              <a:t>· 실시간 구급차 이동 시간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병원별 진료 가능 과목 결합</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최적 경로 안내 · 병원 자동 배정</a:t>
            </a:r>
            <a:endParaRPr lang="en-US" sz="1100" dirty="0"/>
          </a:p>
          <a:p>
            <a:pPr marL="0" indent="0">
              <a:lnSpc>
                <a:spcPct val="140000"/>
              </a:lnSpc>
              <a:buNone/>
            </a:pPr>
            <a:r>
              <a:rPr lang="en-US" sz="1100" dirty="0">
                <a:solidFill>
                  <a:srgbClr val="45515E"/>
                </a:solidFill>
                <a:latin typeface="에이투지체 5 Medium"/>
                <a:ea typeface="에이투지체 5 Medium"/>
                <a:cs typeface="에이투지체 5 Medium"/>
              </a:rPr>
              <a:t>· 현장 시범 운영 및 실증</a:t>
            </a:r>
            <a:endParaRPr lang="en-US" sz="1100" dirty="0"/>
          </a:p>
        </p:txBody>
      </p:sp>
      <p:sp>
        <p:nvSpPr>
          <p:cNvPr id="36" name="Shape 33"/>
          <p:cNvSpPr/>
          <p:nvPr/>
        </p:nvSpPr>
        <p:spPr>
          <a:xfrm>
            <a:off x="8097926" y="4005072"/>
            <a:ext cx="3636569" cy="2185416"/>
          </a:xfrm>
          <a:prstGeom prst="roundRect">
            <a:avLst>
              <a:gd name="adj" fmla="val 4184"/>
            </a:avLst>
          </a:prstGeom>
          <a:solidFill>
            <a:srgbClr val="FFFFFF"/>
          </a:solidFill>
          <a:ln w="12700">
            <a:solidFill>
              <a:srgbClr val="FFFFFF"/>
            </a:solidFill>
            <a:prstDash val="solid"/>
          </a:ln>
          <a:effectLst>
            <a:outerShdw blurRad="38100" dist="25400" dir="5400000" algn="bl" rotWithShape="0">
              <a:srgbClr val="000000">
                <a:alpha val="8000"/>
              </a:srgbClr>
            </a:outerShdw>
          </a:effectLst>
        </p:spPr>
      </p:sp>
      <p:sp>
        <p:nvSpPr>
          <p:cNvPr id="37" name="Text 34"/>
          <p:cNvSpPr txBox="1"/>
          <p:nvPr/>
        </p:nvSpPr>
        <p:spPr>
          <a:xfrm>
            <a:off x="8317382" y="4169664"/>
            <a:ext cx="3197657" cy="310896"/>
          </a:xfrm>
          <a:prstGeom prst="rect">
            <a:avLst/>
          </a:prstGeom>
          <a:noFill/>
          <a:ln/>
        </p:spPr>
        <p:txBody>
          <a:bodyPr wrap="square" lIns="0" tIns="0" rIns="0" bIns="0" rtlCol="0" anchor="ctr"/>
          <a:lstStyle/>
          <a:p>
            <a:pPr marL="0" indent="0" algn="ctr">
              <a:buNone/>
            </a:pPr>
            <a:r>
              <a:rPr lang="en-US" sz="1800" b="1" dirty="0">
                <a:solidFill>
                  <a:srgbClr val="D62828"/>
                </a:solidFill>
                <a:latin typeface="에이투지체 5 Medium"/>
                <a:ea typeface="에이투지체 5 Medium"/>
                <a:cs typeface="에이투지체 5 Medium"/>
              </a:rPr>
              <a:t>참고 자료</a:t>
            </a:r>
            <a:endParaRPr lang="en-US" sz="1800" dirty="0"/>
          </a:p>
        </p:txBody>
      </p:sp>
      <p:sp>
        <p:nvSpPr>
          <p:cNvPr id="38" name="Shape 35"/>
          <p:cNvSpPr/>
          <p:nvPr/>
        </p:nvSpPr>
        <p:spPr>
          <a:xfrm>
            <a:off x="8317382" y="4572000"/>
            <a:ext cx="3197657" cy="0"/>
          </a:xfrm>
          <a:prstGeom prst="line">
            <a:avLst/>
          </a:prstGeom>
          <a:noFill/>
          <a:ln w="9525">
            <a:solidFill>
              <a:srgbClr val="E5E7EB"/>
            </a:solidFill>
            <a:prstDash val="solid"/>
          </a:ln>
        </p:spPr>
      </p:sp>
      <p:sp>
        <p:nvSpPr>
          <p:cNvPr id="39" name="Text 36"/>
          <p:cNvSpPr txBox="1"/>
          <p:nvPr/>
        </p:nvSpPr>
        <p:spPr>
          <a:xfrm>
            <a:off x="8317382" y="4681728"/>
            <a:ext cx="3197657" cy="1380744"/>
          </a:xfrm>
          <a:prstGeom prst="rect">
            <a:avLst/>
          </a:prstGeom>
          <a:noFill/>
          <a:ln/>
        </p:spPr>
        <p:txBody>
          <a:bodyPr wrap="square" lIns="0" tIns="0" rIns="0" bIns="0" rtlCol="0" anchor="t"/>
          <a:lstStyle/>
          <a:p>
            <a:pPr marL="0" indent="0">
              <a:lnSpc>
                <a:spcPct val="130000"/>
              </a:lnSpc>
              <a:buNone/>
            </a:pPr>
            <a:r>
              <a:rPr lang="en-US" sz="1050" dirty="0">
                <a:solidFill>
                  <a:srgbClr val="45515E"/>
                </a:solidFill>
                <a:latin typeface="에이투지체 5 Medium"/>
                <a:ea typeface="에이투지체 5 Medium"/>
                <a:cs typeface="에이투지체 5 Medium"/>
              </a:rPr>
              <a:t>· 소방청 구급통계 서비스 API (2025)</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국립중앙의료원 응급의료기관 API (2026)</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통계청 KOSIS 구급 · 구조활동 실적</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 생활인구 일별 집계표</a:t>
            </a:r>
            <a:endParaRPr lang="en-US" sz="1050" dirty="0"/>
          </a:p>
          <a:p>
            <a:pPr marL="0" indent="0">
              <a:lnSpc>
                <a:spcPct val="130000"/>
              </a:lnSpc>
              <a:buNone/>
            </a:pPr>
            <a:r>
              <a:rPr lang="en-US" sz="1050" dirty="0">
                <a:solidFill>
                  <a:srgbClr val="45515E"/>
                </a:solidFill>
                <a:latin typeface="에이투지체 5 Medium"/>
                <a:ea typeface="에이투지체 5 Medium"/>
                <a:cs typeface="에이투지체 5 Medium"/>
              </a:rPr>
              <a:t>· 서울시 구급출동 현황 (2021~2022)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에이투지체 7 Bold"/>
        <a:ea typeface="에이투지체 7 Bold"/>
        <a:cs typeface="에이투지체 7 Bold"/>
        <a:font script="Jpan" typeface="游ゴシック Light"/>
        <a:font script="Hang" typeface="에이투지체 7 Bol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에이투지체 5 Medium"/>
        <a:ea typeface="에이투지체 5 Medium"/>
        <a:cs typeface="에이투지체 5 Medium"/>
        <a:font script="Jpan" typeface="游ゴシック"/>
        <a:font script="Hang" typeface="에이투지체 5 Medium"/>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4814</Words>
  <Application>Microsoft Office PowerPoint</Application>
  <PresentationFormat>와이드스크린</PresentationFormat>
  <Paragraphs>673</Paragraphs>
  <Slides>30</Slides>
  <Notes>30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맑은 고딕</vt:lpstr>
      <vt:lpstr>에이투지체 4 Regular</vt:lpstr>
      <vt:lpstr>에이투지체 5 Medium</vt:lpstr>
      <vt:lpstr>에이투지체 6 SemiBold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서울시 119 구급 수요 예측</dc:title>
  <dc:subject>PptxGenJS Presentation</dc:subject>
  <dc:creator>PptxGenJS</dc:creator>
  <cp:lastModifiedBy>Admin</cp:lastModifiedBy>
  <cp:revision>2</cp:revision>
  <dcterms:created xsi:type="dcterms:W3CDTF">2026-10-01T06:25:50Z</dcterms:created>
  <dcterms:modified xsi:type="dcterms:W3CDTF">2026-10-01T06:43:39Z</dcterms:modified>
</cp:coreProperties>
</file>