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ppt/charts/chart3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4.xml" ContentType="application/vnd.openxmlformats-officedocument.drawingml.chart+xml"/>
  <Override PartName="/ppt/notesSlides/notesSlide24.xml" ContentType="application/vnd.openxmlformats-officedocument.presentationml.notesSlide+xml"/>
  <Override PartName="/ppt/charts/chart5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6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7.xml" ContentType="application/vnd.openxmlformats-officedocument.drawingml.chart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32.xml" ContentType="application/vnd.openxmlformats-officedocument.presentationml.notesSlide+xml"/>
  <Override PartName="/ppt/charts/chart10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6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7" r:id="rId28"/>
    <p:sldId id="288" r:id="rId29"/>
    <p:sldId id="281" r:id="rId30"/>
    <p:sldId id="289" r:id="rId31"/>
    <p:sldId id="282" r:id="rId32"/>
    <p:sldId id="283" r:id="rId33"/>
    <p:sldId id="290" r:id="rId34"/>
    <p:sldId id="291" r:id="rId35"/>
    <p:sldId id="292" r:id="rId36"/>
    <p:sldId id="293" r:id="rId37"/>
    <p:sldId id="294" r:id="rId38"/>
    <p:sldId id="284" r:id="rId39"/>
    <p:sldId id="285" r:id="rId40"/>
  </p:sldIdLst>
  <p:sldSz cx="12192000" cy="6858000"/>
  <p:notesSz cx="6858000" cy="12192000"/>
  <p:embeddedFontLst>
    <p:embeddedFont>
      <p:font typeface="맑은 고딕" panose="020B0503020000020004" pitchFamily="50" charset="-127"/>
      <p:regular r:id="rId42"/>
      <p:bold r:id="rId4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737" autoAdjust="0"/>
  </p:normalViewPr>
  <p:slideViewPr>
    <p:cSldViewPr snapToGrid="0" snapToObjects="1">
      <p:cViewPr varScale="1">
        <p:scale>
          <a:sx n="79" d="100"/>
          <a:sy n="79" d="100"/>
        </p:scale>
        <p:origin x="1470" y="7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인구 지표별 이송 건수 상관계수 </a:t>
            </a:r>
            <a:r>
              <a:rPr lang="en-US" altLang="ko-KR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(</a:t>
            </a: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구 간 </a:t>
            </a:r>
            <a:r>
              <a:rPr lang="en-US" altLang="ko-KR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0.3 </a:t>
            </a: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이상 </a:t>
            </a:r>
            <a:r>
              <a:rPr lang="en-US" altLang="ko-KR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7</a:t>
            </a: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개</a:t>
            </a:r>
            <a:r>
              <a:rPr lang="en-US" altLang="ko-KR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구 내 (월별 변화)</c:v>
                </c:pt>
              </c:strCache>
            </c:strRef>
          </c:tx>
          <c:spPr>
            <a:solidFill>
              <a:srgbClr val="8E8E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22222"/>
                    </a:solidFill>
                    <a:latin typeface="에이투지체 5 Medium"/>
                    <a:ea typeface="에이투지체 5 Medium"/>
                    <a:cs typeface="에이투지체 5 Medium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서울외 유입인구</c:v>
                </c:pt>
                <c:pt idx="1">
                  <c:v>주간인구</c:v>
                </c:pt>
                <c:pt idx="2">
                  <c:v>일최대인구</c:v>
                </c:pt>
                <c:pt idx="3">
                  <c:v>총 생활인구</c:v>
                </c:pt>
                <c:pt idx="4">
                  <c:v>일최소인구</c:v>
                </c:pt>
                <c:pt idx="5">
                  <c:v>동일구 행정동간 이동</c:v>
                </c:pt>
                <c:pt idx="6">
                  <c:v>야간인구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</c:v>
                </c:pt>
                <c:pt idx="1">
                  <c:v>0.26500000000000001</c:v>
                </c:pt>
                <c:pt idx="2">
                  <c:v>0.32900000000000001</c:v>
                </c:pt>
                <c:pt idx="3">
                  <c:v>0.28000000000000003</c:v>
                </c:pt>
                <c:pt idx="4">
                  <c:v>0.17799999999999999</c:v>
                </c:pt>
                <c:pt idx="5">
                  <c:v>8.6999999999999994E-2</c:v>
                </c:pt>
                <c:pt idx="6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74-4DE8-9106-6F8274495B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구 간 (구별 평균)</c:v>
                </c:pt>
              </c:strCache>
            </c:strRef>
          </c:tx>
          <c:spPr>
            <a:solidFill>
              <a:srgbClr val="D6282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22222"/>
                    </a:solidFill>
                    <a:latin typeface="에이투지체 5 Medium"/>
                    <a:ea typeface="에이투지체 5 Medium"/>
                    <a:cs typeface="에이투지체 5 Medium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서울외 유입인구</c:v>
                </c:pt>
                <c:pt idx="1">
                  <c:v>주간인구</c:v>
                </c:pt>
                <c:pt idx="2">
                  <c:v>일최대인구</c:v>
                </c:pt>
                <c:pt idx="3">
                  <c:v>총 생활인구</c:v>
                </c:pt>
                <c:pt idx="4">
                  <c:v>일최소인구</c:v>
                </c:pt>
                <c:pt idx="5">
                  <c:v>동일구 행정동간 이동</c:v>
                </c:pt>
                <c:pt idx="6">
                  <c:v>야간인구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0.36099999999999999</c:v>
                </c:pt>
                <c:pt idx="1">
                  <c:v>0.63500000000000001</c:v>
                </c:pt>
                <c:pt idx="2">
                  <c:v>0.68100000000000005</c:v>
                </c:pt>
                <c:pt idx="3">
                  <c:v>0.751</c:v>
                </c:pt>
                <c:pt idx="4">
                  <c:v>0.77400000000000002</c:v>
                </c:pt>
                <c:pt idx="5">
                  <c:v>0.78900000000000003</c:v>
                </c:pt>
                <c:pt idx="6">
                  <c:v>0.80700000000000005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74-4DE8-9106-6F8274495B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4"/>
        <c:crosses val="autoZero"/>
        <c:crossBetween val="between"/>
        <c:majorUnit val="0.2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45515E"/>
              </a:solidFill>
              <a:latin typeface="에이투지체 5 Medium"/>
              <a:ea typeface="에이투지체 5 Medium"/>
              <a:cs typeface="에이투지체 5 Medium"/>
            </a:defRPr>
          </a:pPr>
          <a:endParaRPr lang="ko-K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인구 지표별 가중치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가중치</c:v>
                </c:pt>
              </c:strCache>
            </c:strRef>
          </c:tx>
          <c:spPr>
            <a:solidFill>
              <a:srgbClr val="D62828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22222"/>
                    </a:solidFill>
                    <a:latin typeface="에이투지체 5 Medium"/>
                    <a:ea typeface="에이투지체 5 Medium"/>
                    <a:cs typeface="에이투지체 5 Medium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서울외 유입인구</c:v>
                </c:pt>
                <c:pt idx="1">
                  <c:v>일최대인구</c:v>
                </c:pt>
                <c:pt idx="2">
                  <c:v>동일구 행정동간 이동</c:v>
                </c:pt>
                <c:pt idx="3">
                  <c:v>야간인구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0.13700000000000001</c:v>
                </c:pt>
                <c:pt idx="1">
                  <c:v>0.25800000000000001</c:v>
                </c:pt>
                <c:pt idx="2">
                  <c:v>0.29899999999999999</c:v>
                </c:pt>
                <c:pt idx="3">
                  <c:v>0.30599999999999999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E7-4C28-89F6-BA7CB1D99C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4"/>
        <c:crosses val="autoZero"/>
        <c:crossBetween val="between"/>
        <c:majorUnit val="0.1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월별 이송 지수 </a:t>
            </a:r>
            <a:r>
              <a:rPr lang="en-US" altLang="ko-KR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(</a:t>
            </a: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전체 평균 </a:t>
            </a:r>
            <a:r>
              <a:rPr lang="en-US" altLang="ko-KR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= 100)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이송 지수</c:v>
                </c:pt>
              </c:strCache>
            </c:strRef>
          </c:tx>
          <c:spPr>
            <a:solidFill>
              <a:srgbClr val="D6282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222222"/>
                    </a:solidFill>
                    <a:latin typeface="에이투지체 5 Medium"/>
                    <a:ea typeface="에이투지체 5 Medium"/>
                    <a:cs typeface="에이투지체 5 Medium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100.4</c:v>
                </c:pt>
                <c:pt idx="1">
                  <c:v>86.8</c:v>
                </c:pt>
                <c:pt idx="2">
                  <c:v>93.4</c:v>
                </c:pt>
                <c:pt idx="3">
                  <c:v>95.6</c:v>
                </c:pt>
                <c:pt idx="4">
                  <c:v>103.1</c:v>
                </c:pt>
                <c:pt idx="5">
                  <c:v>102.1</c:v>
                </c:pt>
                <c:pt idx="6">
                  <c:v>108.6</c:v>
                </c:pt>
                <c:pt idx="7">
                  <c:v>108.4</c:v>
                </c:pt>
                <c:pt idx="8">
                  <c:v>100.8</c:v>
                </c:pt>
                <c:pt idx="9">
                  <c:v>100.7</c:v>
                </c:pt>
                <c:pt idx="10">
                  <c:v>97</c:v>
                </c:pt>
                <c:pt idx="11">
                  <c:v>102.8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70-47BA-9AE0-F409146F43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2"/>
          <c:min val="8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입력 조합별 최고 검증 정확도 </a:t>
            </a:r>
            <a:r>
              <a:rPr lang="en-US" altLang="ko-KR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최고 검증 정확도</c:v>
                </c:pt>
              </c:strCache>
            </c:strRef>
          </c:tx>
          <c:spPr>
            <a:solidFill>
              <a:srgbClr val="D62828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22222"/>
                    </a:solidFill>
                    <a:latin typeface="에이투지체 5 Medium"/>
                    <a:ea typeface="에이투지체 5 Medium"/>
                    <a:cs typeface="에이투지체 5 Medium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84.39</c:v>
                </c:pt>
                <c:pt idx="1">
                  <c:v>87.21</c:v>
                </c:pt>
                <c:pt idx="2">
                  <c:v>88.03</c:v>
                </c:pt>
                <c:pt idx="3">
                  <c:v>94.96</c:v>
                </c:pt>
                <c:pt idx="4">
                  <c:v>94.79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BE-46B6-B914-7791570D3D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7"/>
          <c:min val="8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4"/>
        <c:crosses val="autoZero"/>
        <c:crossBetween val="between"/>
        <c:majorUnit val="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설정별 최고 검증 정확도 </a:t>
            </a:r>
            <a:r>
              <a:rPr lang="en-US" altLang="ko-KR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(6</a:t>
            </a: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개월 연속 예측</a:t>
            </a:r>
            <a:r>
              <a:rPr lang="en-US" altLang="ko-KR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최고 정확도</c:v>
                </c:pt>
              </c:strCache>
            </c:strRef>
          </c:tx>
          <c:spPr>
            <a:solidFill>
              <a:srgbClr val="D62828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22222"/>
                    </a:solidFill>
                    <a:latin typeface="에이투지체 5 Medium"/>
                    <a:ea typeface="에이투지체 5 Medium"/>
                    <a:cs typeface="에이투지체 5 Medium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기본</c:v>
                </c:pt>
                <c:pt idx="1">
                  <c:v>달력 추가</c:v>
                </c:pt>
                <c:pt idx="2">
                  <c:v>증감량 예측</c:v>
                </c:pt>
                <c:pt idx="3">
                  <c:v>달력 + 증감량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93.885000000000005</c:v>
                </c:pt>
                <c:pt idx="1">
                  <c:v>94.611000000000004</c:v>
                </c:pt>
                <c:pt idx="2">
                  <c:v>94.23</c:v>
                </c:pt>
                <c:pt idx="3">
                  <c:v>94.47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DC-4473-A285-65DC4477D9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93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4"/>
        <c:crosses val="autoZero"/>
        <c:crossBetween val="between"/>
        <c:majorUnit val="0.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r>
              <a:rPr lang="en-US" altLang="ko-KR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6</a:t>
            </a: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개월 연속 예측 정확도 </a:t>
            </a:r>
            <a:r>
              <a:rPr lang="en-US" altLang="ko-KR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(%) — </a:t>
            </a: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검증 순위순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평가 6개월</c:v>
                </c:pt>
              </c:strCache>
            </c:strRef>
          </c:tx>
          <c:spPr>
            <a:solidFill>
              <a:srgbClr val="8E8E93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22222"/>
                    </a:solidFill>
                    <a:latin typeface="에이투지체 5 Medium"/>
                    <a:ea typeface="에이투지체 5 Medium"/>
                    <a:cs typeface="에이투지체 5 Medium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DNN</c:v>
                </c:pt>
                <c:pt idx="1">
                  <c:v>Decision Tree</c:v>
                </c:pt>
                <c:pt idx="2">
                  <c:v>기준선 (지난달 값)</c:v>
                </c:pt>
                <c:pt idx="3">
                  <c:v>Random Forest</c:v>
                </c:pt>
                <c:pt idx="4">
                  <c:v>Ridge</c:v>
                </c:pt>
                <c:pt idx="5">
                  <c:v>Linear Regression</c:v>
                </c:pt>
                <c:pt idx="6">
                  <c:v>Gradient Boosting</c:v>
                </c:pt>
                <c:pt idx="7">
                  <c:v>앙상블 (GB+Ridge)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91.97</c:v>
                </c:pt>
                <c:pt idx="1">
                  <c:v>92.4</c:v>
                </c:pt>
                <c:pt idx="2">
                  <c:v>93.25</c:v>
                </c:pt>
                <c:pt idx="3">
                  <c:v>93.98</c:v>
                </c:pt>
                <c:pt idx="4">
                  <c:v>94.27</c:v>
                </c:pt>
                <c:pt idx="5">
                  <c:v>87.87</c:v>
                </c:pt>
                <c:pt idx="6">
                  <c:v>93.27</c:v>
                </c:pt>
                <c:pt idx="7">
                  <c:v>94.6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60-4303-A7C8-DD03E1005B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검증 6개월</c:v>
                </c:pt>
              </c:strCache>
            </c:strRef>
          </c:tx>
          <c:spPr>
            <a:solidFill>
              <a:srgbClr val="D6282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22222"/>
                    </a:solidFill>
                    <a:latin typeface="에이투지체 5 Medium"/>
                    <a:ea typeface="에이투지체 5 Medium"/>
                    <a:cs typeface="에이투지체 5 Medium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DNN</c:v>
                </c:pt>
                <c:pt idx="1">
                  <c:v>Decision Tree</c:v>
                </c:pt>
                <c:pt idx="2">
                  <c:v>기준선 (지난달 값)</c:v>
                </c:pt>
                <c:pt idx="3">
                  <c:v>Random Forest</c:v>
                </c:pt>
                <c:pt idx="4">
                  <c:v>Ridge</c:v>
                </c:pt>
                <c:pt idx="5">
                  <c:v>Linear Regression</c:v>
                </c:pt>
                <c:pt idx="6">
                  <c:v>Gradient Boosting</c:v>
                </c:pt>
                <c:pt idx="7">
                  <c:v>앙상블 (GB+Ridge)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88.45</c:v>
                </c:pt>
                <c:pt idx="1">
                  <c:v>90.93</c:v>
                </c:pt>
                <c:pt idx="2">
                  <c:v>91.82</c:v>
                </c:pt>
                <c:pt idx="3">
                  <c:v>92.51</c:v>
                </c:pt>
                <c:pt idx="4">
                  <c:v>92.73</c:v>
                </c:pt>
                <c:pt idx="5">
                  <c:v>92.78</c:v>
                </c:pt>
                <c:pt idx="6">
                  <c:v>94.35</c:v>
                </c:pt>
                <c:pt idx="7">
                  <c:v>94.61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60-4303-A7C8-DD03E1005B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6"/>
          <c:min val="85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4"/>
        <c:crosses val="autoZero"/>
        <c:crossBetween val="between"/>
        <c:majorUnit val="2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45515E"/>
              </a:solidFill>
              <a:latin typeface="에이투지체 5 Medium"/>
              <a:ea typeface="에이투지체 5 Medium"/>
              <a:cs typeface="에이투지체 5 Medium"/>
            </a:defRPr>
          </a:pPr>
          <a:endParaRPr lang="ko-K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정확도 </a:t>
            </a:r>
            <a:r>
              <a:rPr lang="en-US" altLang="ko-KR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(%) — </a:t>
            </a: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검증 순위순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평가 (1년)</c:v>
                </c:pt>
              </c:strCache>
            </c:strRef>
          </c:tx>
          <c:spPr>
            <a:solidFill>
              <a:srgbClr val="8E8E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22222"/>
                    </a:solidFill>
                    <a:latin typeface="에이투지체 5 Medium"/>
                    <a:ea typeface="에이투지체 5 Medium"/>
                    <a:cs typeface="에이투지체 5 Medium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Linear Regression</c:v>
                </c:pt>
                <c:pt idx="1">
                  <c:v>Ridge</c:v>
                </c:pt>
                <c:pt idx="2">
                  <c:v>기준선 (7일 전 값)</c:v>
                </c:pt>
                <c:pt idx="3">
                  <c:v>DNN</c:v>
                </c:pt>
                <c:pt idx="4">
                  <c:v>Decision Tree</c:v>
                </c:pt>
                <c:pt idx="5">
                  <c:v>Gradient Boosting</c:v>
                </c:pt>
                <c:pt idx="6">
                  <c:v>Random Forest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97.11</c:v>
                </c:pt>
                <c:pt idx="1">
                  <c:v>97.11</c:v>
                </c:pt>
                <c:pt idx="2">
                  <c:v>97.54</c:v>
                </c:pt>
                <c:pt idx="3">
                  <c:v>97.86</c:v>
                </c:pt>
                <c:pt idx="4">
                  <c:v>97.52</c:v>
                </c:pt>
                <c:pt idx="5">
                  <c:v>97.97</c:v>
                </c:pt>
                <c:pt idx="6">
                  <c:v>98.16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47-4999-A43C-279D337E6C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검증 (180일)</c:v>
                </c:pt>
              </c:strCache>
            </c:strRef>
          </c:tx>
          <c:spPr>
            <a:solidFill>
              <a:srgbClr val="D6282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22222"/>
                    </a:solidFill>
                    <a:latin typeface="에이투지체 5 Medium"/>
                    <a:ea typeface="에이투지체 5 Medium"/>
                    <a:cs typeface="에이투지체 5 Medium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Linear Regression</c:v>
                </c:pt>
                <c:pt idx="1">
                  <c:v>Ridge</c:v>
                </c:pt>
                <c:pt idx="2">
                  <c:v>기준선 (7일 전 값)</c:v>
                </c:pt>
                <c:pt idx="3">
                  <c:v>DNN</c:v>
                </c:pt>
                <c:pt idx="4">
                  <c:v>Decision Tree</c:v>
                </c:pt>
                <c:pt idx="5">
                  <c:v>Gradient Boosting</c:v>
                </c:pt>
                <c:pt idx="6">
                  <c:v>Random Forest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97.34</c:v>
                </c:pt>
                <c:pt idx="1">
                  <c:v>97.34</c:v>
                </c:pt>
                <c:pt idx="2">
                  <c:v>97.86</c:v>
                </c:pt>
                <c:pt idx="3">
                  <c:v>97.95</c:v>
                </c:pt>
                <c:pt idx="4">
                  <c:v>97.99</c:v>
                </c:pt>
                <c:pt idx="5">
                  <c:v>98.36</c:v>
                </c:pt>
                <c:pt idx="6">
                  <c:v>98.59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47-4999-A43C-279D337E6C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9"/>
          <c:min val="96.5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4"/>
        <c:crosses val="autoZero"/>
        <c:crossBetween val="between"/>
        <c:majorUnit val="0.5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45515E"/>
              </a:solidFill>
              <a:latin typeface="에이투지체 5 Medium"/>
              <a:ea typeface="에이투지체 5 Medium"/>
              <a:cs typeface="에이투지체 5 Medium"/>
            </a:defRPr>
          </a:pPr>
          <a:endParaRPr lang="ko-K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이송 건수 </a:t>
            </a:r>
            <a:r>
              <a:rPr lang="en-US" altLang="ko-KR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· </a:t>
            </a:r>
            <a:r>
              <a:rPr 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Gradient Boosting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중요도</c:v>
                </c:pt>
              </c:strCache>
            </c:strRef>
          </c:tx>
          <c:spPr>
            <a:solidFill>
              <a:srgbClr val="D62828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22222"/>
                    </a:solidFill>
                    <a:latin typeface="에이투지체 5 Medium"/>
                    <a:ea typeface="에이투지체 5 Medium"/>
                    <a:cs typeface="에이투지체 5 Medium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전월 동일구 행정동간 이동</c:v>
                </c:pt>
                <c:pt idx="1">
                  <c:v>주말 수</c:v>
                </c:pt>
                <c:pt idx="2">
                  <c:v>일수</c:v>
                </c:pt>
                <c:pt idx="3">
                  <c:v>월 (원-핫 합계)</c:v>
                </c:pt>
                <c:pt idx="4">
                  <c:v>전년 동월 이송 건수</c:v>
                </c:pt>
                <c:pt idx="5">
                  <c:v>전월 이송 건수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6.0000000000000001E-3</c:v>
                </c:pt>
                <c:pt idx="1">
                  <c:v>7.0000000000000001E-3</c:v>
                </c:pt>
                <c:pt idx="2">
                  <c:v>0.02</c:v>
                </c:pt>
                <c:pt idx="3">
                  <c:v>2.5999999999999999E-2</c:v>
                </c:pt>
                <c:pt idx="4">
                  <c:v>2.7E-2</c:v>
                </c:pt>
                <c:pt idx="5">
                  <c:v>0.89300000000000002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0F-4B28-8C3B-CBDAF0E267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4"/>
        <c:crosses val="autoZero"/>
        <c:crossBetween val="between"/>
        <c:majorUnit val="0.2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인구 밀집 </a:t>
            </a:r>
            <a:r>
              <a:rPr lang="en-US" altLang="ko-KR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· </a:t>
            </a:r>
            <a:r>
              <a:rPr 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Random Forest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중요도</c:v>
                </c:pt>
              </c:strCache>
            </c:strRef>
          </c:tx>
          <c:spPr>
            <a:solidFill>
              <a:srgbClr val="8A1414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22222"/>
                    </a:solidFill>
                    <a:latin typeface="에이투지체 5 Medium"/>
                    <a:ea typeface="에이투지체 5 Medium"/>
                    <a:cs typeface="에이투지체 5 Medium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전일 동일구 행정동간 이동</c:v>
                </c:pt>
                <c:pt idx="1">
                  <c:v>자치구 (원-핫 합계)</c:v>
                </c:pt>
                <c:pt idx="2">
                  <c:v>전일 일최대 이동인구</c:v>
                </c:pt>
                <c:pt idx="3">
                  <c:v>전일 주야간 인구 차이</c:v>
                </c:pt>
                <c:pt idx="4">
                  <c:v>전일 야간인구</c:v>
                </c:pt>
                <c:pt idx="5">
                  <c:v>7일 전 일최대인구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3.0000000000000001E-3</c:v>
                </c:pt>
                <c:pt idx="1">
                  <c:v>4.0000000000000001E-3</c:v>
                </c:pt>
                <c:pt idx="2">
                  <c:v>4.0000000000000001E-3</c:v>
                </c:pt>
                <c:pt idx="3">
                  <c:v>1.0999999999999999E-2</c:v>
                </c:pt>
                <c:pt idx="4">
                  <c:v>1.4E-2</c:v>
                </c:pt>
                <c:pt idx="5">
                  <c:v>0.96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70-4F99-A14F-A9ADD9C088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4"/>
        <c:crosses val="autoZero"/>
        <c:crossBetween val="between"/>
        <c:majorUnit val="0.2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r>
              <a:rPr lang="en-US" altLang="ko-KR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2026</a:t>
            </a: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년 상반기 이송 건수 예측 </a:t>
            </a:r>
            <a:r>
              <a:rPr lang="en-US" altLang="ko-KR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— </a:t>
            </a: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서울 </a:t>
            </a:r>
            <a:r>
              <a:rPr lang="en-US" altLang="ko-KR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25</a:t>
            </a: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개 구 합계 </a:t>
            </a:r>
            <a:r>
              <a:rPr lang="en-US" altLang="ko-KR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(</a:t>
            </a:r>
            <a:r>
              <a:rPr lang="ko-KR" altLang="en-US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건</a:t>
            </a:r>
            <a:r>
              <a:rPr lang="en-US" altLang="ko-KR" sz="1400" b="1" i="0" u="none" strike="noStrike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서울 합계</c:v>
                </c:pt>
              </c:strCache>
            </c:strRef>
          </c:tx>
          <c:spPr>
            <a:solidFill>
              <a:srgbClr val="D628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22222"/>
                    </a:solidFill>
                    <a:latin typeface="에이투지체 5 Medium"/>
                    <a:ea typeface="에이투지체 5 Medium"/>
                    <a:cs typeface="에이투지체 5 Medium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2026.01</c:v>
                </c:pt>
                <c:pt idx="1">
                  <c:v>2026.02</c:v>
                </c:pt>
                <c:pt idx="2">
                  <c:v>2026.03</c:v>
                </c:pt>
                <c:pt idx="3">
                  <c:v>2026.04</c:v>
                </c:pt>
                <c:pt idx="4">
                  <c:v>2026.05</c:v>
                </c:pt>
                <c:pt idx="5">
                  <c:v>2026.06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23880</c:v>
                </c:pt>
                <c:pt idx="1">
                  <c:v>21642</c:v>
                </c:pt>
                <c:pt idx="2">
                  <c:v>22570</c:v>
                </c:pt>
                <c:pt idx="3">
                  <c:v>23046</c:v>
                </c:pt>
                <c:pt idx="4">
                  <c:v>25136</c:v>
                </c:pt>
                <c:pt idx="5">
                  <c:v>24978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B2-4964-A876-C1F3A2A2CD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00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defRPr>
            </a:pPr>
            <a:endParaRPr lang="ko-KR"/>
          </a:p>
        </c:txPr>
        <c:crossAx val="2094734554"/>
        <c:crosses val="autoZero"/>
        <c:crossBetween val="between"/>
        <c:majorUnit val="1000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136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안녕하십니까</a:t>
            </a:r>
            <a:r>
              <a:rPr lang="en-US" altLang="ko-KR" dirty="0" smtClean="0"/>
              <a:t>. </a:t>
            </a:r>
            <a:r>
              <a:rPr lang="ko-KR" altLang="en-US" dirty="0" smtClean="0"/>
              <a:t>저희 팀은 </a:t>
            </a:r>
            <a:r>
              <a:rPr lang="en-US" altLang="ko-KR" dirty="0" smtClean="0"/>
              <a:t>'</a:t>
            </a:r>
            <a:r>
              <a:rPr lang="ko-KR" altLang="en-US" dirty="0" smtClean="0"/>
              <a:t>서울시 </a:t>
            </a:r>
            <a:r>
              <a:rPr lang="en-US" altLang="ko-KR" dirty="0" smtClean="0"/>
              <a:t>119 </a:t>
            </a:r>
            <a:r>
              <a:rPr lang="ko-KR" altLang="en-US" dirty="0" smtClean="0"/>
              <a:t>구급 수요 예측</a:t>
            </a:r>
            <a:r>
              <a:rPr lang="en-US" altLang="ko-KR" dirty="0" smtClean="0"/>
              <a:t>'</a:t>
            </a:r>
            <a:r>
              <a:rPr lang="ko-KR" altLang="en-US" dirty="0" smtClean="0"/>
              <a:t>을 주제로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서울시 자치구별 구급 수요와 </a:t>
            </a:r>
            <a:r>
              <a:rPr lang="ko-KR" altLang="en-US" dirty="0" err="1" smtClean="0"/>
              <a:t>생활인구의</a:t>
            </a:r>
            <a:r>
              <a:rPr lang="ko-KR" altLang="en-US" dirty="0" smtClean="0"/>
              <a:t> 특성을 분석하고 미래 수요를 예측한 뒤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 결과와 실시간 응급실 병상 정보를 함께 확인할 수 있는 웹 서비스를 구현했습니다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프로젝트는 크게 </a:t>
            </a:r>
            <a:r>
              <a:rPr lang="ko-KR" altLang="en-US" b="1" dirty="0" smtClean="0"/>
              <a:t>데이터 수집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전처리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분석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모델 개발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웹 서비스 구현</a:t>
            </a:r>
            <a:r>
              <a:rPr lang="ko-KR" altLang="en-US" dirty="0" smtClean="0"/>
              <a:t> 순서로 구성했고</a:t>
            </a:r>
            <a:r>
              <a:rPr lang="en-US" altLang="ko-KR" dirty="0" smtClean="0"/>
              <a:t>, </a:t>
            </a:r>
            <a:br>
              <a:rPr lang="en-US" altLang="ko-KR" dirty="0" smtClean="0"/>
            </a:br>
            <a:r>
              <a:rPr lang="ko-KR" altLang="en-US" dirty="0" smtClean="0"/>
              <a:t>발표에서는 세부적인 수치보다는 각 과정이 어떻게 연결되는지를 중심으로 진행하겠습니다</a:t>
            </a:r>
            <a:r>
              <a:rPr lang="en-US" altLang="ko-KR" dirty="0" smtClean="0"/>
              <a:t>. 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먼저 프로젝트의 목표와 진행 과정에 대해 간단히 </a:t>
            </a:r>
            <a:r>
              <a:rPr lang="ko-KR" altLang="en-US" dirty="0" err="1" smtClean="0"/>
              <a:t>설명드리겠습니다</a:t>
            </a:r>
            <a:r>
              <a:rPr lang="en-US" altLang="ko-KR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프로젝트의 핵심 목표는 </a:t>
            </a:r>
            <a:r>
              <a:rPr lang="ko-KR" altLang="en-US" b="1" dirty="0" smtClean="0"/>
              <a:t>앞으로 어느 지역에 구급 수요가 많아질지를 예측하는 것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r>
              <a:rPr lang="en-US" altLang="ko-KR" baseline="0" dirty="0" smtClean="0"/>
              <a:t> </a:t>
            </a:r>
            <a:r>
              <a:rPr lang="ko-KR" altLang="en-US" dirty="0" smtClean="0"/>
              <a:t>이를 위해 자치구별 구급 수요와 </a:t>
            </a:r>
            <a:r>
              <a:rPr lang="ko-KR" altLang="en-US" dirty="0" err="1" smtClean="0"/>
              <a:t>생활인구</a:t>
            </a:r>
            <a:r>
              <a:rPr lang="ko-KR" altLang="en-US" dirty="0" smtClean="0"/>
              <a:t> 패턴을 분석하고 미래 수요를 예측했습니다</a:t>
            </a:r>
            <a:r>
              <a:rPr lang="en-US" altLang="ko-KR" dirty="0" smtClean="0"/>
              <a:t>.</a:t>
            </a:r>
            <a:r>
              <a:rPr lang="en-US" altLang="ko-KR" baseline="0" dirty="0" smtClean="0"/>
              <a:t> </a:t>
            </a:r>
            <a:r>
              <a:rPr lang="ko-KR" altLang="en-US" dirty="0" smtClean="0"/>
              <a:t>그리고 예측 결과가 단순한 분석으로 끝나는 것이 아니라 </a:t>
            </a:r>
            <a:r>
              <a:rPr lang="ko-KR" altLang="en-US" b="1" dirty="0" smtClean="0"/>
              <a:t>구급차 배치를 판단하는 데 참고할 수 있도록 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응급실의 실시간 병상 정보까지 함께 확인할 수 있는 웹 서비스를 구축하는 것을 최종 목표로 했습니다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개발은 </a:t>
            </a:r>
            <a:r>
              <a:rPr lang="en-US" altLang="ko-KR" dirty="0" smtClean="0"/>
              <a:t>Python</a:t>
            </a:r>
            <a:r>
              <a:rPr lang="ko-KR" altLang="en-US" dirty="0" smtClean="0"/>
              <a:t>을 중심으로 진행했고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여러 </a:t>
            </a:r>
            <a:r>
              <a:rPr lang="ko-KR" altLang="en-US" dirty="0" err="1" smtClean="0"/>
              <a:t>머신러닝과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딥러닝</a:t>
            </a:r>
            <a:r>
              <a:rPr lang="ko-KR" altLang="en-US" dirty="0" smtClean="0"/>
              <a:t> 모델을 비교해 적합한 모델을 선정했습니다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일정과 업무 분담은 화면 자료로 대신하겠습니다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다음은 </a:t>
            </a:r>
            <a:r>
              <a:rPr lang="ko-KR" altLang="en-US" b="1" dirty="0" smtClean="0"/>
              <a:t>데이터 수집 과정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ko-KR" altLang="en-US" dirty="0" smtClean="0"/>
              <a:t>구급 수요를 분석하기 위해 여러 공공데이터를 수집했는데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dirty="0" smtClean="0"/>
              <a:t>가장 중요한 데이터는 실제 </a:t>
            </a:r>
            <a:r>
              <a:rPr lang="en-US" altLang="ko-KR" b="1" dirty="0" smtClean="0"/>
              <a:t>119 </a:t>
            </a:r>
            <a:r>
              <a:rPr lang="ko-KR" altLang="en-US" b="1" dirty="0" smtClean="0"/>
              <a:t>이송 건수</a:t>
            </a:r>
            <a:r>
              <a:rPr lang="ko-KR" altLang="en-US" dirty="0" smtClean="0"/>
              <a:t>이고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여기에 </a:t>
            </a:r>
            <a:r>
              <a:rPr lang="ko-KR" altLang="en-US" dirty="0" err="1" smtClean="0"/>
              <a:t>생활인구와</a:t>
            </a:r>
            <a:r>
              <a:rPr lang="ko-KR" altLang="en-US" dirty="0" smtClean="0"/>
              <a:t> 사고 관련 자료 등을 함께 수집했습니다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서로 다른 자료를 서울시 자치구를 기준으로 연결해서</a:t>
            </a:r>
            <a:r>
              <a:rPr lang="en-US" altLang="ko-KR" dirty="0" smtClean="0"/>
              <a:t>, </a:t>
            </a:r>
            <a:r>
              <a:rPr lang="ko-KR" altLang="en-US" b="1" dirty="0" smtClean="0"/>
              <a:t>지역별 구급 수요를 설명하고 예측할 수 있는 형태</a:t>
            </a:r>
            <a:r>
              <a:rPr lang="ko-KR" altLang="en-US" dirty="0" smtClean="0"/>
              <a:t>로 구성했습니다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수집한 자료를 모두 모델에 사용한 것이 아니고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예측 목적에 맞는 자료만 선별해서 사용했습니다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ko-KR" altLang="en-US" dirty="0" smtClean="0"/>
              <a:t>데이터의 양보다는 </a:t>
            </a:r>
            <a:r>
              <a:rPr lang="ko-KR" altLang="en-US" b="1" dirty="0" smtClean="0"/>
              <a:t>예측 목적과 기준에 맞는 데이터를 사용하는 것</a:t>
            </a:r>
            <a:r>
              <a:rPr lang="ko-KR" altLang="en-US" dirty="0" smtClean="0"/>
              <a:t>에 중점을 두었습니다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참고</a:t>
            </a:r>
            <a:r>
              <a:rPr lang="en-US" altLang="ko-KR" dirty="0" smtClean="0"/>
              <a:t>) 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데이터를 확인해보니 자료마다 집계 기준이나 시간 단위가 서로 달랐습니다</a:t>
            </a:r>
            <a:r>
              <a:rPr lang="en-US" altLang="ko-KR" dirty="0" smtClean="0"/>
              <a:t>.</a:t>
            </a:r>
            <a:r>
              <a:rPr lang="en-US" altLang="ko-KR" baseline="0" dirty="0" smtClean="0"/>
              <a:t> </a:t>
            </a:r>
            <a:r>
              <a:rPr lang="ko-KR" altLang="en-US" dirty="0" smtClean="0"/>
              <a:t>그래서 같은 기준으로 비교하기 어려운 데이터는 학습에서 제외했습니다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예를 들어 실시간 병상 정보는 특정 시점의 상태를 보여주기 때문에 장기간의 구급 수요 예측에는 사용하지 않고</a:t>
            </a:r>
            <a:r>
              <a:rPr lang="en-US" altLang="ko-KR" dirty="0" smtClean="0"/>
              <a:t>, </a:t>
            </a:r>
            <a:r>
              <a:rPr lang="ko-KR" altLang="en-US" b="1" dirty="0" smtClean="0"/>
              <a:t>웹 서비스에서 현재 병상 상태를 보여주는 용도</a:t>
            </a:r>
            <a:r>
              <a:rPr lang="ko-KR" altLang="en-US" dirty="0" smtClean="0"/>
              <a:t>로 활용했습니다</a:t>
            </a:r>
            <a:r>
              <a:rPr lang="en-US" altLang="ko-KR" dirty="0" smtClean="0"/>
              <a:t>.</a:t>
            </a:r>
            <a:r>
              <a:rPr lang="en-US" altLang="ko-KR" baseline="0" dirty="0" smtClean="0"/>
              <a:t> 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ko-KR" altLang="en-US" dirty="0" smtClean="0"/>
              <a:t>구급 이송 데이터는 공공 </a:t>
            </a:r>
            <a:r>
              <a:rPr lang="en-US" altLang="ko-KR" dirty="0" smtClean="0"/>
              <a:t>API</a:t>
            </a:r>
            <a:r>
              <a:rPr lang="ko-KR" altLang="en-US" dirty="0" smtClean="0"/>
              <a:t>를 이용해 수집했습니다</a:t>
            </a:r>
            <a:r>
              <a:rPr lang="en-US" altLang="ko-KR" dirty="0" smtClean="0"/>
              <a:t>.</a:t>
            </a:r>
            <a:r>
              <a:rPr lang="en-US" altLang="ko-KR" baseline="0" dirty="0" smtClean="0"/>
              <a:t> </a:t>
            </a:r>
            <a:r>
              <a:rPr lang="ko-KR" altLang="en-US" dirty="0" smtClean="0"/>
              <a:t>수집 과정에서는 소방서 기준으로 제공되는 데이터를 자치구 기준으로 연결했고</a:t>
            </a:r>
            <a:r>
              <a:rPr lang="en-US" altLang="ko-KR" dirty="0" smtClean="0"/>
              <a:t>, API </a:t>
            </a:r>
            <a:r>
              <a:rPr lang="ko-KR" altLang="en-US" dirty="0" smtClean="0"/>
              <a:t>오류나 누락에 대응할 수 있도록 </a:t>
            </a:r>
            <a:r>
              <a:rPr lang="ko-KR" altLang="en-US" b="1" dirty="0" smtClean="0"/>
              <a:t>빠진 데이터만 다시 수집하는 방식으로 자동화</a:t>
            </a:r>
            <a:r>
              <a:rPr lang="ko-KR" altLang="en-US" dirty="0" smtClean="0"/>
              <a:t>했습니다</a:t>
            </a:r>
            <a:r>
              <a:rPr lang="en-US" altLang="ko-KR" dirty="0" smtClean="0"/>
              <a:t>.</a:t>
            </a:r>
            <a:r>
              <a:rPr lang="en-US" altLang="ko-KR" baseline="0" dirty="0" smtClean="0"/>
              <a:t> </a:t>
            </a:r>
            <a:r>
              <a:rPr lang="ko-KR" altLang="en-US" dirty="0" smtClean="0"/>
              <a:t>이를 통해 반복적인 </a:t>
            </a:r>
            <a:r>
              <a:rPr lang="en-US" altLang="ko-KR" dirty="0" smtClean="0"/>
              <a:t>API </a:t>
            </a:r>
            <a:r>
              <a:rPr lang="ko-KR" altLang="en-US" dirty="0" smtClean="0"/>
              <a:t>호출을 줄이고 안정적으로 데이터를 확보했습니다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(</a:t>
            </a:r>
            <a:r>
              <a:rPr lang="ko-KR" altLang="en-US" dirty="0" smtClean="0"/>
              <a:t>참고</a:t>
            </a:r>
            <a:r>
              <a:rPr lang="en-US" altLang="ko-KR" dirty="0" smtClean="0"/>
              <a:t>) </a:t>
            </a:r>
            <a:r>
              <a:rPr lang="ko-KR" altLang="en-US" dirty="0" smtClean="0"/>
              <a:t>총 </a:t>
            </a:r>
            <a:r>
              <a:rPr lang="en-US" altLang="ko-KR" dirty="0" smtClean="0"/>
              <a:t>2,634</a:t>
            </a:r>
            <a:r>
              <a:rPr lang="ko-KR" altLang="en-US" dirty="0" smtClean="0"/>
              <a:t>행을 확보</a:t>
            </a:r>
            <a:r>
              <a:rPr lang="en-US" altLang="ko-KR" dirty="0" smtClean="0"/>
              <a:t>. </a:t>
            </a:r>
            <a:r>
              <a:rPr lang="ko-KR" altLang="en-US" dirty="0" smtClean="0"/>
              <a:t>예상 </a:t>
            </a:r>
            <a:r>
              <a:rPr lang="en-US" altLang="ko-KR" dirty="0" smtClean="0"/>
              <a:t>2,700</a:t>
            </a:r>
            <a:r>
              <a:rPr lang="ko-KR" altLang="en-US" dirty="0" smtClean="0"/>
              <a:t>칸 중 </a:t>
            </a:r>
            <a:r>
              <a:rPr lang="en-US" altLang="ko-KR" dirty="0" smtClean="0"/>
              <a:t>66</a:t>
            </a:r>
            <a:r>
              <a:rPr lang="ko-KR" altLang="en-US" dirty="0" smtClean="0"/>
              <a:t>칸이 비는데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성동과 금천은 소방서가 생기기 전 기간이라 원래 데이터가 없는 구간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다음은 수집한 데이터를 모델에서 사용할 수 있도록 정리한 </a:t>
            </a:r>
            <a:r>
              <a:rPr lang="ko-KR" altLang="en-US" b="1" dirty="0" smtClean="0"/>
              <a:t>전처리 과정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전처리는</a:t>
            </a:r>
            <a:r>
              <a:rPr lang="ko-KR" altLang="en-US" dirty="0" smtClean="0"/>
              <a:t> 크게 </a:t>
            </a:r>
            <a:r>
              <a:rPr lang="ko-KR" altLang="en-US" b="1" dirty="0" smtClean="0"/>
              <a:t>원본 정리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형식 통일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사용할 수 없는 구간 제외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데이터 통합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입력 변수 선택</a:t>
            </a:r>
            <a:r>
              <a:rPr lang="ko-KR" altLang="en-US" dirty="0" smtClean="0"/>
              <a:t> 순서로 진행했습니다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 과정을 통해 최종적으로 두 종류의 데이터를 만들었습니다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하나는 </a:t>
            </a:r>
            <a:r>
              <a:rPr lang="ko-KR" altLang="en-US" b="1" dirty="0" smtClean="0"/>
              <a:t>자치구별 월간 이송 건수를 예측하기 위한 데이터</a:t>
            </a:r>
            <a:r>
              <a:rPr lang="ko-KR" altLang="en-US" dirty="0" smtClean="0"/>
              <a:t>이고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다른 하나는 </a:t>
            </a:r>
            <a:r>
              <a:rPr lang="ko-KR" altLang="en-US" b="1" dirty="0" smtClean="0"/>
              <a:t>자치구별 일간 인구 밀집을 예측하기 위한 데이터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원본 자료는 파일마다 날짜나 지역 이름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데이터 형태가 달랐기 때문에 먼저 형식을 통일했습니다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그리고 관할구역 변경 등으로 같은 기준에서 비교하기 어려운 구간은 제외했습니다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특히 없는 값을 임의로 평균이나 특정 값으로 채우기보다는</a:t>
            </a:r>
            <a:r>
              <a:rPr lang="en-US" altLang="ko-KR" dirty="0" smtClean="0"/>
              <a:t>, </a:t>
            </a:r>
            <a:r>
              <a:rPr lang="ko-KR" altLang="en-US" b="1" dirty="0" smtClean="0"/>
              <a:t>실제 데이터가 존재하는 범위 안에서 학습하도록 처리했습니다</a:t>
            </a:r>
            <a:r>
              <a:rPr lang="en-US" altLang="ko-KR" b="1" dirty="0" smtClean="0"/>
              <a:t>.</a:t>
            </a:r>
            <a:endParaRPr lang="ko-KR" altLang="en-US" dirty="0" smtClean="0"/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ko-KR" altLang="en-US" dirty="0" err="1" smtClean="0"/>
              <a:t>전처리에서</a:t>
            </a:r>
            <a:r>
              <a:rPr lang="ko-KR" altLang="en-US" dirty="0" smtClean="0"/>
              <a:t> 가장 중요하게 생각한 원칙은 </a:t>
            </a:r>
            <a:r>
              <a:rPr lang="ko-KR" altLang="en-US" b="1" dirty="0" smtClean="0"/>
              <a:t>실제로 예측할 때 알 수 있는 정보만 사용하는 것</a:t>
            </a:r>
            <a:r>
              <a:rPr lang="ko-KR" altLang="en-US" dirty="0" smtClean="0"/>
              <a:t>이었습니다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이송 예측에는 지난달이나 작년 같은 시기의 정보를 사용하고</a:t>
            </a:r>
            <a:r>
              <a:rPr lang="en-US" altLang="ko-KR" dirty="0" smtClean="0"/>
              <a:t>, </a:t>
            </a:r>
          </a:p>
          <a:p>
            <a:r>
              <a:rPr lang="ko-KR" altLang="en-US" dirty="0" smtClean="0"/>
              <a:t>인구 예측에는 전날이나 일주일 전의 정보를 사용하는 방식으로 구성했습니다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이렇게 해서 실제 미래 예측 상황과 최대한 비슷한 학습 데이터를 만들었습니다</a:t>
            </a:r>
            <a:r>
              <a:rPr lang="en-US" altLang="ko-KR" dirty="0" smtClean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 err="1" smtClean="0"/>
              <a:t>결측치가</a:t>
            </a:r>
            <a:r>
              <a:rPr lang="ko-KR" altLang="en-US" b="1" dirty="0" smtClean="0"/>
              <a:t> 너무 많거나 예측 대상과 관계가 약한 변수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서로 비슷한 정보를 반복해서 가지고 있는 변수</a:t>
            </a:r>
            <a:r>
              <a:rPr lang="ko-KR" altLang="en-US" dirty="0" smtClean="0"/>
              <a:t>는 제외했습니다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이를 통해 필요한 정보만 남겨 모델이 불필요한 정보까지 학습하지 않도록 했습니다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이렇게 정리된 데이터를 바탕으로 먼저 </a:t>
            </a:r>
            <a:r>
              <a:rPr lang="ko-KR" altLang="en-US" b="1" dirty="0" err="1" smtClean="0"/>
              <a:t>생활인구와</a:t>
            </a:r>
            <a:r>
              <a:rPr lang="ko-KR" altLang="en-US" b="1" dirty="0" smtClean="0"/>
              <a:t> 구급 수요의 관계</a:t>
            </a:r>
            <a:r>
              <a:rPr lang="ko-KR" altLang="en-US" dirty="0" smtClean="0"/>
              <a:t>를 분석했습니다</a:t>
            </a:r>
            <a:r>
              <a:rPr lang="en-US" altLang="ko-KR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분석 결과를 쉽게 정리해보면</a:t>
            </a:r>
            <a:r>
              <a:rPr lang="en-US" altLang="ko-KR" dirty="0" smtClean="0"/>
              <a:t>, </a:t>
            </a:r>
            <a:r>
              <a:rPr lang="ko-KR" altLang="en-US" b="1" dirty="0" smtClean="0"/>
              <a:t>사람이 많이 생활하는 지역일수록 전체적인 이송 수요도 많은 경향</a:t>
            </a:r>
            <a:r>
              <a:rPr lang="ko-KR" altLang="en-US" dirty="0" smtClean="0"/>
              <a:t>이 나타난 걸 알 수 있었습니다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반면 같은 자치구 안에서 </a:t>
            </a:r>
            <a:r>
              <a:rPr lang="ko-KR" altLang="en-US" dirty="0" err="1" smtClean="0"/>
              <a:t>생활인구가</a:t>
            </a:r>
            <a:r>
              <a:rPr lang="ko-KR" altLang="en-US" dirty="0" smtClean="0"/>
              <a:t> 매달 조금씩 변하는 것이 이송 건수의 변화와 직접적으로 강하게 연결되지는 않았습니다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따라서 </a:t>
            </a:r>
            <a:r>
              <a:rPr lang="ko-KR" altLang="en-US" dirty="0" err="1" smtClean="0"/>
              <a:t>생활인구는</a:t>
            </a:r>
            <a:r>
              <a:rPr lang="ko-KR" altLang="en-US" dirty="0" smtClean="0"/>
              <a:t> </a:t>
            </a:r>
            <a:r>
              <a:rPr lang="ko-KR" altLang="en-US" b="1" dirty="0" smtClean="0"/>
              <a:t>어느 지역의 기본적인 구급 수요가 큰지를 설명하는 데는 유용하지만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다음 달 수요 변화를 예측할 때는 과거 이송 기록이나 계절적인 특징도 함께 고려해야 한다고 판단했습니다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 그래프는 앞에서 설명한 관계를 시각적으로 확인한 결과입니다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자치구별로 보면 </a:t>
            </a:r>
            <a:r>
              <a:rPr lang="ko-KR" altLang="en-US" dirty="0" err="1" smtClean="0"/>
              <a:t>생활인구가</a:t>
            </a:r>
            <a:r>
              <a:rPr lang="ko-KR" altLang="en-US" dirty="0" smtClean="0"/>
              <a:t> 많은 지역에서 평균적인 이송 수요도 증가하는 흐름을 확인할 수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따라서 이후에는 단순한 월별 인구 변화보다는 </a:t>
            </a:r>
            <a:r>
              <a:rPr lang="ko-KR" altLang="en-US" b="1" dirty="0" smtClean="0"/>
              <a:t>지역 자체가 가지고 있는 인구 규모와 특성</a:t>
            </a:r>
            <a:r>
              <a:rPr lang="ko-KR" altLang="en-US" dirty="0" smtClean="0"/>
              <a:t>도 함께 살펴봤습니다</a:t>
            </a:r>
            <a:r>
              <a:rPr lang="en-US" altLang="ko-KR" dirty="0" smtClean="0"/>
              <a:t>.</a:t>
            </a:r>
          </a:p>
          <a:p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자치구마다 </a:t>
            </a:r>
            <a:r>
              <a:rPr lang="ko-KR" altLang="en-US" dirty="0" err="1" smtClean="0"/>
              <a:t>생활인구의</a:t>
            </a:r>
            <a:r>
              <a:rPr lang="ko-KR" altLang="en-US" dirty="0" smtClean="0"/>
              <a:t> 특성이 다르기 때문에 여러 인구 지표를 이용해 지역을 유형별로 </a:t>
            </a:r>
            <a:r>
              <a:rPr lang="ko-KR" altLang="en-US" dirty="0" err="1" smtClean="0"/>
              <a:t>나누어봤습니다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 결과 인구 규모가 크다고 해서 </a:t>
            </a:r>
            <a:r>
              <a:rPr lang="ko-KR" altLang="en-US" b="1" dirty="0" smtClean="0"/>
              <a:t>인구 대비 구급 수요까지 반드시 높은 것은 아니었습니다</a:t>
            </a:r>
            <a:r>
              <a:rPr lang="en-US" altLang="ko-KR" b="1" dirty="0" smtClean="0"/>
              <a:t>.</a:t>
            </a:r>
            <a:endParaRPr lang="ko-KR" altLang="en-US" dirty="0" smtClean="0"/>
          </a:p>
          <a:p>
            <a:r>
              <a:rPr lang="ko-KR" altLang="en-US" dirty="0" smtClean="0"/>
              <a:t>즉 구급 수요를 판단할 때는 단순히 사람이 많은 지역만 보는 것이 아니라 </a:t>
            </a:r>
            <a:r>
              <a:rPr lang="ko-KR" altLang="en-US" b="1" dirty="0" smtClean="0"/>
              <a:t>각 지역이 가지고 있는 특성도 함께 고려할 필요가 있다</a:t>
            </a:r>
            <a:r>
              <a:rPr lang="ko-KR" altLang="en-US" dirty="0" smtClean="0"/>
              <a:t>는 것을 확인했습니다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이송 건수를 월별로 비교했을 때도 일정한 </a:t>
            </a:r>
            <a:r>
              <a:rPr lang="ko-KR" altLang="en-US" b="1" dirty="0" smtClean="0"/>
              <a:t>계절적 패턴</a:t>
            </a:r>
            <a:r>
              <a:rPr lang="ko-KR" altLang="en-US" dirty="0" smtClean="0"/>
              <a:t>이 나타났습니다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특정 시기에 수요가 반복적으로 증가하거나 감소하는 흐름이 있었기 때문에</a:t>
            </a:r>
            <a:r>
              <a:rPr lang="en-US" altLang="ko-KR" dirty="0" smtClean="0"/>
              <a:t>, </a:t>
            </a:r>
            <a:r>
              <a:rPr lang="ko-KR" altLang="en-US" dirty="0" smtClean="0"/>
              <a:t>미래를 예측할 때도 이러한 계절성을 고려할 필요가 있다고 판단했습니다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그래서 이후 모델에서는 월 정보나 과거 같은 시기의 이송 기록 등을 함께 활용했습니다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다음은 이러한 분석 결과를 이용한 </a:t>
            </a:r>
            <a:r>
              <a:rPr lang="ko-KR" altLang="en-US" b="1" dirty="0" smtClean="0"/>
              <a:t>예측 모델 개발 과정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모델을 학습할 때는 </a:t>
            </a:r>
            <a:r>
              <a:rPr lang="ko-KR" altLang="en-US" b="1" dirty="0" smtClean="0"/>
              <a:t>시간 순서대로 학습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검증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평가 데이터로 나눴습니다</a:t>
            </a:r>
            <a:r>
              <a:rPr lang="en-US" altLang="ko-KR" b="1" dirty="0" smtClean="0"/>
              <a:t>.</a:t>
            </a:r>
            <a:endParaRPr lang="ko-KR" altLang="en-US" dirty="0" smtClean="0"/>
          </a:p>
          <a:p>
            <a:r>
              <a:rPr lang="ko-KR" altLang="en-US" dirty="0" smtClean="0"/>
              <a:t>먼저 과거 데이터로 모델을 학습하고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 이후 데이터로 어떤 모델과 설정이 좋은지를 선택했습니다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그리고 가장 최근 데이터는 모든 선택이 끝난 후 </a:t>
            </a:r>
            <a:r>
              <a:rPr lang="ko-KR" altLang="en-US" b="1" dirty="0" smtClean="0"/>
              <a:t>최종 성능을 확인하는 용도</a:t>
            </a:r>
            <a:r>
              <a:rPr lang="ko-KR" altLang="en-US" dirty="0" smtClean="0"/>
              <a:t>로만 사용했습니다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실제 미래를 예측하는 상황과 최대한 비슷한 환경에서 모델을 평가하기 위한 방법입니다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앞의 분석에서는 </a:t>
            </a:r>
            <a:r>
              <a:rPr lang="ko-KR" altLang="en-US" dirty="0" err="1" smtClean="0"/>
              <a:t>생활인구와</a:t>
            </a:r>
            <a:r>
              <a:rPr lang="ko-KR" altLang="en-US" dirty="0" smtClean="0"/>
              <a:t> 이송 건수 사이의 관계가 확인됐습니다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그런데 실제 모델에 적용해보니 </a:t>
            </a:r>
            <a:r>
              <a:rPr lang="ko-KR" altLang="en-US" b="1" dirty="0" smtClean="0"/>
              <a:t>상관관계가 높다고 해서 반드시 예측 성능이 좋아지는 것은 아니었습니다</a:t>
            </a:r>
            <a:r>
              <a:rPr lang="en-US" altLang="ko-KR" b="1" dirty="0" smtClean="0"/>
              <a:t>.</a:t>
            </a:r>
            <a:endParaRPr lang="ko-KR" altLang="en-US" dirty="0" smtClean="0"/>
          </a:p>
          <a:p>
            <a:r>
              <a:rPr lang="ko-KR" altLang="en-US" dirty="0" smtClean="0"/>
              <a:t>특히 과거 이송 기록이 이미 포함된 경우에는 </a:t>
            </a:r>
            <a:r>
              <a:rPr lang="ko-KR" altLang="en-US" dirty="0" err="1" smtClean="0"/>
              <a:t>생활인구</a:t>
            </a:r>
            <a:r>
              <a:rPr lang="ko-KR" altLang="en-US" dirty="0" smtClean="0"/>
              <a:t> 변수를 더 추가해도 성능 향상이 크지 않았습니다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그래서 분석 결과만 보고 변수를 결정하지 않고</a:t>
            </a:r>
            <a:r>
              <a:rPr lang="en-US" altLang="ko-KR" dirty="0" smtClean="0"/>
              <a:t>, </a:t>
            </a:r>
            <a:r>
              <a:rPr lang="ko-KR" altLang="en-US" b="1" dirty="0" smtClean="0"/>
              <a:t>실제 예측 성능을 비교해서 사용할 변수를 결정했습니다</a:t>
            </a:r>
            <a:r>
              <a:rPr lang="en-US" altLang="ko-KR" b="1" dirty="0" smtClean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반대로 월의 길이나 주말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공휴일과 같은 </a:t>
            </a:r>
            <a:r>
              <a:rPr lang="ko-KR" altLang="en-US" b="1" dirty="0" smtClean="0"/>
              <a:t>달력 정보는 예측 성능 개선에 도움이 됐습니다</a:t>
            </a:r>
            <a:r>
              <a:rPr lang="en-US" altLang="ko-KR" b="1" dirty="0" smtClean="0"/>
              <a:t>.</a:t>
            </a:r>
            <a:endParaRPr lang="ko-KR" altLang="en-US" dirty="0" smtClean="0"/>
          </a:p>
          <a:p>
            <a:r>
              <a:rPr lang="ko-KR" altLang="en-US" dirty="0" smtClean="0"/>
              <a:t>구급 수요에는 </a:t>
            </a:r>
            <a:r>
              <a:rPr lang="ko-KR" altLang="en-US" dirty="0" err="1" smtClean="0"/>
              <a:t>인구뿐</a:t>
            </a:r>
            <a:r>
              <a:rPr lang="ko-KR" altLang="en-US" dirty="0" smtClean="0"/>
              <a:t> 아니라 시기적인 특성도 영향을 준다는 것을 모델 실험을 통해 확인할 수 있었습니다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이렇게 최종 입력 정보를 결정한 뒤 여러 모델을 같은 조건에서 비교했습니다</a:t>
            </a:r>
            <a:r>
              <a:rPr lang="en-US" altLang="ko-KR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ko-KR" altLang="en-US" dirty="0" smtClean="0"/>
              <a:t>이송 건수 예측에는 선형 모델부터 트리 기반 모델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딥러닝</a:t>
            </a:r>
            <a:r>
              <a:rPr lang="ko-KR" altLang="en-US" dirty="0" smtClean="0"/>
              <a:t> 모델까지 여러 방법을 비교했습니다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그리고 단일 </a:t>
            </a:r>
            <a:r>
              <a:rPr lang="ko-KR" altLang="en-US" dirty="0" err="1" smtClean="0"/>
              <a:t>모델뿐</a:t>
            </a:r>
            <a:r>
              <a:rPr lang="ko-KR" altLang="en-US" dirty="0" smtClean="0"/>
              <a:t> 아니라 서로 다른 모델의 장점을 결합하는 방법도 실험했습니다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 결과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전체적인 변화 경향을 안정적으로 반영하는 리지 와 복잡한 패턴을 학습하는 </a:t>
            </a:r>
            <a:r>
              <a:rPr lang="ko-KR" altLang="en-US" dirty="0" err="1" smtClean="0"/>
              <a:t>그레디언트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부스팅</a:t>
            </a:r>
            <a:r>
              <a:rPr lang="ko-KR" altLang="en-US" dirty="0" smtClean="0"/>
              <a:t> 을 결합했을 때 서로의 단점을 보완할 수 있었고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실제값과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예측값의</a:t>
            </a:r>
            <a:r>
              <a:rPr lang="ko-KR" altLang="en-US" dirty="0" smtClean="0"/>
              <a:t> 차이도 가장 안정적으로 나타났습니다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따라서 </a:t>
            </a:r>
            <a:r>
              <a:rPr lang="ko-KR" altLang="en-US" dirty="0" err="1" smtClean="0"/>
              <a:t>그레디언트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부스팅</a:t>
            </a:r>
            <a:r>
              <a:rPr lang="ko-KR" altLang="en-US" dirty="0" smtClean="0"/>
              <a:t> 과 리지의 결과를 앙상블 모델을 최종 모델로 선정했습니다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(</a:t>
            </a:r>
            <a:r>
              <a:rPr lang="ko-KR" altLang="en-US" dirty="0" smtClean="0"/>
              <a:t>참고</a:t>
            </a:r>
            <a:r>
              <a:rPr lang="en-US" altLang="ko-KR" dirty="0" smtClean="0"/>
              <a:t>)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＇</a:t>
            </a:r>
            <a:r>
              <a:rPr lang="ko-KR" altLang="en-US" dirty="0" smtClean="0"/>
              <a:t>기준선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마지막 달 유지 </a:t>
            </a:r>
            <a:r>
              <a:rPr lang="en-US" altLang="ko-KR" dirty="0" smtClean="0"/>
              <a:t>; </a:t>
            </a:r>
            <a:r>
              <a:rPr lang="ko-KR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 달 = 지난달 값 (6개월 예측이면 예측 시작 전 마지막 달 값을 6개월 내내 유지)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‘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최종 모델의 </a:t>
            </a:r>
            <a:r>
              <a:rPr lang="ko-KR" altLang="en-US" dirty="0" err="1" smtClean="0"/>
              <a:t>예측값과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실제값을</a:t>
            </a:r>
            <a:r>
              <a:rPr lang="ko-KR" altLang="en-US" dirty="0" smtClean="0"/>
              <a:t> 비교한 결과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대부분의 기간에서 전체적인 변화 흐름을 잘 따라가는 것을 확인했습니다</a:t>
            </a:r>
            <a:r>
              <a:rPr lang="en-US" altLang="ko-KR" dirty="0" smtClean="0"/>
              <a:t>.</a:t>
            </a:r>
            <a:r>
              <a:rPr lang="en-US" altLang="ko-KR" baseline="0" dirty="0" smtClean="0"/>
              <a:t> </a:t>
            </a:r>
            <a:r>
              <a:rPr lang="ko-KR" altLang="en-US" dirty="0" smtClean="0"/>
              <a:t>다만 수요가 갑자기 크게 증가하는 시점에서는 실제보다 낮게 예측하는 경우가 있었습니다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따라서 모델이 일반적인 수요 흐름을 예측하는 데는 유용하지만</a:t>
            </a:r>
            <a:r>
              <a:rPr lang="en-US" altLang="ko-KR" dirty="0" smtClean="0"/>
              <a:t>, </a:t>
            </a:r>
            <a:r>
              <a:rPr lang="ko-KR" altLang="en-US" b="1" dirty="0" smtClean="0"/>
              <a:t>갑작스러운 수요 급증까지 완벽하게 예측하는 데는 한계가 있다</a:t>
            </a:r>
            <a:r>
              <a:rPr lang="ko-KR" altLang="en-US" dirty="0" smtClean="0"/>
              <a:t>고 판단했습니다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자치구별로도 성능 차이를 확인했습니다</a:t>
            </a:r>
            <a:r>
              <a:rPr lang="en-US" altLang="ko-KR" dirty="0" smtClean="0"/>
              <a:t>.</a:t>
            </a:r>
            <a:r>
              <a:rPr lang="en-US" altLang="ko-KR" baseline="0" dirty="0" smtClean="0"/>
              <a:t> </a:t>
            </a:r>
            <a:r>
              <a:rPr lang="ko-KR" altLang="en-US" dirty="0" smtClean="0"/>
              <a:t>지역에 따라 차이는 있었지만 전체적으로 일정한 예측 성능을 보였고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특정 지역에서는 상대적으로 오차가 커지는 경우도 확인했습니다</a:t>
            </a:r>
            <a:r>
              <a:rPr lang="en-US" altLang="ko-KR" dirty="0" smtClean="0"/>
              <a:t>.</a:t>
            </a:r>
            <a:r>
              <a:rPr lang="en-US" altLang="ko-KR" baseline="0" dirty="0" smtClean="0"/>
              <a:t> </a:t>
            </a:r>
            <a:r>
              <a:rPr lang="ko-KR" altLang="en-US" dirty="0" smtClean="0"/>
              <a:t>이 부분은 향후 지역별 특성을 추가로 반영해 개선할 수 있다고 판단했습니다</a:t>
            </a:r>
            <a:r>
              <a:rPr lang="en-US" altLang="ko-KR" dirty="0" smtClean="0"/>
              <a:t>.</a:t>
            </a:r>
          </a:p>
          <a:p>
            <a:endParaRPr lang="en-US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(</a:t>
            </a:r>
            <a:r>
              <a:rPr lang="ko-KR" altLang="en-US" dirty="0" smtClean="0"/>
              <a:t>참고</a:t>
            </a:r>
            <a:r>
              <a:rPr lang="en-US" altLang="ko-KR" dirty="0" smtClean="0"/>
              <a:t>)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지역별 특성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페스티벌 등의 인구 밀집 이벤트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지역별 연령대 분포</a:t>
            </a:r>
            <a:r>
              <a:rPr lang="en-US" altLang="ko-KR" dirty="0" smtClean="0"/>
              <a:t>(</a:t>
            </a:r>
            <a:r>
              <a:rPr lang="ko-KR" altLang="en-US" dirty="0" smtClean="0"/>
              <a:t>구급 환자 비율의 </a:t>
            </a:r>
            <a:r>
              <a:rPr lang="en-US" altLang="ko-KR" dirty="0" smtClean="0"/>
              <a:t>50% </a:t>
            </a:r>
            <a:r>
              <a:rPr lang="ko-KR" altLang="en-US" dirty="0" smtClean="0"/>
              <a:t>이상이 </a:t>
            </a:r>
            <a:r>
              <a:rPr lang="en-US" altLang="ko-KR" dirty="0" smtClean="0"/>
              <a:t>60</a:t>
            </a:r>
            <a:r>
              <a:rPr lang="ko-KR" altLang="en-US" dirty="0" smtClean="0"/>
              <a:t>대 이상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제조업</a:t>
            </a:r>
            <a:r>
              <a:rPr lang="en-US" altLang="ko-KR" dirty="0" smtClean="0"/>
              <a:t>/</a:t>
            </a:r>
            <a:r>
              <a:rPr lang="ko-KR" altLang="en-US" dirty="0" smtClean="0"/>
              <a:t>건설업 추세</a:t>
            </a:r>
            <a:r>
              <a:rPr lang="en-US" altLang="ko-KR" dirty="0" smtClean="0"/>
              <a:t>(</a:t>
            </a:r>
            <a:r>
              <a:rPr lang="ko-KR" altLang="en-US" dirty="0" smtClean="0"/>
              <a:t>낙상 </a:t>
            </a:r>
            <a:r>
              <a:rPr lang="en-US" altLang="ko-KR" dirty="0" smtClean="0"/>
              <a:t>13%) </a:t>
            </a:r>
            <a:r>
              <a:rPr lang="ko-KR" altLang="en-US" dirty="0" smtClean="0"/>
              <a:t>등</a:t>
            </a:r>
          </a:p>
          <a:p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인구 밀집 예측도 여러 모델을 비교해봤는데요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그중 </a:t>
            </a:r>
            <a:r>
              <a:rPr lang="en-US" altLang="ko-KR" dirty="0" smtClean="0"/>
              <a:t>Random Forest</a:t>
            </a:r>
            <a:r>
              <a:rPr lang="ko-KR" altLang="en-US" dirty="0" smtClean="0"/>
              <a:t>가 가장 좋은 성능을 보여 최종 모델로 선정했습니다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특히 지역이나 시간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계절에 따라 달라지는 인구 변화 패턴을 비교적 안정적으로 예측할 수 있었습니다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이송 건수의 경우 검증 및 평가의 정확도 향상을 위해 앙상블을 사용했지만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인구 밀집 모델의 경우 </a:t>
            </a:r>
            <a:r>
              <a:rPr lang="en-US" altLang="ko-KR" dirty="0" smtClean="0"/>
              <a:t>98%</a:t>
            </a:r>
            <a:r>
              <a:rPr lang="ko-KR" altLang="en-US" dirty="0" smtClean="0"/>
              <a:t>를 달성하여 추가적인 성능 향상 작업은 하지 않았습니다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전체적인 실제</a:t>
            </a:r>
            <a:r>
              <a:rPr lang="en-US" altLang="ko-KR" dirty="0" smtClean="0"/>
              <a:t>/</a:t>
            </a:r>
            <a:r>
              <a:rPr lang="ko-KR" altLang="en-US" dirty="0" smtClean="0"/>
              <a:t>예측 비교와 자치구별 정확도 입니다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모델이 어떤 정보를 중요하게 </a:t>
            </a:r>
            <a:r>
              <a:rPr lang="ko-KR" altLang="en-US" dirty="0" err="1" smtClean="0"/>
              <a:t>사용했는지도</a:t>
            </a:r>
            <a:r>
              <a:rPr lang="ko-KR" altLang="en-US" dirty="0" smtClean="0"/>
              <a:t> 확인했습니다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모두 예측 두 </a:t>
            </a:r>
            <a:r>
              <a:rPr lang="ko-KR" altLang="en-US" b="1" dirty="0" smtClean="0"/>
              <a:t>가장 가까운 과거 값이 가장 중요한 정보로 작용했고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생활인구나</a:t>
            </a:r>
            <a:r>
              <a:rPr lang="ko-KR" altLang="en-US" dirty="0" smtClean="0"/>
              <a:t> 달력 정보 등이 이를 보완하는 형태로 나타났습니다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앞에서 진행한 데이터 분석 결과와도 어느 정도 일치하는 부분입니다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최종 모델을 선정한 뒤에는 사용 가능한 전체 데이터로 다시 학습하고 모델을 저장했습니다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그리고 이 모델을 이용해 </a:t>
            </a:r>
            <a:r>
              <a:rPr lang="ko-KR" altLang="en-US" b="1" dirty="0" smtClean="0"/>
              <a:t>서울시 자치구별 미래 구급 수요를 예측했습니다</a:t>
            </a:r>
            <a:r>
              <a:rPr lang="en-US" altLang="ko-KR" b="1" dirty="0" smtClean="0"/>
              <a:t>.</a:t>
            </a:r>
            <a:endParaRPr lang="ko-KR" altLang="en-US" dirty="0" smtClean="0"/>
          </a:p>
          <a:p>
            <a:r>
              <a:rPr lang="ko-KR" altLang="en-US" dirty="0" smtClean="0"/>
              <a:t>이렇게 생성된 예측 결과는 웹 서비스와 연결해 사용자가 직접 확인할 수 있도록 했습니다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여기까지가 데이터를 이용해 미래 구급 수요를 예측하는 과정이었습니다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다음으로 이 결과를 실제 서비스 형태로 구현한 내용을 보여드리겠습니다</a:t>
            </a:r>
            <a:r>
              <a:rPr lang="en-US" altLang="ko-KR" dirty="0" smtClean="0"/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웹 서비스는 크게 </a:t>
            </a:r>
            <a:r>
              <a:rPr lang="ko-KR" altLang="en-US" b="1" dirty="0" smtClean="0"/>
              <a:t>구급 수요 분석</a:t>
            </a:r>
            <a:r>
              <a:rPr lang="en-US" altLang="ko-KR" b="1" dirty="0" smtClean="0"/>
              <a:t>·</a:t>
            </a:r>
            <a:r>
              <a:rPr lang="ko-KR" altLang="en-US" b="1" dirty="0" smtClean="0"/>
              <a:t>예측과 실시간 응급실 병상 관제</a:t>
            </a:r>
            <a:r>
              <a:rPr lang="ko-KR" altLang="en-US" dirty="0" smtClean="0"/>
              <a:t> 두 가지 기능으로 구성했습니다</a:t>
            </a:r>
            <a:r>
              <a:rPr lang="en-US" altLang="ko-KR" dirty="0" smtClean="0"/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지금까지 진행한 분석과 예측 결과를 실제로 활용하기 쉽도록 하나의 웹 서비스로 구현했습니다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메인 화면에서 </a:t>
            </a:r>
            <a:r>
              <a:rPr lang="ko-KR" altLang="en-US" b="1" dirty="0" smtClean="0"/>
              <a:t>구급 수요 분석</a:t>
            </a:r>
            <a:r>
              <a:rPr lang="en-US" altLang="ko-KR" b="1" dirty="0" smtClean="0"/>
              <a:t>·</a:t>
            </a:r>
            <a:r>
              <a:rPr lang="ko-KR" altLang="en-US" b="1" dirty="0" smtClean="0"/>
              <a:t>예측 서비스와 실시간 병상 관제 서비스</a:t>
            </a:r>
            <a:r>
              <a:rPr lang="ko-KR" altLang="en-US" dirty="0" smtClean="0"/>
              <a:t>로 이동할 수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즉 앞에서 설명한 예측 결과와 실시간 의료 정보를 한 서비스 안에서 확인할 수 있도록 구성했습니다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먼저 구급 수요 분석</a:t>
            </a:r>
            <a:r>
              <a:rPr lang="en-US" altLang="ko-KR" dirty="0" smtClean="0"/>
              <a:t>·</a:t>
            </a:r>
            <a:r>
              <a:rPr lang="ko-KR" altLang="en-US" dirty="0" smtClean="0"/>
              <a:t>예측 화면입니다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사용자가 원하는 기간과 지역을 선택하면 </a:t>
            </a:r>
            <a:r>
              <a:rPr lang="ko-KR" altLang="en-US" b="1" dirty="0" smtClean="0"/>
              <a:t>예상되는 구급 수요와 지역별 순위</a:t>
            </a:r>
            <a:r>
              <a:rPr lang="ko-KR" altLang="en-US" dirty="0" smtClean="0"/>
              <a:t>를 확인할 수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특정 자치구를 선택하면 예측 결과뿐 아니라 </a:t>
            </a:r>
            <a:r>
              <a:rPr lang="ko-KR" altLang="en-US" dirty="0" err="1" smtClean="0"/>
              <a:t>생활인구와</a:t>
            </a:r>
            <a:r>
              <a:rPr lang="ko-KR" altLang="en-US" dirty="0" smtClean="0"/>
              <a:t> 구급 수요의 관계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사고 관련 정보 등 앞에서 분석했던 결과도 함께 확인할 수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특히 모델의 예측 결과와 웹 데이터를 </a:t>
            </a:r>
            <a:r>
              <a:rPr lang="ko-KR" altLang="en-US" dirty="0" err="1" smtClean="0"/>
              <a:t>연결해두어</a:t>
            </a:r>
            <a:r>
              <a:rPr lang="ko-KR" altLang="en-US" dirty="0" smtClean="0"/>
              <a:t> </a:t>
            </a:r>
            <a:r>
              <a:rPr lang="ko-KR" altLang="en-US" b="1" dirty="0" smtClean="0"/>
              <a:t>분석 결과가 실제 서비스 화면까지 이어지도록 구현했습니다</a:t>
            </a:r>
            <a:r>
              <a:rPr lang="en-US" altLang="ko-KR" b="1" dirty="0" smtClean="0"/>
              <a:t>.</a:t>
            </a:r>
            <a:endParaRPr lang="ko-KR" altLang="en-US" dirty="0" smtClean="0"/>
          </a:p>
          <a:p>
            <a:endParaRPr lang="en-US" altLang="ko-KR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두 번째는 </a:t>
            </a:r>
            <a:r>
              <a:rPr lang="ko-KR" altLang="en-US" b="1" dirty="0" smtClean="0"/>
              <a:t>실시간 응급실 병상 관제 기능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공공데이터</a:t>
            </a:r>
            <a:r>
              <a:rPr lang="ko-KR" altLang="en-US" dirty="0" smtClean="0"/>
              <a:t> </a:t>
            </a:r>
            <a:r>
              <a:rPr lang="en-US" altLang="ko-KR" dirty="0" smtClean="0"/>
              <a:t>API</a:t>
            </a:r>
            <a:r>
              <a:rPr lang="ko-KR" altLang="en-US" dirty="0" smtClean="0"/>
              <a:t>를 이용해 서울시 응급실의 </a:t>
            </a:r>
            <a:r>
              <a:rPr lang="ko-KR" altLang="en-US" dirty="0" err="1" smtClean="0"/>
              <a:t>가용병상</a:t>
            </a:r>
            <a:r>
              <a:rPr lang="ko-KR" altLang="en-US" dirty="0" smtClean="0"/>
              <a:t> 정보를 조회하고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지역별 병상 상황을 한 화면에서 확인할 수 있도록 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사용자는 원하는 자치구나 병원을 검색할 수 있고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현재 병상 상황에 따라 어떤 지역을 우선적으로 확인해야 하는지도 쉽게 파악할 수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일부 지역처럼 </a:t>
            </a:r>
            <a:r>
              <a:rPr lang="en-US" altLang="ko-KR" dirty="0" smtClean="0"/>
              <a:t>API</a:t>
            </a:r>
            <a:r>
              <a:rPr lang="ko-KR" altLang="en-US" dirty="0" smtClean="0"/>
              <a:t>에서 실시간 정보가 제공되지 않는 경우에는 임의의 값을 만들지 않고 </a:t>
            </a:r>
            <a:r>
              <a:rPr lang="ko-KR" altLang="en-US" b="1" dirty="0" smtClean="0"/>
              <a:t>실시간 확인이 불가능하다는 점을 표시하고 참고 정보를 제공하도록 했습니다</a:t>
            </a:r>
            <a:r>
              <a:rPr lang="en-US" altLang="ko-KR" b="1" dirty="0" smtClean="0"/>
              <a:t>.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결과적으로 모델 학습에는 사용하지 않았던 실시간 병상 데이터를 </a:t>
            </a:r>
            <a:r>
              <a:rPr lang="ko-KR" altLang="en-US" b="1" dirty="0" smtClean="0"/>
              <a:t>서비스 단계에서 다시 활용했습니다</a:t>
            </a:r>
            <a:r>
              <a:rPr lang="en-US" altLang="ko-KR" b="1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마지막으로 프로젝트 결과를 정리하겠습니다</a:t>
            </a:r>
            <a:r>
              <a:rPr lang="en-US" altLang="ko-KR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이번 프로젝트에서는 </a:t>
            </a:r>
            <a:r>
              <a:rPr lang="ko-KR" altLang="en-US" b="1" dirty="0" err="1" smtClean="0"/>
              <a:t>공공데이터</a:t>
            </a:r>
            <a:r>
              <a:rPr lang="ko-KR" altLang="en-US" b="1" dirty="0" smtClean="0"/>
              <a:t> 수집부터 전처리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분석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예측 모델 개발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웹 서비스 구현까지 하나의 흐름으로 연결했습니다</a:t>
            </a:r>
            <a:r>
              <a:rPr lang="en-US" altLang="ko-KR" b="1" dirty="0" smtClean="0"/>
              <a:t>.</a:t>
            </a:r>
            <a:endParaRPr lang="ko-KR" altLang="en-US" dirty="0" smtClean="0"/>
          </a:p>
          <a:p>
            <a:r>
              <a:rPr lang="ko-KR" altLang="en-US" dirty="0" smtClean="0"/>
              <a:t>분석을 통해 </a:t>
            </a:r>
            <a:r>
              <a:rPr lang="ko-KR" altLang="en-US" dirty="0" err="1" smtClean="0"/>
              <a:t>생활인구가</a:t>
            </a:r>
            <a:r>
              <a:rPr lang="ko-KR" altLang="en-US" dirty="0" smtClean="0"/>
              <a:t> 지역별 구급 수요 규모와 관계가 있다는 것을 확인했고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실제 미래 예측에서는 과거 이송 기록과 계절적인 특징도 중요하다는 것을 확인했습니다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이를 바탕으로 여러 모델과 입력 변수를 비교해 최종 예측 모델을 선정하고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 결과를 실제 웹 서비스와 연결했습니다</a:t>
            </a:r>
            <a:r>
              <a:rPr lang="en-US" altLang="ko-KR" dirty="0" smtClean="0"/>
              <a:t>. 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향후 유관 부서의 협업이 있을 경우</a:t>
            </a:r>
            <a:r>
              <a:rPr lang="en-US" altLang="ko-KR" dirty="0" smtClean="0"/>
              <a:t>,</a:t>
            </a:r>
            <a:r>
              <a:rPr lang="ko-KR" altLang="en-US" dirty="0" smtClean="0"/>
              <a:t> 실시간 </a:t>
            </a:r>
            <a:r>
              <a:rPr lang="en-US" altLang="ko-KR" dirty="0" smtClean="0"/>
              <a:t>API</a:t>
            </a:r>
            <a:r>
              <a:rPr lang="ko-KR" altLang="en-US" dirty="0" smtClean="0"/>
              <a:t>와 이송 건수 및 응급 의료 병상 수의 일별 데이터를 공급 받아 추가해 </a:t>
            </a:r>
            <a:r>
              <a:rPr lang="ko-KR" altLang="en-US" b="1" dirty="0" smtClean="0"/>
              <a:t>단순히 구급 수요를 예측하는 것을 넘어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구급차 배치와 응급 의료 병상 수 포화 예측 및 현장의 병</a:t>
            </a:r>
            <a:endParaRPr lang="en-US" altLang="ko-KR" dirty="0" smtClean="0"/>
          </a:p>
          <a:p>
            <a:r>
              <a:rPr lang="ko-KR" altLang="en-US" b="1" dirty="0" smtClean="0"/>
              <a:t>원 선택까지 지원할 수 있는 시스템으로 확장하는 것 </a:t>
            </a:r>
            <a:r>
              <a:rPr lang="ko-KR" altLang="en-US" dirty="0" smtClean="0"/>
              <a:t>또한 가능합니다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이상으로 발표를 마치겠습니다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감사합니다</a:t>
            </a:r>
            <a:r>
              <a:rPr lang="en-US" altLang="ko-KR" smtClean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E87A7A"/>
                </a:solidFill>
                <a:latin typeface="에이투지체 5 Medium"/>
                <a:ea typeface="에이투지체 5 Medium"/>
                <a:cs typeface="에이투지체 5 Medium"/>
              </a:rPr>
              <a:t>SEOUL 119 EMS DEMAND FORECAST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서울시 119 구급 수요 예측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49336" y="3108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>
                    <a:alpha val="70000"/>
                  </a:srgbClr>
                </a:solidFill>
                <a:latin typeface="에이투지체 5 Medium"/>
                <a:ea typeface="에이투지체 5 Medium"/>
                <a:cs typeface="에이투지체 5 Medium"/>
              </a:rPr>
              <a:t>자치구별 이송 건수 및 인구 밀집 예측 모델 개발</a:t>
            </a:r>
            <a:endParaRPr lang="en-US" sz="2200" dirty="0"/>
          </a:p>
        </p:txBody>
      </p:sp>
      <p:sp>
        <p:nvSpPr>
          <p:cNvPr id="1144" name="Add 1144"/>
          <p:cNvSpPr/>
          <p:nvPr/>
        </p:nvSpPr>
        <p:spPr>
          <a:xfrm>
            <a:off x="822960" y="4206240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2A31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5" name="Add 1145"/>
          <p:cNvSpPr txBox="1"/>
          <p:nvPr/>
        </p:nvSpPr>
        <p:spPr>
          <a:xfrm>
            <a:off x="822960" y="4206240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3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데이터 수집</a:t>
            </a:r>
          </a:p>
        </p:txBody>
      </p:sp>
      <p:sp>
        <p:nvSpPr>
          <p:cNvPr id="1146" name="Add 1146"/>
          <p:cNvSpPr/>
          <p:nvPr/>
        </p:nvSpPr>
        <p:spPr>
          <a:xfrm>
            <a:off x="2331720" y="4416552"/>
            <a:ext cx="219456" cy="0"/>
          </a:xfrm>
          <a:prstGeom prst="line">
            <a:avLst/>
          </a:prstGeom>
          <a:ln w="15875">
            <a:solidFill>
              <a:srgbClr val="6B7280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47" name="Add 1147"/>
          <p:cNvSpPr/>
          <p:nvPr/>
        </p:nvSpPr>
        <p:spPr>
          <a:xfrm>
            <a:off x="2578608" y="4206240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2A31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8" name="Add 1148"/>
          <p:cNvSpPr txBox="1"/>
          <p:nvPr/>
        </p:nvSpPr>
        <p:spPr>
          <a:xfrm>
            <a:off x="2578608" y="4206240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3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전처리</a:t>
            </a:r>
          </a:p>
        </p:txBody>
      </p:sp>
      <p:sp>
        <p:nvSpPr>
          <p:cNvPr id="1149" name="Add 1149"/>
          <p:cNvSpPr/>
          <p:nvPr/>
        </p:nvSpPr>
        <p:spPr>
          <a:xfrm>
            <a:off x="4087368" y="4416552"/>
            <a:ext cx="219456" cy="0"/>
          </a:xfrm>
          <a:prstGeom prst="line">
            <a:avLst/>
          </a:prstGeom>
          <a:ln w="15875">
            <a:solidFill>
              <a:srgbClr val="6B7280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50" name="Add 1150"/>
          <p:cNvSpPr/>
          <p:nvPr/>
        </p:nvSpPr>
        <p:spPr>
          <a:xfrm>
            <a:off x="4334256" y="4206240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2A31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1" name="Add 1151"/>
          <p:cNvSpPr txBox="1"/>
          <p:nvPr/>
        </p:nvSpPr>
        <p:spPr>
          <a:xfrm>
            <a:off x="4334256" y="4206240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3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분석</a:t>
            </a:r>
          </a:p>
        </p:txBody>
      </p:sp>
      <p:sp>
        <p:nvSpPr>
          <p:cNvPr id="1152" name="Add 1152"/>
          <p:cNvSpPr/>
          <p:nvPr/>
        </p:nvSpPr>
        <p:spPr>
          <a:xfrm>
            <a:off x="5843016" y="4416552"/>
            <a:ext cx="219456" cy="0"/>
          </a:xfrm>
          <a:prstGeom prst="line">
            <a:avLst/>
          </a:prstGeom>
          <a:ln w="15875">
            <a:solidFill>
              <a:srgbClr val="6B7280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53" name="Add 1153"/>
          <p:cNvSpPr/>
          <p:nvPr/>
        </p:nvSpPr>
        <p:spPr>
          <a:xfrm>
            <a:off x="6089904" y="4206240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4" name="Add 1154"/>
          <p:cNvSpPr txBox="1"/>
          <p:nvPr/>
        </p:nvSpPr>
        <p:spPr>
          <a:xfrm>
            <a:off x="6089904" y="4206240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3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모델 개발</a:t>
            </a:r>
          </a:p>
        </p:txBody>
      </p:sp>
      <p:sp>
        <p:nvSpPr>
          <p:cNvPr id="1155" name="Add 1155"/>
          <p:cNvSpPr/>
          <p:nvPr/>
        </p:nvSpPr>
        <p:spPr>
          <a:xfrm>
            <a:off x="7598664" y="4416552"/>
            <a:ext cx="219456" cy="0"/>
          </a:xfrm>
          <a:prstGeom prst="line">
            <a:avLst/>
          </a:prstGeom>
          <a:ln w="15875">
            <a:solidFill>
              <a:srgbClr val="6B7280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56" name="Add 1156"/>
          <p:cNvSpPr/>
          <p:nvPr/>
        </p:nvSpPr>
        <p:spPr>
          <a:xfrm>
            <a:off x="7845552" y="4206240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2A31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7" name="Add 1157"/>
          <p:cNvSpPr txBox="1"/>
          <p:nvPr/>
        </p:nvSpPr>
        <p:spPr>
          <a:xfrm>
            <a:off x="7845552" y="4206240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3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웹 서비스</a:t>
            </a:r>
          </a:p>
        </p:txBody>
      </p:sp>
      <p:sp>
        <p:nvSpPr>
          <p:cNvPr id="1158" name="Add 1158"/>
          <p:cNvSpPr/>
          <p:nvPr/>
        </p:nvSpPr>
        <p:spPr>
          <a:xfrm>
            <a:off x="9354312" y="4416552"/>
            <a:ext cx="219456" cy="0"/>
          </a:xfrm>
          <a:prstGeom prst="line">
            <a:avLst/>
          </a:prstGeom>
          <a:ln w="15875">
            <a:solidFill>
              <a:srgbClr val="6B7280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59" name="Add 1159"/>
          <p:cNvSpPr/>
          <p:nvPr/>
        </p:nvSpPr>
        <p:spPr>
          <a:xfrm>
            <a:off x="9601200" y="4206240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2A31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0" name="Add 1160"/>
          <p:cNvSpPr txBox="1"/>
          <p:nvPr/>
        </p:nvSpPr>
        <p:spPr>
          <a:xfrm>
            <a:off x="9601200" y="4206240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3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결론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672084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 pitchFamily="50" charset="-127"/>
                <a:ea typeface="에이투지체 5 Medium" pitchFamily="50" charset="-127"/>
                <a:cs typeface="에이투지체 5 Medium"/>
              </a:rPr>
              <a:t>목차</a:t>
            </a:r>
            <a:endParaRPr lang="en-US" sz="36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5372" y="5989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02</a:t>
            </a:r>
            <a:endParaRPr lang="en-US" sz="900" dirty="0"/>
          </a:p>
        </p:txBody>
      </p:sp>
      <p:sp>
        <p:nvSpPr>
          <p:cNvPr id="1116" name="Add 1116"/>
          <p:cNvSpPr/>
          <p:nvPr/>
        </p:nvSpPr>
        <p:spPr>
          <a:xfrm>
            <a:off x="455372" y="1609344"/>
            <a:ext cx="2681935" cy="2002536"/>
          </a:xfrm>
          <a:prstGeom prst="roundRect">
            <a:avLst>
              <a:gd name="adj" fmla="val 4566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17" name="Add 1117"/>
          <p:cNvSpPr txBox="1"/>
          <p:nvPr/>
        </p:nvSpPr>
        <p:spPr>
          <a:xfrm>
            <a:off x="729692" y="1837944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3200" spc="-10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00</a:t>
            </a:r>
          </a:p>
        </p:txBody>
      </p:sp>
      <p:sp>
        <p:nvSpPr>
          <p:cNvPr id="1118" name="Add 1118"/>
          <p:cNvSpPr txBox="1"/>
          <p:nvPr/>
        </p:nvSpPr>
        <p:spPr>
          <a:xfrm>
            <a:off x="729692" y="2478024"/>
            <a:ext cx="213329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20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프로젝트 소개</a:t>
            </a:r>
          </a:p>
        </p:txBody>
      </p:sp>
      <p:sp>
        <p:nvSpPr>
          <p:cNvPr id="1119" name="Add 1119"/>
          <p:cNvSpPr txBox="1"/>
          <p:nvPr/>
        </p:nvSpPr>
        <p:spPr>
          <a:xfrm>
            <a:off x="729692" y="2935224"/>
            <a:ext cx="213329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ko-KR" sz="11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개발 목표 · 환경 · 일정 · 업무 분담</a:t>
            </a:r>
          </a:p>
        </p:txBody>
      </p:sp>
      <p:sp>
        <p:nvSpPr>
          <p:cNvPr id="1120" name="Add 1120"/>
          <p:cNvSpPr/>
          <p:nvPr/>
        </p:nvSpPr>
        <p:spPr>
          <a:xfrm>
            <a:off x="3320187" y="1609344"/>
            <a:ext cx="2681935" cy="2002536"/>
          </a:xfrm>
          <a:prstGeom prst="roundRect">
            <a:avLst>
              <a:gd name="adj" fmla="val 4566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21" name="Add 1121"/>
          <p:cNvSpPr txBox="1"/>
          <p:nvPr/>
        </p:nvSpPr>
        <p:spPr>
          <a:xfrm>
            <a:off x="3594507" y="1837944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3200" spc="-10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01</a:t>
            </a:r>
          </a:p>
        </p:txBody>
      </p:sp>
      <p:sp>
        <p:nvSpPr>
          <p:cNvPr id="1122" name="Add 1122"/>
          <p:cNvSpPr txBox="1"/>
          <p:nvPr/>
        </p:nvSpPr>
        <p:spPr>
          <a:xfrm>
            <a:off x="3594507" y="2478024"/>
            <a:ext cx="213329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20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데이터 수집</a:t>
            </a:r>
          </a:p>
        </p:txBody>
      </p:sp>
      <p:sp>
        <p:nvSpPr>
          <p:cNvPr id="1123" name="Add 1123"/>
          <p:cNvSpPr txBox="1"/>
          <p:nvPr/>
        </p:nvSpPr>
        <p:spPr>
          <a:xfrm>
            <a:off x="3594507" y="2935224"/>
            <a:ext cx="213329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ko-KR" sz="11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자료 구성 · 제외 기준 · API 수집</a:t>
            </a:r>
          </a:p>
        </p:txBody>
      </p:sp>
      <p:sp>
        <p:nvSpPr>
          <p:cNvPr id="1124" name="Add 1124"/>
          <p:cNvSpPr/>
          <p:nvPr/>
        </p:nvSpPr>
        <p:spPr>
          <a:xfrm>
            <a:off x="6185002" y="1609344"/>
            <a:ext cx="2681935" cy="2002536"/>
          </a:xfrm>
          <a:prstGeom prst="roundRect">
            <a:avLst>
              <a:gd name="adj" fmla="val 4566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25" name="Add 1125"/>
          <p:cNvSpPr txBox="1"/>
          <p:nvPr/>
        </p:nvSpPr>
        <p:spPr>
          <a:xfrm>
            <a:off x="6459322" y="1837944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3200" spc="-10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02</a:t>
            </a:r>
          </a:p>
        </p:txBody>
      </p:sp>
      <p:sp>
        <p:nvSpPr>
          <p:cNvPr id="1126" name="Add 1126"/>
          <p:cNvSpPr txBox="1"/>
          <p:nvPr/>
        </p:nvSpPr>
        <p:spPr>
          <a:xfrm>
            <a:off x="6459322" y="2478024"/>
            <a:ext cx="213329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20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데이터 전처리</a:t>
            </a:r>
          </a:p>
        </p:txBody>
      </p:sp>
      <p:sp>
        <p:nvSpPr>
          <p:cNvPr id="1127" name="Add 1127"/>
          <p:cNvSpPr txBox="1"/>
          <p:nvPr/>
        </p:nvSpPr>
        <p:spPr>
          <a:xfrm>
            <a:off x="6459322" y="2935224"/>
            <a:ext cx="213329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ko-KR" sz="11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형식 통일 · 결측 처리 · 통합 · 변수 선택</a:t>
            </a:r>
          </a:p>
        </p:txBody>
      </p:sp>
      <p:sp>
        <p:nvSpPr>
          <p:cNvPr id="1128" name="Add 1128"/>
          <p:cNvSpPr/>
          <p:nvPr/>
        </p:nvSpPr>
        <p:spPr>
          <a:xfrm>
            <a:off x="9049818" y="1609344"/>
            <a:ext cx="2681935" cy="2002536"/>
          </a:xfrm>
          <a:prstGeom prst="roundRect">
            <a:avLst>
              <a:gd name="adj" fmla="val 4566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29" name="Add 1129"/>
          <p:cNvSpPr txBox="1"/>
          <p:nvPr/>
        </p:nvSpPr>
        <p:spPr>
          <a:xfrm>
            <a:off x="9324138" y="1837944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3200" spc="-10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03</a:t>
            </a:r>
          </a:p>
        </p:txBody>
      </p:sp>
      <p:sp>
        <p:nvSpPr>
          <p:cNvPr id="1130" name="Add 1130"/>
          <p:cNvSpPr txBox="1"/>
          <p:nvPr/>
        </p:nvSpPr>
        <p:spPr>
          <a:xfrm>
            <a:off x="9324138" y="2478024"/>
            <a:ext cx="213329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20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데이터 분석</a:t>
            </a:r>
          </a:p>
        </p:txBody>
      </p:sp>
      <p:sp>
        <p:nvSpPr>
          <p:cNvPr id="1131" name="Add 1131"/>
          <p:cNvSpPr txBox="1"/>
          <p:nvPr/>
        </p:nvSpPr>
        <p:spPr>
          <a:xfrm>
            <a:off x="9324138" y="2935224"/>
            <a:ext cx="213329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ko-KR" sz="11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인구-이송 관계 · 자치구 유형 · 계절성</a:t>
            </a:r>
          </a:p>
        </p:txBody>
      </p:sp>
      <p:sp>
        <p:nvSpPr>
          <p:cNvPr id="1132" name="Add 1132"/>
          <p:cNvSpPr/>
          <p:nvPr/>
        </p:nvSpPr>
        <p:spPr>
          <a:xfrm>
            <a:off x="455372" y="3803904"/>
            <a:ext cx="3637483" cy="2002536"/>
          </a:xfrm>
          <a:prstGeom prst="roundRect">
            <a:avLst>
              <a:gd name="adj" fmla="val 4566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33" name="Add 1133"/>
          <p:cNvSpPr txBox="1"/>
          <p:nvPr/>
        </p:nvSpPr>
        <p:spPr>
          <a:xfrm>
            <a:off x="729692" y="4032504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3200" spc="-10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04</a:t>
            </a:r>
          </a:p>
        </p:txBody>
      </p:sp>
      <p:sp>
        <p:nvSpPr>
          <p:cNvPr id="1134" name="Add 1134"/>
          <p:cNvSpPr txBox="1"/>
          <p:nvPr/>
        </p:nvSpPr>
        <p:spPr>
          <a:xfrm>
            <a:off x="729692" y="4672584"/>
            <a:ext cx="3088843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20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모델 개발</a:t>
            </a:r>
          </a:p>
        </p:txBody>
      </p:sp>
      <p:sp>
        <p:nvSpPr>
          <p:cNvPr id="1135" name="Add 1135"/>
          <p:cNvSpPr txBox="1"/>
          <p:nvPr/>
        </p:nvSpPr>
        <p:spPr>
          <a:xfrm>
            <a:off x="729692" y="5129784"/>
            <a:ext cx="3088843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ko-KR" sz="11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데이터 분할 · 특성 실험 · 모델 비교</a:t>
            </a:r>
          </a:p>
        </p:txBody>
      </p:sp>
      <p:sp>
        <p:nvSpPr>
          <p:cNvPr id="1136" name="Add 1136"/>
          <p:cNvSpPr/>
          <p:nvPr/>
        </p:nvSpPr>
        <p:spPr>
          <a:xfrm>
            <a:off x="4275735" y="3803904"/>
            <a:ext cx="3637483" cy="2002536"/>
          </a:xfrm>
          <a:prstGeom prst="roundRect">
            <a:avLst>
              <a:gd name="adj" fmla="val 4566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37" name="Add 1137"/>
          <p:cNvSpPr txBox="1"/>
          <p:nvPr/>
        </p:nvSpPr>
        <p:spPr>
          <a:xfrm>
            <a:off x="4550055" y="4032504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3200" spc="-10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05</a:t>
            </a:r>
          </a:p>
        </p:txBody>
      </p:sp>
      <p:sp>
        <p:nvSpPr>
          <p:cNvPr id="1138" name="Add 1138"/>
          <p:cNvSpPr txBox="1"/>
          <p:nvPr/>
        </p:nvSpPr>
        <p:spPr>
          <a:xfrm>
            <a:off x="4550055" y="4672584"/>
            <a:ext cx="3088843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20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웹 서비스</a:t>
            </a:r>
          </a:p>
        </p:txBody>
      </p:sp>
      <p:sp>
        <p:nvSpPr>
          <p:cNvPr id="1139" name="Add 1139"/>
          <p:cNvSpPr txBox="1"/>
          <p:nvPr/>
        </p:nvSpPr>
        <p:spPr>
          <a:xfrm>
            <a:off x="4550055" y="5129784"/>
            <a:ext cx="3088843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ko-KR" sz="11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서비스 구성 · 예측 대시보드 · 병상 관제</a:t>
            </a:r>
          </a:p>
        </p:txBody>
      </p:sp>
      <p:sp>
        <p:nvSpPr>
          <p:cNvPr id="1140" name="Add 1140"/>
          <p:cNvSpPr/>
          <p:nvPr/>
        </p:nvSpPr>
        <p:spPr>
          <a:xfrm>
            <a:off x="8096098" y="3803904"/>
            <a:ext cx="3637483" cy="2002536"/>
          </a:xfrm>
          <a:prstGeom prst="roundRect">
            <a:avLst>
              <a:gd name="adj" fmla="val 4566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41" name="Add 1141"/>
          <p:cNvSpPr txBox="1"/>
          <p:nvPr/>
        </p:nvSpPr>
        <p:spPr>
          <a:xfrm>
            <a:off x="8370418" y="4032504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3200" spc="-10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06</a:t>
            </a:r>
          </a:p>
        </p:txBody>
      </p:sp>
      <p:sp>
        <p:nvSpPr>
          <p:cNvPr id="1142" name="Add 1142"/>
          <p:cNvSpPr txBox="1"/>
          <p:nvPr/>
        </p:nvSpPr>
        <p:spPr>
          <a:xfrm>
            <a:off x="8370418" y="4672584"/>
            <a:ext cx="3088843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20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결론</a:t>
            </a:r>
          </a:p>
        </p:txBody>
      </p:sp>
      <p:sp>
        <p:nvSpPr>
          <p:cNvPr id="1143" name="Add 1143"/>
          <p:cNvSpPr txBox="1"/>
          <p:nvPr/>
        </p:nvSpPr>
        <p:spPr>
          <a:xfrm>
            <a:off x="8370418" y="5129784"/>
            <a:ext cx="3088843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ko-KR" sz="11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최종 결과 · 향후 연구 방향 · 참고 자료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에이투지체 5 Medium"/>
                <a:ea typeface="에이투지체 5 Medium"/>
                <a:cs typeface="에이투지체 5 Medium"/>
              </a:rPr>
              <a:t>00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프로젝트 소개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>
                    <a:alpha val="70000"/>
                  </a:srgbClr>
                </a:solidFill>
                <a:latin typeface="에이투지체 5 Medium"/>
                <a:ea typeface="에이투지체 5 Medium"/>
                <a:cs typeface="에이투지체 5 Medium"/>
              </a:rPr>
              <a:t>개발 목표와 개발 환경, 프로젝트 일정 및 업무 분담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3393338" cy="0"/>
          </a:xfrm>
          <a:prstGeom prst="line">
            <a:avLst/>
          </a:prstGeom>
          <a:noFill/>
          <a:ln w="25400">
            <a:solidFill>
              <a:srgbClr val="D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45720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A7A"/>
                </a:solidFill>
                <a:latin typeface="에이투지체 5 Medium"/>
                <a:ea typeface="에이투지체 5 Medium"/>
                <a:cs typeface="에이투지체 5 Medium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64608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개발 목표 및 개발 환경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99178" y="4434840"/>
            <a:ext cx="3393338" cy="0"/>
          </a:xfrm>
          <a:prstGeom prst="line">
            <a:avLst/>
          </a:prstGeom>
          <a:noFill/>
          <a:ln w="25400">
            <a:solidFill>
              <a:srgbClr val="3A4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4399178" y="45720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99178" y="4864608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프로젝트 일정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75397" y="4434840"/>
            <a:ext cx="3393338" cy="0"/>
          </a:xfrm>
          <a:prstGeom prst="line">
            <a:avLst/>
          </a:prstGeom>
          <a:noFill/>
          <a:ln w="25400">
            <a:solidFill>
              <a:srgbClr val="3A4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7975397" y="45720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75397" y="4864608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업무 분담 및 간트 차트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00  프로젝트 소개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 pitchFamily="50" charset="-127"/>
                <a:ea typeface="에이투지체 5 Medium" pitchFamily="50" charset="-127"/>
                <a:cs typeface="에이투지체 5 Medium"/>
              </a:rPr>
              <a:t>개발 목표 및 개발 환경</a:t>
            </a:r>
            <a:endParaRPr lang="en-US" sz="36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구급 수요 예측 기반 구급차 배치 지원 및 응급의료 정보 제공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기존 발표자료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3637178" cy="1828800"/>
          </a:xfrm>
          <a:prstGeom prst="roundRect">
            <a:avLst>
              <a:gd name="adj" fmla="val 7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  <a:effectLst>
            <a:outerShdw blurRad="95250" dist="50800" dir="5400000" algn="bl" rotWithShape="0">
              <a:srgbClr val="8A141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676656" y="2176272"/>
            <a:ext cx="3198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01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76656" y="2670048"/>
            <a:ext cx="31982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구급 수요 예측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76656" y="3090672"/>
            <a:ext cx="3198266" cy="0"/>
          </a:xfrm>
          <a:prstGeom prst="line">
            <a:avLst/>
          </a:prstGeom>
          <a:noFill/>
          <a:ln w="9525">
            <a:solidFill>
              <a:srgbClr val="E87A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676656" y="3200400"/>
            <a:ext cx="3198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자치구별 구급 수요 · </a:t>
            </a:r>
            <a:endParaRPr lang="en-US" sz="1100" dirty="0" smtClean="0">
              <a:solidFill>
                <a:srgbClr val="FDE3E3"/>
              </a:solidFill>
              <a:latin typeface="에이투지체 5 Medium"/>
              <a:ea typeface="에이투지체 5 Medium"/>
              <a:cs typeface="에이투지체 5 Medium"/>
            </a:endParaRPr>
          </a:p>
          <a:p>
            <a:pPr marL="0" indent="0" algn="ctr">
              <a:buNone/>
            </a:pPr>
            <a:r>
              <a:rPr lang="en-US" sz="1100" dirty="0" err="1" smtClean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생활인구</a:t>
            </a:r>
            <a:r>
              <a:rPr lang="en-US" sz="1100" dirty="0" smtClean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lang="en-US" sz="110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패턴 </a:t>
            </a:r>
            <a:r>
              <a:rPr lang="en-US" sz="1100" dirty="0" err="1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분석</a:t>
            </a:r>
            <a:r>
              <a:rPr lang="en-US" sz="110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lang="en-US" sz="1100" dirty="0" smtClean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및 </a:t>
            </a:r>
            <a:r>
              <a:rPr lang="en-US" sz="110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미래 수요 예측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77258" y="1993392"/>
            <a:ext cx="363717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4496714" y="2176272"/>
            <a:ext cx="3198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02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4496714" y="2670048"/>
            <a:ext cx="31982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구급차 배치 지원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496714" y="3090672"/>
            <a:ext cx="3198266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4496714" y="3200400"/>
            <a:ext cx="3198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지역 · 시기별 예측 결과 기반 구급차 배치 판단 지원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097317" y="1993392"/>
            <a:ext cx="363717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8316773" y="2176272"/>
            <a:ext cx="3198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03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8316773" y="2670048"/>
            <a:ext cx="31982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응급의료 정보 통합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316773" y="3090672"/>
            <a:ext cx="3198266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 txBox="1"/>
          <p:nvPr/>
        </p:nvSpPr>
        <p:spPr>
          <a:xfrm>
            <a:off x="8316773" y="3200400"/>
            <a:ext cx="3198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응급실 · 실시간 가용병상 정보 연계 웹 서비스 구축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096512"/>
            <a:ext cx="5547665" cy="2093976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676656" y="4261104"/>
            <a:ext cx="51087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개발 환경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76656" y="4663440"/>
            <a:ext cx="5108753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 txBox="1"/>
          <p:nvPr/>
        </p:nvSpPr>
        <p:spPr>
          <a:xfrm>
            <a:off x="676656" y="4773168"/>
            <a:ext cx="5108753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운영체제 · 언어: Windows · Python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개발 도구: Visual Studio Code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데이터 처리: Pandas · NumPy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시각화: Matplotlib · Seaborn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머신러닝 · 딥러닝: Scikit-learn · TensorFlow / Keras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187745" y="4096512"/>
            <a:ext cx="5547665" cy="2093976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5"/>
          <p:cNvSpPr txBox="1"/>
          <p:nvPr/>
        </p:nvSpPr>
        <p:spPr>
          <a:xfrm>
            <a:off x="6407201" y="4261104"/>
            <a:ext cx="51087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비교 모델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407201" y="4663440"/>
            <a:ext cx="5108753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 txBox="1"/>
          <p:nvPr/>
        </p:nvSpPr>
        <p:spPr>
          <a:xfrm>
            <a:off x="6407201" y="4773168"/>
            <a:ext cx="5108753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Linear Regression · Ridge Regression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Decision Tree · Random Forest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Gradient Boosting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DNN (Deep Neural Network)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이송 건수: Gradient Boosting + Ridge 앙상블 추가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00  프로젝트 소개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프로젝트 일정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기획 · 데이터 수집 → 전처리 · 분석 → 모델링 · 웹 구현 → 평가 · 발표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기존 발표자료 (프로젝트 타임라인)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11277295" cy="4197096"/>
          </a:xfrm>
          <a:prstGeom prst="roundRect">
            <a:avLst>
              <a:gd name="adj" fmla="val 2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0" descr="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725" y="2103120"/>
            <a:ext cx="8984245" cy="3977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00  프로젝트 소개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업무 분담 및 간트 차트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기획 · 수집 · 웹 · 전처리 · 분석 · 모델링 · 발표 준비 단계별 담당 지정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기존 발표자료 (업무 분담 &amp; 간트 차트)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11277295" cy="4197096"/>
          </a:xfrm>
          <a:prstGeom prst="roundRect">
            <a:avLst>
              <a:gd name="adj" fmla="val 2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0" descr="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84832"/>
            <a:ext cx="5782998" cy="4014216"/>
          </a:xfrm>
          <a:prstGeom prst="rect">
            <a:avLst/>
          </a:prstGeom>
        </p:spPr>
      </p:pic>
      <p:pic>
        <p:nvPicPr>
          <p:cNvPr id="10" name="Image 1" descr="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518" y="2084832"/>
            <a:ext cx="3740277" cy="2121351"/>
          </a:xfrm>
          <a:prstGeom prst="rect">
            <a:avLst/>
          </a:prstGeom>
        </p:spPr>
      </p:pic>
      <p:pic>
        <p:nvPicPr>
          <p:cNvPr id="11" name="Image 2" descr="g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518" y="4297623"/>
            <a:ext cx="3740277" cy="1801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에이투지체 5 Medium"/>
                <a:ea typeface="에이투지체 5 Medium"/>
                <a:cs typeface="에이투지체 5 Medium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데이터 수집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>
                    <a:alpha val="70000"/>
                  </a:srgbClr>
                </a:solidFill>
                <a:latin typeface="에이투지체 5 Medium"/>
                <a:ea typeface="에이투지체 5 Medium"/>
                <a:cs typeface="에이투지체 5 Medium"/>
              </a:rPr>
              <a:t>수집 자료 구성과 학습 제외 기준, 공공 API 수집 방식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3393338" cy="0"/>
          </a:xfrm>
          <a:prstGeom prst="line">
            <a:avLst/>
          </a:prstGeom>
          <a:noFill/>
          <a:ln w="25400">
            <a:solidFill>
              <a:srgbClr val="D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45720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A7A"/>
                </a:solidFill>
                <a:latin typeface="에이투지체 5 Medium"/>
                <a:ea typeface="에이투지체 5 Medium"/>
                <a:cs typeface="에이투지체 5 Medium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64608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데이터 수집 개요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99178" y="4434840"/>
            <a:ext cx="3393338" cy="0"/>
          </a:xfrm>
          <a:prstGeom prst="line">
            <a:avLst/>
          </a:prstGeom>
          <a:noFill/>
          <a:ln w="25400">
            <a:solidFill>
              <a:srgbClr val="3A4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4399178" y="45720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99178" y="4864608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학습 제외 자료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75397" y="4434840"/>
            <a:ext cx="3393338" cy="0"/>
          </a:xfrm>
          <a:prstGeom prst="line">
            <a:avLst/>
          </a:prstGeom>
          <a:noFill/>
          <a:ln w="25400">
            <a:solidFill>
              <a:srgbClr val="3A4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7975397" y="45720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75397" y="4864608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공공 API 수집 방식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01  데이터 수집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데이터 수집 개요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14종 원본 수집 → 4종 학습 표 통합 (서울 25개 자치구)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02_119_전처리_검토수정.ipynb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2681935" cy="1828800"/>
          </a:xfrm>
          <a:prstGeom prst="roundRect">
            <a:avLst>
              <a:gd name="adj" fmla="val 7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  <a:effectLst>
            <a:outerShdw blurRad="95250" dist="50800" dir="5400000" algn="bl" rotWithShape="0">
              <a:srgbClr val="8A141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676656" y="2176272"/>
            <a:ext cx="2243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14종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676656" y="2779776"/>
            <a:ext cx="2243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수집 원본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76656" y="3182112"/>
            <a:ext cx="2243023" cy="0"/>
          </a:xfrm>
          <a:prstGeom prst="line">
            <a:avLst/>
          </a:prstGeom>
          <a:noFill/>
          <a:ln w="9525">
            <a:solidFill>
              <a:srgbClr val="E87A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676656" y="3291840"/>
            <a:ext cx="2243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Open API · CSV · XLSX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22015" y="1993392"/>
            <a:ext cx="268193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3541471" y="2176272"/>
            <a:ext cx="2243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4종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3541471" y="2779776"/>
            <a:ext cx="2243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학습 표 통합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541471" y="3182112"/>
            <a:ext cx="2243023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3541471" y="3291840"/>
            <a:ext cx="2243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최종 입력: 이송 · 인구 · 사고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86830" y="1993392"/>
            <a:ext cx="268193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6406286" y="2176272"/>
            <a:ext cx="2243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108개월</a:t>
            </a:r>
            <a:endParaRPr 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6406286" y="2779776"/>
            <a:ext cx="2243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이송 건수 기록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6286" y="3182112"/>
            <a:ext cx="2243023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 txBox="1"/>
          <p:nvPr/>
        </p:nvSpPr>
        <p:spPr>
          <a:xfrm>
            <a:off x="6406286" y="3291840"/>
            <a:ext cx="2243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2017.01 ~ 2025.12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051646" y="1993392"/>
            <a:ext cx="268193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9271102" y="2176272"/>
            <a:ext cx="2243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25개 구</a:t>
            </a:r>
            <a:endParaRPr lang="en-US" sz="3600" dirty="0"/>
          </a:p>
        </p:txBody>
      </p:sp>
      <p:sp>
        <p:nvSpPr>
          <p:cNvPr id="25" name="Text 22"/>
          <p:cNvSpPr txBox="1"/>
          <p:nvPr/>
        </p:nvSpPr>
        <p:spPr>
          <a:xfrm>
            <a:off x="9271102" y="2779776"/>
            <a:ext cx="2243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분석 단위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271102" y="3182112"/>
            <a:ext cx="2243023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 txBox="1"/>
          <p:nvPr/>
        </p:nvSpPr>
        <p:spPr>
          <a:xfrm>
            <a:off x="9271102" y="3291840"/>
            <a:ext cx="2243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구 × 월 / 구 × 일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23944"/>
          <a:ext cx="11277295" cy="206654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자료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출처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기간 · 단위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2828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활용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119 구급활동 통계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소방청 구급통계 OpenAPI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2017.01~2025.12 · 구 × 월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이송 건수 (예측 대상)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서울 생활인구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자치구단위 서울생활인구 CSV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2018.04~2026.07 · 구 × 일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인구 밀집 예측 · 이송 설명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119 구조활동 실적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구별 구조활동 실적 CSV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2006~2025 · 구 × 연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사고 원인 변수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의료이용 유출입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의료이용 유출입 XLSX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2019~2024 · 구 × 연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통합 후 결측 과다로 입력 제외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01  데이터 수집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학습 제외 자료 및 제외 사유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집계 기준 · 시간 단위 불일치 자료 제외, 병상 자료는 웹 서비스 활용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02_119_전처리_검토수정.ipynb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93392"/>
          <a:ext cx="7589520" cy="345643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제외 자료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제외 사유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2828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대체 자료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구급출동 건별 현황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발생 구 기준 집계 (API 대비 0.77~1.54배)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API 관할 기준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서울시 구급 출동 현황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출동 건수만 존재, 이송 건수 없음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API 이송 건수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소방서별 구급 실적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연 단위 집계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API 월별 자료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서울 전체 월별 자료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시 단위 합계 (구 단위 아님)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구별 API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구급 건별 표본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1개 구 · 1개월 표본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빈도 참고용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응급실 실시간 병상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한 시점 스냅샷, 시간 단위 불일치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웹 서비스 현황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229600" y="1993392"/>
            <a:ext cx="3504895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6"/>
          <p:cNvSpPr txBox="1"/>
          <p:nvPr/>
        </p:nvSpPr>
        <p:spPr>
          <a:xfrm>
            <a:off x="8535572" y="1968070"/>
            <a:ext cx="1280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80" dirty="0" smtClean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51</a:t>
            </a:r>
            <a:r>
              <a:rPr lang="ko-KR" altLang="en-US" sz="2800" b="1" kern="0" spc="-80" dirty="0" smtClean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개</a:t>
            </a:r>
            <a:endParaRPr lang="en-US" sz="2800" b="1" dirty="0"/>
          </a:p>
        </p:txBody>
      </p:sp>
      <p:sp>
        <p:nvSpPr>
          <p:cNvPr id="11" name="Text 7"/>
          <p:cNvSpPr txBox="1"/>
          <p:nvPr/>
        </p:nvSpPr>
        <p:spPr>
          <a:xfrm>
            <a:off x="9692640" y="2194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실시간 병상 병원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9692640" y="252374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23개 구 (강북 · 마포 자료 없음)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229600" y="3145536"/>
            <a:ext cx="3504895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0"/>
          <p:cNvSpPr txBox="1"/>
          <p:nvPr/>
        </p:nvSpPr>
        <p:spPr>
          <a:xfrm>
            <a:off x="8535572" y="3145536"/>
            <a:ext cx="1280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80" dirty="0" smtClean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70</a:t>
            </a:r>
            <a:r>
              <a:rPr lang="ko-KR" altLang="en-US" sz="2800" b="1" kern="0" spc="-80" dirty="0" smtClean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개</a:t>
            </a:r>
            <a:endParaRPr lang="en-US" sz="2800" b="1" dirty="0"/>
          </a:p>
        </p:txBody>
      </p:sp>
      <p:sp>
        <p:nvSpPr>
          <p:cNvPr id="15" name="Text 11"/>
          <p:cNvSpPr txBox="1"/>
          <p:nvPr/>
        </p:nvSpPr>
        <p:spPr>
          <a:xfrm>
            <a:off x="9692640" y="33467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응급실 운영기관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9692640" y="36758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의료기관 목록 기준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229600" y="4297680"/>
            <a:ext cx="3504895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4"/>
          <p:cNvSpPr txBox="1"/>
          <p:nvPr/>
        </p:nvSpPr>
        <p:spPr>
          <a:xfrm>
            <a:off x="8605911" y="4274820"/>
            <a:ext cx="1280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80" dirty="0" smtClean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8</a:t>
            </a:r>
            <a:r>
              <a:rPr lang="ko-KR" altLang="en-US" sz="2800" b="1" kern="0" spc="-80" dirty="0" smtClean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개</a:t>
            </a:r>
            <a:endParaRPr lang="en-US" sz="2800" b="1" dirty="0"/>
          </a:p>
        </p:txBody>
      </p:sp>
      <p:sp>
        <p:nvSpPr>
          <p:cNvPr id="19" name="Text 15"/>
          <p:cNvSpPr txBox="1"/>
          <p:nvPr/>
        </p:nvSpPr>
        <p:spPr>
          <a:xfrm>
            <a:off x="9692640" y="4498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과밀 병원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9692640" y="48280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수집 시점 기준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57200" y="5550408"/>
            <a:ext cx="11277295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18"/>
          <p:cNvSpPr txBox="1"/>
          <p:nvPr/>
        </p:nvSpPr>
        <p:spPr>
          <a:xfrm>
            <a:off x="640080" y="55504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 smtClean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예측</a:t>
            </a:r>
            <a:r>
              <a:rPr lang="en-US" sz="1400" dirty="0" smtClean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모델은 구 × 월 단위의 단일 집계 기준 자료만 사용, 병상 자료는 서비스 참고 정보로 분리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01  데이터 수집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공공 API 수집 방식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소방서 단위 수집 → 자치구 매핑, 누락 월 재수집 자동화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01_119_공공API_연동_v2.ipynb · 02_119_전처리_검토수정.ipynb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2613584" cy="2093976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676656" y="2176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76656" y="2468880"/>
            <a:ext cx="217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자치구 매핑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76656" y="2907792"/>
            <a:ext cx="2174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676656" y="3017520"/>
            <a:ext cx="21746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관할구역에서 구 이름 추출 → 소방서별 최빈 자치구 연결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07360" y="3040380"/>
            <a:ext cx="201168" cy="0"/>
          </a:xfrm>
          <a:prstGeom prst="line">
            <a:avLst/>
          </a:prstGeom>
          <a:noFill/>
          <a:ln w="15875">
            <a:solidFill>
              <a:srgbClr val="8E8E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3345104" y="1993392"/>
            <a:ext cx="2613584" cy="2093976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3564560" y="2176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02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564560" y="2468880"/>
            <a:ext cx="217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누락 월 수집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564560" y="2907792"/>
            <a:ext cx="2174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 txBox="1"/>
          <p:nvPr/>
        </p:nvSpPr>
        <p:spPr>
          <a:xfrm>
            <a:off x="3564560" y="3017520"/>
            <a:ext cx="21746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수집 완료 월 제외, 누락 월만 호출 및 월별 중간 저장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95264" y="3040380"/>
            <a:ext cx="201168" cy="0"/>
          </a:xfrm>
          <a:prstGeom prst="line">
            <a:avLst/>
          </a:prstGeom>
          <a:noFill/>
          <a:ln w="15875">
            <a:solidFill>
              <a:srgbClr val="8E8E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233008" y="1993392"/>
            <a:ext cx="2613584" cy="2093976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6452464" y="2176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452464" y="2468880"/>
            <a:ext cx="217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오류 재시도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52464" y="2907792"/>
            <a:ext cx="2174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6452464" y="3017520"/>
            <a:ext cx="21746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2초 → 4초 → 8초 간격 재시도, 사용량 소진 시 중단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883167" y="3040380"/>
            <a:ext cx="201168" cy="0"/>
          </a:xfrm>
          <a:prstGeom prst="line">
            <a:avLst/>
          </a:prstGeom>
          <a:noFill/>
          <a:ln w="15875">
            <a:solidFill>
              <a:srgbClr val="8E8E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3"/>
          <p:cNvSpPr/>
          <p:nvPr/>
        </p:nvSpPr>
        <p:spPr>
          <a:xfrm>
            <a:off x="9120911" y="1993392"/>
            <a:ext cx="2613584" cy="2093976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4"/>
          <p:cNvSpPr txBox="1"/>
          <p:nvPr/>
        </p:nvSpPr>
        <p:spPr>
          <a:xfrm>
            <a:off x="9340367" y="2176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04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9340367" y="2468880"/>
            <a:ext cx="217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빈 자료 기록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340367" y="2907792"/>
            <a:ext cx="2174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 txBox="1"/>
          <p:nvPr/>
        </p:nvSpPr>
        <p:spPr>
          <a:xfrm>
            <a:off x="9340367" y="3017520"/>
            <a:ext cx="21746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정상 응답 빈 구-월 기록, 재호출 방지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361688"/>
            <a:ext cx="2681935" cy="1828800"/>
          </a:xfrm>
          <a:prstGeom prst="roundRect">
            <a:avLst>
              <a:gd name="adj" fmla="val 7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  <a:effectLst>
            <a:outerShdw blurRad="95250" dist="50800" dir="5400000" algn="bl" rotWithShape="0">
              <a:srgbClr val="8A141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29"/>
          <p:cNvSpPr txBox="1"/>
          <p:nvPr/>
        </p:nvSpPr>
        <p:spPr>
          <a:xfrm>
            <a:off x="676656" y="4544568"/>
            <a:ext cx="2243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2,634행</a:t>
            </a:r>
            <a:endParaRPr lang="en-US" sz="3600" dirty="0"/>
          </a:p>
        </p:txBody>
      </p:sp>
      <p:sp>
        <p:nvSpPr>
          <p:cNvPr id="33" name="Text 30"/>
          <p:cNvSpPr txBox="1"/>
          <p:nvPr/>
        </p:nvSpPr>
        <p:spPr>
          <a:xfrm>
            <a:off x="676656" y="5148072"/>
            <a:ext cx="2243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수집 결과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76656" y="5550408"/>
            <a:ext cx="2243023" cy="0"/>
          </a:xfrm>
          <a:prstGeom prst="line">
            <a:avLst/>
          </a:prstGeom>
          <a:noFill/>
          <a:ln w="9525">
            <a:solidFill>
              <a:srgbClr val="E87A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 txBox="1"/>
          <p:nvPr/>
        </p:nvSpPr>
        <p:spPr>
          <a:xfrm>
            <a:off x="676656" y="5660136"/>
            <a:ext cx="2243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2017.01 ~ 2025.12 · 25개 구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322015" y="4361688"/>
            <a:ext cx="268193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Text 34"/>
          <p:cNvSpPr txBox="1"/>
          <p:nvPr/>
        </p:nvSpPr>
        <p:spPr>
          <a:xfrm>
            <a:off x="3541471" y="4544568"/>
            <a:ext cx="2243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2,700칸</a:t>
            </a:r>
            <a:endParaRPr lang="en-US" sz="3600" dirty="0"/>
          </a:p>
        </p:txBody>
      </p:sp>
      <p:sp>
        <p:nvSpPr>
          <p:cNvPr id="38" name="Text 35"/>
          <p:cNvSpPr txBox="1"/>
          <p:nvPr/>
        </p:nvSpPr>
        <p:spPr>
          <a:xfrm>
            <a:off x="3541471" y="5148072"/>
            <a:ext cx="2243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예상 구-월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3541471" y="5550408"/>
            <a:ext cx="2243023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 txBox="1"/>
          <p:nvPr/>
        </p:nvSpPr>
        <p:spPr>
          <a:xfrm>
            <a:off x="3541471" y="5660136"/>
            <a:ext cx="2243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25개 구 × 108개월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186830" y="4361688"/>
            <a:ext cx="268193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Text 39"/>
          <p:cNvSpPr txBox="1"/>
          <p:nvPr/>
        </p:nvSpPr>
        <p:spPr>
          <a:xfrm>
            <a:off x="6406286" y="4544568"/>
            <a:ext cx="2243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66칸</a:t>
            </a:r>
            <a:endParaRPr lang="en-US" sz="3600" dirty="0"/>
          </a:p>
        </p:txBody>
      </p:sp>
      <p:sp>
        <p:nvSpPr>
          <p:cNvPr id="43" name="Text 40"/>
          <p:cNvSpPr txBox="1"/>
          <p:nvPr/>
        </p:nvSpPr>
        <p:spPr>
          <a:xfrm>
            <a:off x="6406286" y="5148072"/>
            <a:ext cx="2243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미수집 구-월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6406286" y="5550408"/>
            <a:ext cx="2243023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2"/>
          <p:cNvSpPr txBox="1"/>
          <p:nvPr/>
        </p:nvSpPr>
        <p:spPr>
          <a:xfrm>
            <a:off x="6406286" y="5660136"/>
            <a:ext cx="2243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성동 6개월 · 금천 60개월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9051646" y="4361688"/>
            <a:ext cx="268193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7" name="Text 44"/>
          <p:cNvSpPr txBox="1"/>
          <p:nvPr/>
        </p:nvSpPr>
        <p:spPr>
          <a:xfrm>
            <a:off x="9271102" y="4544568"/>
            <a:ext cx="2243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25 → 25</a:t>
            </a:r>
            <a:endParaRPr lang="en-US" sz="3600" dirty="0"/>
          </a:p>
        </p:txBody>
      </p:sp>
      <p:sp>
        <p:nvSpPr>
          <p:cNvPr id="48" name="Text 45"/>
          <p:cNvSpPr txBox="1"/>
          <p:nvPr/>
        </p:nvSpPr>
        <p:spPr>
          <a:xfrm>
            <a:off x="9271102" y="5148072"/>
            <a:ext cx="2243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소방서 → 자치구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9271102" y="5550408"/>
            <a:ext cx="2243023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7"/>
          <p:cNvSpPr txBox="1"/>
          <p:nvPr/>
        </p:nvSpPr>
        <p:spPr>
          <a:xfrm>
            <a:off x="9271102" y="5660136"/>
            <a:ext cx="2243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누락 · 중복 매핑 없음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에이투지체 5 Medium"/>
                <a:ea typeface="에이투지체 5 Medium"/>
                <a:cs typeface="에이투지체 5 Medium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데이터 전처리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>
                    <a:alpha val="70000"/>
                  </a:srgbClr>
                </a:solidFill>
                <a:latin typeface="에이투지체 5 Medium"/>
                <a:ea typeface="에이투지체 5 Medium"/>
                <a:cs typeface="에이투지체 5 Medium"/>
              </a:rPr>
              <a:t>형식 통일, 결측 및 중복 처리, 데이터 통합, 입력 변수 선택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2499284" cy="0"/>
          </a:xfrm>
          <a:prstGeom prst="line">
            <a:avLst/>
          </a:prstGeom>
          <a:noFill/>
          <a:ln w="25400">
            <a:solidFill>
              <a:srgbClr val="D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457200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A7A"/>
                </a:solidFill>
                <a:latin typeface="에이투지체 5 Medium"/>
                <a:ea typeface="에이투지체 5 Medium"/>
                <a:cs typeface="에이투지체 5 Medium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64608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전처리 흐름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05124" y="4434840"/>
            <a:ext cx="2499284" cy="0"/>
          </a:xfrm>
          <a:prstGeom prst="line">
            <a:avLst/>
          </a:prstGeom>
          <a:noFill/>
          <a:ln w="25400">
            <a:solidFill>
              <a:srgbClr val="3A4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3505124" y="457200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05124" y="4864608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자료 정리 기준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87288" y="4434840"/>
            <a:ext cx="2499284" cy="0"/>
          </a:xfrm>
          <a:prstGeom prst="line">
            <a:avLst/>
          </a:prstGeom>
          <a:noFill/>
          <a:ln w="25400">
            <a:solidFill>
              <a:srgbClr val="3A4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187288" y="457200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87288" y="4864608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과거 값 기반 통합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69451" y="4434840"/>
            <a:ext cx="2499284" cy="0"/>
          </a:xfrm>
          <a:prstGeom prst="line">
            <a:avLst/>
          </a:prstGeom>
          <a:noFill/>
          <a:ln w="25400">
            <a:solidFill>
              <a:srgbClr val="3A4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8869451" y="457200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869451" y="4864608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입력 변수 선택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02  데이터 전처리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전처리 흐름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원본 정리 → 제외 → 통합 → 입력 선택, 학습 표 2종 생성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02_119_전처리_검토수정.ipynb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2036003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676656" y="2176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76656" y="2468880"/>
            <a:ext cx="1597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원본 수집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76656" y="2907792"/>
            <a:ext cx="1597091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676656" y="3017520"/>
            <a:ext cx="15970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결과 파일 15개 로드 (구급 · 인구 · 사고 · 의료 · 병상)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29779" y="2907792"/>
            <a:ext cx="201168" cy="0"/>
          </a:xfrm>
          <a:prstGeom prst="line">
            <a:avLst/>
          </a:prstGeom>
          <a:noFill/>
          <a:ln w="15875">
            <a:solidFill>
              <a:srgbClr val="8E8E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2767523" y="1993392"/>
            <a:ext cx="2036003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2986979" y="2176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02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986979" y="2468880"/>
            <a:ext cx="1597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형식 통일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986979" y="2907792"/>
            <a:ext cx="1597091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 txBox="1"/>
          <p:nvPr/>
        </p:nvSpPr>
        <p:spPr>
          <a:xfrm>
            <a:off x="2986979" y="3017520"/>
            <a:ext cx="15970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날짜 · 지역 · 컬럼명 기준 통일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0102" y="2907792"/>
            <a:ext cx="201168" cy="0"/>
          </a:xfrm>
          <a:prstGeom prst="line">
            <a:avLst/>
          </a:prstGeom>
          <a:noFill/>
          <a:ln w="15875">
            <a:solidFill>
              <a:srgbClr val="8E8E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5077846" y="1993392"/>
            <a:ext cx="2036003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5297302" y="2176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297302" y="2468880"/>
            <a:ext cx="1597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구간 제외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297302" y="2907792"/>
            <a:ext cx="1597091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5297302" y="3017520"/>
            <a:ext cx="15970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관할 변경 구간 70행 제외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150425" y="2907792"/>
            <a:ext cx="201168" cy="0"/>
          </a:xfrm>
          <a:prstGeom prst="line">
            <a:avLst/>
          </a:prstGeom>
          <a:noFill/>
          <a:ln w="15875">
            <a:solidFill>
              <a:srgbClr val="8E8E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3"/>
          <p:cNvSpPr/>
          <p:nvPr/>
        </p:nvSpPr>
        <p:spPr>
          <a:xfrm>
            <a:off x="7388169" y="1993392"/>
            <a:ext cx="2036003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4"/>
          <p:cNvSpPr txBox="1"/>
          <p:nvPr/>
        </p:nvSpPr>
        <p:spPr>
          <a:xfrm>
            <a:off x="7607625" y="2176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04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607625" y="2468880"/>
            <a:ext cx="1597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데이터 통합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607625" y="2907792"/>
            <a:ext cx="1597091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 txBox="1"/>
          <p:nvPr/>
        </p:nvSpPr>
        <p:spPr>
          <a:xfrm>
            <a:off x="7607625" y="3017520"/>
            <a:ext cx="15970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이송 표 (구 × 월), 인구 표 (구 × 일)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9460748" y="2907792"/>
            <a:ext cx="201168" cy="0"/>
          </a:xfrm>
          <a:prstGeom prst="line">
            <a:avLst/>
          </a:prstGeom>
          <a:noFill/>
          <a:ln w="15875">
            <a:solidFill>
              <a:srgbClr val="8E8E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9698492" y="1993392"/>
            <a:ext cx="2036003" cy="1828800"/>
          </a:xfrm>
          <a:prstGeom prst="roundRect">
            <a:avLst>
              <a:gd name="adj" fmla="val 7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  <a:effectLst>
            <a:outerShdw blurRad="95250" dist="50800" dir="5400000" algn="bl" rotWithShape="0">
              <a:srgbClr val="8A141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0"/>
          <p:cNvSpPr txBox="1"/>
          <p:nvPr/>
        </p:nvSpPr>
        <p:spPr>
          <a:xfrm>
            <a:off x="9917948" y="2176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05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9917948" y="2468880"/>
            <a:ext cx="1597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입력 선택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9917948" y="2907792"/>
            <a:ext cx="1597091" cy="0"/>
          </a:xfrm>
          <a:prstGeom prst="line">
            <a:avLst/>
          </a:prstGeom>
          <a:noFill/>
          <a:ln w="9525">
            <a:solidFill>
              <a:srgbClr val="E87A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 txBox="1"/>
          <p:nvPr/>
        </p:nvSpPr>
        <p:spPr>
          <a:xfrm>
            <a:off x="9917948" y="3017520"/>
            <a:ext cx="15970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이송 8개 · 인구 5개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57200" y="4096512"/>
            <a:ext cx="5547665" cy="2093976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Text 35"/>
          <p:cNvSpPr txBox="1"/>
          <p:nvPr/>
        </p:nvSpPr>
        <p:spPr>
          <a:xfrm>
            <a:off x="676656" y="4261104"/>
            <a:ext cx="51087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이송 건수 예측용 표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676656" y="4663440"/>
            <a:ext cx="5108753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 txBox="1"/>
          <p:nvPr/>
        </p:nvSpPr>
        <p:spPr>
          <a:xfrm>
            <a:off x="676656" y="4773168"/>
            <a:ext cx="5108753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단위: 자치구 × 월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통합 결과: 2,564행 × 46열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학습용: 2,180행 × 13열 (결측 행 제외)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기간: 2018.05 ~ 2025.12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187745" y="4096512"/>
            <a:ext cx="5547665" cy="2093976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Text 39"/>
          <p:cNvSpPr txBox="1"/>
          <p:nvPr/>
        </p:nvSpPr>
        <p:spPr>
          <a:xfrm>
            <a:off x="6407201" y="4261104"/>
            <a:ext cx="51087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인구 밀집 예측용 표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6407201" y="4663440"/>
            <a:ext cx="5108753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1"/>
          <p:cNvSpPr txBox="1"/>
          <p:nvPr/>
        </p:nvSpPr>
        <p:spPr>
          <a:xfrm>
            <a:off x="6407201" y="4773168"/>
            <a:ext cx="5108753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단위: 자치구 × 일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통합 결과: 75,825행 × 20열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학습용: 75,825행 × 11열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기간: 2018.04.12 ~ 2026.07.31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02  데이터 전처리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자료 정리 및 결측 · 중복 처리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임의 값 생성 없이 형식 통일 및 이상 구간 제외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02_119_전처리_검토수정.ipynb (형식 · 숫자 정리는 이전 전처리 단계)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93392"/>
          <a:ext cx="11277295" cy="340156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7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구분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문제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처리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2828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결과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형식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3~4줄 헤더, 가로로 펼친 월 컬럼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한 행 = 한 시점 구조로 변환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세로형 표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명칭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파일별 날짜 · 지역 컬럼명 상이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ds · District로 통일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공통 키 병합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숫자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천 단위 콤마, "-" 표기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콤마 제거, "-" → 0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숫자형 변환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중복 컬럼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Pop_Peak = 일최대인구수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뒤쪽 컬럼 제외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1개 컬럼 제외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미수집 구간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소방서 개서 이전 66칸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임의 값 미입력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빈 구간 유지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관할 변경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성동 · 광진 ~2017.7, 금천 · 구로 ~2022.1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변경 이전 구간 제외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2,634 → 2,564행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596128"/>
            <a:ext cx="11277295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6"/>
          <p:cNvSpPr txBox="1"/>
          <p:nvPr/>
        </p:nvSpPr>
        <p:spPr>
          <a:xfrm>
            <a:off x="640080" y="5596128"/>
            <a:ext cx="10908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 smtClean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생활인구</a:t>
            </a:r>
            <a:r>
              <a:rPr lang="en-US" sz="1400" dirty="0" smtClean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25개 구 × 3,040일 연속 확인, 결측의 평균 · 0 </a:t>
            </a:r>
            <a:r>
              <a:rPr lang="en-US" sz="1400" dirty="0" err="1" smtClean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대체</a:t>
            </a:r>
            <a:r>
              <a:rPr lang="en-US" sz="1400" dirty="0" smtClean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lang="ko-KR" altLang="en-US" sz="1400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미</a:t>
            </a:r>
            <a:r>
              <a:rPr lang="en-US" sz="1400" dirty="0" err="1" smtClean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적용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02  데이터 전처리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과거 값 기반 학습 표 통합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예측 시점에 확인 가능한 지난달 · 작년 · 전일 값만 입력으로 사용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02_119_전처리_검토수정.ipynb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676656" y="19933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소방청 API 이송 건수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017520" y="2221992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DE3E3"/>
          </a:solidFill>
          <a:ln w="12700">
            <a:solidFill>
              <a:srgbClr val="F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3017520" y="2221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1414"/>
                </a:solidFill>
                <a:latin typeface="에이투지체 5 Medium"/>
                <a:ea typeface="에이투지체 5 Medium"/>
                <a:cs typeface="에이투지체 5 Medium"/>
              </a:rPr>
              <a:t>전월 · 전년 동월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2359152"/>
            <a:ext cx="502920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457200" y="2862072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676656" y="286207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생활인구 (일 → 월평균)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017520" y="3090672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DE3E3"/>
          </a:solidFill>
          <a:ln w="12700">
            <a:solidFill>
              <a:srgbClr val="F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3017520" y="3090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1414"/>
                </a:solidFill>
                <a:latin typeface="에이투지체 5 Medium"/>
                <a:ea typeface="에이투지체 5 Medium"/>
                <a:cs typeface="에이투지체 5 Medium"/>
              </a:rPr>
              <a:t>전월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0" y="3227832"/>
            <a:ext cx="502920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457200" y="3730752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676656" y="37307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구조활동 사고 원인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017520" y="3959352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DE3E3"/>
          </a:solidFill>
          <a:ln w="12700">
            <a:solidFill>
              <a:srgbClr val="F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3017520" y="3959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1414"/>
                </a:solidFill>
                <a:latin typeface="에이투지체 5 Medium"/>
                <a:ea typeface="에이투지체 5 Medium"/>
                <a:cs typeface="에이투지체 5 Medium"/>
              </a:rPr>
              <a:t>전년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0" y="4096512"/>
            <a:ext cx="502920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457200" y="4599432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676656" y="459943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의료이용 수요 · 공급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017520" y="4828032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DE3E3"/>
          </a:solidFill>
          <a:ln w="12700">
            <a:solidFill>
              <a:srgbClr val="F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 txBox="1"/>
          <p:nvPr/>
        </p:nvSpPr>
        <p:spPr>
          <a:xfrm>
            <a:off x="3017520" y="4828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1414"/>
                </a:solidFill>
                <a:latin typeface="에이투지체 5 Medium"/>
                <a:ea typeface="에이투지체 5 Medium"/>
                <a:cs typeface="에이투지체 5 Medium"/>
              </a:rPr>
              <a:t>전년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0" y="4965192"/>
            <a:ext cx="502920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>
            <a:off x="5212080" y="1993392"/>
            <a:ext cx="2743200" cy="3337560"/>
          </a:xfrm>
          <a:prstGeom prst="roundRect">
            <a:avLst>
              <a:gd name="adj" fmla="val 4667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  <a:effectLst>
            <a:outerShdw blurRad="95250" dist="50800" dir="5400000" algn="bl" rotWithShape="0">
              <a:srgbClr val="8A141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6"/>
          <p:cNvSpPr txBox="1"/>
          <p:nvPr/>
        </p:nvSpPr>
        <p:spPr>
          <a:xfrm>
            <a:off x="5431536" y="228600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이송 예측 표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5431536" y="274320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구 × 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2,564행 × 46열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31536" y="3566160"/>
            <a:ext cx="2304288" cy="0"/>
          </a:xfrm>
          <a:prstGeom prst="line">
            <a:avLst/>
          </a:prstGeom>
          <a:noFill/>
          <a:ln w="9525">
            <a:solidFill>
              <a:srgbClr val="E87A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 txBox="1"/>
          <p:nvPr/>
        </p:nvSpPr>
        <p:spPr>
          <a:xfrm>
            <a:off x="5431536" y="3833447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에이투지체 5 Medium"/>
                <a:ea typeface="에이투지체 5 Medium"/>
                <a:cs typeface="에이투지체 5 Medium"/>
              </a:rPr>
              <a:t>정답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5400903" y="424281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당월 이송 건수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138160" y="1993392"/>
            <a:ext cx="3596335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Text 32"/>
          <p:cNvSpPr txBox="1"/>
          <p:nvPr/>
        </p:nvSpPr>
        <p:spPr>
          <a:xfrm>
            <a:off x="8357616" y="21762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인구 밀집 예측 표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8357616" y="2578608"/>
            <a:ext cx="3154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>
            <a:off x="8357616" y="2816352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 txBox="1"/>
          <p:nvPr/>
        </p:nvSpPr>
        <p:spPr>
          <a:xfrm>
            <a:off x="8357616" y="2816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전일 값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9601200" y="274320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전일 생활인구 지표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8357616" y="334670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/>
          <p:cNvSpPr txBox="1"/>
          <p:nvPr/>
        </p:nvSpPr>
        <p:spPr>
          <a:xfrm>
            <a:off x="8357616" y="33467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7일 전 값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9601200" y="32735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전주 동일 요일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8357616" y="387705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1"/>
          <p:cNvSpPr txBox="1"/>
          <p:nvPr/>
        </p:nvSpPr>
        <p:spPr>
          <a:xfrm>
            <a:off x="8357616" y="38770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달력 정보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9601200" y="380390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월 · 요일 · 주말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8357616" y="44348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정답: 당일 일최대인구수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75,825행 × 20열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57200" y="5550408"/>
            <a:ext cx="11277295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" name="Text 45"/>
          <p:cNvSpPr txBox="1"/>
          <p:nvPr/>
        </p:nvSpPr>
        <p:spPr>
          <a:xfrm>
            <a:off x="640080" y="55504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 smtClean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지난달</a:t>
            </a:r>
            <a:r>
              <a:rPr lang="en-US" sz="1400" dirty="0" smtClean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출동 건수 등 미래 시점에 계산 불가한 값은 입력에서 제외, 미래 예측 입력 150행 동일 방식 생성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02  데이터 전처리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 pitchFamily="50" charset="-127"/>
                <a:ea typeface="에이투지체 5 Medium" pitchFamily="50" charset="-127"/>
                <a:cs typeface="에이투지체 5 Medium"/>
              </a:rPr>
              <a:t>입력 변수 선택 기준 및 결과</a:t>
            </a:r>
            <a:endParaRPr lang="en-US" sz="36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2024년까지 자료 기준 4단계 규칙 적용 → 이송 8개 · 인구 5개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15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02_119_전처리_검토수정.ipynb · features_transport · features_population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374904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658368" y="225856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658368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21488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결측 20% 초과 제외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496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행 손실 방지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374904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58368" y="3328416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658368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32186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정답과 |r| &lt; 0.3 제외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관계가 약한 변수 제외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133088"/>
            <a:ext cx="374904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58368" y="4398264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 txBox="1"/>
          <p:nvPr/>
        </p:nvSpPr>
        <p:spPr>
          <a:xfrm>
            <a:off x="658368" y="4398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234440" y="42885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선택 변수와 |r| ≥ 0.9 제외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4636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중복 정보 제외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5202936"/>
            <a:ext cx="374904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658368" y="5468112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 txBox="1"/>
          <p:nvPr/>
        </p:nvSpPr>
        <p:spPr>
          <a:xfrm>
            <a:off x="658368" y="5468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234440" y="53583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계산 기간: 2024년까지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234440" y="57058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이후 기간 정보 차단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389120" y="1993392"/>
            <a:ext cx="3673145" cy="4197096"/>
          </a:xfrm>
          <a:prstGeom prst="roundRect">
            <a:avLst>
              <a:gd name="adj" fmla="val 24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6"/>
          <p:cNvSpPr txBox="1"/>
          <p:nvPr/>
        </p:nvSpPr>
        <p:spPr>
          <a:xfrm>
            <a:off x="4608576" y="2157984"/>
            <a:ext cx="32342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이송 건수 · 8개 (33개 제외)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4608576" y="2560320"/>
            <a:ext cx="3234233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 txBox="1"/>
          <p:nvPr/>
        </p:nvSpPr>
        <p:spPr>
          <a:xfrm>
            <a:off x="4608576" y="2670048"/>
            <a:ext cx="3234233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전월 이송 건수</a:t>
            </a: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전년 동월 이송 건수</a:t>
            </a: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전월 야간인구</a:t>
            </a: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전월 일최대인구</a:t>
            </a: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전월 동일구 행정동간 이동인구</a:t>
            </a: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전월 서울외 유입인구</a:t>
            </a: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전년 인명갇힘 사고</a:t>
            </a: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전년 승강기 사고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8245145" y="1993392"/>
            <a:ext cx="3489350" cy="4197096"/>
          </a:xfrm>
          <a:prstGeom prst="roundRect">
            <a:avLst>
              <a:gd name="adj" fmla="val 26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0"/>
          <p:cNvSpPr txBox="1"/>
          <p:nvPr/>
        </p:nvSpPr>
        <p:spPr>
          <a:xfrm>
            <a:off x="8464601" y="2157984"/>
            <a:ext cx="3050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인구 밀집 · 5개 (9개 제외)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8464601" y="2560320"/>
            <a:ext cx="305043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 txBox="1"/>
          <p:nvPr/>
        </p:nvSpPr>
        <p:spPr>
          <a:xfrm>
            <a:off x="8464601" y="2670048"/>
            <a:ext cx="3050438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7일 전 일최대인구</a:t>
            </a: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전일 야간인구</a:t>
            </a: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전일 일최대 이동인구</a:t>
            </a: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전일 동일구 행정동간 이동인구</a:t>
            </a: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전일 주야간 인구 차이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8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에이투지체 5 Medium"/>
                <a:ea typeface="에이투지체 5 Medium"/>
                <a:cs typeface="에이투지체 5 Medium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데이터 분석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>
                    <a:alpha val="70000"/>
                  </a:srgbClr>
                </a:solidFill>
                <a:latin typeface="에이투지체 5 Medium"/>
                <a:ea typeface="에이투지체 5 Medium"/>
                <a:cs typeface="에이투지체 5 Medium"/>
              </a:rPr>
              <a:t>생활인구와 이송 건수의 관계, 인구 가중치 및 자치구 유형, 계절성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3393338" cy="0"/>
          </a:xfrm>
          <a:prstGeom prst="line">
            <a:avLst/>
          </a:prstGeom>
          <a:noFill/>
          <a:ln w="25400">
            <a:solidFill>
              <a:srgbClr val="D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45720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A7A"/>
                </a:solidFill>
                <a:latin typeface="에이투지체 5 Medium"/>
                <a:ea typeface="에이투지체 5 Medium"/>
                <a:cs typeface="에이투지체 5 Medium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64608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생활인구-이송 관계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99178" y="4434840"/>
            <a:ext cx="3393338" cy="0"/>
          </a:xfrm>
          <a:prstGeom prst="line">
            <a:avLst/>
          </a:prstGeom>
          <a:noFill/>
          <a:ln w="25400">
            <a:solidFill>
              <a:srgbClr val="3A4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4399178" y="45720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99178" y="4864608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인구 가중치 및 자치구 유형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75397" y="4434840"/>
            <a:ext cx="3393338" cy="0"/>
          </a:xfrm>
          <a:prstGeom prst="line">
            <a:avLst/>
          </a:prstGeom>
          <a:noFill/>
          <a:ln w="25400">
            <a:solidFill>
              <a:srgbClr val="3A4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7975397" y="45720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75397" y="4864608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월별 계절성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03  데이터 분석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 pitchFamily="50" charset="-127"/>
                <a:ea typeface="에이투지체 5 Medium" pitchFamily="50" charset="-127"/>
                <a:cs typeface="에이투지체 5 Medium"/>
              </a:rPr>
              <a:t>생활인구와 이송 건수의 관계</a:t>
            </a:r>
            <a:endParaRPr lang="en-US" sz="36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구 간 비교(규모)와 구 내 비교(월별 변화)의 상관 차이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transport_dataset · population_dataset 재계산 (2018.04~2025.12, 2,233행)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7315200" cy="3465576"/>
          </a:xfrm>
          <a:prstGeom prst="roundRect">
            <a:avLst>
              <a:gd name="adj" fmla="val 26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graphicFrame>
        <p:nvGraphicFramePr>
          <p:cNvPr id="9" name="Chart 0"/>
          <p:cNvGraphicFramePr/>
          <p:nvPr/>
        </p:nvGraphicFramePr>
        <p:xfrm>
          <a:off x="548640" y="2066544"/>
          <a:ext cx="7132320" cy="3319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6"/>
          <p:cNvSpPr/>
          <p:nvPr/>
        </p:nvSpPr>
        <p:spPr>
          <a:xfrm>
            <a:off x="7955280" y="1993392"/>
            <a:ext cx="3779215" cy="1645920"/>
          </a:xfrm>
          <a:prstGeom prst="roundRect">
            <a:avLst>
              <a:gd name="adj" fmla="val 7778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  <a:effectLst>
            <a:outerShdw blurRad="95250" dist="50800" dir="5400000" algn="bl" rotWithShape="0">
              <a:srgbClr val="8A141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 txBox="1"/>
          <p:nvPr/>
        </p:nvSpPr>
        <p:spPr>
          <a:xfrm>
            <a:off x="8174736" y="2105933"/>
            <a:ext cx="3340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0.81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8174736" y="2709437"/>
            <a:ext cx="33403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구 간 상관 (야간인구)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74736" y="3041435"/>
            <a:ext cx="3340303" cy="0"/>
          </a:xfrm>
          <a:prstGeom prst="line">
            <a:avLst/>
          </a:prstGeom>
          <a:noFill/>
          <a:ln w="9525">
            <a:solidFill>
              <a:srgbClr val="E87A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 txBox="1"/>
          <p:nvPr/>
        </p:nvSpPr>
        <p:spPr>
          <a:xfrm>
            <a:off x="8174736" y="3221501"/>
            <a:ext cx="334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인구 규모가 큰 구일수록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이송 건수 증가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955280" y="3813048"/>
            <a:ext cx="3779215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2"/>
          <p:cNvSpPr txBox="1"/>
          <p:nvPr/>
        </p:nvSpPr>
        <p:spPr>
          <a:xfrm>
            <a:off x="8174736" y="3951968"/>
            <a:ext cx="3340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≤ 0.33</a:t>
            </a:r>
            <a:endParaRPr lang="en-US" sz="3600" dirty="0"/>
          </a:p>
        </p:txBody>
      </p:sp>
      <p:sp>
        <p:nvSpPr>
          <p:cNvPr id="17" name="Text 13"/>
          <p:cNvSpPr txBox="1"/>
          <p:nvPr/>
        </p:nvSpPr>
        <p:spPr>
          <a:xfrm>
            <a:off x="8174736" y="4555472"/>
            <a:ext cx="33403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구 내 상관 (전 지표)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174736" y="4905056"/>
            <a:ext cx="3340303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 txBox="1"/>
          <p:nvPr/>
        </p:nvSpPr>
        <p:spPr>
          <a:xfrm>
            <a:off x="8174736" y="5067536"/>
            <a:ext cx="334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같은 구의 월별 인구 변화와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이송 변화의 관계 약함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5641848"/>
            <a:ext cx="11277295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7"/>
          <p:cNvSpPr txBox="1"/>
          <p:nvPr/>
        </p:nvSpPr>
        <p:spPr>
          <a:xfrm>
            <a:off x="640080" y="564184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 smtClean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생활인구는</a:t>
            </a:r>
            <a:r>
              <a:rPr lang="en-US" sz="1400" dirty="0" smtClean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구별 수요 규모 설명 변수, 월별 변화는 계절 · 전월 값으로 설명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03  데이터 분석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생활인구-이송 건수 산점도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구 × 월 전체 분포와 자치구별 평균 비교 (야간인구 기준, 학습 기간)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18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03_119_통합_예측_1.ipynb (relation_scatter)</a:t>
            </a:r>
            <a:endParaRPr lang="en-US" sz="900" dirty="0"/>
          </a:p>
        </p:txBody>
      </p:sp>
      <p:sp>
        <p:nvSpPr>
          <p:cNvPr id="1001" name="Add 1001"/>
          <p:cNvSpPr/>
          <p:nvPr/>
        </p:nvSpPr>
        <p:spPr>
          <a:xfrm>
            <a:off x="457200" y="1993392"/>
            <a:ext cx="11277295" cy="3291840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02" name="Picture 1001" descr="relation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889" y="2103120"/>
            <a:ext cx="8677917" cy="3072384"/>
          </a:xfrm>
          <a:prstGeom prst="rect">
            <a:avLst/>
          </a:prstGeom>
        </p:spPr>
      </p:pic>
      <p:sp>
        <p:nvSpPr>
          <p:cNvPr id="7" name="Add 1002"/>
          <p:cNvSpPr/>
          <p:nvPr/>
        </p:nvSpPr>
        <p:spPr>
          <a:xfrm>
            <a:off x="457200" y="5468112"/>
            <a:ext cx="5547665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03" name="Add 1003"/>
          <p:cNvSpPr txBox="1"/>
          <p:nvPr/>
        </p:nvSpPr>
        <p:spPr>
          <a:xfrm>
            <a:off x="676656" y="5468112"/>
            <a:ext cx="1463040" cy="722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4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구 × 월 전체</a:t>
            </a:r>
          </a:p>
        </p:txBody>
      </p:sp>
      <p:sp>
        <p:nvSpPr>
          <p:cNvPr id="1004" name="Add 1004"/>
          <p:cNvSpPr txBox="1"/>
          <p:nvPr/>
        </p:nvSpPr>
        <p:spPr>
          <a:xfrm>
            <a:off x="2103120" y="5468112"/>
            <a:ext cx="3749040" cy="722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자치구(색)별 군집 분포 → 구 규모 차이가 전체 상관 주도</a:t>
            </a:r>
          </a:p>
        </p:txBody>
      </p:sp>
      <p:sp>
        <p:nvSpPr>
          <p:cNvPr id="1005" name="Add 1005"/>
          <p:cNvSpPr/>
          <p:nvPr/>
        </p:nvSpPr>
        <p:spPr>
          <a:xfrm>
            <a:off x="6187745" y="5468112"/>
            <a:ext cx="5546750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06" name="Add 1006"/>
          <p:cNvSpPr txBox="1"/>
          <p:nvPr/>
        </p:nvSpPr>
        <p:spPr>
          <a:xfrm>
            <a:off x="6409944" y="5468112"/>
            <a:ext cx="1463040" cy="722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4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자치구별 평균</a:t>
            </a:r>
          </a:p>
        </p:txBody>
      </p:sp>
      <p:sp>
        <p:nvSpPr>
          <p:cNvPr id="1007" name="Add 1007"/>
          <p:cNvSpPr txBox="1"/>
          <p:nvPr/>
        </p:nvSpPr>
        <p:spPr>
          <a:xfrm>
            <a:off x="7836408" y="5468112"/>
            <a:ext cx="3749040" cy="722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야간인구가 많은 구일수록 평균 이송 증가 (구 간 0.80)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03  데이터 분석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인구 가중치 및 자치구 유형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중복 없는 인구 지표 4개 가중치 산출, KMeans 4개 유형 분류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19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transport_dataset · population_dataset 재계산 (KMeans, k = 4)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4937760" cy="3008376"/>
          </a:xfrm>
          <a:prstGeom prst="roundRect">
            <a:avLst>
              <a:gd name="adj" fmla="val 30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graphicFrame>
        <p:nvGraphicFramePr>
          <p:cNvPr id="9" name="Chart 0"/>
          <p:cNvGraphicFramePr/>
          <p:nvPr/>
        </p:nvGraphicFramePr>
        <p:xfrm>
          <a:off x="548640" y="2066544"/>
          <a:ext cx="4754880" cy="2862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5184648"/>
            <a:ext cx="4937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 txBox="1"/>
          <p:nvPr/>
        </p:nvSpPr>
        <p:spPr>
          <a:xfrm>
            <a:off x="719208" y="5167064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kern="0" spc="-8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0.80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1874520" y="53309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가중 지수 - 이송 건수 상관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874520" y="5669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야간인구 단독 0.81과 유사 → 야간인구 중심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388576"/>
              </p:ext>
            </p:extLst>
          </p:nvPr>
        </p:nvGraphicFramePr>
        <p:xfrm>
          <a:off x="5577840" y="1993392"/>
          <a:ext cx="6156655" cy="404164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유형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해당 자치구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야간인구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2828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1만 명당 이송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주거 고수요형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강북 · 구로 · 금천 · 도봉 · </a:t>
                      </a:r>
                      <a:r>
                        <a:rPr lang="en-US" sz="1200" dirty="0" err="1" smtClean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동대문</a:t>
                      </a:r>
                      <a:endParaRPr lang="en-US" sz="1200" dirty="0" smtClean="0">
                        <a:solidFill>
                          <a:srgbClr val="45515E"/>
                        </a:solidFill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 smtClean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· 양천 · 중랑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34만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29.6건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도심 유입형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종로 · 중구 (주야간비 1.58)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25만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29.2건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일반 주거형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강동 · 강서 · 관악 · 마포 등 13개 구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45만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22.5건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대규모 거점형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강남 · 서초 · 송파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68만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19.2건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03  데이터 분석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 pitchFamily="50" charset="-127"/>
                <a:ea typeface="에이투지체 5 Medium" pitchFamily="50" charset="-127"/>
                <a:cs typeface="에이투지체 5 Medium"/>
              </a:rPr>
              <a:t>월별 계절성</a:t>
            </a:r>
            <a:endParaRPr lang="en-US" sz="3600" b="1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83576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7 · 8월 최다, 2월 최소 — 월 정보 및 전년 동월 값 입력 근거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20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transport_dataset 월별 평균 · 02_119_전처리_검토수정.ipynb 시계열 분해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7680960" cy="4197096"/>
          </a:xfrm>
          <a:prstGeom prst="roundRect">
            <a:avLst>
              <a:gd name="adj" fmla="val 2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graphicFrame>
        <p:nvGraphicFramePr>
          <p:cNvPr id="9" name="Chart 0"/>
          <p:cNvGraphicFramePr/>
          <p:nvPr/>
        </p:nvGraphicFramePr>
        <p:xfrm>
          <a:off x="548640" y="2066544"/>
          <a:ext cx="7498080" cy="4050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6"/>
          <p:cNvSpPr/>
          <p:nvPr/>
        </p:nvSpPr>
        <p:spPr>
          <a:xfrm>
            <a:off x="8321040" y="1993392"/>
            <a:ext cx="3413455" cy="1307592"/>
          </a:xfrm>
          <a:prstGeom prst="roundRect">
            <a:avLst>
              <a:gd name="adj" fmla="val 979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  <a:effectLst>
            <a:outerShdw blurRad="95250" dist="50800" dir="5400000" algn="bl" rotWithShape="0">
              <a:srgbClr val="8A141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 txBox="1"/>
          <p:nvPr/>
        </p:nvSpPr>
        <p:spPr>
          <a:xfrm>
            <a:off x="8540496" y="1993392"/>
            <a:ext cx="13258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kern="0" spc="-90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108.6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9866376" y="2351765"/>
            <a:ext cx="164866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7월 최다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866376" y="2699237"/>
            <a:ext cx="1648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8월 108.4 동반 상승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321040" y="3422599"/>
            <a:ext cx="3413455" cy="1307592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1"/>
          <p:cNvSpPr txBox="1"/>
          <p:nvPr/>
        </p:nvSpPr>
        <p:spPr>
          <a:xfrm>
            <a:off x="8672381" y="3422599"/>
            <a:ext cx="13258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kern="0" spc="-9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86.8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9866376" y="3763388"/>
            <a:ext cx="164866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2월 최소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9866376" y="4110860"/>
            <a:ext cx="1648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28일 월 길이 영향 포함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321040" y="4851806"/>
            <a:ext cx="3413455" cy="1307592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5"/>
          <p:cNvSpPr txBox="1"/>
          <p:nvPr/>
        </p:nvSpPr>
        <p:spPr>
          <a:xfrm>
            <a:off x="8672381" y="4851806"/>
            <a:ext cx="13258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kern="0" spc="-9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22%</a:t>
            </a:r>
            <a:endParaRPr lang="en-US" sz="3000" dirty="0"/>
          </a:p>
        </p:txBody>
      </p:sp>
      <p:sp>
        <p:nvSpPr>
          <p:cNvPr id="20" name="Text 16"/>
          <p:cNvSpPr txBox="1"/>
          <p:nvPr/>
        </p:nvSpPr>
        <p:spPr>
          <a:xfrm>
            <a:off x="9866376" y="5104674"/>
            <a:ext cx="164866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계절 효과 폭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9866376" y="5452146"/>
            <a:ext cx="1648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5,835</a:t>
            </a:r>
            <a:r>
              <a:rPr lang="en-US" sz="1100" dirty="0" smtClean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건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 err="1" smtClean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월평균</a:t>
            </a:r>
            <a:r>
              <a:rPr lang="en-US" sz="1100" dirty="0" smtClean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25,942</a:t>
            </a:r>
            <a:r>
              <a:rPr lang="en-US" sz="1100" dirty="0" smtClean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건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8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에이투지체 5 Medium"/>
                <a:ea typeface="에이투지체 5 Medium"/>
                <a:cs typeface="에이투지체 5 Medium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모델 개발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>
                    <a:alpha val="70000"/>
                  </a:srgbClr>
                </a:solidFill>
                <a:latin typeface="에이투지체 5 Medium"/>
                <a:ea typeface="에이투지체 5 Medium"/>
                <a:cs typeface="에이투지체 5 Medium"/>
              </a:rPr>
              <a:t>데이터 분할부터 특성 실험, 모델 비교, 최종 모델 선정까지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2499284" cy="0"/>
          </a:xfrm>
          <a:prstGeom prst="line">
            <a:avLst/>
          </a:prstGeom>
          <a:noFill/>
          <a:ln w="25400">
            <a:solidFill>
              <a:srgbClr val="D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457200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A7A"/>
                </a:solidFill>
                <a:latin typeface="에이투지체 5 Medium"/>
                <a:ea typeface="에이투지체 5 Medium"/>
                <a:cs typeface="에이투지체 5 Medium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64608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예측 대상 및 분할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05124" y="4434840"/>
            <a:ext cx="2499284" cy="0"/>
          </a:xfrm>
          <a:prstGeom prst="line">
            <a:avLst/>
          </a:prstGeom>
          <a:noFill/>
          <a:ln w="25400">
            <a:solidFill>
              <a:srgbClr val="3A4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3505124" y="457200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05124" y="4864608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특성 실험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87288" y="4434840"/>
            <a:ext cx="2499284" cy="0"/>
          </a:xfrm>
          <a:prstGeom prst="line">
            <a:avLst/>
          </a:prstGeom>
          <a:noFill/>
          <a:ln w="25400">
            <a:solidFill>
              <a:srgbClr val="3A4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187288" y="457200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87288" y="4864608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모델 비교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69451" y="4434840"/>
            <a:ext cx="2499284" cy="0"/>
          </a:xfrm>
          <a:prstGeom prst="line">
            <a:avLst/>
          </a:prstGeom>
          <a:noFill/>
          <a:ln w="25400">
            <a:solidFill>
              <a:srgbClr val="3A4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8869451" y="457200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869451" y="4864608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최종 모델 및 예측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04  모델 개발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예측 대상 및 데이터 분할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시간순 3단계 분할: 학습 → 검증 (선택) → 평가 (확인)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22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03_119_통합_예측_1.ipynb (1장 · 4-1 · 5-3)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1127729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676656" y="21579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119 이송 건수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76656" y="25237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자치구 × 월 · 6개월 연속 예측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6040" y="2176272"/>
            <a:ext cx="3694176" cy="685800"/>
          </a:xfrm>
          <a:prstGeom prst="roundRect">
            <a:avLst>
              <a:gd name="adj" fmla="val 8000"/>
            </a:avLst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2743200" y="217627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학습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2176272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2018.05 ~ 2024.12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1,880행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355080" y="2176272"/>
            <a:ext cx="2551176" cy="685800"/>
          </a:xfrm>
          <a:prstGeom prst="roundRect">
            <a:avLst>
              <a:gd name="adj" fmla="val 8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6492240" y="217627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검증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2176272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2025.01 ~ 06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150행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961120" y="2176272"/>
            <a:ext cx="2724912" cy="685800"/>
          </a:xfrm>
          <a:prstGeom prst="roundRect">
            <a:avLst>
              <a:gd name="adj" fmla="val 8000"/>
            </a:avLst>
          </a:prstGeom>
          <a:solidFill>
            <a:srgbClr val="45515E"/>
          </a:solidFill>
          <a:ln w="12700">
            <a:solidFill>
              <a:srgbClr val="4551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 txBox="1"/>
          <p:nvPr/>
        </p:nvSpPr>
        <p:spPr>
          <a:xfrm>
            <a:off x="9098280" y="217627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평가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646920" y="2176272"/>
            <a:ext cx="1947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2025.07 ~ 12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150행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3182112"/>
            <a:ext cx="1127729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676656" y="33467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인구 밀집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76656" y="37124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자치구 × 일 · 일별 예측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606040" y="3364992"/>
            <a:ext cx="3694176" cy="685800"/>
          </a:xfrm>
          <a:prstGeom prst="roundRect">
            <a:avLst>
              <a:gd name="adj" fmla="val 8000"/>
            </a:avLst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2743200" y="336499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학습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291840" y="3364992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2018.04 ~ 2025.02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62,200행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355080" y="3364992"/>
            <a:ext cx="2551176" cy="685800"/>
          </a:xfrm>
          <a:prstGeom prst="roundRect">
            <a:avLst>
              <a:gd name="adj" fmla="val 8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 txBox="1"/>
          <p:nvPr/>
        </p:nvSpPr>
        <p:spPr>
          <a:xfrm>
            <a:off x="6492240" y="336499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검증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3364992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2025.02 ~ 07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4,500행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961120" y="3364992"/>
            <a:ext cx="2724912" cy="685800"/>
          </a:xfrm>
          <a:prstGeom prst="roundRect">
            <a:avLst>
              <a:gd name="adj" fmla="val 8000"/>
            </a:avLst>
          </a:prstGeom>
          <a:solidFill>
            <a:srgbClr val="45515E"/>
          </a:solidFill>
          <a:ln w="12700">
            <a:solidFill>
              <a:srgbClr val="4551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 txBox="1"/>
          <p:nvPr/>
        </p:nvSpPr>
        <p:spPr>
          <a:xfrm>
            <a:off x="9098280" y="336499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평가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646920" y="3364992"/>
            <a:ext cx="1947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2025.08 ~ 2026.07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9,125행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57200" y="4361688"/>
            <a:ext cx="363717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Shape 30"/>
          <p:cNvSpPr/>
          <p:nvPr/>
        </p:nvSpPr>
        <p:spPr>
          <a:xfrm>
            <a:off x="1589989" y="454456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 txBox="1"/>
          <p:nvPr/>
        </p:nvSpPr>
        <p:spPr>
          <a:xfrm>
            <a:off x="1589989" y="4544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학습 데이터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676656" y="4956048"/>
            <a:ext cx="31982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모델 학습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676656" y="5504688"/>
            <a:ext cx="3198266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 txBox="1"/>
          <p:nvPr/>
        </p:nvSpPr>
        <p:spPr>
          <a:xfrm>
            <a:off x="676656" y="5596128"/>
            <a:ext cx="3198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연관성 분석 · 변수 선택도 학습 기간만 사용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277258" y="4361688"/>
            <a:ext cx="3637178" cy="1828800"/>
          </a:xfrm>
          <a:prstGeom prst="roundRect">
            <a:avLst>
              <a:gd name="adj" fmla="val 7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  <a:effectLst>
            <a:outerShdw blurRad="95250" dist="50800" dir="5400000" algn="bl" rotWithShape="0">
              <a:srgbClr val="8A141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5410048" y="454456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DE3E3"/>
          </a:solidFill>
          <a:ln w="12700">
            <a:solidFill>
              <a:srgbClr val="F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 txBox="1"/>
          <p:nvPr/>
        </p:nvSpPr>
        <p:spPr>
          <a:xfrm>
            <a:off x="5410048" y="4544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1414"/>
                </a:solidFill>
                <a:latin typeface="에이투지체 5 Medium"/>
                <a:ea typeface="에이투지체 5 Medium"/>
                <a:cs typeface="에이투지체 5 Medium"/>
              </a:rPr>
              <a:t>검증 데이터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4496714" y="4956048"/>
            <a:ext cx="31982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특성 · 설정 · 모델 선택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4496714" y="5504688"/>
            <a:ext cx="3198266" cy="0"/>
          </a:xfrm>
          <a:prstGeom prst="line">
            <a:avLst/>
          </a:prstGeom>
          <a:noFill/>
          <a:ln w="9525">
            <a:solidFill>
              <a:srgbClr val="E87A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0"/>
          <p:cNvSpPr txBox="1"/>
          <p:nvPr/>
        </p:nvSpPr>
        <p:spPr>
          <a:xfrm>
            <a:off x="4496714" y="5596128"/>
            <a:ext cx="3198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특성 조합, 달력 설정, 모델 7종 비교에만 사용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8097317" y="4361688"/>
            <a:ext cx="363717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Shape 42"/>
          <p:cNvSpPr/>
          <p:nvPr/>
        </p:nvSpPr>
        <p:spPr>
          <a:xfrm>
            <a:off x="9230106" y="454456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3"/>
          <p:cNvSpPr txBox="1"/>
          <p:nvPr/>
        </p:nvSpPr>
        <p:spPr>
          <a:xfrm>
            <a:off x="9230106" y="4544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평가 데이터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8316773" y="4956048"/>
            <a:ext cx="31982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최종 성능 확인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8316773" y="5504688"/>
            <a:ext cx="3198266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6"/>
          <p:cNvSpPr txBox="1"/>
          <p:nvPr/>
        </p:nvSpPr>
        <p:spPr>
          <a:xfrm>
            <a:off x="8316773" y="5596128"/>
            <a:ext cx="3198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선택 완료 후 일반화 성능 확인에만 사용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04  모델 개발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인구 특성 추가 실험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상관관계 ≠ 성능 향상 — 5개 입력 조합의 검증 정확도 비교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23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03_119_통합_예측_1.ipynb (3-1 · 3-2 · 3-3)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3291840" cy="2642616"/>
          </a:xfrm>
          <a:prstGeom prst="roundRect">
            <a:avLst>
              <a:gd name="adj" fmla="val 34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676656" y="21579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입력 조합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76656" y="2560320"/>
            <a:ext cx="285292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771422" y="2670048"/>
            <a:ext cx="2852928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0000"/>
                </a:solidFill>
                <a:latin typeface="에이투지체 5 Medium"/>
                <a:ea typeface="에이투지체 5 Medium"/>
                <a:cs typeface="에이투지체 5 Medium"/>
              </a:rPr>
              <a:t>A</a:t>
            </a:r>
            <a:r>
              <a:rPr lang="en-US" sz="12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  구 · 월 원-핫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0000"/>
                </a:solidFill>
                <a:latin typeface="에이투지체 5 Medium"/>
                <a:ea typeface="에이투지체 5 Medium"/>
                <a:cs typeface="에이투지체 5 Medium"/>
              </a:rPr>
              <a:t>B</a:t>
            </a:r>
            <a:r>
              <a:rPr lang="en-US" sz="12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  A + 인구 변수 9개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0000"/>
                </a:solidFill>
                <a:latin typeface="에이투지체 5 Medium"/>
                <a:ea typeface="에이투지체 5 Medium"/>
                <a:cs typeface="에이투지체 5 Medium"/>
              </a:rPr>
              <a:t>C</a:t>
            </a:r>
            <a:r>
              <a:rPr lang="en-US" sz="12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  B + 인구 기반 기대값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0000"/>
                </a:solidFill>
                <a:latin typeface="에이투지체 5 Medium"/>
                <a:ea typeface="에이투지체 5 Medium"/>
                <a:cs typeface="에이투지체 5 Medium"/>
              </a:rPr>
              <a:t>D</a:t>
            </a:r>
            <a:r>
              <a:rPr lang="en-US" sz="12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  A + 이송 이력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0000"/>
                </a:solidFill>
                <a:latin typeface="에이투지체 5 Medium"/>
                <a:ea typeface="에이투지체 5 Medium"/>
                <a:cs typeface="에이투지체 5 Medium"/>
              </a:rPr>
              <a:t>E</a:t>
            </a:r>
            <a:r>
              <a:rPr lang="en-US" sz="12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  D + 인구 변수 전체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931920" y="1993392"/>
            <a:ext cx="7802575" cy="2642616"/>
          </a:xfrm>
          <a:prstGeom prst="roundRect">
            <a:avLst>
              <a:gd name="adj" fmla="val 34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graphicFrame>
        <p:nvGraphicFramePr>
          <p:cNvPr id="13" name="Chart 0"/>
          <p:cNvGraphicFramePr/>
          <p:nvPr>
            <p:extLst>
              <p:ext uri="{D42A27DB-BD31-4B8C-83A1-F6EECF244321}">
                <p14:modId xmlns:p14="http://schemas.microsoft.com/office/powerpoint/2010/main" val="2780124323"/>
              </p:ext>
            </p:extLst>
          </p:nvPr>
        </p:nvGraphicFramePr>
        <p:xfrm>
          <a:off x="4023360" y="2066544"/>
          <a:ext cx="7619695" cy="2496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0"/>
          <p:cNvSpPr/>
          <p:nvPr/>
        </p:nvSpPr>
        <p:spPr>
          <a:xfrm>
            <a:off x="457200" y="4818888"/>
            <a:ext cx="363717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1"/>
          <p:cNvSpPr txBox="1"/>
          <p:nvPr/>
        </p:nvSpPr>
        <p:spPr>
          <a:xfrm>
            <a:off x="615111" y="481888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kern="0" spc="-90" dirty="0" smtClean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+10.57%p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2661960" y="5209265"/>
            <a:ext cx="11865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이송 </a:t>
            </a:r>
            <a:r>
              <a:rPr lang="en-US" sz="1400" b="1" dirty="0" err="1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이력</a:t>
            </a: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lang="ko-KR" altLang="en-US" sz="1400" b="1" dirty="0" smtClean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반영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661960" y="5556737"/>
            <a:ext cx="1186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A → D</a:t>
            </a:r>
            <a:r>
              <a:rPr lang="en-US" sz="1100" dirty="0" smtClean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 94.96 %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277258" y="4818888"/>
            <a:ext cx="363717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5"/>
          <p:cNvSpPr txBox="1"/>
          <p:nvPr/>
        </p:nvSpPr>
        <p:spPr>
          <a:xfrm>
            <a:off x="4496714" y="4792512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kern="0" spc="-9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−0.18%p</a:t>
            </a:r>
            <a:endParaRPr lang="en-US" sz="3000" dirty="0"/>
          </a:p>
        </p:txBody>
      </p:sp>
      <p:sp>
        <p:nvSpPr>
          <p:cNvPr id="20" name="Text 16"/>
          <p:cNvSpPr txBox="1"/>
          <p:nvPr/>
        </p:nvSpPr>
        <p:spPr>
          <a:xfrm>
            <a:off x="6455642" y="5209266"/>
            <a:ext cx="11865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 smtClean="0">
                <a:solidFill>
                  <a:srgbClr val="222222"/>
                </a:solidFill>
                <a:latin typeface="에이투지체 5 Medium"/>
                <a:ea typeface="에이투지체 5 Medium"/>
              </a:rPr>
              <a:t>인구 변수 반영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6455642" y="5556738"/>
            <a:ext cx="1186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D → E 94.79%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097317" y="4818888"/>
            <a:ext cx="3637178" cy="1371600"/>
          </a:xfrm>
          <a:prstGeom prst="roundRect">
            <a:avLst>
              <a:gd name="adj" fmla="val 9333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  <a:effectLst>
            <a:outerShdw blurRad="95250" dist="50800" dir="5400000" algn="bl" rotWithShape="0">
              <a:srgbClr val="8A141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19"/>
          <p:cNvSpPr txBox="1"/>
          <p:nvPr/>
        </p:nvSpPr>
        <p:spPr>
          <a:xfrm>
            <a:off x="8316773" y="481888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3000" kern="0" spc="-90" dirty="0" smtClean="0">
                <a:solidFill>
                  <a:srgbClr val="FFFFFF"/>
                </a:solidFill>
                <a:latin typeface="에이투지체 5 Medium"/>
                <a:ea typeface="에이투지체 5 Medium"/>
              </a:rPr>
              <a:t>D </a:t>
            </a:r>
            <a:r>
              <a:rPr lang="ko-KR" altLang="en-US" sz="3000" kern="0" spc="-90" dirty="0" smtClean="0">
                <a:solidFill>
                  <a:srgbClr val="FFFFFF"/>
                </a:solidFill>
                <a:latin typeface="에이투지체 5 Medium"/>
                <a:ea typeface="에이투지체 5 Medium"/>
              </a:rPr>
              <a:t>조합 채택</a:t>
            </a:r>
            <a:endParaRPr lang="en-US" sz="3000" dirty="0"/>
          </a:p>
        </p:txBody>
      </p:sp>
      <p:sp>
        <p:nvSpPr>
          <p:cNvPr id="24" name="Text 20"/>
          <p:cNvSpPr txBox="1"/>
          <p:nvPr/>
        </p:nvSpPr>
        <p:spPr>
          <a:xfrm>
            <a:off x="10425168" y="5235643"/>
            <a:ext cx="11865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 err="1" smtClean="0">
                <a:solidFill>
                  <a:srgbClr val="FFFFFF"/>
                </a:solidFill>
                <a:latin typeface="에이투지체 5 Medium"/>
                <a:ea typeface="에이투지체 5 Medium"/>
              </a:rPr>
              <a:t>미반영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10425168" y="5583115"/>
            <a:ext cx="1186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기존 8개 유지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04  모델 개발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달력 특성 추가 실험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주말 · 공휴일 · 명절 구성 차이 반영, 검증 6개월 정확도 기준 채택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24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03_119_통합_예측_1.ipynb (4-0 · 4-1-2)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4023360" cy="3465576"/>
          </a:xfrm>
          <a:prstGeom prst="roundRect">
            <a:avLst>
              <a:gd name="adj" fmla="val 26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676656" y="215798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달력 특성 4종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76656" y="2560320"/>
            <a:ext cx="358444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76656" y="2670048"/>
            <a:ext cx="3584448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일수: 28 ~ 31일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주말 수: 토 · 일 일수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평일 공휴일 수: 주말 외 공휴일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명절 연휴 일수: 설 · 추석 연휴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예시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2025.01: 31일 · 평일 공휴일 4일 · 명절 3일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2025.02: 28일 · 평일 공휴일 0일 · 명절 0일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993392"/>
            <a:ext cx="7071055" cy="3465576"/>
          </a:xfrm>
          <a:prstGeom prst="roundRect">
            <a:avLst>
              <a:gd name="adj" fmla="val 26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graphicFrame>
        <p:nvGraphicFramePr>
          <p:cNvPr id="13" name="Chart 0"/>
          <p:cNvGraphicFramePr/>
          <p:nvPr/>
        </p:nvGraphicFramePr>
        <p:xfrm>
          <a:off x="4754880" y="2066544"/>
          <a:ext cx="6888175" cy="3319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0"/>
          <p:cNvSpPr/>
          <p:nvPr/>
        </p:nvSpPr>
        <p:spPr>
          <a:xfrm>
            <a:off x="457200" y="5641848"/>
            <a:ext cx="11277295" cy="548640"/>
          </a:xfrm>
          <a:prstGeom prst="roundRect">
            <a:avLst>
              <a:gd name="adj" fmla="val 23333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  <a:effectLst>
            <a:outerShdw blurRad="95250" dist="50800" dir="5400000" algn="bl" rotWithShape="0">
              <a:srgbClr val="8A141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1"/>
          <p:cNvSpPr txBox="1"/>
          <p:nvPr/>
        </p:nvSpPr>
        <p:spPr>
          <a:xfrm>
            <a:off x="640080" y="564184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 smtClean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달력</a:t>
            </a:r>
            <a:r>
              <a:rPr lang="en-US" sz="1400" dirty="0" smtClean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특성 채택 (기본 대비 +0.73%p), 검증 데이터 </a:t>
            </a:r>
            <a:r>
              <a:rPr lang="en-US" sz="1400" dirty="0" err="1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기준</a:t>
            </a:r>
            <a:r>
              <a:rPr lang="en-US" sz="1400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lang="en-US" sz="1400" dirty="0" err="1" smtClean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결정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04  모델 개발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비교 모델 구성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선형 · 트리 · 부스팅 · 신경망 6종 + 이송 건수 앙상블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03_119_통합_예측_1.ipynb (0-1 모델 설정)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93392"/>
          <a:ext cx="11277295" cy="41605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4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모델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예측 방식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특징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2828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적용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Linear Regression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입력과 정답의 직선 관계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비교 기준 모델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이송 · 인구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Ridge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직선 관계 + 계수 크기 규제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과적합 억제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이송 · 인구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Decision Tree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조건 분기 반복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해석 용이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이송 · 인구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Random Forest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다수 트리 예측 평균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예측 안정성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이송 · 인구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Gradient Boosting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이전 트리 오차를 다음 트리가 보완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높은 정확도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이송 · 인구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DNN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다층 인공 신경망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복잡한 관계 학습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이송 · 인구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앙상블 (GB + Ridge)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Gradient Boosting · Ridge 예측 평균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서로 다른 오차 상쇄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/>
                          <a:ea typeface="에이투지체 5 Medium"/>
                          <a:cs typeface="에이투지체 5 Medium"/>
                        </a:rPr>
                        <a:t>이송</a:t>
                      </a:r>
                      <a:endParaRPr lang="en-US" sz="1200" dirty="0">
                        <a:latin typeface="에이투지체 5 Medium"/>
                        <a:ea typeface="에이투지체 5 Medium"/>
                        <a:cs typeface="에이투지체 5 Medium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04  모델 개발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이송 건수 모델 성능 비교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검증 6개월 정확도 1위 앙상블 선정, 평가 정확도 94.6% 확인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03_119_통합_예측_1.ipynb (4-2 · 4-2-2)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7223760" cy="4197096"/>
          </a:xfrm>
          <a:prstGeom prst="roundRect">
            <a:avLst>
              <a:gd name="adj" fmla="val 2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graphicFrame>
        <p:nvGraphicFramePr>
          <p:cNvPr id="9" name="Chart 0"/>
          <p:cNvGraphicFramePr/>
          <p:nvPr/>
        </p:nvGraphicFramePr>
        <p:xfrm>
          <a:off x="548640" y="2066544"/>
          <a:ext cx="7040880" cy="4050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6"/>
          <p:cNvSpPr/>
          <p:nvPr/>
        </p:nvSpPr>
        <p:spPr>
          <a:xfrm>
            <a:off x="7863840" y="1993392"/>
            <a:ext cx="3870655" cy="2185416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 txBox="1"/>
          <p:nvPr/>
        </p:nvSpPr>
        <p:spPr>
          <a:xfrm>
            <a:off x="8083296" y="215798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앙상블 구성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8083296" y="2560320"/>
            <a:ext cx="3429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8083296" y="274320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 txBox="1"/>
          <p:nvPr/>
        </p:nvSpPr>
        <p:spPr>
          <a:xfrm>
            <a:off x="8083296" y="27432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Gradient Boosting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83296" y="320040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 txBox="1"/>
          <p:nvPr/>
        </p:nvSpPr>
        <p:spPr>
          <a:xfrm>
            <a:off x="8083296" y="32004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Ridge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784080" y="3136392"/>
            <a:ext cx="320040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10149840" y="2944368"/>
            <a:ext cx="1362456" cy="384048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 txBox="1"/>
          <p:nvPr/>
        </p:nvSpPr>
        <p:spPr>
          <a:xfrm>
            <a:off x="10149840" y="2944368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예측 평균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8083296" y="36850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검증 오차 상관 0.500 · GB 대비 검증 +0.26%p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863840" y="4361688"/>
            <a:ext cx="3870655" cy="1828800"/>
          </a:xfrm>
          <a:prstGeom prst="roundRect">
            <a:avLst>
              <a:gd name="adj" fmla="val 7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  <a:effectLst>
            <a:outerShdw blurRad="95250" dist="50800" dir="5400000" algn="bl" rotWithShape="0">
              <a:srgbClr val="8A141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18"/>
          <p:cNvSpPr txBox="1"/>
          <p:nvPr/>
        </p:nvSpPr>
        <p:spPr>
          <a:xfrm>
            <a:off x="8083296" y="4544568"/>
            <a:ext cx="3431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94.6%</a:t>
            </a:r>
            <a:endParaRPr lang="en-US" sz="3600" dirty="0"/>
          </a:p>
        </p:txBody>
      </p:sp>
      <p:sp>
        <p:nvSpPr>
          <p:cNvPr id="23" name="Text 19"/>
          <p:cNvSpPr txBox="1"/>
          <p:nvPr/>
        </p:nvSpPr>
        <p:spPr>
          <a:xfrm>
            <a:off x="8083296" y="5148072"/>
            <a:ext cx="3431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평가 6개월 정확도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083296" y="5550408"/>
            <a:ext cx="3431743" cy="0"/>
          </a:xfrm>
          <a:prstGeom prst="line">
            <a:avLst/>
          </a:prstGeom>
          <a:noFill/>
          <a:ln w="9525">
            <a:solidFill>
              <a:srgbClr val="E87A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1"/>
          <p:cNvSpPr txBox="1"/>
          <p:nvPr/>
        </p:nvSpPr>
        <p:spPr>
          <a:xfrm>
            <a:off x="8083296" y="5660136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기준선 93.25% 대비 우수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04  모델 개발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이송 건수 평가 결과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평가 6개월 실제 vs 예측 및 자치구별 정확도 (앙상블, 6개월 연속 예측)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03_119_통합_예측_1.ipynb (transport_test_result)</a:t>
            </a:r>
            <a:endParaRPr lang="en-US" sz="900" dirty="0"/>
          </a:p>
        </p:txBody>
      </p:sp>
      <p:sp>
        <p:nvSpPr>
          <p:cNvPr id="1008" name="Add 1008"/>
          <p:cNvSpPr/>
          <p:nvPr/>
        </p:nvSpPr>
        <p:spPr>
          <a:xfrm>
            <a:off x="457200" y="1993392"/>
            <a:ext cx="8595360" cy="4197096"/>
          </a:xfrm>
          <a:prstGeom prst="roundRect">
            <a:avLst>
              <a:gd name="adj" fmla="val 2178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09" name="Picture 1008" descr="transport_test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30628"/>
            <a:ext cx="8375904" cy="3722624"/>
          </a:xfrm>
          <a:prstGeom prst="rect">
            <a:avLst/>
          </a:prstGeom>
        </p:spPr>
      </p:pic>
      <p:sp>
        <p:nvSpPr>
          <p:cNvPr id="7" name="Add 1009"/>
          <p:cNvSpPr/>
          <p:nvPr/>
        </p:nvSpPr>
        <p:spPr>
          <a:xfrm>
            <a:off x="9235440" y="1993392"/>
            <a:ext cx="2499055" cy="1325880"/>
          </a:xfrm>
          <a:prstGeom prst="roundRect">
            <a:avLst>
              <a:gd name="adj" fmla="val 9655"/>
            </a:avLst>
          </a:prstGeom>
          <a:solidFill>
            <a:srgbClr val="D62828"/>
          </a:solidFill>
          <a:ln>
            <a:noFill/>
          </a:ln>
          <a:effectLst>
            <a:outerShdw blurRad="95250" dist="50800" dir="5400000" algn="t" rotWithShape="0">
              <a:srgbClr val="8A141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10" name="Add 1010"/>
          <p:cNvSpPr txBox="1"/>
          <p:nvPr/>
        </p:nvSpPr>
        <p:spPr>
          <a:xfrm>
            <a:off x="9418320" y="2077448"/>
            <a:ext cx="21332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2800" spc="-80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94.6%</a:t>
            </a:r>
          </a:p>
        </p:txBody>
      </p:sp>
      <p:sp>
        <p:nvSpPr>
          <p:cNvPr id="1011" name="Add 1011"/>
          <p:cNvSpPr txBox="1"/>
          <p:nvPr/>
        </p:nvSpPr>
        <p:spPr>
          <a:xfrm>
            <a:off x="9418320" y="2607800"/>
            <a:ext cx="21332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3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전체 평가 정확도</a:t>
            </a:r>
          </a:p>
        </p:txBody>
      </p:sp>
      <p:sp>
        <p:nvSpPr>
          <p:cNvPr id="1012" name="Add 1012"/>
          <p:cNvSpPr/>
          <p:nvPr/>
        </p:nvSpPr>
        <p:spPr>
          <a:xfrm>
            <a:off x="9418320" y="2936984"/>
            <a:ext cx="2133295" cy="0"/>
          </a:xfrm>
          <a:prstGeom prst="line">
            <a:avLst/>
          </a:prstGeom>
          <a:ln w="9525">
            <a:solidFill>
              <a:srgbClr val="E87A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3" name="Add 1013"/>
          <p:cNvSpPr txBox="1"/>
          <p:nvPr/>
        </p:nvSpPr>
        <p:spPr>
          <a:xfrm>
            <a:off x="9418320" y="3027720"/>
            <a:ext cx="2133295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ko-KR" sz="105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25개 구 × 6개월</a:t>
            </a:r>
          </a:p>
        </p:txBody>
      </p:sp>
      <p:sp>
        <p:nvSpPr>
          <p:cNvPr id="1014" name="Add 1014"/>
          <p:cNvSpPr/>
          <p:nvPr/>
        </p:nvSpPr>
        <p:spPr>
          <a:xfrm>
            <a:off x="9235440" y="3429000"/>
            <a:ext cx="2499055" cy="132588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15" name="Add 1015"/>
          <p:cNvSpPr txBox="1"/>
          <p:nvPr/>
        </p:nvSpPr>
        <p:spPr>
          <a:xfrm>
            <a:off x="9418320" y="3513056"/>
            <a:ext cx="21332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2800" spc="-8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98.7%</a:t>
            </a:r>
          </a:p>
        </p:txBody>
      </p:sp>
      <p:sp>
        <p:nvSpPr>
          <p:cNvPr id="1016" name="Add 1016"/>
          <p:cNvSpPr txBox="1"/>
          <p:nvPr/>
        </p:nvSpPr>
        <p:spPr>
          <a:xfrm>
            <a:off x="9418320" y="4043408"/>
            <a:ext cx="21332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3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최고 · 강서구</a:t>
            </a:r>
          </a:p>
        </p:txBody>
      </p:sp>
      <p:sp>
        <p:nvSpPr>
          <p:cNvPr id="1017" name="Add 1017"/>
          <p:cNvSpPr/>
          <p:nvPr/>
        </p:nvSpPr>
        <p:spPr>
          <a:xfrm>
            <a:off x="9418320" y="4372592"/>
            <a:ext cx="213329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8" name="Add 1018"/>
          <p:cNvSpPr txBox="1"/>
          <p:nvPr/>
        </p:nvSpPr>
        <p:spPr>
          <a:xfrm>
            <a:off x="9418320" y="4463328"/>
            <a:ext cx="2133295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ko-KR" sz="10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자치구별 정확도</a:t>
            </a:r>
          </a:p>
        </p:txBody>
      </p:sp>
      <p:sp>
        <p:nvSpPr>
          <p:cNvPr id="1019" name="Add 1019"/>
          <p:cNvSpPr/>
          <p:nvPr/>
        </p:nvSpPr>
        <p:spPr>
          <a:xfrm>
            <a:off x="9235440" y="4864608"/>
            <a:ext cx="2499055" cy="132588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20" name="Add 1020"/>
          <p:cNvSpPr txBox="1"/>
          <p:nvPr/>
        </p:nvSpPr>
        <p:spPr>
          <a:xfrm>
            <a:off x="9418320" y="4948664"/>
            <a:ext cx="21332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2800" spc="-8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90.1%</a:t>
            </a:r>
          </a:p>
        </p:txBody>
      </p:sp>
      <p:sp>
        <p:nvSpPr>
          <p:cNvPr id="1021" name="Add 1021"/>
          <p:cNvSpPr txBox="1"/>
          <p:nvPr/>
        </p:nvSpPr>
        <p:spPr>
          <a:xfrm>
            <a:off x="9418320" y="5479016"/>
            <a:ext cx="21332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3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최저 · 양천구</a:t>
            </a:r>
          </a:p>
        </p:txBody>
      </p:sp>
      <p:sp>
        <p:nvSpPr>
          <p:cNvPr id="1022" name="Add 1022"/>
          <p:cNvSpPr/>
          <p:nvPr/>
        </p:nvSpPr>
        <p:spPr>
          <a:xfrm>
            <a:off x="9418320" y="5808200"/>
            <a:ext cx="213329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3" name="Add 1023"/>
          <p:cNvSpPr txBox="1"/>
          <p:nvPr/>
        </p:nvSpPr>
        <p:spPr>
          <a:xfrm>
            <a:off x="9418320" y="5898936"/>
            <a:ext cx="2133295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ko-KR" sz="10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빗금 = 관할 변경 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04  모델 개발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이송 건수 실제 · 예측 추이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이송 건수 상위 4개 구의 평가 기간(2025.07~12) 실제 vs 예측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28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03_119_통합_예측_1.ipynb (transport_test_trend)</a:t>
            </a:r>
            <a:endParaRPr lang="en-US" sz="900" dirty="0"/>
          </a:p>
        </p:txBody>
      </p:sp>
      <p:sp>
        <p:nvSpPr>
          <p:cNvPr id="1024" name="Add 1024"/>
          <p:cNvSpPr/>
          <p:nvPr/>
        </p:nvSpPr>
        <p:spPr>
          <a:xfrm>
            <a:off x="457200" y="1993392"/>
            <a:ext cx="8595360" cy="4197096"/>
          </a:xfrm>
          <a:prstGeom prst="roundRect">
            <a:avLst>
              <a:gd name="adj" fmla="val 2178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25" name="Picture 1024" descr="transport_test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12" y="2103120"/>
            <a:ext cx="8010735" cy="3977640"/>
          </a:xfrm>
          <a:prstGeom prst="rect">
            <a:avLst/>
          </a:prstGeom>
        </p:spPr>
      </p:pic>
      <p:sp>
        <p:nvSpPr>
          <p:cNvPr id="7" name="Add 1025"/>
          <p:cNvSpPr/>
          <p:nvPr/>
        </p:nvSpPr>
        <p:spPr>
          <a:xfrm>
            <a:off x="9235440" y="1993392"/>
            <a:ext cx="2499055" cy="4197096"/>
          </a:xfrm>
          <a:prstGeom prst="roundRect">
            <a:avLst>
              <a:gd name="adj" fmla="val 3658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26" name="Add 1026"/>
          <p:cNvSpPr txBox="1"/>
          <p:nvPr/>
        </p:nvSpPr>
        <p:spPr>
          <a:xfrm>
            <a:off x="9454896" y="2157984"/>
            <a:ext cx="2060143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6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읽는 법</a:t>
            </a:r>
          </a:p>
        </p:txBody>
      </p:sp>
      <p:sp>
        <p:nvSpPr>
          <p:cNvPr id="1027" name="Add 1027"/>
          <p:cNvSpPr/>
          <p:nvPr/>
        </p:nvSpPr>
        <p:spPr>
          <a:xfrm>
            <a:off x="9454896" y="2560320"/>
            <a:ext cx="2060143" cy="0"/>
          </a:xfrm>
          <a:prstGeom prst="line">
            <a:avLst/>
          </a:prstGeom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8" name="Add 1028"/>
          <p:cNvSpPr txBox="1"/>
          <p:nvPr/>
        </p:nvSpPr>
        <p:spPr>
          <a:xfrm>
            <a:off x="9454896" y="2670048"/>
            <a:ext cx="2060143" cy="33924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실선: 실제 이송 건수</a:t>
            </a:r>
          </a:p>
          <a:p>
            <a:pPr algn="l">
              <a:lnSpc>
                <a:spcPct val="130000"/>
              </a:lnSpc>
            </a:pPr>
            <a:r>
              <a:rPr lang="ko-KR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점선: 앙상블 예측</a:t>
            </a:r>
          </a:p>
          <a:p>
            <a:pPr algn="l">
              <a:lnSpc>
                <a:spcPct val="130000"/>
              </a:lnSpc>
            </a:pPr>
            <a:r>
              <a:rPr lang="ko-KR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대상: 강남 · 구로</a:t>
            </a:r>
          </a:p>
          <a:p>
            <a:pPr algn="l">
              <a:lnSpc>
                <a:spcPct val="130000"/>
              </a:lnSpc>
            </a:pPr>
            <a:r>
              <a:rPr lang="ko-KR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  강서 · 송파</a:t>
            </a:r>
          </a:p>
          <a:p>
            <a:pPr algn="l">
              <a:lnSpc>
                <a:spcPct val="130000"/>
              </a:lnSpc>
            </a:pPr>
            <a:endParaRPr lang="ko-KR" sz="1100" dirty="0">
              <a:solidFill>
                <a:srgbClr val="45515E"/>
              </a:solidFill>
              <a:latin typeface="에이투지체 5 Medium"/>
              <a:ea typeface="에이투지체 5 Medium"/>
              <a:cs typeface="에이투지체 5 Medium"/>
            </a:endParaRPr>
          </a:p>
          <a:p>
            <a:pPr algn="l">
              <a:lnSpc>
                <a:spcPct val="130000"/>
              </a:lnSpc>
            </a:pPr>
            <a:r>
              <a:rPr lang="ko-KR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관찰</a:t>
            </a:r>
          </a:p>
          <a:p>
            <a:pPr algn="l">
              <a:lnSpc>
                <a:spcPct val="130000"/>
              </a:lnSpc>
            </a:pPr>
            <a:r>
              <a:rPr lang="ko-KR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월별 수준 · 흐름 추종</a:t>
            </a:r>
          </a:p>
          <a:p>
            <a:pPr algn="l">
              <a:lnSpc>
                <a:spcPct val="130000"/>
              </a:lnSpc>
            </a:pPr>
            <a:r>
              <a:rPr lang="ko-KR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급증 월은 과소 예측</a:t>
            </a:r>
          </a:p>
          <a:p>
            <a:pPr algn="l">
              <a:lnSpc>
                <a:spcPct val="130000"/>
              </a:lnSpc>
            </a:pPr>
            <a:r>
              <a:rPr lang="ko-KR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  (예: 강남구 2025.07)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04  모델 개발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인구 밀집 모델 성능 비교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검증 정확도 1위 Random Forest 선정, 평가 정확도 98.2% 확인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29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03_119_통합_예측_1.ipynb (5-3 · 5-4)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7223760" cy="4197096"/>
          </a:xfrm>
          <a:prstGeom prst="roundRect">
            <a:avLst>
              <a:gd name="adj" fmla="val 2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graphicFrame>
        <p:nvGraphicFramePr>
          <p:cNvPr id="9" name="Chart 0"/>
          <p:cNvGraphicFramePr/>
          <p:nvPr/>
        </p:nvGraphicFramePr>
        <p:xfrm>
          <a:off x="548640" y="2066544"/>
          <a:ext cx="7040880" cy="4050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6"/>
          <p:cNvSpPr/>
          <p:nvPr/>
        </p:nvSpPr>
        <p:spPr>
          <a:xfrm>
            <a:off x="7863840" y="1993392"/>
            <a:ext cx="3870655" cy="1828800"/>
          </a:xfrm>
          <a:prstGeom prst="roundRect">
            <a:avLst>
              <a:gd name="adj" fmla="val 7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  <a:effectLst>
            <a:outerShdw blurRad="95250" dist="50800" dir="5400000" algn="bl" rotWithShape="0">
              <a:srgbClr val="8A141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 txBox="1"/>
          <p:nvPr/>
        </p:nvSpPr>
        <p:spPr>
          <a:xfrm>
            <a:off x="8083296" y="2149896"/>
            <a:ext cx="3431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98.2%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8083296" y="2753400"/>
            <a:ext cx="3431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평가 정확도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83296" y="3155736"/>
            <a:ext cx="3431743" cy="0"/>
          </a:xfrm>
          <a:prstGeom prst="line">
            <a:avLst/>
          </a:prstGeom>
          <a:noFill/>
          <a:ln w="9525">
            <a:solidFill>
              <a:srgbClr val="E87A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 txBox="1"/>
          <p:nvPr/>
        </p:nvSpPr>
        <p:spPr>
          <a:xfrm>
            <a:off x="8083296" y="3265464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검증 98.59% → 평가 98.16%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평가에서도 1위 유지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863840" y="4005072"/>
            <a:ext cx="3870655" cy="2185416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2"/>
          <p:cNvSpPr txBox="1"/>
          <p:nvPr/>
        </p:nvSpPr>
        <p:spPr>
          <a:xfrm>
            <a:off x="8083296" y="419604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일평균 오차 인원 (평가)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8083296" y="4633544"/>
            <a:ext cx="3429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/>
          <p:cNvSpPr txBox="1"/>
          <p:nvPr/>
        </p:nvSpPr>
        <p:spPr>
          <a:xfrm>
            <a:off x="8083296" y="477844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Random Forest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9831560" y="4743272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8,836명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8083296" y="523564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기준선 (7일 전 값)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9831560" y="5200472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12,015명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8083296" y="57132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명절 연휴 부근 오차 최대 (2025.10.06 · 2026.02.16)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04  모델 개발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인구 밀집 평가 결과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평가 1년 실제 vs 예측 및 자치구별 정확도 (Random Forest)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03_119_통합_예측_1.ipynb (population_test_result)</a:t>
            </a:r>
            <a:endParaRPr lang="en-US" sz="900" dirty="0"/>
          </a:p>
        </p:txBody>
      </p:sp>
      <p:sp>
        <p:nvSpPr>
          <p:cNvPr id="1029" name="Add 1029"/>
          <p:cNvSpPr/>
          <p:nvPr/>
        </p:nvSpPr>
        <p:spPr>
          <a:xfrm>
            <a:off x="457200" y="1993392"/>
            <a:ext cx="8595360" cy="4197096"/>
          </a:xfrm>
          <a:prstGeom prst="roundRect">
            <a:avLst>
              <a:gd name="adj" fmla="val 2178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30" name="Picture 1029" descr="population_test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63292"/>
            <a:ext cx="8375904" cy="3257296"/>
          </a:xfrm>
          <a:prstGeom prst="rect">
            <a:avLst/>
          </a:prstGeom>
        </p:spPr>
      </p:pic>
      <p:sp>
        <p:nvSpPr>
          <p:cNvPr id="7" name="Add 1030"/>
          <p:cNvSpPr/>
          <p:nvPr/>
        </p:nvSpPr>
        <p:spPr>
          <a:xfrm>
            <a:off x="9235440" y="1993392"/>
            <a:ext cx="2499055" cy="1325880"/>
          </a:xfrm>
          <a:prstGeom prst="roundRect">
            <a:avLst>
              <a:gd name="adj" fmla="val 9655"/>
            </a:avLst>
          </a:prstGeom>
          <a:solidFill>
            <a:srgbClr val="D62828"/>
          </a:solidFill>
          <a:ln>
            <a:noFill/>
          </a:ln>
          <a:effectLst>
            <a:outerShdw blurRad="95250" dist="50800" dir="5400000" algn="t" rotWithShape="0">
              <a:srgbClr val="8A141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31" name="Add 1031"/>
          <p:cNvSpPr txBox="1"/>
          <p:nvPr/>
        </p:nvSpPr>
        <p:spPr>
          <a:xfrm>
            <a:off x="9418320" y="2077448"/>
            <a:ext cx="21332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2800" spc="-80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98.2%</a:t>
            </a:r>
          </a:p>
        </p:txBody>
      </p:sp>
      <p:sp>
        <p:nvSpPr>
          <p:cNvPr id="1032" name="Add 1032"/>
          <p:cNvSpPr txBox="1"/>
          <p:nvPr/>
        </p:nvSpPr>
        <p:spPr>
          <a:xfrm>
            <a:off x="9418320" y="2607800"/>
            <a:ext cx="21332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3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평가 정확도</a:t>
            </a:r>
          </a:p>
        </p:txBody>
      </p:sp>
      <p:sp>
        <p:nvSpPr>
          <p:cNvPr id="1033" name="Add 1033"/>
          <p:cNvSpPr/>
          <p:nvPr/>
        </p:nvSpPr>
        <p:spPr>
          <a:xfrm>
            <a:off x="9418320" y="2936984"/>
            <a:ext cx="2133295" cy="0"/>
          </a:xfrm>
          <a:prstGeom prst="line">
            <a:avLst/>
          </a:prstGeom>
          <a:ln w="9525">
            <a:solidFill>
              <a:srgbClr val="E87A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4" name="Add 1034"/>
          <p:cNvSpPr txBox="1"/>
          <p:nvPr/>
        </p:nvSpPr>
        <p:spPr>
          <a:xfrm>
            <a:off x="9418320" y="3027720"/>
            <a:ext cx="2133295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ko-KR" sz="105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25개 구 × 365일</a:t>
            </a:r>
          </a:p>
        </p:txBody>
      </p:sp>
      <p:sp>
        <p:nvSpPr>
          <p:cNvPr id="1035" name="Add 1035"/>
          <p:cNvSpPr/>
          <p:nvPr/>
        </p:nvSpPr>
        <p:spPr>
          <a:xfrm>
            <a:off x="9235440" y="3429000"/>
            <a:ext cx="2499055" cy="132588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36" name="Add 1036"/>
          <p:cNvSpPr txBox="1"/>
          <p:nvPr/>
        </p:nvSpPr>
        <p:spPr>
          <a:xfrm>
            <a:off x="9418320" y="3521848"/>
            <a:ext cx="21332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2800" spc="-8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8,836명</a:t>
            </a:r>
          </a:p>
        </p:txBody>
      </p:sp>
      <p:sp>
        <p:nvSpPr>
          <p:cNvPr id="1037" name="Add 1037"/>
          <p:cNvSpPr txBox="1"/>
          <p:nvPr/>
        </p:nvSpPr>
        <p:spPr>
          <a:xfrm>
            <a:off x="9418320" y="4052200"/>
            <a:ext cx="21332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3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일평균 오차</a:t>
            </a:r>
          </a:p>
        </p:txBody>
      </p:sp>
      <p:sp>
        <p:nvSpPr>
          <p:cNvPr id="1038" name="Add 1038"/>
          <p:cNvSpPr/>
          <p:nvPr/>
        </p:nvSpPr>
        <p:spPr>
          <a:xfrm>
            <a:off x="9418320" y="4381384"/>
            <a:ext cx="213329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9" name="Add 1039"/>
          <p:cNvSpPr txBox="1"/>
          <p:nvPr/>
        </p:nvSpPr>
        <p:spPr>
          <a:xfrm>
            <a:off x="9418320" y="4463328"/>
            <a:ext cx="2133295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ko-KR" sz="10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Random Forest</a:t>
            </a:r>
          </a:p>
        </p:txBody>
      </p:sp>
      <p:sp>
        <p:nvSpPr>
          <p:cNvPr id="1040" name="Add 1040"/>
          <p:cNvSpPr/>
          <p:nvPr/>
        </p:nvSpPr>
        <p:spPr>
          <a:xfrm>
            <a:off x="9235440" y="4864608"/>
            <a:ext cx="2499055" cy="132588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41" name="Add 1041"/>
          <p:cNvSpPr txBox="1"/>
          <p:nvPr/>
        </p:nvSpPr>
        <p:spPr>
          <a:xfrm>
            <a:off x="9418320" y="4939871"/>
            <a:ext cx="21332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2800" spc="-8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12,015명</a:t>
            </a:r>
          </a:p>
        </p:txBody>
      </p:sp>
      <p:sp>
        <p:nvSpPr>
          <p:cNvPr id="1042" name="Add 1042"/>
          <p:cNvSpPr txBox="1"/>
          <p:nvPr/>
        </p:nvSpPr>
        <p:spPr>
          <a:xfrm>
            <a:off x="9418320" y="5470223"/>
            <a:ext cx="21332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3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기준선 오차</a:t>
            </a:r>
          </a:p>
        </p:txBody>
      </p:sp>
      <p:sp>
        <p:nvSpPr>
          <p:cNvPr id="1043" name="Add 1043"/>
          <p:cNvSpPr/>
          <p:nvPr/>
        </p:nvSpPr>
        <p:spPr>
          <a:xfrm>
            <a:off x="9418320" y="5799407"/>
            <a:ext cx="213329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4" name="Add 1044"/>
          <p:cNvSpPr txBox="1"/>
          <p:nvPr/>
        </p:nvSpPr>
        <p:spPr>
          <a:xfrm>
            <a:off x="9418320" y="5890143"/>
            <a:ext cx="2133295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ko-KR" sz="10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7일 전 값 그대로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04  모델 개발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특성 중요도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직전 시점의 동일 값이 예측 주도 (중요도 합계 1)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31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03_119_통합_예측_1.ipynb (4-5 · 5-5)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5547208" cy="3465576"/>
          </a:xfrm>
          <a:prstGeom prst="roundRect">
            <a:avLst>
              <a:gd name="adj" fmla="val 26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graphicFrame>
        <p:nvGraphicFramePr>
          <p:cNvPr id="9" name="Chart 0"/>
          <p:cNvGraphicFramePr/>
          <p:nvPr/>
        </p:nvGraphicFramePr>
        <p:xfrm>
          <a:off x="548640" y="2066544"/>
          <a:ext cx="5364328" cy="3319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6"/>
          <p:cNvSpPr/>
          <p:nvPr/>
        </p:nvSpPr>
        <p:spPr>
          <a:xfrm>
            <a:off x="6187288" y="1993392"/>
            <a:ext cx="5547208" cy="3465576"/>
          </a:xfrm>
          <a:prstGeom prst="roundRect">
            <a:avLst>
              <a:gd name="adj" fmla="val 26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graphicFrame>
        <p:nvGraphicFramePr>
          <p:cNvPr id="11" name="Chart 1"/>
          <p:cNvGraphicFramePr/>
          <p:nvPr/>
        </p:nvGraphicFramePr>
        <p:xfrm>
          <a:off x="6278728" y="2066544"/>
          <a:ext cx="5364328" cy="3319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7"/>
          <p:cNvSpPr/>
          <p:nvPr/>
        </p:nvSpPr>
        <p:spPr>
          <a:xfrm>
            <a:off x="457200" y="5641848"/>
            <a:ext cx="11277295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8"/>
          <p:cNvSpPr txBox="1"/>
          <p:nvPr/>
        </p:nvSpPr>
        <p:spPr>
          <a:xfrm>
            <a:off x="640080" y="564184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 smtClean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전월</a:t>
            </a:r>
            <a:r>
              <a:rPr lang="en-US" sz="1400" dirty="0" smtClean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· 7일 전 값이 핵심 단서, 생활인구(합 0.015) · 달력(합 0.034) 특성은 보정 역할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04  모델 개발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최종 모델 재학습 및 미래 예측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전체 데이터 재학습 · 저장 후 2026년 1~6월 구별 이송 건수 예측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32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03_119_통합_예측_1.ipynb (4-6 · 5-5, 예측표 25개 구 합산)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2221991" y="1958572"/>
            <a:ext cx="17891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93"/>
                </a:solidFill>
                <a:latin typeface="에이투지체 3 Light" pitchFamily="50" charset="-127"/>
                <a:ea typeface="에이투지체 3 Light" pitchFamily="50" charset="-127"/>
                <a:cs typeface="에이투지체 5 Medium"/>
              </a:rPr>
              <a:t>모델 선정</a:t>
            </a:r>
            <a:endParaRPr lang="en-US" sz="1200" dirty="0">
              <a:latin typeface="에이투지체 3 Light" pitchFamily="50" charset="-127"/>
              <a:ea typeface="에이투지체 3 Light" pitchFamily="50" charset="-127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4193986" y="1958572"/>
            <a:ext cx="17891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93"/>
                </a:solidFill>
                <a:latin typeface="에이투지체 3 Light" pitchFamily="50" charset="-127"/>
                <a:ea typeface="에이투지체 3 Light" pitchFamily="50" charset="-127"/>
                <a:cs typeface="에이투지체 5 Medium"/>
              </a:rPr>
              <a:t>평가 확인</a:t>
            </a:r>
            <a:endParaRPr lang="en-US" sz="1200" dirty="0">
              <a:latin typeface="에이투지체 3 Light" pitchFamily="50" charset="-127"/>
              <a:ea typeface="에이투지체 3 Light" pitchFamily="50" charset="-127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165981" y="1958572"/>
            <a:ext cx="17891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93"/>
                </a:solidFill>
                <a:latin typeface="에이투지체 3 Light" pitchFamily="50" charset="-127"/>
                <a:ea typeface="에이투지체 3 Light" pitchFamily="50" charset="-127"/>
                <a:cs typeface="에이투지체 5 Medium"/>
              </a:rPr>
              <a:t>전체 재학습</a:t>
            </a:r>
            <a:endParaRPr lang="en-US" sz="1200" dirty="0">
              <a:latin typeface="에이투지체 3 Light" pitchFamily="50" charset="-127"/>
              <a:ea typeface="에이투지체 3 Light" pitchFamily="50" charset="-127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8314760" y="1958572"/>
            <a:ext cx="17891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93"/>
                </a:solidFill>
                <a:latin typeface="에이투지체 3 Light" pitchFamily="50" charset="-127"/>
                <a:ea typeface="에이투지체 3 Light" pitchFamily="50" charset="-127"/>
                <a:cs typeface="에이투지체 5 Medium"/>
              </a:rPr>
              <a:t>미래 예측</a:t>
            </a:r>
            <a:endParaRPr lang="en-US" sz="1200" dirty="0">
              <a:latin typeface="에이투지체 3 Light" pitchFamily="50" charset="-127"/>
              <a:ea typeface="에이투지체 3 Light" pitchFamily="50" charset="-127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621791" y="22969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119 이송 건수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221991" y="2296900"/>
            <a:ext cx="1789115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2295143" y="2296900"/>
            <a:ext cx="16428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앙상블 (GB+Ridge)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029394" y="2580364"/>
            <a:ext cx="146304" cy="0"/>
          </a:xfrm>
          <a:prstGeom prst="line">
            <a:avLst/>
          </a:prstGeom>
          <a:noFill/>
          <a:ln w="15875">
            <a:solidFill>
              <a:srgbClr val="8E8E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4193986" y="2296900"/>
            <a:ext cx="1789115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5"/>
          <p:cNvSpPr txBox="1"/>
          <p:nvPr/>
        </p:nvSpPr>
        <p:spPr>
          <a:xfrm>
            <a:off x="4267138" y="2296900"/>
            <a:ext cx="16428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94.6%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01389" y="2580364"/>
            <a:ext cx="146304" cy="0"/>
          </a:xfrm>
          <a:prstGeom prst="line">
            <a:avLst/>
          </a:prstGeom>
          <a:noFill/>
          <a:ln w="15875">
            <a:solidFill>
              <a:srgbClr val="8E8E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165981" y="2296900"/>
            <a:ext cx="1789115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6239133" y="2296900"/>
            <a:ext cx="16428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2,180행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049818" y="2580364"/>
            <a:ext cx="146304" cy="0"/>
          </a:xfrm>
          <a:prstGeom prst="line">
            <a:avLst/>
          </a:prstGeom>
          <a:noFill/>
          <a:ln w="15875">
            <a:solidFill>
              <a:srgbClr val="8E8E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3"/>
          <p:cNvSpPr/>
          <p:nvPr/>
        </p:nvSpPr>
        <p:spPr>
          <a:xfrm>
            <a:off x="8314760" y="2296900"/>
            <a:ext cx="1789115" cy="566928"/>
          </a:xfrm>
          <a:prstGeom prst="roundRect">
            <a:avLst>
              <a:gd name="adj" fmla="val 22581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  <a:effectLst>
            <a:outerShdw blurRad="95250" dist="50800" dir="5400000" algn="bl" rotWithShape="0">
              <a:srgbClr val="8A141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4"/>
          <p:cNvSpPr txBox="1"/>
          <p:nvPr/>
        </p:nvSpPr>
        <p:spPr>
          <a:xfrm>
            <a:off x="8387912" y="2296900"/>
            <a:ext cx="16428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2026.01~06 구별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21791" y="30101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인구 밀집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2221991" y="2939796"/>
            <a:ext cx="1789115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7"/>
          <p:cNvSpPr txBox="1"/>
          <p:nvPr/>
        </p:nvSpPr>
        <p:spPr>
          <a:xfrm>
            <a:off x="2295143" y="3010132"/>
            <a:ext cx="16428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Random Forest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029394" y="3293596"/>
            <a:ext cx="146304" cy="0"/>
          </a:xfrm>
          <a:prstGeom prst="line">
            <a:avLst/>
          </a:prstGeom>
          <a:noFill/>
          <a:ln w="15875">
            <a:solidFill>
              <a:srgbClr val="8E8E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4193986" y="2939796"/>
            <a:ext cx="1789115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0"/>
          <p:cNvSpPr txBox="1"/>
          <p:nvPr/>
        </p:nvSpPr>
        <p:spPr>
          <a:xfrm>
            <a:off x="4267138" y="3010132"/>
            <a:ext cx="16428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98.2%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001389" y="3293596"/>
            <a:ext cx="146304" cy="0"/>
          </a:xfrm>
          <a:prstGeom prst="line">
            <a:avLst/>
          </a:prstGeom>
          <a:noFill/>
          <a:ln w="15875">
            <a:solidFill>
              <a:srgbClr val="8E8E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6165981" y="2939796"/>
            <a:ext cx="1789115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3"/>
          <p:cNvSpPr txBox="1"/>
          <p:nvPr/>
        </p:nvSpPr>
        <p:spPr>
          <a:xfrm>
            <a:off x="6239133" y="3010132"/>
            <a:ext cx="16428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75,825행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119688" y="3293596"/>
            <a:ext cx="146304" cy="0"/>
          </a:xfrm>
          <a:prstGeom prst="line">
            <a:avLst/>
          </a:prstGeom>
          <a:noFill/>
          <a:ln w="15875">
            <a:solidFill>
              <a:srgbClr val="8E8E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1" name="Shape 38"/>
          <p:cNvSpPr/>
          <p:nvPr/>
        </p:nvSpPr>
        <p:spPr>
          <a:xfrm>
            <a:off x="8314760" y="3010132"/>
            <a:ext cx="1789115" cy="566928"/>
          </a:xfrm>
          <a:prstGeom prst="roundRect">
            <a:avLst>
              <a:gd name="adj" fmla="val 12903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 txBox="1"/>
          <p:nvPr/>
        </p:nvSpPr>
        <p:spPr>
          <a:xfrm>
            <a:off x="8387912" y="3010132"/>
            <a:ext cx="16428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200" dirty="0" err="1">
                <a:solidFill>
                  <a:srgbClr val="8E8E93"/>
                </a:solidFill>
                <a:ea typeface="에이투지체 5 Medium"/>
              </a:rPr>
              <a:t>재학습</a:t>
            </a:r>
            <a:r>
              <a:rPr lang="en-US" altLang="ko-KR" sz="1200" dirty="0">
                <a:solidFill>
                  <a:srgbClr val="8E8E93"/>
                </a:solidFill>
                <a:ea typeface="에이투지체 5 Medium"/>
              </a:rPr>
              <a:t>·</a:t>
            </a:r>
            <a:r>
              <a:rPr lang="ko-KR" altLang="en-US" sz="1200" dirty="0">
                <a:solidFill>
                  <a:srgbClr val="8E8E93"/>
                </a:solidFill>
                <a:ea typeface="에이투지체 5 Medium"/>
              </a:rPr>
              <a:t>저장 </a:t>
            </a:r>
            <a:r>
              <a:rPr lang="ko-KR" altLang="en-US" sz="1200" dirty="0" smtClean="0">
                <a:solidFill>
                  <a:srgbClr val="8E8E93"/>
                </a:solidFill>
                <a:ea typeface="에이투지체 5 Medium"/>
              </a:rPr>
              <a:t>완료</a:t>
            </a:r>
            <a:endParaRPr lang="en-US" altLang="ko-KR" sz="1200" dirty="0" smtClean="0">
              <a:solidFill>
                <a:srgbClr val="8E8E93"/>
              </a:solidFill>
              <a:ea typeface="에이투지체 5 Medium"/>
            </a:endParaRPr>
          </a:p>
          <a:p>
            <a:pPr algn="ctr">
              <a:lnSpc>
                <a:spcPct val="120000"/>
              </a:lnSpc>
            </a:pPr>
            <a:r>
              <a:rPr lang="en-US" altLang="ko-KR" sz="1200" dirty="0" smtClean="0">
                <a:solidFill>
                  <a:srgbClr val="8E8E93"/>
                </a:solidFill>
                <a:ea typeface="에이투지체 5 Medium"/>
              </a:rPr>
              <a:t>(</a:t>
            </a:r>
            <a:r>
              <a:rPr lang="ko-KR" altLang="en-US" sz="1200" dirty="0">
                <a:solidFill>
                  <a:srgbClr val="8E8E93"/>
                </a:solidFill>
                <a:ea typeface="에이투지체 5 Medium"/>
              </a:rPr>
              <a:t>다음 날 </a:t>
            </a:r>
            <a:r>
              <a:rPr lang="ko-KR" altLang="en-US" sz="1200" dirty="0" err="1">
                <a:solidFill>
                  <a:srgbClr val="8E8E93"/>
                </a:solidFill>
                <a:ea typeface="에이투지체 5 Medium"/>
              </a:rPr>
              <a:t>예측용</a:t>
            </a:r>
            <a:r>
              <a:rPr lang="en-US" altLang="ko-KR" sz="1200" dirty="0">
                <a:solidFill>
                  <a:srgbClr val="8E8E93"/>
                </a:solidFill>
                <a:ea typeface="에이투지체 5 Medium"/>
              </a:rPr>
              <a:t>)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457200" y="3840480"/>
            <a:ext cx="11277295" cy="2350008"/>
          </a:xfrm>
          <a:prstGeom prst="roundRect">
            <a:avLst>
              <a:gd name="adj" fmla="val 3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graphicFrame>
        <p:nvGraphicFramePr>
          <p:cNvPr id="44" name="Chart 0"/>
          <p:cNvGraphicFramePr/>
          <p:nvPr/>
        </p:nvGraphicFramePr>
        <p:xfrm>
          <a:off x="548640" y="3913632"/>
          <a:ext cx="11094415" cy="22037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04  모델 개발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자치구별 미래 이송 건수 예측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예측 합계 상위 4개 구의 2026년 1~6월 예측 추이 (앙상블)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33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03_119_통합_예측_1.ipynb (transport_forecast_top4 · 예측표)</a:t>
            </a:r>
            <a:endParaRPr lang="en-US" sz="900" dirty="0"/>
          </a:p>
        </p:txBody>
      </p:sp>
      <p:sp>
        <p:nvSpPr>
          <p:cNvPr id="1045" name="Add 1045"/>
          <p:cNvSpPr/>
          <p:nvPr/>
        </p:nvSpPr>
        <p:spPr>
          <a:xfrm>
            <a:off x="457200" y="1993392"/>
            <a:ext cx="8595360" cy="4197096"/>
          </a:xfrm>
          <a:prstGeom prst="roundRect">
            <a:avLst>
              <a:gd name="adj" fmla="val 2178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46" name="Picture 1045" descr="transport_forecast_to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03120"/>
            <a:ext cx="7955280" cy="3977640"/>
          </a:xfrm>
          <a:prstGeom prst="rect">
            <a:avLst/>
          </a:prstGeom>
        </p:spPr>
      </p:pic>
      <p:sp>
        <p:nvSpPr>
          <p:cNvPr id="7" name="Add 1046"/>
          <p:cNvSpPr/>
          <p:nvPr/>
        </p:nvSpPr>
        <p:spPr>
          <a:xfrm>
            <a:off x="9235440" y="1993392"/>
            <a:ext cx="2499055" cy="4197096"/>
          </a:xfrm>
          <a:prstGeom prst="roundRect">
            <a:avLst>
              <a:gd name="adj" fmla="val 3658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47" name="Add 1047"/>
          <p:cNvSpPr txBox="1"/>
          <p:nvPr/>
        </p:nvSpPr>
        <p:spPr>
          <a:xfrm>
            <a:off x="9454896" y="2316246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6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6개월 예측 합계</a:t>
            </a:r>
          </a:p>
        </p:txBody>
      </p:sp>
      <p:sp>
        <p:nvSpPr>
          <p:cNvPr id="1048" name="Add 1048"/>
          <p:cNvSpPr/>
          <p:nvPr/>
        </p:nvSpPr>
        <p:spPr>
          <a:xfrm>
            <a:off x="9454896" y="2718582"/>
            <a:ext cx="20574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9" name="Add 1049"/>
          <p:cNvSpPr txBox="1"/>
          <p:nvPr/>
        </p:nvSpPr>
        <p:spPr>
          <a:xfrm>
            <a:off x="9454896" y="2883174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강남구</a:t>
            </a:r>
          </a:p>
        </p:txBody>
      </p:sp>
      <p:sp>
        <p:nvSpPr>
          <p:cNvPr id="1050" name="Add 1050"/>
          <p:cNvSpPr txBox="1"/>
          <p:nvPr/>
        </p:nvSpPr>
        <p:spPr>
          <a:xfrm>
            <a:off x="10332720" y="2883174"/>
            <a:ext cx="11795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ko-KR" sz="180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7,971건</a:t>
            </a:r>
          </a:p>
        </p:txBody>
      </p:sp>
      <p:sp>
        <p:nvSpPr>
          <p:cNvPr id="1051" name="Add 1051"/>
          <p:cNvSpPr txBox="1"/>
          <p:nvPr/>
        </p:nvSpPr>
        <p:spPr>
          <a:xfrm>
            <a:off x="9454896" y="345010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송파구</a:t>
            </a:r>
          </a:p>
        </p:txBody>
      </p:sp>
      <p:sp>
        <p:nvSpPr>
          <p:cNvPr id="1052" name="Add 1052"/>
          <p:cNvSpPr txBox="1"/>
          <p:nvPr/>
        </p:nvSpPr>
        <p:spPr>
          <a:xfrm>
            <a:off x="10332720" y="3450102"/>
            <a:ext cx="11795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ko-KR" sz="180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7,397건</a:t>
            </a:r>
          </a:p>
        </p:txBody>
      </p:sp>
      <p:sp>
        <p:nvSpPr>
          <p:cNvPr id="1053" name="Add 1053"/>
          <p:cNvSpPr txBox="1"/>
          <p:nvPr/>
        </p:nvSpPr>
        <p:spPr>
          <a:xfrm>
            <a:off x="9454896" y="401703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구로구</a:t>
            </a:r>
          </a:p>
        </p:txBody>
      </p:sp>
      <p:sp>
        <p:nvSpPr>
          <p:cNvPr id="1054" name="Add 1054"/>
          <p:cNvSpPr txBox="1"/>
          <p:nvPr/>
        </p:nvSpPr>
        <p:spPr>
          <a:xfrm>
            <a:off x="10332720" y="4017030"/>
            <a:ext cx="11795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ko-KR" sz="180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7,135건</a:t>
            </a:r>
          </a:p>
        </p:txBody>
      </p:sp>
      <p:sp>
        <p:nvSpPr>
          <p:cNvPr id="1055" name="Add 1055"/>
          <p:cNvSpPr txBox="1"/>
          <p:nvPr/>
        </p:nvSpPr>
        <p:spPr>
          <a:xfrm>
            <a:off x="9454896" y="458395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2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강서구</a:t>
            </a:r>
          </a:p>
        </p:txBody>
      </p:sp>
      <p:sp>
        <p:nvSpPr>
          <p:cNvPr id="1056" name="Add 1056"/>
          <p:cNvSpPr txBox="1"/>
          <p:nvPr/>
        </p:nvSpPr>
        <p:spPr>
          <a:xfrm>
            <a:off x="10332720" y="4583958"/>
            <a:ext cx="11795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ko-KR" sz="1800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7,016건</a:t>
            </a:r>
          </a:p>
        </p:txBody>
      </p:sp>
      <p:sp>
        <p:nvSpPr>
          <p:cNvPr id="1057" name="Add 1057"/>
          <p:cNvSpPr/>
          <p:nvPr/>
        </p:nvSpPr>
        <p:spPr>
          <a:xfrm>
            <a:off x="9454896" y="5187462"/>
            <a:ext cx="20574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58" name="Add 1058"/>
          <p:cNvSpPr txBox="1"/>
          <p:nvPr/>
        </p:nvSpPr>
        <p:spPr>
          <a:xfrm>
            <a:off x="9454896" y="5297190"/>
            <a:ext cx="2057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10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2월 감소 후 봄 이후</a:t>
            </a:r>
          </a:p>
          <a:p>
            <a:pPr algn="ctr">
              <a:lnSpc>
                <a:spcPct val="130000"/>
              </a:lnSpc>
            </a:pPr>
            <a:r>
              <a:rPr lang="ko-KR" sz="10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증가하는 계절 패턴 유지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에이투지체 5 Medium"/>
                <a:ea typeface="에이투지체 5 Medium"/>
                <a:cs typeface="에이투지체 5 Medium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웹 서비스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>
                    <a:alpha val="70000"/>
                  </a:srgbClr>
                </a:solidFill>
                <a:latin typeface="에이투지체 5 Medium"/>
                <a:ea typeface="에이투지체 5 Medium"/>
                <a:cs typeface="에이투지체 5 Medium"/>
              </a:rPr>
              <a:t>분석 · 예측 결과와 실시간 응급실 병상 정보를 통합한 웹 서비스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3393338" cy="0"/>
          </a:xfrm>
          <a:prstGeom prst="line">
            <a:avLst/>
          </a:prstGeom>
          <a:noFill/>
          <a:ln w="25400">
            <a:solidFill>
              <a:srgbClr val="D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45720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A7A"/>
                </a:solidFill>
                <a:latin typeface="에이투지체 5 Medium"/>
                <a:ea typeface="에이투지체 5 Medium"/>
                <a:cs typeface="에이투지체 5 Medium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64608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웹 서비스 구성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99178" y="4434840"/>
            <a:ext cx="3393338" cy="0"/>
          </a:xfrm>
          <a:prstGeom prst="line">
            <a:avLst/>
          </a:prstGeom>
          <a:noFill/>
          <a:ln w="25400">
            <a:solidFill>
              <a:srgbClr val="3A4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4399178" y="45720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99178" y="4864608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분석 · 예측 대시보드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75397" y="4434840"/>
            <a:ext cx="3393338" cy="0"/>
          </a:xfrm>
          <a:prstGeom prst="line">
            <a:avLst/>
          </a:prstGeom>
          <a:noFill/>
          <a:ln w="25400">
            <a:solidFill>
              <a:srgbClr val="3A4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7975397" y="45720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75397" y="4864608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실시간 응급실 병상 관제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05  웹 서비스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웹 서비스 구현 및 구성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구급 수요 분석 · 예측 결과와 실시간 응급실 병상 정보를 단일 웹 서비스로 통합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35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웹 서비스 화면 캡처 (2026.10.02) · README_v1</a:t>
            </a:r>
            <a:endParaRPr lang="en-US" sz="900" dirty="0"/>
          </a:p>
        </p:txBody>
      </p:sp>
      <p:sp>
        <p:nvSpPr>
          <p:cNvPr id="3001" name="W 3001"/>
          <p:cNvSpPr/>
          <p:nvPr/>
        </p:nvSpPr>
        <p:spPr>
          <a:xfrm>
            <a:off x="457200" y="1993392"/>
            <a:ext cx="6949440" cy="4197096"/>
          </a:xfrm>
          <a:prstGeom prst="roundRect">
            <a:avLst>
              <a:gd name="adj" fmla="val 2178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002" name="Picture 3001" descr="f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346" y="2176272"/>
            <a:ext cx="6009148" cy="3831336"/>
          </a:xfrm>
          <a:prstGeom prst="rect">
            <a:avLst/>
          </a:prstGeom>
        </p:spPr>
      </p:pic>
      <p:sp>
        <p:nvSpPr>
          <p:cNvPr id="7" name="W 3002"/>
          <p:cNvSpPr/>
          <p:nvPr/>
        </p:nvSpPr>
        <p:spPr>
          <a:xfrm>
            <a:off x="7589520" y="1993392"/>
            <a:ext cx="4144975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03" name="W 3003"/>
          <p:cNvSpPr/>
          <p:nvPr/>
        </p:nvSpPr>
        <p:spPr>
          <a:xfrm>
            <a:off x="7589520" y="2176272"/>
            <a:ext cx="54864" cy="621792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4" name="W 3004"/>
          <p:cNvSpPr txBox="1"/>
          <p:nvPr/>
        </p:nvSpPr>
        <p:spPr>
          <a:xfrm>
            <a:off x="7863840" y="2139696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5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메인</a:t>
            </a:r>
          </a:p>
        </p:txBody>
      </p:sp>
      <p:sp>
        <p:nvSpPr>
          <p:cNvPr id="3005" name="W 3005"/>
          <p:cNvSpPr txBox="1"/>
          <p:nvPr/>
        </p:nvSpPr>
        <p:spPr>
          <a:xfrm>
            <a:off x="10271455" y="2139696"/>
            <a:ext cx="12435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ko-KR" sz="1100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/</a:t>
            </a:r>
          </a:p>
        </p:txBody>
      </p:sp>
      <p:sp>
        <p:nvSpPr>
          <p:cNvPr id="3006" name="W 3006"/>
          <p:cNvSpPr txBox="1"/>
          <p:nvPr/>
        </p:nvSpPr>
        <p:spPr>
          <a:xfrm>
            <a:off x="7863840" y="2523744"/>
            <a:ext cx="3687775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두 핵심 서비스로 바로 이동하는 시작 화면</a:t>
            </a:r>
          </a:p>
        </p:txBody>
      </p:sp>
      <p:sp>
        <p:nvSpPr>
          <p:cNvPr id="3007" name="W 3007"/>
          <p:cNvSpPr/>
          <p:nvPr/>
        </p:nvSpPr>
        <p:spPr>
          <a:xfrm>
            <a:off x="7589520" y="3090672"/>
            <a:ext cx="4144975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08" name="W 3008"/>
          <p:cNvSpPr/>
          <p:nvPr/>
        </p:nvSpPr>
        <p:spPr>
          <a:xfrm>
            <a:off x="7589520" y="3273552"/>
            <a:ext cx="54864" cy="621792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9" name="W 3009"/>
          <p:cNvSpPr txBox="1"/>
          <p:nvPr/>
        </p:nvSpPr>
        <p:spPr>
          <a:xfrm>
            <a:off x="7863840" y="3236976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5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분석 · 예측</a:t>
            </a:r>
          </a:p>
        </p:txBody>
      </p:sp>
      <p:sp>
        <p:nvSpPr>
          <p:cNvPr id="3010" name="W 3010"/>
          <p:cNvSpPr txBox="1"/>
          <p:nvPr/>
        </p:nvSpPr>
        <p:spPr>
          <a:xfrm>
            <a:off x="10271455" y="3236976"/>
            <a:ext cx="12435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ko-KR" sz="1100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/analysis</a:t>
            </a:r>
          </a:p>
        </p:txBody>
      </p:sp>
      <p:sp>
        <p:nvSpPr>
          <p:cNvPr id="3011" name="W 3011"/>
          <p:cNvSpPr txBox="1"/>
          <p:nvPr/>
        </p:nvSpPr>
        <p:spPr>
          <a:xfrm>
            <a:off x="7863840" y="3621024"/>
            <a:ext cx="3687775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구급 수요 분석 및 AI 예측 결과 대시보드</a:t>
            </a:r>
          </a:p>
        </p:txBody>
      </p:sp>
      <p:sp>
        <p:nvSpPr>
          <p:cNvPr id="3012" name="W 3012"/>
          <p:cNvSpPr/>
          <p:nvPr/>
        </p:nvSpPr>
        <p:spPr>
          <a:xfrm>
            <a:off x="7589520" y="4187952"/>
            <a:ext cx="4144975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13" name="W 3013"/>
          <p:cNvSpPr/>
          <p:nvPr/>
        </p:nvSpPr>
        <p:spPr>
          <a:xfrm>
            <a:off x="7589520" y="4370832"/>
            <a:ext cx="54864" cy="621792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4" name="W 3014"/>
          <p:cNvSpPr txBox="1"/>
          <p:nvPr/>
        </p:nvSpPr>
        <p:spPr>
          <a:xfrm>
            <a:off x="7863840" y="4334256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5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병상 관제</a:t>
            </a:r>
          </a:p>
        </p:txBody>
      </p:sp>
      <p:sp>
        <p:nvSpPr>
          <p:cNvPr id="3015" name="W 3015"/>
          <p:cNvSpPr txBox="1"/>
          <p:nvPr/>
        </p:nvSpPr>
        <p:spPr>
          <a:xfrm>
            <a:off x="10271455" y="4334256"/>
            <a:ext cx="12435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ko-KR" sz="1100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/beds</a:t>
            </a:r>
          </a:p>
        </p:txBody>
      </p:sp>
      <p:sp>
        <p:nvSpPr>
          <p:cNvPr id="3016" name="W 3016"/>
          <p:cNvSpPr txBox="1"/>
          <p:nvPr/>
        </p:nvSpPr>
        <p:spPr>
          <a:xfrm>
            <a:off x="7863840" y="4718304"/>
            <a:ext cx="3687775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서울시 응급실 가용병상 실시간 조회</a:t>
            </a:r>
          </a:p>
        </p:txBody>
      </p:sp>
      <p:sp>
        <p:nvSpPr>
          <p:cNvPr id="3017" name="W 3017"/>
          <p:cNvSpPr/>
          <p:nvPr/>
        </p:nvSpPr>
        <p:spPr>
          <a:xfrm>
            <a:off x="7589520" y="5285232"/>
            <a:ext cx="4144975" cy="905256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18" name="W 3018"/>
          <p:cNvSpPr txBox="1"/>
          <p:nvPr/>
        </p:nvSpPr>
        <p:spPr>
          <a:xfrm>
            <a:off x="7863840" y="5376672"/>
            <a:ext cx="3687775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2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기술 스택</a:t>
            </a:r>
          </a:p>
        </p:txBody>
      </p:sp>
      <p:sp>
        <p:nvSpPr>
          <p:cNvPr id="3019" name="W 3019"/>
          <p:cNvSpPr txBox="1"/>
          <p:nvPr/>
        </p:nvSpPr>
        <p:spPr>
          <a:xfrm>
            <a:off x="7863840" y="5705856"/>
            <a:ext cx="368777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0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Flask · Tailwind CSS · JavaScript · Chart.js · 공공데이터 API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05  웹 서비스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구급 수요 분석 · 예측 대시보드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1~6개월 예측 기간 선택, 서울 전체 및 자치구별 예측 · 순위 · 상세 분석 제공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36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웹 서비스 화면 캡처 (2026.10.02) · README_v1 · dashboard_data</a:t>
            </a:r>
            <a:endParaRPr lang="en-US" sz="900" dirty="0"/>
          </a:p>
        </p:txBody>
      </p:sp>
      <p:sp>
        <p:nvSpPr>
          <p:cNvPr id="3020" name="W 3020"/>
          <p:cNvSpPr/>
          <p:nvPr/>
        </p:nvSpPr>
        <p:spPr>
          <a:xfrm>
            <a:off x="457200" y="1993392"/>
            <a:ext cx="2514600" cy="4197096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21" name="W 3021"/>
          <p:cNvSpPr txBox="1"/>
          <p:nvPr/>
        </p:nvSpPr>
        <p:spPr>
          <a:xfrm>
            <a:off x="640080" y="2103120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100" b="1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전체 화면</a:t>
            </a:r>
          </a:p>
        </p:txBody>
      </p:sp>
      <p:pic>
        <p:nvPicPr>
          <p:cNvPr id="3022" name="Picture 3021" descr="f_ana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0" y="2404872"/>
            <a:ext cx="2169880" cy="3694176"/>
          </a:xfrm>
          <a:prstGeom prst="rect">
            <a:avLst/>
          </a:prstGeom>
        </p:spPr>
      </p:pic>
      <p:sp>
        <p:nvSpPr>
          <p:cNvPr id="7" name="W 3022"/>
          <p:cNvSpPr/>
          <p:nvPr/>
        </p:nvSpPr>
        <p:spPr>
          <a:xfrm>
            <a:off x="629560" y="2404872"/>
            <a:ext cx="2169880" cy="3694176"/>
          </a:xfrm>
          <a:prstGeom prst="rect">
            <a:avLst/>
          </a:prstGeom>
          <a:noFill/>
          <a:ln w="6350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23" name="W 3023"/>
          <p:cNvSpPr/>
          <p:nvPr/>
        </p:nvSpPr>
        <p:spPr>
          <a:xfrm>
            <a:off x="3154680" y="1993392"/>
            <a:ext cx="419846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24" name="W 3024"/>
          <p:cNvSpPr/>
          <p:nvPr/>
        </p:nvSpPr>
        <p:spPr>
          <a:xfrm>
            <a:off x="3319272" y="2157984"/>
            <a:ext cx="3869284" cy="1170432"/>
          </a:xfrm>
          <a:prstGeom prst="roundRect">
            <a:avLst>
              <a:gd name="adj" fmla="val 4687"/>
            </a:avLst>
          </a:prstGeom>
          <a:solidFill>
            <a:srgbClr val="F2F3F5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025" name="Picture 3024" descr="f_s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2586167"/>
            <a:ext cx="3722980" cy="314065"/>
          </a:xfrm>
          <a:prstGeom prst="rect">
            <a:avLst/>
          </a:prstGeom>
        </p:spPr>
      </p:pic>
      <p:sp>
        <p:nvSpPr>
          <p:cNvPr id="8" name="W 3025"/>
          <p:cNvSpPr txBox="1"/>
          <p:nvPr/>
        </p:nvSpPr>
        <p:spPr>
          <a:xfrm>
            <a:off x="3374136" y="3419856"/>
            <a:ext cx="37595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35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기간 · 지역 선택</a:t>
            </a:r>
          </a:p>
        </p:txBody>
      </p:sp>
      <p:sp>
        <p:nvSpPr>
          <p:cNvPr id="3026" name="W 3026"/>
          <p:cNvSpPr txBox="1"/>
          <p:nvPr/>
        </p:nvSpPr>
        <p:spPr>
          <a:xfrm>
            <a:off x="3374136" y="3694176"/>
            <a:ext cx="37595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0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1~6개월 예측 범위와 지역(서울 전체 · 자치구) 선택</a:t>
            </a:r>
          </a:p>
        </p:txBody>
      </p:sp>
      <p:sp>
        <p:nvSpPr>
          <p:cNvPr id="3027" name="W 3027"/>
          <p:cNvSpPr/>
          <p:nvPr/>
        </p:nvSpPr>
        <p:spPr>
          <a:xfrm>
            <a:off x="7536028" y="1993392"/>
            <a:ext cx="419846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28" name="W 3028"/>
          <p:cNvSpPr/>
          <p:nvPr/>
        </p:nvSpPr>
        <p:spPr>
          <a:xfrm>
            <a:off x="7700620" y="2157984"/>
            <a:ext cx="3869284" cy="1170432"/>
          </a:xfrm>
          <a:prstGeom prst="roundRect">
            <a:avLst>
              <a:gd name="adj" fmla="val 4687"/>
            </a:avLst>
          </a:prstGeom>
          <a:solidFill>
            <a:srgbClr val="F2F3F5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029" name="Picture 3028" descr="f_k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8114" y="2231136"/>
            <a:ext cx="3374295" cy="1024128"/>
          </a:xfrm>
          <a:prstGeom prst="rect">
            <a:avLst/>
          </a:prstGeom>
        </p:spPr>
      </p:pic>
      <p:sp>
        <p:nvSpPr>
          <p:cNvPr id="9" name="W 3029"/>
          <p:cNvSpPr txBox="1"/>
          <p:nvPr/>
        </p:nvSpPr>
        <p:spPr>
          <a:xfrm>
            <a:off x="7755484" y="3419856"/>
            <a:ext cx="37595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35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핵심 지표</a:t>
            </a:r>
          </a:p>
        </p:txBody>
      </p:sp>
      <p:sp>
        <p:nvSpPr>
          <p:cNvPr id="3030" name="W 3030"/>
          <p:cNvSpPr txBox="1"/>
          <p:nvPr/>
        </p:nvSpPr>
        <p:spPr>
          <a:xfrm>
            <a:off x="7755484" y="3694176"/>
            <a:ext cx="37595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0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예상 이송량 · 피크 예상 월 · 증가율 1위 지역 · 정확도</a:t>
            </a:r>
          </a:p>
        </p:txBody>
      </p:sp>
      <p:sp>
        <p:nvSpPr>
          <p:cNvPr id="3031" name="W 3031"/>
          <p:cNvSpPr/>
          <p:nvPr/>
        </p:nvSpPr>
        <p:spPr>
          <a:xfrm>
            <a:off x="3154680" y="4178808"/>
            <a:ext cx="419846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32" name="W 3032"/>
          <p:cNvSpPr/>
          <p:nvPr/>
        </p:nvSpPr>
        <p:spPr>
          <a:xfrm>
            <a:off x="3319272" y="4343400"/>
            <a:ext cx="3869284" cy="1170432"/>
          </a:xfrm>
          <a:prstGeom prst="roundRect">
            <a:avLst>
              <a:gd name="adj" fmla="val 4687"/>
            </a:avLst>
          </a:prstGeom>
          <a:solidFill>
            <a:srgbClr val="F2F3F5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033" name="Picture 3032" descr="f_ra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2424" y="4507114"/>
            <a:ext cx="3722980" cy="843004"/>
          </a:xfrm>
          <a:prstGeom prst="rect">
            <a:avLst/>
          </a:prstGeom>
        </p:spPr>
      </p:pic>
      <p:sp>
        <p:nvSpPr>
          <p:cNvPr id="10" name="W 3033"/>
          <p:cNvSpPr txBox="1"/>
          <p:nvPr/>
        </p:nvSpPr>
        <p:spPr>
          <a:xfrm>
            <a:off x="3374136" y="5605272"/>
            <a:ext cx="37595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35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자치구별 예상 수요 순위</a:t>
            </a:r>
          </a:p>
        </p:txBody>
      </p:sp>
      <p:sp>
        <p:nvSpPr>
          <p:cNvPr id="3034" name="W 3034"/>
          <p:cNvSpPr txBox="1"/>
          <p:nvPr/>
        </p:nvSpPr>
        <p:spPr>
          <a:xfrm>
            <a:off x="3374136" y="5879592"/>
            <a:ext cx="37595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0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월평균 예상 이송 건수 순위, 클릭 시 해당 구로 전환</a:t>
            </a:r>
          </a:p>
        </p:txBody>
      </p:sp>
      <p:sp>
        <p:nvSpPr>
          <p:cNvPr id="3035" name="W 3035"/>
          <p:cNvSpPr/>
          <p:nvPr/>
        </p:nvSpPr>
        <p:spPr>
          <a:xfrm>
            <a:off x="7536028" y="4178808"/>
            <a:ext cx="419846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36" name="W 3036"/>
          <p:cNvSpPr/>
          <p:nvPr/>
        </p:nvSpPr>
        <p:spPr>
          <a:xfrm>
            <a:off x="7700620" y="4343400"/>
            <a:ext cx="3869284" cy="1170432"/>
          </a:xfrm>
          <a:prstGeom prst="roundRect">
            <a:avLst>
              <a:gd name="adj" fmla="val 4687"/>
            </a:avLst>
          </a:prstGeom>
          <a:solidFill>
            <a:srgbClr val="F2F3F5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037" name="Picture 303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3772" y="4750928"/>
            <a:ext cx="3722980" cy="355375"/>
          </a:xfrm>
          <a:prstGeom prst="rect">
            <a:avLst/>
          </a:prstGeom>
        </p:spPr>
      </p:pic>
      <p:sp>
        <p:nvSpPr>
          <p:cNvPr id="11" name="W 3037"/>
          <p:cNvSpPr txBox="1"/>
          <p:nvPr/>
        </p:nvSpPr>
        <p:spPr>
          <a:xfrm>
            <a:off x="7755484" y="5605272"/>
            <a:ext cx="37595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35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상세 분석</a:t>
            </a:r>
          </a:p>
        </p:txBody>
      </p:sp>
      <p:sp>
        <p:nvSpPr>
          <p:cNvPr id="3038" name="W 3038"/>
          <p:cNvSpPr txBox="1"/>
          <p:nvPr/>
        </p:nvSpPr>
        <p:spPr>
          <a:xfrm>
            <a:off x="7755484" y="5879592"/>
            <a:ext cx="37595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0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평가 정확도 · 생활인구 · 이송×인구 · 사고 유형 · 모델 명세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05  웹 서비스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실시간 응급실 병상 관제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공공데이터 API 연계, 서울시 25개 자치구 응급실 가용병상 실시간 조회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37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웹 서비스 화면 캡처 (2026.10.02) · README_v1 · 실시간_병상관제_v1</a:t>
            </a:r>
            <a:endParaRPr lang="en-US" sz="900" dirty="0"/>
          </a:p>
        </p:txBody>
      </p:sp>
      <p:sp>
        <p:nvSpPr>
          <p:cNvPr id="3039" name="W 3039"/>
          <p:cNvSpPr/>
          <p:nvPr/>
        </p:nvSpPr>
        <p:spPr>
          <a:xfrm>
            <a:off x="457200" y="1993392"/>
            <a:ext cx="2514600" cy="4197096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40" name="W 3040"/>
          <p:cNvSpPr txBox="1"/>
          <p:nvPr/>
        </p:nvSpPr>
        <p:spPr>
          <a:xfrm>
            <a:off x="640080" y="2103120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100" b="1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전체 화면</a:t>
            </a:r>
          </a:p>
        </p:txBody>
      </p:sp>
      <p:pic>
        <p:nvPicPr>
          <p:cNvPr id="3041" name="Picture 3040" descr="f_bed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04872"/>
            <a:ext cx="2240280" cy="3615923"/>
          </a:xfrm>
          <a:prstGeom prst="rect">
            <a:avLst/>
          </a:prstGeom>
        </p:spPr>
      </p:pic>
      <p:sp>
        <p:nvSpPr>
          <p:cNvPr id="7" name="W 3041"/>
          <p:cNvSpPr/>
          <p:nvPr/>
        </p:nvSpPr>
        <p:spPr>
          <a:xfrm>
            <a:off x="594360" y="2404872"/>
            <a:ext cx="2240280" cy="3615923"/>
          </a:xfrm>
          <a:prstGeom prst="rect">
            <a:avLst/>
          </a:prstGeom>
          <a:noFill/>
          <a:ln w="6350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42" name="W 3042"/>
          <p:cNvSpPr/>
          <p:nvPr/>
        </p:nvSpPr>
        <p:spPr>
          <a:xfrm>
            <a:off x="3154680" y="1993392"/>
            <a:ext cx="419846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43" name="W 3043"/>
          <p:cNvSpPr/>
          <p:nvPr/>
        </p:nvSpPr>
        <p:spPr>
          <a:xfrm>
            <a:off x="3319272" y="2157984"/>
            <a:ext cx="3869284" cy="1170432"/>
          </a:xfrm>
          <a:prstGeom prst="roundRect">
            <a:avLst>
              <a:gd name="adj" fmla="val 4687"/>
            </a:avLst>
          </a:prstGeom>
          <a:solidFill>
            <a:srgbClr val="F2F3F5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044" name="Picture 3043" descr="f_bk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2351307"/>
            <a:ext cx="3722980" cy="783785"/>
          </a:xfrm>
          <a:prstGeom prst="rect">
            <a:avLst/>
          </a:prstGeom>
        </p:spPr>
      </p:pic>
      <p:sp>
        <p:nvSpPr>
          <p:cNvPr id="8" name="W 3044"/>
          <p:cNvSpPr txBox="1"/>
          <p:nvPr/>
        </p:nvSpPr>
        <p:spPr>
          <a:xfrm>
            <a:off x="3374136" y="3419856"/>
            <a:ext cx="37595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35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실시간 현황</a:t>
            </a:r>
          </a:p>
        </p:txBody>
      </p:sp>
      <p:sp>
        <p:nvSpPr>
          <p:cNvPr id="3045" name="W 3045"/>
          <p:cNvSpPr txBox="1"/>
          <p:nvPr/>
        </p:nvSpPr>
        <p:spPr>
          <a:xfrm>
            <a:off x="3374136" y="3694176"/>
            <a:ext cx="37595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0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관제 대상 25개 구 · 총 가용병상 · 위험 / 주의 지역 수</a:t>
            </a:r>
          </a:p>
        </p:txBody>
      </p:sp>
      <p:sp>
        <p:nvSpPr>
          <p:cNvPr id="3046" name="W 3046"/>
          <p:cNvSpPr/>
          <p:nvPr/>
        </p:nvSpPr>
        <p:spPr>
          <a:xfrm>
            <a:off x="7536028" y="1993392"/>
            <a:ext cx="419846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47" name="W 3047"/>
          <p:cNvSpPr/>
          <p:nvPr/>
        </p:nvSpPr>
        <p:spPr>
          <a:xfrm>
            <a:off x="7700620" y="2157984"/>
            <a:ext cx="3869284" cy="1170432"/>
          </a:xfrm>
          <a:prstGeom prst="roundRect">
            <a:avLst>
              <a:gd name="adj" fmla="val 4687"/>
            </a:avLst>
          </a:prstGeom>
          <a:solidFill>
            <a:srgbClr val="F2F3F5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048" name="Picture 3047" descr="f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3772" y="2547254"/>
            <a:ext cx="3722980" cy="391893"/>
          </a:xfrm>
          <a:prstGeom prst="rect">
            <a:avLst/>
          </a:prstGeom>
        </p:spPr>
      </p:pic>
      <p:sp>
        <p:nvSpPr>
          <p:cNvPr id="9" name="W 3048"/>
          <p:cNvSpPr txBox="1"/>
          <p:nvPr/>
        </p:nvSpPr>
        <p:spPr>
          <a:xfrm>
            <a:off x="7755484" y="3419856"/>
            <a:ext cx="37595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35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검색 · 필터</a:t>
            </a:r>
          </a:p>
        </p:txBody>
      </p:sp>
      <p:sp>
        <p:nvSpPr>
          <p:cNvPr id="3049" name="W 3049"/>
          <p:cNvSpPr txBox="1"/>
          <p:nvPr/>
        </p:nvSpPr>
        <p:spPr>
          <a:xfrm>
            <a:off x="7755484" y="3694176"/>
            <a:ext cx="37595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0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자치구 · 병원명 검색, 권역 · 위험도별 필터</a:t>
            </a:r>
          </a:p>
        </p:txBody>
      </p:sp>
      <p:sp>
        <p:nvSpPr>
          <p:cNvPr id="3050" name="W 3050"/>
          <p:cNvSpPr/>
          <p:nvPr/>
        </p:nvSpPr>
        <p:spPr>
          <a:xfrm>
            <a:off x="3154680" y="4178808"/>
            <a:ext cx="419846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51" name="W 3051"/>
          <p:cNvSpPr/>
          <p:nvPr/>
        </p:nvSpPr>
        <p:spPr>
          <a:xfrm>
            <a:off x="3319272" y="4343400"/>
            <a:ext cx="3869284" cy="1170432"/>
          </a:xfrm>
          <a:prstGeom prst="roundRect">
            <a:avLst>
              <a:gd name="adj" fmla="val 4687"/>
            </a:avLst>
          </a:prstGeom>
          <a:solidFill>
            <a:srgbClr val="F2F3F5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052" name="Picture 3051" descr="f_hos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1375" y="4416552"/>
            <a:ext cx="2165077" cy="1024128"/>
          </a:xfrm>
          <a:prstGeom prst="rect">
            <a:avLst/>
          </a:prstGeom>
        </p:spPr>
      </p:pic>
      <p:sp>
        <p:nvSpPr>
          <p:cNvPr id="10" name="W 3052"/>
          <p:cNvSpPr txBox="1"/>
          <p:nvPr/>
        </p:nvSpPr>
        <p:spPr>
          <a:xfrm>
            <a:off x="3374136" y="5605272"/>
            <a:ext cx="37595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35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병원별 가용병상</a:t>
            </a:r>
          </a:p>
        </p:txBody>
      </p:sp>
      <p:sp>
        <p:nvSpPr>
          <p:cNvPr id="3053" name="W 3053"/>
          <p:cNvSpPr txBox="1"/>
          <p:nvPr/>
        </p:nvSpPr>
        <p:spPr>
          <a:xfrm>
            <a:off x="3374136" y="5879592"/>
            <a:ext cx="37595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0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자치구별 병원 가용병상 · 연락처 · 갱신 시각</a:t>
            </a:r>
          </a:p>
        </p:txBody>
      </p:sp>
      <p:sp>
        <p:nvSpPr>
          <p:cNvPr id="3054" name="W 3054"/>
          <p:cNvSpPr/>
          <p:nvPr/>
        </p:nvSpPr>
        <p:spPr>
          <a:xfrm>
            <a:off x="7536028" y="4178808"/>
            <a:ext cx="419846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55" name="W 3055"/>
          <p:cNvSpPr txBox="1"/>
          <p:nvPr/>
        </p:nvSpPr>
        <p:spPr>
          <a:xfrm>
            <a:off x="7755484" y="4315968"/>
            <a:ext cx="37595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35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위험도 기준</a:t>
            </a:r>
          </a:p>
        </p:txBody>
      </p:sp>
      <p:sp>
        <p:nvSpPr>
          <p:cNvPr id="3056" name="W 3056"/>
          <p:cNvSpPr txBox="1"/>
          <p:nvPr/>
        </p:nvSpPr>
        <p:spPr>
          <a:xfrm>
            <a:off x="7755484" y="4608576"/>
            <a:ext cx="37595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10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자치구 가용병상 합계 기준 · 1시간 간격 갱신 (일 최대 3회)</a:t>
            </a:r>
          </a:p>
        </p:txBody>
      </p:sp>
      <p:sp>
        <p:nvSpPr>
          <p:cNvPr id="3057" name="W 3057"/>
          <p:cNvSpPr/>
          <p:nvPr/>
        </p:nvSpPr>
        <p:spPr>
          <a:xfrm>
            <a:off x="7755484" y="4983480"/>
            <a:ext cx="1143457" cy="36576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58" name="W 3058"/>
          <p:cNvSpPr txBox="1"/>
          <p:nvPr/>
        </p:nvSpPr>
        <p:spPr>
          <a:xfrm>
            <a:off x="7755484" y="4983480"/>
            <a:ext cx="1143457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15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위험</a:t>
            </a:r>
          </a:p>
        </p:txBody>
      </p:sp>
      <p:sp>
        <p:nvSpPr>
          <p:cNvPr id="3059" name="W 3059"/>
          <p:cNvSpPr txBox="1"/>
          <p:nvPr/>
        </p:nvSpPr>
        <p:spPr>
          <a:xfrm>
            <a:off x="7755484" y="5394960"/>
            <a:ext cx="1143457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05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5석 이하</a:t>
            </a:r>
          </a:p>
        </p:txBody>
      </p:sp>
      <p:sp>
        <p:nvSpPr>
          <p:cNvPr id="3060" name="W 3060"/>
          <p:cNvSpPr/>
          <p:nvPr/>
        </p:nvSpPr>
        <p:spPr>
          <a:xfrm>
            <a:off x="9008669" y="4983480"/>
            <a:ext cx="1143457" cy="365760"/>
          </a:xfrm>
          <a:prstGeom prst="roundRect">
            <a:avLst>
              <a:gd name="adj" fmla="val 50000"/>
            </a:avLst>
          </a:prstGeom>
          <a:solidFill>
            <a:srgbClr val="FDE3E3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61" name="W 3061"/>
          <p:cNvSpPr txBox="1"/>
          <p:nvPr/>
        </p:nvSpPr>
        <p:spPr>
          <a:xfrm>
            <a:off x="9008669" y="4983480"/>
            <a:ext cx="1143457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150" b="1" dirty="0">
                <a:solidFill>
                  <a:srgbClr val="8A1414"/>
                </a:solidFill>
                <a:latin typeface="에이투지체 5 Medium"/>
                <a:ea typeface="에이투지체 5 Medium"/>
                <a:cs typeface="에이투지체 5 Medium"/>
              </a:rPr>
              <a:t>주의</a:t>
            </a:r>
          </a:p>
        </p:txBody>
      </p:sp>
      <p:sp>
        <p:nvSpPr>
          <p:cNvPr id="3062" name="W 3062"/>
          <p:cNvSpPr txBox="1"/>
          <p:nvPr/>
        </p:nvSpPr>
        <p:spPr>
          <a:xfrm>
            <a:off x="9008669" y="5394960"/>
            <a:ext cx="1143457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05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10석 이하</a:t>
            </a:r>
          </a:p>
        </p:txBody>
      </p:sp>
      <p:sp>
        <p:nvSpPr>
          <p:cNvPr id="3063" name="W 3063"/>
          <p:cNvSpPr/>
          <p:nvPr/>
        </p:nvSpPr>
        <p:spPr>
          <a:xfrm>
            <a:off x="10261854" y="4983480"/>
            <a:ext cx="1143457" cy="365760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>
            <a:noFill/>
          </a:ln>
          <a:effectLst>
            <a:outerShdw blurRad="38100" dist="254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64" name="W 3064"/>
          <p:cNvSpPr txBox="1"/>
          <p:nvPr/>
        </p:nvSpPr>
        <p:spPr>
          <a:xfrm>
            <a:off x="10261854" y="4983480"/>
            <a:ext cx="1143457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150" b="1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원활</a:t>
            </a:r>
          </a:p>
        </p:txBody>
      </p:sp>
      <p:sp>
        <p:nvSpPr>
          <p:cNvPr id="3065" name="W 3065"/>
          <p:cNvSpPr txBox="1"/>
          <p:nvPr/>
        </p:nvSpPr>
        <p:spPr>
          <a:xfrm>
            <a:off x="10261854" y="5394960"/>
            <a:ext cx="1143457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ko-KR" sz="105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11석 이상</a:t>
            </a:r>
          </a:p>
        </p:txBody>
      </p:sp>
      <p:sp>
        <p:nvSpPr>
          <p:cNvPr id="3066" name="W 3066"/>
          <p:cNvSpPr txBox="1"/>
          <p:nvPr/>
        </p:nvSpPr>
        <p:spPr>
          <a:xfrm>
            <a:off x="7755484" y="5760720"/>
            <a:ext cx="37595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ko-KR" sz="900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※ 강북 · 마포: 실시간 API 미제공 → 등록 병상 · 인접 구 정보 제공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8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에이투지체 5 Medium"/>
                <a:ea typeface="에이투지체 5 Medium"/>
                <a:cs typeface="에이투지체 5 Medium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결론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>
                    <a:alpha val="70000"/>
                  </a:srgbClr>
                </a:solidFill>
                <a:latin typeface="에이투지체 5 Medium"/>
                <a:ea typeface="에이투지체 5 Medium"/>
                <a:cs typeface="에이투지체 5 Medium"/>
              </a:rPr>
              <a:t>최종 결과와 향후 연구 방향, 참고 자료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3393338" cy="0"/>
          </a:xfrm>
          <a:prstGeom prst="line">
            <a:avLst/>
          </a:prstGeom>
          <a:noFill/>
          <a:ln w="25400">
            <a:solidFill>
              <a:srgbClr val="D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45720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A7A"/>
                </a:solidFill>
                <a:latin typeface="에이투지체 5 Medium"/>
                <a:ea typeface="에이투지체 5 Medium"/>
                <a:cs typeface="에이투지체 5 Medium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64608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최종 결과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99178" y="4434840"/>
            <a:ext cx="3393338" cy="0"/>
          </a:xfrm>
          <a:prstGeom prst="line">
            <a:avLst/>
          </a:prstGeom>
          <a:noFill/>
          <a:ln w="25400">
            <a:solidFill>
              <a:srgbClr val="3A4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4399178" y="45720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99178" y="4864608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향후 연구 방향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75397" y="4434840"/>
            <a:ext cx="3393338" cy="0"/>
          </a:xfrm>
          <a:prstGeom prst="line">
            <a:avLst/>
          </a:prstGeom>
          <a:noFill/>
          <a:ln w="25400">
            <a:solidFill>
              <a:srgbClr val="3A4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7975397" y="45720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8E93"/>
                </a:solidFill>
                <a:latin typeface="에이투지체 5 Medium"/>
                <a:ea typeface="에이투지체 5 Medium"/>
                <a:cs typeface="에이투지체 5 Medium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75397" y="4864608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참고 자료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06  결론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최종 결과 및 향후 과제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/>
                <a:ea typeface="에이투지체 5 Medium"/>
                <a:cs typeface="에이투지체 5 Medium"/>
              </a:rPr>
              <a:t>자료 수집부터 미래 예측까지 단일 흐름 구축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39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6373368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/>
                <a:ea typeface="에이투지체 4 Regular"/>
                <a:cs typeface="에이투지체 4 Regular"/>
              </a:rPr>
              <a:t>출처: 02_119_전처리_검토수정.ipynb · 03_119_통합_예측_1.ipynb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268193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676656" y="2176272"/>
            <a:ext cx="2243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2,634행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676656" y="2779776"/>
            <a:ext cx="2243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API 자동 수집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76656" y="3182112"/>
            <a:ext cx="2243023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676656" y="3291840"/>
            <a:ext cx="2243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2017~2025 · 25개 구 월별 이송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22015" y="1993392"/>
            <a:ext cx="268193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3541471" y="2176272"/>
            <a:ext cx="2243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2종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3541471" y="2779776"/>
            <a:ext cx="2243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학습 표 구축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541471" y="3182112"/>
            <a:ext cx="2243023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3541471" y="3291840"/>
            <a:ext cx="2243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이송 (구 × 월) · 인구 (구 × 일)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86830" y="1993392"/>
            <a:ext cx="2681935" cy="1828800"/>
          </a:xfrm>
          <a:prstGeom prst="roundRect">
            <a:avLst>
              <a:gd name="adj" fmla="val 7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  <a:effectLst>
            <a:outerShdw blurRad="95250" dist="50800" dir="5400000" algn="bl" rotWithShape="0">
              <a:srgbClr val="8A141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6406286" y="2176272"/>
            <a:ext cx="2243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94.6%</a:t>
            </a:r>
            <a:endParaRPr 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6406286" y="2779776"/>
            <a:ext cx="2243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에이투지체 5 Medium"/>
                <a:ea typeface="에이투지체 5 Medium"/>
                <a:cs typeface="에이투지체 5 Medium"/>
              </a:rPr>
              <a:t>이송 건수 예측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6286" y="3182112"/>
            <a:ext cx="2243023" cy="0"/>
          </a:xfrm>
          <a:prstGeom prst="line">
            <a:avLst/>
          </a:prstGeom>
          <a:noFill/>
          <a:ln w="9525">
            <a:solidFill>
              <a:srgbClr val="E87A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 txBox="1"/>
          <p:nvPr/>
        </p:nvSpPr>
        <p:spPr>
          <a:xfrm>
            <a:off x="6406286" y="3291840"/>
            <a:ext cx="2243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FDE3E3"/>
                </a:solidFill>
                <a:latin typeface="에이투지체 5 Medium"/>
                <a:ea typeface="에이투지체 5 Medium"/>
                <a:cs typeface="에이투지체 5 Medium"/>
              </a:rPr>
              <a:t>앙상블 · 평가 6개월 정확도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051646" y="1993392"/>
            <a:ext cx="268193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9271102" y="2176272"/>
            <a:ext cx="2243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98.2%</a:t>
            </a:r>
            <a:endParaRPr lang="en-US" sz="3600" dirty="0"/>
          </a:p>
        </p:txBody>
      </p:sp>
      <p:sp>
        <p:nvSpPr>
          <p:cNvPr id="25" name="Text 22"/>
          <p:cNvSpPr txBox="1"/>
          <p:nvPr/>
        </p:nvSpPr>
        <p:spPr>
          <a:xfrm>
            <a:off x="9271102" y="2779776"/>
            <a:ext cx="2243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인구 밀집 예측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271102" y="3182112"/>
            <a:ext cx="2243023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 txBox="1"/>
          <p:nvPr/>
        </p:nvSpPr>
        <p:spPr>
          <a:xfrm>
            <a:off x="9271102" y="3291840"/>
            <a:ext cx="2243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Random Forest · 평가 정확도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4005072"/>
            <a:ext cx="3637483" cy="2185416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6"/>
          <p:cNvSpPr txBox="1"/>
          <p:nvPr/>
        </p:nvSpPr>
        <p:spPr>
          <a:xfrm>
            <a:off x="676656" y="4169664"/>
            <a:ext cx="31985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모델 선정 원칙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76656" y="4572000"/>
            <a:ext cx="3198571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 txBox="1"/>
          <p:nvPr/>
        </p:nvSpPr>
        <p:spPr>
          <a:xfrm>
            <a:off x="676656" y="4699312"/>
            <a:ext cx="3198571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과거 자료 기반 변수 탐색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실험을 통한 특성 효과 검증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검증 데이터 기준 모델 선택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평가 데이터는 확인 용도로만 사용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277563" y="4005072"/>
            <a:ext cx="3637483" cy="2185416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0"/>
          <p:cNvSpPr txBox="1"/>
          <p:nvPr/>
        </p:nvSpPr>
        <p:spPr>
          <a:xfrm>
            <a:off x="4497019" y="4169664"/>
            <a:ext cx="31985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향후 연구 방향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4497019" y="4572000"/>
            <a:ext cx="3198571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 txBox="1"/>
          <p:nvPr/>
        </p:nvSpPr>
        <p:spPr>
          <a:xfrm>
            <a:off x="4497019" y="4699312"/>
            <a:ext cx="3198571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실시간 구급차 이동 시간 결합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병원별 진료 가능 과목 결합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최적 경로 안내 · 병원 자동 배정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현장 시범 운영 및 실증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097926" y="4005072"/>
            <a:ext cx="3636569" cy="2185416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Text 34"/>
          <p:cNvSpPr txBox="1"/>
          <p:nvPr/>
        </p:nvSpPr>
        <p:spPr>
          <a:xfrm>
            <a:off x="8317382" y="4169664"/>
            <a:ext cx="3197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2828"/>
                </a:solidFill>
                <a:latin typeface="에이투지체 5 Medium"/>
                <a:ea typeface="에이투지체 5 Medium"/>
                <a:cs typeface="에이투지체 5 Medium"/>
              </a:rPr>
              <a:t>참고 자료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8317382" y="4572000"/>
            <a:ext cx="3197657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 txBox="1"/>
          <p:nvPr/>
        </p:nvSpPr>
        <p:spPr>
          <a:xfrm>
            <a:off x="8317382" y="4699312"/>
            <a:ext cx="3197657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소방청 구급통계 서비스 API (2025)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국립중앙의료원 응급의료기관 API (2026)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통계청 KOSIS 구급 · 구조활동 실적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서울 생활인구 일별 집계표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에이투지체 5 Medium"/>
                <a:ea typeface="에이투지체 5 Medium"/>
                <a:cs typeface="에이투지체 5 Medium"/>
              </a:rPr>
              <a:t>· 서울시 구급출동 현황 (2021~2022)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에이투지체 7 Bold"/>
        <a:ea typeface="에이투지체 7 Bold"/>
        <a:cs typeface="에이투지체 7 Bold"/>
        <a:font script="Jpan" typeface="游ゴシック Light"/>
        <a:font script="Hang" typeface="에이투지체 7 Bol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에이투지체 5 Medium"/>
        <a:ea typeface="에이투지체 5 Medium"/>
        <a:cs typeface="에이투지체 5 Medium"/>
        <a:font script="Jpan" typeface="游ゴシック"/>
        <a:font script="Hang" typeface="에이투지체 5 Medium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5113</Words>
  <Application>Microsoft Office PowerPoint</Application>
  <PresentationFormat>와이드스크린</PresentationFormat>
  <Paragraphs>890</Paragraphs>
  <Slides>39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5" baseType="lpstr">
      <vt:lpstr>맑은 고딕</vt:lpstr>
      <vt:lpstr>Arial</vt:lpstr>
      <vt:lpstr>에이투지체 5 Medium</vt:lpstr>
      <vt:lpstr>에이투지체 3 Light</vt:lpstr>
      <vt:lpstr>에이투지체 4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서울시 119 구급 수요 예측</dc:title>
  <dc:subject>PptxGenJS Presentation</dc:subject>
  <dc:creator>PptxGenJS</dc:creator>
  <cp:lastModifiedBy>Admin</cp:lastModifiedBy>
  <cp:revision>28</cp:revision>
  <dcterms:created xsi:type="dcterms:W3CDTF">2026-10-01T06:25:50Z</dcterms:created>
  <dcterms:modified xsi:type="dcterms:W3CDTF">2026-10-08T08:37:37Z</dcterms:modified>
</cp:coreProperties>
</file>