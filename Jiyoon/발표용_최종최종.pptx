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6" r:id="rId19"/>
    <p:sldId id="273" r:id="rId20"/>
    <p:sldId id="274" r:id="rId21"/>
    <p:sldId id="275" r:id="rId22"/>
    <p:sldId id="276" r:id="rId23"/>
    <p:sldId id="277" r:id="rId24"/>
    <p:sldId id="278" r:id="rId25"/>
    <p:sldId id="279" r:id="rId26"/>
    <p:sldId id="280" r:id="rId27"/>
    <p:sldId id="287" r:id="rId28"/>
    <p:sldId id="288" r:id="rId29"/>
    <p:sldId id="281" r:id="rId30"/>
    <p:sldId id="289" r:id="rId31"/>
    <p:sldId id="282" r:id="rId32"/>
    <p:sldId id="283" r:id="rId33"/>
    <p:sldId id="290" r:id="rId34"/>
    <p:sldId id="291" r:id="rId42"/>
    <p:sldId id="292" r:id="rId43"/>
    <p:sldId id="293" r:id="rId44"/>
    <p:sldId id="294" r:id="rId45"/>
    <p:sldId id="284" r:id="rId35"/>
    <p:sldId id="285"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435" autoAdjust="0"/>
  </p:normalViewPr>
  <p:slideViewPr>
    <p:cSldViewPr snapToGrid="0" snapToObjects="1">
      <p:cViewPr varScale="1">
        <p:scale>
          <a:sx n="107" d="100"/>
          <a:sy n="107"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이송 건수 상관계수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구 간 </a:t>
            </a:r>
            <a:r>
              <a:rPr lang="en-US" altLang="ko-KR" sz="1400" b="1" i="0" u="none" strike="noStrike">
                <a:solidFill>
                  <a:srgbClr val="222222"/>
                </a:solidFill>
                <a:latin typeface="에이투지체 5 Medium"/>
                <a:ea typeface="에이투지체 5 Medium"/>
                <a:cs typeface="에이투지체 5 Medium"/>
              </a:rPr>
              <a:t>0.3 </a:t>
            </a:r>
            <a:r>
              <a:rPr lang="ko-KR" altLang="en-US" sz="1400" b="1" i="0" u="none" strike="noStrike">
                <a:solidFill>
                  <a:srgbClr val="222222"/>
                </a:solidFill>
                <a:latin typeface="에이투지체 5 Medium"/>
                <a:ea typeface="에이투지체 5 Medium"/>
                <a:cs typeface="에이투지체 5 Medium"/>
              </a:rPr>
              <a:t>이상 </a:t>
            </a:r>
            <a:r>
              <a:rPr lang="en-US" altLang="ko-KR" sz="1400" b="1" i="0" u="none" strike="noStrike">
                <a:solidFill>
                  <a:srgbClr val="222222"/>
                </a:solidFill>
                <a:latin typeface="에이투지체 5 Medium"/>
                <a:ea typeface="에이투지체 5 Medium"/>
                <a:cs typeface="에이투지체 5 Medium"/>
              </a:rPr>
              <a:t>7</a:t>
            </a:r>
            <a:r>
              <a:rPr lang="ko-KR" altLang="en-US" sz="1400" b="1" i="0" u="none" strike="noStrike">
                <a:solidFill>
                  <a:srgbClr val="222222"/>
                </a:solidFill>
                <a:latin typeface="에이투지체 5 Medium"/>
                <a:ea typeface="에이투지체 5 Medium"/>
                <a:cs typeface="에이투지체 5 Medium"/>
              </a:rPr>
              <a:t>개</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bar"/>
        <c:grouping val="clustered"/>
        <c:varyColors val="0"/>
        <c:ser>
          <c:idx val="0"/>
          <c:order val="0"/>
          <c:tx>
            <c:strRef>
              <c:f>Sheet1!$B$1</c:f>
              <c:strCache>
                <c:ptCount val="1"/>
                <c:pt idx="0">
                  <c:v>구 내 (월별 변화)</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Sheet1!$B$2:$B$8</c:f>
              <c:numCache>
                <c:formatCode>General</c:formatCode>
                <c:ptCount val="7"/>
                <c:pt idx="0">
                  <c:v>0.3</c:v>
                </c:pt>
                <c:pt idx="1">
                  <c:v>0.26500000000000001</c:v>
                </c:pt>
                <c:pt idx="2">
                  <c:v>0.32900000000000001</c:v>
                </c:pt>
                <c:pt idx="3">
                  <c:v>0.28000000000000003</c:v>
                </c:pt>
                <c:pt idx="4">
                  <c:v>0.17799999999999999</c:v>
                </c:pt>
                <c:pt idx="5">
                  <c:v>8.6999999999999994E-2</c:v>
                </c:pt>
                <c:pt idx="6">
                  <c:v>0.28000000000000003</c:v>
                </c:pt>
              </c:numCache>
            </c:numRef>
          </c:val>
          <c:extLst>
            <c:ext xmlns:c16="http://schemas.microsoft.com/office/drawing/2014/chart" uri="{C3380CC4-5D6E-409C-BE32-E72D297353CC}">
              <c16:uniqueId val="{00000000-A774-4DE8-9106-6F8274495B34}"/>
            </c:ext>
          </c:extLst>
        </c:ser>
        <c:ser>
          <c:idx val="1"/>
          <c:order val="1"/>
          <c:tx>
            <c:strRef>
              <c:f>Sheet1!$C$1</c:f>
              <c:strCache>
                <c:ptCount val="1"/>
                <c:pt idx="0">
                  <c:v>구 간 (구별 평균)</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Sheet1!$C$2:$C$8</c:f>
              <c:numCache>
                <c:formatCode>General</c:formatCode>
                <c:ptCount val="7"/>
                <c:pt idx="0">
                  <c:v>0.36099999999999999</c:v>
                </c:pt>
                <c:pt idx="1">
                  <c:v>0.63500000000000001</c:v>
                </c:pt>
                <c:pt idx="2">
                  <c:v>0.68100000000000005</c:v>
                </c:pt>
                <c:pt idx="3">
                  <c:v>0.751</c:v>
                </c:pt>
                <c:pt idx="4">
                  <c:v>0.77400000000000002</c:v>
                </c:pt>
                <c:pt idx="5">
                  <c:v>0.78900000000000003</c:v>
                </c:pt>
                <c:pt idx="6">
                  <c:v>0.80700000000000005</c:v>
                </c:pt>
              </c:numCache>
            </c:numRef>
          </c:val>
          <c:extLst>
            <c:ext xmlns:c16="http://schemas.microsoft.com/office/drawing/2014/chart" uri="{C3380CC4-5D6E-409C-BE32-E72D297353CC}">
              <c16:uniqueId val="{00000001-A774-4DE8-9106-6F8274495B3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가중치</a:t>
            </a:r>
          </a:p>
        </c:rich>
      </c:tx>
      <c:layout/>
      <c:overlay val="0"/>
    </c:title>
    <c:autoTitleDeleted val="0"/>
    <c:plotArea>
      <c:layout/>
      <c:barChart>
        <c:barDir val="bar"/>
        <c:grouping val="clustered"/>
        <c:varyColors val="0"/>
        <c:ser>
          <c:idx val="0"/>
          <c:order val="0"/>
          <c:tx>
            <c:strRef>
              <c:f>Sheet1!$B$1</c:f>
              <c:strCache>
                <c:ptCount val="1"/>
                <c:pt idx="0">
                  <c:v>가중치</c:v>
                </c:pt>
              </c:strCache>
            </c:strRef>
          </c:tx>
          <c:spPr>
            <a:solidFill>
              <a:srgbClr val="D62828"/>
            </a:solidFill>
            <a:effectLst/>
          </c:spPr>
          <c:invertIfNegative val="0"/>
          <c:dLbls>
            <c:numFmt formatCode="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서울외 유입인구</c:v>
                </c:pt>
                <c:pt idx="1">
                  <c:v>일최대인구</c:v>
                </c:pt>
                <c:pt idx="2">
                  <c:v>동일구 행정동간 이동</c:v>
                </c:pt>
                <c:pt idx="3">
                  <c:v>야간인구</c:v>
                </c:pt>
              </c:strCache>
            </c:strRef>
          </c:cat>
          <c:val>
            <c:numRef>
              <c:f>Sheet1!$B$2:$B$5</c:f>
              <c:numCache>
                <c:formatCode>General</c:formatCode>
                <c:ptCount val="4"/>
                <c:pt idx="0">
                  <c:v>0.13700000000000001</c:v>
                </c:pt>
                <c:pt idx="1">
                  <c:v>0.25800000000000001</c:v>
                </c:pt>
                <c:pt idx="2">
                  <c:v>0.29899999999999999</c:v>
                </c:pt>
                <c:pt idx="3">
                  <c:v>0.30599999999999999</c:v>
                </c:pt>
              </c:numCache>
            </c:numRef>
          </c:val>
          <c:extLst>
            <c:ext xmlns:c16="http://schemas.microsoft.com/office/drawing/2014/chart" uri="{C3380CC4-5D6E-409C-BE32-E72D297353CC}">
              <c16:uniqueId val="{00000000-14E7-4C28-89F6-BA7CB1D99CB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0.4"/>
          <c:min val="0"/>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1"/>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월별 이송 지수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전체 평균 </a:t>
            </a:r>
            <a:r>
              <a:rPr lang="en-US" altLang="ko-KR" sz="1400" b="1" i="0" u="none" strike="noStrike">
                <a:solidFill>
                  <a:srgbClr val="222222"/>
                </a:solidFill>
                <a:latin typeface="에이투지체 5 Medium"/>
                <a:ea typeface="에이투지체 5 Medium"/>
                <a:cs typeface="에이투지체 5 Medium"/>
              </a:rPr>
              <a:t>= 100)</a:t>
            </a:r>
          </a:p>
        </c:rich>
      </c:tx>
      <c:layout/>
      <c:overlay val="0"/>
    </c:title>
    <c:autoTitleDeleted val="0"/>
    <c:plotArea>
      <c:layout/>
      <c:barChart>
        <c:barDir val="col"/>
        <c:grouping val="clustered"/>
        <c:varyColors val="0"/>
        <c:ser>
          <c:idx val="0"/>
          <c:order val="0"/>
          <c:tx>
            <c:strRef>
              <c:f>Sheet1!$B$1</c:f>
              <c:strCache>
                <c:ptCount val="1"/>
                <c:pt idx="0">
                  <c:v>이송 지수</c:v>
                </c:pt>
              </c:strCache>
            </c:strRef>
          </c:tx>
          <c:spPr>
            <a:solidFill>
              <a:srgbClr val="D62828"/>
            </a:solidFill>
            <a:effectLst/>
          </c:spPr>
          <c:invertIfNegative val="0"/>
          <c:dLbls>
            <c:numFmt formatCode="0.0" sourceLinked="0"/>
            <c:spPr>
              <a:noFill/>
              <a:ln>
                <a:noFill/>
              </a:ln>
              <a:effectLst/>
            </c:spPr>
            <c:txPr>
              <a:bodyPr/>
              <a:lstStyle/>
              <a:p>
                <a:pPr>
                  <a:defRPr sz="10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Sheet1!$A$2:$A$13</c:f>
              <c:strCache>
                <c:ptCount val="12"/>
                <c:pt idx="0">
                  <c:v>1월</c:v>
                </c:pt>
                <c:pt idx="1">
                  <c:v>2월</c:v>
                </c:pt>
                <c:pt idx="2">
                  <c:v>3월</c:v>
                </c:pt>
                <c:pt idx="3">
                  <c:v>4월</c:v>
                </c:pt>
                <c:pt idx="4">
                  <c:v>5월</c:v>
                </c:pt>
                <c:pt idx="5">
                  <c:v>6월</c:v>
                </c:pt>
                <c:pt idx="6">
                  <c:v>7월</c:v>
                </c:pt>
                <c:pt idx="7">
                  <c:v>8월</c:v>
                </c:pt>
                <c:pt idx="8">
                  <c:v>9월</c:v>
                </c:pt>
                <c:pt idx="9">
                  <c:v>10월</c:v>
                </c:pt>
                <c:pt idx="10">
                  <c:v>11월</c:v>
                </c:pt>
                <c:pt idx="11">
                  <c:v>12월</c:v>
                </c:pt>
              </c:strCache>
            </c:strRef>
          </c:cat>
          <c:val>
            <c:numRef>
              <c:f>Sheet1!$B$2:$B$13</c:f>
              <c:numCache>
                <c:formatCode>General</c:formatCode>
                <c:ptCount val="12"/>
                <c:pt idx="0">
                  <c:v>100.4</c:v>
                </c:pt>
                <c:pt idx="1">
                  <c:v>86.8</c:v>
                </c:pt>
                <c:pt idx="2">
                  <c:v>93.4</c:v>
                </c:pt>
                <c:pt idx="3">
                  <c:v>95.6</c:v>
                </c:pt>
                <c:pt idx="4">
                  <c:v>103.1</c:v>
                </c:pt>
                <c:pt idx="5">
                  <c:v>102.1</c:v>
                </c:pt>
                <c:pt idx="6">
                  <c:v>108.6</c:v>
                </c:pt>
                <c:pt idx="7">
                  <c:v>108.4</c:v>
                </c:pt>
                <c:pt idx="8">
                  <c:v>100.8</c:v>
                </c:pt>
                <c:pt idx="9">
                  <c:v>100.7</c:v>
                </c:pt>
                <c:pt idx="10">
                  <c:v>97</c:v>
                </c:pt>
                <c:pt idx="11">
                  <c:v>102.8</c:v>
                </c:pt>
              </c:numCache>
            </c:numRef>
          </c:val>
          <c:extLst>
            <c:ext xmlns:c16="http://schemas.microsoft.com/office/drawing/2014/chart" uri="{C3380CC4-5D6E-409C-BE32-E72D297353CC}">
              <c16:uniqueId val="{00000000-2270-47BA-9AE0-F409146F436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12"/>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입력 조합별 최고 검증 정확도 </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최고 검증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A</c:v>
                </c:pt>
                <c:pt idx="1">
                  <c:v>B</c:v>
                </c:pt>
                <c:pt idx="2">
                  <c:v>C</c:v>
                </c:pt>
                <c:pt idx="3">
                  <c:v>D</c:v>
                </c:pt>
                <c:pt idx="4">
                  <c:v>E</c:v>
                </c:pt>
              </c:strCache>
            </c:strRef>
          </c:cat>
          <c:val>
            <c:numRef>
              <c:f>Sheet1!$B$2:$B$6</c:f>
              <c:numCache>
                <c:formatCode>General</c:formatCode>
                <c:ptCount val="5"/>
                <c:pt idx="0">
                  <c:v>84.39</c:v>
                </c:pt>
                <c:pt idx="1">
                  <c:v>87.21</c:v>
                </c:pt>
                <c:pt idx="2">
                  <c:v>88.03</c:v>
                </c:pt>
                <c:pt idx="3">
                  <c:v>94.96</c:v>
                </c:pt>
                <c:pt idx="4">
                  <c:v>94.79</c:v>
                </c:pt>
              </c:numCache>
            </c:numRef>
          </c:val>
          <c:extLst>
            <c:ext xmlns:c16="http://schemas.microsoft.com/office/drawing/2014/chart" uri="{C3380CC4-5D6E-409C-BE32-E72D297353CC}">
              <c16:uniqueId val="{00000000-06BE-46B6-B914-7791570D3DA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7"/>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설정별 최고 검증 정확도 </a:t>
            </a: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최고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기본</c:v>
                </c:pt>
                <c:pt idx="1">
                  <c:v>달력 추가</c:v>
                </c:pt>
                <c:pt idx="2">
                  <c:v>증감량 예측</c:v>
                </c:pt>
                <c:pt idx="3">
                  <c:v>달력 + 증감량</c:v>
                </c:pt>
              </c:strCache>
            </c:strRef>
          </c:cat>
          <c:val>
            <c:numRef>
              <c:f>Sheet1!$B$2:$B$5</c:f>
              <c:numCache>
                <c:formatCode>General</c:formatCode>
                <c:ptCount val="4"/>
                <c:pt idx="0">
                  <c:v>93.885000000000005</c:v>
                </c:pt>
                <c:pt idx="1">
                  <c:v>94.611000000000004</c:v>
                </c:pt>
                <c:pt idx="2">
                  <c:v>94.23</c:v>
                </c:pt>
                <c:pt idx="3">
                  <c:v>94.47</c:v>
                </c:pt>
              </c:numCache>
            </c:numRef>
          </c:val>
          <c:extLst>
            <c:ext xmlns:c16="http://schemas.microsoft.com/office/drawing/2014/chart" uri="{C3380CC4-5D6E-409C-BE32-E72D297353CC}">
              <c16:uniqueId val="{00000000-2CDC-4473-A285-65DC4477D96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5"/>
          <c:min val="93"/>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 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layout/>
      <c:overlay val="0"/>
    </c:title>
    <c:autoTitleDeleted val="0"/>
    <c:plotArea>
      <c:layout/>
      <c:barChart>
        <c:barDir val="bar"/>
        <c:grouping val="clustered"/>
        <c:varyColors val="0"/>
        <c:ser>
          <c:idx val="0"/>
          <c:order val="0"/>
          <c:tx>
            <c:strRef>
              <c:f>Sheet1!$B$1</c:f>
              <c:strCache>
                <c:ptCount val="1"/>
                <c:pt idx="0">
                  <c:v>평가 6개월</c:v>
                </c:pt>
              </c:strCache>
            </c:strRef>
          </c:tx>
          <c:spPr>
            <a:solidFill>
              <a:srgbClr val="8E8E93"/>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Sheet1!$B$2:$B$9</c:f>
              <c:numCache>
                <c:formatCode>General</c:formatCode>
                <c:ptCount val="8"/>
                <c:pt idx="0">
                  <c:v>91.97</c:v>
                </c:pt>
                <c:pt idx="1">
                  <c:v>92.4</c:v>
                </c:pt>
                <c:pt idx="2">
                  <c:v>93.25</c:v>
                </c:pt>
                <c:pt idx="3">
                  <c:v>93.98</c:v>
                </c:pt>
                <c:pt idx="4">
                  <c:v>94.27</c:v>
                </c:pt>
                <c:pt idx="5">
                  <c:v>87.87</c:v>
                </c:pt>
                <c:pt idx="6">
                  <c:v>93.27</c:v>
                </c:pt>
                <c:pt idx="7">
                  <c:v>94.6</c:v>
                </c:pt>
              </c:numCache>
            </c:numRef>
          </c:val>
          <c:extLst>
            <c:ext xmlns:c16="http://schemas.microsoft.com/office/drawing/2014/chart" uri="{C3380CC4-5D6E-409C-BE32-E72D297353CC}">
              <c16:uniqueId val="{00000000-1560-4303-A7C8-DD03E1005BAE}"/>
            </c:ext>
          </c:extLst>
        </c:ser>
        <c:ser>
          <c:idx val="1"/>
          <c:order val="1"/>
          <c:tx>
            <c:strRef>
              <c:f>Sheet1!$C$1</c:f>
              <c:strCache>
                <c:ptCount val="1"/>
                <c:pt idx="0">
                  <c:v>검증 6개월</c:v>
                </c:pt>
              </c:strCache>
            </c:strRef>
          </c:tx>
          <c:spPr>
            <a:solidFill>
              <a:srgbClr val="D62828"/>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Sheet1!$C$2:$C$9</c:f>
              <c:numCache>
                <c:formatCode>General</c:formatCode>
                <c:ptCount val="8"/>
                <c:pt idx="0">
                  <c:v>88.45</c:v>
                </c:pt>
                <c:pt idx="1">
                  <c:v>90.93</c:v>
                </c:pt>
                <c:pt idx="2">
                  <c:v>91.82</c:v>
                </c:pt>
                <c:pt idx="3">
                  <c:v>92.51</c:v>
                </c:pt>
                <c:pt idx="4">
                  <c:v>92.73</c:v>
                </c:pt>
                <c:pt idx="5">
                  <c:v>92.78</c:v>
                </c:pt>
                <c:pt idx="6">
                  <c:v>94.35</c:v>
                </c:pt>
                <c:pt idx="7">
                  <c:v>94.61</c:v>
                </c:pt>
              </c:numCache>
            </c:numRef>
          </c:val>
          <c:extLst>
            <c:ext xmlns:c16="http://schemas.microsoft.com/office/drawing/2014/chart" uri="{C3380CC4-5D6E-409C-BE32-E72D297353CC}">
              <c16:uniqueId val="{00000001-1560-4303-A7C8-DD03E1005BA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6"/>
          <c:min val="85"/>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2"/>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layout/>
      <c:overlay val="0"/>
    </c:title>
    <c:autoTitleDeleted val="0"/>
    <c:plotArea>
      <c:layout/>
      <c:barChart>
        <c:barDir val="bar"/>
        <c:grouping val="clustered"/>
        <c:varyColors val="0"/>
        <c:ser>
          <c:idx val="0"/>
          <c:order val="0"/>
          <c:tx>
            <c:strRef>
              <c:f>Sheet1!$B$1</c:f>
              <c:strCache>
                <c:ptCount val="1"/>
                <c:pt idx="0">
                  <c:v>평가 (1년)</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Sheet1!$B$2:$B$8</c:f>
              <c:numCache>
                <c:formatCode>General</c:formatCode>
                <c:ptCount val="7"/>
                <c:pt idx="0">
                  <c:v>97.11</c:v>
                </c:pt>
                <c:pt idx="1">
                  <c:v>97.11</c:v>
                </c:pt>
                <c:pt idx="2">
                  <c:v>97.54</c:v>
                </c:pt>
                <c:pt idx="3">
                  <c:v>97.86</c:v>
                </c:pt>
                <c:pt idx="4">
                  <c:v>97.52</c:v>
                </c:pt>
                <c:pt idx="5">
                  <c:v>97.97</c:v>
                </c:pt>
                <c:pt idx="6">
                  <c:v>98.16</c:v>
                </c:pt>
              </c:numCache>
            </c:numRef>
          </c:val>
          <c:extLst>
            <c:ext xmlns:c16="http://schemas.microsoft.com/office/drawing/2014/chart" uri="{C3380CC4-5D6E-409C-BE32-E72D297353CC}">
              <c16:uniqueId val="{00000000-1147-4999-A43C-279D337E6CF6}"/>
            </c:ext>
          </c:extLst>
        </c:ser>
        <c:ser>
          <c:idx val="1"/>
          <c:order val="1"/>
          <c:tx>
            <c:strRef>
              <c:f>Sheet1!$C$1</c:f>
              <c:strCache>
                <c:ptCount val="1"/>
                <c:pt idx="0">
                  <c:v>검증 (180일)</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Sheet1!$C$2:$C$8</c:f>
              <c:numCache>
                <c:formatCode>General</c:formatCode>
                <c:ptCount val="7"/>
                <c:pt idx="0">
                  <c:v>97.34</c:v>
                </c:pt>
                <c:pt idx="1">
                  <c:v>97.34</c:v>
                </c:pt>
                <c:pt idx="2">
                  <c:v>97.86</c:v>
                </c:pt>
                <c:pt idx="3">
                  <c:v>97.95</c:v>
                </c:pt>
                <c:pt idx="4">
                  <c:v>97.99</c:v>
                </c:pt>
                <c:pt idx="5">
                  <c:v>98.36</c:v>
                </c:pt>
                <c:pt idx="6">
                  <c:v>98.59</c:v>
                </c:pt>
              </c:numCache>
            </c:numRef>
          </c:val>
          <c:extLst>
            <c:ext xmlns:c16="http://schemas.microsoft.com/office/drawing/2014/chart" uri="{C3380CC4-5D6E-409C-BE32-E72D297353CC}">
              <c16:uniqueId val="{00000001-1147-4999-A43C-279D337E6CF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9"/>
          <c:min val="96.5"/>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이송 건수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Gradient Boosting</a:t>
            </a:r>
          </a:p>
        </c:rich>
      </c:tx>
      <c:layout/>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D62828"/>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전월 동일구 행정동간 이동</c:v>
                </c:pt>
                <c:pt idx="1">
                  <c:v>주말 수</c:v>
                </c:pt>
                <c:pt idx="2">
                  <c:v>일수</c:v>
                </c:pt>
                <c:pt idx="3">
                  <c:v>월 (원-핫 합계)</c:v>
                </c:pt>
                <c:pt idx="4">
                  <c:v>전년 동월 이송 건수</c:v>
                </c:pt>
                <c:pt idx="5">
                  <c:v>전월 이송 건수</c:v>
                </c:pt>
              </c:strCache>
            </c:strRef>
          </c:cat>
          <c:val>
            <c:numRef>
              <c:f>Sheet1!$B$2:$B$7</c:f>
              <c:numCache>
                <c:formatCode>General</c:formatCode>
                <c:ptCount val="6"/>
                <c:pt idx="0">
                  <c:v>6.0000000000000001E-3</c:v>
                </c:pt>
                <c:pt idx="1">
                  <c:v>7.0000000000000001E-3</c:v>
                </c:pt>
                <c:pt idx="2">
                  <c:v>0.02</c:v>
                </c:pt>
                <c:pt idx="3">
                  <c:v>2.5999999999999999E-2</c:v>
                </c:pt>
                <c:pt idx="4">
                  <c:v>2.7E-2</c:v>
                </c:pt>
                <c:pt idx="5">
                  <c:v>0.89300000000000002</c:v>
                </c:pt>
              </c:numCache>
            </c:numRef>
          </c:val>
          <c:extLst>
            <c:ext xmlns:c16="http://schemas.microsoft.com/office/drawing/2014/chart" uri="{C3380CC4-5D6E-409C-BE32-E72D297353CC}">
              <c16:uniqueId val="{00000000-CB0F-4B28-8C3B-CBDAF0E267A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밀집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Random Forest</a:t>
            </a:r>
          </a:p>
        </c:rich>
      </c:tx>
      <c:layout/>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8A1414"/>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전일 동일구 행정동간 이동</c:v>
                </c:pt>
                <c:pt idx="1">
                  <c:v>자치구 (원-핫 합계)</c:v>
                </c:pt>
                <c:pt idx="2">
                  <c:v>전일 일최대 이동인구</c:v>
                </c:pt>
                <c:pt idx="3">
                  <c:v>전일 주야간 인구 차이</c:v>
                </c:pt>
                <c:pt idx="4">
                  <c:v>전일 야간인구</c:v>
                </c:pt>
                <c:pt idx="5">
                  <c:v>7일 전 일최대인구</c:v>
                </c:pt>
              </c:strCache>
            </c:strRef>
          </c:cat>
          <c:val>
            <c:numRef>
              <c:f>Sheet1!$B$2:$B$7</c:f>
              <c:numCache>
                <c:formatCode>General</c:formatCode>
                <c:ptCount val="6"/>
                <c:pt idx="0">
                  <c:v>3.0000000000000001E-3</c:v>
                </c:pt>
                <c:pt idx="1">
                  <c:v>4.0000000000000001E-3</c:v>
                </c:pt>
                <c:pt idx="2">
                  <c:v>4.0000000000000001E-3</c:v>
                </c:pt>
                <c:pt idx="3">
                  <c:v>1.0999999999999999E-2</c:v>
                </c:pt>
                <c:pt idx="4">
                  <c:v>1.4E-2</c:v>
                </c:pt>
                <c:pt idx="5">
                  <c:v>0.96</c:v>
                </c:pt>
              </c:numCache>
            </c:numRef>
          </c:val>
          <c:extLst>
            <c:ext xmlns:c16="http://schemas.microsoft.com/office/drawing/2014/chart" uri="{C3380CC4-5D6E-409C-BE32-E72D297353CC}">
              <c16:uniqueId val="{00000000-B170-4F99-A14F-A9ADD9C0880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2026</a:t>
            </a:r>
            <a:r>
              <a:rPr lang="ko-KR" altLang="en-US" sz="1400" b="1" i="0" u="none" strike="noStrike">
                <a:solidFill>
                  <a:srgbClr val="222222"/>
                </a:solidFill>
                <a:latin typeface="에이투지체 5 Medium"/>
                <a:ea typeface="에이투지체 5 Medium"/>
                <a:cs typeface="에이투지체 5 Medium"/>
              </a:rPr>
              <a:t>년 상반기 이송 건수 예측 </a:t>
            </a:r>
            <a:r>
              <a:rPr lang="en-US" altLang="ko-KR" sz="1400" b="1" i="0" u="none" strike="noStrike">
                <a:solidFill>
                  <a:srgbClr val="222222"/>
                </a:solidFill>
                <a:latin typeface="에이투지체 5 Medium"/>
                <a:ea typeface="에이투지체 5 Medium"/>
                <a:cs typeface="에이투지체 5 Medium"/>
              </a:rPr>
              <a:t>— </a:t>
            </a:r>
            <a:r>
              <a:rPr lang="ko-KR" altLang="en-US" sz="1400" b="1" i="0" u="none" strike="noStrike">
                <a:solidFill>
                  <a:srgbClr val="222222"/>
                </a:solidFill>
                <a:latin typeface="에이투지체 5 Medium"/>
                <a:ea typeface="에이투지체 5 Medium"/>
                <a:cs typeface="에이투지체 5 Medium"/>
              </a:rPr>
              <a:t>서울 </a:t>
            </a:r>
            <a:r>
              <a:rPr lang="en-US" altLang="ko-KR" sz="1400" b="1" i="0" u="none" strike="noStrike">
                <a:solidFill>
                  <a:srgbClr val="222222"/>
                </a:solidFill>
                <a:latin typeface="에이투지체 5 Medium"/>
                <a:ea typeface="에이투지체 5 Medium"/>
                <a:cs typeface="에이투지체 5 Medium"/>
              </a:rPr>
              <a:t>25</a:t>
            </a:r>
            <a:r>
              <a:rPr lang="ko-KR" altLang="en-US" sz="1400" b="1" i="0" u="none" strike="noStrike">
                <a:solidFill>
                  <a:srgbClr val="222222"/>
                </a:solidFill>
                <a:latin typeface="에이투지체 5 Medium"/>
                <a:ea typeface="에이투지체 5 Medium"/>
                <a:cs typeface="에이투지체 5 Medium"/>
              </a:rPr>
              <a:t>개 구 합계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건</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서울 합계</c:v>
                </c:pt>
              </c:strCache>
            </c:strRef>
          </c:tx>
          <c:spPr>
            <a:solidFill>
              <a:srgbClr val="D62828"/>
            </a:solidFill>
            <a:effectLst/>
          </c:spPr>
          <c:invertIfNegative val="0"/>
          <c:dLbls>
            <c:numFmt formatCode="#,##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2026.01</c:v>
                </c:pt>
                <c:pt idx="1">
                  <c:v>2026.02</c:v>
                </c:pt>
                <c:pt idx="2">
                  <c:v>2026.03</c:v>
                </c:pt>
                <c:pt idx="3">
                  <c:v>2026.04</c:v>
                </c:pt>
                <c:pt idx="4">
                  <c:v>2026.05</c:v>
                </c:pt>
                <c:pt idx="5">
                  <c:v>2026.06</c:v>
                </c:pt>
              </c:strCache>
            </c:strRef>
          </c:cat>
          <c:val>
            <c:numRef>
              <c:f>Sheet1!$B$2:$B$7</c:f>
              <c:numCache>
                <c:formatCode>General</c:formatCode>
                <c:ptCount val="6"/>
                <c:pt idx="0">
                  <c:v>23880</c:v>
                </c:pt>
                <c:pt idx="1">
                  <c:v>21642</c:v>
                </c:pt>
                <c:pt idx="2">
                  <c:v>22570</c:v>
                </c:pt>
                <c:pt idx="3">
                  <c:v>23046</c:v>
                </c:pt>
                <c:pt idx="4">
                  <c:v>25136</c:v>
                </c:pt>
                <c:pt idx="5">
                  <c:v>24978</c:v>
                </c:pt>
              </c:numCache>
            </c:numRef>
          </c:val>
          <c:extLst>
            <c:ext xmlns:c16="http://schemas.microsoft.com/office/drawing/2014/chart" uri="{C3380CC4-5D6E-409C-BE32-E72D297353CC}">
              <c16:uniqueId val="{00000000-52B2-4964-A876-C1F3A2A2CD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30000"/>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00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360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서울시 25개 자치구의 119 구급 이송 건수와 인구 밀집을 예측하는 프로젝트입니다. 데이터 수집, 전처리, 분석, 모델 개발, 결론 순서로 발표합니다.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여섯 부분으로 구성됩니다. 각 장의 시작에 해당 장의 구성을 간단히 소개합니다.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장은 프로젝트 소개입니다. 개발 목표와 개발 환경, 일정과 업무 분담을 소개합니다.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세 가지입니다. 첫째, 자치구별 구급 수요와 생활인구 패턴을 분석해 미래 수요를 예측합니다. 둘째, 지역·시기별 예측을 구급차 배치에 활용할 수 있게 합니다. 셋째, 응급실과 실시간 가용병상 정보를 연결한 웹 서비스를 만듭니다. 개발은 Windows, Python, VS Code 환경에서 진행했고, 머신러닝은 Scikit-learn, 딥러닝은 TensorFlow/Keras를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일정입니다. 기획·데이터 수집·웹 설계·전처리로 시작해 웹 구현·EDA·데이터 통합·모델링·API 연동을 거쳐, 모델 평가·웹 테스트·결과 정리·최종 검수 후 발표로 마무리했습니다.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팀원별 업무 분담과 일정입니다. 기획과 데이터 수집은 전원이 함께 진행했고, 웹 설계·전처리·분석·모델링·발표 준비는 담당을 나누어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장은 데이터 수집입니다. 어떤 자료를 모았는지, 어떤 자료를 왜 제외했는지, 공공 API를 어떻게 수집했는지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 API, CSV, XLSX로 총 14종의 원본을 모았고, 그중 4종을 학습 표로 합쳤습니다. 예측 대상인 119 이송 건수는 2017년 1월부터 2025년 12월까지 108개월 자료입니다. 의료이용 자료도 학습 표에 합쳤지만 2019년부터만 있어 빈칸이 36~60%였고, 빈칸 20% 기준에 걸려 최종 입력에서는 빠졌습니다. 14종이라는 원본 수는 수집 단계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구급출동 건별 현황은 사고가 난 구 기준이라 소방서 관할 기준인 API와 구별 수치가 0.77~1.54배 차이 나서 함께 쓸 수 없었습니다. 응급실 실시간 병상은 51개 병원(23개 구, 강북·마포 자료 없음), 응급실 운영기관은 70곳을 확인했습니다. 수집 시점 과밀 병원은 8곳입니다. 병상 자료는 한 시점 자료이거나 2016년까지만 있어 월별 예측과 맞지 않아, 모델 대신 웹 서비스의 참고 정보로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소방청 구급통계 API는 소방서 단위로 자료를 제공합니다. 119안전센터 관할구역에서 구 이름을 추출해 25개 소방서를 25개 자치구에 연결했습니다. 이미 받은 달은 건너뛰고 빠진 달만 받았고, 실패하면 2초, 4초, 8초 간격으로 재시도했습니다. 결과는 2,634행이며, 예상 2,700칸 중 비어 있는 66칸은 성동구 2017년 1~6월, 금천구 2017년 1월~2021년 12월로 소방서 개서 이전 기간입니다.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장은 데이터 전처리입니다. 전체 흐름, 정리 기준, 과거 값만 사용한 통합 방식, 입력 변수 선택 순서로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전처리는 다섯 단계입니다. 원본을 모으고, 날짜·지역·컬럼명 형식을 통일하고, 관할 변경 구간 70행을 뺀 뒤, 구×월 이송 표와 구×일 인구 표 두 개로 합쳤습니다. 마지막으로 상관계수 기준으로 입력 변수를 골라 이송은 8개, 인구는 5개를 남겼습니다. 이송 표는 빈 값이 있는 행을 빼 학습용 2,180행이 됐고, 인구 표는 75,825행 그대로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파일마다 헤더가 3~4줄이거나 월이 옆으로 펼쳐져 있어 한 행이 한 시점이 되도록 바꿨고, 날짜는 ds, 지역은 District로 이름을 맞췄습니다. 천 단위 콤마를 지워 숫자로 읽히게 했습니다. 이 세 가지는 앞 단계 전처리에서 한 작업입니다. 생활인구의 Pop_Peak는 일최대인구수와 값이 완전히 같아 뺐습니다. 소방서 개서 이전이라 API에 없는 66칸은 0이나 평균으로 채우지 않았습니다. 관할이 바뀐 성동·광진(~2017.7), 금천·구로(~2022.1) 구간 70행은 두 구 값이 섞여 있어 뺐습니다. 생활인구는 25개 구 모두 3,040일이 빠짐없이 이어져 있음을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 시점에는 이번 달 값을 알 수 없습니다. 그래서 모든 입력은 과거 값으로만 만들었습니다. 이송 표에는 지난달·작년 같은 달 이송 건수, 지난달 생활인구 월평균, 작년 사고 원인과 의료이용 값을 붙였습니다. 지난달 출동 건수는 미래 시점에 계산할 수 없어 제외했습니다. 인구 표는 구별로 날짜순 정렬 후 하루 전·7일 전 값을 붙였고, 날짜 간격이 맞지 않으면 빈 값으로 두었습니다. 같은 방식으로 미래 예측용 입력 150행(2026.01~06)도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변수는 네 가지 규칙으로 골랐습니다. 결측이 20%를 넘으면 제외, 정답과의 상관계수 절대값이 0.3 미만이면 제외, 이미 선택한 변수와 0.9 이상으로 비슷하면 제외, 추가 시 빈 값 없는 행이 70% 미만이면 제외입니다. 계산은 2025년 1월 이전 자료만 썼습니다(이송 2,264행, 인구 61,400행). 이송은 33개(결측 10, 중복 6, 상관 약함 13, 계산 불가 4), 인구는 9개(중복 7, 상관 약함 2)를 제외했습니다. 여기에 자치구·월·요일·주말 정보가 함께 입력됩니다.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장은 데이터 분석입니다. 생활인구와 이송 건수의 관계, 인구 가중치와 자치구 유형, 월별 계절성을 살펴봅니다.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 간 상관"은 구별 평균끼리 비교해 인구가 많은 구가 이송도 많은지 봅니다. "구 내 상관"은 한 구 안에서 인구가 평소보다 많은 달에 이송도 많은지 봅니다. 야간인구는 구 간 상관이 0.81로 가장 높았지만, 구 내 상관은 모든 지표가 0.33 이하였습니다. 그래프에는 구 간 상관 0.3 이상인 7개 지표만 표시했고, 외국인 인구·주야간 차이 등 나머지 6개는 구 간 상관 0.14 이하입니다. 이 결과는 전체 기간 기준이며, 모델 개발 단계에서는 학습 기간만으로 다시 계산했습니다(야간인구 구 간 0.804, 구 내 0.230).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왼쪽은 학습 기간의 모든 구 × 월 자료를 점으로 찍은 그래프이고 색은 자치구입니다. 같은 색의 점이 한 덩어리로 모여 있어, 전체 상관은 구마다 규모가 다르다는 점에서 주로 나옵니다. 오른쪽은 25개 구의 평균끼리 비교한 그래프로, 야간인구가 많은 구일수록 평균 이송 건수가 많아 자치구 간 상관이 0.80입니다. 반면 같은 구 안에서 달별 변화끼리의 상관은 0.23으로 약합니다.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가중치는 구 간 상관 0.3 이상 지표 중 서로 0.9 이상 겹치는 지표를 하나만 남긴 4개 지표의 상관계수를 합 1로 나눈 값입니다. 야간인구 30.6%, 동일구 행정동간 이동 29.9%, 일최대인구 25.8%, 서울외 유입 13.7%입니다. 가중 지수와 구별 평균 이송 건수의 상관은 0.80으로 야간인구 하나(0.81)와 비슷합니다. 유형 분류는 야간인구, 주야간비(주간÷야간), 인구 1만 명당 이송률 세 가지로 KMeans를 적용했고 실루엣 계수가 k=4에서 0.40으로 가장 높았습니다. 주거 고수요형은 인구는 중간이지만 1만 명당 이송이 가장 높고, 대규모 거점형은 인구가 가장 많지만 이송률은 가장 낮습니다.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월별 평균을 전체 평균 100으로 놓고 비교했습니다. 7월 108.6, 8월 108.4로 평균보다 8% 이상 많고, 2월은 86.8로 가장 적습니다. 2월은 28일이라 생기는 차이도 포함되어 있습니다. 서울 전체를 시계열 분해하면 계절 효과의 폭(가장 많은 달과 가장 적은 달의 차이)이 5,835건으로 월평균 25,942건의 약 22%입니다. 그래서 월 정보와 작년 같은 달 이송 건수를 예측 입력으로 넣었습니다.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장은 모델 개발입니다. 예측 대상과 데이터 분할, 특성 실험, 모델 비교, 최종 모델과 미래 예측 순서로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이송 건수는 자치구별 월 단위, 인구 밀집은 자치구별 일 단위라 모델을 따로 만들었습니다. 시계열 자료를 무작위로 나누면 미래 정보가 학습에 섞이기 때문에 날짜로 잘랐습니다. 학습 데이터로 모델을 학습하고, 검증 데이터로 입력·설정·모델을 골랐으며, 평가 데이터는 모든 선택이 끝난 뒤 성능 확인에만 사용했습니다. 평가 점수는 학습+검증 자료로 다시 학습한 모델로 계산했습니다. 이송: 학습 1,880행, 검증 150행, 평가 150행. 인구: 학습 62,200행, 검증 4,500행, 평가 9,125행. 정확도는 100에서 평균 오차율(MAPE)을 뺀 값입니다.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기간 자료로 상관계수 절대값 0.30 이상인 인구 변수 9개를 후보로 골랐습니다. 입력 조합 5개를 만들어 LinearRegression, RandomForest, GradientBoosting으로 검증 정확도를 비교했고, 그래프는 조합별 최고 점수입니다. 이송 기록이 없을 때는 인구 정보가 도움이 됐지만(A 84.39% → C 88.03%), 이송 기록이 있으면 인구를 더해도 0.177%p 낮아졌습니다(D 94.96% → E 94.79%). 그래서 인구 변수를 추가하지 않고 전처리에서 고른 8개 입력을 유지했습니다. 이 8개에는 인구 변수 4개가 이미 포함되어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"몇 월인지"만으로는 설 연휴가 1월에 있는 해와 2월에 있는 해를 구분할 수 없습니다. 그래서 일수, 주말 수, 평일 공휴일 수, 명절 연휴 일수를 만들었습니다. 정답을 지난달과의 차이로 바꾸는 증감량 방식도 함께 실험했습니다. 4가지 설정을 검증 6개월 연속 예측 정확도로 비교했고, 그래프는 설정별 최고 점수입니다. 달력이 94.611%로 기본 93.885%보다 0.726%p 높아 채택했습니다. 기본보다 0.10%p 이상 좋을 때만 바꾸는 규칙을 적용했습니다. 평가 데이터는 사용하지 않았고, DNN은 학습 시간 문제로 제외했습니다.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세부 설정값입니다. Ridge alpha 이송 1.0 / 인구 1.0. DecisionTree max_depth 이송 6 / 인구 10. RandomForest 트리 300개·깊이 10 / 100개·15. GradientBoosting 300개·깊이 3·학습률 0.05 / 200개·깊이 4·기본 학습률. DNN 은닉층 64-32, 500 epochs, batch 32 / 128-64-32, 100 epochs, batch 256. DNN은 BatchNormalization, Dropout 0.2, L2 규제로 과적합을 막고, EarlyStopping으로 검증 손실이 더 줄지 않으면 학습을 멈춘 뒤 가장 좋았던 상태로 되돌렸습니다. 모든 입력은 학습 데이터 기준으로 표준화했습니다.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검증 점수로만 골랐습니다. 앙상블이 94.61%로 1위였고, 평가 데이터에서도 94.60%로 지난달 값을 그대로 쓰는 기준선(93.25%)보다 높았습니다. 앙상블은 GradientBoosting과 Ridge의 예측 평균입니다. 두 모델의 검증 오차 상관이 0.500으로 서로 다른 달에 틀리는 경향이 있어 평균을 내면 오차가 줄어듭니다. 앙상블의 검증 정확도는 GradientBoosting(94.35%)보다 0.26%p 높았습니다. LinearRegression은 검증 3위였지만 평가에서 87.87%로 떨어졌습니다. 참고로 검증 정확도가 낮은 6개 구(종로·동작·양천·중구·성북·금천)를 진단한 결과 5곳은 예측이 한쪽으로 치우친 "수준 변화형", 금천구는 월별 변동을 따라가지 못한 "변동형"이었습니다.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평가 기간(2025년 7~12월) 앙상블의 예측을 실제 값과 비교한 결과입니다. 왼쪽 산점도에서 점이 빨간 대각선에 가까울수록 정확한 예측입니다. 오른쪽은 자치구별 정확도로, 강서구가 98.7%로 가장 높고 양천구가 90.1%로 가장 낮습니다. 빗금 막대는 소방서 신설로 관할이 바뀐 구(광진·성동·구로·금천)입니다. 정확도가 낮은 구들은 예측이 한쪽으로 치우친 경우가 대부분이었습니다.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이송 건수가 많은 4개 구의 실제 값(실선)과 앙상블 예측(점선)입니다. 평가 기간 6개월 동안 전체적인 수준과 흐름은 따라가지만, 강남구 2025년 7월처럼 갑자기 크게 늘어난 달은 예측이 실제보다 낮게 나옵니다. 지난달 이송 건수의 중요도가 높은 모델 특성상 급격한 변화는 반영이 늦어지는 한계가 있습니다.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RandomForest가 검증 98.59%로 1위였고 평가 1년에서도 98.16%로 1위였습니다. 7일 전 같은 요일 값을 그대로 쓰는 기준선도 97.86%로 높기 때문에 평균 오차 인원으로 비교하면 차이가 더 잘 보입니다. RandomForest는 하루 평균 8,836명, 기준선은 12,015명 차이가 났습니다. 오차가 큰 날은 2025년 10월 6일(추석), 2026년 2월 16일(설 연휴) 등 명절 부근이었습니다.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평가 기간 1년(2025.08~2026.07) 동안 Random Forest의 일최대인구수 예측을 실제 값과 비교한 결과입니다. 점이 대각선에 촘촘히 모여 있어 대부분의 날에서 예측이 잘 맞았습니다. 오른쪽 자치구별 정확도에서 대부분의 구가 96% 이상이고, 중구(약 94%)·종로구·강남구 같은 도심·업무 지역이 상대적으로 낮습니다. 하루 평균 오차는 8,836명으로 7일 전 값을 그대로 쓰는 기준선(12,015명)보다 작습니다.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이송 건수는 앙상블 구성 모델 중 GradientBoosting 기준입니다. 지난달 이송 건수가 0.893으로 대부분을 차지했고, 생활인구 변수 4개 합은 0.015, 달력 특성 4개 합은 0.034입니다. 인구 밀집은 RandomForest 기준이며 7일 전 일최대인구수가 0.960입니다. 두 문제 모두 직전 시점의 같은 값이 가장 강한 단서이고 나머지 입력은 미세 보정 역할입니다. 그래프는 상위 6개만 표시했습니다.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모델은 검증으로 고르고 평가로 확인한 뒤, 전체 자료로 다시 학습해 저장했습니다. 저장 파일을 다시 불러와 결과가 같은지도 확인했습니다. 이송 건수는 2026년 1~6월 25개 구별 예측을 만들었고, 그래프는 25개 구 예측값의 월별 합계입니다. 인구 밀집 RandomForest도 전체 75,825행으로 다시 학습해 저장했지만, 이 노트북에는 인구 밀집 미래 예측 실행 결과가 포함되어 있지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전체 데이터로 다시 학습한 앙상블로 2026년 1~6월 이송 건수를 예측한 결과입니다. 파란 실선은 2024~2025년 실제 값, 빨간 점선은 미래 예측입니다. 6개월 예측 합계는 강남구 7,971건, 송파구 7,397건, 구로구 7,135건, 강서구 7,016건 순입니다. 예측도 과거와 같이 2월에 낮아졌다가 봄 이후 다시 늘어나는 계절 패턴을 보입니다.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장은 결론입니다. 최종 결과와 향후 연구 방향, 참고 자료를 정리합니다.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 API 수집을 자동화해 2017~2025년 자치구별 월 이송 자료를 모았고, 여러 형식의 자료를 자치구 × 날짜 기준으로 합쳐 학습 표 두 개를 만들었습니다. 이송 건수는 GradientBoosting과 Ridge 앙상블, 인구 밀집은 RandomForest를 선정했고 평가 정확도는 각각 94.6%, 98.2%입니다. 모델 선정 원칙은 과거 자료만 사용, 실험을 통한 특성 검증, 검증 데이터 기준 선택, 검증 성능 최우수 모델 선택입니다. 향후에는 실시간 구급차 이동 시간과 병원별 진료 가능 과목 자료를 결합해 최적 경로 안내와 병원 자동 배정으로 확장하고 현장 시범 운영으로 검증하는 것이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여섯 번째 장은 웹 서비스입니다. 서비스 전체 구성, 분석·예측 대시보드, 실시간 응급실 병상 관제 화면을 소개합니다.</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웹 서비스는 메인, 분석·예측, 병상 관제 세 화면으로 구성됩니다. 메인 화면에서 데이터 분석 차트·AI 예측 확인과 실시간 응급실 병상 관제 두 서비스로 바로 이동할 수 있고, 상단 공통 메뉴로 세 화면 사이를 오갈 수 있습니다. 분석·예측 화면은 앞에서 만든 모델의 결과를 대시보드로 보여 주고, 병상 관제 화면은 공공데이터 API로 서울시 응급실 가용병상을 받아 보여 줍니다. Flask로 서버를 구성하고 HTML/CSS(Tailwind), JavaScript, Chart.js로 화면을 만들었습니다.</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분석·예측 화면입니다. 1~6개월 중 예측 기간과 지역을 고르면 월평균 예상 이송량, 최고 피크 예상 월, 전년 대비 증가율 1위 지역, 모델 정확도가 핵심 지표로 표시됩니다. 캡처는 6개월·서울 전체 기준으로 월평균 23,542건, 피크는 2026년 5월(25,136건), 모델 정확도 94.60%(MAE 51.7건)입니다. 그래프는 과거 실적과 미래 예측을 함께 보여 주고, 자치구별 예상 수요 순위를 클릭하면 해당 구의 결과로 바뀝니다. 상세 분석을 펼치면 평가 기간 정확도, 생활인구 예측, 이송×인구 관계, 사고 유형·연령, 모델 명세를 확인할 수 있습니다. 분석 데이터는 2017.01~2025.12, 예측 기간은 2026.01~2026.06입니다.</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실시간 병상 관제 화면입니다. 서버가 공공데이터 API에서 23개 구의 응급실 가용병상을 받아 저장해 두고, 방문자는 저장된 값을 조회합니다. 갱신은 1시간 이상 간격으로 하루 최대 3회 이뤄지며, 공공데이터포털 일일 호출 한도(100회)를 넘지 않도록 관리합니다. 상단에서 관제 대상 자치구, 서울시 총 가용병상, 위험·주의 지역 수를 요약합니다. 캡처 시점(2026-10-02 12시경)에는 총 288석, 위험 5개 구, 주의 9개 구였습니다. 자치구나 병원 이름으로 검색하고, 권역과 위험도로 걸러 볼 수 있으며, 자치구별 카드에서 병원별 가용병상과 연락처, 갱신 시각을 확인합니다. 위험도는 자치구 가용병상 합계 기준으로 5석 이하 위험, 10석 이하 주의, 그 외 원활입니다. 강북구·마포구는 실시간 가용병상 API가 제공되지 않아 등록 응급실 병상 수(강북 3개 병원, 마포 1개 병원)와 인접 자치구의 실시간 정보를 함께 보여 줍니다. 병상 정보가 비어 있는 구도 인접 자치구 병원을 안내합니다.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chart" Target="../charts/char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chart" Target="../charts/char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chart" Target="../charts/char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8.xml"/><Relationship Id="rId4" Type="http://schemas.openxmlformats.org/officeDocument/2006/relationships/chart" Target="../charts/char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hart" Target="../charts/char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737360"/>
            <a:ext cx="10058400" cy="320040"/>
          </a:xfrm>
          <a:prstGeom prst="rect">
            <a:avLst/>
          </a:prstGeom>
          <a:noFill/>
          <a:ln/>
        </p:spPr>
        <p:txBody>
          <a:bodyPr wrap="square" lIns="0" tIns="0" rIns="0" bIns="0" rtlCol="0" anchor="ctr"/>
          <a:lstStyle/>
          <a:p>
            <a:pPr marL="0" indent="0">
              <a:buNone/>
            </a:pPr>
            <a:r>
              <a:rPr lang="en-US" sz="1400" kern="0" spc="200" dirty="0">
                <a:solidFill>
                  <a:srgbClr val="E87A7A"/>
                </a:solidFill>
                <a:latin typeface="에이투지체 5 Medium"/>
                <a:ea typeface="에이투지체 5 Medium"/>
                <a:cs typeface="에이투지체 5 Medium"/>
              </a:rPr>
              <a:t>SEOUL 119 EMS DEMAND FORECAST</a:t>
            </a:r>
            <a:endParaRPr lang="en-US" sz="1400" dirty="0"/>
          </a:p>
        </p:txBody>
      </p:sp>
      <p:sp>
        <p:nvSpPr>
          <p:cNvPr id="3" name="Text 1"/>
          <p:cNvSpPr txBox="1"/>
          <p:nvPr/>
        </p:nvSpPr>
        <p:spPr>
          <a:xfrm>
            <a:off x="822960" y="2148840"/>
            <a:ext cx="10515600" cy="868680"/>
          </a:xfrm>
          <a:prstGeom prst="rect">
            <a:avLst/>
          </a:prstGeom>
          <a:noFill/>
          <a:ln/>
        </p:spPr>
        <p:txBody>
          <a:bodyPr wrap="square" lIns="0" tIns="0" rIns="0" bIns="0" rtlCol="0" anchor="ctr"/>
          <a:lstStyle/>
          <a:p>
            <a:pPr marL="0" indent="0">
              <a:buNone/>
            </a:pPr>
            <a:r>
              <a:rPr lang="en-US" sz="5200" b="1" dirty="0">
                <a:solidFill>
                  <a:srgbClr val="FFFFFF"/>
                </a:solidFill>
                <a:latin typeface="에이투지체 6 SemiBold"/>
                <a:ea typeface="에이투지체 6 SemiBold"/>
                <a:cs typeface="에이투지체 6 SemiBold"/>
              </a:rPr>
              <a:t>서울시 119 구급 수요 예측</a:t>
            </a:r>
            <a:endParaRPr lang="en-US" sz="5200" dirty="0"/>
          </a:p>
        </p:txBody>
      </p:sp>
      <p:sp>
        <p:nvSpPr>
          <p:cNvPr id="4" name="Text 2"/>
          <p:cNvSpPr txBox="1"/>
          <p:nvPr/>
        </p:nvSpPr>
        <p:spPr>
          <a:xfrm>
            <a:off x="822960" y="310896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자치구별 이송 건수 및 인구 밀집 예측 모델 개발</a:t>
            </a:r>
            <a:endParaRPr lang="en-US" sz="2200" dirty="0"/>
          </a:p>
        </p:txBody>
      </p:sp>
      <p:sp>
        <p:nvSpPr>
          <p:cNvPr id="1144" name="Add 1144"/>
          <p:cNvSpPr/>
          <p:nvPr/>
        </p:nvSpPr>
        <p:spPr>
          <a:xfrm>
            <a:off x="822960" y="4206240"/>
            <a:ext cx="1481328" cy="420624"/>
          </a:xfrm>
          <a:prstGeom prst="roundRect">
            <a:avLst>
              <a:gd name="adj" fmla="val 50000"/>
            </a:avLst>
          </a:prstGeom>
          <a:solidFill>
            <a:srgbClr val="2A313B"/>
          </a:solidFill>
          <a:ln>
            <a:noFill/>
          </a:ln>
        </p:spPr>
        <p:txBody>
          <a:bodyPr/>
          <a:p/>
        </p:txBody>
      </p:sp>
      <p:sp>
        <p:nvSpPr>
          <p:cNvPr id="1145" name="Add 1145"/>
          <p:cNvSpPr txBox="1"/>
          <p:nvPr/>
        </p:nvSpPr>
        <p:spPr>
          <a:xfrm>
            <a:off x="822960"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데이터 수집</a:t>
            </a:r>
          </a:p>
        </p:txBody>
      </p:sp>
      <p:sp>
        <p:nvSpPr>
          <p:cNvPr id="1146" name="Add 1146"/>
          <p:cNvSpPr/>
          <p:nvPr/>
        </p:nvSpPr>
        <p:spPr>
          <a:xfrm>
            <a:off x="2331720" y="4416552"/>
            <a:ext cx="219456" cy="0"/>
          </a:xfrm>
          <a:prstGeom prst="line">
            <a:avLst/>
          </a:prstGeom>
          <a:ln w="15875">
            <a:solidFill>
              <a:srgbClr val="6B7280"/>
            </a:solidFill>
            <a:tailEnd type="triangle"/>
          </a:ln>
        </p:spPr>
        <p:txBody>
          <a:bodyPr/>
          <a:p/>
        </p:txBody>
      </p:sp>
      <p:sp>
        <p:nvSpPr>
          <p:cNvPr id="1147" name="Add 1147"/>
          <p:cNvSpPr/>
          <p:nvPr/>
        </p:nvSpPr>
        <p:spPr>
          <a:xfrm>
            <a:off x="2578608" y="4206240"/>
            <a:ext cx="1481328" cy="420624"/>
          </a:xfrm>
          <a:prstGeom prst="roundRect">
            <a:avLst>
              <a:gd name="adj" fmla="val 50000"/>
            </a:avLst>
          </a:prstGeom>
          <a:solidFill>
            <a:srgbClr val="2A313B"/>
          </a:solidFill>
          <a:ln>
            <a:noFill/>
          </a:ln>
        </p:spPr>
        <p:txBody>
          <a:bodyPr/>
          <a:p/>
        </p:txBody>
      </p:sp>
      <p:sp>
        <p:nvSpPr>
          <p:cNvPr id="1148" name="Add 1148"/>
          <p:cNvSpPr txBox="1"/>
          <p:nvPr/>
        </p:nvSpPr>
        <p:spPr>
          <a:xfrm>
            <a:off x="2578608"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전처리</a:t>
            </a:r>
          </a:p>
        </p:txBody>
      </p:sp>
      <p:sp>
        <p:nvSpPr>
          <p:cNvPr id="1149" name="Add 1149"/>
          <p:cNvSpPr/>
          <p:nvPr/>
        </p:nvSpPr>
        <p:spPr>
          <a:xfrm>
            <a:off x="4087368" y="4416552"/>
            <a:ext cx="219456" cy="0"/>
          </a:xfrm>
          <a:prstGeom prst="line">
            <a:avLst/>
          </a:prstGeom>
          <a:ln w="15875">
            <a:solidFill>
              <a:srgbClr val="6B7280"/>
            </a:solidFill>
            <a:tailEnd type="triangle"/>
          </a:ln>
        </p:spPr>
        <p:txBody>
          <a:bodyPr/>
          <a:p/>
        </p:txBody>
      </p:sp>
      <p:sp>
        <p:nvSpPr>
          <p:cNvPr id="1150" name="Add 1150"/>
          <p:cNvSpPr/>
          <p:nvPr/>
        </p:nvSpPr>
        <p:spPr>
          <a:xfrm>
            <a:off x="4334256" y="4206240"/>
            <a:ext cx="1481328" cy="420624"/>
          </a:xfrm>
          <a:prstGeom prst="roundRect">
            <a:avLst>
              <a:gd name="adj" fmla="val 50000"/>
            </a:avLst>
          </a:prstGeom>
          <a:solidFill>
            <a:srgbClr val="2A313B"/>
          </a:solidFill>
          <a:ln>
            <a:noFill/>
          </a:ln>
        </p:spPr>
        <p:txBody>
          <a:bodyPr/>
          <a:p/>
        </p:txBody>
      </p:sp>
      <p:sp>
        <p:nvSpPr>
          <p:cNvPr id="1151" name="Add 1151"/>
          <p:cNvSpPr txBox="1"/>
          <p:nvPr/>
        </p:nvSpPr>
        <p:spPr>
          <a:xfrm>
            <a:off x="4334256"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분석</a:t>
            </a:r>
          </a:p>
        </p:txBody>
      </p:sp>
      <p:sp>
        <p:nvSpPr>
          <p:cNvPr id="1152" name="Add 1152"/>
          <p:cNvSpPr/>
          <p:nvPr/>
        </p:nvSpPr>
        <p:spPr>
          <a:xfrm>
            <a:off x="5843016" y="4416552"/>
            <a:ext cx="219456" cy="0"/>
          </a:xfrm>
          <a:prstGeom prst="line">
            <a:avLst/>
          </a:prstGeom>
          <a:ln w="15875">
            <a:solidFill>
              <a:srgbClr val="6B7280"/>
            </a:solidFill>
            <a:tailEnd type="triangle"/>
          </a:ln>
        </p:spPr>
        <p:txBody>
          <a:bodyPr/>
          <a:p/>
        </p:txBody>
      </p:sp>
      <p:sp>
        <p:nvSpPr>
          <p:cNvPr id="1153" name="Add 1153"/>
          <p:cNvSpPr/>
          <p:nvPr/>
        </p:nvSpPr>
        <p:spPr>
          <a:xfrm>
            <a:off x="6089904" y="4206240"/>
            <a:ext cx="1481328" cy="420624"/>
          </a:xfrm>
          <a:prstGeom prst="roundRect">
            <a:avLst>
              <a:gd name="adj" fmla="val 50000"/>
            </a:avLst>
          </a:prstGeom>
          <a:solidFill>
            <a:srgbClr val="D62828"/>
          </a:solidFill>
          <a:ln>
            <a:noFill/>
          </a:ln>
        </p:spPr>
        <p:txBody>
          <a:bodyPr/>
          <a:p/>
        </p:txBody>
      </p:sp>
      <p:sp>
        <p:nvSpPr>
          <p:cNvPr id="1154" name="Add 1154"/>
          <p:cNvSpPr txBox="1"/>
          <p:nvPr/>
        </p:nvSpPr>
        <p:spPr>
          <a:xfrm>
            <a:off x="6089904"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모델 개발</a:t>
            </a:r>
          </a:p>
        </p:txBody>
      </p:sp>
      <p:sp>
        <p:nvSpPr>
          <p:cNvPr id="1155" name="Add 1155"/>
          <p:cNvSpPr/>
          <p:nvPr/>
        </p:nvSpPr>
        <p:spPr>
          <a:xfrm>
            <a:off x="7598664" y="4416552"/>
            <a:ext cx="219456" cy="0"/>
          </a:xfrm>
          <a:prstGeom prst="line">
            <a:avLst/>
          </a:prstGeom>
          <a:ln w="15875">
            <a:solidFill>
              <a:srgbClr val="6B7280"/>
            </a:solidFill>
            <a:tailEnd type="triangle"/>
          </a:ln>
        </p:spPr>
        <p:txBody>
          <a:bodyPr/>
          <a:p/>
        </p:txBody>
      </p:sp>
      <p:sp>
        <p:nvSpPr>
          <p:cNvPr id="1156" name="Add 1156"/>
          <p:cNvSpPr/>
          <p:nvPr/>
        </p:nvSpPr>
        <p:spPr>
          <a:xfrm>
            <a:off x="7845552" y="4206240"/>
            <a:ext cx="1481328" cy="420624"/>
          </a:xfrm>
          <a:prstGeom prst="roundRect">
            <a:avLst>
              <a:gd name="adj" fmla="val 50000"/>
            </a:avLst>
          </a:prstGeom>
          <a:solidFill>
            <a:srgbClr val="2A313B"/>
          </a:solidFill>
          <a:ln>
            <a:noFill/>
          </a:ln>
        </p:spPr>
        <p:txBody>
          <a:bodyPr/>
          <a:p/>
        </p:txBody>
      </p:sp>
      <p:sp>
        <p:nvSpPr>
          <p:cNvPr id="1157" name="Add 1157"/>
          <p:cNvSpPr txBox="1"/>
          <p:nvPr/>
        </p:nvSpPr>
        <p:spPr>
          <a:xfrm>
            <a:off x="7845552"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웹 서비스</a:t>
            </a:r>
          </a:p>
        </p:txBody>
      </p:sp>
      <p:sp>
        <p:nvSpPr>
          <p:cNvPr id="1158" name="Add 1158"/>
          <p:cNvSpPr/>
          <p:nvPr/>
        </p:nvSpPr>
        <p:spPr>
          <a:xfrm>
            <a:off x="9354312" y="4416552"/>
            <a:ext cx="219456" cy="0"/>
          </a:xfrm>
          <a:prstGeom prst="line">
            <a:avLst/>
          </a:prstGeom>
          <a:ln w="15875">
            <a:solidFill>
              <a:srgbClr val="6B7280"/>
            </a:solidFill>
            <a:tailEnd type="triangle"/>
          </a:ln>
        </p:spPr>
        <p:txBody>
          <a:bodyPr/>
          <a:p/>
        </p:txBody>
      </p:sp>
      <p:sp>
        <p:nvSpPr>
          <p:cNvPr id="1159" name="Add 1159"/>
          <p:cNvSpPr/>
          <p:nvPr/>
        </p:nvSpPr>
        <p:spPr>
          <a:xfrm>
            <a:off x="9601200" y="4206240"/>
            <a:ext cx="1481328" cy="420624"/>
          </a:xfrm>
          <a:prstGeom prst="roundRect">
            <a:avLst>
              <a:gd name="adj" fmla="val 50000"/>
            </a:avLst>
          </a:prstGeom>
          <a:solidFill>
            <a:srgbClr val="2A313B"/>
          </a:solidFill>
          <a:ln>
            <a:noFill/>
          </a:ln>
        </p:spPr>
        <p:txBody>
          <a:bodyPr/>
          <a:p/>
        </p:txBody>
      </p:sp>
      <p:sp>
        <p:nvSpPr>
          <p:cNvPr id="1160" name="Add 1160"/>
          <p:cNvSpPr txBox="1"/>
          <p:nvPr/>
        </p:nvSpPr>
        <p:spPr>
          <a:xfrm>
            <a:off x="9601200"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결론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목차</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목차</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프로젝트 소개 → 데이터 수집 → 전처리 → 분석 → 모델 개발 → 웹 서비스 → 결론</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02</a:t>
            </a:r>
            <a:endParaRPr lang="en-US" sz="900" dirty="0"/>
          </a:p>
        </p:txBody>
      </p:sp>
      <p:sp>
        <p:nvSpPr>
          <p:cNvPr id="1116" name="Add 1116"/>
          <p:cNvSpPr/>
          <p:nvPr/>
        </p:nvSpPr>
        <p:spPr>
          <a:xfrm>
            <a:off x="457200" y="1993392"/>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17" name="Add 1117"/>
          <p:cNvSpPr txBox="1"/>
          <p:nvPr/>
        </p:nvSpPr>
        <p:spPr>
          <a:xfrm>
            <a:off x="731520" y="222199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00</a:t>
            </a:r>
          </a:p>
        </p:txBody>
      </p:sp>
      <p:sp>
        <p:nvSpPr>
          <p:cNvPr id="1118" name="Add 1118"/>
          <p:cNvSpPr txBox="1"/>
          <p:nvPr/>
        </p:nvSpPr>
        <p:spPr>
          <a:xfrm>
            <a:off x="731520" y="2862072"/>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프로젝트 소개</a:t>
            </a:r>
          </a:p>
        </p:txBody>
      </p:sp>
      <p:sp>
        <p:nvSpPr>
          <p:cNvPr id="1119" name="Add 1119"/>
          <p:cNvSpPr txBox="1"/>
          <p:nvPr/>
        </p:nvSpPr>
        <p:spPr>
          <a:xfrm>
            <a:off x="731520" y="3319272"/>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개발 목표 · 환경 · 일정 · 업무 분담</a:t>
            </a:r>
          </a:p>
        </p:txBody>
      </p:sp>
      <p:sp>
        <p:nvSpPr>
          <p:cNvPr id="1120" name="Add 1120"/>
          <p:cNvSpPr/>
          <p:nvPr/>
        </p:nvSpPr>
        <p:spPr>
          <a:xfrm>
            <a:off x="3322015" y="1993392"/>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21" name="Add 1121"/>
          <p:cNvSpPr txBox="1"/>
          <p:nvPr/>
        </p:nvSpPr>
        <p:spPr>
          <a:xfrm>
            <a:off x="3596335" y="222199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01</a:t>
            </a:r>
          </a:p>
        </p:txBody>
      </p:sp>
      <p:sp>
        <p:nvSpPr>
          <p:cNvPr id="1122" name="Add 1122"/>
          <p:cNvSpPr txBox="1"/>
          <p:nvPr/>
        </p:nvSpPr>
        <p:spPr>
          <a:xfrm>
            <a:off x="3596335" y="2862072"/>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수집</a:t>
            </a:r>
          </a:p>
        </p:txBody>
      </p:sp>
      <p:sp>
        <p:nvSpPr>
          <p:cNvPr id="1123" name="Add 1123"/>
          <p:cNvSpPr txBox="1"/>
          <p:nvPr/>
        </p:nvSpPr>
        <p:spPr>
          <a:xfrm>
            <a:off x="3596335" y="3319272"/>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자료 구성 · 제외 기준 · API 수집</a:t>
            </a:r>
          </a:p>
        </p:txBody>
      </p:sp>
      <p:sp>
        <p:nvSpPr>
          <p:cNvPr id="1124" name="Add 1124"/>
          <p:cNvSpPr/>
          <p:nvPr/>
        </p:nvSpPr>
        <p:spPr>
          <a:xfrm>
            <a:off x="6186830" y="1993392"/>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25" name="Add 1125"/>
          <p:cNvSpPr txBox="1"/>
          <p:nvPr/>
        </p:nvSpPr>
        <p:spPr>
          <a:xfrm>
            <a:off x="6461150" y="222199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02</a:t>
            </a:r>
          </a:p>
        </p:txBody>
      </p:sp>
      <p:sp>
        <p:nvSpPr>
          <p:cNvPr id="1126" name="Add 1126"/>
          <p:cNvSpPr txBox="1"/>
          <p:nvPr/>
        </p:nvSpPr>
        <p:spPr>
          <a:xfrm>
            <a:off x="6461150" y="2862072"/>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전처리</a:t>
            </a:r>
          </a:p>
        </p:txBody>
      </p:sp>
      <p:sp>
        <p:nvSpPr>
          <p:cNvPr id="1127" name="Add 1127"/>
          <p:cNvSpPr txBox="1"/>
          <p:nvPr/>
        </p:nvSpPr>
        <p:spPr>
          <a:xfrm>
            <a:off x="6461150" y="3319272"/>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형식 통일 · 결측 처리 · 통합 · 변수 선택</a:t>
            </a:r>
          </a:p>
        </p:txBody>
      </p:sp>
      <p:sp>
        <p:nvSpPr>
          <p:cNvPr id="1128" name="Add 1128"/>
          <p:cNvSpPr/>
          <p:nvPr/>
        </p:nvSpPr>
        <p:spPr>
          <a:xfrm>
            <a:off x="9051646" y="1993392"/>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29" name="Add 1129"/>
          <p:cNvSpPr txBox="1"/>
          <p:nvPr/>
        </p:nvSpPr>
        <p:spPr>
          <a:xfrm>
            <a:off x="9325966" y="222199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03</a:t>
            </a:r>
          </a:p>
        </p:txBody>
      </p:sp>
      <p:sp>
        <p:nvSpPr>
          <p:cNvPr id="1130" name="Add 1130"/>
          <p:cNvSpPr txBox="1"/>
          <p:nvPr/>
        </p:nvSpPr>
        <p:spPr>
          <a:xfrm>
            <a:off x="9325966" y="2862072"/>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분석</a:t>
            </a:r>
          </a:p>
        </p:txBody>
      </p:sp>
      <p:sp>
        <p:nvSpPr>
          <p:cNvPr id="1131" name="Add 1131"/>
          <p:cNvSpPr txBox="1"/>
          <p:nvPr/>
        </p:nvSpPr>
        <p:spPr>
          <a:xfrm>
            <a:off x="9325966" y="3319272"/>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인구-이송 관계 · 자치구 유형 · 계절성</a:t>
            </a:r>
          </a:p>
        </p:txBody>
      </p:sp>
      <p:sp>
        <p:nvSpPr>
          <p:cNvPr id="1132" name="Add 1132"/>
          <p:cNvSpPr/>
          <p:nvPr/>
        </p:nvSpPr>
        <p:spPr>
          <a:xfrm>
            <a:off x="457200" y="4187952"/>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33" name="Add 1133"/>
          <p:cNvSpPr txBox="1"/>
          <p:nvPr/>
        </p:nvSpPr>
        <p:spPr>
          <a:xfrm>
            <a:off x="731520" y="441655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04</a:t>
            </a:r>
          </a:p>
        </p:txBody>
      </p:sp>
      <p:sp>
        <p:nvSpPr>
          <p:cNvPr id="1134" name="Add 1134"/>
          <p:cNvSpPr txBox="1"/>
          <p:nvPr/>
        </p:nvSpPr>
        <p:spPr>
          <a:xfrm>
            <a:off x="731520" y="5056632"/>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모델 개발</a:t>
            </a:r>
          </a:p>
        </p:txBody>
      </p:sp>
      <p:sp>
        <p:nvSpPr>
          <p:cNvPr id="1135" name="Add 1135"/>
          <p:cNvSpPr txBox="1"/>
          <p:nvPr/>
        </p:nvSpPr>
        <p:spPr>
          <a:xfrm>
            <a:off x="731520" y="5513832"/>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데이터 분할 · 특성 실험 · 모델 비교</a:t>
            </a:r>
          </a:p>
        </p:txBody>
      </p:sp>
      <p:sp>
        <p:nvSpPr>
          <p:cNvPr id="1136" name="Add 1136"/>
          <p:cNvSpPr/>
          <p:nvPr/>
        </p:nvSpPr>
        <p:spPr>
          <a:xfrm>
            <a:off x="4277563" y="4187952"/>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37" name="Add 1137"/>
          <p:cNvSpPr txBox="1"/>
          <p:nvPr/>
        </p:nvSpPr>
        <p:spPr>
          <a:xfrm>
            <a:off x="4551883" y="441655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05</a:t>
            </a:r>
          </a:p>
        </p:txBody>
      </p:sp>
      <p:sp>
        <p:nvSpPr>
          <p:cNvPr id="1138" name="Add 1138"/>
          <p:cNvSpPr txBox="1"/>
          <p:nvPr/>
        </p:nvSpPr>
        <p:spPr>
          <a:xfrm>
            <a:off x="4551883" y="5056632"/>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웹 서비스</a:t>
            </a:r>
          </a:p>
        </p:txBody>
      </p:sp>
      <p:sp>
        <p:nvSpPr>
          <p:cNvPr id="1139" name="Add 1139"/>
          <p:cNvSpPr txBox="1"/>
          <p:nvPr/>
        </p:nvSpPr>
        <p:spPr>
          <a:xfrm>
            <a:off x="4551883" y="5513832"/>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서비스 구성 · 예측 대시보드 · 병상 관제</a:t>
            </a:r>
          </a:p>
        </p:txBody>
      </p:sp>
      <p:sp>
        <p:nvSpPr>
          <p:cNvPr id="1140" name="Add 1140"/>
          <p:cNvSpPr/>
          <p:nvPr/>
        </p:nvSpPr>
        <p:spPr>
          <a:xfrm>
            <a:off x="8097926" y="4187952"/>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p/>
        </p:txBody>
      </p:sp>
      <p:sp>
        <p:nvSpPr>
          <p:cNvPr id="1141" name="Add 1141"/>
          <p:cNvSpPr txBox="1"/>
          <p:nvPr/>
        </p:nvSpPr>
        <p:spPr>
          <a:xfrm>
            <a:off x="8372246" y="4416552"/>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06</a:t>
            </a:r>
          </a:p>
        </p:txBody>
      </p:sp>
      <p:sp>
        <p:nvSpPr>
          <p:cNvPr id="1142" name="Add 1142"/>
          <p:cNvSpPr txBox="1"/>
          <p:nvPr/>
        </p:nvSpPr>
        <p:spPr>
          <a:xfrm>
            <a:off x="8372246" y="5056632"/>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결론</a:t>
            </a:r>
          </a:p>
        </p:txBody>
      </p:sp>
      <p:sp>
        <p:nvSpPr>
          <p:cNvPr id="1143" name="Add 1143"/>
          <p:cNvSpPr txBox="1"/>
          <p:nvPr/>
        </p:nvSpPr>
        <p:spPr>
          <a:xfrm>
            <a:off x="8372246" y="5513832"/>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최종 결과 · 향후 연구 방향 · 참고 자료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00</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프로젝트 소개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개발 목표와 개발 환경, 프로젝트 일정 및 업무 분담</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개발 목표 및 개발 환경</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프로젝트 일정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업무 분담 및 간트 차트</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개발 목표 및 개발 환경</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예측 기반 구급차 배치 지원 및 응급의료 정보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a:t>
            </a:r>
            <a:endParaRPr lang="en-US" sz="900" dirty="0"/>
          </a:p>
        </p:txBody>
      </p:sp>
      <p:sp>
        <p:nvSpPr>
          <p:cNvPr id="8" name="Shape 5"/>
          <p:cNvSpPr/>
          <p:nvPr/>
        </p:nvSpPr>
        <p:spPr>
          <a:xfrm>
            <a:off x="457200" y="1993392"/>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9" name="Text 6"/>
          <p:cNvSpPr txBox="1"/>
          <p:nvPr/>
        </p:nvSpPr>
        <p:spPr>
          <a:xfrm>
            <a:off x="676656" y="2176272"/>
            <a:ext cx="3198266" cy="457200"/>
          </a:xfrm>
          <a:prstGeom prst="rect">
            <a:avLst/>
          </a:prstGeom>
          <a:noFill/>
          <a:ln/>
        </p:spPr>
        <p:txBody>
          <a:bodyPr wrap="square" lIns="0" tIns="0" rIns="0" bIns="0" rtlCol="0" anchor="ctr"/>
          <a:lstStyle/>
          <a:p>
            <a:pPr marL="0" indent="0" algn="ctr">
              <a:buNone/>
            </a:pPr>
            <a:r>
              <a:rPr lang="en-US" sz="2800" dirty="0">
                <a:solidFill>
                  <a:srgbClr val="FFFFFF"/>
                </a:solidFill>
                <a:latin typeface="에이투지체 5 Medium"/>
                <a:ea typeface="에이투지체 5 Medium"/>
                <a:cs typeface="에이투지체 5 Medium"/>
              </a:rPr>
              <a:t>01</a:t>
            </a:r>
            <a:endParaRPr lang="en-US" sz="2800" dirty="0"/>
          </a:p>
        </p:txBody>
      </p:sp>
      <p:sp>
        <p:nvSpPr>
          <p:cNvPr id="10" name="Text 7"/>
          <p:cNvSpPr txBox="1"/>
          <p:nvPr/>
        </p:nvSpPr>
        <p:spPr>
          <a:xfrm>
            <a:off x="676656" y="2670048"/>
            <a:ext cx="3198266"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구급 수요 예측</a:t>
            </a:r>
            <a:endParaRPr lang="en-US" sz="1600" dirty="0"/>
          </a:p>
        </p:txBody>
      </p:sp>
      <p:sp>
        <p:nvSpPr>
          <p:cNvPr id="11" name="Shape 8"/>
          <p:cNvSpPr/>
          <p:nvPr/>
        </p:nvSpPr>
        <p:spPr>
          <a:xfrm>
            <a:off x="676656" y="3090672"/>
            <a:ext cx="3198266" cy="0"/>
          </a:xfrm>
          <a:prstGeom prst="line">
            <a:avLst/>
          </a:prstGeom>
          <a:noFill/>
          <a:ln w="9525">
            <a:solidFill>
              <a:srgbClr val="E87A7A"/>
            </a:solidFill>
            <a:prstDash val="solid"/>
          </a:ln>
        </p:spPr>
        <p:txBody>
          <a:bodyPr/>
          <a:lstStyle/>
          <a:p>
            <a:endParaRPr/>
          </a:p>
        </p:txBody>
      </p:sp>
      <p:sp>
        <p:nvSpPr>
          <p:cNvPr id="12" name="Text 9"/>
          <p:cNvSpPr txBox="1"/>
          <p:nvPr/>
        </p:nvSpPr>
        <p:spPr>
          <a:xfrm>
            <a:off x="676656" y="3200400"/>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자치구별 구급 수요 · 생활인구 패턴 분석 및 미래 수요 예측</a:t>
            </a:r>
            <a:endParaRPr lang="en-US" sz="1100" dirty="0"/>
          </a:p>
        </p:txBody>
      </p:sp>
      <p:sp>
        <p:nvSpPr>
          <p:cNvPr id="13" name="Shape 10"/>
          <p:cNvSpPr/>
          <p:nvPr/>
        </p:nvSpPr>
        <p:spPr>
          <a:xfrm>
            <a:off x="4277258"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4496714"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02</a:t>
            </a:r>
            <a:endParaRPr lang="en-US" sz="2800" dirty="0"/>
          </a:p>
        </p:txBody>
      </p:sp>
      <p:sp>
        <p:nvSpPr>
          <p:cNvPr id="15" name="Text 12"/>
          <p:cNvSpPr txBox="1"/>
          <p:nvPr/>
        </p:nvSpPr>
        <p:spPr>
          <a:xfrm>
            <a:off x="4496714"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구급차 배치 지원</a:t>
            </a:r>
            <a:endParaRPr lang="en-US" sz="1600" dirty="0"/>
          </a:p>
        </p:txBody>
      </p:sp>
      <p:sp>
        <p:nvSpPr>
          <p:cNvPr id="16" name="Shape 13"/>
          <p:cNvSpPr/>
          <p:nvPr/>
        </p:nvSpPr>
        <p:spPr>
          <a:xfrm>
            <a:off x="4496714" y="3090672"/>
            <a:ext cx="3198266" cy="0"/>
          </a:xfrm>
          <a:prstGeom prst="line">
            <a:avLst/>
          </a:prstGeom>
          <a:noFill/>
          <a:ln w="9525">
            <a:solidFill>
              <a:srgbClr val="E5E7EB"/>
            </a:solidFill>
            <a:prstDash val="solid"/>
          </a:ln>
        </p:spPr>
        <p:txBody>
          <a:bodyPr/>
          <a:lstStyle/>
          <a:p>
            <a:endParaRPr/>
          </a:p>
        </p:txBody>
      </p:sp>
      <p:sp>
        <p:nvSpPr>
          <p:cNvPr id="17" name="Text 14"/>
          <p:cNvSpPr txBox="1"/>
          <p:nvPr/>
        </p:nvSpPr>
        <p:spPr>
          <a:xfrm>
            <a:off x="4496714"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지역 · 시기별 예측 결과 기반 구급차 배치 판단 지원</a:t>
            </a:r>
            <a:endParaRPr lang="en-US" sz="1100" dirty="0"/>
          </a:p>
        </p:txBody>
      </p:sp>
      <p:sp>
        <p:nvSpPr>
          <p:cNvPr id="18" name="Shape 15"/>
          <p:cNvSpPr/>
          <p:nvPr/>
        </p:nvSpPr>
        <p:spPr>
          <a:xfrm>
            <a:off x="8097317"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8316773"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03</a:t>
            </a:r>
            <a:endParaRPr lang="en-US" sz="2800" dirty="0"/>
          </a:p>
        </p:txBody>
      </p:sp>
      <p:sp>
        <p:nvSpPr>
          <p:cNvPr id="20" name="Text 17"/>
          <p:cNvSpPr txBox="1"/>
          <p:nvPr/>
        </p:nvSpPr>
        <p:spPr>
          <a:xfrm>
            <a:off x="8316773"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응급의료 정보 통합</a:t>
            </a:r>
            <a:endParaRPr lang="en-US" sz="1600" dirty="0"/>
          </a:p>
        </p:txBody>
      </p:sp>
      <p:sp>
        <p:nvSpPr>
          <p:cNvPr id="21" name="Shape 18"/>
          <p:cNvSpPr/>
          <p:nvPr/>
        </p:nvSpPr>
        <p:spPr>
          <a:xfrm>
            <a:off x="8316773" y="3090672"/>
            <a:ext cx="3198266" cy="0"/>
          </a:xfrm>
          <a:prstGeom prst="line">
            <a:avLst/>
          </a:prstGeom>
          <a:noFill/>
          <a:ln w="9525">
            <a:solidFill>
              <a:srgbClr val="E5E7EB"/>
            </a:solidFill>
            <a:prstDash val="solid"/>
          </a:ln>
        </p:spPr>
        <p:txBody>
          <a:bodyPr/>
          <a:lstStyle/>
          <a:p>
            <a:endParaRPr/>
          </a:p>
        </p:txBody>
      </p:sp>
      <p:sp>
        <p:nvSpPr>
          <p:cNvPr id="22" name="Text 19"/>
          <p:cNvSpPr txBox="1"/>
          <p:nvPr/>
        </p:nvSpPr>
        <p:spPr>
          <a:xfrm>
            <a:off x="8316773"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응급실 · 실시간 가용병상 정보 연계 웹 서비스 구축</a:t>
            </a:r>
            <a:endParaRPr lang="en-US" sz="1100" dirty="0"/>
          </a:p>
        </p:txBody>
      </p:sp>
      <p:sp>
        <p:nvSpPr>
          <p:cNvPr id="23" name="Shape 20"/>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개발 환경</a:t>
            </a:r>
            <a:endParaRPr lang="en-US" sz="1800" dirty="0"/>
          </a:p>
        </p:txBody>
      </p:sp>
      <p:sp>
        <p:nvSpPr>
          <p:cNvPr id="25" name="Shape 22"/>
          <p:cNvSpPr/>
          <p:nvPr/>
        </p:nvSpPr>
        <p:spPr>
          <a:xfrm>
            <a:off x="676656" y="4663440"/>
            <a:ext cx="5108753" cy="0"/>
          </a:xfrm>
          <a:prstGeom prst="line">
            <a:avLst/>
          </a:prstGeom>
          <a:noFill/>
          <a:ln w="9525">
            <a:solidFill>
              <a:srgbClr val="E5E7EB"/>
            </a:solidFill>
            <a:prstDash val="solid"/>
          </a:ln>
        </p:spPr>
        <p:txBody>
          <a:bodyPr/>
          <a:lstStyle/>
          <a:p>
            <a:endParaRPr/>
          </a:p>
        </p:txBody>
      </p:sp>
      <p:sp>
        <p:nvSpPr>
          <p:cNvPr id="26" name="Text 23"/>
          <p:cNvSpPr txBox="1"/>
          <p:nvPr/>
        </p:nvSpPr>
        <p:spPr>
          <a:xfrm>
            <a:off x="676656"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운영체제 · 언어: Windows · Python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개발 도구: Visual Studio Code</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데이터 처리: Pandas · NumPy</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시각화: Matplotlib · Seaborn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머신러닝 · 딥러닝: Scikit-learn · TensorFlow / Keras</a:t>
            </a:r>
            <a:endParaRPr lang="en-US" sz="1200" dirty="0"/>
          </a:p>
        </p:txBody>
      </p:sp>
      <p:sp>
        <p:nvSpPr>
          <p:cNvPr id="27" name="Shape 24"/>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8" name="Text 25"/>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비교 모델</a:t>
            </a:r>
            <a:endParaRPr lang="en-US" sz="1800" dirty="0"/>
          </a:p>
        </p:txBody>
      </p:sp>
      <p:sp>
        <p:nvSpPr>
          <p:cNvPr id="29" name="Shape 26"/>
          <p:cNvSpPr/>
          <p:nvPr/>
        </p:nvSpPr>
        <p:spPr>
          <a:xfrm>
            <a:off x="6407201" y="4663440"/>
            <a:ext cx="5108753" cy="0"/>
          </a:xfrm>
          <a:prstGeom prst="line">
            <a:avLst/>
          </a:prstGeom>
          <a:noFill/>
          <a:ln w="9525">
            <a:solidFill>
              <a:srgbClr val="E5E7EB"/>
            </a:solidFill>
            <a:prstDash val="solid"/>
          </a:ln>
        </p:spPr>
        <p:txBody>
          <a:bodyPr/>
          <a:lstStyle/>
          <a:p>
            <a:endParaRPr/>
          </a:p>
        </p:txBody>
      </p:sp>
      <p:sp>
        <p:nvSpPr>
          <p:cNvPr id="30" name="Text 27"/>
          <p:cNvSpPr txBox="1"/>
          <p:nvPr/>
        </p:nvSpPr>
        <p:spPr>
          <a:xfrm>
            <a:off x="6407201"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Linear Regression · Ridge Regression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Decision Tree · Random Forest</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Gradient Boosting</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DNN (Deep Neural Network)</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이송 건수: Gradient Boosting + Ridge 앙상블 추가</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프로젝트 일정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기획 · 데이터 수집 → 전처리 · 분석 → 모델링 · 웹 구현 → 평가 · 발표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 (프로젝트 타임라인)</a:t>
            </a:r>
            <a:endParaRPr lang="en-US" sz="900" dirty="0"/>
          </a:p>
        </p:txBody>
      </p:sp>
      <p:sp>
        <p:nvSpPr>
          <p:cNvPr id="8" name="Shape 5"/>
          <p:cNvSpPr/>
          <p:nvPr/>
        </p:nvSpPr>
        <p:spPr>
          <a:xfrm>
            <a:off x="457200" y="1993392"/>
            <a:ext cx="11277295"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pic>
        <p:nvPicPr>
          <p:cNvPr id="9" name="Image 0" descr="tl.png"/>
          <p:cNvPicPr>
            <a:picLocks noChangeAspect="1"/>
          </p:cNvPicPr>
          <p:nvPr/>
        </p:nvPicPr>
        <p:blipFill>
          <a:blip r:embed="rId3"/>
          <a:stretch>
            <a:fillRect/>
          </a:stretch>
        </p:blipFill>
        <p:spPr>
          <a:xfrm>
            <a:off x="1603725" y="2103120"/>
            <a:ext cx="8984245" cy="3977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업무 분담 및 간트 차트</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기획 · 수집 · 웹 · 전처리 · 분석 · 모델링 · 발표 준비 단계별 담당 지정</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 (업무 분담 &amp; 간트 차트)</a:t>
            </a:r>
            <a:endParaRPr lang="en-US" sz="900" dirty="0"/>
          </a:p>
        </p:txBody>
      </p:sp>
      <p:sp>
        <p:nvSpPr>
          <p:cNvPr id="8" name="Shape 5"/>
          <p:cNvSpPr/>
          <p:nvPr/>
        </p:nvSpPr>
        <p:spPr>
          <a:xfrm>
            <a:off x="457200" y="1993392"/>
            <a:ext cx="11277295"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pic>
        <p:nvPicPr>
          <p:cNvPr id="9" name="Image 0" descr="g1.png"/>
          <p:cNvPicPr>
            <a:picLocks noChangeAspect="1"/>
          </p:cNvPicPr>
          <p:nvPr/>
        </p:nvPicPr>
        <p:blipFill>
          <a:blip r:embed="rId3"/>
          <a:stretch>
            <a:fillRect/>
          </a:stretch>
        </p:blipFill>
        <p:spPr>
          <a:xfrm>
            <a:off x="548640" y="2084832"/>
            <a:ext cx="5782998" cy="4014216"/>
          </a:xfrm>
          <a:prstGeom prst="rect">
            <a:avLst/>
          </a:prstGeom>
        </p:spPr>
      </p:pic>
      <p:pic>
        <p:nvPicPr>
          <p:cNvPr id="10" name="Image 1" descr="g2.png"/>
          <p:cNvPicPr>
            <a:picLocks noChangeAspect="1"/>
          </p:cNvPicPr>
          <p:nvPr/>
        </p:nvPicPr>
        <p:blipFill>
          <a:blip r:embed="rId4"/>
          <a:stretch>
            <a:fillRect/>
          </a:stretch>
        </p:blipFill>
        <p:spPr>
          <a:xfrm>
            <a:off x="6514518" y="2084832"/>
            <a:ext cx="3740277" cy="2121351"/>
          </a:xfrm>
          <a:prstGeom prst="rect">
            <a:avLst/>
          </a:prstGeom>
        </p:spPr>
      </p:pic>
      <p:pic>
        <p:nvPicPr>
          <p:cNvPr id="11" name="Image 2" descr="g3.png"/>
          <p:cNvPicPr>
            <a:picLocks noChangeAspect="1"/>
          </p:cNvPicPr>
          <p:nvPr/>
        </p:nvPicPr>
        <p:blipFill>
          <a:blip r:embed="rId5"/>
          <a:stretch>
            <a:fillRect/>
          </a:stretch>
        </p:blipFill>
        <p:spPr>
          <a:xfrm>
            <a:off x="6514518" y="4297623"/>
            <a:ext cx="3740277" cy="1801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01</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수집</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수집 자료 구성과 학습 제외 기준, 공공 API 수집 방식</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데이터 수집 개요</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학습 제외 자료</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공공 API 수집 방식</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데이터 수집 개요</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14종 원본 수집 → 4종 학습 표 통합 (서울 25개 자치구)</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14종</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원본</a:t>
            </a:r>
            <a:endParaRPr lang="en-US" sz="1400" dirty="0"/>
          </a:p>
        </p:txBody>
      </p:sp>
      <p:sp>
        <p:nvSpPr>
          <p:cNvPr id="11" name="Shape 8"/>
          <p:cNvSpPr/>
          <p:nvPr/>
        </p:nvSpPr>
        <p:spPr>
          <a:xfrm>
            <a:off x="676656" y="3182112"/>
            <a:ext cx="2243023" cy="0"/>
          </a:xfrm>
          <a:prstGeom prst="line">
            <a:avLst/>
          </a:prstGeom>
          <a:noFill/>
          <a:ln w="9525">
            <a:solidFill>
              <a:srgbClr val="E87A7A"/>
            </a:solidFill>
            <a:prstDash val="solid"/>
          </a:ln>
        </p:spPr>
        <p:txBody>
          <a:bodyPr/>
          <a:lstStyle/>
          <a:p>
            <a:endParaRPr/>
          </a:p>
        </p:txBody>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Open API · CSV · XLSX</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4종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통합</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txBody>
          <a:bodyPr/>
          <a:lstStyle/>
          <a:p>
            <a:endParaRPr/>
          </a:p>
        </p:txBody>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최종 입력: 이송 · 인구 · 사고</a:t>
            </a:r>
            <a:endParaRPr lang="en-US" sz="1100" dirty="0"/>
          </a:p>
        </p:txBody>
      </p:sp>
      <p:sp>
        <p:nvSpPr>
          <p:cNvPr id="18" name="Shape 15"/>
          <p:cNvSpPr/>
          <p:nvPr/>
        </p:nvSpPr>
        <p:spPr>
          <a:xfrm>
            <a:off x="618683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108개월</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이송 건수 기록</a:t>
            </a:r>
            <a:endParaRPr lang="en-US" sz="1400" dirty="0"/>
          </a:p>
        </p:txBody>
      </p:sp>
      <p:sp>
        <p:nvSpPr>
          <p:cNvPr id="21" name="Shape 18"/>
          <p:cNvSpPr/>
          <p:nvPr/>
        </p:nvSpPr>
        <p:spPr>
          <a:xfrm>
            <a:off x="6406286" y="3182112"/>
            <a:ext cx="2243023" cy="0"/>
          </a:xfrm>
          <a:prstGeom prst="line">
            <a:avLst/>
          </a:prstGeom>
          <a:noFill/>
          <a:ln w="9525">
            <a:solidFill>
              <a:srgbClr val="E5E7EB"/>
            </a:solidFill>
            <a:prstDash val="solid"/>
          </a:ln>
        </p:spPr>
        <p:txBody>
          <a:bodyPr/>
          <a:lstStyle/>
          <a:p>
            <a:endParaRPr/>
          </a:p>
        </p:txBody>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2017.01 ~ 2025.12</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25개 구</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분석 단위</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txBody>
          <a:bodyPr/>
          <a:lstStyle/>
          <a:p>
            <a:endParaRPr/>
          </a:p>
        </p:txBody>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구 × 월 / 구 × 일</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23944"/>
          <a:ext cx="11277295" cy="2066544"/>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출처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기간 · 단위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활용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구급활동 통계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소방청 구급통계 OpenAPI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2017.01~2025.12 · 구 × 월</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건수 (예측 대상)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서울 생활인구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자치구단위 서울생활인구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2018.04~2026.07 · 구 × 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인구 밀집 예측 · 이송 설명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구조활동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구별 구조활동 실적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2006~2025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사고 원인 변수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의료이용 유출입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의료이용 유출입 XLSX</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2019~2024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통합 후 결측 과다로 입력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학습 제외 자료 및 제외 사유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집계 기준 · 시간 단위 불일치 자료 제외, 병상 자료는 웹 서비스 활용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7589520" cy="3456432"/>
        </p:xfrm>
        <a:graphic>
          <a:graphicData uri="http://schemas.openxmlformats.org/drawingml/2006/table">
            <a:tbl>
              <a:tblPr/>
              <a:tblGrid>
                <a:gridCol w="2194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제외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제외 사유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대체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구급출동 건별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발생 구 기준 집계 (API 대비 0.77~1.54배)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관할 기준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서울시 구급 출동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출동 건수만 존재, 이송 건수 없음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이송 건수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소방서별 구급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연 단위 집계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 전체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시 단위 합계 (구 단위 아님)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구별 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 건별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1개 구 · 1개월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빈도 참고용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응급실 실시간 병상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시점 스냅샷, 시간 단위 불일치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웹 서비스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8229600" y="1993392"/>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7" name="Text 6"/>
          <p:cNvSpPr txBox="1"/>
          <p:nvPr/>
        </p:nvSpPr>
        <p:spPr>
          <a:xfrm>
            <a:off x="8412480" y="1993392"/>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51곳</a:t>
            </a:r>
            <a:endParaRPr lang="en-US" sz="2800" dirty="0"/>
          </a:p>
        </p:txBody>
      </p:sp>
      <p:sp>
        <p:nvSpPr>
          <p:cNvPr id="11" name="Text 7"/>
          <p:cNvSpPr txBox="1"/>
          <p:nvPr/>
        </p:nvSpPr>
        <p:spPr>
          <a:xfrm>
            <a:off x="9692640" y="2194560"/>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실시간 병상 병원</a:t>
            </a:r>
            <a:endParaRPr lang="en-US" sz="1300" dirty="0"/>
          </a:p>
        </p:txBody>
      </p:sp>
      <p:sp>
        <p:nvSpPr>
          <p:cNvPr id="12" name="Text 8"/>
          <p:cNvSpPr txBox="1"/>
          <p:nvPr/>
        </p:nvSpPr>
        <p:spPr>
          <a:xfrm>
            <a:off x="9692640" y="2523744"/>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23개 구 (강북 · 마포 자료 없음)</a:t>
            </a:r>
            <a:endParaRPr lang="en-US" sz="1000" dirty="0"/>
          </a:p>
        </p:txBody>
      </p:sp>
      <p:sp>
        <p:nvSpPr>
          <p:cNvPr id="13" name="Shape 9"/>
          <p:cNvSpPr/>
          <p:nvPr/>
        </p:nvSpPr>
        <p:spPr>
          <a:xfrm>
            <a:off x="8229600" y="3145536"/>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0"/>
          <p:cNvSpPr txBox="1"/>
          <p:nvPr/>
        </p:nvSpPr>
        <p:spPr>
          <a:xfrm>
            <a:off x="8412480" y="3145536"/>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70곳</a:t>
            </a:r>
            <a:endParaRPr lang="en-US" sz="2800" dirty="0"/>
          </a:p>
        </p:txBody>
      </p:sp>
      <p:sp>
        <p:nvSpPr>
          <p:cNvPr id="15" name="Text 11"/>
          <p:cNvSpPr txBox="1"/>
          <p:nvPr/>
        </p:nvSpPr>
        <p:spPr>
          <a:xfrm>
            <a:off x="9692640" y="3346704"/>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응급실 운영기관</a:t>
            </a:r>
            <a:endParaRPr lang="en-US" sz="1300" dirty="0"/>
          </a:p>
        </p:txBody>
      </p:sp>
      <p:sp>
        <p:nvSpPr>
          <p:cNvPr id="16" name="Text 12"/>
          <p:cNvSpPr txBox="1"/>
          <p:nvPr/>
        </p:nvSpPr>
        <p:spPr>
          <a:xfrm>
            <a:off x="9692640" y="3675888"/>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의료기관 목록 기준</a:t>
            </a:r>
            <a:endParaRPr lang="en-US" sz="1000" dirty="0"/>
          </a:p>
        </p:txBody>
      </p:sp>
      <p:sp>
        <p:nvSpPr>
          <p:cNvPr id="17" name="Shape 13"/>
          <p:cNvSpPr/>
          <p:nvPr/>
        </p:nvSpPr>
        <p:spPr>
          <a:xfrm>
            <a:off x="8229600" y="4297680"/>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8" name="Text 14"/>
          <p:cNvSpPr txBox="1"/>
          <p:nvPr/>
        </p:nvSpPr>
        <p:spPr>
          <a:xfrm>
            <a:off x="8412480" y="4297680"/>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8곳</a:t>
            </a:r>
            <a:endParaRPr lang="en-US" sz="2800" dirty="0"/>
          </a:p>
        </p:txBody>
      </p:sp>
      <p:sp>
        <p:nvSpPr>
          <p:cNvPr id="19" name="Text 15"/>
          <p:cNvSpPr txBox="1"/>
          <p:nvPr/>
        </p:nvSpPr>
        <p:spPr>
          <a:xfrm>
            <a:off x="9692640" y="4498848"/>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과밀 병원</a:t>
            </a:r>
            <a:endParaRPr lang="en-US" sz="1300" dirty="0"/>
          </a:p>
        </p:txBody>
      </p:sp>
      <p:sp>
        <p:nvSpPr>
          <p:cNvPr id="20" name="Text 16"/>
          <p:cNvSpPr txBox="1"/>
          <p:nvPr/>
        </p:nvSpPr>
        <p:spPr>
          <a:xfrm>
            <a:off x="9692640" y="4828032"/>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수집 시점 기준</a:t>
            </a:r>
            <a:endParaRPr lang="en-US" sz="1000" dirty="0"/>
          </a:p>
        </p:txBody>
      </p:sp>
      <p:sp>
        <p:nvSpPr>
          <p:cNvPr id="21" name="Shape 17"/>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2" name="Text 18"/>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예측</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모델은 구 × 월 단위의 단일 집계 기준 자료만 사용, 병상 자료는 서비스 참고 정보로 분리</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공공 API 수집 방식</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소방서 단위 수집 → 자치구 매핑, 누락 월 재수집 자동화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01_119_공공API_연동_v2.ipynb · 02_119_전처리_검토수정.ipynb</a:t>
            </a:r>
            <a:endParaRPr lang="en-US" sz="900" dirty="0"/>
          </a:p>
        </p:txBody>
      </p:sp>
      <p:sp>
        <p:nvSpPr>
          <p:cNvPr id="8" name="Shape 5"/>
          <p:cNvSpPr/>
          <p:nvPr/>
        </p:nvSpPr>
        <p:spPr>
          <a:xfrm>
            <a:off x="457200"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자치구 매핑</a:t>
            </a:r>
            <a:endParaRPr lang="en-US" sz="1600" dirty="0"/>
          </a:p>
        </p:txBody>
      </p:sp>
      <p:sp>
        <p:nvSpPr>
          <p:cNvPr id="11" name="Shape 8"/>
          <p:cNvSpPr/>
          <p:nvPr/>
        </p:nvSpPr>
        <p:spPr>
          <a:xfrm>
            <a:off x="676656" y="2907792"/>
            <a:ext cx="2174672"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관할구역에서 구 이름 추출 → 소방서별 최빈 자치구 연결</a:t>
            </a:r>
            <a:endParaRPr lang="en-US" sz="1100" dirty="0"/>
          </a:p>
        </p:txBody>
      </p:sp>
      <p:sp>
        <p:nvSpPr>
          <p:cNvPr id="13" name="Shape 10"/>
          <p:cNvSpPr/>
          <p:nvPr/>
        </p:nvSpPr>
        <p:spPr>
          <a:xfrm>
            <a:off x="3107360" y="3040380"/>
            <a:ext cx="201168" cy="0"/>
          </a:xfrm>
          <a:prstGeom prst="line">
            <a:avLst/>
          </a:prstGeom>
          <a:noFill/>
          <a:ln w="15875">
            <a:solidFill>
              <a:srgbClr val="8E8E93"/>
            </a:solidFill>
            <a:prstDash val="solid"/>
            <a:tailEnd type="triangle"/>
          </a:ln>
        </p:spPr>
        <p:txBody>
          <a:bodyPr/>
          <a:lstStyle/>
          <a:p>
            <a:endParaRPr/>
          </a:p>
        </p:txBody>
      </p:sp>
      <p:sp>
        <p:nvSpPr>
          <p:cNvPr id="14" name="Shape 11"/>
          <p:cNvSpPr/>
          <p:nvPr/>
        </p:nvSpPr>
        <p:spPr>
          <a:xfrm>
            <a:off x="3345104"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3564560"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3564560"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누락 월 수집</a:t>
            </a:r>
            <a:endParaRPr lang="en-US" sz="1600" dirty="0"/>
          </a:p>
        </p:txBody>
      </p:sp>
      <p:sp>
        <p:nvSpPr>
          <p:cNvPr id="17" name="Shape 14"/>
          <p:cNvSpPr/>
          <p:nvPr/>
        </p:nvSpPr>
        <p:spPr>
          <a:xfrm>
            <a:off x="3564560" y="2907792"/>
            <a:ext cx="2174672" cy="0"/>
          </a:xfrm>
          <a:prstGeom prst="line">
            <a:avLst/>
          </a:prstGeom>
          <a:noFill/>
          <a:ln w="9525">
            <a:solidFill>
              <a:srgbClr val="E5E7EB"/>
            </a:solidFill>
            <a:prstDash val="solid"/>
          </a:ln>
        </p:spPr>
        <p:txBody>
          <a:bodyPr/>
          <a:lstStyle/>
          <a:p>
            <a:endParaRPr/>
          </a:p>
        </p:txBody>
      </p:sp>
      <p:sp>
        <p:nvSpPr>
          <p:cNvPr id="18" name="Text 15"/>
          <p:cNvSpPr txBox="1"/>
          <p:nvPr/>
        </p:nvSpPr>
        <p:spPr>
          <a:xfrm>
            <a:off x="3564560"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수집 완료 월 제외, 누락 월만 호출 및 월별 중간 저장</a:t>
            </a:r>
            <a:endParaRPr lang="en-US" sz="1100" dirty="0"/>
          </a:p>
        </p:txBody>
      </p:sp>
      <p:sp>
        <p:nvSpPr>
          <p:cNvPr id="19" name="Shape 16"/>
          <p:cNvSpPr/>
          <p:nvPr/>
        </p:nvSpPr>
        <p:spPr>
          <a:xfrm>
            <a:off x="5995264" y="3040380"/>
            <a:ext cx="201168"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6233008"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452464"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6452464"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오류 재시도</a:t>
            </a:r>
            <a:endParaRPr lang="en-US" sz="1600" dirty="0"/>
          </a:p>
        </p:txBody>
      </p:sp>
      <p:sp>
        <p:nvSpPr>
          <p:cNvPr id="23" name="Shape 20"/>
          <p:cNvSpPr/>
          <p:nvPr/>
        </p:nvSpPr>
        <p:spPr>
          <a:xfrm>
            <a:off x="6452464" y="2907792"/>
            <a:ext cx="2174672" cy="0"/>
          </a:xfrm>
          <a:prstGeom prst="line">
            <a:avLst/>
          </a:prstGeom>
          <a:noFill/>
          <a:ln w="9525">
            <a:solidFill>
              <a:srgbClr val="E5E7EB"/>
            </a:solidFill>
            <a:prstDash val="solid"/>
          </a:ln>
        </p:spPr>
        <p:txBody>
          <a:bodyPr/>
          <a:lstStyle/>
          <a:p>
            <a:endParaRPr/>
          </a:p>
        </p:txBody>
      </p:sp>
      <p:sp>
        <p:nvSpPr>
          <p:cNvPr id="24" name="Text 21"/>
          <p:cNvSpPr txBox="1"/>
          <p:nvPr/>
        </p:nvSpPr>
        <p:spPr>
          <a:xfrm>
            <a:off x="6452464"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2초 → 4초 → 8초 간격 재시도, 사용량 소진 시 중단</a:t>
            </a:r>
            <a:endParaRPr lang="en-US" sz="1100" dirty="0"/>
          </a:p>
        </p:txBody>
      </p:sp>
      <p:sp>
        <p:nvSpPr>
          <p:cNvPr id="25" name="Shape 22"/>
          <p:cNvSpPr/>
          <p:nvPr/>
        </p:nvSpPr>
        <p:spPr>
          <a:xfrm>
            <a:off x="8883167" y="3040380"/>
            <a:ext cx="201168"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9120911"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7" name="Text 24"/>
          <p:cNvSpPr txBox="1"/>
          <p:nvPr/>
        </p:nvSpPr>
        <p:spPr>
          <a:xfrm>
            <a:off x="9340367"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9340367"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빈 자료 기록</a:t>
            </a:r>
            <a:endParaRPr lang="en-US" sz="1600" dirty="0"/>
          </a:p>
        </p:txBody>
      </p:sp>
      <p:sp>
        <p:nvSpPr>
          <p:cNvPr id="29" name="Shape 26"/>
          <p:cNvSpPr/>
          <p:nvPr/>
        </p:nvSpPr>
        <p:spPr>
          <a:xfrm>
            <a:off x="9340367" y="2907792"/>
            <a:ext cx="2174672" cy="0"/>
          </a:xfrm>
          <a:prstGeom prst="line">
            <a:avLst/>
          </a:prstGeom>
          <a:noFill/>
          <a:ln w="9525">
            <a:solidFill>
              <a:srgbClr val="E5E7EB"/>
            </a:solidFill>
            <a:prstDash val="solid"/>
          </a:ln>
        </p:spPr>
        <p:txBody>
          <a:bodyPr/>
          <a:lstStyle/>
          <a:p>
            <a:endParaRPr/>
          </a:p>
        </p:txBody>
      </p:sp>
      <p:sp>
        <p:nvSpPr>
          <p:cNvPr id="30" name="Text 27"/>
          <p:cNvSpPr txBox="1"/>
          <p:nvPr/>
        </p:nvSpPr>
        <p:spPr>
          <a:xfrm>
            <a:off x="9340367"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정상 응답 빈 구-월 기록, 재호출 방지</a:t>
            </a:r>
            <a:endParaRPr lang="en-US" sz="1100" dirty="0"/>
          </a:p>
        </p:txBody>
      </p:sp>
      <p:sp>
        <p:nvSpPr>
          <p:cNvPr id="31" name="Shape 28"/>
          <p:cNvSpPr/>
          <p:nvPr/>
        </p:nvSpPr>
        <p:spPr>
          <a:xfrm>
            <a:off x="457200" y="4361688"/>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2" name="Text 29"/>
          <p:cNvSpPr txBox="1"/>
          <p:nvPr/>
        </p:nvSpPr>
        <p:spPr>
          <a:xfrm>
            <a:off x="67665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2,634행</a:t>
            </a:r>
            <a:endParaRPr lang="en-US" sz="3600" dirty="0"/>
          </a:p>
        </p:txBody>
      </p:sp>
      <p:sp>
        <p:nvSpPr>
          <p:cNvPr id="33" name="Text 30"/>
          <p:cNvSpPr txBox="1"/>
          <p:nvPr/>
        </p:nvSpPr>
        <p:spPr>
          <a:xfrm>
            <a:off x="676656" y="5148072"/>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결과</a:t>
            </a:r>
            <a:endParaRPr lang="en-US" sz="1400" dirty="0"/>
          </a:p>
        </p:txBody>
      </p:sp>
      <p:sp>
        <p:nvSpPr>
          <p:cNvPr id="34" name="Shape 31"/>
          <p:cNvSpPr/>
          <p:nvPr/>
        </p:nvSpPr>
        <p:spPr>
          <a:xfrm>
            <a:off x="676656" y="5550408"/>
            <a:ext cx="2243023" cy="0"/>
          </a:xfrm>
          <a:prstGeom prst="line">
            <a:avLst/>
          </a:prstGeom>
          <a:noFill/>
          <a:ln w="9525">
            <a:solidFill>
              <a:srgbClr val="E87A7A"/>
            </a:solidFill>
            <a:prstDash val="solid"/>
          </a:ln>
        </p:spPr>
        <p:txBody>
          <a:bodyPr/>
          <a:lstStyle/>
          <a:p>
            <a:endParaRPr/>
          </a:p>
        </p:txBody>
      </p:sp>
      <p:sp>
        <p:nvSpPr>
          <p:cNvPr id="35" name="Text 32"/>
          <p:cNvSpPr txBox="1"/>
          <p:nvPr/>
        </p:nvSpPr>
        <p:spPr>
          <a:xfrm>
            <a:off x="67665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2017.01 ~ 2025.12 · 25개 구</a:t>
            </a:r>
            <a:endParaRPr lang="en-US" sz="1100" dirty="0"/>
          </a:p>
        </p:txBody>
      </p:sp>
      <p:sp>
        <p:nvSpPr>
          <p:cNvPr id="36" name="Shape 33"/>
          <p:cNvSpPr/>
          <p:nvPr/>
        </p:nvSpPr>
        <p:spPr>
          <a:xfrm>
            <a:off x="3322015"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7" name="Text 34"/>
          <p:cNvSpPr txBox="1"/>
          <p:nvPr/>
        </p:nvSpPr>
        <p:spPr>
          <a:xfrm>
            <a:off x="3541471"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2,700칸</a:t>
            </a:r>
            <a:endParaRPr lang="en-US" sz="3600" dirty="0"/>
          </a:p>
        </p:txBody>
      </p:sp>
      <p:sp>
        <p:nvSpPr>
          <p:cNvPr id="38" name="Text 35"/>
          <p:cNvSpPr txBox="1"/>
          <p:nvPr/>
        </p:nvSpPr>
        <p:spPr>
          <a:xfrm>
            <a:off x="3541471"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예상 구-월</a:t>
            </a:r>
            <a:endParaRPr lang="en-US" sz="1400" dirty="0"/>
          </a:p>
        </p:txBody>
      </p:sp>
      <p:sp>
        <p:nvSpPr>
          <p:cNvPr id="39" name="Shape 36"/>
          <p:cNvSpPr/>
          <p:nvPr/>
        </p:nvSpPr>
        <p:spPr>
          <a:xfrm>
            <a:off x="3541471" y="5550408"/>
            <a:ext cx="2243023" cy="0"/>
          </a:xfrm>
          <a:prstGeom prst="line">
            <a:avLst/>
          </a:prstGeom>
          <a:noFill/>
          <a:ln w="9525">
            <a:solidFill>
              <a:srgbClr val="E5E7EB"/>
            </a:solidFill>
            <a:prstDash val="solid"/>
          </a:ln>
        </p:spPr>
        <p:txBody>
          <a:bodyPr/>
          <a:lstStyle/>
          <a:p>
            <a:endParaRPr/>
          </a:p>
        </p:txBody>
      </p:sp>
      <p:sp>
        <p:nvSpPr>
          <p:cNvPr id="40" name="Text 37"/>
          <p:cNvSpPr txBox="1"/>
          <p:nvPr/>
        </p:nvSpPr>
        <p:spPr>
          <a:xfrm>
            <a:off x="3541471"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25개 구 × 108개월</a:t>
            </a:r>
            <a:endParaRPr lang="en-US" sz="1100" dirty="0"/>
          </a:p>
        </p:txBody>
      </p:sp>
      <p:sp>
        <p:nvSpPr>
          <p:cNvPr id="41" name="Shape 38"/>
          <p:cNvSpPr/>
          <p:nvPr/>
        </p:nvSpPr>
        <p:spPr>
          <a:xfrm>
            <a:off x="6186830"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2" name="Text 39"/>
          <p:cNvSpPr txBox="1"/>
          <p:nvPr/>
        </p:nvSpPr>
        <p:spPr>
          <a:xfrm>
            <a:off x="640628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66칸</a:t>
            </a:r>
            <a:endParaRPr lang="en-US" sz="3600" dirty="0"/>
          </a:p>
        </p:txBody>
      </p:sp>
      <p:sp>
        <p:nvSpPr>
          <p:cNvPr id="43" name="Text 40"/>
          <p:cNvSpPr txBox="1"/>
          <p:nvPr/>
        </p:nvSpPr>
        <p:spPr>
          <a:xfrm>
            <a:off x="6406286"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미수집 구-월</a:t>
            </a:r>
            <a:endParaRPr lang="en-US" sz="1400" dirty="0"/>
          </a:p>
        </p:txBody>
      </p:sp>
      <p:sp>
        <p:nvSpPr>
          <p:cNvPr id="44" name="Shape 41"/>
          <p:cNvSpPr/>
          <p:nvPr/>
        </p:nvSpPr>
        <p:spPr>
          <a:xfrm>
            <a:off x="6406286" y="5550408"/>
            <a:ext cx="2243023" cy="0"/>
          </a:xfrm>
          <a:prstGeom prst="line">
            <a:avLst/>
          </a:prstGeom>
          <a:noFill/>
          <a:ln w="9525">
            <a:solidFill>
              <a:srgbClr val="E5E7EB"/>
            </a:solidFill>
            <a:prstDash val="solid"/>
          </a:ln>
        </p:spPr>
        <p:txBody>
          <a:bodyPr/>
          <a:lstStyle/>
          <a:p>
            <a:endParaRPr/>
          </a:p>
        </p:txBody>
      </p:sp>
      <p:sp>
        <p:nvSpPr>
          <p:cNvPr id="45" name="Text 42"/>
          <p:cNvSpPr txBox="1"/>
          <p:nvPr/>
        </p:nvSpPr>
        <p:spPr>
          <a:xfrm>
            <a:off x="640628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성동 6개월 · 금천 60개월</a:t>
            </a:r>
            <a:endParaRPr lang="en-US" sz="1100" dirty="0"/>
          </a:p>
        </p:txBody>
      </p:sp>
      <p:sp>
        <p:nvSpPr>
          <p:cNvPr id="46" name="Shape 43"/>
          <p:cNvSpPr/>
          <p:nvPr/>
        </p:nvSpPr>
        <p:spPr>
          <a:xfrm>
            <a:off x="9051646"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7" name="Text 44"/>
          <p:cNvSpPr txBox="1"/>
          <p:nvPr/>
        </p:nvSpPr>
        <p:spPr>
          <a:xfrm>
            <a:off x="9271102"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 → 25</a:t>
            </a:r>
            <a:endParaRPr lang="en-US" sz="3600" dirty="0"/>
          </a:p>
        </p:txBody>
      </p:sp>
      <p:sp>
        <p:nvSpPr>
          <p:cNvPr id="48" name="Text 45"/>
          <p:cNvSpPr txBox="1"/>
          <p:nvPr/>
        </p:nvSpPr>
        <p:spPr>
          <a:xfrm>
            <a:off x="9271102"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소방서 → 자치구</a:t>
            </a:r>
            <a:endParaRPr lang="en-US" sz="1400" dirty="0"/>
          </a:p>
        </p:txBody>
      </p:sp>
      <p:sp>
        <p:nvSpPr>
          <p:cNvPr id="49" name="Shape 46"/>
          <p:cNvSpPr/>
          <p:nvPr/>
        </p:nvSpPr>
        <p:spPr>
          <a:xfrm>
            <a:off x="9271102" y="5550408"/>
            <a:ext cx="2243023" cy="0"/>
          </a:xfrm>
          <a:prstGeom prst="line">
            <a:avLst/>
          </a:prstGeom>
          <a:noFill/>
          <a:ln w="9525">
            <a:solidFill>
              <a:srgbClr val="E5E7EB"/>
            </a:solidFill>
            <a:prstDash val="solid"/>
          </a:ln>
        </p:spPr>
        <p:txBody>
          <a:bodyPr/>
          <a:lstStyle/>
          <a:p>
            <a:endParaRPr/>
          </a:p>
        </p:txBody>
      </p:sp>
      <p:sp>
        <p:nvSpPr>
          <p:cNvPr id="50" name="Text 47"/>
          <p:cNvSpPr txBox="1"/>
          <p:nvPr/>
        </p:nvSpPr>
        <p:spPr>
          <a:xfrm>
            <a:off x="9271102"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누락 · 중복 매핑 없음</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02</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전처리</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형식 통일, 결측 및 중복 처리, 데이터 통합, 입력 변수 선택</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전처리 흐름</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txBody>
          <a:bodyPr/>
          <a:lstStyle/>
          <a:p>
            <a:endParaRPr/>
          </a:p>
        </p:txBody>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자료 정리 기준</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txBody>
          <a:bodyPr/>
          <a:lstStyle/>
          <a:p>
            <a:endParaRPr/>
          </a:p>
        </p:txBody>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과거 값 기반 통합</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txBody>
          <a:bodyPr/>
          <a:lstStyle/>
          <a:p>
            <a:endParaRPr/>
          </a:p>
        </p:txBody>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입력 변수 선택</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전처리 흐름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원본 정리 → 제외 → 통합 → 입력 선택, 학습 표 2종 생성</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원본 수집</a:t>
            </a:r>
            <a:endParaRPr lang="en-US" sz="1600" dirty="0"/>
          </a:p>
        </p:txBody>
      </p:sp>
      <p:sp>
        <p:nvSpPr>
          <p:cNvPr id="11" name="Shape 8"/>
          <p:cNvSpPr/>
          <p:nvPr/>
        </p:nvSpPr>
        <p:spPr>
          <a:xfrm>
            <a:off x="676656" y="2907792"/>
            <a:ext cx="1597091"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결과 파일 15개 로드 (구급 · 인구 · 사고 · 의료 · 병상)</a:t>
            </a:r>
            <a:endParaRPr lang="en-US" sz="1100" dirty="0"/>
          </a:p>
        </p:txBody>
      </p:sp>
      <p:sp>
        <p:nvSpPr>
          <p:cNvPr id="13" name="Shape 10"/>
          <p:cNvSpPr/>
          <p:nvPr/>
        </p:nvSpPr>
        <p:spPr>
          <a:xfrm>
            <a:off x="2529779" y="2907792"/>
            <a:ext cx="201168" cy="0"/>
          </a:xfrm>
          <a:prstGeom prst="line">
            <a:avLst/>
          </a:prstGeom>
          <a:noFill/>
          <a:ln w="15875">
            <a:solidFill>
              <a:srgbClr val="8E8E93"/>
            </a:solidFill>
            <a:prstDash val="solid"/>
            <a:tailEnd type="triangle"/>
          </a:ln>
        </p:spPr>
        <p:txBody>
          <a:bodyPr/>
          <a:lstStyle/>
          <a:p>
            <a:endParaRPr/>
          </a:p>
        </p:txBody>
      </p:sp>
      <p:sp>
        <p:nvSpPr>
          <p:cNvPr id="14" name="Shape 11"/>
          <p:cNvSpPr/>
          <p:nvPr/>
        </p:nvSpPr>
        <p:spPr>
          <a:xfrm>
            <a:off x="2767523"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2986979"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2986979"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형식 통일</a:t>
            </a:r>
            <a:endParaRPr lang="en-US" sz="1600" dirty="0"/>
          </a:p>
        </p:txBody>
      </p:sp>
      <p:sp>
        <p:nvSpPr>
          <p:cNvPr id="17" name="Shape 14"/>
          <p:cNvSpPr/>
          <p:nvPr/>
        </p:nvSpPr>
        <p:spPr>
          <a:xfrm>
            <a:off x="2986979" y="2907792"/>
            <a:ext cx="1597091" cy="0"/>
          </a:xfrm>
          <a:prstGeom prst="line">
            <a:avLst/>
          </a:prstGeom>
          <a:noFill/>
          <a:ln w="9525">
            <a:solidFill>
              <a:srgbClr val="E5E7EB"/>
            </a:solidFill>
            <a:prstDash val="solid"/>
          </a:ln>
        </p:spPr>
        <p:txBody>
          <a:bodyPr/>
          <a:lstStyle/>
          <a:p>
            <a:endParaRPr/>
          </a:p>
        </p:txBody>
      </p:sp>
      <p:sp>
        <p:nvSpPr>
          <p:cNvPr id="18" name="Text 15"/>
          <p:cNvSpPr txBox="1"/>
          <p:nvPr/>
        </p:nvSpPr>
        <p:spPr>
          <a:xfrm>
            <a:off x="2986979"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날짜 · 지역 · 컬럼명 기준 통일</a:t>
            </a:r>
            <a:endParaRPr lang="en-US" sz="1100" dirty="0"/>
          </a:p>
        </p:txBody>
      </p:sp>
      <p:sp>
        <p:nvSpPr>
          <p:cNvPr id="19" name="Shape 16"/>
          <p:cNvSpPr/>
          <p:nvPr/>
        </p:nvSpPr>
        <p:spPr>
          <a:xfrm>
            <a:off x="4840102" y="2907792"/>
            <a:ext cx="201168"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5077846"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5297302"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5297302"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구간 제외</a:t>
            </a:r>
            <a:endParaRPr lang="en-US" sz="1600" dirty="0"/>
          </a:p>
        </p:txBody>
      </p:sp>
      <p:sp>
        <p:nvSpPr>
          <p:cNvPr id="23" name="Shape 20"/>
          <p:cNvSpPr/>
          <p:nvPr/>
        </p:nvSpPr>
        <p:spPr>
          <a:xfrm>
            <a:off x="5297302" y="2907792"/>
            <a:ext cx="1597091" cy="0"/>
          </a:xfrm>
          <a:prstGeom prst="line">
            <a:avLst/>
          </a:prstGeom>
          <a:noFill/>
          <a:ln w="9525">
            <a:solidFill>
              <a:srgbClr val="E5E7EB"/>
            </a:solidFill>
            <a:prstDash val="solid"/>
          </a:ln>
        </p:spPr>
        <p:txBody>
          <a:bodyPr/>
          <a:lstStyle/>
          <a:p>
            <a:endParaRPr/>
          </a:p>
        </p:txBody>
      </p:sp>
      <p:sp>
        <p:nvSpPr>
          <p:cNvPr id="24" name="Text 21"/>
          <p:cNvSpPr txBox="1"/>
          <p:nvPr/>
        </p:nvSpPr>
        <p:spPr>
          <a:xfrm>
            <a:off x="5297302"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 변경 구간 70행 제외</a:t>
            </a:r>
            <a:endParaRPr lang="en-US" sz="1100" dirty="0"/>
          </a:p>
        </p:txBody>
      </p:sp>
      <p:sp>
        <p:nvSpPr>
          <p:cNvPr id="25" name="Shape 22"/>
          <p:cNvSpPr/>
          <p:nvPr/>
        </p:nvSpPr>
        <p:spPr>
          <a:xfrm>
            <a:off x="7150425" y="2907792"/>
            <a:ext cx="201168"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7388169"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7" name="Text 24"/>
          <p:cNvSpPr txBox="1"/>
          <p:nvPr/>
        </p:nvSpPr>
        <p:spPr>
          <a:xfrm>
            <a:off x="7607625"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7607625"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데이터 통합</a:t>
            </a:r>
            <a:endParaRPr lang="en-US" sz="1600" dirty="0"/>
          </a:p>
        </p:txBody>
      </p:sp>
      <p:sp>
        <p:nvSpPr>
          <p:cNvPr id="29" name="Shape 26"/>
          <p:cNvSpPr/>
          <p:nvPr/>
        </p:nvSpPr>
        <p:spPr>
          <a:xfrm>
            <a:off x="7607625" y="2907792"/>
            <a:ext cx="1597091" cy="0"/>
          </a:xfrm>
          <a:prstGeom prst="line">
            <a:avLst/>
          </a:prstGeom>
          <a:noFill/>
          <a:ln w="9525">
            <a:solidFill>
              <a:srgbClr val="E5E7EB"/>
            </a:solidFill>
            <a:prstDash val="solid"/>
          </a:ln>
        </p:spPr>
        <p:txBody>
          <a:bodyPr/>
          <a:lstStyle/>
          <a:p>
            <a:endParaRPr/>
          </a:p>
        </p:txBody>
      </p:sp>
      <p:sp>
        <p:nvSpPr>
          <p:cNvPr id="30" name="Text 27"/>
          <p:cNvSpPr txBox="1"/>
          <p:nvPr/>
        </p:nvSpPr>
        <p:spPr>
          <a:xfrm>
            <a:off x="7607625"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이송 표 (구 × 월), 인구 표 (구 × 일)</a:t>
            </a:r>
            <a:endParaRPr lang="en-US" sz="1100" dirty="0"/>
          </a:p>
        </p:txBody>
      </p:sp>
      <p:sp>
        <p:nvSpPr>
          <p:cNvPr id="31" name="Shape 28"/>
          <p:cNvSpPr/>
          <p:nvPr/>
        </p:nvSpPr>
        <p:spPr>
          <a:xfrm>
            <a:off x="9460748" y="2907792"/>
            <a:ext cx="201168" cy="0"/>
          </a:xfrm>
          <a:prstGeom prst="line">
            <a:avLst/>
          </a:prstGeom>
          <a:noFill/>
          <a:ln w="15875">
            <a:solidFill>
              <a:srgbClr val="8E8E93"/>
            </a:solidFill>
            <a:prstDash val="solid"/>
            <a:tailEnd type="triangle"/>
          </a:ln>
        </p:spPr>
        <p:txBody>
          <a:bodyPr/>
          <a:lstStyle/>
          <a:p>
            <a:endParaRPr/>
          </a:p>
        </p:txBody>
      </p:sp>
      <p:sp>
        <p:nvSpPr>
          <p:cNvPr id="32" name="Shape 29"/>
          <p:cNvSpPr/>
          <p:nvPr/>
        </p:nvSpPr>
        <p:spPr>
          <a:xfrm>
            <a:off x="9698492" y="1993392"/>
            <a:ext cx="2036003"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3" name="Text 30"/>
          <p:cNvSpPr txBox="1"/>
          <p:nvPr/>
        </p:nvSpPr>
        <p:spPr>
          <a:xfrm>
            <a:off x="9917948" y="2176272"/>
            <a:ext cx="548640" cy="274320"/>
          </a:xfrm>
          <a:prstGeom prst="rect">
            <a:avLst/>
          </a:prstGeom>
          <a:noFill/>
          <a:ln/>
        </p:spPr>
        <p:txBody>
          <a:bodyPr wrap="square" lIns="0" tIns="0" rIns="0" bIns="0" rtlCol="0" anchor="ctr"/>
          <a:lstStyle/>
          <a:p>
            <a:pPr marL="0" indent="0">
              <a:buNone/>
            </a:pPr>
            <a:r>
              <a:rPr lang="en-US" sz="1300" b="1" dirty="0">
                <a:solidFill>
                  <a:srgbClr val="FDE3E3"/>
                </a:solidFill>
                <a:latin typeface="에이투지체 5 Medium"/>
                <a:ea typeface="에이투지체 5 Medium"/>
                <a:cs typeface="에이투지체 5 Medium"/>
              </a:rPr>
              <a:t>05</a:t>
            </a:r>
            <a:endParaRPr lang="en-US" sz="1300" dirty="0"/>
          </a:p>
        </p:txBody>
      </p:sp>
      <p:sp>
        <p:nvSpPr>
          <p:cNvPr id="34" name="Text 31"/>
          <p:cNvSpPr txBox="1"/>
          <p:nvPr/>
        </p:nvSpPr>
        <p:spPr>
          <a:xfrm>
            <a:off x="9917948" y="2468880"/>
            <a:ext cx="1597091" cy="347472"/>
          </a:xfrm>
          <a:prstGeom prst="rect">
            <a:avLst/>
          </a:prstGeom>
          <a:noFill/>
          <a:ln/>
        </p:spPr>
        <p:txBody>
          <a:bodyPr wrap="square" lIns="0" tIns="0" rIns="0" bIns="0" rtlCol="0" anchor="ctr"/>
          <a:lstStyle/>
          <a:p>
            <a:pPr marL="0" indent="0">
              <a:buNone/>
            </a:pPr>
            <a:r>
              <a:rPr lang="en-US" sz="1600" b="1" dirty="0">
                <a:solidFill>
                  <a:srgbClr val="FFFFFF"/>
                </a:solidFill>
                <a:latin typeface="에이투지체 5 Medium"/>
                <a:ea typeface="에이투지체 5 Medium"/>
                <a:cs typeface="에이투지체 5 Medium"/>
              </a:rPr>
              <a:t>입력 선택</a:t>
            </a:r>
            <a:endParaRPr lang="en-US" sz="1600" dirty="0"/>
          </a:p>
        </p:txBody>
      </p:sp>
      <p:sp>
        <p:nvSpPr>
          <p:cNvPr id="35" name="Shape 32"/>
          <p:cNvSpPr/>
          <p:nvPr/>
        </p:nvSpPr>
        <p:spPr>
          <a:xfrm>
            <a:off x="9917948" y="2907792"/>
            <a:ext cx="1597091" cy="0"/>
          </a:xfrm>
          <a:prstGeom prst="line">
            <a:avLst/>
          </a:prstGeom>
          <a:noFill/>
          <a:ln w="9525">
            <a:solidFill>
              <a:srgbClr val="E87A7A"/>
            </a:solidFill>
            <a:prstDash val="solid"/>
          </a:ln>
        </p:spPr>
        <p:txBody>
          <a:bodyPr/>
          <a:lstStyle/>
          <a:p>
            <a:endParaRPr/>
          </a:p>
        </p:txBody>
      </p:sp>
      <p:sp>
        <p:nvSpPr>
          <p:cNvPr id="36" name="Text 33"/>
          <p:cNvSpPr txBox="1"/>
          <p:nvPr/>
        </p:nvSpPr>
        <p:spPr>
          <a:xfrm>
            <a:off x="9917948"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FDE3E3"/>
                </a:solidFill>
                <a:latin typeface="에이투지체 5 Medium"/>
                <a:ea typeface="에이투지체 5 Medium"/>
                <a:cs typeface="에이투지체 5 Medium"/>
              </a:rPr>
              <a:t>이송 8개 · 인구 5개</a:t>
            </a:r>
            <a:endParaRPr lang="en-US" sz="1100" dirty="0"/>
          </a:p>
        </p:txBody>
      </p:sp>
      <p:sp>
        <p:nvSpPr>
          <p:cNvPr id="37" name="Shape 34"/>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8" name="Text 35"/>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예측용 표</a:t>
            </a:r>
            <a:endParaRPr lang="en-US" sz="1800" dirty="0"/>
          </a:p>
        </p:txBody>
      </p:sp>
      <p:sp>
        <p:nvSpPr>
          <p:cNvPr id="39" name="Shape 36"/>
          <p:cNvSpPr/>
          <p:nvPr/>
        </p:nvSpPr>
        <p:spPr>
          <a:xfrm>
            <a:off x="676656" y="4663440"/>
            <a:ext cx="5108753" cy="0"/>
          </a:xfrm>
          <a:prstGeom prst="line">
            <a:avLst/>
          </a:prstGeom>
          <a:noFill/>
          <a:ln w="9525">
            <a:solidFill>
              <a:srgbClr val="E5E7EB"/>
            </a:solidFill>
            <a:prstDash val="solid"/>
          </a:ln>
        </p:spPr>
        <p:txBody>
          <a:bodyPr/>
          <a:lstStyle/>
          <a:p>
            <a:endParaRPr/>
          </a:p>
        </p:txBody>
      </p:sp>
      <p:sp>
        <p:nvSpPr>
          <p:cNvPr id="40" name="Text 37"/>
          <p:cNvSpPr txBox="1"/>
          <p:nvPr/>
        </p:nvSpPr>
        <p:spPr>
          <a:xfrm>
            <a:off x="676656"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월</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2,564행 × 46열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2,180행 × 13열 (결측 행 제외)</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2018.05 ~ 2025.12</a:t>
            </a:r>
            <a:endParaRPr lang="en-US" sz="1300" dirty="0"/>
          </a:p>
        </p:txBody>
      </p:sp>
      <p:sp>
        <p:nvSpPr>
          <p:cNvPr id="41" name="Shape 38"/>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2" name="Text 39"/>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예측용 표</a:t>
            </a:r>
            <a:endParaRPr lang="en-US" sz="1800" dirty="0"/>
          </a:p>
        </p:txBody>
      </p:sp>
      <p:sp>
        <p:nvSpPr>
          <p:cNvPr id="43" name="Shape 40"/>
          <p:cNvSpPr/>
          <p:nvPr/>
        </p:nvSpPr>
        <p:spPr>
          <a:xfrm>
            <a:off x="6407201" y="4663440"/>
            <a:ext cx="5108753" cy="0"/>
          </a:xfrm>
          <a:prstGeom prst="line">
            <a:avLst/>
          </a:prstGeom>
          <a:noFill/>
          <a:ln w="9525">
            <a:solidFill>
              <a:srgbClr val="E5E7EB"/>
            </a:solidFill>
            <a:prstDash val="solid"/>
          </a:ln>
        </p:spPr>
        <p:txBody>
          <a:bodyPr/>
          <a:lstStyle/>
          <a:p>
            <a:endParaRPr/>
          </a:p>
        </p:txBody>
      </p:sp>
      <p:sp>
        <p:nvSpPr>
          <p:cNvPr id="44" name="Text 41"/>
          <p:cNvSpPr txBox="1"/>
          <p:nvPr/>
        </p:nvSpPr>
        <p:spPr>
          <a:xfrm>
            <a:off x="6407201"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일</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75,825행 × 20열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75,825행 × 11열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2018.04.12 ~ 2026.07.31</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자료 정리 및 결측 · 중복 처리</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임의 값 생성 없이 형식 통일 및 이상 구간 제외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(형식 · 숫자 정리는 이전 전처리 단계)</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3401568"/>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구분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문제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처리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결과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형식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3~4줄 헤더, 가로로 펼친 월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행 = 한 시점 구조로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세로형 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명칭</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파일별 날짜 · 지역 컬럼명 상이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ds · District로 통일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공통 키 병합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숫자</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천 단위 콤마, "-" 표기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콤마 제거, "-" → 0</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숫자형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중복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Pop_Peak = 일최대인구수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뒤쪽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1개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미수집 구간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소방서 개서 이전 66칸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임의 값 미입력</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 구간 유지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관할 변경</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성동 · 광진 ~2017.7, 금천 · 구로 ~2022.1</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변경 이전 구간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2,634 → 2,564행</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457200" y="5596128"/>
            <a:ext cx="11277295" cy="594360"/>
          </a:xfrm>
          <a:prstGeom prst="roundRect">
            <a:avLst>
              <a:gd name="adj" fmla="val 15385"/>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0" name="Text 6"/>
          <p:cNvSpPr txBox="1"/>
          <p:nvPr/>
        </p:nvSpPr>
        <p:spPr>
          <a:xfrm>
            <a:off x="640080" y="5596128"/>
            <a:ext cx="10908792" cy="59436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25개 구 × 3,040일 연속 확인, 결측의 평균 · 0 </a:t>
            </a:r>
            <a:r>
              <a:rPr lang="en-US" sz="1400" dirty="0" err="1" smtClean="0">
                <a:solidFill>
                  <a:srgbClr val="222222"/>
                </a:solidFill>
                <a:latin typeface="에이투지체 5 Medium"/>
                <a:ea typeface="에이투지체 5 Medium"/>
                <a:cs typeface="에이투지체 5 Medium"/>
              </a:rPr>
              <a:t>대체적용</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과거 값 기반 학습 표 통합</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예측 시점에 확인 가능한 지난달 · 작년 · 전일 값만 입력으로 사용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199339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소방청 API 이송 건수</a:t>
            </a:r>
            <a:endParaRPr lang="en-US" sz="1300" dirty="0"/>
          </a:p>
        </p:txBody>
      </p:sp>
      <p:sp>
        <p:nvSpPr>
          <p:cNvPr id="10" name="Shape 7"/>
          <p:cNvSpPr/>
          <p:nvPr/>
        </p:nvSpPr>
        <p:spPr>
          <a:xfrm>
            <a:off x="3017520" y="222199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11" name="Text 8"/>
          <p:cNvSpPr txBox="1"/>
          <p:nvPr/>
        </p:nvSpPr>
        <p:spPr>
          <a:xfrm>
            <a:off x="3017520" y="222199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 · 전년 동월</a:t>
            </a:r>
            <a:endParaRPr lang="en-US" sz="1050" dirty="0"/>
          </a:p>
        </p:txBody>
      </p:sp>
      <p:sp>
        <p:nvSpPr>
          <p:cNvPr id="12" name="Shape 9"/>
          <p:cNvSpPr/>
          <p:nvPr/>
        </p:nvSpPr>
        <p:spPr>
          <a:xfrm>
            <a:off x="4572000" y="2359152"/>
            <a:ext cx="502920" cy="0"/>
          </a:xfrm>
          <a:prstGeom prst="line">
            <a:avLst/>
          </a:prstGeom>
          <a:noFill/>
          <a:ln w="15875">
            <a:solidFill>
              <a:srgbClr val="D62828"/>
            </a:solidFill>
            <a:prstDash val="solid"/>
            <a:tailEnd type="triangle"/>
          </a:ln>
        </p:spPr>
        <p:txBody>
          <a:bodyPr/>
          <a:lstStyle/>
          <a:p>
            <a:endParaRPr/>
          </a:p>
        </p:txBody>
      </p:sp>
      <p:sp>
        <p:nvSpPr>
          <p:cNvPr id="13" name="Shape 10"/>
          <p:cNvSpPr/>
          <p:nvPr/>
        </p:nvSpPr>
        <p:spPr>
          <a:xfrm>
            <a:off x="457200" y="286207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676656" y="286207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생활인구 (일 → 월평균)</a:t>
            </a:r>
            <a:endParaRPr lang="en-US" sz="1300" dirty="0"/>
          </a:p>
        </p:txBody>
      </p:sp>
      <p:sp>
        <p:nvSpPr>
          <p:cNvPr id="15" name="Shape 12"/>
          <p:cNvSpPr/>
          <p:nvPr/>
        </p:nvSpPr>
        <p:spPr>
          <a:xfrm>
            <a:off x="3017520" y="309067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16" name="Text 13"/>
          <p:cNvSpPr txBox="1"/>
          <p:nvPr/>
        </p:nvSpPr>
        <p:spPr>
          <a:xfrm>
            <a:off x="3017520" y="309067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a:t>
            </a:r>
            <a:endParaRPr lang="en-US" sz="1050" dirty="0"/>
          </a:p>
        </p:txBody>
      </p:sp>
      <p:sp>
        <p:nvSpPr>
          <p:cNvPr id="17" name="Shape 14"/>
          <p:cNvSpPr/>
          <p:nvPr/>
        </p:nvSpPr>
        <p:spPr>
          <a:xfrm>
            <a:off x="4572000" y="3227832"/>
            <a:ext cx="502920" cy="0"/>
          </a:xfrm>
          <a:prstGeom prst="line">
            <a:avLst/>
          </a:prstGeom>
          <a:noFill/>
          <a:ln w="15875">
            <a:solidFill>
              <a:srgbClr val="D62828"/>
            </a:solidFill>
            <a:prstDash val="solid"/>
            <a:tailEnd type="triangle"/>
          </a:ln>
        </p:spPr>
        <p:txBody>
          <a:bodyPr/>
          <a:lstStyle/>
          <a:p>
            <a:endParaRPr/>
          </a:p>
        </p:txBody>
      </p:sp>
      <p:sp>
        <p:nvSpPr>
          <p:cNvPr id="18" name="Shape 15"/>
          <p:cNvSpPr/>
          <p:nvPr/>
        </p:nvSpPr>
        <p:spPr>
          <a:xfrm>
            <a:off x="457200" y="373075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676656" y="373075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구조활동 사고 원인</a:t>
            </a:r>
            <a:endParaRPr lang="en-US" sz="1300" dirty="0"/>
          </a:p>
        </p:txBody>
      </p:sp>
      <p:sp>
        <p:nvSpPr>
          <p:cNvPr id="20" name="Shape 17"/>
          <p:cNvSpPr/>
          <p:nvPr/>
        </p:nvSpPr>
        <p:spPr>
          <a:xfrm>
            <a:off x="3017520" y="395935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21" name="Text 18"/>
          <p:cNvSpPr txBox="1"/>
          <p:nvPr/>
        </p:nvSpPr>
        <p:spPr>
          <a:xfrm>
            <a:off x="3017520" y="395935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2" name="Shape 19"/>
          <p:cNvSpPr/>
          <p:nvPr/>
        </p:nvSpPr>
        <p:spPr>
          <a:xfrm>
            <a:off x="4572000" y="4096512"/>
            <a:ext cx="502920" cy="0"/>
          </a:xfrm>
          <a:prstGeom prst="line">
            <a:avLst/>
          </a:prstGeom>
          <a:noFill/>
          <a:ln w="15875">
            <a:solidFill>
              <a:srgbClr val="D62828"/>
            </a:solidFill>
            <a:prstDash val="solid"/>
            <a:tailEnd type="triangle"/>
          </a:ln>
        </p:spPr>
        <p:txBody>
          <a:bodyPr/>
          <a:lstStyle/>
          <a:p>
            <a:endParaRPr/>
          </a:p>
        </p:txBody>
      </p:sp>
      <p:sp>
        <p:nvSpPr>
          <p:cNvPr id="23" name="Shape 20"/>
          <p:cNvSpPr/>
          <p:nvPr/>
        </p:nvSpPr>
        <p:spPr>
          <a:xfrm>
            <a:off x="457200" y="459943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676656" y="459943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의료이용 수요 · 공급</a:t>
            </a:r>
            <a:endParaRPr lang="en-US" sz="1300" dirty="0"/>
          </a:p>
        </p:txBody>
      </p:sp>
      <p:sp>
        <p:nvSpPr>
          <p:cNvPr id="25" name="Shape 22"/>
          <p:cNvSpPr/>
          <p:nvPr/>
        </p:nvSpPr>
        <p:spPr>
          <a:xfrm>
            <a:off x="3017520" y="482803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26" name="Text 23"/>
          <p:cNvSpPr txBox="1"/>
          <p:nvPr/>
        </p:nvSpPr>
        <p:spPr>
          <a:xfrm>
            <a:off x="3017520" y="482803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7" name="Shape 24"/>
          <p:cNvSpPr/>
          <p:nvPr/>
        </p:nvSpPr>
        <p:spPr>
          <a:xfrm>
            <a:off x="4572000" y="4965192"/>
            <a:ext cx="502920" cy="0"/>
          </a:xfrm>
          <a:prstGeom prst="line">
            <a:avLst/>
          </a:prstGeom>
          <a:noFill/>
          <a:ln w="15875">
            <a:solidFill>
              <a:srgbClr val="D62828"/>
            </a:solidFill>
            <a:prstDash val="solid"/>
            <a:tailEnd type="triangle"/>
          </a:ln>
        </p:spPr>
        <p:txBody>
          <a:bodyPr/>
          <a:lstStyle/>
          <a:p>
            <a:endParaRPr/>
          </a:p>
        </p:txBody>
      </p:sp>
      <p:sp>
        <p:nvSpPr>
          <p:cNvPr id="28" name="Shape 25"/>
          <p:cNvSpPr/>
          <p:nvPr/>
        </p:nvSpPr>
        <p:spPr>
          <a:xfrm>
            <a:off x="5212080" y="1993392"/>
            <a:ext cx="2743200" cy="3337560"/>
          </a:xfrm>
          <a:prstGeom prst="roundRect">
            <a:avLst>
              <a:gd name="adj" fmla="val 4667"/>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9" name="Text 26"/>
          <p:cNvSpPr txBox="1"/>
          <p:nvPr/>
        </p:nvSpPr>
        <p:spPr>
          <a:xfrm>
            <a:off x="5431536" y="2286000"/>
            <a:ext cx="2304288"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에이투지체 5 Medium"/>
                <a:ea typeface="에이투지체 5 Medium"/>
                <a:cs typeface="에이투지체 5 Medium"/>
              </a:rPr>
              <a:t>이송 예측 표</a:t>
            </a:r>
            <a:endParaRPr lang="en-US" sz="1800" dirty="0"/>
          </a:p>
        </p:txBody>
      </p:sp>
      <p:sp>
        <p:nvSpPr>
          <p:cNvPr id="30" name="Text 27"/>
          <p:cNvSpPr txBox="1"/>
          <p:nvPr/>
        </p:nvSpPr>
        <p:spPr>
          <a:xfrm>
            <a:off x="5431536" y="2743200"/>
            <a:ext cx="2304288" cy="640080"/>
          </a:xfrm>
          <a:prstGeom prst="rect">
            <a:avLst/>
          </a:prstGeom>
          <a:noFill/>
          <a:ln/>
        </p:spPr>
        <p:txBody>
          <a:bodyPr wrap="square" lIns="0" tIns="0" rIns="0" bIns="0" rtlCol="0" anchor="ctr"/>
          <a:lstStyle/>
          <a:p>
            <a:pPr marL="0" indent="0" algn="ctr">
              <a:buNone/>
            </a:pPr>
            <a:r>
              <a:rPr lang="en-US" sz="1300" dirty="0">
                <a:solidFill>
                  <a:srgbClr val="FDE3E3"/>
                </a:solidFill>
                <a:latin typeface="에이투지체 5 Medium"/>
                <a:ea typeface="에이투지체 5 Medium"/>
                <a:cs typeface="에이투지체 5 Medium"/>
              </a:rPr>
              <a:t>구 × 월</a:t>
            </a:r>
            <a:endParaRPr lang="en-US" sz="1300" dirty="0"/>
          </a:p>
          <a:p>
            <a:pPr marL="0" indent="0" algn="ctr">
              <a:buNone/>
            </a:pPr>
            <a:r>
              <a:rPr lang="en-US" sz="1300" dirty="0">
                <a:solidFill>
                  <a:srgbClr val="FDE3E3"/>
                </a:solidFill>
                <a:latin typeface="에이투지체 5 Medium"/>
                <a:ea typeface="에이투지체 5 Medium"/>
                <a:cs typeface="에이투지체 5 Medium"/>
              </a:rPr>
              <a:t>2,564행 × 46열</a:t>
            </a:r>
            <a:endParaRPr lang="en-US" sz="1300" dirty="0"/>
          </a:p>
        </p:txBody>
      </p:sp>
      <p:sp>
        <p:nvSpPr>
          <p:cNvPr id="31" name="Shape 28"/>
          <p:cNvSpPr/>
          <p:nvPr/>
        </p:nvSpPr>
        <p:spPr>
          <a:xfrm>
            <a:off x="5431536" y="3566160"/>
            <a:ext cx="2304288" cy="0"/>
          </a:xfrm>
          <a:prstGeom prst="line">
            <a:avLst/>
          </a:prstGeom>
          <a:noFill/>
          <a:ln w="9525">
            <a:solidFill>
              <a:srgbClr val="E87A7A"/>
            </a:solidFill>
            <a:prstDash val="solid"/>
          </a:ln>
        </p:spPr>
        <p:txBody>
          <a:bodyPr/>
          <a:lstStyle/>
          <a:p>
            <a:endParaRPr/>
          </a:p>
        </p:txBody>
      </p:sp>
      <p:sp>
        <p:nvSpPr>
          <p:cNvPr id="32" name="Text 29"/>
          <p:cNvSpPr txBox="1"/>
          <p:nvPr/>
        </p:nvSpPr>
        <p:spPr>
          <a:xfrm>
            <a:off x="5431536" y="3703320"/>
            <a:ext cx="2304288" cy="27432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정답</a:t>
            </a:r>
            <a:endParaRPr lang="en-US" sz="1100" dirty="0"/>
          </a:p>
        </p:txBody>
      </p:sp>
      <p:sp>
        <p:nvSpPr>
          <p:cNvPr id="33" name="Text 30"/>
          <p:cNvSpPr txBox="1"/>
          <p:nvPr/>
        </p:nvSpPr>
        <p:spPr>
          <a:xfrm>
            <a:off x="5431536" y="4023360"/>
            <a:ext cx="2304288"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당월 이송 건수</a:t>
            </a:r>
            <a:endParaRPr lang="en-US" sz="1600" dirty="0"/>
          </a:p>
        </p:txBody>
      </p:sp>
      <p:sp>
        <p:nvSpPr>
          <p:cNvPr id="34" name="Shape 31"/>
          <p:cNvSpPr/>
          <p:nvPr/>
        </p:nvSpPr>
        <p:spPr>
          <a:xfrm>
            <a:off x="8138160" y="1993392"/>
            <a:ext cx="3596335" cy="3337560"/>
          </a:xfrm>
          <a:prstGeom prst="roundRect">
            <a:avLst>
              <a:gd name="adj" fmla="val 27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5" name="Text 32"/>
          <p:cNvSpPr txBox="1"/>
          <p:nvPr/>
        </p:nvSpPr>
        <p:spPr>
          <a:xfrm>
            <a:off x="8357616" y="2176272"/>
            <a:ext cx="315468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 표</a:t>
            </a:r>
            <a:endParaRPr lang="en-US" sz="1800" dirty="0"/>
          </a:p>
        </p:txBody>
      </p:sp>
      <p:sp>
        <p:nvSpPr>
          <p:cNvPr id="36" name="Shape 33"/>
          <p:cNvSpPr/>
          <p:nvPr/>
        </p:nvSpPr>
        <p:spPr>
          <a:xfrm>
            <a:off x="8357616" y="2578608"/>
            <a:ext cx="3154680" cy="0"/>
          </a:xfrm>
          <a:prstGeom prst="line">
            <a:avLst/>
          </a:prstGeom>
          <a:noFill/>
          <a:ln w="9525">
            <a:solidFill>
              <a:srgbClr val="E5E7EB"/>
            </a:solidFill>
            <a:prstDash val="solid"/>
          </a:ln>
        </p:spPr>
        <p:txBody>
          <a:bodyPr/>
          <a:lstStyle/>
          <a:p>
            <a:endParaRPr/>
          </a:p>
        </p:txBody>
      </p:sp>
      <p:sp>
        <p:nvSpPr>
          <p:cNvPr id="37" name="Shape 34"/>
          <p:cNvSpPr/>
          <p:nvPr/>
        </p:nvSpPr>
        <p:spPr>
          <a:xfrm>
            <a:off x="8357616" y="2816352"/>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38" name="Text 35"/>
          <p:cNvSpPr txBox="1"/>
          <p:nvPr/>
        </p:nvSpPr>
        <p:spPr>
          <a:xfrm>
            <a:off x="8357616" y="2816352"/>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전일 값</a:t>
            </a:r>
            <a:endParaRPr lang="en-US" sz="1050" dirty="0"/>
          </a:p>
        </p:txBody>
      </p:sp>
      <p:sp>
        <p:nvSpPr>
          <p:cNvPr id="39" name="Text 36"/>
          <p:cNvSpPr txBox="1"/>
          <p:nvPr/>
        </p:nvSpPr>
        <p:spPr>
          <a:xfrm>
            <a:off x="9601200" y="2743200"/>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전일 생활인구 지표</a:t>
            </a:r>
            <a:endParaRPr lang="en-US" sz="1200" dirty="0"/>
          </a:p>
        </p:txBody>
      </p:sp>
      <p:sp>
        <p:nvSpPr>
          <p:cNvPr id="40" name="Shape 37"/>
          <p:cNvSpPr/>
          <p:nvPr/>
        </p:nvSpPr>
        <p:spPr>
          <a:xfrm>
            <a:off x="8357616" y="3346704"/>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1" name="Text 38"/>
          <p:cNvSpPr txBox="1"/>
          <p:nvPr/>
        </p:nvSpPr>
        <p:spPr>
          <a:xfrm>
            <a:off x="8357616" y="3346704"/>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7일 전 값</a:t>
            </a:r>
            <a:endParaRPr lang="en-US" sz="1050" dirty="0"/>
          </a:p>
        </p:txBody>
      </p:sp>
      <p:sp>
        <p:nvSpPr>
          <p:cNvPr id="42" name="Text 39"/>
          <p:cNvSpPr txBox="1"/>
          <p:nvPr/>
        </p:nvSpPr>
        <p:spPr>
          <a:xfrm>
            <a:off x="9601200" y="3273552"/>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전주 동일 요일</a:t>
            </a:r>
            <a:endParaRPr lang="en-US" sz="1200" dirty="0"/>
          </a:p>
        </p:txBody>
      </p:sp>
      <p:sp>
        <p:nvSpPr>
          <p:cNvPr id="43" name="Shape 40"/>
          <p:cNvSpPr/>
          <p:nvPr/>
        </p:nvSpPr>
        <p:spPr>
          <a:xfrm>
            <a:off x="8357616" y="3877056"/>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4" name="Text 41"/>
          <p:cNvSpPr txBox="1"/>
          <p:nvPr/>
        </p:nvSpPr>
        <p:spPr>
          <a:xfrm>
            <a:off x="8357616" y="3877056"/>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달력 정보</a:t>
            </a:r>
            <a:endParaRPr lang="en-US" sz="1050" dirty="0"/>
          </a:p>
        </p:txBody>
      </p:sp>
      <p:sp>
        <p:nvSpPr>
          <p:cNvPr id="45" name="Text 42"/>
          <p:cNvSpPr txBox="1"/>
          <p:nvPr/>
        </p:nvSpPr>
        <p:spPr>
          <a:xfrm>
            <a:off x="9601200" y="3803904"/>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월 · 요일 · 주말</a:t>
            </a:r>
            <a:endParaRPr lang="en-US" sz="1200" dirty="0"/>
          </a:p>
        </p:txBody>
      </p:sp>
      <p:sp>
        <p:nvSpPr>
          <p:cNvPr id="46" name="Text 43"/>
          <p:cNvSpPr txBox="1"/>
          <p:nvPr/>
        </p:nvSpPr>
        <p:spPr>
          <a:xfrm>
            <a:off x="8357616" y="4434840"/>
            <a:ext cx="3154680" cy="640080"/>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정답: 당일 일최대인구수</a:t>
            </a:r>
            <a:endParaRPr lang="en-US" sz="1200" dirty="0"/>
          </a:p>
          <a:p>
            <a:pPr marL="0" indent="0" algn="ctr">
              <a:buNone/>
            </a:pPr>
            <a:r>
              <a:rPr lang="en-US" sz="1200" b="1" dirty="0">
                <a:solidFill>
                  <a:srgbClr val="222222"/>
                </a:solidFill>
                <a:latin typeface="에이투지체 5 Medium"/>
                <a:ea typeface="에이투지체 5 Medium"/>
                <a:cs typeface="에이투지체 5 Medium"/>
              </a:rPr>
              <a:t>75,825행 × 20열</a:t>
            </a:r>
            <a:endParaRPr lang="en-US" sz="1200" dirty="0"/>
          </a:p>
        </p:txBody>
      </p:sp>
      <p:sp>
        <p:nvSpPr>
          <p:cNvPr id="47" name="Shape 44"/>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8" name="Text 45"/>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지난달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출동 건수 등 미래 시점에 계산 불가한 값은 입력에서 제외, 미래 예측 입력 150행 동일 방식 생성</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입력 변수 선택 기준 및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2024년까지 자료 기준 4단계 규칙 적용 → 이송 8개 · 인구 5개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features_transport · features_population</a:t>
            </a:r>
            <a:endParaRPr lang="en-US" sz="900" dirty="0"/>
          </a:p>
        </p:txBody>
      </p:sp>
      <p:sp>
        <p:nvSpPr>
          <p:cNvPr id="8" name="Shape 5"/>
          <p:cNvSpPr/>
          <p:nvPr/>
        </p:nvSpPr>
        <p:spPr>
          <a:xfrm>
            <a:off x="457200" y="1993392"/>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Shape 6"/>
          <p:cNvSpPr/>
          <p:nvPr/>
        </p:nvSpPr>
        <p:spPr>
          <a:xfrm>
            <a:off x="658368" y="2258568"/>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10" name="Text 7"/>
          <p:cNvSpPr txBox="1"/>
          <p:nvPr/>
        </p:nvSpPr>
        <p:spPr>
          <a:xfrm>
            <a:off x="658368" y="225856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1</a:t>
            </a:r>
            <a:endParaRPr lang="en-US" sz="1400" dirty="0"/>
          </a:p>
        </p:txBody>
      </p:sp>
      <p:sp>
        <p:nvSpPr>
          <p:cNvPr id="11" name="Text 8"/>
          <p:cNvSpPr txBox="1"/>
          <p:nvPr/>
        </p:nvSpPr>
        <p:spPr>
          <a:xfrm>
            <a:off x="1234440" y="2148840"/>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결측 20% 초과 제외</a:t>
            </a:r>
            <a:endParaRPr lang="en-US" sz="1400" dirty="0"/>
          </a:p>
        </p:txBody>
      </p:sp>
      <p:sp>
        <p:nvSpPr>
          <p:cNvPr id="12" name="Text 9"/>
          <p:cNvSpPr txBox="1"/>
          <p:nvPr/>
        </p:nvSpPr>
        <p:spPr>
          <a:xfrm>
            <a:off x="1234440" y="2496312"/>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행 손실 방지</a:t>
            </a:r>
            <a:endParaRPr lang="en-US" sz="1100" dirty="0"/>
          </a:p>
        </p:txBody>
      </p:sp>
      <p:sp>
        <p:nvSpPr>
          <p:cNvPr id="13" name="Shape 10"/>
          <p:cNvSpPr/>
          <p:nvPr/>
        </p:nvSpPr>
        <p:spPr>
          <a:xfrm>
            <a:off x="457200" y="3063240"/>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Shape 11"/>
          <p:cNvSpPr/>
          <p:nvPr/>
        </p:nvSpPr>
        <p:spPr>
          <a:xfrm>
            <a:off x="658368" y="3328416"/>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15" name="Text 12"/>
          <p:cNvSpPr txBox="1"/>
          <p:nvPr/>
        </p:nvSpPr>
        <p:spPr>
          <a:xfrm>
            <a:off x="658368" y="3328416"/>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2</a:t>
            </a:r>
            <a:endParaRPr lang="en-US" sz="1400" dirty="0"/>
          </a:p>
        </p:txBody>
      </p:sp>
      <p:sp>
        <p:nvSpPr>
          <p:cNvPr id="16" name="Text 13"/>
          <p:cNvSpPr txBox="1"/>
          <p:nvPr/>
        </p:nvSpPr>
        <p:spPr>
          <a:xfrm>
            <a:off x="1234440" y="3218688"/>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정답과 |r| &lt; 0.3 제외</a:t>
            </a:r>
            <a:endParaRPr lang="en-US" sz="1400" dirty="0"/>
          </a:p>
        </p:txBody>
      </p:sp>
      <p:sp>
        <p:nvSpPr>
          <p:cNvPr id="17" name="Text 14"/>
          <p:cNvSpPr txBox="1"/>
          <p:nvPr/>
        </p:nvSpPr>
        <p:spPr>
          <a:xfrm>
            <a:off x="1234440" y="3566160"/>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관계가 약한 변수 제외</a:t>
            </a:r>
            <a:endParaRPr lang="en-US" sz="1100" dirty="0"/>
          </a:p>
        </p:txBody>
      </p:sp>
      <p:sp>
        <p:nvSpPr>
          <p:cNvPr id="18" name="Shape 15"/>
          <p:cNvSpPr/>
          <p:nvPr/>
        </p:nvSpPr>
        <p:spPr>
          <a:xfrm>
            <a:off x="457200" y="4133088"/>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Shape 16"/>
          <p:cNvSpPr/>
          <p:nvPr/>
        </p:nvSpPr>
        <p:spPr>
          <a:xfrm>
            <a:off x="658368" y="4398264"/>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20" name="Text 17"/>
          <p:cNvSpPr txBox="1"/>
          <p:nvPr/>
        </p:nvSpPr>
        <p:spPr>
          <a:xfrm>
            <a:off x="658368" y="439826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3</a:t>
            </a:r>
            <a:endParaRPr lang="en-US" sz="1400" dirty="0"/>
          </a:p>
        </p:txBody>
      </p:sp>
      <p:sp>
        <p:nvSpPr>
          <p:cNvPr id="21" name="Text 18"/>
          <p:cNvSpPr txBox="1"/>
          <p:nvPr/>
        </p:nvSpPr>
        <p:spPr>
          <a:xfrm>
            <a:off x="1234440" y="4288536"/>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선택 변수와 |r| ≥ 0.9 제외</a:t>
            </a:r>
            <a:endParaRPr lang="en-US" sz="1400" dirty="0"/>
          </a:p>
        </p:txBody>
      </p:sp>
      <p:sp>
        <p:nvSpPr>
          <p:cNvPr id="22" name="Text 19"/>
          <p:cNvSpPr txBox="1"/>
          <p:nvPr/>
        </p:nvSpPr>
        <p:spPr>
          <a:xfrm>
            <a:off x="1234440" y="4636008"/>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중복 정보 제외</a:t>
            </a:r>
            <a:endParaRPr lang="en-US" sz="1100" dirty="0"/>
          </a:p>
        </p:txBody>
      </p:sp>
      <p:sp>
        <p:nvSpPr>
          <p:cNvPr id="23" name="Shape 20"/>
          <p:cNvSpPr/>
          <p:nvPr/>
        </p:nvSpPr>
        <p:spPr>
          <a:xfrm>
            <a:off x="457200" y="5202936"/>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Shape 21"/>
          <p:cNvSpPr/>
          <p:nvPr/>
        </p:nvSpPr>
        <p:spPr>
          <a:xfrm>
            <a:off x="658368" y="5468112"/>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25" name="Text 22"/>
          <p:cNvSpPr txBox="1"/>
          <p:nvPr/>
        </p:nvSpPr>
        <p:spPr>
          <a:xfrm>
            <a:off x="658368" y="54681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4</a:t>
            </a:r>
            <a:endParaRPr lang="en-US" sz="1400" dirty="0"/>
          </a:p>
        </p:txBody>
      </p:sp>
      <p:sp>
        <p:nvSpPr>
          <p:cNvPr id="26" name="Text 23"/>
          <p:cNvSpPr txBox="1"/>
          <p:nvPr/>
        </p:nvSpPr>
        <p:spPr>
          <a:xfrm>
            <a:off x="1234440" y="5358384"/>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계산 기간: 2024년까지</a:t>
            </a:r>
            <a:endParaRPr lang="en-US" sz="1400" dirty="0"/>
          </a:p>
        </p:txBody>
      </p:sp>
      <p:sp>
        <p:nvSpPr>
          <p:cNvPr id="27" name="Text 24"/>
          <p:cNvSpPr txBox="1"/>
          <p:nvPr/>
        </p:nvSpPr>
        <p:spPr>
          <a:xfrm>
            <a:off x="1234440" y="5705856"/>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이후 기간 정보 차단</a:t>
            </a:r>
            <a:endParaRPr lang="en-US" sz="1100" dirty="0"/>
          </a:p>
        </p:txBody>
      </p:sp>
      <p:sp>
        <p:nvSpPr>
          <p:cNvPr id="28" name="Shape 25"/>
          <p:cNvSpPr/>
          <p:nvPr/>
        </p:nvSpPr>
        <p:spPr>
          <a:xfrm>
            <a:off x="4389120" y="1993392"/>
            <a:ext cx="3673145" cy="4197096"/>
          </a:xfrm>
          <a:prstGeom prst="roundRect">
            <a:avLst>
              <a:gd name="adj" fmla="val 248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9" name="Text 26"/>
          <p:cNvSpPr txBox="1"/>
          <p:nvPr/>
        </p:nvSpPr>
        <p:spPr>
          <a:xfrm>
            <a:off x="4608576" y="2157984"/>
            <a:ext cx="323423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 8개 (33개 제외)</a:t>
            </a:r>
            <a:endParaRPr lang="en-US" sz="1800" dirty="0"/>
          </a:p>
        </p:txBody>
      </p:sp>
      <p:sp>
        <p:nvSpPr>
          <p:cNvPr id="30" name="Shape 27"/>
          <p:cNvSpPr/>
          <p:nvPr/>
        </p:nvSpPr>
        <p:spPr>
          <a:xfrm>
            <a:off x="4608576" y="2560320"/>
            <a:ext cx="3234233" cy="0"/>
          </a:xfrm>
          <a:prstGeom prst="line">
            <a:avLst/>
          </a:prstGeom>
          <a:noFill/>
          <a:ln w="9525">
            <a:solidFill>
              <a:srgbClr val="E5E7EB"/>
            </a:solidFill>
            <a:prstDash val="solid"/>
          </a:ln>
        </p:spPr>
        <p:txBody>
          <a:bodyPr/>
          <a:lstStyle/>
          <a:p>
            <a:endParaRPr/>
          </a:p>
        </p:txBody>
      </p:sp>
      <p:sp>
        <p:nvSpPr>
          <p:cNvPr id="31" name="Text 28"/>
          <p:cNvSpPr txBox="1"/>
          <p:nvPr/>
        </p:nvSpPr>
        <p:spPr>
          <a:xfrm>
            <a:off x="4608576" y="2670048"/>
            <a:ext cx="3234233"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전월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동월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서울외 유입인구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인명갇힘 사고</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승강기 사고</a:t>
            </a:r>
            <a:endParaRPr lang="en-US" sz="1300" dirty="0"/>
          </a:p>
        </p:txBody>
      </p:sp>
      <p:sp>
        <p:nvSpPr>
          <p:cNvPr id="32" name="Shape 29"/>
          <p:cNvSpPr/>
          <p:nvPr/>
        </p:nvSpPr>
        <p:spPr>
          <a:xfrm>
            <a:off x="8245145" y="1993392"/>
            <a:ext cx="3489350" cy="4197096"/>
          </a:xfrm>
          <a:prstGeom prst="roundRect">
            <a:avLst>
              <a:gd name="adj" fmla="val 262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8464601" y="2157984"/>
            <a:ext cx="305043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 5개 (9개 제외)</a:t>
            </a:r>
            <a:endParaRPr lang="en-US" sz="1800" dirty="0"/>
          </a:p>
        </p:txBody>
      </p:sp>
      <p:sp>
        <p:nvSpPr>
          <p:cNvPr id="34" name="Shape 31"/>
          <p:cNvSpPr/>
          <p:nvPr/>
        </p:nvSpPr>
        <p:spPr>
          <a:xfrm>
            <a:off x="8464601" y="2560320"/>
            <a:ext cx="3050438" cy="0"/>
          </a:xfrm>
          <a:prstGeom prst="line">
            <a:avLst/>
          </a:prstGeom>
          <a:noFill/>
          <a:ln w="9525">
            <a:solidFill>
              <a:srgbClr val="E5E7EB"/>
            </a:solidFill>
            <a:prstDash val="solid"/>
          </a:ln>
        </p:spPr>
        <p:txBody>
          <a:bodyPr/>
          <a:lstStyle/>
          <a:p>
            <a:endParaRPr/>
          </a:p>
        </p:txBody>
      </p:sp>
      <p:sp>
        <p:nvSpPr>
          <p:cNvPr id="35" name="Text 32"/>
          <p:cNvSpPr txBox="1"/>
          <p:nvPr/>
        </p:nvSpPr>
        <p:spPr>
          <a:xfrm>
            <a:off x="8464601" y="2670048"/>
            <a:ext cx="3050438"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7일 전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일최대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주야간 인구 차이</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03</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분석</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생활인구와 이송 건수의 관계, 인구 가중치 및 자치구 유형, 계절성</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생활인구-이송 관계</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인구 가중치 및 자치구 유형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월별 계절성</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생활인구와 이송 건수의 관계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 간 비교(규모)와 구 내 비교(월별 변화)의 상관 차이</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(2018.04~2025.12, 2,233행)</a:t>
            </a:r>
            <a:endParaRPr lang="en-US" sz="900" dirty="0"/>
          </a:p>
        </p:txBody>
      </p:sp>
      <p:sp>
        <p:nvSpPr>
          <p:cNvPr id="8" name="Shape 5"/>
          <p:cNvSpPr/>
          <p:nvPr/>
        </p:nvSpPr>
        <p:spPr>
          <a:xfrm>
            <a:off x="457200" y="1993392"/>
            <a:ext cx="731520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132320"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955280" y="1993392"/>
            <a:ext cx="3779215" cy="1645920"/>
          </a:xfrm>
          <a:prstGeom prst="roundRect">
            <a:avLst>
              <a:gd name="adj" fmla="val 7778"/>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174736" y="2176272"/>
            <a:ext cx="334030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0.81</a:t>
            </a:r>
            <a:endParaRPr lang="en-US" sz="3600" dirty="0"/>
          </a:p>
        </p:txBody>
      </p:sp>
      <p:sp>
        <p:nvSpPr>
          <p:cNvPr id="12" name="Text 8"/>
          <p:cNvSpPr txBox="1"/>
          <p:nvPr/>
        </p:nvSpPr>
        <p:spPr>
          <a:xfrm>
            <a:off x="8174736" y="2779776"/>
            <a:ext cx="334030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구 간 상관 (야간인구)</a:t>
            </a:r>
            <a:endParaRPr lang="en-US" sz="1400" dirty="0"/>
          </a:p>
        </p:txBody>
      </p:sp>
      <p:sp>
        <p:nvSpPr>
          <p:cNvPr id="13" name="Shape 9"/>
          <p:cNvSpPr/>
          <p:nvPr/>
        </p:nvSpPr>
        <p:spPr>
          <a:xfrm>
            <a:off x="8174736" y="3182112"/>
            <a:ext cx="3340303" cy="0"/>
          </a:xfrm>
          <a:prstGeom prst="line">
            <a:avLst/>
          </a:prstGeom>
          <a:noFill/>
          <a:ln w="9525">
            <a:solidFill>
              <a:srgbClr val="E87A7A"/>
            </a:solidFill>
            <a:prstDash val="solid"/>
          </a:ln>
        </p:spPr>
        <p:txBody>
          <a:bodyPr/>
          <a:lstStyle/>
          <a:p>
            <a:endParaRPr/>
          </a:p>
        </p:txBody>
      </p:sp>
      <p:sp>
        <p:nvSpPr>
          <p:cNvPr id="14" name="Text 10"/>
          <p:cNvSpPr txBox="1"/>
          <p:nvPr/>
        </p:nvSpPr>
        <p:spPr>
          <a:xfrm>
            <a:off x="8174736" y="3291840"/>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인구 규모가 큰 구일수록</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이송 건수 증가</a:t>
            </a:r>
            <a:endParaRPr lang="en-US" sz="1100" dirty="0"/>
          </a:p>
        </p:txBody>
      </p:sp>
      <p:sp>
        <p:nvSpPr>
          <p:cNvPr id="15" name="Shape 11"/>
          <p:cNvSpPr/>
          <p:nvPr/>
        </p:nvSpPr>
        <p:spPr>
          <a:xfrm>
            <a:off x="7955280" y="3813048"/>
            <a:ext cx="3779215" cy="1645920"/>
          </a:xfrm>
          <a:prstGeom prst="roundRect">
            <a:avLst>
              <a:gd name="adj" fmla="val 5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6" name="Text 12"/>
          <p:cNvSpPr txBox="1"/>
          <p:nvPr/>
        </p:nvSpPr>
        <p:spPr>
          <a:xfrm>
            <a:off x="8174736" y="3995928"/>
            <a:ext cx="334030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 0.33</a:t>
            </a:r>
            <a:endParaRPr lang="en-US" sz="3600" dirty="0"/>
          </a:p>
        </p:txBody>
      </p:sp>
      <p:sp>
        <p:nvSpPr>
          <p:cNvPr id="17" name="Text 13"/>
          <p:cNvSpPr txBox="1"/>
          <p:nvPr/>
        </p:nvSpPr>
        <p:spPr>
          <a:xfrm>
            <a:off x="8174736" y="4599432"/>
            <a:ext cx="334030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구 내 상관 (전 지표)</a:t>
            </a:r>
            <a:endParaRPr lang="en-US" sz="1400" dirty="0"/>
          </a:p>
        </p:txBody>
      </p:sp>
      <p:sp>
        <p:nvSpPr>
          <p:cNvPr id="18" name="Shape 14"/>
          <p:cNvSpPr/>
          <p:nvPr/>
        </p:nvSpPr>
        <p:spPr>
          <a:xfrm>
            <a:off x="8174736" y="5001768"/>
            <a:ext cx="3340303" cy="0"/>
          </a:xfrm>
          <a:prstGeom prst="line">
            <a:avLst/>
          </a:prstGeom>
          <a:noFill/>
          <a:ln w="9525">
            <a:solidFill>
              <a:srgbClr val="E5E7EB"/>
            </a:solidFill>
            <a:prstDash val="solid"/>
          </a:ln>
        </p:spPr>
        <p:txBody>
          <a:bodyPr/>
          <a:lstStyle/>
          <a:p>
            <a:endParaRPr/>
          </a:p>
        </p:txBody>
      </p:sp>
      <p:sp>
        <p:nvSpPr>
          <p:cNvPr id="19" name="Text 15"/>
          <p:cNvSpPr txBox="1"/>
          <p:nvPr/>
        </p:nvSpPr>
        <p:spPr>
          <a:xfrm>
            <a:off x="8174736" y="5111496"/>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같은 구의 월별 인구 변화와</a:t>
            </a:r>
            <a:endParaRPr lang="en-US" sz="1100" dirty="0"/>
          </a:p>
          <a:p>
            <a:pPr marL="0" indent="0" algn="ctr">
              <a:lnSpc>
                <a:spcPct val="120000"/>
              </a:lnSpc>
              <a:buNone/>
            </a:pPr>
            <a:r>
              <a:rPr lang="en-US" sz="1100" dirty="0">
                <a:solidFill>
                  <a:srgbClr val="45515E"/>
                </a:solidFill>
                <a:latin typeface="에이투지체 5 Medium"/>
                <a:ea typeface="에이투지체 5 Medium"/>
                <a:cs typeface="에이투지체 5 Medium"/>
              </a:rPr>
              <a:t>이송 변화의 관계 약함</a:t>
            </a:r>
            <a:endParaRPr lang="en-US" sz="1100" dirty="0"/>
          </a:p>
        </p:txBody>
      </p:sp>
      <p:sp>
        <p:nvSpPr>
          <p:cNvPr id="20" name="Shape 16"/>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7"/>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구별 수요 규모 설명 변수, 월별 변화는 계절 · 전월 값으로 설명</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생활인구-이송 건수 산점도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 × 월 전체 분포와 자치구별 평균 비교 (야간인구 기준, 학습 기간)</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(relation_scatter)</a:t>
            </a:r>
            <a:endParaRPr lang="en-US" sz="900" dirty="0"/>
          </a:p>
        </p:txBody>
      </p:sp>
      <p:sp>
        <p:nvSpPr>
          <p:cNvPr id="1001" name="Add 1001"/>
          <p:cNvSpPr/>
          <p:nvPr/>
        </p:nvSpPr>
        <p:spPr>
          <a:xfrm>
            <a:off x="457200" y="1993392"/>
            <a:ext cx="11277295" cy="3291840"/>
          </a:xfrm>
          <a:prstGeom prst="roundRect">
            <a:avLst>
              <a:gd name="adj" fmla="val 2777"/>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02" name="Picture 1001" descr="relation_scatter.png"/>
          <p:cNvPicPr>
            <a:picLocks noChangeAspect="1"/>
          </p:cNvPicPr>
          <p:nvPr/>
        </p:nvPicPr>
        <p:blipFill>
          <a:blip r:embed="rId3"/>
          <a:stretch>
            <a:fillRect/>
          </a:stretch>
        </p:blipFill>
        <p:spPr>
          <a:xfrm>
            <a:off x="1756889" y="2103120"/>
            <a:ext cx="8677917" cy="3072384"/>
          </a:xfrm>
          <a:prstGeom prst="rect">
            <a:avLst/>
          </a:prstGeom>
        </p:spPr>
      </p:pic>
      <p:sp>
        <p:nvSpPr>
          <p:cNvPr id="7" name="Add 1002"/>
          <p:cNvSpPr/>
          <p:nvPr/>
        </p:nvSpPr>
        <p:spPr>
          <a:xfrm>
            <a:off x="457200" y="5468112"/>
            <a:ext cx="5547665" cy="722376"/>
          </a:xfrm>
          <a:prstGeom prst="roundRect">
            <a:avLst>
              <a:gd name="adj" fmla="val 12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03" name="Add 1003"/>
          <p:cNvSpPr txBox="1"/>
          <p:nvPr/>
        </p:nvSpPr>
        <p:spPr>
          <a:xfrm>
            <a:off x="676656" y="5468112"/>
            <a:ext cx="1463040" cy="722376"/>
          </a:xfrm>
          <a:prstGeom prst="rect">
            <a:avLst/>
          </a:prstGeom>
          <a:noFill/>
        </p:spPr>
        <p:txBody>
          <a:bodyPr wrap="square" lIns="0" tIns="0" rIns="0" bIns="0" rtlCol="0" anchor="ctr"/>
          <a:lstStyle/>
          <a:p>
            <a:pPr algn="l"/>
            <a:r>
              <a:rPr lang="ko-KR" sz="1400" b="1" dirty="0">
                <a:solidFill>
                  <a:srgbClr val="D62828"/>
                </a:solidFill>
                <a:latin typeface="에이투지체 5 Medium"/>
                <a:ea typeface="에이투지체 5 Medium"/>
                <a:cs typeface="에이투지체 5 Medium"/>
              </a:rPr>
              <a:t>구 × 월 전체</a:t>
            </a:r>
          </a:p>
        </p:txBody>
      </p:sp>
      <p:sp>
        <p:nvSpPr>
          <p:cNvPr id="1004" name="Add 1004"/>
          <p:cNvSpPr txBox="1"/>
          <p:nvPr/>
        </p:nvSpPr>
        <p:spPr>
          <a:xfrm>
            <a:off x="2103120" y="5468112"/>
            <a:ext cx="3749040" cy="722376"/>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자치구(색)별 군집 분포 → 구 규모 차이가 전체 상관 주도</a:t>
            </a:r>
          </a:p>
        </p:txBody>
      </p:sp>
      <p:sp>
        <p:nvSpPr>
          <p:cNvPr id="1005" name="Add 1005"/>
          <p:cNvSpPr/>
          <p:nvPr/>
        </p:nvSpPr>
        <p:spPr>
          <a:xfrm>
            <a:off x="6187745" y="5468112"/>
            <a:ext cx="5546750" cy="722376"/>
          </a:xfrm>
          <a:prstGeom prst="roundRect">
            <a:avLst>
              <a:gd name="adj" fmla="val 12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06" name="Add 1006"/>
          <p:cNvSpPr txBox="1"/>
          <p:nvPr/>
        </p:nvSpPr>
        <p:spPr>
          <a:xfrm>
            <a:off x="6409944" y="5468112"/>
            <a:ext cx="1463040" cy="722376"/>
          </a:xfrm>
          <a:prstGeom prst="rect">
            <a:avLst/>
          </a:prstGeom>
          <a:noFill/>
        </p:spPr>
        <p:txBody>
          <a:bodyPr wrap="square" lIns="0" tIns="0" rIns="0" bIns="0" rtlCol="0" anchor="ctr"/>
          <a:lstStyle/>
          <a:p>
            <a:pPr algn="l"/>
            <a:r>
              <a:rPr lang="ko-KR" sz="1400" b="1" dirty="0">
                <a:solidFill>
                  <a:srgbClr val="D62828"/>
                </a:solidFill>
                <a:latin typeface="에이투지체 5 Medium"/>
                <a:ea typeface="에이투지체 5 Medium"/>
                <a:cs typeface="에이투지체 5 Medium"/>
              </a:rPr>
              <a:t>자치구별 평균</a:t>
            </a:r>
          </a:p>
        </p:txBody>
      </p:sp>
      <p:sp>
        <p:nvSpPr>
          <p:cNvPr id="1007" name="Add 1007"/>
          <p:cNvSpPr txBox="1"/>
          <p:nvPr/>
        </p:nvSpPr>
        <p:spPr>
          <a:xfrm>
            <a:off x="7836408" y="5468112"/>
            <a:ext cx="3749040" cy="722376"/>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야간인구가 많은 구일수록 평균 이송 증가 (구 간 0.80)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가중치 및 자치구 유형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중복 없는 인구 지표 4개 가중치 산출, KMeans 4개 유형 분류</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(KMeans, k = 4)</a:t>
            </a:r>
            <a:endParaRPr lang="en-US" sz="900" dirty="0"/>
          </a:p>
        </p:txBody>
      </p:sp>
      <p:sp>
        <p:nvSpPr>
          <p:cNvPr id="8" name="Shape 5"/>
          <p:cNvSpPr/>
          <p:nvPr/>
        </p:nvSpPr>
        <p:spPr>
          <a:xfrm>
            <a:off x="457200" y="1993392"/>
            <a:ext cx="4937760" cy="3008376"/>
          </a:xfrm>
          <a:prstGeom prst="roundRect">
            <a:avLst>
              <a:gd name="adj" fmla="val 30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475488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457200" y="5184648"/>
            <a:ext cx="4937760" cy="1005840"/>
          </a:xfrm>
          <a:prstGeom prst="roundRect">
            <a:avLst>
              <a:gd name="adj" fmla="val 90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1" name="Text 7"/>
          <p:cNvSpPr txBox="1"/>
          <p:nvPr/>
        </p:nvSpPr>
        <p:spPr>
          <a:xfrm>
            <a:off x="640080" y="5184648"/>
            <a:ext cx="1188720" cy="1005840"/>
          </a:xfrm>
          <a:prstGeom prst="rect">
            <a:avLst/>
          </a:prstGeom>
          <a:noFill/>
          <a:ln/>
        </p:spPr>
        <p:txBody>
          <a:bodyPr wrap="square" lIns="0" tIns="0" rIns="0" bIns="0" rtlCol="0" anchor="ctr"/>
          <a:lstStyle/>
          <a:p>
            <a:pPr marL="0" indent="0">
              <a:buNone/>
            </a:pPr>
            <a:r>
              <a:rPr lang="en-US" sz="3000" kern="0" spc="-80" dirty="0">
                <a:solidFill>
                  <a:srgbClr val="D62828"/>
                </a:solidFill>
                <a:latin typeface="에이투지체 5 Medium"/>
                <a:ea typeface="에이투지체 5 Medium"/>
                <a:cs typeface="에이투지체 5 Medium"/>
              </a:rPr>
              <a:t>0.80</a:t>
            </a:r>
            <a:endParaRPr lang="en-US" sz="3000" dirty="0"/>
          </a:p>
        </p:txBody>
      </p:sp>
      <p:sp>
        <p:nvSpPr>
          <p:cNvPr id="12" name="Text 8"/>
          <p:cNvSpPr txBox="1"/>
          <p:nvPr/>
        </p:nvSpPr>
        <p:spPr>
          <a:xfrm>
            <a:off x="1874520" y="5330952"/>
            <a:ext cx="338328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가중 지수 - 이송 건수 상관</a:t>
            </a:r>
            <a:endParaRPr lang="en-US" sz="1300" dirty="0"/>
          </a:p>
        </p:txBody>
      </p:sp>
      <p:sp>
        <p:nvSpPr>
          <p:cNvPr id="13" name="Text 9"/>
          <p:cNvSpPr txBox="1"/>
          <p:nvPr/>
        </p:nvSpPr>
        <p:spPr>
          <a:xfrm>
            <a:off x="1874520" y="5669280"/>
            <a:ext cx="3383280" cy="32004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야간인구 단독 0.81과 유사 → 야간인구 중심</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577840" y="1993392"/>
          <a:ext cx="6156655" cy="4041648"/>
        </p:xfrm>
        <a:graphic>
          <a:graphicData uri="http://schemas.openxmlformats.org/drawingml/2006/table">
            <a:tbl>
              <a:tblPr/>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81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유형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해당 자치구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야간인구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1만 명당 이송</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주거 고수요형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강북 · 구로 · 금천 · 도봉 · 동대문 · 양천 · 중랑</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29.6건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도심 유입형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종로 · 중구 (주야간비 1.58)</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일반 주거형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강동 · 강서 · 관악 · 마포 등 13개 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45만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22.5건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대규모 거점형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강남 · 서초 · 송파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68만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월별 계절성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7 · 8월 최다, 2월 최소 — 월 정보 및 전년 동월 값 입력 근거</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월별 평균 · 02_119_전처리_검토수정.ipynb 시계열 분해</a:t>
            </a:r>
            <a:endParaRPr lang="en-US" sz="900" dirty="0"/>
          </a:p>
        </p:txBody>
      </p:sp>
      <p:sp>
        <p:nvSpPr>
          <p:cNvPr id="8" name="Shape 5"/>
          <p:cNvSpPr/>
          <p:nvPr/>
        </p:nvSpPr>
        <p:spPr>
          <a:xfrm>
            <a:off x="457200" y="1993392"/>
            <a:ext cx="76809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4980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8321040" y="1993392"/>
            <a:ext cx="3413455" cy="1307592"/>
          </a:xfrm>
          <a:prstGeom prst="roundRect">
            <a:avLst>
              <a:gd name="adj" fmla="val 979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540496" y="1993392"/>
            <a:ext cx="1325880" cy="1307592"/>
          </a:xfrm>
          <a:prstGeom prst="rect">
            <a:avLst/>
          </a:prstGeom>
          <a:noFill/>
          <a:ln/>
        </p:spPr>
        <p:txBody>
          <a:bodyPr wrap="square" lIns="0" tIns="0" rIns="0" bIns="0" rtlCol="0" anchor="ctr"/>
          <a:lstStyle/>
          <a:p>
            <a:pPr marL="0" indent="0">
              <a:buNone/>
            </a:pPr>
            <a:r>
              <a:rPr lang="en-US" sz="3000" kern="0" spc="-90" dirty="0">
                <a:solidFill>
                  <a:srgbClr val="FFFFFF"/>
                </a:solidFill>
                <a:latin typeface="에이투지체 5 Medium"/>
                <a:ea typeface="에이투지체 5 Medium"/>
                <a:cs typeface="에이투지체 5 Medium"/>
              </a:rPr>
              <a:t>108.6</a:t>
            </a:r>
            <a:endParaRPr lang="en-US" sz="3000" dirty="0"/>
          </a:p>
        </p:txBody>
      </p:sp>
      <p:sp>
        <p:nvSpPr>
          <p:cNvPr id="12" name="Text 8"/>
          <p:cNvSpPr txBox="1"/>
          <p:nvPr/>
        </p:nvSpPr>
        <p:spPr>
          <a:xfrm>
            <a:off x="9866376" y="2281428"/>
            <a:ext cx="1648663" cy="310896"/>
          </a:xfrm>
          <a:prstGeom prst="rect">
            <a:avLst/>
          </a:prstGeom>
          <a:noFill/>
          <a:ln/>
        </p:spPr>
        <p:txBody>
          <a:bodyPr wrap="square" lIns="0" tIns="0" rIns="0" bIns="0" rtlCol="0" anchor="ctr"/>
          <a:lstStyle/>
          <a:p>
            <a:pPr marL="0" indent="0">
              <a:buNone/>
            </a:pPr>
            <a:r>
              <a:rPr lang="en-US" sz="1400" b="1" dirty="0">
                <a:solidFill>
                  <a:srgbClr val="FFFFFF"/>
                </a:solidFill>
                <a:latin typeface="에이투지체 5 Medium"/>
                <a:ea typeface="에이투지체 5 Medium"/>
                <a:cs typeface="에이투지체 5 Medium"/>
              </a:rPr>
              <a:t>7월 최다</a:t>
            </a:r>
            <a:endParaRPr lang="en-US" sz="1400" dirty="0"/>
          </a:p>
        </p:txBody>
      </p:sp>
      <p:sp>
        <p:nvSpPr>
          <p:cNvPr id="13" name="Text 9"/>
          <p:cNvSpPr txBox="1"/>
          <p:nvPr/>
        </p:nvSpPr>
        <p:spPr>
          <a:xfrm>
            <a:off x="9866376" y="2628900"/>
            <a:ext cx="1648663"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8월 108.4 동반 상승</a:t>
            </a:r>
            <a:endParaRPr lang="en-US" sz="1100" dirty="0"/>
          </a:p>
        </p:txBody>
      </p:sp>
      <p:sp>
        <p:nvSpPr>
          <p:cNvPr id="14" name="Shape 10"/>
          <p:cNvSpPr/>
          <p:nvPr/>
        </p:nvSpPr>
        <p:spPr>
          <a:xfrm>
            <a:off x="8321040" y="3422599"/>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1"/>
          <p:cNvSpPr txBox="1"/>
          <p:nvPr/>
        </p:nvSpPr>
        <p:spPr>
          <a:xfrm>
            <a:off x="8540496" y="3422599"/>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86.8</a:t>
            </a:r>
            <a:endParaRPr lang="en-US" sz="3000" dirty="0"/>
          </a:p>
        </p:txBody>
      </p:sp>
      <p:sp>
        <p:nvSpPr>
          <p:cNvPr id="16" name="Text 12"/>
          <p:cNvSpPr txBox="1"/>
          <p:nvPr/>
        </p:nvSpPr>
        <p:spPr>
          <a:xfrm>
            <a:off x="9866376" y="3710635"/>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2월 최소</a:t>
            </a:r>
            <a:endParaRPr lang="en-US" sz="1400" dirty="0"/>
          </a:p>
        </p:txBody>
      </p:sp>
      <p:sp>
        <p:nvSpPr>
          <p:cNvPr id="17" name="Text 13"/>
          <p:cNvSpPr txBox="1"/>
          <p:nvPr/>
        </p:nvSpPr>
        <p:spPr>
          <a:xfrm>
            <a:off x="9866376" y="4058107"/>
            <a:ext cx="1648663"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28일 월 길이 영향 포함</a:t>
            </a:r>
            <a:endParaRPr lang="en-US" sz="1100" dirty="0"/>
          </a:p>
        </p:txBody>
      </p:sp>
      <p:sp>
        <p:nvSpPr>
          <p:cNvPr id="18" name="Shape 14"/>
          <p:cNvSpPr/>
          <p:nvPr/>
        </p:nvSpPr>
        <p:spPr>
          <a:xfrm>
            <a:off x="8321040" y="4851806"/>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5"/>
          <p:cNvSpPr txBox="1"/>
          <p:nvPr/>
        </p:nvSpPr>
        <p:spPr>
          <a:xfrm>
            <a:off x="8540496" y="4851806"/>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22%</a:t>
            </a:r>
            <a:endParaRPr lang="en-US" sz="3000" dirty="0"/>
          </a:p>
        </p:txBody>
      </p:sp>
      <p:sp>
        <p:nvSpPr>
          <p:cNvPr id="20" name="Text 16"/>
          <p:cNvSpPr txBox="1"/>
          <p:nvPr/>
        </p:nvSpPr>
        <p:spPr>
          <a:xfrm>
            <a:off x="9866376" y="5139842"/>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계절 효과 폭</a:t>
            </a:r>
            <a:endParaRPr lang="en-US" sz="1400" dirty="0"/>
          </a:p>
        </p:txBody>
      </p:sp>
      <p:sp>
        <p:nvSpPr>
          <p:cNvPr id="21" name="Text 17"/>
          <p:cNvSpPr txBox="1"/>
          <p:nvPr/>
        </p:nvSpPr>
        <p:spPr>
          <a:xfrm>
            <a:off x="9866376" y="5487314"/>
            <a:ext cx="1648663"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5,835건 / 월평균 25,942건</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04</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모델 개발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데이터 분할부터 특성 실험, 모델 비교, 최종 모델 선정까지</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예측 대상 및 분할</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txBody>
          <a:bodyPr/>
          <a:lstStyle/>
          <a:p>
            <a:endParaRPr/>
          </a:p>
        </p:txBody>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특성 실험</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txBody>
          <a:bodyPr/>
          <a:lstStyle/>
          <a:p>
            <a:endParaRPr/>
          </a:p>
        </p:txBody>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모델 비교</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txBody>
          <a:bodyPr/>
          <a:lstStyle/>
          <a:p>
            <a:endParaRPr/>
          </a:p>
        </p:txBody>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모델 및 예측</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예측 대상 및 데이터 분할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시간순 3단계 분할: 학습 → 검증 (선택) → 평가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(1장 · 4-1 · 5-3)</a:t>
            </a:r>
            <a:endParaRPr lang="en-US" sz="900" dirty="0"/>
          </a:p>
        </p:txBody>
      </p:sp>
      <p:sp>
        <p:nvSpPr>
          <p:cNvPr id="8" name="Shape 5"/>
          <p:cNvSpPr/>
          <p:nvPr/>
        </p:nvSpPr>
        <p:spPr>
          <a:xfrm>
            <a:off x="457200" y="199339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0" name="Text 7"/>
          <p:cNvSpPr txBox="1"/>
          <p:nvPr/>
        </p:nvSpPr>
        <p:spPr>
          <a:xfrm>
            <a:off x="676656" y="252374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월 · 6개월 연속 예측</a:t>
            </a:r>
            <a:endParaRPr lang="en-US" sz="1000" dirty="0"/>
          </a:p>
        </p:txBody>
      </p:sp>
      <p:sp>
        <p:nvSpPr>
          <p:cNvPr id="11" name="Shape 8"/>
          <p:cNvSpPr/>
          <p:nvPr/>
        </p:nvSpPr>
        <p:spPr>
          <a:xfrm>
            <a:off x="2606040" y="2176272"/>
            <a:ext cx="3694176" cy="685800"/>
          </a:xfrm>
          <a:prstGeom prst="roundRect">
            <a:avLst>
              <a:gd name="adj" fmla="val 8000"/>
            </a:avLst>
          </a:prstGeom>
          <a:solidFill>
            <a:srgbClr val="8E8E93"/>
          </a:solidFill>
          <a:ln w="12700">
            <a:solidFill>
              <a:srgbClr val="8E8E93"/>
            </a:solidFill>
            <a:prstDash val="solid"/>
          </a:ln>
        </p:spPr>
        <p:txBody>
          <a:bodyPr/>
          <a:lstStyle/>
          <a:p>
            <a:endParaRPr/>
          </a:p>
        </p:txBody>
      </p:sp>
      <p:sp>
        <p:nvSpPr>
          <p:cNvPr id="12" name="Text 9"/>
          <p:cNvSpPr txBox="1"/>
          <p:nvPr/>
        </p:nvSpPr>
        <p:spPr>
          <a:xfrm>
            <a:off x="274320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13" name="Text 10"/>
          <p:cNvSpPr txBox="1"/>
          <p:nvPr/>
        </p:nvSpPr>
        <p:spPr>
          <a:xfrm>
            <a:off x="3291840" y="2176272"/>
            <a:ext cx="2916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2018.05 ~ 2024.12</a:t>
            </a:r>
            <a:endParaRPr lang="en-US" sz="1050" dirty="0"/>
          </a:p>
          <a:p>
            <a:pPr marL="0" indent="0">
              <a:buNone/>
            </a:pPr>
            <a:r>
              <a:rPr lang="en-US" sz="1050" dirty="0">
                <a:solidFill>
                  <a:srgbClr val="FFFFFF"/>
                </a:solidFill>
                <a:latin typeface="에이투지체 5 Medium"/>
                <a:ea typeface="에이투지체 5 Medium"/>
                <a:cs typeface="에이투지체 5 Medium"/>
              </a:rPr>
              <a:t>1,880행</a:t>
            </a:r>
            <a:endParaRPr lang="en-US" sz="1050" dirty="0"/>
          </a:p>
        </p:txBody>
      </p:sp>
      <p:sp>
        <p:nvSpPr>
          <p:cNvPr id="14" name="Shape 11"/>
          <p:cNvSpPr/>
          <p:nvPr/>
        </p:nvSpPr>
        <p:spPr>
          <a:xfrm>
            <a:off x="6355080" y="2176272"/>
            <a:ext cx="2551176" cy="685800"/>
          </a:xfrm>
          <a:prstGeom prst="roundRect">
            <a:avLst>
              <a:gd name="adj" fmla="val 8000"/>
            </a:avLst>
          </a:prstGeom>
          <a:solidFill>
            <a:srgbClr val="D62828"/>
          </a:solidFill>
          <a:ln w="12700">
            <a:solidFill>
              <a:srgbClr val="D62828"/>
            </a:solidFill>
            <a:prstDash val="solid"/>
          </a:ln>
        </p:spPr>
        <p:txBody>
          <a:bodyPr/>
          <a:lstStyle/>
          <a:p>
            <a:endParaRPr/>
          </a:p>
        </p:txBody>
      </p:sp>
      <p:sp>
        <p:nvSpPr>
          <p:cNvPr id="15" name="Text 12"/>
          <p:cNvSpPr txBox="1"/>
          <p:nvPr/>
        </p:nvSpPr>
        <p:spPr>
          <a:xfrm>
            <a:off x="649224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16" name="Text 13"/>
          <p:cNvSpPr txBox="1"/>
          <p:nvPr/>
        </p:nvSpPr>
        <p:spPr>
          <a:xfrm>
            <a:off x="7040880" y="2176272"/>
            <a:ext cx="1773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2025.01 ~ 06</a:t>
            </a:r>
            <a:endParaRPr lang="en-US" sz="1050" dirty="0"/>
          </a:p>
          <a:p>
            <a:pPr marL="0" indent="0">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17" name="Shape 14"/>
          <p:cNvSpPr/>
          <p:nvPr/>
        </p:nvSpPr>
        <p:spPr>
          <a:xfrm>
            <a:off x="8961120" y="2176272"/>
            <a:ext cx="2724912" cy="685800"/>
          </a:xfrm>
          <a:prstGeom prst="roundRect">
            <a:avLst>
              <a:gd name="adj" fmla="val 8000"/>
            </a:avLst>
          </a:prstGeom>
          <a:solidFill>
            <a:srgbClr val="45515E"/>
          </a:solidFill>
          <a:ln w="12700">
            <a:solidFill>
              <a:srgbClr val="45515E"/>
            </a:solidFill>
            <a:prstDash val="solid"/>
          </a:ln>
        </p:spPr>
        <p:txBody>
          <a:bodyPr/>
          <a:lstStyle/>
          <a:p>
            <a:endParaRPr/>
          </a:p>
        </p:txBody>
      </p:sp>
      <p:sp>
        <p:nvSpPr>
          <p:cNvPr id="18" name="Text 15"/>
          <p:cNvSpPr txBox="1"/>
          <p:nvPr/>
        </p:nvSpPr>
        <p:spPr>
          <a:xfrm>
            <a:off x="909828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19" name="Text 16"/>
          <p:cNvSpPr txBox="1"/>
          <p:nvPr/>
        </p:nvSpPr>
        <p:spPr>
          <a:xfrm>
            <a:off x="9646920" y="2176272"/>
            <a:ext cx="1947672"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2025.07 ~ 12</a:t>
            </a:r>
            <a:endParaRPr lang="en-US" sz="1050" dirty="0"/>
          </a:p>
          <a:p>
            <a:pPr marL="0" indent="0">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20" name="Shape 17"/>
          <p:cNvSpPr/>
          <p:nvPr/>
        </p:nvSpPr>
        <p:spPr>
          <a:xfrm>
            <a:off x="457200" y="318211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76656" y="334670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2" name="Text 19"/>
          <p:cNvSpPr txBox="1"/>
          <p:nvPr/>
        </p:nvSpPr>
        <p:spPr>
          <a:xfrm>
            <a:off x="676656" y="371246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일 · 일별 예측</a:t>
            </a:r>
            <a:endParaRPr lang="en-US" sz="1000" dirty="0"/>
          </a:p>
        </p:txBody>
      </p:sp>
      <p:sp>
        <p:nvSpPr>
          <p:cNvPr id="23" name="Shape 20"/>
          <p:cNvSpPr/>
          <p:nvPr/>
        </p:nvSpPr>
        <p:spPr>
          <a:xfrm>
            <a:off x="2606040" y="3364992"/>
            <a:ext cx="3694176" cy="685800"/>
          </a:xfrm>
          <a:prstGeom prst="roundRect">
            <a:avLst>
              <a:gd name="adj" fmla="val 8000"/>
            </a:avLst>
          </a:prstGeom>
          <a:solidFill>
            <a:srgbClr val="8E8E93"/>
          </a:solidFill>
          <a:ln w="12700">
            <a:solidFill>
              <a:srgbClr val="8E8E93"/>
            </a:solidFill>
            <a:prstDash val="solid"/>
          </a:ln>
        </p:spPr>
        <p:txBody>
          <a:bodyPr/>
          <a:lstStyle/>
          <a:p>
            <a:endParaRPr/>
          </a:p>
        </p:txBody>
      </p:sp>
      <p:sp>
        <p:nvSpPr>
          <p:cNvPr id="24" name="Text 21"/>
          <p:cNvSpPr txBox="1"/>
          <p:nvPr/>
        </p:nvSpPr>
        <p:spPr>
          <a:xfrm>
            <a:off x="274320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25" name="Text 22"/>
          <p:cNvSpPr txBox="1"/>
          <p:nvPr/>
        </p:nvSpPr>
        <p:spPr>
          <a:xfrm>
            <a:off x="3291840" y="3364992"/>
            <a:ext cx="2916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2018.04 ~ 2025.02</a:t>
            </a:r>
            <a:endParaRPr lang="en-US" sz="1050" dirty="0"/>
          </a:p>
          <a:p>
            <a:pPr marL="0" indent="0">
              <a:buNone/>
            </a:pPr>
            <a:r>
              <a:rPr lang="en-US" sz="1050" dirty="0">
                <a:solidFill>
                  <a:srgbClr val="FFFFFF"/>
                </a:solidFill>
                <a:latin typeface="에이투지체 5 Medium"/>
                <a:ea typeface="에이투지체 5 Medium"/>
                <a:cs typeface="에이투지체 5 Medium"/>
              </a:rPr>
              <a:t>62,200행</a:t>
            </a:r>
            <a:endParaRPr lang="en-US" sz="1050" dirty="0"/>
          </a:p>
        </p:txBody>
      </p:sp>
      <p:sp>
        <p:nvSpPr>
          <p:cNvPr id="26" name="Shape 23"/>
          <p:cNvSpPr/>
          <p:nvPr/>
        </p:nvSpPr>
        <p:spPr>
          <a:xfrm>
            <a:off x="6355080" y="3364992"/>
            <a:ext cx="2551176" cy="685800"/>
          </a:xfrm>
          <a:prstGeom prst="roundRect">
            <a:avLst>
              <a:gd name="adj" fmla="val 8000"/>
            </a:avLst>
          </a:prstGeom>
          <a:solidFill>
            <a:srgbClr val="D62828"/>
          </a:solidFill>
          <a:ln w="12700">
            <a:solidFill>
              <a:srgbClr val="D62828"/>
            </a:solidFill>
            <a:prstDash val="solid"/>
          </a:ln>
        </p:spPr>
        <p:txBody>
          <a:bodyPr/>
          <a:lstStyle/>
          <a:p>
            <a:endParaRPr/>
          </a:p>
        </p:txBody>
      </p:sp>
      <p:sp>
        <p:nvSpPr>
          <p:cNvPr id="27" name="Text 24"/>
          <p:cNvSpPr txBox="1"/>
          <p:nvPr/>
        </p:nvSpPr>
        <p:spPr>
          <a:xfrm>
            <a:off x="649224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28" name="Text 25"/>
          <p:cNvSpPr txBox="1"/>
          <p:nvPr/>
        </p:nvSpPr>
        <p:spPr>
          <a:xfrm>
            <a:off x="7040880" y="3364992"/>
            <a:ext cx="1773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2025.02 ~ 07</a:t>
            </a:r>
            <a:endParaRPr lang="en-US" sz="1050" dirty="0"/>
          </a:p>
          <a:p>
            <a:pPr marL="0" indent="0">
              <a:buNone/>
            </a:pPr>
            <a:r>
              <a:rPr lang="en-US" sz="1050" dirty="0">
                <a:solidFill>
                  <a:srgbClr val="FFFFFF"/>
                </a:solidFill>
                <a:latin typeface="에이투지체 5 Medium"/>
                <a:ea typeface="에이투지체 5 Medium"/>
                <a:cs typeface="에이투지체 5 Medium"/>
              </a:rPr>
              <a:t>4,500행</a:t>
            </a:r>
            <a:endParaRPr lang="en-US" sz="1050" dirty="0"/>
          </a:p>
        </p:txBody>
      </p:sp>
      <p:sp>
        <p:nvSpPr>
          <p:cNvPr id="29" name="Shape 26"/>
          <p:cNvSpPr/>
          <p:nvPr/>
        </p:nvSpPr>
        <p:spPr>
          <a:xfrm>
            <a:off x="8961120" y="3364992"/>
            <a:ext cx="2724912" cy="685800"/>
          </a:xfrm>
          <a:prstGeom prst="roundRect">
            <a:avLst>
              <a:gd name="adj" fmla="val 8000"/>
            </a:avLst>
          </a:prstGeom>
          <a:solidFill>
            <a:srgbClr val="45515E"/>
          </a:solidFill>
          <a:ln w="12700">
            <a:solidFill>
              <a:srgbClr val="45515E"/>
            </a:solidFill>
            <a:prstDash val="solid"/>
          </a:ln>
        </p:spPr>
        <p:txBody>
          <a:bodyPr/>
          <a:lstStyle/>
          <a:p>
            <a:endParaRPr/>
          </a:p>
        </p:txBody>
      </p:sp>
      <p:sp>
        <p:nvSpPr>
          <p:cNvPr id="30" name="Text 27"/>
          <p:cNvSpPr txBox="1"/>
          <p:nvPr/>
        </p:nvSpPr>
        <p:spPr>
          <a:xfrm>
            <a:off x="909828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31" name="Text 28"/>
          <p:cNvSpPr txBox="1"/>
          <p:nvPr/>
        </p:nvSpPr>
        <p:spPr>
          <a:xfrm>
            <a:off x="9646920" y="3364992"/>
            <a:ext cx="1947672"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2025.08 ~ 2026.07</a:t>
            </a:r>
            <a:endParaRPr lang="en-US" sz="1050" dirty="0"/>
          </a:p>
          <a:p>
            <a:pPr marL="0" indent="0">
              <a:buNone/>
            </a:pPr>
            <a:r>
              <a:rPr lang="en-US" sz="1050" dirty="0">
                <a:solidFill>
                  <a:srgbClr val="FFFFFF"/>
                </a:solidFill>
                <a:latin typeface="에이투지체 5 Medium"/>
                <a:ea typeface="에이투지체 5 Medium"/>
                <a:cs typeface="에이투지체 5 Medium"/>
              </a:rPr>
              <a:t>9,125행</a:t>
            </a:r>
            <a:endParaRPr lang="en-US" sz="1050" dirty="0"/>
          </a:p>
        </p:txBody>
      </p:sp>
      <p:sp>
        <p:nvSpPr>
          <p:cNvPr id="32" name="Shape 29"/>
          <p:cNvSpPr/>
          <p:nvPr/>
        </p:nvSpPr>
        <p:spPr>
          <a:xfrm>
            <a:off x="457200"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Shape 30"/>
          <p:cNvSpPr/>
          <p:nvPr/>
        </p:nvSpPr>
        <p:spPr>
          <a:xfrm>
            <a:off x="1589989" y="4544568"/>
            <a:ext cx="137160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34" name="Text 31"/>
          <p:cNvSpPr txBox="1"/>
          <p:nvPr/>
        </p:nvSpPr>
        <p:spPr>
          <a:xfrm>
            <a:off x="1589989"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학습 데이터</a:t>
            </a:r>
            <a:endParaRPr lang="en-US" sz="1050" dirty="0"/>
          </a:p>
        </p:txBody>
      </p:sp>
      <p:sp>
        <p:nvSpPr>
          <p:cNvPr id="35" name="Text 32"/>
          <p:cNvSpPr txBox="1"/>
          <p:nvPr/>
        </p:nvSpPr>
        <p:spPr>
          <a:xfrm>
            <a:off x="676656"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모델 학습</a:t>
            </a:r>
            <a:endParaRPr lang="en-US" sz="2000" dirty="0"/>
          </a:p>
        </p:txBody>
      </p:sp>
      <p:sp>
        <p:nvSpPr>
          <p:cNvPr id="36" name="Shape 33"/>
          <p:cNvSpPr/>
          <p:nvPr/>
        </p:nvSpPr>
        <p:spPr>
          <a:xfrm>
            <a:off x="676656" y="5504688"/>
            <a:ext cx="3198266" cy="0"/>
          </a:xfrm>
          <a:prstGeom prst="line">
            <a:avLst/>
          </a:prstGeom>
          <a:noFill/>
          <a:ln w="9525">
            <a:solidFill>
              <a:srgbClr val="E5E7EB"/>
            </a:solidFill>
            <a:prstDash val="solid"/>
          </a:ln>
        </p:spPr>
        <p:txBody>
          <a:bodyPr/>
          <a:lstStyle/>
          <a:p>
            <a:endParaRPr/>
          </a:p>
        </p:txBody>
      </p:sp>
      <p:sp>
        <p:nvSpPr>
          <p:cNvPr id="37" name="Text 34"/>
          <p:cNvSpPr txBox="1"/>
          <p:nvPr/>
        </p:nvSpPr>
        <p:spPr>
          <a:xfrm>
            <a:off x="676656"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연관성 분석 · 변수 선택도 학습 기간만 사용</a:t>
            </a:r>
            <a:endParaRPr lang="en-US" sz="1100" dirty="0"/>
          </a:p>
        </p:txBody>
      </p:sp>
      <p:sp>
        <p:nvSpPr>
          <p:cNvPr id="38" name="Shape 35"/>
          <p:cNvSpPr/>
          <p:nvPr/>
        </p:nvSpPr>
        <p:spPr>
          <a:xfrm>
            <a:off x="4277258" y="4361688"/>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9" name="Shape 36"/>
          <p:cNvSpPr/>
          <p:nvPr/>
        </p:nvSpPr>
        <p:spPr>
          <a:xfrm>
            <a:off x="5410048" y="4544568"/>
            <a:ext cx="137160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40" name="Text 37"/>
          <p:cNvSpPr txBox="1"/>
          <p:nvPr/>
        </p:nvSpPr>
        <p:spPr>
          <a:xfrm>
            <a:off x="5410048" y="4544568"/>
            <a:ext cx="137160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검증 데이터</a:t>
            </a:r>
            <a:endParaRPr lang="en-US" sz="1050" dirty="0"/>
          </a:p>
        </p:txBody>
      </p:sp>
      <p:sp>
        <p:nvSpPr>
          <p:cNvPr id="41" name="Text 38"/>
          <p:cNvSpPr txBox="1"/>
          <p:nvPr/>
        </p:nvSpPr>
        <p:spPr>
          <a:xfrm>
            <a:off x="4496714" y="4956048"/>
            <a:ext cx="3198266"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에이투지체 5 Medium"/>
                <a:ea typeface="에이투지체 5 Medium"/>
                <a:cs typeface="에이투지체 5 Medium"/>
              </a:rPr>
              <a:t>특성 · 설정 · 모델 선택</a:t>
            </a:r>
            <a:endParaRPr lang="en-US" sz="2000" dirty="0"/>
          </a:p>
        </p:txBody>
      </p:sp>
      <p:sp>
        <p:nvSpPr>
          <p:cNvPr id="42" name="Shape 39"/>
          <p:cNvSpPr/>
          <p:nvPr/>
        </p:nvSpPr>
        <p:spPr>
          <a:xfrm>
            <a:off x="4496714" y="5504688"/>
            <a:ext cx="3198266" cy="0"/>
          </a:xfrm>
          <a:prstGeom prst="line">
            <a:avLst/>
          </a:prstGeom>
          <a:noFill/>
          <a:ln w="9525">
            <a:solidFill>
              <a:srgbClr val="E87A7A"/>
            </a:solidFill>
            <a:prstDash val="solid"/>
          </a:ln>
        </p:spPr>
        <p:txBody>
          <a:bodyPr/>
          <a:lstStyle/>
          <a:p>
            <a:endParaRPr/>
          </a:p>
        </p:txBody>
      </p:sp>
      <p:sp>
        <p:nvSpPr>
          <p:cNvPr id="43" name="Text 40"/>
          <p:cNvSpPr txBox="1"/>
          <p:nvPr/>
        </p:nvSpPr>
        <p:spPr>
          <a:xfrm>
            <a:off x="4496714" y="5596128"/>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특성 조합, 달력 설정, 모델 7종 비교에만 사용</a:t>
            </a:r>
            <a:endParaRPr lang="en-US" sz="1100" dirty="0"/>
          </a:p>
        </p:txBody>
      </p:sp>
      <p:sp>
        <p:nvSpPr>
          <p:cNvPr id="44" name="Shape 41"/>
          <p:cNvSpPr/>
          <p:nvPr/>
        </p:nvSpPr>
        <p:spPr>
          <a:xfrm>
            <a:off x="8097317"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5" name="Shape 42"/>
          <p:cNvSpPr/>
          <p:nvPr/>
        </p:nvSpPr>
        <p:spPr>
          <a:xfrm>
            <a:off x="9230106" y="4544568"/>
            <a:ext cx="137160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6" name="Text 43"/>
          <p:cNvSpPr txBox="1"/>
          <p:nvPr/>
        </p:nvSpPr>
        <p:spPr>
          <a:xfrm>
            <a:off x="9230106"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평가 데이터</a:t>
            </a:r>
            <a:endParaRPr lang="en-US" sz="1050" dirty="0"/>
          </a:p>
        </p:txBody>
      </p:sp>
      <p:sp>
        <p:nvSpPr>
          <p:cNvPr id="47" name="Text 44"/>
          <p:cNvSpPr txBox="1"/>
          <p:nvPr/>
        </p:nvSpPr>
        <p:spPr>
          <a:xfrm>
            <a:off x="8316773"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최종 성능 확인</a:t>
            </a:r>
            <a:endParaRPr lang="en-US" sz="2000" dirty="0"/>
          </a:p>
        </p:txBody>
      </p:sp>
      <p:sp>
        <p:nvSpPr>
          <p:cNvPr id="48" name="Shape 45"/>
          <p:cNvSpPr/>
          <p:nvPr/>
        </p:nvSpPr>
        <p:spPr>
          <a:xfrm>
            <a:off x="8316773" y="5504688"/>
            <a:ext cx="3198266" cy="0"/>
          </a:xfrm>
          <a:prstGeom prst="line">
            <a:avLst/>
          </a:prstGeom>
          <a:noFill/>
          <a:ln w="9525">
            <a:solidFill>
              <a:srgbClr val="E5E7EB"/>
            </a:solidFill>
            <a:prstDash val="solid"/>
          </a:ln>
        </p:spPr>
        <p:txBody>
          <a:bodyPr/>
          <a:lstStyle/>
          <a:p>
            <a:endParaRPr/>
          </a:p>
        </p:txBody>
      </p:sp>
      <p:sp>
        <p:nvSpPr>
          <p:cNvPr id="49" name="Text 46"/>
          <p:cNvSpPr txBox="1"/>
          <p:nvPr/>
        </p:nvSpPr>
        <p:spPr>
          <a:xfrm>
            <a:off x="8316773"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선택 완료 후 일반화 성능 확인에만 사용</a:t>
            </a:r>
            <a:endParaRPr lang="en-US" sz="11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상관관계 ≠ 성능 향상 — 5개 입력 조합의 검증 정확도 비교</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(3-1 · 3-2 · 3-3)</a:t>
            </a:r>
            <a:endParaRPr lang="en-US" sz="900" dirty="0"/>
          </a:p>
        </p:txBody>
      </p:sp>
      <p:sp>
        <p:nvSpPr>
          <p:cNvPr id="8" name="Shape 5"/>
          <p:cNvSpPr/>
          <p:nvPr/>
        </p:nvSpPr>
        <p:spPr>
          <a:xfrm>
            <a:off x="457200" y="1993392"/>
            <a:ext cx="3291840"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285292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입력 조합</a:t>
            </a:r>
            <a:endParaRPr lang="en-US" sz="1800" dirty="0"/>
          </a:p>
        </p:txBody>
      </p:sp>
      <p:sp>
        <p:nvSpPr>
          <p:cNvPr id="10" name="Shape 7"/>
          <p:cNvSpPr/>
          <p:nvPr/>
        </p:nvSpPr>
        <p:spPr>
          <a:xfrm>
            <a:off x="676656" y="2560320"/>
            <a:ext cx="2852928" cy="0"/>
          </a:xfrm>
          <a:prstGeom prst="line">
            <a:avLst/>
          </a:prstGeom>
          <a:noFill/>
          <a:ln w="9525">
            <a:solidFill>
              <a:srgbClr val="E5E7EB"/>
            </a:solidFill>
            <a:prstDash val="solid"/>
          </a:ln>
        </p:spPr>
        <p:txBody>
          <a:bodyPr/>
          <a:lstStyle/>
          <a:p>
            <a:endParaRPr/>
          </a:p>
        </p:txBody>
      </p:sp>
      <p:sp>
        <p:nvSpPr>
          <p:cNvPr id="11" name="Text 8"/>
          <p:cNvSpPr txBox="1"/>
          <p:nvPr/>
        </p:nvSpPr>
        <p:spPr>
          <a:xfrm>
            <a:off x="771422" y="2670048"/>
            <a:ext cx="2852928" cy="1837944"/>
          </a:xfrm>
          <a:prstGeom prst="rect">
            <a:avLst/>
          </a:prstGeom>
          <a:noFill/>
          <a:ln/>
        </p:spPr>
        <p:txBody>
          <a:bodyPr wrap="square" lIns="0" tIns="0" rIns="0" bIns="0" rtlCol="0" anchor="t"/>
          <a:lstStyle/>
          <a:p>
            <a:pPr marL="0" indent="0">
              <a:lnSpc>
                <a:spcPct val="150000"/>
              </a:lnSpc>
              <a:buNone/>
            </a:pPr>
            <a:r>
              <a:rPr lang="en-US" sz="1250" dirty="0">
                <a:solidFill>
                  <a:srgbClr val="FF0000"/>
                </a:solidFill>
                <a:latin typeface="에이투지체 5 Medium"/>
                <a:ea typeface="에이투지체 5 Medium"/>
                <a:cs typeface="에이투지체 5 Medium"/>
              </a:rPr>
              <a:t>A</a:t>
            </a:r>
            <a:r>
              <a:rPr lang="en-US" sz="1250" dirty="0">
                <a:solidFill>
                  <a:srgbClr val="45515E"/>
                </a:solidFill>
                <a:latin typeface="에이투지체 5 Medium"/>
                <a:ea typeface="에이투지체 5 Medium"/>
                <a:cs typeface="에이투지체 5 Medium"/>
              </a:rPr>
              <a:t>  구 · 월 원-핫</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B</a:t>
            </a:r>
            <a:r>
              <a:rPr lang="en-US" sz="1250" dirty="0">
                <a:solidFill>
                  <a:srgbClr val="45515E"/>
                </a:solidFill>
                <a:latin typeface="에이투지체 5 Medium"/>
                <a:ea typeface="에이투지체 5 Medium"/>
                <a:cs typeface="에이투지체 5 Medium"/>
              </a:rPr>
              <a:t>  A + 인구 변수 9개</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C</a:t>
            </a:r>
            <a:r>
              <a:rPr lang="en-US" sz="1250" dirty="0">
                <a:solidFill>
                  <a:srgbClr val="45515E"/>
                </a:solidFill>
                <a:latin typeface="에이투지체 5 Medium"/>
                <a:ea typeface="에이투지체 5 Medium"/>
                <a:cs typeface="에이투지체 5 Medium"/>
              </a:rPr>
              <a:t>  B + 인구 기반 기대값</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D</a:t>
            </a:r>
            <a:r>
              <a:rPr lang="en-US" sz="1250" dirty="0">
                <a:solidFill>
                  <a:srgbClr val="45515E"/>
                </a:solidFill>
                <a:latin typeface="에이투지체 5 Medium"/>
                <a:ea typeface="에이투지체 5 Medium"/>
                <a:cs typeface="에이투지체 5 Medium"/>
              </a:rPr>
              <a:t>  A + 이송 이력</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E</a:t>
            </a:r>
            <a:r>
              <a:rPr lang="en-US" sz="1250" dirty="0">
                <a:solidFill>
                  <a:srgbClr val="45515E"/>
                </a:solidFill>
                <a:latin typeface="에이투지체 5 Medium"/>
                <a:ea typeface="에이투지체 5 Medium"/>
                <a:cs typeface="에이투지체 5 Medium"/>
              </a:rPr>
              <a:t>  D + 인구 변수 전체</a:t>
            </a:r>
            <a:endParaRPr lang="en-US" sz="1250" dirty="0"/>
          </a:p>
        </p:txBody>
      </p:sp>
      <p:sp>
        <p:nvSpPr>
          <p:cNvPr id="12" name="Shape 9"/>
          <p:cNvSpPr/>
          <p:nvPr/>
        </p:nvSpPr>
        <p:spPr>
          <a:xfrm>
            <a:off x="3931920" y="1993392"/>
            <a:ext cx="7802575"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3" name="Chart 0"/>
          <p:cNvGraphicFramePr/>
          <p:nvPr>
            <p:extLst>
              <p:ext uri="{D42A27DB-BD31-4B8C-83A1-F6EECF244321}">
                <p14:modId xmlns:p14="http://schemas.microsoft.com/office/powerpoint/2010/main" val="2780124323"/>
              </p:ext>
            </p:extLst>
          </p:nvPr>
        </p:nvGraphicFramePr>
        <p:xfrm>
          <a:off x="4023360" y="2066544"/>
          <a:ext cx="7619695" cy="249631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1"/>
          <p:cNvSpPr txBox="1"/>
          <p:nvPr/>
        </p:nvSpPr>
        <p:spPr>
          <a:xfrm>
            <a:off x="676656" y="4818888"/>
            <a:ext cx="2011680" cy="1371600"/>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+3.64%p</a:t>
            </a:r>
            <a:endParaRPr lang="en-US" sz="3000" dirty="0"/>
          </a:p>
        </p:txBody>
      </p:sp>
      <p:sp>
        <p:nvSpPr>
          <p:cNvPr id="16" name="Text 12"/>
          <p:cNvSpPr txBox="1"/>
          <p:nvPr/>
        </p:nvSpPr>
        <p:spPr>
          <a:xfrm>
            <a:off x="2688336" y="5138928"/>
            <a:ext cx="1186586"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이송 이력 없음</a:t>
            </a:r>
            <a:endParaRPr lang="en-US" sz="1400" dirty="0"/>
          </a:p>
        </p:txBody>
      </p:sp>
      <p:sp>
        <p:nvSpPr>
          <p:cNvPr id="17" name="Text 13"/>
          <p:cNvSpPr txBox="1"/>
          <p:nvPr/>
        </p:nvSpPr>
        <p:spPr>
          <a:xfrm>
            <a:off x="2688336" y="5486400"/>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A → C 88.03%</a:t>
            </a:r>
            <a:endParaRPr lang="en-US" sz="1100" dirty="0"/>
          </a:p>
        </p:txBody>
      </p:sp>
      <p:sp>
        <p:nvSpPr>
          <p:cNvPr id="18" name="Shape 14"/>
          <p:cNvSpPr/>
          <p:nvPr/>
        </p:nvSpPr>
        <p:spPr>
          <a:xfrm>
            <a:off x="4277258"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5"/>
          <p:cNvSpPr txBox="1"/>
          <p:nvPr/>
        </p:nvSpPr>
        <p:spPr>
          <a:xfrm>
            <a:off x="4496714" y="4818888"/>
            <a:ext cx="2011680" cy="1371600"/>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−0.18%p</a:t>
            </a:r>
            <a:endParaRPr lang="en-US" sz="3000" dirty="0"/>
          </a:p>
        </p:txBody>
      </p:sp>
      <p:sp>
        <p:nvSpPr>
          <p:cNvPr id="20" name="Text 16"/>
          <p:cNvSpPr txBox="1"/>
          <p:nvPr/>
        </p:nvSpPr>
        <p:spPr>
          <a:xfrm>
            <a:off x="6508394" y="5138928"/>
            <a:ext cx="1186586"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이송 이력 있음</a:t>
            </a:r>
            <a:endParaRPr lang="en-US" sz="1400" dirty="0"/>
          </a:p>
        </p:txBody>
      </p:sp>
      <p:sp>
        <p:nvSpPr>
          <p:cNvPr id="21" name="Text 17"/>
          <p:cNvSpPr txBox="1"/>
          <p:nvPr/>
        </p:nvSpPr>
        <p:spPr>
          <a:xfrm>
            <a:off x="6508394" y="5486400"/>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D → E 94.79%</a:t>
            </a:r>
            <a:endParaRPr lang="en-US" sz="1100" dirty="0"/>
          </a:p>
        </p:txBody>
      </p:sp>
      <p:sp>
        <p:nvSpPr>
          <p:cNvPr id="22" name="Shape 18"/>
          <p:cNvSpPr/>
          <p:nvPr/>
        </p:nvSpPr>
        <p:spPr>
          <a:xfrm>
            <a:off x="8097317" y="4818888"/>
            <a:ext cx="3637178" cy="1371600"/>
          </a:xfrm>
          <a:prstGeom prst="roundRect">
            <a:avLst>
              <a:gd name="adj" fmla="val 9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3" name="Text 19"/>
          <p:cNvSpPr txBox="1"/>
          <p:nvPr/>
        </p:nvSpPr>
        <p:spPr>
          <a:xfrm>
            <a:off x="8316773" y="4818888"/>
            <a:ext cx="2011680" cy="1371600"/>
          </a:xfrm>
          <a:prstGeom prst="rect">
            <a:avLst/>
          </a:prstGeom>
          <a:noFill/>
          <a:ln/>
        </p:spPr>
        <p:txBody>
          <a:bodyPr wrap="square" lIns="0" tIns="0" rIns="0" bIns="0" rtlCol="0" anchor="ctr"/>
          <a:lstStyle/>
          <a:p>
            <a:pPr marL="0" indent="0">
              <a:buNone/>
            </a:pPr>
            <a:r>
              <a:rPr lang="en-US" sz="3000" kern="0" spc="-90" dirty="0">
                <a:solidFill>
                  <a:srgbClr val="FFFFFF"/>
                </a:solidFill>
                <a:latin typeface="에이투지체 5 Medium"/>
                <a:ea typeface="에이투지체 5 Medium"/>
                <a:cs typeface="에이투지체 5 Medium"/>
              </a:rPr>
              <a:t>미반영</a:t>
            </a:r>
            <a:endParaRPr lang="en-US" sz="3000" dirty="0"/>
          </a:p>
        </p:txBody>
      </p:sp>
      <p:sp>
        <p:nvSpPr>
          <p:cNvPr id="24" name="Text 20"/>
          <p:cNvSpPr txBox="1"/>
          <p:nvPr/>
        </p:nvSpPr>
        <p:spPr>
          <a:xfrm>
            <a:off x="10328453" y="5138928"/>
            <a:ext cx="1186586" cy="310896"/>
          </a:xfrm>
          <a:prstGeom prst="rect">
            <a:avLst/>
          </a:prstGeom>
          <a:noFill/>
          <a:ln/>
        </p:spPr>
        <p:txBody>
          <a:bodyPr wrap="square" lIns="0" tIns="0" rIns="0" bIns="0" rtlCol="0" anchor="ctr"/>
          <a:lstStyle/>
          <a:p>
            <a:pPr marL="0" indent="0">
              <a:buNone/>
            </a:pPr>
            <a:r>
              <a:rPr lang="en-US" sz="1400" b="1" dirty="0">
                <a:solidFill>
                  <a:srgbClr val="FFFFFF"/>
                </a:solidFill>
                <a:latin typeface="에이투지체 5 Medium"/>
                <a:ea typeface="에이투지체 5 Medium"/>
                <a:cs typeface="에이투지체 5 Medium"/>
              </a:rPr>
              <a:t>결정</a:t>
            </a:r>
            <a:endParaRPr lang="en-US" sz="1400" dirty="0"/>
          </a:p>
        </p:txBody>
      </p:sp>
      <p:sp>
        <p:nvSpPr>
          <p:cNvPr id="25" name="Text 21"/>
          <p:cNvSpPr txBox="1"/>
          <p:nvPr/>
        </p:nvSpPr>
        <p:spPr>
          <a:xfrm>
            <a:off x="10328453" y="5486400"/>
            <a:ext cx="1186586"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기존 8개 유지</a:t>
            </a:r>
            <a:endParaRPr lang="en-US" sz="11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달력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주말 · 공휴일 · 명절 구성 차이 반영, 검증 6개월 정확도 기준 채택</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(4-0 · 4-1-2)</a:t>
            </a:r>
            <a:endParaRPr lang="en-US" sz="900" dirty="0"/>
          </a:p>
        </p:txBody>
      </p:sp>
      <p:sp>
        <p:nvSpPr>
          <p:cNvPr id="8" name="Shape 5"/>
          <p:cNvSpPr/>
          <p:nvPr/>
        </p:nvSpPr>
        <p:spPr>
          <a:xfrm>
            <a:off x="457200" y="1993392"/>
            <a:ext cx="402336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358444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달력 특성 4종</a:t>
            </a:r>
            <a:endParaRPr lang="en-US" sz="1800" dirty="0"/>
          </a:p>
        </p:txBody>
      </p:sp>
      <p:sp>
        <p:nvSpPr>
          <p:cNvPr id="10" name="Shape 7"/>
          <p:cNvSpPr/>
          <p:nvPr/>
        </p:nvSpPr>
        <p:spPr>
          <a:xfrm>
            <a:off x="676656" y="2560320"/>
            <a:ext cx="3584448" cy="0"/>
          </a:xfrm>
          <a:prstGeom prst="line">
            <a:avLst/>
          </a:prstGeom>
          <a:noFill/>
          <a:ln w="9525">
            <a:solidFill>
              <a:srgbClr val="E5E7EB"/>
            </a:solidFill>
            <a:prstDash val="solid"/>
          </a:ln>
        </p:spPr>
        <p:txBody>
          <a:bodyPr/>
          <a:lstStyle/>
          <a:p>
            <a:endParaRPr/>
          </a:p>
        </p:txBody>
      </p:sp>
      <p:sp>
        <p:nvSpPr>
          <p:cNvPr id="11" name="Text 8"/>
          <p:cNvSpPr txBox="1"/>
          <p:nvPr/>
        </p:nvSpPr>
        <p:spPr>
          <a:xfrm>
            <a:off x="676656" y="2670048"/>
            <a:ext cx="3584448" cy="2660904"/>
          </a:xfrm>
          <a:prstGeom prst="rect">
            <a:avLst/>
          </a:prstGeom>
          <a:noFill/>
          <a:ln/>
        </p:spPr>
        <p:txBody>
          <a:bodyPr wrap="square" lIns="0" tIns="0" rIns="0" bIns="0" rtlCol="0" anchor="t"/>
          <a:lstStyle/>
          <a:p>
            <a:pPr marL="0" indent="0">
              <a:lnSpc>
                <a:spcPct val="140000"/>
              </a:lnSpc>
              <a:buNone/>
            </a:pPr>
            <a:r>
              <a:rPr lang="en-US" sz="1200" dirty="0">
                <a:solidFill>
                  <a:srgbClr val="45515E"/>
                </a:solidFill>
                <a:latin typeface="에이투지체 5 Medium"/>
                <a:ea typeface="에이투지체 5 Medium"/>
                <a:cs typeface="에이투지체 5 Medium"/>
              </a:rPr>
              <a:t>· 일수: 28 ~ 31일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주말 수: 토 · 일 일수</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평일 공휴일 수: 주말 외 공휴일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명절 연휴 일수: 설 · 추석 연휴</a:t>
            </a:r>
            <a:endParaRPr lang="en-US" sz="1200" dirty="0"/>
          </a:p>
          <a:p>
            <a:pPr marL="0" indent="0">
              <a:lnSpc>
                <a:spcPct val="140000"/>
              </a:lnSpc>
              <a:buNone/>
            </a:pP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예시</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2025.01: 31일 · 평일 공휴일 4일 · 명절 3일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2025.02: 28일 · 평일 공휴일 0일 · 명절 0일</a:t>
            </a:r>
            <a:endParaRPr lang="en-US" sz="1200" dirty="0"/>
          </a:p>
        </p:txBody>
      </p:sp>
      <p:sp>
        <p:nvSpPr>
          <p:cNvPr id="12" name="Shape 9"/>
          <p:cNvSpPr/>
          <p:nvPr/>
        </p:nvSpPr>
        <p:spPr>
          <a:xfrm>
            <a:off x="4663440" y="1993392"/>
            <a:ext cx="7071055"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3" name="Chart 0"/>
          <p:cNvGraphicFramePr/>
          <p:nvPr/>
        </p:nvGraphicFramePr>
        <p:xfrm>
          <a:off x="4754880" y="2066544"/>
          <a:ext cx="6888175"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5641848"/>
            <a:ext cx="11277295" cy="548640"/>
          </a:xfrm>
          <a:prstGeom prst="roundRect">
            <a:avLst>
              <a:gd name="adj" fmla="val 23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5" name="Text 11"/>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FFFFFF"/>
                </a:solidFill>
                <a:latin typeface="에이투지체 5 Medium"/>
                <a:ea typeface="에이투지체 5 Medium"/>
                <a:cs typeface="에이투지체 5 Medium"/>
              </a:rPr>
              <a:t>달력</a:t>
            </a:r>
            <a:r>
              <a:rPr lang="en-US" sz="1400" dirty="0" smtClean="0">
                <a:solidFill>
                  <a:srgbClr val="FFFFFF"/>
                </a:solidFill>
                <a:latin typeface="에이투지체 5 Medium"/>
                <a:ea typeface="에이투지체 5 Medium"/>
                <a:cs typeface="에이투지체 5 Medium"/>
              </a:rPr>
              <a:t> </a:t>
            </a:r>
            <a:r>
              <a:rPr lang="en-US" sz="1400" dirty="0">
                <a:solidFill>
                  <a:srgbClr val="FFFFFF"/>
                </a:solidFill>
                <a:latin typeface="에이투지체 5 Medium"/>
                <a:ea typeface="에이투지체 5 Medium"/>
                <a:cs typeface="에이투지체 5 Medium"/>
              </a:rPr>
              <a:t>특성 채택 (기본 대비 +0.73%p), 검증 데이터 </a:t>
            </a:r>
            <a:r>
              <a:rPr lang="en-US" sz="1400" dirty="0" err="1">
                <a:solidFill>
                  <a:srgbClr val="FFFFFF"/>
                </a:solidFill>
                <a:latin typeface="에이투지체 5 Medium"/>
                <a:ea typeface="에이투지체 5 Medium"/>
                <a:cs typeface="에이투지체 5 Medium"/>
              </a:rPr>
              <a:t>기준</a:t>
            </a:r>
            <a:r>
              <a:rPr lang="en-US" sz="1400" dirty="0">
                <a:solidFill>
                  <a:srgbClr val="FFFFFF"/>
                </a:solidFill>
                <a:latin typeface="에이투지체 5 Medium"/>
                <a:ea typeface="에이투지체 5 Medium"/>
                <a:cs typeface="에이투지체 5 Medium"/>
              </a:rPr>
              <a:t> </a:t>
            </a:r>
            <a:r>
              <a:rPr lang="en-US" sz="1400" dirty="0" err="1" smtClean="0">
                <a:solidFill>
                  <a:srgbClr val="FFFFFF"/>
                </a:solidFill>
                <a:latin typeface="에이투지체 5 Medium"/>
                <a:ea typeface="에이투지체 5 Medium"/>
                <a:cs typeface="에이투지체 5 Medium"/>
              </a:rPr>
              <a:t>결정</a:t>
            </a:r>
            <a:endParaRPr lang="en-US" sz="1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비교 모델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선형 · 트리 · 부스팅 · 신경망 6종 + 이송 건수 앙상블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(0-1 모델 설정)</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4160520"/>
        </p:xfrm>
        <a:graphic>
          <a:graphicData uri="http://schemas.openxmlformats.org/drawingml/2006/table">
            <a:tbl>
              <a:tblPr/>
              <a:tblGrid>
                <a:gridCol w="25603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24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예측 방식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특징</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적용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Linear Regression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입력과 정답의 직선 관계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비교 기준 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직선 관계 + 계수 크기 규제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과적합 억제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Decision Tree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조건 분기 반복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해석 용이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Random Forest</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다수 트리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예측 안정성</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Gradient Boosting</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이전 트리 오차를 다음 트리가 보완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높은 정확도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DNN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다층 인공 신경망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복잡한 관계 학습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앙상블 (GB + 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Gradient Boosting · Ridge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서로 다른 오차 상쇄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이송 건수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6개월 정확도 1위 앙상블 선정, 평가 정확도 94.6%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(4-2 · 4-2-2)</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1" name="Text 7"/>
          <p:cNvSpPr txBox="1"/>
          <p:nvPr/>
        </p:nvSpPr>
        <p:spPr>
          <a:xfrm>
            <a:off x="8083296" y="2157984"/>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앙상블 구성</a:t>
            </a:r>
            <a:endParaRPr lang="en-US" sz="1800" dirty="0"/>
          </a:p>
        </p:txBody>
      </p:sp>
      <p:sp>
        <p:nvSpPr>
          <p:cNvPr id="12" name="Shape 8"/>
          <p:cNvSpPr/>
          <p:nvPr/>
        </p:nvSpPr>
        <p:spPr>
          <a:xfrm>
            <a:off x="8083296" y="2560320"/>
            <a:ext cx="3429000" cy="0"/>
          </a:xfrm>
          <a:prstGeom prst="line">
            <a:avLst/>
          </a:prstGeom>
          <a:noFill/>
          <a:ln w="9525">
            <a:solidFill>
              <a:srgbClr val="E5E7EB"/>
            </a:solidFill>
            <a:prstDash val="solid"/>
          </a:ln>
        </p:spPr>
        <p:txBody>
          <a:bodyPr/>
          <a:lstStyle/>
          <a:p>
            <a:endParaRPr/>
          </a:p>
        </p:txBody>
      </p:sp>
      <p:sp>
        <p:nvSpPr>
          <p:cNvPr id="13" name="Shape 9"/>
          <p:cNvSpPr/>
          <p:nvPr/>
        </p:nvSpPr>
        <p:spPr>
          <a:xfrm>
            <a:off x="8083296" y="2743200"/>
            <a:ext cx="1645920" cy="329184"/>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14" name="Text 10"/>
          <p:cNvSpPr txBox="1"/>
          <p:nvPr/>
        </p:nvSpPr>
        <p:spPr>
          <a:xfrm>
            <a:off x="8083296" y="27432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Gradient Boosting</a:t>
            </a:r>
            <a:endParaRPr lang="en-US" sz="1050" dirty="0"/>
          </a:p>
        </p:txBody>
      </p:sp>
      <p:sp>
        <p:nvSpPr>
          <p:cNvPr id="15" name="Shape 11"/>
          <p:cNvSpPr/>
          <p:nvPr/>
        </p:nvSpPr>
        <p:spPr>
          <a:xfrm>
            <a:off x="8083296" y="3200400"/>
            <a:ext cx="1645920" cy="329184"/>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16" name="Text 12"/>
          <p:cNvSpPr txBox="1"/>
          <p:nvPr/>
        </p:nvSpPr>
        <p:spPr>
          <a:xfrm>
            <a:off x="8083296" y="32004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Ridge</a:t>
            </a:r>
            <a:endParaRPr lang="en-US" sz="1050" dirty="0"/>
          </a:p>
        </p:txBody>
      </p:sp>
      <p:sp>
        <p:nvSpPr>
          <p:cNvPr id="17" name="Shape 13"/>
          <p:cNvSpPr/>
          <p:nvPr/>
        </p:nvSpPr>
        <p:spPr>
          <a:xfrm>
            <a:off x="9784080" y="3136392"/>
            <a:ext cx="320040" cy="0"/>
          </a:xfrm>
          <a:prstGeom prst="line">
            <a:avLst/>
          </a:prstGeom>
          <a:noFill/>
          <a:ln w="15875">
            <a:solidFill>
              <a:srgbClr val="D62828"/>
            </a:solidFill>
            <a:prstDash val="solid"/>
            <a:tailEnd type="triangle"/>
          </a:ln>
        </p:spPr>
        <p:txBody>
          <a:bodyPr/>
          <a:lstStyle/>
          <a:p>
            <a:endParaRPr/>
          </a:p>
        </p:txBody>
      </p:sp>
      <p:sp>
        <p:nvSpPr>
          <p:cNvPr id="18" name="Shape 14"/>
          <p:cNvSpPr/>
          <p:nvPr/>
        </p:nvSpPr>
        <p:spPr>
          <a:xfrm>
            <a:off x="10149840" y="2944368"/>
            <a:ext cx="1362456" cy="384048"/>
          </a:xfrm>
          <a:prstGeom prst="roundRect">
            <a:avLst>
              <a:gd name="adj" fmla="val 50000"/>
            </a:avLst>
          </a:prstGeom>
          <a:solidFill>
            <a:srgbClr val="D62828"/>
          </a:solidFill>
          <a:ln w="12700">
            <a:solidFill>
              <a:srgbClr val="D62828"/>
            </a:solidFill>
            <a:prstDash val="solid"/>
          </a:ln>
        </p:spPr>
        <p:txBody>
          <a:bodyPr/>
          <a:lstStyle/>
          <a:p>
            <a:endParaRPr/>
          </a:p>
        </p:txBody>
      </p:sp>
      <p:sp>
        <p:nvSpPr>
          <p:cNvPr id="19" name="Text 15"/>
          <p:cNvSpPr txBox="1"/>
          <p:nvPr/>
        </p:nvSpPr>
        <p:spPr>
          <a:xfrm>
            <a:off x="10149840" y="2944368"/>
            <a:ext cx="136245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에이투지체 5 Medium"/>
                <a:ea typeface="에이투지체 5 Medium"/>
                <a:cs typeface="에이투지체 5 Medium"/>
              </a:rPr>
              <a:t>예측 평균</a:t>
            </a:r>
            <a:endParaRPr lang="en-US" sz="1050" dirty="0"/>
          </a:p>
        </p:txBody>
      </p:sp>
      <p:sp>
        <p:nvSpPr>
          <p:cNvPr id="20" name="Text 16"/>
          <p:cNvSpPr txBox="1"/>
          <p:nvPr/>
        </p:nvSpPr>
        <p:spPr>
          <a:xfrm>
            <a:off x="8083296" y="3685032"/>
            <a:ext cx="3429000" cy="320040"/>
          </a:xfrm>
          <a:prstGeom prst="rect">
            <a:avLst/>
          </a:prstGeom>
          <a:noFill/>
          <a:ln/>
        </p:spPr>
        <p:txBody>
          <a:bodyPr wrap="square" lIns="0" tIns="0" rIns="0" bIns="0" rtlCol="0" anchor="ctr"/>
          <a:lstStyle/>
          <a:p>
            <a:pPr marL="0" indent="0" algn="ctr">
              <a:buNone/>
            </a:pPr>
            <a:r>
              <a:rPr lang="en-US" sz="1050" dirty="0">
                <a:solidFill>
                  <a:srgbClr val="45515E"/>
                </a:solidFill>
                <a:latin typeface="에이투지체 5 Medium"/>
                <a:ea typeface="에이투지체 5 Medium"/>
                <a:cs typeface="에이투지체 5 Medium"/>
              </a:rPr>
              <a:t>검증 오차 상관 0.500 · GB 대비 검증 +0.26%p</a:t>
            </a:r>
            <a:endParaRPr lang="en-US" sz="1050" dirty="0"/>
          </a:p>
        </p:txBody>
      </p:sp>
      <p:sp>
        <p:nvSpPr>
          <p:cNvPr id="21" name="Shape 17"/>
          <p:cNvSpPr/>
          <p:nvPr/>
        </p:nvSpPr>
        <p:spPr>
          <a:xfrm>
            <a:off x="7863840" y="4361688"/>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2" name="Text 18"/>
          <p:cNvSpPr txBox="1"/>
          <p:nvPr/>
        </p:nvSpPr>
        <p:spPr>
          <a:xfrm>
            <a:off x="8083296" y="4544568"/>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3" name="Text 19"/>
          <p:cNvSpPr txBox="1"/>
          <p:nvPr/>
        </p:nvSpPr>
        <p:spPr>
          <a:xfrm>
            <a:off x="8083296" y="5148072"/>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6개월 정확도</a:t>
            </a:r>
            <a:endParaRPr lang="en-US" sz="1400" dirty="0"/>
          </a:p>
        </p:txBody>
      </p:sp>
      <p:sp>
        <p:nvSpPr>
          <p:cNvPr id="24" name="Shape 20"/>
          <p:cNvSpPr/>
          <p:nvPr/>
        </p:nvSpPr>
        <p:spPr>
          <a:xfrm>
            <a:off x="8083296" y="5550408"/>
            <a:ext cx="3431743" cy="0"/>
          </a:xfrm>
          <a:prstGeom prst="line">
            <a:avLst/>
          </a:prstGeom>
          <a:noFill/>
          <a:ln w="9525">
            <a:solidFill>
              <a:srgbClr val="E87A7A"/>
            </a:solidFill>
            <a:prstDash val="solid"/>
          </a:ln>
        </p:spPr>
        <p:txBody>
          <a:bodyPr/>
          <a:lstStyle/>
          <a:p>
            <a:endParaRPr/>
          </a:p>
        </p:txBody>
      </p:sp>
      <p:sp>
        <p:nvSpPr>
          <p:cNvPr id="25" name="Text 21"/>
          <p:cNvSpPr txBox="1"/>
          <p:nvPr/>
        </p:nvSpPr>
        <p:spPr>
          <a:xfrm>
            <a:off x="8083296" y="5660136"/>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기준선 93.25% 대비 우수</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이송 건수 평가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평가 6개월 실제 vs 예측 및 자치구별 정확도 (앙상블, 6개월 연속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(transport_test_result)</a:t>
            </a:r>
            <a:endParaRPr lang="en-US" sz="900" dirty="0"/>
          </a:p>
        </p:txBody>
      </p:sp>
      <p:sp>
        <p:nvSpPr>
          <p:cNvPr id="1008" name="Add 1008"/>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09" name="Picture 1008" descr="transport_test_result.png"/>
          <p:cNvPicPr>
            <a:picLocks noChangeAspect="1"/>
          </p:cNvPicPr>
          <p:nvPr/>
        </p:nvPicPr>
        <p:blipFill>
          <a:blip r:embed="rId3"/>
          <a:stretch>
            <a:fillRect/>
          </a:stretch>
        </p:blipFill>
        <p:spPr>
          <a:xfrm>
            <a:off x="566928" y="2230628"/>
            <a:ext cx="8375904" cy="3722624"/>
          </a:xfrm>
          <a:prstGeom prst="rect">
            <a:avLst/>
          </a:prstGeom>
        </p:spPr>
      </p:pic>
      <p:sp>
        <p:nvSpPr>
          <p:cNvPr id="7" name="Add 1009"/>
          <p:cNvSpPr/>
          <p:nvPr/>
        </p:nvSpPr>
        <p:spPr>
          <a:xfrm>
            <a:off x="9235440" y="1993392"/>
            <a:ext cx="2499055" cy="1325880"/>
          </a:xfrm>
          <a:prstGeom prst="roundRect">
            <a:avLst>
              <a:gd name="adj" fmla="val 9655"/>
            </a:avLst>
          </a:prstGeom>
          <a:solidFill>
            <a:srgbClr val="D62828"/>
          </a:solidFill>
          <a:ln>
            <a:noFill/>
          </a:ln>
          <a:effectLst>
            <a:outerShdw blurRad="95250" dist="50800" dir="5400000" algn="t" rotWithShape="0">
              <a:srgbClr val="8A1414">
                <a:alpha val="16000"/>
              </a:srgbClr>
            </a:outerShdw>
          </a:effectLst>
        </p:spPr>
        <p:txBody>
          <a:bodyPr/>
          <a:lstStyle/>
          <a:p>
            <a:endParaRPr/>
          </a:p>
        </p:txBody>
      </p:sp>
      <p:sp>
        <p:nvSpPr>
          <p:cNvPr id="1010" name="Add 1010"/>
          <p:cNvSpPr txBox="1"/>
          <p:nvPr/>
        </p:nvSpPr>
        <p:spPr>
          <a:xfrm>
            <a:off x="9418320" y="2121408"/>
            <a:ext cx="2133295" cy="502920"/>
          </a:xfrm>
          <a:prstGeom prst="rect">
            <a:avLst/>
          </a:prstGeom>
          <a:noFill/>
        </p:spPr>
        <p:txBody>
          <a:bodyPr wrap="square" lIns="0" tIns="0" rIns="0" bIns="0" rtlCol="0" anchor="ctr"/>
          <a:lstStyle/>
          <a:p>
            <a:pPr algn="ctr"/>
            <a:r>
              <a:rPr lang="ko-KR" sz="2800" spc="-80" dirty="0">
                <a:solidFill>
                  <a:srgbClr val="FFFFFF"/>
                </a:solidFill>
                <a:latin typeface="에이투지체 5 Medium"/>
                <a:ea typeface="에이투지체 5 Medium"/>
                <a:cs typeface="에이투지체 5 Medium"/>
              </a:rPr>
              <a:t>94.6%</a:t>
            </a:r>
          </a:p>
        </p:txBody>
      </p:sp>
      <p:sp>
        <p:nvSpPr>
          <p:cNvPr id="1011" name="Add 1011"/>
          <p:cNvSpPr txBox="1"/>
          <p:nvPr/>
        </p:nvSpPr>
        <p:spPr>
          <a:xfrm>
            <a:off x="9418320" y="2651760"/>
            <a:ext cx="2133295" cy="274320"/>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전체 평가 정확도</a:t>
            </a:r>
          </a:p>
        </p:txBody>
      </p:sp>
      <p:sp>
        <p:nvSpPr>
          <p:cNvPr id="1012" name="Add 1012"/>
          <p:cNvSpPr/>
          <p:nvPr/>
        </p:nvSpPr>
        <p:spPr>
          <a:xfrm>
            <a:off x="9418320" y="2980944"/>
            <a:ext cx="2133295" cy="0"/>
          </a:xfrm>
          <a:prstGeom prst="line">
            <a:avLst/>
          </a:prstGeom>
          <a:ln w="9525">
            <a:solidFill>
              <a:srgbClr val="E87A7A"/>
            </a:solidFill>
          </a:ln>
        </p:spPr>
        <p:txBody>
          <a:bodyPr/>
          <a:lstStyle/>
          <a:p>
            <a:endParaRPr/>
          </a:p>
        </p:txBody>
      </p:sp>
      <p:sp>
        <p:nvSpPr>
          <p:cNvPr id="1013" name="Add 1013"/>
          <p:cNvSpPr txBox="1"/>
          <p:nvPr/>
        </p:nvSpPr>
        <p:spPr>
          <a:xfrm>
            <a:off x="9418320" y="3054096"/>
            <a:ext cx="2133295" cy="173736"/>
          </a:xfrm>
          <a:prstGeom prst="rect">
            <a:avLst/>
          </a:prstGeom>
          <a:noFill/>
        </p:spPr>
        <p:txBody>
          <a:bodyPr wrap="square" lIns="0" tIns="0" rIns="0" bIns="0" rtlCol="0" anchor="t"/>
          <a:lstStyle/>
          <a:p>
            <a:pPr algn="ctr"/>
            <a:r>
              <a:rPr lang="ko-KR" sz="1050" dirty="0">
                <a:solidFill>
                  <a:srgbClr val="FDE3E3"/>
                </a:solidFill>
                <a:latin typeface="에이투지체 5 Medium"/>
                <a:ea typeface="에이투지체 5 Medium"/>
                <a:cs typeface="에이투지체 5 Medium"/>
              </a:rPr>
              <a:t>25개 구 × 6개월</a:t>
            </a:r>
          </a:p>
        </p:txBody>
      </p:sp>
      <p:sp>
        <p:nvSpPr>
          <p:cNvPr id="1014" name="Add 1014"/>
          <p:cNvSpPr/>
          <p:nvPr/>
        </p:nvSpPr>
        <p:spPr>
          <a:xfrm>
            <a:off x="9235440" y="3429000"/>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15" name="Add 1015"/>
          <p:cNvSpPr txBox="1"/>
          <p:nvPr/>
        </p:nvSpPr>
        <p:spPr>
          <a:xfrm>
            <a:off x="9418320" y="3557016"/>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98.7%</a:t>
            </a:r>
          </a:p>
        </p:txBody>
      </p:sp>
      <p:sp>
        <p:nvSpPr>
          <p:cNvPr id="1016" name="Add 1016"/>
          <p:cNvSpPr txBox="1"/>
          <p:nvPr/>
        </p:nvSpPr>
        <p:spPr>
          <a:xfrm>
            <a:off x="9418320" y="4087368"/>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최고 · 강서구</a:t>
            </a:r>
          </a:p>
        </p:txBody>
      </p:sp>
      <p:sp>
        <p:nvSpPr>
          <p:cNvPr id="1017" name="Add 1017"/>
          <p:cNvSpPr/>
          <p:nvPr/>
        </p:nvSpPr>
        <p:spPr>
          <a:xfrm>
            <a:off x="9418320" y="4416552"/>
            <a:ext cx="2133295" cy="0"/>
          </a:xfrm>
          <a:prstGeom prst="line">
            <a:avLst/>
          </a:prstGeom>
          <a:ln w="9525">
            <a:solidFill>
              <a:srgbClr val="E5E7EB"/>
            </a:solidFill>
          </a:ln>
        </p:spPr>
        <p:txBody>
          <a:bodyPr/>
          <a:lstStyle/>
          <a:p>
            <a:endParaRPr/>
          </a:p>
        </p:txBody>
      </p:sp>
      <p:sp>
        <p:nvSpPr>
          <p:cNvPr id="1018" name="Add 1018"/>
          <p:cNvSpPr txBox="1"/>
          <p:nvPr/>
        </p:nvSpPr>
        <p:spPr>
          <a:xfrm>
            <a:off x="9418320" y="4489704"/>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자치구별 정확도</a:t>
            </a:r>
          </a:p>
        </p:txBody>
      </p:sp>
      <p:sp>
        <p:nvSpPr>
          <p:cNvPr id="1019" name="Add 1019"/>
          <p:cNvSpPr/>
          <p:nvPr/>
        </p:nvSpPr>
        <p:spPr>
          <a:xfrm>
            <a:off x="9235440" y="4864608"/>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20" name="Add 1020"/>
          <p:cNvSpPr txBox="1"/>
          <p:nvPr/>
        </p:nvSpPr>
        <p:spPr>
          <a:xfrm>
            <a:off x="9418320" y="4992624"/>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90.1%</a:t>
            </a:r>
          </a:p>
        </p:txBody>
      </p:sp>
      <p:sp>
        <p:nvSpPr>
          <p:cNvPr id="1021" name="Add 1021"/>
          <p:cNvSpPr txBox="1"/>
          <p:nvPr/>
        </p:nvSpPr>
        <p:spPr>
          <a:xfrm>
            <a:off x="9418320" y="5522976"/>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최저 · 양천구</a:t>
            </a:r>
          </a:p>
        </p:txBody>
      </p:sp>
      <p:sp>
        <p:nvSpPr>
          <p:cNvPr id="1022" name="Add 1022"/>
          <p:cNvSpPr/>
          <p:nvPr/>
        </p:nvSpPr>
        <p:spPr>
          <a:xfrm>
            <a:off x="9418320" y="5852160"/>
            <a:ext cx="2133295" cy="0"/>
          </a:xfrm>
          <a:prstGeom prst="line">
            <a:avLst/>
          </a:prstGeom>
          <a:ln w="9525">
            <a:solidFill>
              <a:srgbClr val="E5E7EB"/>
            </a:solidFill>
          </a:ln>
        </p:spPr>
        <p:txBody>
          <a:bodyPr/>
          <a:lstStyle/>
          <a:p>
            <a:endParaRPr/>
          </a:p>
        </p:txBody>
      </p:sp>
      <p:sp>
        <p:nvSpPr>
          <p:cNvPr id="1023" name="Add 1023"/>
          <p:cNvSpPr txBox="1"/>
          <p:nvPr/>
        </p:nvSpPr>
        <p:spPr>
          <a:xfrm>
            <a:off x="9418320" y="5925312"/>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빗금 = 관할 변경 구</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이송 건수 실제 · 예측 추이</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이송 건수 상위 4개 구의 평가 기간(2025.07~12) 실제 vs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(transport_test_trend)</a:t>
            </a:r>
            <a:endParaRPr lang="en-US" sz="900" dirty="0"/>
          </a:p>
        </p:txBody>
      </p:sp>
      <p:sp>
        <p:nvSpPr>
          <p:cNvPr id="1024" name="Add 1024"/>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25" name="Picture 1024" descr="transport_test_trend.png"/>
          <p:cNvPicPr>
            <a:picLocks noChangeAspect="1"/>
          </p:cNvPicPr>
          <p:nvPr/>
        </p:nvPicPr>
        <p:blipFill>
          <a:blip r:embed="rId3"/>
          <a:stretch>
            <a:fillRect/>
          </a:stretch>
        </p:blipFill>
        <p:spPr>
          <a:xfrm>
            <a:off x="749512" y="2103120"/>
            <a:ext cx="8010735" cy="3977640"/>
          </a:xfrm>
          <a:prstGeom prst="rect">
            <a:avLst/>
          </a:prstGeom>
        </p:spPr>
      </p:pic>
      <p:sp>
        <p:nvSpPr>
          <p:cNvPr id="7" name="Add 1025"/>
          <p:cNvSpPr/>
          <p:nvPr/>
        </p:nvSpPr>
        <p:spPr>
          <a:xfrm>
            <a:off x="9235440" y="1993392"/>
            <a:ext cx="2499055" cy="4197096"/>
          </a:xfrm>
          <a:prstGeom prst="roundRect">
            <a:avLst>
              <a:gd name="adj" fmla="val 3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26" name="Add 1026"/>
          <p:cNvSpPr txBox="1"/>
          <p:nvPr/>
        </p:nvSpPr>
        <p:spPr>
          <a:xfrm>
            <a:off x="9454896" y="2157984"/>
            <a:ext cx="2060143" cy="310896"/>
          </a:xfrm>
          <a:prstGeom prst="rect">
            <a:avLst/>
          </a:prstGeom>
          <a:noFill/>
        </p:spPr>
        <p:txBody>
          <a:bodyPr wrap="square" lIns="0" tIns="0" rIns="0" bIns="0" rtlCol="0" anchor="ctr"/>
          <a:lstStyle/>
          <a:p>
            <a:pPr algn="ctr"/>
            <a:r>
              <a:rPr lang="ko-KR" sz="1600" b="1" dirty="0">
                <a:solidFill>
                  <a:srgbClr val="D62828"/>
                </a:solidFill>
                <a:latin typeface="에이투지체 5 Medium"/>
                <a:ea typeface="에이투지체 5 Medium"/>
                <a:cs typeface="에이투지체 5 Medium"/>
              </a:rPr>
              <a:t>읽는 법</a:t>
            </a:r>
          </a:p>
        </p:txBody>
      </p:sp>
      <p:sp>
        <p:nvSpPr>
          <p:cNvPr id="1027" name="Add 1027"/>
          <p:cNvSpPr/>
          <p:nvPr/>
        </p:nvSpPr>
        <p:spPr>
          <a:xfrm>
            <a:off x="9454896" y="2560320"/>
            <a:ext cx="2060143" cy="0"/>
          </a:xfrm>
          <a:prstGeom prst="line">
            <a:avLst/>
          </a:prstGeom>
          <a:ln w="9525">
            <a:solidFill>
              <a:srgbClr val="E5E7EB"/>
            </a:solidFill>
          </a:ln>
        </p:spPr>
        <p:txBody>
          <a:bodyPr/>
          <a:lstStyle/>
          <a:p>
            <a:endParaRPr/>
          </a:p>
        </p:txBody>
      </p:sp>
      <p:sp>
        <p:nvSpPr>
          <p:cNvPr id="1028" name="Add 1028"/>
          <p:cNvSpPr txBox="1"/>
          <p:nvPr/>
        </p:nvSpPr>
        <p:spPr>
          <a:xfrm>
            <a:off x="9454896" y="2670048"/>
            <a:ext cx="2060143" cy="3392424"/>
          </a:xfrm>
          <a:prstGeom prst="rect">
            <a:avLst/>
          </a:prstGeom>
          <a:noFill/>
        </p:spPr>
        <p:txBody>
          <a:bodyPr wrap="square" lIns="0" tIns="0" rIns="0" bIns="0" rtlCol="0" anchor="t"/>
          <a:lstStyle/>
          <a:p>
            <a:pPr algn="l">
              <a:lnSpc>
                <a:spcPct val="130000"/>
              </a:lnSpc>
            </a:pPr>
            <a:r>
              <a:rPr lang="ko-KR" sz="1100" dirty="0">
                <a:solidFill>
                  <a:srgbClr val="45515E"/>
                </a:solidFill>
                <a:latin typeface="에이투지체 5 Medium"/>
                <a:ea typeface="에이투지체 5 Medium"/>
                <a:cs typeface="에이투지체 5 Medium"/>
              </a:rPr>
              <a:t>· 실선: 실제 이송 건수</a:t>
            </a:r>
          </a:p>
          <a:p>
            <a:pPr algn="l">
              <a:lnSpc>
                <a:spcPct val="130000"/>
              </a:lnSpc>
            </a:pPr>
            <a:r>
              <a:rPr lang="ko-KR" sz="1100" dirty="0">
                <a:solidFill>
                  <a:srgbClr val="45515E"/>
                </a:solidFill>
                <a:latin typeface="에이투지체 5 Medium"/>
                <a:ea typeface="에이투지체 5 Medium"/>
                <a:cs typeface="에이투지체 5 Medium"/>
              </a:rPr>
              <a:t>· 점선: 앙상블 예측</a:t>
            </a:r>
          </a:p>
          <a:p>
            <a:pPr algn="l">
              <a:lnSpc>
                <a:spcPct val="130000"/>
              </a:lnSpc>
            </a:pPr>
            <a:r>
              <a:rPr lang="ko-KR" sz="1100" dirty="0">
                <a:solidFill>
                  <a:srgbClr val="45515E"/>
                </a:solidFill>
                <a:latin typeface="에이투지체 5 Medium"/>
                <a:ea typeface="에이투지체 5 Medium"/>
                <a:cs typeface="에이투지체 5 Medium"/>
              </a:rPr>
              <a:t>· 대상: 강남 · 구로</a:t>
            </a:r>
          </a:p>
          <a:p>
            <a:pPr algn="l">
              <a:lnSpc>
                <a:spcPct val="130000"/>
              </a:lnSpc>
            </a:pPr>
            <a:r>
              <a:rPr lang="ko-KR" sz="1100" dirty="0">
                <a:solidFill>
                  <a:srgbClr val="45515E"/>
                </a:solidFill>
                <a:latin typeface="에이투지체 5 Medium"/>
                <a:ea typeface="에이투지체 5 Medium"/>
                <a:cs typeface="에이투지체 5 Medium"/>
              </a:rPr>
              <a:t>  강서 · 송파</a:t>
            </a:r>
          </a:p>
          <a:p>
            <a:pPr algn="l">
              <a:lnSpc>
                <a:spcPct val="130000"/>
              </a:lnSpc>
            </a:pPr>
            <a:endParaRPr lang="ko-KR" sz="1100" dirty="0">
              <a:solidFill>
                <a:srgbClr val="45515E"/>
              </a:solidFill>
              <a:latin typeface="에이투지체 5 Medium"/>
              <a:ea typeface="에이투지체 5 Medium"/>
              <a:cs typeface="에이투지체 5 Medium"/>
            </a:endParaRPr>
          </a:p>
          <a:p>
            <a:pPr algn="l">
              <a:lnSpc>
                <a:spcPct val="130000"/>
              </a:lnSpc>
            </a:pPr>
            <a:r>
              <a:rPr lang="ko-KR" sz="1100" dirty="0">
                <a:solidFill>
                  <a:srgbClr val="45515E"/>
                </a:solidFill>
                <a:latin typeface="에이투지체 5 Medium"/>
                <a:ea typeface="에이투지체 5 Medium"/>
                <a:cs typeface="에이투지체 5 Medium"/>
              </a:rPr>
              <a:t>관찰</a:t>
            </a:r>
          </a:p>
          <a:p>
            <a:pPr algn="l">
              <a:lnSpc>
                <a:spcPct val="130000"/>
              </a:lnSpc>
            </a:pPr>
            <a:r>
              <a:rPr lang="ko-KR" sz="1100" dirty="0">
                <a:solidFill>
                  <a:srgbClr val="45515E"/>
                </a:solidFill>
                <a:latin typeface="에이투지체 5 Medium"/>
                <a:ea typeface="에이투지체 5 Medium"/>
                <a:cs typeface="에이투지체 5 Medium"/>
              </a:rPr>
              <a:t>· 월별 수준 · 흐름 추종</a:t>
            </a:r>
          </a:p>
          <a:p>
            <a:pPr algn="l">
              <a:lnSpc>
                <a:spcPct val="130000"/>
              </a:lnSpc>
            </a:pPr>
            <a:r>
              <a:rPr lang="ko-KR" sz="1100" dirty="0">
                <a:solidFill>
                  <a:srgbClr val="45515E"/>
                </a:solidFill>
                <a:latin typeface="에이투지체 5 Medium"/>
                <a:ea typeface="에이투지체 5 Medium"/>
                <a:cs typeface="에이투지체 5 Medium"/>
              </a:rPr>
              <a:t>· 급증 월은 과소 예측</a:t>
            </a:r>
          </a:p>
          <a:p>
            <a:pPr algn="l">
              <a:lnSpc>
                <a:spcPct val="130000"/>
              </a:lnSpc>
            </a:pPr>
            <a:r>
              <a:rPr lang="ko-KR" sz="1100" dirty="0">
                <a:solidFill>
                  <a:srgbClr val="45515E"/>
                </a:solidFill>
                <a:latin typeface="에이투지체 5 Medium"/>
                <a:ea typeface="에이투지체 5 Medium"/>
                <a:cs typeface="에이투지체 5 Medium"/>
              </a:rPr>
              <a:t>  (예: 강남구 2025.07)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밀집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정확도 1위 Random Forest 선정, 평가 정확도 98.2%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(5-3 · 5-4)</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083296" y="2176272"/>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98.2%</a:t>
            </a:r>
            <a:endParaRPr lang="en-US" sz="3600" dirty="0"/>
          </a:p>
        </p:txBody>
      </p:sp>
      <p:sp>
        <p:nvSpPr>
          <p:cNvPr id="12" name="Text 8"/>
          <p:cNvSpPr txBox="1"/>
          <p:nvPr/>
        </p:nvSpPr>
        <p:spPr>
          <a:xfrm>
            <a:off x="8083296" y="2779776"/>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정확도</a:t>
            </a:r>
            <a:endParaRPr lang="en-US" sz="1400" dirty="0"/>
          </a:p>
        </p:txBody>
      </p:sp>
      <p:sp>
        <p:nvSpPr>
          <p:cNvPr id="13" name="Shape 9"/>
          <p:cNvSpPr/>
          <p:nvPr/>
        </p:nvSpPr>
        <p:spPr>
          <a:xfrm>
            <a:off x="8083296" y="3182112"/>
            <a:ext cx="3431743" cy="0"/>
          </a:xfrm>
          <a:prstGeom prst="line">
            <a:avLst/>
          </a:prstGeom>
          <a:noFill/>
          <a:ln w="9525">
            <a:solidFill>
              <a:srgbClr val="E87A7A"/>
            </a:solidFill>
            <a:prstDash val="solid"/>
          </a:ln>
        </p:spPr>
        <p:txBody>
          <a:bodyPr/>
          <a:lstStyle/>
          <a:p>
            <a:endParaRPr/>
          </a:p>
        </p:txBody>
      </p:sp>
      <p:sp>
        <p:nvSpPr>
          <p:cNvPr id="14" name="Text 10"/>
          <p:cNvSpPr txBox="1"/>
          <p:nvPr/>
        </p:nvSpPr>
        <p:spPr>
          <a:xfrm>
            <a:off x="8083296" y="3291840"/>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검증 98.59% → 평가 98.16%</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평가에서도 1위 유지</a:t>
            </a:r>
            <a:endParaRPr lang="en-US" sz="1100" dirty="0"/>
          </a:p>
        </p:txBody>
      </p:sp>
      <p:sp>
        <p:nvSpPr>
          <p:cNvPr id="15" name="Shape 11"/>
          <p:cNvSpPr/>
          <p:nvPr/>
        </p:nvSpPr>
        <p:spPr>
          <a:xfrm>
            <a:off x="7863840" y="400507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6" name="Text 12"/>
          <p:cNvSpPr txBox="1"/>
          <p:nvPr/>
        </p:nvSpPr>
        <p:spPr>
          <a:xfrm>
            <a:off x="8083296" y="4169664"/>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일평균 오차 인원 (평가)</a:t>
            </a:r>
            <a:endParaRPr lang="en-US" sz="1800" dirty="0"/>
          </a:p>
        </p:txBody>
      </p:sp>
      <p:sp>
        <p:nvSpPr>
          <p:cNvPr id="17" name="Shape 13"/>
          <p:cNvSpPr/>
          <p:nvPr/>
        </p:nvSpPr>
        <p:spPr>
          <a:xfrm>
            <a:off x="8083296" y="4572000"/>
            <a:ext cx="3429000" cy="0"/>
          </a:xfrm>
          <a:prstGeom prst="line">
            <a:avLst/>
          </a:prstGeom>
          <a:noFill/>
          <a:ln w="9525">
            <a:solidFill>
              <a:srgbClr val="E5E7EB"/>
            </a:solidFill>
            <a:prstDash val="solid"/>
          </a:ln>
        </p:spPr>
        <p:txBody>
          <a:bodyPr/>
          <a:lstStyle/>
          <a:p>
            <a:endParaRPr/>
          </a:p>
        </p:txBody>
      </p:sp>
      <p:sp>
        <p:nvSpPr>
          <p:cNvPr id="18" name="Text 14"/>
          <p:cNvSpPr txBox="1"/>
          <p:nvPr/>
        </p:nvSpPr>
        <p:spPr>
          <a:xfrm>
            <a:off x="8083296" y="4681728"/>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Random Forest</a:t>
            </a:r>
            <a:endParaRPr lang="en-US" sz="1200" dirty="0"/>
          </a:p>
        </p:txBody>
      </p:sp>
      <p:sp>
        <p:nvSpPr>
          <p:cNvPr id="19" name="Text 15"/>
          <p:cNvSpPr txBox="1"/>
          <p:nvPr/>
        </p:nvSpPr>
        <p:spPr>
          <a:xfrm>
            <a:off x="9875520" y="4681728"/>
            <a:ext cx="1636776" cy="411480"/>
          </a:xfrm>
          <a:prstGeom prst="rect">
            <a:avLst/>
          </a:prstGeom>
          <a:noFill/>
          <a:ln/>
        </p:spPr>
        <p:txBody>
          <a:bodyPr wrap="square" lIns="0" tIns="0" rIns="0" bIns="0" rtlCol="0" anchor="ctr"/>
          <a:lstStyle/>
          <a:p>
            <a:pPr marL="0" indent="0" algn="r">
              <a:buNone/>
            </a:pPr>
            <a:r>
              <a:rPr lang="en-US" sz="2000" dirty="0">
                <a:solidFill>
                  <a:srgbClr val="D62828"/>
                </a:solidFill>
                <a:latin typeface="에이투지체 5 Medium"/>
                <a:ea typeface="에이투지체 5 Medium"/>
                <a:cs typeface="에이투지체 5 Medium"/>
              </a:rPr>
              <a:t>8,836명</a:t>
            </a:r>
            <a:endParaRPr lang="en-US" sz="2000" dirty="0"/>
          </a:p>
        </p:txBody>
      </p:sp>
      <p:sp>
        <p:nvSpPr>
          <p:cNvPr id="20" name="Text 16"/>
          <p:cNvSpPr txBox="1"/>
          <p:nvPr/>
        </p:nvSpPr>
        <p:spPr>
          <a:xfrm>
            <a:off x="8083296" y="5138928"/>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기준선 (7일 전 값)</a:t>
            </a:r>
            <a:endParaRPr lang="en-US" sz="1200" dirty="0"/>
          </a:p>
        </p:txBody>
      </p:sp>
      <p:sp>
        <p:nvSpPr>
          <p:cNvPr id="21" name="Text 17"/>
          <p:cNvSpPr txBox="1"/>
          <p:nvPr/>
        </p:nvSpPr>
        <p:spPr>
          <a:xfrm>
            <a:off x="9875520" y="5138928"/>
            <a:ext cx="1636776" cy="411480"/>
          </a:xfrm>
          <a:prstGeom prst="rect">
            <a:avLst/>
          </a:prstGeom>
          <a:noFill/>
          <a:ln/>
        </p:spPr>
        <p:txBody>
          <a:bodyPr wrap="square" lIns="0" tIns="0" rIns="0" bIns="0" rtlCol="0" anchor="ctr"/>
          <a:lstStyle/>
          <a:p>
            <a:pPr marL="0" indent="0" algn="r">
              <a:buNone/>
            </a:pPr>
            <a:r>
              <a:rPr lang="en-US" sz="2000" dirty="0">
                <a:solidFill>
                  <a:srgbClr val="8E8E93"/>
                </a:solidFill>
                <a:latin typeface="에이투지체 5 Medium"/>
                <a:ea typeface="에이투지체 5 Medium"/>
                <a:cs typeface="에이투지체 5 Medium"/>
              </a:rPr>
              <a:t>12,015명</a:t>
            </a:r>
            <a:endParaRPr lang="en-US" sz="2000" dirty="0"/>
          </a:p>
        </p:txBody>
      </p:sp>
      <p:sp>
        <p:nvSpPr>
          <p:cNvPr id="22" name="Text 18"/>
          <p:cNvSpPr txBox="1"/>
          <p:nvPr/>
        </p:nvSpPr>
        <p:spPr>
          <a:xfrm>
            <a:off x="8083296" y="5669280"/>
            <a:ext cx="3429000" cy="320040"/>
          </a:xfrm>
          <a:prstGeom prst="rect">
            <a:avLst/>
          </a:prstGeom>
          <a:noFill/>
          <a:ln/>
        </p:spPr>
        <p:txBody>
          <a:bodyPr wrap="square" lIns="0" tIns="0" rIns="0" bIns="0" rtlCol="0" anchor="ctr"/>
          <a:lstStyle/>
          <a:p>
            <a:pPr marL="0" indent="0" algn="ctr">
              <a:buNone/>
            </a:pPr>
            <a:r>
              <a:rPr lang="en-US" sz="1000" dirty="0">
                <a:solidFill>
                  <a:srgbClr val="45515E"/>
                </a:solidFill>
                <a:latin typeface="에이투지체 5 Medium"/>
                <a:ea typeface="에이투지체 5 Medium"/>
                <a:cs typeface="에이투지체 5 Medium"/>
              </a:rPr>
              <a:t>명절 연휴 부근 오차 최대 (2025.10.06 · 2026.02.16)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밀집 평가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평가 1년 실제 vs 예측 및 자치구별 정확도 (Random Forest)</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(population_test_result)</a:t>
            </a:r>
            <a:endParaRPr lang="en-US" sz="900" dirty="0"/>
          </a:p>
        </p:txBody>
      </p:sp>
      <p:sp>
        <p:nvSpPr>
          <p:cNvPr id="1029" name="Add 1029"/>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30" name="Picture 1029" descr="population_test_result.png"/>
          <p:cNvPicPr>
            <a:picLocks noChangeAspect="1"/>
          </p:cNvPicPr>
          <p:nvPr/>
        </p:nvPicPr>
        <p:blipFill>
          <a:blip r:embed="rId3"/>
          <a:stretch>
            <a:fillRect/>
          </a:stretch>
        </p:blipFill>
        <p:spPr>
          <a:xfrm>
            <a:off x="566928" y="2463292"/>
            <a:ext cx="8375904" cy="3257296"/>
          </a:xfrm>
          <a:prstGeom prst="rect">
            <a:avLst/>
          </a:prstGeom>
        </p:spPr>
      </p:pic>
      <p:sp>
        <p:nvSpPr>
          <p:cNvPr id="7" name="Add 1030"/>
          <p:cNvSpPr/>
          <p:nvPr/>
        </p:nvSpPr>
        <p:spPr>
          <a:xfrm>
            <a:off x="9235440" y="1993392"/>
            <a:ext cx="2499055" cy="1325880"/>
          </a:xfrm>
          <a:prstGeom prst="roundRect">
            <a:avLst>
              <a:gd name="adj" fmla="val 9655"/>
            </a:avLst>
          </a:prstGeom>
          <a:solidFill>
            <a:srgbClr val="D62828"/>
          </a:solidFill>
          <a:ln>
            <a:noFill/>
          </a:ln>
          <a:effectLst>
            <a:outerShdw blurRad="95250" dist="50800" dir="5400000" algn="t" rotWithShape="0">
              <a:srgbClr val="8A1414">
                <a:alpha val="16000"/>
              </a:srgbClr>
            </a:outerShdw>
          </a:effectLst>
        </p:spPr>
        <p:txBody>
          <a:bodyPr/>
          <a:lstStyle/>
          <a:p>
            <a:endParaRPr/>
          </a:p>
        </p:txBody>
      </p:sp>
      <p:sp>
        <p:nvSpPr>
          <p:cNvPr id="1031" name="Add 1031"/>
          <p:cNvSpPr txBox="1"/>
          <p:nvPr/>
        </p:nvSpPr>
        <p:spPr>
          <a:xfrm>
            <a:off x="9418320" y="2121408"/>
            <a:ext cx="2133295" cy="502920"/>
          </a:xfrm>
          <a:prstGeom prst="rect">
            <a:avLst/>
          </a:prstGeom>
          <a:noFill/>
        </p:spPr>
        <p:txBody>
          <a:bodyPr wrap="square" lIns="0" tIns="0" rIns="0" bIns="0" rtlCol="0" anchor="ctr"/>
          <a:lstStyle/>
          <a:p>
            <a:pPr algn="ctr"/>
            <a:r>
              <a:rPr lang="ko-KR" sz="2800" spc="-80" dirty="0">
                <a:solidFill>
                  <a:srgbClr val="FFFFFF"/>
                </a:solidFill>
                <a:latin typeface="에이투지체 5 Medium"/>
                <a:ea typeface="에이투지체 5 Medium"/>
                <a:cs typeface="에이투지체 5 Medium"/>
              </a:rPr>
              <a:t>98.2%</a:t>
            </a:r>
          </a:p>
        </p:txBody>
      </p:sp>
      <p:sp>
        <p:nvSpPr>
          <p:cNvPr id="1032" name="Add 1032"/>
          <p:cNvSpPr txBox="1"/>
          <p:nvPr/>
        </p:nvSpPr>
        <p:spPr>
          <a:xfrm>
            <a:off x="9418320" y="2651760"/>
            <a:ext cx="2133295" cy="274320"/>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평가 정확도</a:t>
            </a:r>
          </a:p>
        </p:txBody>
      </p:sp>
      <p:sp>
        <p:nvSpPr>
          <p:cNvPr id="1033" name="Add 1033"/>
          <p:cNvSpPr/>
          <p:nvPr/>
        </p:nvSpPr>
        <p:spPr>
          <a:xfrm>
            <a:off x="9418320" y="2980944"/>
            <a:ext cx="2133295" cy="0"/>
          </a:xfrm>
          <a:prstGeom prst="line">
            <a:avLst/>
          </a:prstGeom>
          <a:ln w="9525">
            <a:solidFill>
              <a:srgbClr val="E87A7A"/>
            </a:solidFill>
          </a:ln>
        </p:spPr>
        <p:txBody>
          <a:bodyPr/>
          <a:lstStyle/>
          <a:p>
            <a:endParaRPr/>
          </a:p>
        </p:txBody>
      </p:sp>
      <p:sp>
        <p:nvSpPr>
          <p:cNvPr id="1034" name="Add 1034"/>
          <p:cNvSpPr txBox="1"/>
          <p:nvPr/>
        </p:nvSpPr>
        <p:spPr>
          <a:xfrm>
            <a:off x="9418320" y="3054096"/>
            <a:ext cx="2133295" cy="173736"/>
          </a:xfrm>
          <a:prstGeom prst="rect">
            <a:avLst/>
          </a:prstGeom>
          <a:noFill/>
        </p:spPr>
        <p:txBody>
          <a:bodyPr wrap="square" lIns="0" tIns="0" rIns="0" bIns="0" rtlCol="0" anchor="t"/>
          <a:lstStyle/>
          <a:p>
            <a:pPr algn="ctr"/>
            <a:r>
              <a:rPr lang="ko-KR" sz="1050" dirty="0">
                <a:solidFill>
                  <a:srgbClr val="FDE3E3"/>
                </a:solidFill>
                <a:latin typeface="에이투지체 5 Medium"/>
                <a:ea typeface="에이투지체 5 Medium"/>
                <a:cs typeface="에이투지체 5 Medium"/>
              </a:rPr>
              <a:t>25개 구 × 365일</a:t>
            </a:r>
          </a:p>
        </p:txBody>
      </p:sp>
      <p:sp>
        <p:nvSpPr>
          <p:cNvPr id="1035" name="Add 1035"/>
          <p:cNvSpPr/>
          <p:nvPr/>
        </p:nvSpPr>
        <p:spPr>
          <a:xfrm>
            <a:off x="9235440" y="3429000"/>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36" name="Add 1036"/>
          <p:cNvSpPr txBox="1"/>
          <p:nvPr/>
        </p:nvSpPr>
        <p:spPr>
          <a:xfrm>
            <a:off x="9418320" y="3557016"/>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8,836명</a:t>
            </a:r>
          </a:p>
        </p:txBody>
      </p:sp>
      <p:sp>
        <p:nvSpPr>
          <p:cNvPr id="1037" name="Add 1037"/>
          <p:cNvSpPr txBox="1"/>
          <p:nvPr/>
        </p:nvSpPr>
        <p:spPr>
          <a:xfrm>
            <a:off x="9418320" y="4087368"/>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일평균 오차</a:t>
            </a:r>
          </a:p>
        </p:txBody>
      </p:sp>
      <p:sp>
        <p:nvSpPr>
          <p:cNvPr id="1038" name="Add 1038"/>
          <p:cNvSpPr/>
          <p:nvPr/>
        </p:nvSpPr>
        <p:spPr>
          <a:xfrm>
            <a:off x="9418320" y="4416552"/>
            <a:ext cx="2133295" cy="0"/>
          </a:xfrm>
          <a:prstGeom prst="line">
            <a:avLst/>
          </a:prstGeom>
          <a:ln w="9525">
            <a:solidFill>
              <a:srgbClr val="E5E7EB"/>
            </a:solidFill>
          </a:ln>
        </p:spPr>
        <p:txBody>
          <a:bodyPr/>
          <a:lstStyle/>
          <a:p>
            <a:endParaRPr/>
          </a:p>
        </p:txBody>
      </p:sp>
      <p:sp>
        <p:nvSpPr>
          <p:cNvPr id="1039" name="Add 1039"/>
          <p:cNvSpPr txBox="1"/>
          <p:nvPr/>
        </p:nvSpPr>
        <p:spPr>
          <a:xfrm>
            <a:off x="9418320" y="4489704"/>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Random Forest</a:t>
            </a:r>
          </a:p>
        </p:txBody>
      </p:sp>
      <p:sp>
        <p:nvSpPr>
          <p:cNvPr id="1040" name="Add 1040"/>
          <p:cNvSpPr/>
          <p:nvPr/>
        </p:nvSpPr>
        <p:spPr>
          <a:xfrm>
            <a:off x="9235440" y="4864608"/>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41" name="Add 1041"/>
          <p:cNvSpPr txBox="1"/>
          <p:nvPr/>
        </p:nvSpPr>
        <p:spPr>
          <a:xfrm>
            <a:off x="9418320" y="4992624"/>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12,015명</a:t>
            </a:r>
          </a:p>
        </p:txBody>
      </p:sp>
      <p:sp>
        <p:nvSpPr>
          <p:cNvPr id="1042" name="Add 1042"/>
          <p:cNvSpPr txBox="1"/>
          <p:nvPr/>
        </p:nvSpPr>
        <p:spPr>
          <a:xfrm>
            <a:off x="9418320" y="5522976"/>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기준선 오차</a:t>
            </a:r>
          </a:p>
        </p:txBody>
      </p:sp>
      <p:sp>
        <p:nvSpPr>
          <p:cNvPr id="1043" name="Add 1043"/>
          <p:cNvSpPr/>
          <p:nvPr/>
        </p:nvSpPr>
        <p:spPr>
          <a:xfrm>
            <a:off x="9418320" y="5852160"/>
            <a:ext cx="2133295" cy="0"/>
          </a:xfrm>
          <a:prstGeom prst="line">
            <a:avLst/>
          </a:prstGeom>
          <a:ln w="9525">
            <a:solidFill>
              <a:srgbClr val="E5E7EB"/>
            </a:solidFill>
          </a:ln>
        </p:spPr>
        <p:txBody>
          <a:bodyPr/>
          <a:lstStyle/>
          <a:p>
            <a:endParaRPr/>
          </a:p>
        </p:txBody>
      </p:sp>
      <p:sp>
        <p:nvSpPr>
          <p:cNvPr id="1044" name="Add 1044"/>
          <p:cNvSpPr txBox="1"/>
          <p:nvPr/>
        </p:nvSpPr>
        <p:spPr>
          <a:xfrm>
            <a:off x="9418320" y="5925312"/>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7일 전 값 그대로</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특성 중요도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직전 시점의 동일 값이 예측 주도 (중요도 합계 1)</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31</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(4-5 · 5-5)</a:t>
            </a:r>
            <a:endParaRPr lang="en-US" sz="900" dirty="0"/>
          </a:p>
        </p:txBody>
      </p:sp>
      <p:sp>
        <p:nvSpPr>
          <p:cNvPr id="8" name="Shape 5"/>
          <p:cNvSpPr/>
          <p:nvPr/>
        </p:nvSpPr>
        <p:spPr>
          <a:xfrm>
            <a:off x="457200"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5364328"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187288"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1" name="Chart 1"/>
          <p:cNvGraphicFramePr/>
          <p:nvPr/>
        </p:nvGraphicFramePr>
        <p:xfrm>
          <a:off x="6278728" y="2066544"/>
          <a:ext cx="5364328" cy="3319272"/>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7"/>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3" name="Text 8"/>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전월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 7일 전 값이 핵심 단서, 생활인구(합 0.015) · 달력(합 0.034) 특성은 보정 역할</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최종 모델 재학습 및 미래 예측</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전체 데이터 재학습 · 저장 후 2026년 1~6월 구별 이송 건수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(4-6 · 5-5, 예측표 25개 구 합산)</a:t>
            </a:r>
            <a:endParaRPr lang="en-US" sz="900" dirty="0"/>
          </a:p>
        </p:txBody>
      </p:sp>
      <p:sp>
        <p:nvSpPr>
          <p:cNvPr id="8" name="Text 5"/>
          <p:cNvSpPr txBox="1"/>
          <p:nvPr/>
        </p:nvSpPr>
        <p:spPr>
          <a:xfrm>
            <a:off x="2221991" y="1888236"/>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모델 선정</a:t>
            </a:r>
            <a:endParaRPr lang="en-US" sz="1100" dirty="0"/>
          </a:p>
        </p:txBody>
      </p:sp>
      <p:sp>
        <p:nvSpPr>
          <p:cNvPr id="9" name="Text 6"/>
          <p:cNvSpPr txBox="1"/>
          <p:nvPr/>
        </p:nvSpPr>
        <p:spPr>
          <a:xfrm>
            <a:off x="4193986" y="1888236"/>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평가 확인</a:t>
            </a:r>
            <a:endParaRPr lang="en-US" sz="1100" dirty="0"/>
          </a:p>
        </p:txBody>
      </p:sp>
      <p:sp>
        <p:nvSpPr>
          <p:cNvPr id="10" name="Text 7"/>
          <p:cNvSpPr txBox="1"/>
          <p:nvPr/>
        </p:nvSpPr>
        <p:spPr>
          <a:xfrm>
            <a:off x="6165981" y="1888236"/>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전체 재학습</a:t>
            </a:r>
            <a:endParaRPr lang="en-US" sz="1100" dirty="0"/>
          </a:p>
        </p:txBody>
      </p:sp>
      <p:sp>
        <p:nvSpPr>
          <p:cNvPr id="12" name="Text 9"/>
          <p:cNvSpPr txBox="1"/>
          <p:nvPr/>
        </p:nvSpPr>
        <p:spPr>
          <a:xfrm>
            <a:off x="8314760" y="1888236"/>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미래 예측</a:t>
            </a:r>
            <a:endParaRPr lang="en-US" sz="1100" dirty="0"/>
          </a:p>
        </p:txBody>
      </p:sp>
      <p:sp>
        <p:nvSpPr>
          <p:cNvPr id="13" name="Text 10"/>
          <p:cNvSpPr txBox="1"/>
          <p:nvPr/>
        </p:nvSpPr>
        <p:spPr>
          <a:xfrm>
            <a:off x="621791" y="2226564"/>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4" name="Shape 11"/>
          <p:cNvSpPr/>
          <p:nvPr/>
        </p:nvSpPr>
        <p:spPr>
          <a:xfrm>
            <a:off x="2221991" y="2226564"/>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2295143" y="2226564"/>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앙상블 (GB+Ridge)</a:t>
            </a:r>
            <a:endParaRPr lang="en-US" sz="1200" dirty="0"/>
          </a:p>
        </p:txBody>
      </p:sp>
      <p:sp>
        <p:nvSpPr>
          <p:cNvPr id="16" name="Shape 13"/>
          <p:cNvSpPr/>
          <p:nvPr/>
        </p:nvSpPr>
        <p:spPr>
          <a:xfrm>
            <a:off x="4029394" y="2510028"/>
            <a:ext cx="146304" cy="0"/>
          </a:xfrm>
          <a:prstGeom prst="line">
            <a:avLst/>
          </a:prstGeom>
          <a:noFill/>
          <a:ln w="15875">
            <a:solidFill>
              <a:srgbClr val="8E8E93"/>
            </a:solidFill>
            <a:prstDash val="solid"/>
            <a:tailEnd type="triangle"/>
          </a:ln>
        </p:spPr>
        <p:txBody>
          <a:bodyPr/>
          <a:lstStyle/>
          <a:p>
            <a:endParaRPr/>
          </a:p>
        </p:txBody>
      </p:sp>
      <p:sp>
        <p:nvSpPr>
          <p:cNvPr id="17" name="Shape 14"/>
          <p:cNvSpPr/>
          <p:nvPr/>
        </p:nvSpPr>
        <p:spPr>
          <a:xfrm>
            <a:off x="4193986" y="2226564"/>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8" name="Text 15"/>
          <p:cNvSpPr txBox="1"/>
          <p:nvPr/>
        </p:nvSpPr>
        <p:spPr>
          <a:xfrm>
            <a:off x="4267138" y="2226564"/>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94.6%</a:t>
            </a:r>
            <a:endParaRPr lang="en-US" sz="1200" dirty="0"/>
          </a:p>
        </p:txBody>
      </p:sp>
      <p:sp>
        <p:nvSpPr>
          <p:cNvPr id="19" name="Shape 16"/>
          <p:cNvSpPr/>
          <p:nvPr/>
        </p:nvSpPr>
        <p:spPr>
          <a:xfrm>
            <a:off x="6001389" y="2510028"/>
            <a:ext cx="146304"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6165981" y="2226564"/>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239133" y="2226564"/>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2,180행</a:t>
            </a:r>
            <a:endParaRPr lang="en-US" sz="1200" dirty="0"/>
          </a:p>
        </p:txBody>
      </p:sp>
      <p:sp>
        <p:nvSpPr>
          <p:cNvPr id="22" name="Shape 19"/>
          <p:cNvSpPr/>
          <p:nvPr/>
        </p:nvSpPr>
        <p:spPr>
          <a:xfrm>
            <a:off x="8049818" y="2510028"/>
            <a:ext cx="146304"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8314760" y="2226564"/>
            <a:ext cx="1789115" cy="566928"/>
          </a:xfrm>
          <a:prstGeom prst="roundRect">
            <a:avLst>
              <a:gd name="adj" fmla="val 22581"/>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7" name="Text 24"/>
          <p:cNvSpPr txBox="1"/>
          <p:nvPr/>
        </p:nvSpPr>
        <p:spPr>
          <a:xfrm>
            <a:off x="8387912" y="2226564"/>
            <a:ext cx="1642811"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에이투지체 5 Medium"/>
                <a:ea typeface="에이투지체 5 Medium"/>
                <a:cs typeface="에이투지체 5 Medium"/>
              </a:rPr>
              <a:t>2026.01~06 구별</a:t>
            </a:r>
            <a:endParaRPr lang="en-US" sz="1200" dirty="0"/>
          </a:p>
        </p:txBody>
      </p:sp>
      <p:sp>
        <p:nvSpPr>
          <p:cNvPr id="28" name="Text 25"/>
          <p:cNvSpPr txBox="1"/>
          <p:nvPr/>
        </p:nvSpPr>
        <p:spPr>
          <a:xfrm>
            <a:off x="621791" y="2939796"/>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9" name="Shape 26"/>
          <p:cNvSpPr/>
          <p:nvPr/>
        </p:nvSpPr>
        <p:spPr>
          <a:xfrm>
            <a:off x="2221991"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0" name="Text 27"/>
          <p:cNvSpPr txBox="1"/>
          <p:nvPr/>
        </p:nvSpPr>
        <p:spPr>
          <a:xfrm>
            <a:off x="2295143" y="2939796"/>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Random Forest</a:t>
            </a:r>
            <a:endParaRPr lang="en-US" sz="1200" dirty="0"/>
          </a:p>
        </p:txBody>
      </p:sp>
      <p:sp>
        <p:nvSpPr>
          <p:cNvPr id="31" name="Shape 28"/>
          <p:cNvSpPr/>
          <p:nvPr/>
        </p:nvSpPr>
        <p:spPr>
          <a:xfrm>
            <a:off x="4029394" y="3223260"/>
            <a:ext cx="146304" cy="0"/>
          </a:xfrm>
          <a:prstGeom prst="line">
            <a:avLst/>
          </a:prstGeom>
          <a:noFill/>
          <a:ln w="15875">
            <a:solidFill>
              <a:srgbClr val="8E8E93"/>
            </a:solidFill>
            <a:prstDash val="solid"/>
            <a:tailEnd type="triangle"/>
          </a:ln>
        </p:spPr>
        <p:txBody>
          <a:bodyPr/>
          <a:lstStyle/>
          <a:p>
            <a:endParaRPr/>
          </a:p>
        </p:txBody>
      </p:sp>
      <p:sp>
        <p:nvSpPr>
          <p:cNvPr id="32" name="Shape 29"/>
          <p:cNvSpPr/>
          <p:nvPr/>
        </p:nvSpPr>
        <p:spPr>
          <a:xfrm>
            <a:off x="4193986"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4267138" y="2939796"/>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98.2%</a:t>
            </a:r>
            <a:endParaRPr lang="en-US" sz="1200" dirty="0"/>
          </a:p>
        </p:txBody>
      </p:sp>
      <p:sp>
        <p:nvSpPr>
          <p:cNvPr id="34" name="Shape 31"/>
          <p:cNvSpPr/>
          <p:nvPr/>
        </p:nvSpPr>
        <p:spPr>
          <a:xfrm>
            <a:off x="6001389" y="3223260"/>
            <a:ext cx="146304" cy="0"/>
          </a:xfrm>
          <a:prstGeom prst="line">
            <a:avLst/>
          </a:prstGeom>
          <a:noFill/>
          <a:ln w="15875">
            <a:solidFill>
              <a:srgbClr val="8E8E93"/>
            </a:solidFill>
            <a:prstDash val="solid"/>
            <a:tailEnd type="triangle"/>
          </a:ln>
        </p:spPr>
        <p:txBody>
          <a:bodyPr/>
          <a:lstStyle/>
          <a:p>
            <a:endParaRPr/>
          </a:p>
        </p:txBody>
      </p:sp>
      <p:sp>
        <p:nvSpPr>
          <p:cNvPr id="35" name="Shape 32"/>
          <p:cNvSpPr/>
          <p:nvPr/>
        </p:nvSpPr>
        <p:spPr>
          <a:xfrm>
            <a:off x="6165981"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6" name="Text 33"/>
          <p:cNvSpPr txBox="1"/>
          <p:nvPr/>
        </p:nvSpPr>
        <p:spPr>
          <a:xfrm>
            <a:off x="6239133" y="2939796"/>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75,825행</a:t>
            </a:r>
            <a:endParaRPr lang="en-US" sz="1200" dirty="0"/>
          </a:p>
        </p:txBody>
      </p:sp>
      <p:sp>
        <p:nvSpPr>
          <p:cNvPr id="37" name="Shape 34"/>
          <p:cNvSpPr/>
          <p:nvPr/>
        </p:nvSpPr>
        <p:spPr>
          <a:xfrm>
            <a:off x="8119688" y="3223260"/>
            <a:ext cx="146304" cy="0"/>
          </a:xfrm>
          <a:prstGeom prst="line">
            <a:avLst/>
          </a:prstGeom>
          <a:noFill/>
          <a:ln w="15875">
            <a:solidFill>
              <a:srgbClr val="8E8E93"/>
            </a:solidFill>
            <a:prstDash val="solid"/>
            <a:tailEnd type="triangle"/>
          </a:ln>
        </p:spPr>
        <p:txBody>
          <a:bodyPr/>
          <a:lstStyle/>
          <a:p>
            <a:endParaRPr/>
          </a:p>
        </p:txBody>
      </p:sp>
      <p:sp>
        <p:nvSpPr>
          <p:cNvPr id="41" name="Shape 38"/>
          <p:cNvSpPr/>
          <p:nvPr/>
        </p:nvSpPr>
        <p:spPr>
          <a:xfrm>
            <a:off x="8314760" y="2939796"/>
            <a:ext cx="1789115" cy="566928"/>
          </a:xfrm>
          <a:prstGeom prst="roundRect">
            <a:avLst>
              <a:gd name="adj" fmla="val 12903"/>
            </a:avLst>
          </a:prstGeom>
          <a:solidFill>
            <a:srgbClr val="F2F3F5"/>
          </a:solidFill>
          <a:ln w="12700">
            <a:solidFill>
              <a:srgbClr val="F2F3F5"/>
            </a:solidFill>
            <a:prstDash val="solid"/>
          </a:ln>
        </p:spPr>
        <p:txBody>
          <a:bodyPr/>
          <a:lstStyle/>
          <a:p>
            <a:endParaRPr/>
          </a:p>
        </p:txBody>
      </p:sp>
      <p:sp>
        <p:nvSpPr>
          <p:cNvPr id="42" name="Text 39"/>
          <p:cNvSpPr txBox="1"/>
          <p:nvPr/>
        </p:nvSpPr>
        <p:spPr>
          <a:xfrm>
            <a:off x="8387912" y="2939796"/>
            <a:ext cx="1642811" cy="566928"/>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5 Medium"/>
                <a:ea typeface="에이투지체 5 Medium"/>
                <a:cs typeface="에이투지체 5 Medium"/>
              </a:rPr>
              <a:t>실행 결과 없음</a:t>
            </a:r>
            <a:endParaRPr lang="en-US" sz="1200" dirty="0"/>
          </a:p>
        </p:txBody>
      </p:sp>
      <p:sp>
        <p:nvSpPr>
          <p:cNvPr id="43" name="Shape 40"/>
          <p:cNvSpPr/>
          <p:nvPr/>
        </p:nvSpPr>
        <p:spPr>
          <a:xfrm>
            <a:off x="457200" y="3840480"/>
            <a:ext cx="11277295" cy="2350008"/>
          </a:xfrm>
          <a:prstGeom prst="roundRect">
            <a:avLst>
              <a:gd name="adj" fmla="val 38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44" name="Chart 0"/>
          <p:cNvGraphicFramePr/>
          <p:nvPr/>
        </p:nvGraphicFramePr>
        <p:xfrm>
          <a:off x="548640" y="3913632"/>
          <a:ext cx="11094415" cy="220370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자치구별 미래 이송 건수 예측</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예측 합계 상위 4개 구의 2026년 1~6월 예측 추이 (앙상블)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(transport_forecast_top4 · 예측표)</a:t>
            </a:r>
            <a:endParaRPr lang="en-US" sz="900" dirty="0"/>
          </a:p>
        </p:txBody>
      </p:sp>
      <p:sp>
        <p:nvSpPr>
          <p:cNvPr id="1045" name="Add 1045"/>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46" name="Picture 1045" descr="transport_forecast_top4.png"/>
          <p:cNvPicPr>
            <a:picLocks noChangeAspect="1"/>
          </p:cNvPicPr>
          <p:nvPr/>
        </p:nvPicPr>
        <p:blipFill>
          <a:blip r:embed="rId3"/>
          <a:stretch>
            <a:fillRect/>
          </a:stretch>
        </p:blipFill>
        <p:spPr>
          <a:xfrm>
            <a:off x="777240" y="2103120"/>
            <a:ext cx="7955280" cy="3977640"/>
          </a:xfrm>
          <a:prstGeom prst="rect">
            <a:avLst/>
          </a:prstGeom>
        </p:spPr>
      </p:pic>
      <p:sp>
        <p:nvSpPr>
          <p:cNvPr id="7" name="Add 1046"/>
          <p:cNvSpPr/>
          <p:nvPr/>
        </p:nvSpPr>
        <p:spPr>
          <a:xfrm>
            <a:off x="9235440" y="1993392"/>
            <a:ext cx="2499055" cy="4197096"/>
          </a:xfrm>
          <a:prstGeom prst="roundRect">
            <a:avLst>
              <a:gd name="adj" fmla="val 3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47" name="Add 1047"/>
          <p:cNvSpPr txBox="1"/>
          <p:nvPr/>
        </p:nvSpPr>
        <p:spPr>
          <a:xfrm>
            <a:off x="9454896" y="2157984"/>
            <a:ext cx="2057400" cy="310896"/>
          </a:xfrm>
          <a:prstGeom prst="rect">
            <a:avLst/>
          </a:prstGeom>
          <a:noFill/>
        </p:spPr>
        <p:txBody>
          <a:bodyPr wrap="square" lIns="0" tIns="0" rIns="0" bIns="0" rtlCol="0" anchor="ctr"/>
          <a:lstStyle/>
          <a:p>
            <a:pPr algn="ctr"/>
            <a:r>
              <a:rPr lang="ko-KR" sz="1600" b="1" dirty="0">
                <a:solidFill>
                  <a:srgbClr val="D62828"/>
                </a:solidFill>
                <a:latin typeface="에이투지체 5 Medium"/>
                <a:ea typeface="에이투지체 5 Medium"/>
                <a:cs typeface="에이투지체 5 Medium"/>
              </a:rPr>
              <a:t>6개월 예측 합계</a:t>
            </a:r>
          </a:p>
        </p:txBody>
      </p:sp>
      <p:sp>
        <p:nvSpPr>
          <p:cNvPr id="1048" name="Add 1048"/>
          <p:cNvSpPr/>
          <p:nvPr/>
        </p:nvSpPr>
        <p:spPr>
          <a:xfrm>
            <a:off x="9454896" y="2560320"/>
            <a:ext cx="2057400" cy="0"/>
          </a:xfrm>
          <a:prstGeom prst="line">
            <a:avLst/>
          </a:prstGeom>
          <a:ln w="9525">
            <a:solidFill>
              <a:srgbClr val="E5E7EB"/>
            </a:solidFill>
          </a:ln>
        </p:spPr>
        <p:txBody>
          <a:bodyPr/>
          <a:lstStyle/>
          <a:p>
            <a:endParaRPr/>
          </a:p>
        </p:txBody>
      </p:sp>
      <p:sp>
        <p:nvSpPr>
          <p:cNvPr id="1049" name="Add 1049"/>
          <p:cNvSpPr txBox="1"/>
          <p:nvPr/>
        </p:nvSpPr>
        <p:spPr>
          <a:xfrm>
            <a:off x="9454896" y="2724912"/>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강남구</a:t>
            </a:r>
          </a:p>
        </p:txBody>
      </p:sp>
      <p:sp>
        <p:nvSpPr>
          <p:cNvPr id="1050" name="Add 1050"/>
          <p:cNvSpPr txBox="1"/>
          <p:nvPr/>
        </p:nvSpPr>
        <p:spPr>
          <a:xfrm>
            <a:off x="10332720" y="2724912"/>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7,971건</a:t>
            </a:r>
          </a:p>
        </p:txBody>
      </p:sp>
      <p:sp>
        <p:nvSpPr>
          <p:cNvPr id="1051" name="Add 1051"/>
          <p:cNvSpPr txBox="1"/>
          <p:nvPr/>
        </p:nvSpPr>
        <p:spPr>
          <a:xfrm>
            <a:off x="9454896" y="3291840"/>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송파구</a:t>
            </a:r>
          </a:p>
        </p:txBody>
      </p:sp>
      <p:sp>
        <p:nvSpPr>
          <p:cNvPr id="1052" name="Add 1052"/>
          <p:cNvSpPr txBox="1"/>
          <p:nvPr/>
        </p:nvSpPr>
        <p:spPr>
          <a:xfrm>
            <a:off x="10332720" y="3291840"/>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7,397건</a:t>
            </a:r>
          </a:p>
        </p:txBody>
      </p:sp>
      <p:sp>
        <p:nvSpPr>
          <p:cNvPr id="1053" name="Add 1053"/>
          <p:cNvSpPr txBox="1"/>
          <p:nvPr/>
        </p:nvSpPr>
        <p:spPr>
          <a:xfrm>
            <a:off x="9454896" y="3858768"/>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구로구</a:t>
            </a:r>
          </a:p>
        </p:txBody>
      </p:sp>
      <p:sp>
        <p:nvSpPr>
          <p:cNvPr id="1054" name="Add 1054"/>
          <p:cNvSpPr txBox="1"/>
          <p:nvPr/>
        </p:nvSpPr>
        <p:spPr>
          <a:xfrm>
            <a:off x="10332720" y="3858768"/>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7,135건</a:t>
            </a:r>
          </a:p>
        </p:txBody>
      </p:sp>
      <p:sp>
        <p:nvSpPr>
          <p:cNvPr id="1055" name="Add 1055"/>
          <p:cNvSpPr txBox="1"/>
          <p:nvPr/>
        </p:nvSpPr>
        <p:spPr>
          <a:xfrm>
            <a:off x="9454896" y="4425696"/>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강서구</a:t>
            </a:r>
          </a:p>
        </p:txBody>
      </p:sp>
      <p:sp>
        <p:nvSpPr>
          <p:cNvPr id="1056" name="Add 1056"/>
          <p:cNvSpPr txBox="1"/>
          <p:nvPr/>
        </p:nvSpPr>
        <p:spPr>
          <a:xfrm>
            <a:off x="10332720" y="4425696"/>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7,016건</a:t>
            </a:r>
          </a:p>
        </p:txBody>
      </p:sp>
      <p:sp>
        <p:nvSpPr>
          <p:cNvPr id="1057" name="Add 1057"/>
          <p:cNvSpPr/>
          <p:nvPr/>
        </p:nvSpPr>
        <p:spPr>
          <a:xfrm>
            <a:off x="9454896" y="5029200"/>
            <a:ext cx="2057400" cy="0"/>
          </a:xfrm>
          <a:prstGeom prst="line">
            <a:avLst/>
          </a:prstGeom>
          <a:ln w="9525">
            <a:solidFill>
              <a:srgbClr val="E5E7EB"/>
            </a:solidFill>
          </a:ln>
        </p:spPr>
        <p:txBody>
          <a:bodyPr/>
          <a:lstStyle/>
          <a:p>
            <a:endParaRPr/>
          </a:p>
        </p:txBody>
      </p:sp>
      <p:sp>
        <p:nvSpPr>
          <p:cNvPr id="1058" name="Add 1058"/>
          <p:cNvSpPr txBox="1"/>
          <p:nvPr/>
        </p:nvSpPr>
        <p:spPr>
          <a:xfrm>
            <a:off x="9454896" y="5138928"/>
            <a:ext cx="2057400" cy="822960"/>
          </a:xfrm>
          <a:prstGeom prst="rect">
            <a:avLst/>
          </a:prstGeom>
          <a:noFill/>
        </p:spPr>
        <p:txBody>
          <a:bodyPr wrap="square" lIns="0" tIns="0" rIns="0" bIns="0" rtlCol="0" anchor="t"/>
          <a:lstStyle/>
          <a:p>
            <a:pPr algn="ctr">
              <a:lnSpc>
                <a:spcPct val="130000"/>
              </a:lnSpc>
            </a:pPr>
            <a:r>
              <a:rPr lang="ko-KR" sz="1050" dirty="0">
                <a:solidFill>
                  <a:srgbClr val="45515E"/>
                </a:solidFill>
                <a:latin typeface="에이투지체 5 Medium"/>
                <a:ea typeface="에이투지체 5 Medium"/>
                <a:cs typeface="에이투지체 5 Medium"/>
              </a:rPr>
              <a:t>2월 감소 후 봄 이후</a:t>
            </a:r>
          </a:p>
          <a:p>
            <a:pPr algn="ctr">
              <a:lnSpc>
                <a:spcPct val="130000"/>
              </a:lnSpc>
            </a:pPr>
            <a:r>
              <a:rPr lang="ko-KR" sz="1050" dirty="0">
                <a:solidFill>
                  <a:srgbClr val="45515E"/>
                </a:solidFill>
                <a:latin typeface="에이투지체 5 Medium"/>
                <a:ea typeface="에이투지체 5 Medium"/>
                <a:cs typeface="에이투지체 5 Medium"/>
              </a:rPr>
              <a:t>증가하는 계절 패턴 유지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81E25"/>
        </a:solidFill>
        <a:effectLst/>
      </p:bgPr>
    </p:bg>
    <p:spTree>
      <p:nvGrpSpPr>
        <p:cNvPr id="1" name=""/>
        <p:cNvGrpSpPr/>
        <p:nvPr/>
      </p:nvGrpSpPr>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05</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웹 서비스</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분석 · 예측 결과와 실시간 응급실 병상 정보를 통합한 웹 서비스</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웹 서비스 구성</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분석 · 예측 대시보드</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실시간 응급실 병상 관제</a:t>
            </a:r>
            <a:endParaRPr lang="en-US" sz="15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웹 서비스 구현 및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분석 · 예측 결과와 실시간 응급실 병상 정보를 단일 웹 서비스로 통합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a:t>
            </a:r>
            <a:endParaRPr lang="en-US" sz="900" dirty="0"/>
          </a:p>
        </p:txBody>
      </p:sp>
      <p:sp>
        <p:nvSpPr>
          <p:cNvPr id="3001" name="W 3001"/>
          <p:cNvSpPr/>
          <p:nvPr/>
        </p:nvSpPr>
        <p:spPr>
          <a:xfrm>
            <a:off x="457200" y="1993392"/>
            <a:ext cx="694944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p/>
        </p:txBody>
      </p:sp>
      <p:pic>
        <p:nvPicPr>
          <p:cNvPr id="3002" name="Picture 3001" descr="f_main.png"/>
          <p:cNvPicPr>
            <a:picLocks noChangeAspect="1"/>
          </p:cNvPicPr>
          <p:nvPr/>
        </p:nvPicPr>
        <p:blipFill>
          <a:blip r:embed="rId4"/>
          <a:stretch>
            <a:fillRect/>
          </a:stretch>
        </p:blipFill>
        <p:spPr>
          <a:xfrm>
            <a:off x="927346" y="2176272"/>
            <a:ext cx="6009148" cy="3831336"/>
          </a:xfrm>
          <a:prstGeom prst="rect">
            <a:avLst/>
          </a:prstGeom>
        </p:spPr>
      </p:pic>
      <p:sp>
        <p:nvSpPr>
          <p:cNvPr id="3002" name="W 3002"/>
          <p:cNvSpPr/>
          <p:nvPr/>
        </p:nvSpPr>
        <p:spPr>
          <a:xfrm>
            <a:off x="7589520" y="199339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03" name="W 3003"/>
          <p:cNvSpPr/>
          <p:nvPr/>
        </p:nvSpPr>
        <p:spPr>
          <a:xfrm>
            <a:off x="7589520" y="2176272"/>
            <a:ext cx="54864" cy="621792"/>
          </a:xfrm>
          <a:prstGeom prst="rect">
            <a:avLst/>
          </a:prstGeom>
          <a:solidFill>
            <a:srgbClr val="D62828"/>
          </a:solidFill>
          <a:ln>
            <a:noFill/>
          </a:ln>
        </p:spPr>
        <p:txBody>
          <a:bodyPr/>
          <a:p/>
        </p:txBody>
      </p:sp>
      <p:sp>
        <p:nvSpPr>
          <p:cNvPr id="3004" name="W 3004"/>
          <p:cNvSpPr txBox="1"/>
          <p:nvPr/>
        </p:nvSpPr>
        <p:spPr>
          <a:xfrm>
            <a:off x="7863840" y="213969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메인</a:t>
            </a:r>
          </a:p>
        </p:txBody>
      </p:sp>
      <p:sp>
        <p:nvSpPr>
          <p:cNvPr id="3005" name="W 3005"/>
          <p:cNvSpPr txBox="1"/>
          <p:nvPr/>
        </p:nvSpPr>
        <p:spPr>
          <a:xfrm>
            <a:off x="10271455" y="213969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t>
            </a:r>
          </a:p>
        </p:txBody>
      </p:sp>
      <p:sp>
        <p:nvSpPr>
          <p:cNvPr id="3006" name="W 3006"/>
          <p:cNvSpPr txBox="1"/>
          <p:nvPr/>
        </p:nvSpPr>
        <p:spPr>
          <a:xfrm>
            <a:off x="7863840" y="252374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두 핵심 서비스로 바로 이동하는 시작 화면</a:t>
            </a:r>
          </a:p>
        </p:txBody>
      </p:sp>
      <p:sp>
        <p:nvSpPr>
          <p:cNvPr id="3007" name="W 3007"/>
          <p:cNvSpPr/>
          <p:nvPr/>
        </p:nvSpPr>
        <p:spPr>
          <a:xfrm>
            <a:off x="7589520" y="309067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08" name="W 3008"/>
          <p:cNvSpPr/>
          <p:nvPr/>
        </p:nvSpPr>
        <p:spPr>
          <a:xfrm>
            <a:off x="7589520" y="3273552"/>
            <a:ext cx="54864" cy="621792"/>
          </a:xfrm>
          <a:prstGeom prst="rect">
            <a:avLst/>
          </a:prstGeom>
          <a:solidFill>
            <a:srgbClr val="D62828"/>
          </a:solidFill>
          <a:ln>
            <a:noFill/>
          </a:ln>
        </p:spPr>
        <p:txBody>
          <a:bodyPr/>
          <a:p/>
        </p:txBody>
      </p:sp>
      <p:sp>
        <p:nvSpPr>
          <p:cNvPr id="3009" name="W 3009"/>
          <p:cNvSpPr txBox="1"/>
          <p:nvPr/>
        </p:nvSpPr>
        <p:spPr>
          <a:xfrm>
            <a:off x="7863840" y="323697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분석 · 예측</a:t>
            </a:r>
          </a:p>
        </p:txBody>
      </p:sp>
      <p:sp>
        <p:nvSpPr>
          <p:cNvPr id="3010" name="W 3010"/>
          <p:cNvSpPr txBox="1"/>
          <p:nvPr/>
        </p:nvSpPr>
        <p:spPr>
          <a:xfrm>
            <a:off x="10271455" y="323697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/analysis</a:t>
            </a:r>
          </a:p>
        </p:txBody>
      </p:sp>
      <p:sp>
        <p:nvSpPr>
          <p:cNvPr id="3011" name="W 3011"/>
          <p:cNvSpPr txBox="1"/>
          <p:nvPr/>
        </p:nvSpPr>
        <p:spPr>
          <a:xfrm>
            <a:off x="7863840" y="362102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구급 수요 분석 및 AI 예측 결과 대시보드</a:t>
            </a:r>
          </a:p>
        </p:txBody>
      </p:sp>
      <p:sp>
        <p:nvSpPr>
          <p:cNvPr id="3012" name="W 3012"/>
          <p:cNvSpPr/>
          <p:nvPr/>
        </p:nvSpPr>
        <p:spPr>
          <a:xfrm>
            <a:off x="7589520" y="418795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p/>
        </p:txBody>
      </p:sp>
      <p:sp>
        <p:nvSpPr>
          <p:cNvPr id="3013" name="W 3013"/>
          <p:cNvSpPr/>
          <p:nvPr/>
        </p:nvSpPr>
        <p:spPr>
          <a:xfrm>
            <a:off x="7589520" y="4370832"/>
            <a:ext cx="54864" cy="621792"/>
          </a:xfrm>
          <a:prstGeom prst="rect">
            <a:avLst/>
          </a:prstGeom>
          <a:solidFill>
            <a:srgbClr val="D62828"/>
          </a:solidFill>
          <a:ln>
            <a:noFill/>
          </a:ln>
        </p:spPr>
        <p:txBody>
          <a:bodyPr/>
          <a:p/>
        </p:txBody>
      </p:sp>
      <p:sp>
        <p:nvSpPr>
          <p:cNvPr id="3014" name="W 3014"/>
          <p:cNvSpPr txBox="1"/>
          <p:nvPr/>
        </p:nvSpPr>
        <p:spPr>
          <a:xfrm>
            <a:off x="7863840" y="433425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병상 관제</a:t>
            </a:r>
          </a:p>
        </p:txBody>
      </p:sp>
      <p:sp>
        <p:nvSpPr>
          <p:cNvPr id="3015" name="W 3015"/>
          <p:cNvSpPr txBox="1"/>
          <p:nvPr/>
        </p:nvSpPr>
        <p:spPr>
          <a:xfrm>
            <a:off x="10271455" y="433425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/beds</a:t>
            </a:r>
          </a:p>
        </p:txBody>
      </p:sp>
      <p:sp>
        <p:nvSpPr>
          <p:cNvPr id="3016" name="W 3016"/>
          <p:cNvSpPr txBox="1"/>
          <p:nvPr/>
        </p:nvSpPr>
        <p:spPr>
          <a:xfrm>
            <a:off x="7863840" y="471830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서울시 응급실 가용병상 실시간 조회</a:t>
            </a:r>
          </a:p>
        </p:txBody>
      </p:sp>
      <p:sp>
        <p:nvSpPr>
          <p:cNvPr id="3017" name="W 3017"/>
          <p:cNvSpPr/>
          <p:nvPr/>
        </p:nvSpPr>
        <p:spPr>
          <a:xfrm>
            <a:off x="7589520" y="5285232"/>
            <a:ext cx="4144975" cy="905256"/>
          </a:xfrm>
          <a:prstGeom prst="roundRect">
            <a:avLst>
              <a:gd name="adj" fmla="val 10101"/>
            </a:avLst>
          </a:prstGeom>
          <a:solidFill>
            <a:srgbClr val="FFFFFF"/>
          </a:solidFill>
          <a:ln>
            <a:noFill/>
          </a:ln>
          <a:effectLst>
            <a:outerShdw blurRad="38100" dist="25400" dir="5400000" algn="t" rotWithShape="0">
              <a:srgbClr val="000000">
                <a:alpha val="8000"/>
              </a:srgbClr>
            </a:outerShdw>
          </a:effectLst>
        </p:spPr>
        <p:txBody>
          <a:bodyPr/>
          <a:p/>
        </p:txBody>
      </p:sp>
      <p:sp>
        <p:nvSpPr>
          <p:cNvPr id="3018" name="W 3018"/>
          <p:cNvSpPr txBox="1"/>
          <p:nvPr/>
        </p:nvSpPr>
        <p:spPr>
          <a:xfrm>
            <a:off x="7863840" y="5376672"/>
            <a:ext cx="3687775" cy="292608"/>
          </a:xfrm>
          <a:prstGeom prst="rect">
            <a:avLst/>
          </a:prstGeom>
          <a:noFill/>
        </p:spPr>
        <p:txBody>
          <a:bodyPr wrap="square" lIns="0" tIns="0" rIns="0" bIns="0" rtlCol="0" anchor="ctr"/>
          <a:lstStyle/>
          <a:p>
            <a:pPr algn="l"/>
            <a:r>
              <a:rPr lang="ko-KR" sz="1200" b="1" dirty="0">
                <a:solidFill>
                  <a:srgbClr val="222222"/>
                </a:solidFill>
                <a:latin typeface="에이투지체 5 Medium"/>
                <a:ea typeface="에이투지체 5 Medium"/>
                <a:cs typeface="에이투지체 5 Medium"/>
              </a:rPr>
              <a:t>기술 스택</a:t>
            </a:r>
          </a:p>
        </p:txBody>
      </p:sp>
      <p:sp>
        <p:nvSpPr>
          <p:cNvPr id="3019" name="W 3019"/>
          <p:cNvSpPr txBox="1"/>
          <p:nvPr/>
        </p:nvSpPr>
        <p:spPr>
          <a:xfrm>
            <a:off x="7863840" y="5705856"/>
            <a:ext cx="3687775" cy="34747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Flask · Tailwind CSS · JavaScript · Chart.js · 공공데이터 API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구급 수요 분석 · 예측 대시보드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1~6개월 예측 기간 선택, 서울 전체 및 자치구별 예측 · 순위 · 상세 분석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dashboard_data</a:t>
            </a:r>
            <a:endParaRPr lang="en-US" sz="900" dirty="0"/>
          </a:p>
        </p:txBody>
      </p:sp>
      <p:sp>
        <p:nvSpPr>
          <p:cNvPr id="3020" name="W 3020"/>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p/>
        </p:txBody>
      </p:sp>
      <p:sp>
        <p:nvSpPr>
          <p:cNvPr id="3021" name="W 3021"/>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22" name="Picture 3021" descr="f_ana_full.png"/>
          <p:cNvPicPr>
            <a:picLocks noChangeAspect="1"/>
          </p:cNvPicPr>
          <p:nvPr/>
        </p:nvPicPr>
        <p:blipFill>
          <a:blip r:embed="rId6"/>
          <a:stretch>
            <a:fillRect/>
          </a:stretch>
        </p:blipFill>
        <p:spPr>
          <a:xfrm>
            <a:off x="629560" y="2404872"/>
            <a:ext cx="2169880" cy="3694176"/>
          </a:xfrm>
          <a:prstGeom prst="rect">
            <a:avLst/>
          </a:prstGeom>
        </p:spPr>
      </p:pic>
      <p:sp>
        <p:nvSpPr>
          <p:cNvPr id="3022" name="W 3022"/>
          <p:cNvSpPr/>
          <p:nvPr/>
        </p:nvSpPr>
        <p:spPr>
          <a:xfrm>
            <a:off x="629560" y="2404872"/>
            <a:ext cx="2169880" cy="3694176"/>
          </a:xfrm>
          <a:prstGeom prst="rect">
            <a:avLst/>
          </a:prstGeom>
          <a:noFill/>
          <a:ln w="6350">
            <a:solidFill>
              <a:srgbClr val="E5E7EB"/>
            </a:solidFill>
          </a:ln>
        </p:spPr>
        <p:txBody>
          <a:bodyPr/>
          <a:p/>
        </p:txBody>
      </p:sp>
      <p:sp>
        <p:nvSpPr>
          <p:cNvPr id="3023" name="W 3023"/>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24" name="W 3024"/>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25" name="Picture 3024" descr="f_sel.png"/>
          <p:cNvPicPr>
            <a:picLocks noChangeAspect="1"/>
          </p:cNvPicPr>
          <p:nvPr/>
        </p:nvPicPr>
        <p:blipFill>
          <a:blip r:embed="rId7"/>
          <a:stretch>
            <a:fillRect/>
          </a:stretch>
        </p:blipFill>
        <p:spPr>
          <a:xfrm>
            <a:off x="3392424" y="2586167"/>
            <a:ext cx="3722980" cy="314065"/>
          </a:xfrm>
          <a:prstGeom prst="rect">
            <a:avLst/>
          </a:prstGeom>
        </p:spPr>
      </p:pic>
      <p:sp>
        <p:nvSpPr>
          <p:cNvPr id="3025" name="W 3025"/>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기간 · 지역 선택</a:t>
            </a:r>
          </a:p>
        </p:txBody>
      </p:sp>
      <p:sp>
        <p:nvSpPr>
          <p:cNvPr id="3026" name="W 3026"/>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1~6개월 예측 범위와 지역(서울 전체 · 자치구) 선택</a:t>
            </a:r>
          </a:p>
        </p:txBody>
      </p:sp>
      <p:sp>
        <p:nvSpPr>
          <p:cNvPr id="3027" name="W 3027"/>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28" name="W 3028"/>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29" name="Picture 3028" descr="f_kpi.png"/>
          <p:cNvPicPr>
            <a:picLocks noChangeAspect="1"/>
          </p:cNvPicPr>
          <p:nvPr/>
        </p:nvPicPr>
        <p:blipFill>
          <a:blip r:embed="rId8"/>
          <a:stretch>
            <a:fillRect/>
          </a:stretch>
        </p:blipFill>
        <p:spPr>
          <a:xfrm>
            <a:off x="7948114" y="2231136"/>
            <a:ext cx="3374295" cy="1024128"/>
          </a:xfrm>
          <a:prstGeom prst="rect">
            <a:avLst/>
          </a:prstGeom>
        </p:spPr>
      </p:pic>
      <p:sp>
        <p:nvSpPr>
          <p:cNvPr id="3029" name="W 3029"/>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핵심 지표</a:t>
            </a:r>
          </a:p>
        </p:txBody>
      </p:sp>
      <p:sp>
        <p:nvSpPr>
          <p:cNvPr id="3030" name="W 3030"/>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예상 이송량 · 피크 예상 월 · 증가율 1위 지역 · 정확도</a:t>
            </a:r>
          </a:p>
        </p:txBody>
      </p:sp>
      <p:sp>
        <p:nvSpPr>
          <p:cNvPr id="3031" name="W 3031"/>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32" name="W 3032"/>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33" name="Picture 3032" descr="f_rank.png"/>
          <p:cNvPicPr>
            <a:picLocks noChangeAspect="1"/>
          </p:cNvPicPr>
          <p:nvPr/>
        </p:nvPicPr>
        <p:blipFill>
          <a:blip r:embed="rId9"/>
          <a:stretch>
            <a:fillRect/>
          </a:stretch>
        </p:blipFill>
        <p:spPr>
          <a:xfrm>
            <a:off x="3392424" y="4507114"/>
            <a:ext cx="3722980" cy="843004"/>
          </a:xfrm>
          <a:prstGeom prst="rect">
            <a:avLst/>
          </a:prstGeom>
        </p:spPr>
      </p:pic>
      <p:sp>
        <p:nvSpPr>
          <p:cNvPr id="3033" name="W 3033"/>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자치구별 예상 수요 순위</a:t>
            </a:r>
          </a:p>
        </p:txBody>
      </p:sp>
      <p:sp>
        <p:nvSpPr>
          <p:cNvPr id="3034" name="W 3034"/>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월평균 예상 이송 건수 순위, 클릭 시 해당 구로 전환</a:t>
            </a:r>
          </a:p>
        </p:txBody>
      </p:sp>
      <p:sp>
        <p:nvSpPr>
          <p:cNvPr id="3035" name="W 3035"/>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36" name="W 3036"/>
          <p:cNvSpPr/>
          <p:nvPr/>
        </p:nvSpPr>
        <p:spPr>
          <a:xfrm>
            <a:off x="7700620"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37" name="Picture 3036" descr="image.png"/>
          <p:cNvPicPr>
            <a:picLocks noChangeAspect="1"/>
          </p:cNvPicPr>
          <p:nvPr/>
        </p:nvPicPr>
        <p:blipFill>
          <a:blip r:embed="rId5"/>
          <a:stretch>
            <a:fillRect/>
          </a:stretch>
        </p:blipFill>
        <p:spPr>
          <a:xfrm>
            <a:off x="7773772" y="4750928"/>
            <a:ext cx="3722980" cy="355375"/>
          </a:xfrm>
          <a:prstGeom prst="rect">
            <a:avLst/>
          </a:prstGeom>
        </p:spPr>
      </p:pic>
      <p:sp>
        <p:nvSpPr>
          <p:cNvPr id="3037" name="W 3037"/>
          <p:cNvSpPr txBox="1"/>
          <p:nvPr/>
        </p:nvSpPr>
        <p:spPr>
          <a:xfrm>
            <a:off x="7755484"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상세 분석</a:t>
            </a:r>
          </a:p>
        </p:txBody>
      </p:sp>
      <p:sp>
        <p:nvSpPr>
          <p:cNvPr id="3038" name="W 3038"/>
          <p:cNvSpPr txBox="1"/>
          <p:nvPr/>
        </p:nvSpPr>
        <p:spPr>
          <a:xfrm>
            <a:off x="7755484" y="5879592"/>
            <a:ext cx="3759556" cy="25603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평가 정확도 · 생활인구 · 이송×인구 · 사고 유형 · 모델 명세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실시간 응급실 병상 관제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공공데이터 API 연계, 서울시 25개 자치구 응급실 가용병상 실시간 조회</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실시간_병상관제_v1</a:t>
            </a:r>
            <a:endParaRPr lang="en-US" sz="900" dirty="0"/>
          </a:p>
        </p:txBody>
      </p:sp>
      <p:sp>
        <p:nvSpPr>
          <p:cNvPr id="3039" name="W 3039"/>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p/>
        </p:txBody>
      </p:sp>
      <p:sp>
        <p:nvSpPr>
          <p:cNvPr id="3040" name="W 3040"/>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41" name="Picture 3040" descr="f_beds_full.png"/>
          <p:cNvPicPr>
            <a:picLocks noChangeAspect="1"/>
          </p:cNvPicPr>
          <p:nvPr/>
        </p:nvPicPr>
        <p:blipFill>
          <a:blip r:embed="rId4"/>
          <a:stretch>
            <a:fillRect/>
          </a:stretch>
        </p:blipFill>
        <p:spPr>
          <a:xfrm>
            <a:off x="594360" y="2404872"/>
            <a:ext cx="2240280" cy="3615923"/>
          </a:xfrm>
          <a:prstGeom prst="rect">
            <a:avLst/>
          </a:prstGeom>
        </p:spPr>
      </p:pic>
      <p:sp>
        <p:nvSpPr>
          <p:cNvPr id="3041" name="W 3041"/>
          <p:cNvSpPr/>
          <p:nvPr/>
        </p:nvSpPr>
        <p:spPr>
          <a:xfrm>
            <a:off x="594360" y="2404872"/>
            <a:ext cx="2240280" cy="3615923"/>
          </a:xfrm>
          <a:prstGeom prst="rect">
            <a:avLst/>
          </a:prstGeom>
          <a:noFill/>
          <a:ln w="6350">
            <a:solidFill>
              <a:srgbClr val="E5E7EB"/>
            </a:solidFill>
          </a:ln>
        </p:spPr>
        <p:txBody>
          <a:bodyPr/>
          <a:p/>
        </p:txBody>
      </p:sp>
      <p:sp>
        <p:nvSpPr>
          <p:cNvPr id="3042" name="W 3042"/>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43" name="W 3043"/>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44" name="Picture 3043" descr="f_bkpi.png"/>
          <p:cNvPicPr>
            <a:picLocks noChangeAspect="1"/>
          </p:cNvPicPr>
          <p:nvPr/>
        </p:nvPicPr>
        <p:blipFill>
          <a:blip r:embed="rId5"/>
          <a:stretch>
            <a:fillRect/>
          </a:stretch>
        </p:blipFill>
        <p:spPr>
          <a:xfrm>
            <a:off x="3392424" y="2351307"/>
            <a:ext cx="3722980" cy="783785"/>
          </a:xfrm>
          <a:prstGeom prst="rect">
            <a:avLst/>
          </a:prstGeom>
        </p:spPr>
      </p:pic>
      <p:sp>
        <p:nvSpPr>
          <p:cNvPr id="3044" name="W 3044"/>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실시간 현황</a:t>
            </a:r>
          </a:p>
        </p:txBody>
      </p:sp>
      <p:sp>
        <p:nvSpPr>
          <p:cNvPr id="3045" name="W 3045"/>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관제 대상 25개 구 · 총 가용병상 · 위험 / 주의 지역 수</a:t>
            </a:r>
          </a:p>
        </p:txBody>
      </p:sp>
      <p:sp>
        <p:nvSpPr>
          <p:cNvPr id="3046" name="W 3046"/>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47" name="W 3047"/>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48" name="Picture 3047" descr="f_search.png"/>
          <p:cNvPicPr>
            <a:picLocks noChangeAspect="1"/>
          </p:cNvPicPr>
          <p:nvPr/>
        </p:nvPicPr>
        <p:blipFill>
          <a:blip r:embed="rId6"/>
          <a:stretch>
            <a:fillRect/>
          </a:stretch>
        </p:blipFill>
        <p:spPr>
          <a:xfrm>
            <a:off x="7773772" y="2547254"/>
            <a:ext cx="3722980" cy="391893"/>
          </a:xfrm>
          <a:prstGeom prst="rect">
            <a:avLst/>
          </a:prstGeom>
        </p:spPr>
      </p:pic>
      <p:sp>
        <p:nvSpPr>
          <p:cNvPr id="3048" name="W 3048"/>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검색 · 필터</a:t>
            </a:r>
          </a:p>
        </p:txBody>
      </p:sp>
      <p:sp>
        <p:nvSpPr>
          <p:cNvPr id="3049" name="W 3049"/>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 병원명 검색, 권역 · 위험도별 필터</a:t>
            </a:r>
          </a:p>
        </p:txBody>
      </p:sp>
      <p:sp>
        <p:nvSpPr>
          <p:cNvPr id="3050" name="W 3050"/>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51" name="W 3051"/>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p/>
        </p:txBody>
      </p:sp>
      <p:pic>
        <p:nvPicPr>
          <p:cNvPr id="3052" name="Picture 3051" descr="f_hosp.png"/>
          <p:cNvPicPr>
            <a:picLocks noChangeAspect="1"/>
          </p:cNvPicPr>
          <p:nvPr/>
        </p:nvPicPr>
        <p:blipFill>
          <a:blip r:embed="rId7"/>
          <a:stretch>
            <a:fillRect/>
          </a:stretch>
        </p:blipFill>
        <p:spPr>
          <a:xfrm>
            <a:off x="4171375" y="4416552"/>
            <a:ext cx="2165077" cy="1024128"/>
          </a:xfrm>
          <a:prstGeom prst="rect">
            <a:avLst/>
          </a:prstGeom>
        </p:spPr>
      </p:pic>
      <p:sp>
        <p:nvSpPr>
          <p:cNvPr id="3052" name="W 3052"/>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병원별 가용병상</a:t>
            </a:r>
          </a:p>
        </p:txBody>
      </p:sp>
      <p:sp>
        <p:nvSpPr>
          <p:cNvPr id="3053" name="W 3053"/>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자치구별 병원 가용병상 · 연락처 · 갱신 시각</a:t>
            </a:r>
          </a:p>
        </p:txBody>
      </p:sp>
      <p:sp>
        <p:nvSpPr>
          <p:cNvPr id="3054" name="W 3054"/>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p/>
        </p:txBody>
      </p:sp>
      <p:sp>
        <p:nvSpPr>
          <p:cNvPr id="3055" name="W 3055"/>
          <p:cNvSpPr txBox="1"/>
          <p:nvPr/>
        </p:nvSpPr>
        <p:spPr>
          <a:xfrm>
            <a:off x="7755484" y="4315968"/>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위험도 기준</a:t>
            </a:r>
          </a:p>
        </p:txBody>
      </p:sp>
      <p:sp>
        <p:nvSpPr>
          <p:cNvPr id="3056" name="W 3056"/>
          <p:cNvSpPr txBox="1"/>
          <p:nvPr/>
        </p:nvSpPr>
        <p:spPr>
          <a:xfrm>
            <a:off x="7755484" y="46085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가용병상 합계 기준 · 1시간 간격 갱신 (일 최대 3회)</a:t>
            </a:r>
          </a:p>
        </p:txBody>
      </p:sp>
      <p:sp>
        <p:nvSpPr>
          <p:cNvPr id="3057" name="W 3057"/>
          <p:cNvSpPr/>
          <p:nvPr/>
        </p:nvSpPr>
        <p:spPr>
          <a:xfrm>
            <a:off x="7755484" y="4983480"/>
            <a:ext cx="1143457" cy="365760"/>
          </a:xfrm>
          <a:prstGeom prst="roundRect">
            <a:avLst>
              <a:gd name="adj" fmla="val 50000"/>
            </a:avLst>
          </a:prstGeom>
          <a:solidFill>
            <a:srgbClr val="D62828"/>
          </a:solidFill>
          <a:ln>
            <a:noFill/>
          </a:ln>
          <a:effectLst>
            <a:outerShdw blurRad="38100" dist="25400" dir="5400000" algn="t" rotWithShape="0">
              <a:srgbClr val="000000">
                <a:alpha val="8000"/>
              </a:srgbClr>
            </a:outerShdw>
          </a:effectLst>
        </p:spPr>
        <p:txBody>
          <a:bodyPr/>
          <a:p/>
        </p:txBody>
      </p:sp>
      <p:sp>
        <p:nvSpPr>
          <p:cNvPr id="3058" name="W 3058"/>
          <p:cNvSpPr txBox="1"/>
          <p:nvPr/>
        </p:nvSpPr>
        <p:spPr>
          <a:xfrm>
            <a:off x="7755484" y="4983480"/>
            <a:ext cx="1143457" cy="365760"/>
          </a:xfrm>
          <a:prstGeom prst="rect">
            <a:avLst/>
          </a:prstGeom>
          <a:noFill/>
        </p:spPr>
        <p:txBody>
          <a:bodyPr wrap="square" lIns="0" tIns="0" rIns="0" bIns="0" rtlCol="0" anchor="ctr"/>
          <a:lstStyle/>
          <a:p>
            <a:pPr algn="ctr"/>
            <a:r>
              <a:rPr lang="ko-KR" sz="1150" b="1" dirty="0">
                <a:solidFill>
                  <a:srgbClr val="FFFFFF"/>
                </a:solidFill>
                <a:latin typeface="에이투지체 5 Medium"/>
                <a:ea typeface="에이투지체 5 Medium"/>
                <a:cs typeface="에이투지체 5 Medium"/>
              </a:rPr>
              <a:t>위험</a:t>
            </a:r>
          </a:p>
        </p:txBody>
      </p:sp>
      <p:sp>
        <p:nvSpPr>
          <p:cNvPr id="3059" name="W 3059"/>
          <p:cNvSpPr txBox="1"/>
          <p:nvPr/>
        </p:nvSpPr>
        <p:spPr>
          <a:xfrm>
            <a:off x="775548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5석 이하</a:t>
            </a:r>
          </a:p>
        </p:txBody>
      </p:sp>
      <p:sp>
        <p:nvSpPr>
          <p:cNvPr id="3060" name="W 3060"/>
          <p:cNvSpPr/>
          <p:nvPr/>
        </p:nvSpPr>
        <p:spPr>
          <a:xfrm>
            <a:off x="9008669" y="4983480"/>
            <a:ext cx="1143457" cy="365760"/>
          </a:xfrm>
          <a:prstGeom prst="roundRect">
            <a:avLst>
              <a:gd name="adj" fmla="val 50000"/>
            </a:avLst>
          </a:prstGeom>
          <a:solidFill>
            <a:srgbClr val="FDE3E3"/>
          </a:solidFill>
          <a:ln>
            <a:noFill/>
          </a:ln>
          <a:effectLst>
            <a:outerShdw blurRad="38100" dist="25400" dir="5400000" algn="t" rotWithShape="0">
              <a:srgbClr val="000000">
                <a:alpha val="8000"/>
              </a:srgbClr>
            </a:outerShdw>
          </a:effectLst>
        </p:spPr>
        <p:txBody>
          <a:bodyPr/>
          <a:p/>
        </p:txBody>
      </p:sp>
      <p:sp>
        <p:nvSpPr>
          <p:cNvPr id="3061" name="W 3061"/>
          <p:cNvSpPr txBox="1"/>
          <p:nvPr/>
        </p:nvSpPr>
        <p:spPr>
          <a:xfrm>
            <a:off x="9008669" y="4983480"/>
            <a:ext cx="1143457" cy="365760"/>
          </a:xfrm>
          <a:prstGeom prst="rect">
            <a:avLst/>
          </a:prstGeom>
          <a:noFill/>
        </p:spPr>
        <p:txBody>
          <a:bodyPr wrap="square" lIns="0" tIns="0" rIns="0" bIns="0" rtlCol="0" anchor="ctr"/>
          <a:lstStyle/>
          <a:p>
            <a:pPr algn="ctr"/>
            <a:r>
              <a:rPr lang="ko-KR" sz="1150" b="1" dirty="0">
                <a:solidFill>
                  <a:srgbClr val="8A1414"/>
                </a:solidFill>
                <a:latin typeface="에이투지체 5 Medium"/>
                <a:ea typeface="에이투지체 5 Medium"/>
                <a:cs typeface="에이투지체 5 Medium"/>
              </a:rPr>
              <a:t>주의</a:t>
            </a:r>
          </a:p>
        </p:txBody>
      </p:sp>
      <p:sp>
        <p:nvSpPr>
          <p:cNvPr id="3062" name="W 3062"/>
          <p:cNvSpPr txBox="1"/>
          <p:nvPr/>
        </p:nvSpPr>
        <p:spPr>
          <a:xfrm>
            <a:off x="9008669"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10석 이하</a:t>
            </a:r>
          </a:p>
        </p:txBody>
      </p:sp>
      <p:sp>
        <p:nvSpPr>
          <p:cNvPr id="3063" name="W 3063"/>
          <p:cNvSpPr/>
          <p:nvPr/>
        </p:nvSpPr>
        <p:spPr>
          <a:xfrm>
            <a:off x="10261854" y="4983480"/>
            <a:ext cx="1143457" cy="365760"/>
          </a:xfrm>
          <a:prstGeom prst="roundRect">
            <a:avLst>
              <a:gd name="adj" fmla="val 50000"/>
            </a:avLst>
          </a:prstGeom>
          <a:solidFill>
            <a:srgbClr val="F2F3F5"/>
          </a:solidFill>
          <a:ln>
            <a:noFill/>
          </a:ln>
          <a:effectLst>
            <a:outerShdw blurRad="38100" dist="25400" dir="5400000" algn="t" rotWithShape="0">
              <a:srgbClr val="000000">
                <a:alpha val="8000"/>
              </a:srgbClr>
            </a:outerShdw>
          </a:effectLst>
        </p:spPr>
        <p:txBody>
          <a:bodyPr/>
          <a:p/>
        </p:txBody>
      </p:sp>
      <p:sp>
        <p:nvSpPr>
          <p:cNvPr id="3064" name="W 3064"/>
          <p:cNvSpPr txBox="1"/>
          <p:nvPr/>
        </p:nvSpPr>
        <p:spPr>
          <a:xfrm>
            <a:off x="10261854" y="4983480"/>
            <a:ext cx="1143457" cy="365760"/>
          </a:xfrm>
          <a:prstGeom prst="rect">
            <a:avLst/>
          </a:prstGeom>
          <a:noFill/>
        </p:spPr>
        <p:txBody>
          <a:bodyPr wrap="square" lIns="0" tIns="0" rIns="0" bIns="0" rtlCol="0" anchor="ctr"/>
          <a:lstStyle/>
          <a:p>
            <a:pPr algn="ctr"/>
            <a:r>
              <a:rPr lang="ko-KR" sz="1150" b="1" dirty="0">
                <a:solidFill>
                  <a:srgbClr val="45515E"/>
                </a:solidFill>
                <a:latin typeface="에이투지체 5 Medium"/>
                <a:ea typeface="에이투지체 5 Medium"/>
                <a:cs typeface="에이투지체 5 Medium"/>
              </a:rPr>
              <a:t>원활</a:t>
            </a:r>
          </a:p>
        </p:txBody>
      </p:sp>
      <p:sp>
        <p:nvSpPr>
          <p:cNvPr id="3065" name="W 3065"/>
          <p:cNvSpPr txBox="1"/>
          <p:nvPr/>
        </p:nvSpPr>
        <p:spPr>
          <a:xfrm>
            <a:off x="1026185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11석 이상</a:t>
            </a:r>
          </a:p>
        </p:txBody>
      </p:sp>
      <p:sp>
        <p:nvSpPr>
          <p:cNvPr id="3066" name="W 3066"/>
          <p:cNvSpPr txBox="1"/>
          <p:nvPr/>
        </p:nvSpPr>
        <p:spPr>
          <a:xfrm>
            <a:off x="7755484" y="5760720"/>
            <a:ext cx="3759556" cy="274320"/>
          </a:xfrm>
          <a:prstGeom prst="rect">
            <a:avLst/>
          </a:prstGeom>
          <a:noFill/>
        </p:spPr>
        <p:txBody>
          <a:bodyPr wrap="square" lIns="0" tIns="0" rIns="0" bIns="0" rtlCol="0" anchor="ctr"/>
          <a:lstStyle/>
          <a:p>
            <a:pPr algn="l"/>
            <a:r>
              <a:rPr lang="ko-KR" sz="900" dirty="0">
                <a:solidFill>
                  <a:srgbClr val="8E8E93"/>
                </a:solidFill>
                <a:latin typeface="에이투지체 5 Medium"/>
                <a:ea typeface="에이투지체 5 Medium"/>
                <a:cs typeface="에이투지체 5 Medium"/>
              </a:rPr>
              <a:t>※ 강북 · 마포: 실시간 API 미제공 → 등록 병상 · 인접 구 정보 제공</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06</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결론</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최종 결과와 향후 연구 방향, 참고 자료</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결과</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향후 연구 방향</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참고 자료</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06  결론</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최종 결과 및 향후 과제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자료 수집부터 미래 예측까지 단일 흐름 구축</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03_119_통합_예측_1.ipynb</a:t>
            </a:r>
            <a:endParaRPr lang="en-US" sz="900" dirty="0"/>
          </a:p>
        </p:txBody>
      </p:sp>
      <p:sp>
        <p:nvSpPr>
          <p:cNvPr id="8" name="Shape 5"/>
          <p:cNvSpPr/>
          <p:nvPr/>
        </p:nvSpPr>
        <p:spPr>
          <a:xfrm>
            <a:off x="45720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2,634행</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API 자동 수집</a:t>
            </a:r>
            <a:endParaRPr lang="en-US" sz="1400" dirty="0"/>
          </a:p>
        </p:txBody>
      </p:sp>
      <p:sp>
        <p:nvSpPr>
          <p:cNvPr id="11" name="Shape 8"/>
          <p:cNvSpPr/>
          <p:nvPr/>
        </p:nvSpPr>
        <p:spPr>
          <a:xfrm>
            <a:off x="676656" y="3182112"/>
            <a:ext cx="2243023"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2017~2025 · 25개 구 월별 이송</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구축</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txBody>
          <a:bodyPr/>
          <a:lstStyle/>
          <a:p>
            <a:endParaRPr/>
          </a:p>
        </p:txBody>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이송 (구 × 월) · 인구 (구 × 일)</a:t>
            </a:r>
            <a:endParaRPr lang="en-US" sz="1100" dirty="0"/>
          </a:p>
        </p:txBody>
      </p:sp>
      <p:sp>
        <p:nvSpPr>
          <p:cNvPr id="18" name="Shape 15"/>
          <p:cNvSpPr/>
          <p:nvPr/>
        </p:nvSpPr>
        <p:spPr>
          <a:xfrm>
            <a:off x="618683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이송 건수 예측</a:t>
            </a:r>
            <a:endParaRPr lang="en-US" sz="1400" dirty="0"/>
          </a:p>
        </p:txBody>
      </p:sp>
      <p:sp>
        <p:nvSpPr>
          <p:cNvPr id="21" name="Shape 18"/>
          <p:cNvSpPr/>
          <p:nvPr/>
        </p:nvSpPr>
        <p:spPr>
          <a:xfrm>
            <a:off x="6406286" y="3182112"/>
            <a:ext cx="2243023" cy="0"/>
          </a:xfrm>
          <a:prstGeom prst="line">
            <a:avLst/>
          </a:prstGeom>
          <a:noFill/>
          <a:ln w="9525">
            <a:solidFill>
              <a:srgbClr val="E87A7A"/>
            </a:solidFill>
            <a:prstDash val="solid"/>
          </a:ln>
        </p:spPr>
        <p:txBody>
          <a:bodyPr/>
          <a:lstStyle/>
          <a:p>
            <a:endParaRPr/>
          </a:p>
        </p:txBody>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앙상블 · 평가 6개월 정확도</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98.2%</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인구 밀집 예측</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txBody>
          <a:bodyPr/>
          <a:lstStyle/>
          <a:p>
            <a:endParaRPr/>
          </a:p>
        </p:txBody>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Random Forest · 평가 정확도</a:t>
            </a:r>
            <a:endParaRPr lang="en-US" sz="1100" dirty="0"/>
          </a:p>
        </p:txBody>
      </p:sp>
      <p:sp>
        <p:nvSpPr>
          <p:cNvPr id="28" name="Shape 25"/>
          <p:cNvSpPr/>
          <p:nvPr/>
        </p:nvSpPr>
        <p:spPr>
          <a:xfrm>
            <a:off x="457200"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9" name="Text 26"/>
          <p:cNvSpPr txBox="1"/>
          <p:nvPr/>
        </p:nvSpPr>
        <p:spPr>
          <a:xfrm>
            <a:off x="676656"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모델 선정 원칙</a:t>
            </a:r>
            <a:endParaRPr lang="en-US" sz="1800" dirty="0"/>
          </a:p>
        </p:txBody>
      </p:sp>
      <p:sp>
        <p:nvSpPr>
          <p:cNvPr id="30" name="Shape 27"/>
          <p:cNvSpPr/>
          <p:nvPr/>
        </p:nvSpPr>
        <p:spPr>
          <a:xfrm>
            <a:off x="676656" y="4572000"/>
            <a:ext cx="3198571" cy="0"/>
          </a:xfrm>
          <a:prstGeom prst="line">
            <a:avLst/>
          </a:prstGeom>
          <a:noFill/>
          <a:ln w="9525">
            <a:solidFill>
              <a:srgbClr val="E5E7EB"/>
            </a:solidFill>
            <a:prstDash val="solid"/>
          </a:ln>
        </p:spPr>
        <p:txBody>
          <a:bodyPr/>
          <a:lstStyle/>
          <a:p>
            <a:endParaRPr/>
          </a:p>
        </p:txBody>
      </p:sp>
      <p:sp>
        <p:nvSpPr>
          <p:cNvPr id="31" name="Text 28"/>
          <p:cNvSpPr txBox="1"/>
          <p:nvPr/>
        </p:nvSpPr>
        <p:spPr>
          <a:xfrm>
            <a:off x="676656" y="4681728"/>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과거 자료 기반 변수 탐색</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실험을 통한 특성 효과 검증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검증 데이터 기준 모델 선택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평가 데이터는 확인 용도로만 사용</a:t>
            </a:r>
            <a:endParaRPr lang="en-US" sz="1100" dirty="0"/>
          </a:p>
        </p:txBody>
      </p:sp>
      <p:sp>
        <p:nvSpPr>
          <p:cNvPr id="32" name="Shape 29"/>
          <p:cNvSpPr/>
          <p:nvPr/>
        </p:nvSpPr>
        <p:spPr>
          <a:xfrm>
            <a:off x="4277563"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4497019"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향후 연구 방향</a:t>
            </a:r>
            <a:endParaRPr lang="en-US" sz="1800" dirty="0"/>
          </a:p>
        </p:txBody>
      </p:sp>
      <p:sp>
        <p:nvSpPr>
          <p:cNvPr id="34" name="Shape 31"/>
          <p:cNvSpPr/>
          <p:nvPr/>
        </p:nvSpPr>
        <p:spPr>
          <a:xfrm>
            <a:off x="4497019" y="4572000"/>
            <a:ext cx="3198571" cy="0"/>
          </a:xfrm>
          <a:prstGeom prst="line">
            <a:avLst/>
          </a:prstGeom>
          <a:noFill/>
          <a:ln w="9525">
            <a:solidFill>
              <a:srgbClr val="E5E7EB"/>
            </a:solidFill>
            <a:prstDash val="solid"/>
          </a:ln>
        </p:spPr>
        <p:txBody>
          <a:bodyPr/>
          <a:lstStyle/>
          <a:p>
            <a:endParaRPr/>
          </a:p>
        </p:txBody>
      </p:sp>
      <p:sp>
        <p:nvSpPr>
          <p:cNvPr id="35" name="Text 32"/>
          <p:cNvSpPr txBox="1"/>
          <p:nvPr/>
        </p:nvSpPr>
        <p:spPr>
          <a:xfrm>
            <a:off x="4497019" y="4681728"/>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실시간 구급차 이동 시간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병원별 진료 가능 과목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최적 경로 안내 · 병원 자동 배정</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현장 시범 운영 및 실증</a:t>
            </a:r>
            <a:endParaRPr lang="en-US" sz="1100" dirty="0"/>
          </a:p>
        </p:txBody>
      </p:sp>
      <p:sp>
        <p:nvSpPr>
          <p:cNvPr id="36" name="Shape 33"/>
          <p:cNvSpPr/>
          <p:nvPr/>
        </p:nvSpPr>
        <p:spPr>
          <a:xfrm>
            <a:off x="8097926" y="4005072"/>
            <a:ext cx="3636569"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7" name="Text 34"/>
          <p:cNvSpPr txBox="1"/>
          <p:nvPr/>
        </p:nvSpPr>
        <p:spPr>
          <a:xfrm>
            <a:off x="8317382" y="4169664"/>
            <a:ext cx="3197657"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참고 자료</a:t>
            </a:r>
            <a:endParaRPr lang="en-US" sz="1800" dirty="0"/>
          </a:p>
        </p:txBody>
      </p:sp>
      <p:sp>
        <p:nvSpPr>
          <p:cNvPr id="38" name="Shape 35"/>
          <p:cNvSpPr/>
          <p:nvPr/>
        </p:nvSpPr>
        <p:spPr>
          <a:xfrm>
            <a:off x="8317382" y="4572000"/>
            <a:ext cx="3197657" cy="0"/>
          </a:xfrm>
          <a:prstGeom prst="line">
            <a:avLst/>
          </a:prstGeom>
          <a:noFill/>
          <a:ln w="9525">
            <a:solidFill>
              <a:srgbClr val="E5E7EB"/>
            </a:solidFill>
            <a:prstDash val="solid"/>
          </a:ln>
        </p:spPr>
        <p:txBody>
          <a:bodyPr/>
          <a:lstStyle/>
          <a:p>
            <a:endParaRPr/>
          </a:p>
        </p:txBody>
      </p:sp>
      <p:sp>
        <p:nvSpPr>
          <p:cNvPr id="39" name="Text 36"/>
          <p:cNvSpPr txBox="1"/>
          <p:nvPr/>
        </p:nvSpPr>
        <p:spPr>
          <a:xfrm>
            <a:off x="8317382" y="4681728"/>
            <a:ext cx="3197657" cy="1380744"/>
          </a:xfrm>
          <a:prstGeom prst="rect">
            <a:avLst/>
          </a:prstGeom>
          <a:noFill/>
          <a:ln/>
        </p:spPr>
        <p:txBody>
          <a:bodyPr wrap="square" lIns="0" tIns="0" rIns="0" bIns="0" rtlCol="0" anchor="t"/>
          <a:lstStyle/>
          <a:p>
            <a:pPr marL="0" indent="0">
              <a:lnSpc>
                <a:spcPct val="130000"/>
              </a:lnSpc>
              <a:buNone/>
            </a:pPr>
            <a:r>
              <a:rPr lang="en-US" sz="1050" dirty="0">
                <a:solidFill>
                  <a:srgbClr val="45515E"/>
                </a:solidFill>
                <a:latin typeface="에이투지체 5 Medium"/>
                <a:ea typeface="에이투지체 5 Medium"/>
                <a:cs typeface="에이투지체 5 Medium"/>
              </a:rPr>
              <a:t>· 소방청 구급통계 서비스 API (2025)</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국립중앙의료원 응급의료기관 API (2026)</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통계청 KOSIS 구급 · 구조활동 실적</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 생활인구 일별 집계표</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서울시 구급출동 현황 (2021~2022)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에이투지체 7 Bold"/>
        <a:ea typeface="에이투지체 7 Bold"/>
        <a:cs typeface="에이투지체 7 Bold"/>
        <a:font script="Jpan" typeface="游ゴシック Light"/>
        <a:font script="Hang" typeface="에이투지체 7 Bol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에이투지체 5 Medium"/>
        <a:ea typeface="에이투지체 5 Medium"/>
        <a:cs typeface="에이투지체 5 Medium"/>
        <a:font script="Jpan" typeface="游ゴシック"/>
        <a:font script="Hang" typeface="에이투지체 5 Medium"/>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5456</Words>
  <Application>Microsoft Office PowerPoint</Application>
  <PresentationFormat>와이드스크린</PresentationFormat>
  <Paragraphs>743</Paragraphs>
  <Slides>35</Slides>
  <Notes>35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35</vt:i4>
      </vt:variant>
    </vt:vector>
  </HeadingPairs>
  <TitlesOfParts>
    <vt:vector size="41" baseType="lpstr">
      <vt:lpstr>맑은 고딕</vt:lpstr>
      <vt:lpstr>에이투지체 4 Regular</vt:lpstr>
      <vt:lpstr>에이투지체 5 Medium</vt:lpstr>
      <vt:lpstr>에이투지체 6 SemiBold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119 구급 수요 예측</dc:title>
  <dc:subject>PptxGenJS Presentation</dc:subject>
  <dc:creator>PptxGenJS</dc:creator>
  <cp:lastModifiedBy>Admin</cp:lastModifiedBy>
  <cp:revision>6</cp:revision>
  <dcterms:created xsi:type="dcterms:W3CDTF">2026-10-01T06:25:50Z</dcterms:created>
  <dcterms:modified xsi:type="dcterms:W3CDTF">2026-10-02T03:37:23Z</dcterms:modified>
</cp:coreProperties>
</file>