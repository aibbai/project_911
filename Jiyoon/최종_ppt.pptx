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2.xml" ContentType="application/vnd.openxmlformats-officedocument.drawingml.chart+xml"/>
  <Override PartName="/ppt/notesSlides/notesSlide21.xml" ContentType="application/vnd.openxmlformats-officedocument.presentationml.notesSlide+xml"/>
  <Override PartName="/ppt/charts/chart3.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4.xml" ContentType="application/vnd.openxmlformats-officedocument.drawingml.chart+xml"/>
  <Override PartName="/ppt/notesSlides/notesSlide25.xml" ContentType="application/vnd.openxmlformats-officedocument.presentationml.notesSlide+xml"/>
  <Override PartName="/ppt/charts/chart5.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6.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7.xml" ContentType="application/vnd.openxmlformats-officedocument.drawingml.chart+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notesSlides/notesSlide33.xml" ContentType="application/vnd.openxmlformats-officedocument.presentationml.notesSlide+xml"/>
  <Override PartName="/ppt/charts/chart10.xml" ContentType="application/vnd.openxmlformats-officedocument.drawingml.chart+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5"/>
  </p:notesMasterIdLst>
  <p:sldIdLst>
    <p:sldId id="256" r:id="rId2"/>
    <p:sldId id="257" r:id="rId3"/>
    <p:sldId id="258" r:id="rId4"/>
    <p:sldId id="259" r:id="rId5"/>
    <p:sldId id="295" r:id="rId6"/>
    <p:sldId id="260" r:id="rId7"/>
    <p:sldId id="298" r:id="rId8"/>
    <p:sldId id="262" r:id="rId9"/>
    <p:sldId id="263" r:id="rId10"/>
    <p:sldId id="264" r:id="rId11"/>
    <p:sldId id="265" r:id="rId12"/>
    <p:sldId id="266" r:id="rId13"/>
    <p:sldId id="267" r:id="rId14"/>
    <p:sldId id="268" r:id="rId15"/>
    <p:sldId id="269" r:id="rId16"/>
    <p:sldId id="270" r:id="rId17"/>
    <p:sldId id="271" r:id="rId18"/>
    <p:sldId id="272" r:id="rId19"/>
    <p:sldId id="286" r:id="rId20"/>
    <p:sldId id="273" r:id="rId21"/>
    <p:sldId id="274" r:id="rId22"/>
    <p:sldId id="275" r:id="rId23"/>
    <p:sldId id="276" r:id="rId24"/>
    <p:sldId id="277" r:id="rId25"/>
    <p:sldId id="278" r:id="rId26"/>
    <p:sldId id="279" r:id="rId27"/>
    <p:sldId id="280" r:id="rId28"/>
    <p:sldId id="287" r:id="rId29"/>
    <p:sldId id="288" r:id="rId30"/>
    <p:sldId id="281" r:id="rId31"/>
    <p:sldId id="289" r:id="rId32"/>
    <p:sldId id="282" r:id="rId33"/>
    <p:sldId id="283" r:id="rId34"/>
    <p:sldId id="290" r:id="rId35"/>
    <p:sldId id="291" r:id="rId36"/>
    <p:sldId id="299" r:id="rId37"/>
    <p:sldId id="292" r:id="rId38"/>
    <p:sldId id="296" r:id="rId39"/>
    <p:sldId id="293" r:id="rId40"/>
    <p:sldId id="294" r:id="rId41"/>
    <p:sldId id="297" r:id="rId42"/>
    <p:sldId id="284" r:id="rId43"/>
    <p:sldId id="285" r:id="rId44"/>
  </p:sldIdLst>
  <p:sldSz cx="12192000" cy="6858000"/>
  <p:notesSz cx="6858000" cy="12192000"/>
  <p:embeddedFontLst>
    <p:embeddedFont>
      <p:font typeface="맑은 고딕" panose="020B0503020000020004" pitchFamily="50" charset="-127"/>
      <p:regular r:id="rId46"/>
      <p:bold r:id="rId4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737" autoAdjust="0"/>
  </p:normalViewPr>
  <p:slideViewPr>
    <p:cSldViewPr snapToGrid="0" snapToObjects="1">
      <p:cViewPr varScale="1">
        <p:scale>
          <a:sx n="114" d="100"/>
          <a:sy n="114" d="100"/>
        </p:scale>
        <p:origin x="438" y="10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_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_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_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____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____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____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____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____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____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1" i="0" u="none" strike="noStrike">
                <a:solidFill>
                  <a:srgbClr val="222222"/>
                </a:solidFill>
                <a:latin typeface="에이투지체 5 Medium"/>
                <a:ea typeface="에이투지체 5 Medium"/>
                <a:cs typeface="에이투지체 5 Medium"/>
              </a:defRPr>
            </a:pPr>
            <a:r>
              <a:rPr lang="ko-KR" altLang="en-US" sz="1400" b="1" i="0" u="none" strike="noStrike">
                <a:solidFill>
                  <a:srgbClr val="222222"/>
                </a:solidFill>
                <a:latin typeface="에이투지체 5 Medium"/>
                <a:ea typeface="에이투지체 5 Medium"/>
                <a:cs typeface="에이투지체 5 Medium"/>
              </a:rPr>
              <a:t>인구 지표별 이송 건수 상관계수 </a:t>
            </a:r>
            <a:r>
              <a:rPr lang="en-US" altLang="ko-KR" sz="1400" b="1" i="0" u="none" strike="noStrike">
                <a:solidFill>
                  <a:srgbClr val="222222"/>
                </a:solidFill>
                <a:latin typeface="에이투지체 5 Medium"/>
                <a:ea typeface="에이투지체 5 Medium"/>
                <a:cs typeface="에이투지체 5 Medium"/>
              </a:rPr>
              <a:t>(</a:t>
            </a:r>
            <a:r>
              <a:rPr lang="ko-KR" altLang="en-US" sz="1400" b="1" i="0" u="none" strike="noStrike">
                <a:solidFill>
                  <a:srgbClr val="222222"/>
                </a:solidFill>
                <a:latin typeface="에이투지체 5 Medium"/>
                <a:ea typeface="에이투지체 5 Medium"/>
                <a:cs typeface="에이투지체 5 Medium"/>
              </a:rPr>
              <a:t>구 간 </a:t>
            </a:r>
            <a:r>
              <a:rPr lang="en-US" altLang="ko-KR" sz="1400" b="1" i="0" u="none" strike="noStrike">
                <a:solidFill>
                  <a:srgbClr val="222222"/>
                </a:solidFill>
                <a:latin typeface="에이투지체 5 Medium"/>
                <a:ea typeface="에이투지체 5 Medium"/>
                <a:cs typeface="에이투지체 5 Medium"/>
              </a:rPr>
              <a:t>0.3 </a:t>
            </a:r>
            <a:r>
              <a:rPr lang="ko-KR" altLang="en-US" sz="1400" b="1" i="0" u="none" strike="noStrike">
                <a:solidFill>
                  <a:srgbClr val="222222"/>
                </a:solidFill>
                <a:latin typeface="에이투지체 5 Medium"/>
                <a:ea typeface="에이투지체 5 Medium"/>
                <a:cs typeface="에이투지체 5 Medium"/>
              </a:rPr>
              <a:t>이상 </a:t>
            </a:r>
            <a:r>
              <a:rPr lang="en-US" altLang="ko-KR" sz="1400" b="1" i="0" u="none" strike="noStrike">
                <a:solidFill>
                  <a:srgbClr val="222222"/>
                </a:solidFill>
                <a:latin typeface="에이투지체 5 Medium"/>
                <a:ea typeface="에이투지체 5 Medium"/>
                <a:cs typeface="에이투지체 5 Medium"/>
              </a:rPr>
              <a:t>7</a:t>
            </a:r>
            <a:r>
              <a:rPr lang="ko-KR" altLang="en-US" sz="1400" b="1" i="0" u="none" strike="noStrike">
                <a:solidFill>
                  <a:srgbClr val="222222"/>
                </a:solidFill>
                <a:latin typeface="에이투지체 5 Medium"/>
                <a:ea typeface="에이투지체 5 Medium"/>
                <a:cs typeface="에이투지체 5 Medium"/>
              </a:rPr>
              <a:t>개</a:t>
            </a:r>
            <a:r>
              <a:rPr lang="en-US" altLang="ko-KR" sz="1400" b="1" i="0" u="none" strike="noStrike">
                <a:solidFill>
                  <a:srgbClr val="222222"/>
                </a:solidFill>
                <a:latin typeface="에이투지체 5 Medium"/>
                <a:ea typeface="에이투지체 5 Medium"/>
                <a:cs typeface="에이투지체 5 Medium"/>
              </a:rPr>
              <a:t>)</a:t>
            </a:r>
          </a:p>
        </c:rich>
      </c:tx>
      <c:overlay val="0"/>
    </c:title>
    <c:autoTitleDeleted val="0"/>
    <c:plotArea>
      <c:layout/>
      <c:barChart>
        <c:barDir val="bar"/>
        <c:grouping val="clustered"/>
        <c:varyColors val="0"/>
        <c:ser>
          <c:idx val="0"/>
          <c:order val="0"/>
          <c:tx>
            <c:strRef>
              <c:f>Sheet1!$B$1</c:f>
              <c:strCache>
                <c:ptCount val="1"/>
                <c:pt idx="0">
                  <c:v>구 내 (월별 변화)</c:v>
                </c:pt>
              </c:strCache>
            </c:strRef>
          </c:tx>
          <c:spPr>
            <a:solidFill>
              <a:srgbClr val="8E8E93"/>
            </a:solidFill>
            <a:effectLst/>
          </c:spPr>
          <c:invertIfNegative val="0"/>
          <c:dLbls>
            <c:numFmt formatCode="0.00" sourceLinked="0"/>
            <c:spPr>
              <a:noFill/>
              <a:ln>
                <a:noFill/>
              </a:ln>
              <a:effectLst/>
            </c:spPr>
            <c:txPr>
              <a:bodyPr/>
              <a:lstStyle/>
              <a:p>
                <a:pPr>
                  <a:defRPr sz="9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서울외 유입인구</c:v>
                </c:pt>
                <c:pt idx="1">
                  <c:v>주간인구</c:v>
                </c:pt>
                <c:pt idx="2">
                  <c:v>일최대인구</c:v>
                </c:pt>
                <c:pt idx="3">
                  <c:v>총 생활인구</c:v>
                </c:pt>
                <c:pt idx="4">
                  <c:v>일최소인구</c:v>
                </c:pt>
                <c:pt idx="5">
                  <c:v>동일구 행정동간 이동</c:v>
                </c:pt>
                <c:pt idx="6">
                  <c:v>야간인구</c:v>
                </c:pt>
              </c:strCache>
            </c:strRef>
          </c:cat>
          <c:val>
            <c:numRef>
              <c:f>Sheet1!$B$2:$B$8</c:f>
              <c:numCache>
                <c:formatCode>General</c:formatCode>
                <c:ptCount val="7"/>
                <c:pt idx="0">
                  <c:v>0.3</c:v>
                </c:pt>
                <c:pt idx="1">
                  <c:v>0.26500000000000001</c:v>
                </c:pt>
                <c:pt idx="2">
                  <c:v>0.32900000000000001</c:v>
                </c:pt>
                <c:pt idx="3">
                  <c:v>0.28000000000000003</c:v>
                </c:pt>
                <c:pt idx="4">
                  <c:v>0.17799999999999999</c:v>
                </c:pt>
                <c:pt idx="5">
                  <c:v>8.6999999999999994E-2</c:v>
                </c:pt>
                <c:pt idx="6">
                  <c:v>0.28000000000000003</c:v>
                </c:pt>
              </c:numCache>
            </c:numRef>
          </c:val>
          <c:extLst>
            <c:ext xmlns:c16="http://schemas.microsoft.com/office/drawing/2014/chart" uri="{C3380CC4-5D6E-409C-BE32-E72D297353CC}">
              <c16:uniqueId val="{00000000-A774-4DE8-9106-6F8274495B34}"/>
            </c:ext>
          </c:extLst>
        </c:ser>
        <c:ser>
          <c:idx val="1"/>
          <c:order val="1"/>
          <c:tx>
            <c:strRef>
              <c:f>Sheet1!$C$1</c:f>
              <c:strCache>
                <c:ptCount val="1"/>
                <c:pt idx="0">
                  <c:v>구 간 (구별 평균)</c:v>
                </c:pt>
              </c:strCache>
            </c:strRef>
          </c:tx>
          <c:spPr>
            <a:solidFill>
              <a:srgbClr val="D62828"/>
            </a:solidFill>
            <a:effectLst/>
          </c:spPr>
          <c:invertIfNegative val="0"/>
          <c:dLbls>
            <c:numFmt formatCode="0.00" sourceLinked="0"/>
            <c:spPr>
              <a:noFill/>
              <a:ln>
                <a:noFill/>
              </a:ln>
              <a:effectLst/>
            </c:spPr>
            <c:txPr>
              <a:bodyPr/>
              <a:lstStyle/>
              <a:p>
                <a:pPr>
                  <a:defRPr sz="9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서울외 유입인구</c:v>
                </c:pt>
                <c:pt idx="1">
                  <c:v>주간인구</c:v>
                </c:pt>
                <c:pt idx="2">
                  <c:v>일최대인구</c:v>
                </c:pt>
                <c:pt idx="3">
                  <c:v>총 생활인구</c:v>
                </c:pt>
                <c:pt idx="4">
                  <c:v>일최소인구</c:v>
                </c:pt>
                <c:pt idx="5">
                  <c:v>동일구 행정동간 이동</c:v>
                </c:pt>
                <c:pt idx="6">
                  <c:v>야간인구</c:v>
                </c:pt>
              </c:strCache>
            </c:strRef>
          </c:cat>
          <c:val>
            <c:numRef>
              <c:f>Sheet1!$C$2:$C$8</c:f>
              <c:numCache>
                <c:formatCode>General</c:formatCode>
                <c:ptCount val="7"/>
                <c:pt idx="0">
                  <c:v>0.36099999999999999</c:v>
                </c:pt>
                <c:pt idx="1">
                  <c:v>0.63500000000000001</c:v>
                </c:pt>
                <c:pt idx="2">
                  <c:v>0.68100000000000005</c:v>
                </c:pt>
                <c:pt idx="3">
                  <c:v>0.751</c:v>
                </c:pt>
                <c:pt idx="4">
                  <c:v>0.77400000000000002</c:v>
                </c:pt>
                <c:pt idx="5">
                  <c:v>0.78900000000000003</c:v>
                </c:pt>
                <c:pt idx="6">
                  <c:v>0.80700000000000005</c:v>
                </c:pt>
              </c:numCache>
            </c:numRef>
          </c:val>
          <c:extLst>
            <c:ext xmlns:c16="http://schemas.microsoft.com/office/drawing/2014/chart" uri="{C3380CC4-5D6E-409C-BE32-E72D297353CC}">
              <c16:uniqueId val="{00000001-A774-4DE8-9106-6F8274495B34}"/>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2"/>
        <c:crosses val="autoZero"/>
        <c:auto val="1"/>
        <c:lblAlgn val="ctr"/>
        <c:lblOffset val="100"/>
        <c:noMultiLvlLbl val="1"/>
      </c:catAx>
      <c:valAx>
        <c:axId val="2094734552"/>
        <c:scaling>
          <c:orientation val="minMax"/>
          <c:max val="1"/>
          <c:min val="0"/>
        </c:scaling>
        <c:delete val="0"/>
        <c:axPos val="b"/>
        <c:majorGridlines>
          <c:spPr>
            <a:ln w="9525" cap="flat">
              <a:solidFill>
                <a:srgbClr val="E5E7EB"/>
              </a:solidFill>
              <a:prstDash val="solid"/>
              <a:round/>
            </a:ln>
          </c:spPr>
        </c:majorGridlines>
        <c:numFmt formatCode="0.0" sourceLinked="0"/>
        <c:majorTickMark val="out"/>
        <c:minorTickMark val="none"/>
        <c:tickLblPos val="low"/>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4"/>
        <c:crosses val="autoZero"/>
        <c:crossBetween val="between"/>
        <c:majorUnit val="0.2"/>
      </c:valAx>
      <c:spPr>
        <a:solidFill>
          <a:srgbClr val="FFFFFF"/>
        </a:solidFill>
        <a:ln>
          <a:noFill/>
        </a:ln>
        <a:effectLst/>
      </c:spPr>
    </c:plotArea>
    <c:legend>
      <c:legendPos val="t"/>
      <c:overlay val="0"/>
      <c:txPr>
        <a:bodyPr/>
        <a:lstStyle/>
        <a:p>
          <a:pPr>
            <a:defRPr sz="1000">
              <a:solidFill>
                <a:srgbClr val="45515E"/>
              </a:solidFill>
              <a:latin typeface="에이투지체 5 Medium"/>
              <a:ea typeface="에이투지체 5 Medium"/>
              <a:cs typeface="에이투지체 5 Medium"/>
            </a:defRPr>
          </a:pPr>
          <a:endParaRPr lang="ko-KR"/>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1" i="0" u="none" strike="noStrike">
                <a:solidFill>
                  <a:srgbClr val="222222"/>
                </a:solidFill>
                <a:latin typeface="에이투지체 5 Medium"/>
                <a:ea typeface="에이투지체 5 Medium"/>
                <a:cs typeface="에이투지체 5 Medium"/>
              </a:defRPr>
            </a:pPr>
            <a:r>
              <a:rPr lang="ko-KR" altLang="en-US" sz="1400" b="1" i="0" u="none" strike="noStrike">
                <a:solidFill>
                  <a:srgbClr val="222222"/>
                </a:solidFill>
                <a:latin typeface="에이투지체 5 Medium"/>
                <a:ea typeface="에이투지체 5 Medium"/>
                <a:cs typeface="에이투지체 5 Medium"/>
              </a:rPr>
              <a:t>인구 지표별 가중치</a:t>
            </a:r>
          </a:p>
        </c:rich>
      </c:tx>
      <c:overlay val="0"/>
    </c:title>
    <c:autoTitleDeleted val="0"/>
    <c:plotArea>
      <c:layout/>
      <c:barChart>
        <c:barDir val="bar"/>
        <c:grouping val="clustered"/>
        <c:varyColors val="0"/>
        <c:ser>
          <c:idx val="0"/>
          <c:order val="0"/>
          <c:tx>
            <c:strRef>
              <c:f>Sheet1!$B$1</c:f>
              <c:strCache>
                <c:ptCount val="1"/>
                <c:pt idx="0">
                  <c:v>가중치</c:v>
                </c:pt>
              </c:strCache>
            </c:strRef>
          </c:tx>
          <c:spPr>
            <a:solidFill>
              <a:srgbClr val="D62828"/>
            </a:solidFill>
            <a:effectLst/>
          </c:spPr>
          <c:invertIfNegative val="0"/>
          <c:dLbls>
            <c:numFmt formatCode="0.0%" sourceLinked="0"/>
            <c:spPr>
              <a:noFill/>
              <a:ln>
                <a:noFill/>
              </a:ln>
              <a:effectLst/>
            </c:spPr>
            <c:txPr>
              <a:bodyPr/>
              <a:lstStyle/>
              <a:p>
                <a:pPr>
                  <a:defRPr sz="11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서울외 유입인구</c:v>
                </c:pt>
                <c:pt idx="1">
                  <c:v>일최대인구</c:v>
                </c:pt>
                <c:pt idx="2">
                  <c:v>동일구 행정동간 이동</c:v>
                </c:pt>
                <c:pt idx="3">
                  <c:v>야간인구</c:v>
                </c:pt>
              </c:strCache>
            </c:strRef>
          </c:cat>
          <c:val>
            <c:numRef>
              <c:f>Sheet1!$B$2:$B$5</c:f>
              <c:numCache>
                <c:formatCode>General</c:formatCode>
                <c:ptCount val="4"/>
                <c:pt idx="0">
                  <c:v>0.13700000000000001</c:v>
                </c:pt>
                <c:pt idx="1">
                  <c:v>0.25800000000000001</c:v>
                </c:pt>
                <c:pt idx="2">
                  <c:v>0.29899999999999999</c:v>
                </c:pt>
                <c:pt idx="3">
                  <c:v>0.30599999999999999</c:v>
                </c:pt>
              </c:numCache>
            </c:numRef>
          </c:val>
          <c:extLst>
            <c:ext xmlns:c16="http://schemas.microsoft.com/office/drawing/2014/chart" uri="{C3380CC4-5D6E-409C-BE32-E72D297353CC}">
              <c16:uniqueId val="{00000000-14E7-4C28-89F6-BA7CB1D99CBA}"/>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2"/>
        <c:crosses val="autoZero"/>
        <c:auto val="1"/>
        <c:lblAlgn val="ctr"/>
        <c:lblOffset val="100"/>
        <c:noMultiLvlLbl val="1"/>
      </c:catAx>
      <c:valAx>
        <c:axId val="2094734552"/>
        <c:scaling>
          <c:orientation val="minMax"/>
          <c:max val="0.4"/>
          <c:min val="0"/>
        </c:scaling>
        <c:delete val="0"/>
        <c:axPos val="b"/>
        <c:majorGridlines>
          <c:spPr>
            <a:ln w="9525" cap="flat">
              <a:solidFill>
                <a:srgbClr val="E5E7EB"/>
              </a:solidFill>
              <a:prstDash val="solid"/>
              <a:round/>
            </a:ln>
          </c:spPr>
        </c:majorGridlines>
        <c:numFmt formatCode="0%" sourceLinked="0"/>
        <c:majorTickMark val="out"/>
        <c:minorTickMark val="none"/>
        <c:tickLblPos val="low"/>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4"/>
        <c:crosses val="autoZero"/>
        <c:crossBetween val="between"/>
        <c:majorUnit val="0.1"/>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1" i="0" u="none" strike="noStrike">
                <a:solidFill>
                  <a:srgbClr val="222222"/>
                </a:solidFill>
                <a:latin typeface="에이투지체 5 Medium"/>
                <a:ea typeface="에이투지체 5 Medium"/>
                <a:cs typeface="에이투지체 5 Medium"/>
              </a:defRPr>
            </a:pPr>
            <a:r>
              <a:rPr lang="ko-KR" altLang="en-US" sz="1400" b="1" i="0" u="none" strike="noStrike">
                <a:solidFill>
                  <a:srgbClr val="222222"/>
                </a:solidFill>
                <a:latin typeface="에이투지체 5 Medium"/>
                <a:ea typeface="에이투지체 5 Medium"/>
                <a:cs typeface="에이투지체 5 Medium"/>
              </a:rPr>
              <a:t>월별 이송 지수 </a:t>
            </a:r>
            <a:r>
              <a:rPr lang="en-US" altLang="ko-KR" sz="1400" b="1" i="0" u="none" strike="noStrike">
                <a:solidFill>
                  <a:srgbClr val="222222"/>
                </a:solidFill>
                <a:latin typeface="에이투지체 5 Medium"/>
                <a:ea typeface="에이투지체 5 Medium"/>
                <a:cs typeface="에이투지체 5 Medium"/>
              </a:rPr>
              <a:t>(</a:t>
            </a:r>
            <a:r>
              <a:rPr lang="ko-KR" altLang="en-US" sz="1400" b="1" i="0" u="none" strike="noStrike">
                <a:solidFill>
                  <a:srgbClr val="222222"/>
                </a:solidFill>
                <a:latin typeface="에이투지체 5 Medium"/>
                <a:ea typeface="에이투지체 5 Medium"/>
                <a:cs typeface="에이투지체 5 Medium"/>
              </a:rPr>
              <a:t>전체 평균 </a:t>
            </a:r>
            <a:r>
              <a:rPr lang="en-US" altLang="ko-KR" sz="1400" b="1" i="0" u="none" strike="noStrike">
                <a:solidFill>
                  <a:srgbClr val="222222"/>
                </a:solidFill>
                <a:latin typeface="에이투지체 5 Medium"/>
                <a:ea typeface="에이투지체 5 Medium"/>
                <a:cs typeface="에이투지체 5 Medium"/>
              </a:rPr>
              <a:t>= 100)</a:t>
            </a:r>
          </a:p>
        </c:rich>
      </c:tx>
      <c:overlay val="0"/>
    </c:title>
    <c:autoTitleDeleted val="0"/>
    <c:plotArea>
      <c:layout/>
      <c:barChart>
        <c:barDir val="col"/>
        <c:grouping val="clustered"/>
        <c:varyColors val="0"/>
        <c:ser>
          <c:idx val="0"/>
          <c:order val="0"/>
          <c:tx>
            <c:strRef>
              <c:f>Sheet1!$B$1</c:f>
              <c:strCache>
                <c:ptCount val="1"/>
                <c:pt idx="0">
                  <c:v>이송 지수</c:v>
                </c:pt>
              </c:strCache>
            </c:strRef>
          </c:tx>
          <c:spPr>
            <a:solidFill>
              <a:srgbClr val="D62828"/>
            </a:solidFill>
            <a:effectLst/>
          </c:spPr>
          <c:invertIfNegative val="0"/>
          <c:dLbls>
            <c:numFmt formatCode="0.0" sourceLinked="0"/>
            <c:spPr>
              <a:noFill/>
              <a:ln>
                <a:noFill/>
              </a:ln>
              <a:effectLst/>
            </c:spPr>
            <c:txPr>
              <a:bodyPr/>
              <a:lstStyle/>
              <a:p>
                <a:pPr>
                  <a:defRPr sz="10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1월</c:v>
                </c:pt>
                <c:pt idx="1">
                  <c:v>2월</c:v>
                </c:pt>
                <c:pt idx="2">
                  <c:v>3월</c:v>
                </c:pt>
                <c:pt idx="3">
                  <c:v>4월</c:v>
                </c:pt>
                <c:pt idx="4">
                  <c:v>5월</c:v>
                </c:pt>
                <c:pt idx="5">
                  <c:v>6월</c:v>
                </c:pt>
                <c:pt idx="6">
                  <c:v>7월</c:v>
                </c:pt>
                <c:pt idx="7">
                  <c:v>8월</c:v>
                </c:pt>
                <c:pt idx="8">
                  <c:v>9월</c:v>
                </c:pt>
                <c:pt idx="9">
                  <c:v>10월</c:v>
                </c:pt>
                <c:pt idx="10">
                  <c:v>11월</c:v>
                </c:pt>
                <c:pt idx="11">
                  <c:v>12월</c:v>
                </c:pt>
              </c:strCache>
            </c:strRef>
          </c:cat>
          <c:val>
            <c:numRef>
              <c:f>Sheet1!$B$2:$B$13</c:f>
              <c:numCache>
                <c:formatCode>General</c:formatCode>
                <c:ptCount val="12"/>
                <c:pt idx="0">
                  <c:v>100.4</c:v>
                </c:pt>
                <c:pt idx="1">
                  <c:v>86.8</c:v>
                </c:pt>
                <c:pt idx="2">
                  <c:v>93.4</c:v>
                </c:pt>
                <c:pt idx="3">
                  <c:v>95.6</c:v>
                </c:pt>
                <c:pt idx="4">
                  <c:v>103.1</c:v>
                </c:pt>
                <c:pt idx="5">
                  <c:v>102.1</c:v>
                </c:pt>
                <c:pt idx="6">
                  <c:v>108.6</c:v>
                </c:pt>
                <c:pt idx="7">
                  <c:v>108.4</c:v>
                </c:pt>
                <c:pt idx="8">
                  <c:v>100.8</c:v>
                </c:pt>
                <c:pt idx="9">
                  <c:v>100.7</c:v>
                </c:pt>
                <c:pt idx="10">
                  <c:v>97</c:v>
                </c:pt>
                <c:pt idx="11">
                  <c:v>102.8</c:v>
                </c:pt>
              </c:numCache>
            </c:numRef>
          </c:val>
          <c:extLst>
            <c:ext xmlns:c16="http://schemas.microsoft.com/office/drawing/2014/chart" uri="{C3380CC4-5D6E-409C-BE32-E72D297353CC}">
              <c16:uniqueId val="{00000000-2270-47BA-9AE0-F409146F4367}"/>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2"/>
        <c:crosses val="autoZero"/>
        <c:auto val="1"/>
        <c:lblAlgn val="ctr"/>
        <c:lblOffset val="100"/>
        <c:noMultiLvlLbl val="1"/>
      </c:catAx>
      <c:valAx>
        <c:axId val="2094734552"/>
        <c:scaling>
          <c:orientation val="minMax"/>
          <c:max val="112"/>
          <c:min val="8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4"/>
        <c:crosses val="autoZero"/>
        <c:crossBetween val="between"/>
        <c:majorUnit val="10"/>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1" i="0" u="none" strike="noStrike">
                <a:solidFill>
                  <a:srgbClr val="222222"/>
                </a:solidFill>
                <a:latin typeface="에이투지체 5 Medium"/>
                <a:ea typeface="에이투지체 5 Medium"/>
                <a:cs typeface="에이투지체 5 Medium"/>
              </a:defRPr>
            </a:pPr>
            <a:r>
              <a:rPr lang="ko-KR" altLang="en-US" sz="1400" b="1" i="0" u="none" strike="noStrike">
                <a:solidFill>
                  <a:srgbClr val="222222"/>
                </a:solidFill>
                <a:latin typeface="에이투지체 5 Medium"/>
                <a:ea typeface="에이투지체 5 Medium"/>
                <a:cs typeface="에이투지체 5 Medium"/>
              </a:rPr>
              <a:t>입력 조합별 최고 검증 정확도 </a:t>
            </a:r>
            <a:r>
              <a:rPr lang="en-US" altLang="ko-KR" sz="1400" b="1" i="0" u="none" strike="noStrike">
                <a:solidFill>
                  <a:srgbClr val="222222"/>
                </a:solidFill>
                <a:latin typeface="에이투지체 5 Medium"/>
                <a:ea typeface="에이투지체 5 Medium"/>
                <a:cs typeface="에이투지체 5 Medium"/>
              </a:rPr>
              <a:t>(%)</a:t>
            </a:r>
          </a:p>
        </c:rich>
      </c:tx>
      <c:overlay val="0"/>
    </c:title>
    <c:autoTitleDeleted val="0"/>
    <c:plotArea>
      <c:layout/>
      <c:barChart>
        <c:barDir val="col"/>
        <c:grouping val="clustered"/>
        <c:varyColors val="0"/>
        <c:ser>
          <c:idx val="0"/>
          <c:order val="0"/>
          <c:tx>
            <c:strRef>
              <c:f>Sheet1!$B$1</c:f>
              <c:strCache>
                <c:ptCount val="1"/>
                <c:pt idx="0">
                  <c:v>최고 검증 정확도</c:v>
                </c:pt>
              </c:strCache>
            </c:strRef>
          </c:tx>
          <c:spPr>
            <a:solidFill>
              <a:srgbClr val="D62828"/>
            </a:solidFill>
            <a:effectLst/>
          </c:spPr>
          <c:invertIfNegative val="0"/>
          <c:dLbls>
            <c:numFmt formatCode="0.00&quot;%&quot;" sourceLinked="0"/>
            <c:spPr>
              <a:noFill/>
              <a:ln>
                <a:noFill/>
              </a:ln>
              <a:effectLst/>
            </c:spPr>
            <c:txPr>
              <a:bodyPr/>
              <a:lstStyle/>
              <a:p>
                <a:pPr>
                  <a:defRPr sz="11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c:v>
                </c:pt>
                <c:pt idx="1">
                  <c:v>B</c:v>
                </c:pt>
                <c:pt idx="2">
                  <c:v>C</c:v>
                </c:pt>
                <c:pt idx="3">
                  <c:v>D</c:v>
                </c:pt>
                <c:pt idx="4">
                  <c:v>E</c:v>
                </c:pt>
              </c:strCache>
            </c:strRef>
          </c:cat>
          <c:val>
            <c:numRef>
              <c:f>Sheet1!$B$2:$B$6</c:f>
              <c:numCache>
                <c:formatCode>General</c:formatCode>
                <c:ptCount val="5"/>
                <c:pt idx="0">
                  <c:v>84.39</c:v>
                </c:pt>
                <c:pt idx="1">
                  <c:v>87.21</c:v>
                </c:pt>
                <c:pt idx="2">
                  <c:v>88.03</c:v>
                </c:pt>
                <c:pt idx="3">
                  <c:v>94.96</c:v>
                </c:pt>
                <c:pt idx="4">
                  <c:v>94.79</c:v>
                </c:pt>
              </c:numCache>
            </c:numRef>
          </c:val>
          <c:extLst>
            <c:ext xmlns:c16="http://schemas.microsoft.com/office/drawing/2014/chart" uri="{C3380CC4-5D6E-409C-BE32-E72D297353CC}">
              <c16:uniqueId val="{00000000-06BE-46B6-B914-7791570D3DAA}"/>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2"/>
        <c:crosses val="autoZero"/>
        <c:auto val="1"/>
        <c:lblAlgn val="ctr"/>
        <c:lblOffset val="100"/>
        <c:noMultiLvlLbl val="1"/>
      </c:catAx>
      <c:valAx>
        <c:axId val="2094734552"/>
        <c:scaling>
          <c:orientation val="minMax"/>
          <c:max val="97"/>
          <c:min val="8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4"/>
        <c:crosses val="autoZero"/>
        <c:crossBetween val="between"/>
        <c:majorUnit val="5"/>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1" i="0" u="none" strike="noStrike">
                <a:solidFill>
                  <a:srgbClr val="222222"/>
                </a:solidFill>
                <a:latin typeface="에이투지체 5 Medium"/>
                <a:ea typeface="에이투지체 5 Medium"/>
                <a:cs typeface="에이투지체 5 Medium"/>
              </a:defRPr>
            </a:pPr>
            <a:r>
              <a:rPr lang="ko-KR" altLang="en-US" sz="1400" b="1" i="0" u="none" strike="noStrike">
                <a:solidFill>
                  <a:srgbClr val="222222"/>
                </a:solidFill>
                <a:latin typeface="에이투지체 5 Medium"/>
                <a:ea typeface="에이투지체 5 Medium"/>
                <a:cs typeface="에이투지체 5 Medium"/>
              </a:rPr>
              <a:t>설정별 최고 검증 정확도 </a:t>
            </a:r>
            <a:r>
              <a:rPr lang="en-US" altLang="ko-KR" sz="1400" b="1" i="0" u="none" strike="noStrike">
                <a:solidFill>
                  <a:srgbClr val="222222"/>
                </a:solidFill>
                <a:latin typeface="에이투지체 5 Medium"/>
                <a:ea typeface="에이투지체 5 Medium"/>
                <a:cs typeface="에이투지체 5 Medium"/>
              </a:rPr>
              <a:t>(6</a:t>
            </a:r>
            <a:r>
              <a:rPr lang="ko-KR" altLang="en-US" sz="1400" b="1" i="0" u="none" strike="noStrike">
                <a:solidFill>
                  <a:srgbClr val="222222"/>
                </a:solidFill>
                <a:latin typeface="에이투지체 5 Medium"/>
                <a:ea typeface="에이투지체 5 Medium"/>
                <a:cs typeface="에이투지체 5 Medium"/>
              </a:rPr>
              <a:t>개월 연속 예측</a:t>
            </a:r>
            <a:r>
              <a:rPr lang="en-US" altLang="ko-KR" sz="1400" b="1" i="0" u="none" strike="noStrike">
                <a:solidFill>
                  <a:srgbClr val="222222"/>
                </a:solidFill>
                <a:latin typeface="에이투지체 5 Medium"/>
                <a:ea typeface="에이투지체 5 Medium"/>
                <a:cs typeface="에이투지체 5 Medium"/>
              </a:rPr>
              <a:t>)</a:t>
            </a:r>
          </a:p>
        </c:rich>
      </c:tx>
      <c:overlay val="0"/>
    </c:title>
    <c:autoTitleDeleted val="0"/>
    <c:plotArea>
      <c:layout/>
      <c:barChart>
        <c:barDir val="col"/>
        <c:grouping val="clustered"/>
        <c:varyColors val="0"/>
        <c:ser>
          <c:idx val="0"/>
          <c:order val="0"/>
          <c:tx>
            <c:strRef>
              <c:f>Sheet1!$B$1</c:f>
              <c:strCache>
                <c:ptCount val="1"/>
                <c:pt idx="0">
                  <c:v>최고 정확도</c:v>
                </c:pt>
              </c:strCache>
            </c:strRef>
          </c:tx>
          <c:spPr>
            <a:solidFill>
              <a:srgbClr val="D62828"/>
            </a:solidFill>
            <a:effectLst/>
          </c:spPr>
          <c:invertIfNegative val="0"/>
          <c:dLbls>
            <c:numFmt formatCode="0.00&quot;%&quot;" sourceLinked="0"/>
            <c:spPr>
              <a:noFill/>
              <a:ln>
                <a:noFill/>
              </a:ln>
              <a:effectLst/>
            </c:spPr>
            <c:txPr>
              <a:bodyPr/>
              <a:lstStyle/>
              <a:p>
                <a:pPr>
                  <a:defRPr sz="11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기본</c:v>
                </c:pt>
                <c:pt idx="1">
                  <c:v>달력 추가</c:v>
                </c:pt>
                <c:pt idx="2">
                  <c:v>증감량 예측</c:v>
                </c:pt>
                <c:pt idx="3">
                  <c:v>달력 + 증감량</c:v>
                </c:pt>
              </c:strCache>
            </c:strRef>
          </c:cat>
          <c:val>
            <c:numRef>
              <c:f>Sheet1!$B$2:$B$5</c:f>
              <c:numCache>
                <c:formatCode>General</c:formatCode>
                <c:ptCount val="4"/>
                <c:pt idx="0">
                  <c:v>93.885000000000005</c:v>
                </c:pt>
                <c:pt idx="1">
                  <c:v>94.611000000000004</c:v>
                </c:pt>
                <c:pt idx="2">
                  <c:v>94.23</c:v>
                </c:pt>
                <c:pt idx="3">
                  <c:v>94.47</c:v>
                </c:pt>
              </c:numCache>
            </c:numRef>
          </c:val>
          <c:extLst>
            <c:ext xmlns:c16="http://schemas.microsoft.com/office/drawing/2014/chart" uri="{C3380CC4-5D6E-409C-BE32-E72D297353CC}">
              <c16:uniqueId val="{00000000-2CDC-4473-A285-65DC4477D96C}"/>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2"/>
        <c:crosses val="autoZero"/>
        <c:auto val="1"/>
        <c:lblAlgn val="ctr"/>
        <c:lblOffset val="100"/>
        <c:noMultiLvlLbl val="1"/>
      </c:catAx>
      <c:valAx>
        <c:axId val="2094734552"/>
        <c:scaling>
          <c:orientation val="minMax"/>
          <c:max val="95"/>
          <c:min val="93"/>
        </c:scaling>
        <c:delete val="0"/>
        <c:axPos val="l"/>
        <c:majorGridlines>
          <c:spPr>
            <a:ln w="9525" cap="flat">
              <a:solidFill>
                <a:srgbClr val="E5E7EB"/>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4"/>
        <c:crosses val="autoZero"/>
        <c:crossBetween val="between"/>
        <c:majorUnit val="0.5"/>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1" i="0" u="none" strike="noStrike">
                <a:solidFill>
                  <a:srgbClr val="222222"/>
                </a:solidFill>
                <a:latin typeface="에이투지체 5 Medium"/>
                <a:ea typeface="에이투지체 5 Medium"/>
                <a:cs typeface="에이투지체 5 Medium"/>
              </a:defRPr>
            </a:pPr>
            <a:r>
              <a:rPr lang="en-US" altLang="ko-KR" sz="1400" b="1" i="0" u="none" strike="noStrike">
                <a:solidFill>
                  <a:srgbClr val="222222"/>
                </a:solidFill>
                <a:latin typeface="에이투지체 5 Medium"/>
                <a:ea typeface="에이투지체 5 Medium"/>
                <a:cs typeface="에이투지체 5 Medium"/>
              </a:rPr>
              <a:t>6</a:t>
            </a:r>
            <a:r>
              <a:rPr lang="ko-KR" altLang="en-US" sz="1400" b="1" i="0" u="none" strike="noStrike">
                <a:solidFill>
                  <a:srgbClr val="222222"/>
                </a:solidFill>
                <a:latin typeface="에이투지체 5 Medium"/>
                <a:ea typeface="에이투지체 5 Medium"/>
                <a:cs typeface="에이투지체 5 Medium"/>
              </a:rPr>
              <a:t>개월 연속 예측 정확도 </a:t>
            </a:r>
            <a:r>
              <a:rPr lang="en-US" altLang="ko-KR" sz="1400" b="1" i="0" u="none" strike="noStrike">
                <a:solidFill>
                  <a:srgbClr val="222222"/>
                </a:solidFill>
                <a:latin typeface="에이투지체 5 Medium"/>
                <a:ea typeface="에이투지체 5 Medium"/>
                <a:cs typeface="에이투지체 5 Medium"/>
              </a:rPr>
              <a:t>(%) — </a:t>
            </a:r>
            <a:r>
              <a:rPr lang="ko-KR" altLang="en-US" sz="1400" b="1" i="0" u="none" strike="noStrike">
                <a:solidFill>
                  <a:srgbClr val="222222"/>
                </a:solidFill>
                <a:latin typeface="에이투지체 5 Medium"/>
                <a:ea typeface="에이투지체 5 Medium"/>
                <a:cs typeface="에이투지체 5 Medium"/>
              </a:rPr>
              <a:t>검증 순위순</a:t>
            </a:r>
          </a:p>
        </c:rich>
      </c:tx>
      <c:overlay val="0"/>
    </c:title>
    <c:autoTitleDeleted val="0"/>
    <c:plotArea>
      <c:layout/>
      <c:barChart>
        <c:barDir val="bar"/>
        <c:grouping val="clustered"/>
        <c:varyColors val="0"/>
        <c:ser>
          <c:idx val="0"/>
          <c:order val="0"/>
          <c:tx>
            <c:strRef>
              <c:f>Sheet1!$B$1</c:f>
              <c:strCache>
                <c:ptCount val="1"/>
                <c:pt idx="0">
                  <c:v>평가 6개월</c:v>
                </c:pt>
              </c:strCache>
            </c:strRef>
          </c:tx>
          <c:spPr>
            <a:solidFill>
              <a:srgbClr val="8E8E93"/>
            </a:solidFill>
            <a:effectLst/>
          </c:spPr>
          <c:invertIfNegative val="0"/>
          <c:dLbls>
            <c:numFmt formatCode="0.0" sourceLinked="0"/>
            <c:spPr>
              <a:noFill/>
              <a:ln>
                <a:noFill/>
              </a:ln>
              <a:effectLst/>
            </c:spPr>
            <c:txPr>
              <a:bodyPr/>
              <a:lstStyle/>
              <a:p>
                <a:pPr>
                  <a:defRPr sz="9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DNN</c:v>
                </c:pt>
                <c:pt idx="1">
                  <c:v>Decision Tree</c:v>
                </c:pt>
                <c:pt idx="2">
                  <c:v>기준선 (지난달 값)</c:v>
                </c:pt>
                <c:pt idx="3">
                  <c:v>Random Forest</c:v>
                </c:pt>
                <c:pt idx="4">
                  <c:v>Ridge</c:v>
                </c:pt>
                <c:pt idx="5">
                  <c:v>Linear Regression</c:v>
                </c:pt>
                <c:pt idx="6">
                  <c:v>Gradient Boosting</c:v>
                </c:pt>
                <c:pt idx="7">
                  <c:v>앙상블 (GB+Ridge)</c:v>
                </c:pt>
              </c:strCache>
            </c:strRef>
          </c:cat>
          <c:val>
            <c:numRef>
              <c:f>Sheet1!$B$2:$B$9</c:f>
              <c:numCache>
                <c:formatCode>General</c:formatCode>
                <c:ptCount val="8"/>
                <c:pt idx="0">
                  <c:v>91.97</c:v>
                </c:pt>
                <c:pt idx="1">
                  <c:v>92.4</c:v>
                </c:pt>
                <c:pt idx="2">
                  <c:v>93.25</c:v>
                </c:pt>
                <c:pt idx="3">
                  <c:v>93.98</c:v>
                </c:pt>
                <c:pt idx="4">
                  <c:v>94.27</c:v>
                </c:pt>
                <c:pt idx="5">
                  <c:v>87.87</c:v>
                </c:pt>
                <c:pt idx="6">
                  <c:v>93.27</c:v>
                </c:pt>
                <c:pt idx="7">
                  <c:v>94.6</c:v>
                </c:pt>
              </c:numCache>
            </c:numRef>
          </c:val>
          <c:extLst>
            <c:ext xmlns:c16="http://schemas.microsoft.com/office/drawing/2014/chart" uri="{C3380CC4-5D6E-409C-BE32-E72D297353CC}">
              <c16:uniqueId val="{00000000-1560-4303-A7C8-DD03E1005BAE}"/>
            </c:ext>
          </c:extLst>
        </c:ser>
        <c:ser>
          <c:idx val="1"/>
          <c:order val="1"/>
          <c:tx>
            <c:strRef>
              <c:f>Sheet1!$C$1</c:f>
              <c:strCache>
                <c:ptCount val="1"/>
                <c:pt idx="0">
                  <c:v>검증 6개월</c:v>
                </c:pt>
              </c:strCache>
            </c:strRef>
          </c:tx>
          <c:spPr>
            <a:solidFill>
              <a:srgbClr val="D62828"/>
            </a:solidFill>
            <a:effectLst/>
          </c:spPr>
          <c:invertIfNegative val="0"/>
          <c:dLbls>
            <c:numFmt formatCode="0.0" sourceLinked="0"/>
            <c:spPr>
              <a:noFill/>
              <a:ln>
                <a:noFill/>
              </a:ln>
              <a:effectLst/>
            </c:spPr>
            <c:txPr>
              <a:bodyPr/>
              <a:lstStyle/>
              <a:p>
                <a:pPr>
                  <a:defRPr sz="9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DNN</c:v>
                </c:pt>
                <c:pt idx="1">
                  <c:v>Decision Tree</c:v>
                </c:pt>
                <c:pt idx="2">
                  <c:v>기준선 (지난달 값)</c:v>
                </c:pt>
                <c:pt idx="3">
                  <c:v>Random Forest</c:v>
                </c:pt>
                <c:pt idx="4">
                  <c:v>Ridge</c:v>
                </c:pt>
                <c:pt idx="5">
                  <c:v>Linear Regression</c:v>
                </c:pt>
                <c:pt idx="6">
                  <c:v>Gradient Boosting</c:v>
                </c:pt>
                <c:pt idx="7">
                  <c:v>앙상블 (GB+Ridge)</c:v>
                </c:pt>
              </c:strCache>
            </c:strRef>
          </c:cat>
          <c:val>
            <c:numRef>
              <c:f>Sheet1!$C$2:$C$9</c:f>
              <c:numCache>
                <c:formatCode>General</c:formatCode>
                <c:ptCount val="8"/>
                <c:pt idx="0">
                  <c:v>88.45</c:v>
                </c:pt>
                <c:pt idx="1">
                  <c:v>90.93</c:v>
                </c:pt>
                <c:pt idx="2">
                  <c:v>91.82</c:v>
                </c:pt>
                <c:pt idx="3">
                  <c:v>92.51</c:v>
                </c:pt>
                <c:pt idx="4">
                  <c:v>92.73</c:v>
                </c:pt>
                <c:pt idx="5">
                  <c:v>92.78</c:v>
                </c:pt>
                <c:pt idx="6">
                  <c:v>94.35</c:v>
                </c:pt>
                <c:pt idx="7">
                  <c:v>94.61</c:v>
                </c:pt>
              </c:numCache>
            </c:numRef>
          </c:val>
          <c:extLst>
            <c:ext xmlns:c16="http://schemas.microsoft.com/office/drawing/2014/chart" uri="{C3380CC4-5D6E-409C-BE32-E72D297353CC}">
              <c16:uniqueId val="{00000001-1560-4303-A7C8-DD03E1005BAE}"/>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2"/>
        <c:crosses val="autoZero"/>
        <c:auto val="1"/>
        <c:lblAlgn val="ctr"/>
        <c:lblOffset val="100"/>
        <c:noMultiLvlLbl val="1"/>
      </c:catAx>
      <c:valAx>
        <c:axId val="2094734552"/>
        <c:scaling>
          <c:orientation val="minMax"/>
          <c:max val="96"/>
          <c:min val="85"/>
        </c:scaling>
        <c:delete val="0"/>
        <c:axPos val="b"/>
        <c:majorGridlines>
          <c:spPr>
            <a:ln w="9525" cap="flat">
              <a:solidFill>
                <a:srgbClr val="E5E7EB"/>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4"/>
        <c:crosses val="autoZero"/>
        <c:crossBetween val="between"/>
        <c:majorUnit val="2"/>
      </c:valAx>
      <c:spPr>
        <a:solidFill>
          <a:srgbClr val="FFFFFF"/>
        </a:solidFill>
        <a:ln>
          <a:noFill/>
        </a:ln>
        <a:effectLst/>
      </c:spPr>
    </c:plotArea>
    <c:legend>
      <c:legendPos val="t"/>
      <c:overlay val="0"/>
      <c:txPr>
        <a:bodyPr/>
        <a:lstStyle/>
        <a:p>
          <a:pPr>
            <a:defRPr sz="1000">
              <a:solidFill>
                <a:srgbClr val="45515E"/>
              </a:solidFill>
              <a:latin typeface="에이투지체 5 Medium"/>
              <a:ea typeface="에이투지체 5 Medium"/>
              <a:cs typeface="에이투지체 5 Medium"/>
            </a:defRPr>
          </a:pPr>
          <a:endParaRPr lang="ko-KR"/>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1" i="0" u="none" strike="noStrike">
                <a:solidFill>
                  <a:srgbClr val="222222"/>
                </a:solidFill>
                <a:latin typeface="에이투지체 5 Medium"/>
                <a:ea typeface="에이투지체 5 Medium"/>
                <a:cs typeface="에이투지체 5 Medium"/>
              </a:defRPr>
            </a:pPr>
            <a:r>
              <a:rPr lang="ko-KR" altLang="en-US" sz="1400" b="1" i="0" u="none" strike="noStrike">
                <a:solidFill>
                  <a:srgbClr val="222222"/>
                </a:solidFill>
                <a:latin typeface="에이투지체 5 Medium"/>
                <a:ea typeface="에이투지체 5 Medium"/>
                <a:cs typeface="에이투지체 5 Medium"/>
              </a:rPr>
              <a:t>정확도 </a:t>
            </a:r>
            <a:r>
              <a:rPr lang="en-US" altLang="ko-KR" sz="1400" b="1" i="0" u="none" strike="noStrike">
                <a:solidFill>
                  <a:srgbClr val="222222"/>
                </a:solidFill>
                <a:latin typeface="에이투지체 5 Medium"/>
                <a:ea typeface="에이투지체 5 Medium"/>
                <a:cs typeface="에이투지체 5 Medium"/>
              </a:rPr>
              <a:t>(%) — </a:t>
            </a:r>
            <a:r>
              <a:rPr lang="ko-KR" altLang="en-US" sz="1400" b="1" i="0" u="none" strike="noStrike">
                <a:solidFill>
                  <a:srgbClr val="222222"/>
                </a:solidFill>
                <a:latin typeface="에이투지체 5 Medium"/>
                <a:ea typeface="에이투지체 5 Medium"/>
                <a:cs typeface="에이투지체 5 Medium"/>
              </a:rPr>
              <a:t>검증 순위순</a:t>
            </a:r>
          </a:p>
        </c:rich>
      </c:tx>
      <c:overlay val="0"/>
    </c:title>
    <c:autoTitleDeleted val="0"/>
    <c:plotArea>
      <c:layout/>
      <c:barChart>
        <c:barDir val="bar"/>
        <c:grouping val="clustered"/>
        <c:varyColors val="0"/>
        <c:ser>
          <c:idx val="0"/>
          <c:order val="0"/>
          <c:tx>
            <c:strRef>
              <c:f>Sheet1!$B$1</c:f>
              <c:strCache>
                <c:ptCount val="1"/>
                <c:pt idx="0">
                  <c:v>평가 (1년)</c:v>
                </c:pt>
              </c:strCache>
            </c:strRef>
          </c:tx>
          <c:spPr>
            <a:solidFill>
              <a:srgbClr val="8E8E93"/>
            </a:solidFill>
            <a:effectLst/>
          </c:spPr>
          <c:invertIfNegative val="0"/>
          <c:dLbls>
            <c:numFmt formatCode="0.00" sourceLinked="0"/>
            <c:spPr>
              <a:noFill/>
              <a:ln>
                <a:noFill/>
              </a:ln>
              <a:effectLst/>
            </c:spPr>
            <c:txPr>
              <a:bodyPr/>
              <a:lstStyle/>
              <a:p>
                <a:pPr>
                  <a:defRPr sz="9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Linear Regression</c:v>
                </c:pt>
                <c:pt idx="1">
                  <c:v>Ridge</c:v>
                </c:pt>
                <c:pt idx="2">
                  <c:v>기준선 (7일 전 값)</c:v>
                </c:pt>
                <c:pt idx="3">
                  <c:v>DNN</c:v>
                </c:pt>
                <c:pt idx="4">
                  <c:v>Decision Tree</c:v>
                </c:pt>
                <c:pt idx="5">
                  <c:v>Gradient Boosting</c:v>
                </c:pt>
                <c:pt idx="6">
                  <c:v>Random Forest</c:v>
                </c:pt>
              </c:strCache>
            </c:strRef>
          </c:cat>
          <c:val>
            <c:numRef>
              <c:f>Sheet1!$B$2:$B$8</c:f>
              <c:numCache>
                <c:formatCode>General</c:formatCode>
                <c:ptCount val="7"/>
                <c:pt idx="0">
                  <c:v>97.11</c:v>
                </c:pt>
                <c:pt idx="1">
                  <c:v>97.11</c:v>
                </c:pt>
                <c:pt idx="2">
                  <c:v>97.54</c:v>
                </c:pt>
                <c:pt idx="3">
                  <c:v>97.86</c:v>
                </c:pt>
                <c:pt idx="4">
                  <c:v>97.52</c:v>
                </c:pt>
                <c:pt idx="5">
                  <c:v>97.97</c:v>
                </c:pt>
                <c:pt idx="6">
                  <c:v>98.16</c:v>
                </c:pt>
              </c:numCache>
            </c:numRef>
          </c:val>
          <c:extLst>
            <c:ext xmlns:c16="http://schemas.microsoft.com/office/drawing/2014/chart" uri="{C3380CC4-5D6E-409C-BE32-E72D297353CC}">
              <c16:uniqueId val="{00000000-1147-4999-A43C-279D337E6CF6}"/>
            </c:ext>
          </c:extLst>
        </c:ser>
        <c:ser>
          <c:idx val="1"/>
          <c:order val="1"/>
          <c:tx>
            <c:strRef>
              <c:f>Sheet1!$C$1</c:f>
              <c:strCache>
                <c:ptCount val="1"/>
                <c:pt idx="0">
                  <c:v>검증 (180일)</c:v>
                </c:pt>
              </c:strCache>
            </c:strRef>
          </c:tx>
          <c:spPr>
            <a:solidFill>
              <a:srgbClr val="D62828"/>
            </a:solidFill>
            <a:effectLst/>
          </c:spPr>
          <c:invertIfNegative val="0"/>
          <c:dLbls>
            <c:numFmt formatCode="0.00" sourceLinked="0"/>
            <c:spPr>
              <a:noFill/>
              <a:ln>
                <a:noFill/>
              </a:ln>
              <a:effectLst/>
            </c:spPr>
            <c:txPr>
              <a:bodyPr/>
              <a:lstStyle/>
              <a:p>
                <a:pPr>
                  <a:defRPr sz="9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Linear Regression</c:v>
                </c:pt>
                <c:pt idx="1">
                  <c:v>Ridge</c:v>
                </c:pt>
                <c:pt idx="2">
                  <c:v>기준선 (7일 전 값)</c:v>
                </c:pt>
                <c:pt idx="3">
                  <c:v>DNN</c:v>
                </c:pt>
                <c:pt idx="4">
                  <c:v>Decision Tree</c:v>
                </c:pt>
                <c:pt idx="5">
                  <c:v>Gradient Boosting</c:v>
                </c:pt>
                <c:pt idx="6">
                  <c:v>Random Forest</c:v>
                </c:pt>
              </c:strCache>
            </c:strRef>
          </c:cat>
          <c:val>
            <c:numRef>
              <c:f>Sheet1!$C$2:$C$8</c:f>
              <c:numCache>
                <c:formatCode>General</c:formatCode>
                <c:ptCount val="7"/>
                <c:pt idx="0">
                  <c:v>97.34</c:v>
                </c:pt>
                <c:pt idx="1">
                  <c:v>97.34</c:v>
                </c:pt>
                <c:pt idx="2">
                  <c:v>97.86</c:v>
                </c:pt>
                <c:pt idx="3">
                  <c:v>97.95</c:v>
                </c:pt>
                <c:pt idx="4">
                  <c:v>97.99</c:v>
                </c:pt>
                <c:pt idx="5">
                  <c:v>98.36</c:v>
                </c:pt>
                <c:pt idx="6">
                  <c:v>98.59</c:v>
                </c:pt>
              </c:numCache>
            </c:numRef>
          </c:val>
          <c:extLst>
            <c:ext xmlns:c16="http://schemas.microsoft.com/office/drawing/2014/chart" uri="{C3380CC4-5D6E-409C-BE32-E72D297353CC}">
              <c16:uniqueId val="{00000001-1147-4999-A43C-279D337E6CF6}"/>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2"/>
        <c:crosses val="autoZero"/>
        <c:auto val="1"/>
        <c:lblAlgn val="ctr"/>
        <c:lblOffset val="100"/>
        <c:noMultiLvlLbl val="1"/>
      </c:catAx>
      <c:valAx>
        <c:axId val="2094734552"/>
        <c:scaling>
          <c:orientation val="minMax"/>
          <c:max val="99"/>
          <c:min val="96.5"/>
        </c:scaling>
        <c:delete val="0"/>
        <c:axPos val="b"/>
        <c:majorGridlines>
          <c:spPr>
            <a:ln w="9525" cap="flat">
              <a:solidFill>
                <a:srgbClr val="E5E7EB"/>
              </a:solidFill>
              <a:prstDash val="solid"/>
              <a:round/>
            </a:ln>
          </c:spPr>
        </c:majorGridlines>
        <c:numFmt formatCode="0.0" sourceLinked="0"/>
        <c:majorTickMark val="out"/>
        <c:minorTickMark val="none"/>
        <c:tickLblPos val="low"/>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4"/>
        <c:crosses val="autoZero"/>
        <c:crossBetween val="between"/>
        <c:majorUnit val="0.5"/>
      </c:valAx>
      <c:spPr>
        <a:solidFill>
          <a:srgbClr val="FFFFFF"/>
        </a:solidFill>
        <a:ln>
          <a:noFill/>
        </a:ln>
        <a:effectLst/>
      </c:spPr>
    </c:plotArea>
    <c:legend>
      <c:legendPos val="t"/>
      <c:overlay val="0"/>
      <c:txPr>
        <a:bodyPr/>
        <a:lstStyle/>
        <a:p>
          <a:pPr>
            <a:defRPr sz="1000">
              <a:solidFill>
                <a:srgbClr val="45515E"/>
              </a:solidFill>
              <a:latin typeface="에이투지체 5 Medium"/>
              <a:ea typeface="에이투지체 5 Medium"/>
              <a:cs typeface="에이투지체 5 Medium"/>
            </a:defRPr>
          </a:pPr>
          <a:endParaRPr lang="ko-KR"/>
        </a:p>
      </c:txPr>
    </c:legend>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1" i="0" u="none" strike="noStrike">
                <a:solidFill>
                  <a:srgbClr val="222222"/>
                </a:solidFill>
                <a:latin typeface="에이투지체 5 Medium"/>
                <a:ea typeface="에이투지체 5 Medium"/>
                <a:cs typeface="에이투지체 5 Medium"/>
              </a:defRPr>
            </a:pPr>
            <a:r>
              <a:rPr lang="ko-KR" altLang="en-US" sz="1400" b="1" i="0" u="none" strike="noStrike">
                <a:solidFill>
                  <a:srgbClr val="222222"/>
                </a:solidFill>
                <a:latin typeface="에이투지체 5 Medium"/>
                <a:ea typeface="에이투지체 5 Medium"/>
                <a:cs typeface="에이투지체 5 Medium"/>
              </a:rPr>
              <a:t>이송 건수 </a:t>
            </a:r>
            <a:r>
              <a:rPr lang="en-US" altLang="ko-KR" sz="1400" b="1" i="0" u="none" strike="noStrike">
                <a:solidFill>
                  <a:srgbClr val="222222"/>
                </a:solidFill>
                <a:latin typeface="에이투지체 5 Medium"/>
                <a:ea typeface="에이투지체 5 Medium"/>
                <a:cs typeface="에이투지체 5 Medium"/>
              </a:rPr>
              <a:t>· </a:t>
            </a:r>
            <a:r>
              <a:rPr lang="en-US" sz="1400" b="1" i="0" u="none" strike="noStrike">
                <a:solidFill>
                  <a:srgbClr val="222222"/>
                </a:solidFill>
                <a:latin typeface="에이투지체 5 Medium"/>
                <a:ea typeface="에이투지체 5 Medium"/>
                <a:cs typeface="에이투지체 5 Medium"/>
              </a:rPr>
              <a:t>Gradient Boosting</a:t>
            </a:r>
          </a:p>
        </c:rich>
      </c:tx>
      <c:overlay val="0"/>
    </c:title>
    <c:autoTitleDeleted val="0"/>
    <c:plotArea>
      <c:layout/>
      <c:barChart>
        <c:barDir val="bar"/>
        <c:grouping val="clustered"/>
        <c:varyColors val="0"/>
        <c:ser>
          <c:idx val="0"/>
          <c:order val="0"/>
          <c:tx>
            <c:strRef>
              <c:f>Sheet1!$B$1</c:f>
              <c:strCache>
                <c:ptCount val="1"/>
                <c:pt idx="0">
                  <c:v>중요도</c:v>
                </c:pt>
              </c:strCache>
            </c:strRef>
          </c:tx>
          <c:spPr>
            <a:solidFill>
              <a:srgbClr val="D62828"/>
            </a:solidFill>
            <a:effectLst/>
          </c:spPr>
          <c:invertIfNegative val="0"/>
          <c:dLbls>
            <c:numFmt formatCode="0.000" sourceLinked="0"/>
            <c:spPr>
              <a:noFill/>
              <a:ln>
                <a:noFill/>
              </a:ln>
              <a:effectLst/>
            </c:spPr>
            <c:txPr>
              <a:bodyPr/>
              <a:lstStyle/>
              <a:p>
                <a:pPr>
                  <a:defRPr sz="11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전월 동일구 행정동간 이동</c:v>
                </c:pt>
                <c:pt idx="1">
                  <c:v>주말 수</c:v>
                </c:pt>
                <c:pt idx="2">
                  <c:v>일수</c:v>
                </c:pt>
                <c:pt idx="3">
                  <c:v>월 (원-핫 합계)</c:v>
                </c:pt>
                <c:pt idx="4">
                  <c:v>전년 동월 이송 건수</c:v>
                </c:pt>
                <c:pt idx="5">
                  <c:v>전월 이송 건수</c:v>
                </c:pt>
              </c:strCache>
            </c:strRef>
          </c:cat>
          <c:val>
            <c:numRef>
              <c:f>Sheet1!$B$2:$B$7</c:f>
              <c:numCache>
                <c:formatCode>General</c:formatCode>
                <c:ptCount val="6"/>
                <c:pt idx="0">
                  <c:v>6.0000000000000001E-3</c:v>
                </c:pt>
                <c:pt idx="1">
                  <c:v>7.0000000000000001E-3</c:v>
                </c:pt>
                <c:pt idx="2">
                  <c:v>0.02</c:v>
                </c:pt>
                <c:pt idx="3">
                  <c:v>2.5999999999999999E-2</c:v>
                </c:pt>
                <c:pt idx="4">
                  <c:v>2.7E-2</c:v>
                </c:pt>
                <c:pt idx="5">
                  <c:v>0.89300000000000002</c:v>
                </c:pt>
              </c:numCache>
            </c:numRef>
          </c:val>
          <c:extLst>
            <c:ext xmlns:c16="http://schemas.microsoft.com/office/drawing/2014/chart" uri="{C3380CC4-5D6E-409C-BE32-E72D297353CC}">
              <c16:uniqueId val="{00000000-CB0F-4B28-8C3B-CBDAF0E267AA}"/>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2"/>
        <c:crosses val="autoZero"/>
        <c:auto val="1"/>
        <c:lblAlgn val="ctr"/>
        <c:lblOffset val="100"/>
        <c:noMultiLvlLbl val="1"/>
      </c:catAx>
      <c:valAx>
        <c:axId val="2094734552"/>
        <c:scaling>
          <c:orientation val="minMax"/>
          <c:max val="1"/>
          <c:min val="0"/>
        </c:scaling>
        <c:delete val="0"/>
        <c:axPos val="b"/>
        <c:majorGridlines>
          <c:spPr>
            <a:ln w="9525" cap="flat">
              <a:solidFill>
                <a:srgbClr val="E5E7EB"/>
              </a:solidFill>
              <a:prstDash val="solid"/>
              <a:round/>
            </a:ln>
          </c:spPr>
        </c:majorGridlines>
        <c:numFmt formatCode="0.00" sourceLinked="0"/>
        <c:majorTickMark val="out"/>
        <c:minorTickMark val="none"/>
        <c:tickLblPos val="low"/>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4"/>
        <c:crosses val="autoZero"/>
        <c:crossBetween val="between"/>
        <c:majorUnit val="0.25"/>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1" i="0" u="none" strike="noStrike">
                <a:solidFill>
                  <a:srgbClr val="222222"/>
                </a:solidFill>
                <a:latin typeface="에이투지체 5 Medium"/>
                <a:ea typeface="에이투지체 5 Medium"/>
                <a:cs typeface="에이투지체 5 Medium"/>
              </a:defRPr>
            </a:pPr>
            <a:r>
              <a:rPr lang="ko-KR" altLang="en-US" sz="1400" b="1" i="0" u="none" strike="noStrike">
                <a:solidFill>
                  <a:srgbClr val="222222"/>
                </a:solidFill>
                <a:latin typeface="에이투지체 5 Medium"/>
                <a:ea typeface="에이투지체 5 Medium"/>
                <a:cs typeface="에이투지체 5 Medium"/>
              </a:rPr>
              <a:t>인구 밀집 </a:t>
            </a:r>
            <a:r>
              <a:rPr lang="en-US" altLang="ko-KR" sz="1400" b="1" i="0" u="none" strike="noStrike">
                <a:solidFill>
                  <a:srgbClr val="222222"/>
                </a:solidFill>
                <a:latin typeface="에이투지체 5 Medium"/>
                <a:ea typeface="에이투지체 5 Medium"/>
                <a:cs typeface="에이투지체 5 Medium"/>
              </a:rPr>
              <a:t>· </a:t>
            </a:r>
            <a:r>
              <a:rPr lang="en-US" sz="1400" b="1" i="0" u="none" strike="noStrike">
                <a:solidFill>
                  <a:srgbClr val="222222"/>
                </a:solidFill>
                <a:latin typeface="에이투지체 5 Medium"/>
                <a:ea typeface="에이투지체 5 Medium"/>
                <a:cs typeface="에이투지체 5 Medium"/>
              </a:rPr>
              <a:t>Random Forest</a:t>
            </a:r>
          </a:p>
        </c:rich>
      </c:tx>
      <c:overlay val="0"/>
    </c:title>
    <c:autoTitleDeleted val="0"/>
    <c:plotArea>
      <c:layout/>
      <c:barChart>
        <c:barDir val="bar"/>
        <c:grouping val="clustered"/>
        <c:varyColors val="0"/>
        <c:ser>
          <c:idx val="0"/>
          <c:order val="0"/>
          <c:tx>
            <c:strRef>
              <c:f>Sheet1!$B$1</c:f>
              <c:strCache>
                <c:ptCount val="1"/>
                <c:pt idx="0">
                  <c:v>중요도</c:v>
                </c:pt>
              </c:strCache>
            </c:strRef>
          </c:tx>
          <c:spPr>
            <a:solidFill>
              <a:srgbClr val="8A1414"/>
            </a:solidFill>
            <a:effectLst/>
          </c:spPr>
          <c:invertIfNegative val="0"/>
          <c:dLbls>
            <c:numFmt formatCode="0.000" sourceLinked="0"/>
            <c:spPr>
              <a:noFill/>
              <a:ln>
                <a:noFill/>
              </a:ln>
              <a:effectLst/>
            </c:spPr>
            <c:txPr>
              <a:bodyPr/>
              <a:lstStyle/>
              <a:p>
                <a:pPr>
                  <a:defRPr sz="11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전일 동일구 행정동간 이동</c:v>
                </c:pt>
                <c:pt idx="1">
                  <c:v>자치구 (원-핫 합계)</c:v>
                </c:pt>
                <c:pt idx="2">
                  <c:v>전일 일최대 이동인구</c:v>
                </c:pt>
                <c:pt idx="3">
                  <c:v>전일 주야간 인구 차이</c:v>
                </c:pt>
                <c:pt idx="4">
                  <c:v>전일 야간인구</c:v>
                </c:pt>
                <c:pt idx="5">
                  <c:v>7일 전 일최대인구</c:v>
                </c:pt>
              </c:strCache>
            </c:strRef>
          </c:cat>
          <c:val>
            <c:numRef>
              <c:f>Sheet1!$B$2:$B$7</c:f>
              <c:numCache>
                <c:formatCode>General</c:formatCode>
                <c:ptCount val="6"/>
                <c:pt idx="0">
                  <c:v>3.0000000000000001E-3</c:v>
                </c:pt>
                <c:pt idx="1">
                  <c:v>4.0000000000000001E-3</c:v>
                </c:pt>
                <c:pt idx="2">
                  <c:v>4.0000000000000001E-3</c:v>
                </c:pt>
                <c:pt idx="3">
                  <c:v>1.0999999999999999E-2</c:v>
                </c:pt>
                <c:pt idx="4">
                  <c:v>1.4E-2</c:v>
                </c:pt>
                <c:pt idx="5">
                  <c:v>0.96</c:v>
                </c:pt>
              </c:numCache>
            </c:numRef>
          </c:val>
          <c:extLst>
            <c:ext xmlns:c16="http://schemas.microsoft.com/office/drawing/2014/chart" uri="{C3380CC4-5D6E-409C-BE32-E72D297353CC}">
              <c16:uniqueId val="{00000000-B170-4F99-A14F-A9ADD9C0880B}"/>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2"/>
        <c:crosses val="autoZero"/>
        <c:auto val="1"/>
        <c:lblAlgn val="ctr"/>
        <c:lblOffset val="100"/>
        <c:noMultiLvlLbl val="1"/>
      </c:catAx>
      <c:valAx>
        <c:axId val="2094734552"/>
        <c:scaling>
          <c:orientation val="minMax"/>
          <c:max val="1"/>
          <c:min val="0"/>
        </c:scaling>
        <c:delete val="0"/>
        <c:axPos val="b"/>
        <c:majorGridlines>
          <c:spPr>
            <a:ln w="9525" cap="flat">
              <a:solidFill>
                <a:srgbClr val="E5E7EB"/>
              </a:solidFill>
              <a:prstDash val="solid"/>
              <a:round/>
            </a:ln>
          </c:spPr>
        </c:majorGridlines>
        <c:numFmt formatCode="0.00" sourceLinked="0"/>
        <c:majorTickMark val="out"/>
        <c:minorTickMark val="none"/>
        <c:tickLblPos val="low"/>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4"/>
        <c:crosses val="autoZero"/>
        <c:crossBetween val="between"/>
        <c:majorUnit val="0.25"/>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1" i="0" u="none" strike="noStrike">
                <a:solidFill>
                  <a:srgbClr val="222222"/>
                </a:solidFill>
                <a:latin typeface="에이투지체 5 Medium"/>
                <a:ea typeface="에이투지체 5 Medium"/>
                <a:cs typeface="에이투지체 5 Medium"/>
              </a:defRPr>
            </a:pPr>
            <a:r>
              <a:rPr lang="en-US" altLang="ko-KR" sz="1400" b="1" i="0" u="none" strike="noStrike">
                <a:solidFill>
                  <a:srgbClr val="222222"/>
                </a:solidFill>
                <a:latin typeface="에이투지체 5 Medium"/>
                <a:ea typeface="에이투지체 5 Medium"/>
                <a:cs typeface="에이투지체 5 Medium"/>
              </a:rPr>
              <a:t>2026</a:t>
            </a:r>
            <a:r>
              <a:rPr lang="ko-KR" altLang="en-US" sz="1400" b="1" i="0" u="none" strike="noStrike">
                <a:solidFill>
                  <a:srgbClr val="222222"/>
                </a:solidFill>
                <a:latin typeface="에이투지체 5 Medium"/>
                <a:ea typeface="에이투지체 5 Medium"/>
                <a:cs typeface="에이투지체 5 Medium"/>
              </a:rPr>
              <a:t>년 상반기 이송 건수 예측 </a:t>
            </a:r>
            <a:r>
              <a:rPr lang="en-US" altLang="ko-KR" sz="1400" b="1" i="0" u="none" strike="noStrike">
                <a:solidFill>
                  <a:srgbClr val="222222"/>
                </a:solidFill>
                <a:latin typeface="에이투지체 5 Medium"/>
                <a:ea typeface="에이투지체 5 Medium"/>
                <a:cs typeface="에이투지체 5 Medium"/>
              </a:rPr>
              <a:t>— </a:t>
            </a:r>
            <a:r>
              <a:rPr lang="ko-KR" altLang="en-US" sz="1400" b="1" i="0" u="none" strike="noStrike">
                <a:solidFill>
                  <a:srgbClr val="222222"/>
                </a:solidFill>
                <a:latin typeface="에이투지체 5 Medium"/>
                <a:ea typeface="에이투지체 5 Medium"/>
                <a:cs typeface="에이투지체 5 Medium"/>
              </a:rPr>
              <a:t>서울 </a:t>
            </a:r>
            <a:r>
              <a:rPr lang="en-US" altLang="ko-KR" sz="1400" b="1" i="0" u="none" strike="noStrike">
                <a:solidFill>
                  <a:srgbClr val="222222"/>
                </a:solidFill>
                <a:latin typeface="에이투지체 5 Medium"/>
                <a:ea typeface="에이투지체 5 Medium"/>
                <a:cs typeface="에이투지체 5 Medium"/>
              </a:rPr>
              <a:t>25</a:t>
            </a:r>
            <a:r>
              <a:rPr lang="ko-KR" altLang="en-US" sz="1400" b="1" i="0" u="none" strike="noStrike">
                <a:solidFill>
                  <a:srgbClr val="222222"/>
                </a:solidFill>
                <a:latin typeface="에이투지체 5 Medium"/>
                <a:ea typeface="에이투지체 5 Medium"/>
                <a:cs typeface="에이투지체 5 Medium"/>
              </a:rPr>
              <a:t>개 구 합계 </a:t>
            </a:r>
            <a:r>
              <a:rPr lang="en-US" altLang="ko-KR" sz="1400" b="1" i="0" u="none" strike="noStrike">
                <a:solidFill>
                  <a:srgbClr val="222222"/>
                </a:solidFill>
                <a:latin typeface="에이투지체 5 Medium"/>
                <a:ea typeface="에이투지체 5 Medium"/>
                <a:cs typeface="에이투지체 5 Medium"/>
              </a:rPr>
              <a:t>(</a:t>
            </a:r>
            <a:r>
              <a:rPr lang="ko-KR" altLang="en-US" sz="1400" b="1" i="0" u="none" strike="noStrike">
                <a:solidFill>
                  <a:srgbClr val="222222"/>
                </a:solidFill>
                <a:latin typeface="에이투지체 5 Medium"/>
                <a:ea typeface="에이투지체 5 Medium"/>
                <a:cs typeface="에이투지체 5 Medium"/>
              </a:rPr>
              <a:t>건</a:t>
            </a:r>
            <a:r>
              <a:rPr lang="en-US" altLang="ko-KR" sz="1400" b="1" i="0" u="none" strike="noStrike">
                <a:solidFill>
                  <a:srgbClr val="222222"/>
                </a:solidFill>
                <a:latin typeface="에이투지체 5 Medium"/>
                <a:ea typeface="에이투지체 5 Medium"/>
                <a:cs typeface="에이투지체 5 Medium"/>
              </a:rPr>
              <a:t>)</a:t>
            </a:r>
          </a:p>
        </c:rich>
      </c:tx>
      <c:overlay val="0"/>
    </c:title>
    <c:autoTitleDeleted val="0"/>
    <c:plotArea>
      <c:layout/>
      <c:barChart>
        <c:barDir val="col"/>
        <c:grouping val="clustered"/>
        <c:varyColors val="0"/>
        <c:ser>
          <c:idx val="0"/>
          <c:order val="0"/>
          <c:tx>
            <c:strRef>
              <c:f>Sheet1!$B$1</c:f>
              <c:strCache>
                <c:ptCount val="1"/>
                <c:pt idx="0">
                  <c:v>서울 합계</c:v>
                </c:pt>
              </c:strCache>
            </c:strRef>
          </c:tx>
          <c:spPr>
            <a:solidFill>
              <a:srgbClr val="D62828"/>
            </a:solidFill>
            <a:effectLst/>
          </c:spPr>
          <c:invertIfNegative val="0"/>
          <c:dLbls>
            <c:numFmt formatCode="#,##0" sourceLinked="0"/>
            <c:spPr>
              <a:noFill/>
              <a:ln>
                <a:noFill/>
              </a:ln>
              <a:effectLst/>
            </c:spPr>
            <c:txPr>
              <a:bodyPr/>
              <a:lstStyle/>
              <a:p>
                <a:pPr>
                  <a:defRPr sz="11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2026.01</c:v>
                </c:pt>
                <c:pt idx="1">
                  <c:v>2026.02</c:v>
                </c:pt>
                <c:pt idx="2">
                  <c:v>2026.03</c:v>
                </c:pt>
                <c:pt idx="3">
                  <c:v>2026.04</c:v>
                </c:pt>
                <c:pt idx="4">
                  <c:v>2026.05</c:v>
                </c:pt>
                <c:pt idx="5">
                  <c:v>2026.06</c:v>
                </c:pt>
              </c:strCache>
            </c:strRef>
          </c:cat>
          <c:val>
            <c:numRef>
              <c:f>Sheet1!$B$2:$B$7</c:f>
              <c:numCache>
                <c:formatCode>General</c:formatCode>
                <c:ptCount val="6"/>
                <c:pt idx="0">
                  <c:v>23880</c:v>
                </c:pt>
                <c:pt idx="1">
                  <c:v>21642</c:v>
                </c:pt>
                <c:pt idx="2">
                  <c:v>22570</c:v>
                </c:pt>
                <c:pt idx="3">
                  <c:v>23046</c:v>
                </c:pt>
                <c:pt idx="4">
                  <c:v>25136</c:v>
                </c:pt>
                <c:pt idx="5">
                  <c:v>24978</c:v>
                </c:pt>
              </c:numCache>
            </c:numRef>
          </c:val>
          <c:extLst>
            <c:ext xmlns:c16="http://schemas.microsoft.com/office/drawing/2014/chart" uri="{C3380CC4-5D6E-409C-BE32-E72D297353CC}">
              <c16:uniqueId val="{00000000-52B2-4964-A876-C1F3A2A2CDD9}"/>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2"/>
        <c:crosses val="autoZero"/>
        <c:auto val="1"/>
        <c:lblAlgn val="ctr"/>
        <c:lblOffset val="100"/>
        <c:noMultiLvlLbl val="1"/>
      </c:catAx>
      <c:valAx>
        <c:axId val="2094734552"/>
        <c:scaling>
          <c:orientation val="minMax"/>
          <c:max val="30000"/>
          <c:min val="0"/>
        </c:scaling>
        <c:delete val="0"/>
        <c:axPos val="l"/>
        <c:majorGridlines>
          <c:spPr>
            <a:ln w="9525" cap="flat">
              <a:solidFill>
                <a:srgbClr val="E5E7EB"/>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4"/>
        <c:crosses val="autoZero"/>
        <c:crossBetween val="between"/>
        <c:majorUnit val="10000"/>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13607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smtClean="0"/>
              <a:t>안녕하십니까</a:t>
            </a:r>
            <a:r>
              <a:rPr lang="en-US" altLang="ko-KR" dirty="0" smtClean="0"/>
              <a:t>. </a:t>
            </a:r>
            <a:r>
              <a:rPr lang="ko-KR" altLang="en-US" dirty="0" smtClean="0"/>
              <a:t>저희 팀은 </a:t>
            </a:r>
            <a:r>
              <a:rPr lang="en-US" altLang="ko-KR" dirty="0" smtClean="0"/>
              <a:t>'</a:t>
            </a:r>
            <a:r>
              <a:rPr lang="ko-KR" altLang="en-US" dirty="0" smtClean="0"/>
              <a:t>서울시 </a:t>
            </a:r>
            <a:r>
              <a:rPr lang="en-US" altLang="ko-KR" dirty="0" smtClean="0"/>
              <a:t>119 </a:t>
            </a:r>
            <a:r>
              <a:rPr lang="ko-KR" altLang="en-US" dirty="0" smtClean="0"/>
              <a:t>구급 수요 예측</a:t>
            </a:r>
            <a:r>
              <a:rPr lang="en-US" altLang="ko-KR" dirty="0" smtClean="0"/>
              <a:t>'</a:t>
            </a:r>
            <a:r>
              <a:rPr lang="ko-KR" altLang="en-US" dirty="0" smtClean="0"/>
              <a:t>을 주제로</a:t>
            </a:r>
            <a:r>
              <a:rPr lang="en-US" altLang="ko-KR" dirty="0" smtClean="0"/>
              <a:t>, </a:t>
            </a:r>
            <a:r>
              <a:rPr lang="ko-KR" altLang="en-US" dirty="0" smtClean="0"/>
              <a:t>서울시 자치구별 구급 수요와 </a:t>
            </a:r>
            <a:r>
              <a:rPr lang="ko-KR" altLang="en-US" dirty="0" err="1" smtClean="0"/>
              <a:t>생활인구의</a:t>
            </a:r>
            <a:r>
              <a:rPr lang="ko-KR" altLang="en-US" dirty="0" smtClean="0"/>
              <a:t> 특성을 분석하고 미래 수요를 예측한 뒤</a:t>
            </a:r>
            <a:r>
              <a:rPr lang="en-US" altLang="ko-KR" dirty="0" smtClean="0"/>
              <a:t>, </a:t>
            </a:r>
            <a:r>
              <a:rPr lang="ko-KR" altLang="en-US" dirty="0" smtClean="0"/>
              <a:t>그 결과와 실시간 응급실 병상 정보를 함께 확인할 수 있는 웹 서비스를 구현했습니다</a:t>
            </a:r>
            <a:r>
              <a:rPr lang="en-US" altLang="ko-KR" dirty="0" smtClean="0"/>
              <a:t>.</a:t>
            </a:r>
            <a:endParaRPr lang="en-US" altLang="ko-KR"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smtClean="0"/>
              <a:t>프로젝트는 크게 </a:t>
            </a:r>
            <a:r>
              <a:rPr lang="ko-KR" altLang="en-US" b="1" dirty="0" smtClean="0"/>
              <a:t>데이터 수집</a:t>
            </a:r>
            <a:r>
              <a:rPr lang="en-US" altLang="ko-KR" b="1" dirty="0" smtClean="0"/>
              <a:t>, </a:t>
            </a:r>
            <a:r>
              <a:rPr lang="ko-KR" altLang="en-US" b="1" dirty="0" smtClean="0"/>
              <a:t>전처리</a:t>
            </a:r>
            <a:r>
              <a:rPr lang="en-US" altLang="ko-KR" b="1" dirty="0" smtClean="0"/>
              <a:t>, </a:t>
            </a:r>
            <a:r>
              <a:rPr lang="ko-KR" altLang="en-US" b="1" dirty="0" smtClean="0"/>
              <a:t>분석</a:t>
            </a:r>
            <a:r>
              <a:rPr lang="en-US" altLang="ko-KR" b="1" dirty="0" smtClean="0"/>
              <a:t>, </a:t>
            </a:r>
            <a:r>
              <a:rPr lang="ko-KR" altLang="en-US" b="1" dirty="0" smtClean="0"/>
              <a:t>모델 개발</a:t>
            </a:r>
            <a:r>
              <a:rPr lang="en-US" altLang="ko-KR" b="1" dirty="0" smtClean="0"/>
              <a:t>, </a:t>
            </a:r>
            <a:r>
              <a:rPr lang="ko-KR" altLang="en-US" b="1" dirty="0" smtClean="0"/>
              <a:t>웹 서비스 구현</a:t>
            </a:r>
            <a:r>
              <a:rPr lang="ko-KR" altLang="en-US" dirty="0" smtClean="0"/>
              <a:t> 순서로 구성했고</a:t>
            </a:r>
            <a:r>
              <a:rPr lang="en-US" altLang="ko-KR" dirty="0" smtClean="0"/>
              <a:t>, </a:t>
            </a:r>
            <a:br>
              <a:rPr lang="en-US" altLang="ko-KR" dirty="0" smtClean="0"/>
            </a:br>
            <a:r>
              <a:rPr lang="ko-KR" altLang="en-US" dirty="0" smtClean="0"/>
              <a:t>발표에서는 세부적인 수치보다는 각 과정이 어떻게 연결되는지를 중심으로 진행하겠습니다</a:t>
            </a:r>
            <a:r>
              <a:rPr lang="en-US" altLang="ko-KR" dirty="0" smtClean="0"/>
              <a:t>. </a:t>
            </a:r>
            <a:endParaRPr lang="en-US" altLang="ko-KR"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smtClean="0"/>
              <a:t>먼저 프로젝트의 목표와 진행 과정에 대해 간단히 </a:t>
            </a:r>
            <a:r>
              <a:rPr lang="ko-KR" altLang="en-US" dirty="0" err="1" smtClean="0"/>
              <a:t>설명드리겠습니다</a:t>
            </a:r>
            <a:r>
              <a:rPr lang="en-US" altLang="ko-KR" dirty="0" smtClean="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smtClean="0"/>
              <a:t>프로젝트의 핵심 목표는 </a:t>
            </a:r>
            <a:r>
              <a:rPr lang="ko-KR" altLang="en-US" b="1" dirty="0" smtClean="0"/>
              <a:t>앞으로 어느 지역에 구급 수요가 많아질지를 예측하는 것</a:t>
            </a:r>
            <a:r>
              <a:rPr lang="ko-KR" altLang="en-US" dirty="0" smtClean="0"/>
              <a:t>입니다</a:t>
            </a:r>
            <a:r>
              <a:rPr lang="en-US" altLang="ko-KR" dirty="0" smtClean="0"/>
              <a:t>.</a:t>
            </a:r>
            <a:r>
              <a:rPr lang="en-US" altLang="ko-KR" baseline="0" dirty="0" smtClean="0"/>
              <a:t> </a:t>
            </a:r>
            <a:r>
              <a:rPr lang="ko-KR" altLang="en-US" dirty="0" smtClean="0"/>
              <a:t>이를 위해 자치구별 구급 수요와 </a:t>
            </a:r>
            <a:r>
              <a:rPr lang="ko-KR" altLang="en-US" dirty="0" err="1" smtClean="0"/>
              <a:t>생활인구</a:t>
            </a:r>
            <a:r>
              <a:rPr lang="ko-KR" altLang="en-US" dirty="0" smtClean="0"/>
              <a:t> 패턴을 분석하고 미래 수요를 예측했습니다</a:t>
            </a:r>
            <a:r>
              <a:rPr lang="en-US" altLang="ko-KR" dirty="0" smtClean="0"/>
              <a:t>.</a:t>
            </a:r>
            <a:r>
              <a:rPr lang="en-US" altLang="ko-KR" baseline="0" dirty="0" smtClean="0"/>
              <a:t> </a:t>
            </a:r>
            <a:r>
              <a:rPr lang="ko-KR" altLang="en-US" dirty="0" smtClean="0"/>
              <a:t>그리고 예측 결과가 단순한 분석으로 끝나는 것이 아니라 </a:t>
            </a:r>
            <a:r>
              <a:rPr lang="ko-KR" altLang="en-US" b="1" dirty="0" smtClean="0"/>
              <a:t>구급차 배치를 판단하는 데 참고할 수 있도록 하고</a:t>
            </a:r>
            <a:r>
              <a:rPr lang="en-US" altLang="ko-KR" dirty="0" smtClean="0"/>
              <a:t>, </a:t>
            </a:r>
            <a:r>
              <a:rPr lang="ko-KR" altLang="en-US" dirty="0" smtClean="0"/>
              <a:t>응급실의 실시간 병상 정보까지 함께 확인할 수 있는 웹 서비스를 구축하는 것을 최종 목표로 했습니다</a:t>
            </a:r>
            <a:r>
              <a:rPr lang="en-US" altLang="ko-KR" dirty="0" smtClean="0"/>
              <a:t>.</a:t>
            </a:r>
          </a:p>
          <a:p>
            <a:endParaRPr lang="en-US" altLang="ko-KR" dirty="0" smtClean="0"/>
          </a:p>
          <a:p>
            <a:r>
              <a:rPr lang="ko-KR" altLang="en-US" dirty="0" smtClean="0"/>
              <a:t>개발은 </a:t>
            </a:r>
            <a:r>
              <a:rPr lang="en-US" altLang="ko-KR" dirty="0" smtClean="0"/>
              <a:t>Python</a:t>
            </a:r>
            <a:r>
              <a:rPr lang="ko-KR" altLang="en-US" dirty="0" smtClean="0"/>
              <a:t>을 중심으로 진행했고</a:t>
            </a:r>
            <a:r>
              <a:rPr lang="en-US" altLang="ko-KR" dirty="0" smtClean="0"/>
              <a:t>, </a:t>
            </a:r>
            <a:r>
              <a:rPr lang="ko-KR" altLang="en-US" dirty="0" smtClean="0"/>
              <a:t>여러 </a:t>
            </a:r>
            <a:r>
              <a:rPr lang="ko-KR" altLang="en-US" dirty="0" err="1" smtClean="0"/>
              <a:t>머신러닝과</a:t>
            </a:r>
            <a:r>
              <a:rPr lang="ko-KR" altLang="en-US" dirty="0" smtClean="0"/>
              <a:t> </a:t>
            </a:r>
            <a:r>
              <a:rPr lang="ko-KR" altLang="en-US" dirty="0" err="1" smtClean="0"/>
              <a:t>딥러닝</a:t>
            </a:r>
            <a:r>
              <a:rPr lang="ko-KR" altLang="en-US" dirty="0" smtClean="0"/>
              <a:t> 모델을 비교해 적합한 모델을 선정했습니다</a:t>
            </a:r>
            <a:r>
              <a:rPr lang="en-US" altLang="ko-KR" dirty="0" smtClean="0"/>
              <a:t>.</a:t>
            </a:r>
          </a:p>
          <a:p>
            <a:endParaRPr lang="en-US" altLang="ko-KR" dirty="0" smtClean="0"/>
          </a:p>
          <a:p>
            <a:r>
              <a:rPr lang="ko-KR" altLang="en-US" dirty="0" smtClean="0"/>
              <a:t>일정과 업무 분담은 화면 자료로 대신하겠습니다</a:t>
            </a:r>
            <a:r>
              <a:rPr lang="en-US" altLang="ko-KR" dirty="0" smtClean="0"/>
              <a:t>.</a:t>
            </a:r>
            <a:endParaRPr lang="en-US" altLang="ko-KR"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프로젝트 전체 흐름입니다. 소방청 API, 생활인구, 구조활동, 의료이용 자료를 모아 날짜와 자치구 기준으로 정리하고, 예측 시점에 알 수 있는 과거 값만 붙여 이송 건수 표(구×월)와 인구 밀집 표(구×일)를 만들었습니다. 분석에서 생활인구는 구별 규모를 설명하지만 월별 변화와의 관계는 약하다는 점, 자치구 유형과 계절성을 확인했습니다. 모델은 시간순으로 학습·검증·평가를 나누어 기준선과 6개 모델을 비교했고, 검증 성능으로 이송 건수는 GradientBoosting+Ridge 앙상블(평가 94.6%), 인구 밀집은 RandomForest(평가 98.2%)를 골랐습니다. 이 결과는 dashboard_data.json으로 저장되어 웹 서비스의 분석·예측 화면에 쓰이고, 응급실 병상 자료는 공공 API로 받아 병상 관제 화면에 바로 연결됩니다.</a:t>
            </a:r>
            <a:endParaRPr lang="ko-KR" altLang="en-US" dirty="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프로젝트는 2026년 9월 23일부터 10월 10일까지 12단계로 진행했습니다. 기획과 데이터 수집은 전원이 함께 했고, 이후 단계는 담당을 나누었습니다. 전처리에서는 박채원이 정제·형식 통일, 신건우가 파생변수 생성, 정지윤이 결측·이상치 처리, 조철현이 검토를 맡았습니다. 모델링은 타깃 정의(박채원), 변수 선정(신건우), 학습 데이터 구성(정지윤), 모델 구현·학습(조철현)으로 나누고 성능 비교는 함께 했습니다. 웹 구현과 API·모델 연동, 통합 테스트, 최종 결과 정리와 발표 준비까지 같은 방식으로 분담했습니다. 빨간 막대는 각 단계의 기간, 회색 막대는 휴식 기간, 옅은 회색 세로 띠는 주말입니다.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6082844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smtClean="0"/>
              <a:t>다음은 </a:t>
            </a:r>
            <a:r>
              <a:rPr lang="ko-KR" altLang="en-US" b="1" dirty="0" smtClean="0"/>
              <a:t>데이터 수집 과정</a:t>
            </a:r>
            <a:r>
              <a:rPr lang="ko-KR" altLang="en-US" dirty="0" smtClean="0"/>
              <a:t>입니다</a:t>
            </a:r>
            <a:r>
              <a:rPr lang="en-US" altLang="ko-KR" dirty="0" smtClean="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ko-KR" dirty="0" smtClean="0"/>
          </a:p>
          <a:p>
            <a:r>
              <a:rPr lang="ko-KR" altLang="en-US" dirty="0" smtClean="0"/>
              <a:t>구급 수요를 분석하기 위해 여러 공공데이터를 수집했는데</a:t>
            </a:r>
            <a:r>
              <a:rPr lang="en-US" altLang="ko-KR" dirty="0" smtClean="0"/>
              <a:t>,</a:t>
            </a:r>
            <a:r>
              <a:rPr lang="en-US" altLang="ko-KR" baseline="0" dirty="0" smtClean="0"/>
              <a:t> </a:t>
            </a:r>
            <a:r>
              <a:rPr lang="ko-KR" altLang="en-US" dirty="0" smtClean="0"/>
              <a:t>가장 중요한 데이터는 실제 </a:t>
            </a:r>
            <a:r>
              <a:rPr lang="en-US" altLang="ko-KR" b="1" dirty="0" smtClean="0"/>
              <a:t>119 </a:t>
            </a:r>
            <a:r>
              <a:rPr lang="ko-KR" altLang="en-US" b="1" dirty="0" smtClean="0"/>
              <a:t>이송 건수</a:t>
            </a:r>
            <a:r>
              <a:rPr lang="ko-KR" altLang="en-US" dirty="0" smtClean="0"/>
              <a:t>이고</a:t>
            </a:r>
            <a:r>
              <a:rPr lang="en-US" altLang="ko-KR" dirty="0" smtClean="0"/>
              <a:t>, </a:t>
            </a:r>
            <a:r>
              <a:rPr lang="ko-KR" altLang="en-US" dirty="0" smtClean="0"/>
              <a:t>여기에 </a:t>
            </a:r>
            <a:r>
              <a:rPr lang="ko-KR" altLang="en-US" dirty="0" err="1" smtClean="0"/>
              <a:t>생활인구와</a:t>
            </a:r>
            <a:r>
              <a:rPr lang="ko-KR" altLang="en-US" dirty="0" smtClean="0"/>
              <a:t> 사고 관련 자료 등을 함께 수집했습니다</a:t>
            </a:r>
            <a:r>
              <a:rPr lang="en-US" altLang="ko-KR" dirty="0" smtClean="0"/>
              <a:t>.</a:t>
            </a:r>
          </a:p>
          <a:p>
            <a:endParaRPr lang="en-US" altLang="ko-KR" dirty="0" smtClean="0"/>
          </a:p>
          <a:p>
            <a:r>
              <a:rPr lang="ko-KR" altLang="en-US" dirty="0" smtClean="0"/>
              <a:t>서로 다른 자료를 서울시 자치구를 기준으로 연결해서</a:t>
            </a:r>
            <a:r>
              <a:rPr lang="en-US" altLang="ko-KR" dirty="0" smtClean="0"/>
              <a:t>, </a:t>
            </a:r>
            <a:r>
              <a:rPr lang="ko-KR" altLang="en-US" b="1" dirty="0" smtClean="0"/>
              <a:t>지역별 구급 수요를 설명하고 예측할 수 있는 형태</a:t>
            </a:r>
            <a:r>
              <a:rPr lang="ko-KR" altLang="en-US" dirty="0" smtClean="0"/>
              <a:t>로 구성했습니다</a:t>
            </a:r>
            <a:r>
              <a:rPr lang="en-US" altLang="ko-KR" dirty="0" smtClean="0"/>
              <a:t>.</a:t>
            </a:r>
          </a:p>
          <a:p>
            <a:r>
              <a:rPr lang="ko-KR" altLang="en-US" dirty="0" smtClean="0"/>
              <a:t>수집한 자료를 모두 모델에 사용한 것이 아니고</a:t>
            </a:r>
            <a:r>
              <a:rPr lang="en-US" altLang="ko-KR" dirty="0" smtClean="0"/>
              <a:t>, </a:t>
            </a:r>
            <a:r>
              <a:rPr lang="ko-KR" altLang="en-US" dirty="0" smtClean="0"/>
              <a:t>예측 목적에 맞는 자료만 선별해서 사용했습니다</a:t>
            </a:r>
            <a:r>
              <a:rPr lang="en-US" altLang="ko-KR" dirty="0" smtClean="0"/>
              <a:t>.</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ko-KR" dirty="0" smtClean="0"/>
          </a:p>
          <a:p>
            <a:r>
              <a:rPr lang="ko-KR" altLang="en-US" dirty="0" smtClean="0"/>
              <a:t>데이터의 양보다는 </a:t>
            </a:r>
            <a:r>
              <a:rPr lang="ko-KR" altLang="en-US" b="1" dirty="0" smtClean="0"/>
              <a:t>예측 목적과 기준에 맞는 데이터를 사용하는 것</a:t>
            </a:r>
            <a:r>
              <a:rPr lang="ko-KR" altLang="en-US" dirty="0" smtClean="0"/>
              <a:t>에 중점을 두었습니다</a:t>
            </a:r>
            <a:r>
              <a:rPr lang="en-US" altLang="ko-KR" dirty="0" smtClean="0"/>
              <a:t>.</a:t>
            </a:r>
          </a:p>
          <a:p>
            <a:endParaRPr lang="en-US" altLang="ko-KR" dirty="0" smtClean="0"/>
          </a:p>
          <a:p>
            <a:endParaRPr lang="en-US" altLang="ko-KR" dirty="0" smtClean="0"/>
          </a:p>
          <a:p>
            <a:endParaRPr lang="en-US" altLang="ko-KR" dirty="0" smtClean="0"/>
          </a:p>
          <a:p>
            <a:r>
              <a:rPr lang="en-US" altLang="ko-KR" dirty="0" smtClean="0"/>
              <a:t>(</a:t>
            </a:r>
            <a:r>
              <a:rPr lang="ko-KR" altLang="en-US" dirty="0" smtClean="0"/>
              <a:t>참고</a:t>
            </a:r>
            <a:r>
              <a:rPr lang="en-US" altLang="ko-KR" dirty="0" smtClean="0"/>
              <a:t>) </a:t>
            </a:r>
          </a:p>
          <a:p>
            <a:endParaRPr lang="en-US" altLang="ko-KR" dirty="0" smtClean="0"/>
          </a:p>
          <a:p>
            <a:r>
              <a:rPr lang="ko-KR" altLang="en-US" dirty="0" smtClean="0"/>
              <a:t>데이터를 확인해보니 자료마다 집계 기준이나 시간 단위가 서로 달랐습니다</a:t>
            </a:r>
            <a:r>
              <a:rPr lang="en-US" altLang="ko-KR" dirty="0" smtClean="0"/>
              <a:t>.</a:t>
            </a:r>
            <a:r>
              <a:rPr lang="en-US" altLang="ko-KR" baseline="0" dirty="0" smtClean="0"/>
              <a:t> </a:t>
            </a:r>
            <a:r>
              <a:rPr lang="ko-KR" altLang="en-US" dirty="0" smtClean="0"/>
              <a:t>그래서 같은 기준으로 비교하기 어려운 데이터는 학습에서 제외했습니다</a:t>
            </a:r>
            <a:r>
              <a:rPr lang="en-US" altLang="ko-KR" dirty="0" smtClean="0"/>
              <a:t>.</a:t>
            </a:r>
          </a:p>
          <a:p>
            <a:r>
              <a:rPr lang="ko-KR" altLang="en-US" dirty="0" smtClean="0"/>
              <a:t>예를 들어 실시간 병상 정보는 특정 시점의 상태를 보여주기 때문에 장기간의 구급 수요 예측에는 사용하지 않고</a:t>
            </a:r>
            <a:r>
              <a:rPr lang="en-US" altLang="ko-KR" dirty="0" smtClean="0"/>
              <a:t>, </a:t>
            </a:r>
            <a:r>
              <a:rPr lang="ko-KR" altLang="en-US" b="1" dirty="0" smtClean="0"/>
              <a:t>웹 서비스에서 현재 병상 상태를 보여주는 용도</a:t>
            </a:r>
            <a:r>
              <a:rPr lang="ko-KR" altLang="en-US" dirty="0" smtClean="0"/>
              <a:t>로 활용했습니다</a:t>
            </a:r>
            <a:r>
              <a:rPr lang="en-US" altLang="ko-KR" dirty="0" smtClean="0"/>
              <a:t>.</a:t>
            </a:r>
            <a:r>
              <a:rPr lang="en-US" altLang="ko-KR" baseline="0" dirty="0" smtClean="0"/>
              <a:t> </a:t>
            </a:r>
            <a:endParaRPr lang="en-US" altLang="ko-KR" dirty="0" smtClean="0"/>
          </a:p>
          <a:p>
            <a:endParaRPr lang="en-US" altLang="ko-KR" dirty="0" smtClean="0"/>
          </a:p>
          <a:p>
            <a:endParaRPr lang="en-US" altLang="ko-KR" dirty="0" smtClean="0"/>
          </a:p>
          <a:p>
            <a:endParaRPr lang="en-US" altLang="ko-KR"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ko-KR" dirty="0" smtClean="0"/>
          </a:p>
          <a:p>
            <a:r>
              <a:rPr lang="ko-KR" altLang="en-US" dirty="0" smtClean="0"/>
              <a:t>구급 이송 데이터는 공공 </a:t>
            </a:r>
            <a:r>
              <a:rPr lang="en-US" altLang="ko-KR" dirty="0" smtClean="0"/>
              <a:t>API</a:t>
            </a:r>
            <a:r>
              <a:rPr lang="ko-KR" altLang="en-US" dirty="0" smtClean="0"/>
              <a:t>를 이용해 수집했습니다</a:t>
            </a:r>
            <a:r>
              <a:rPr lang="en-US" altLang="ko-KR" dirty="0" smtClean="0"/>
              <a:t>.</a:t>
            </a:r>
            <a:r>
              <a:rPr lang="en-US" altLang="ko-KR" baseline="0" dirty="0" smtClean="0"/>
              <a:t> </a:t>
            </a:r>
            <a:r>
              <a:rPr lang="ko-KR" altLang="en-US" dirty="0" smtClean="0"/>
              <a:t>수집 과정에서는 소방서 기준으로 제공되는 데이터를 자치구 기준으로 연결했고</a:t>
            </a:r>
            <a:r>
              <a:rPr lang="en-US" altLang="ko-KR" dirty="0" smtClean="0"/>
              <a:t>, API </a:t>
            </a:r>
            <a:r>
              <a:rPr lang="ko-KR" altLang="en-US" dirty="0" smtClean="0"/>
              <a:t>오류나 누락에 대응할 수 있도록 </a:t>
            </a:r>
            <a:r>
              <a:rPr lang="ko-KR" altLang="en-US" b="1" dirty="0" smtClean="0"/>
              <a:t>빠진 데이터만 다시 수집하는 방식으로 자동화</a:t>
            </a:r>
            <a:r>
              <a:rPr lang="ko-KR" altLang="en-US" dirty="0" smtClean="0"/>
              <a:t>했습니다</a:t>
            </a:r>
            <a:r>
              <a:rPr lang="en-US" altLang="ko-KR" dirty="0" smtClean="0"/>
              <a:t>.</a:t>
            </a:r>
            <a:r>
              <a:rPr lang="en-US" altLang="ko-KR" baseline="0" dirty="0" smtClean="0"/>
              <a:t> </a:t>
            </a:r>
            <a:r>
              <a:rPr lang="ko-KR" altLang="en-US" dirty="0" smtClean="0"/>
              <a:t>이를 통해 반복적인 </a:t>
            </a:r>
            <a:r>
              <a:rPr lang="en-US" altLang="ko-KR" dirty="0" smtClean="0"/>
              <a:t>API </a:t>
            </a:r>
            <a:r>
              <a:rPr lang="ko-KR" altLang="en-US" dirty="0" smtClean="0"/>
              <a:t>호출을 줄이고 안정적으로 데이터를 확보했습니다</a:t>
            </a:r>
            <a:r>
              <a:rPr lang="en-US" altLang="ko-KR" dirty="0" smtClean="0"/>
              <a:t>.</a:t>
            </a:r>
          </a:p>
          <a:p>
            <a:endParaRPr lang="en-US" altLang="ko-KR" dirty="0" smtClean="0"/>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dirty="0" smtClean="0"/>
              <a:t>(</a:t>
            </a:r>
            <a:r>
              <a:rPr lang="ko-KR" altLang="en-US" dirty="0" smtClean="0"/>
              <a:t>참고</a:t>
            </a:r>
            <a:r>
              <a:rPr lang="en-US" altLang="ko-KR" dirty="0" smtClean="0"/>
              <a:t>) </a:t>
            </a:r>
            <a:r>
              <a:rPr lang="ko-KR" altLang="en-US" dirty="0" smtClean="0"/>
              <a:t>총 </a:t>
            </a:r>
            <a:r>
              <a:rPr lang="en-US" altLang="ko-KR" dirty="0" smtClean="0"/>
              <a:t>2,634</a:t>
            </a:r>
            <a:r>
              <a:rPr lang="ko-KR" altLang="en-US" dirty="0" smtClean="0"/>
              <a:t>행을 확보</a:t>
            </a:r>
            <a:r>
              <a:rPr lang="en-US" altLang="ko-KR" dirty="0" smtClean="0"/>
              <a:t>. </a:t>
            </a:r>
            <a:r>
              <a:rPr lang="ko-KR" altLang="en-US" dirty="0" smtClean="0"/>
              <a:t>예상 </a:t>
            </a:r>
            <a:r>
              <a:rPr lang="en-US" altLang="ko-KR" dirty="0" smtClean="0"/>
              <a:t>2,700</a:t>
            </a:r>
            <a:r>
              <a:rPr lang="ko-KR" altLang="en-US" dirty="0" smtClean="0"/>
              <a:t>칸 중 </a:t>
            </a:r>
            <a:r>
              <a:rPr lang="en-US" altLang="ko-KR" dirty="0" smtClean="0"/>
              <a:t>66</a:t>
            </a:r>
            <a:r>
              <a:rPr lang="ko-KR" altLang="en-US" dirty="0" smtClean="0"/>
              <a:t>칸이 비는데</a:t>
            </a:r>
            <a:r>
              <a:rPr lang="en-US" altLang="ko-KR" dirty="0" smtClean="0"/>
              <a:t>, </a:t>
            </a:r>
            <a:r>
              <a:rPr lang="ko-KR" altLang="en-US" dirty="0" smtClean="0"/>
              <a:t>성동과 금천은 소방서가 생기기 전 기간이라 원래 데이터가 없는 구간</a:t>
            </a:r>
            <a:endParaRPr lang="en-US" altLang="ko-KR" dirty="0" smtClean="0"/>
          </a:p>
          <a:p>
            <a:endParaRPr lang="en-US" altLang="ko-KR" dirty="0" smtClean="0"/>
          </a:p>
          <a:p>
            <a:endParaRPr lang="en-US" altLang="ko-KR"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smtClean="0"/>
              <a:t>다음은 수집한 데이터를 모델에서 사용할 수 있도록 정리한 </a:t>
            </a:r>
            <a:r>
              <a:rPr lang="ko-KR" altLang="en-US" b="1" dirty="0" smtClean="0"/>
              <a:t>전처리 과정</a:t>
            </a:r>
            <a:r>
              <a:rPr lang="ko-KR" altLang="en-US" dirty="0" smtClean="0"/>
              <a:t>입니다</a:t>
            </a:r>
            <a:r>
              <a:rPr lang="en-US" altLang="ko-KR" dirty="0" smtClean="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err="1" smtClean="0"/>
              <a:t>전처리는</a:t>
            </a:r>
            <a:r>
              <a:rPr lang="ko-KR" altLang="en-US" dirty="0" smtClean="0"/>
              <a:t> 크게 </a:t>
            </a:r>
            <a:r>
              <a:rPr lang="ko-KR" altLang="en-US" b="1" dirty="0" smtClean="0"/>
              <a:t>원본 정리</a:t>
            </a:r>
            <a:r>
              <a:rPr lang="en-US" altLang="ko-KR" b="1" dirty="0" smtClean="0"/>
              <a:t>, </a:t>
            </a:r>
            <a:r>
              <a:rPr lang="ko-KR" altLang="en-US" b="1" dirty="0" smtClean="0"/>
              <a:t>형식 통일</a:t>
            </a:r>
            <a:r>
              <a:rPr lang="en-US" altLang="ko-KR" b="1" dirty="0" smtClean="0"/>
              <a:t>, </a:t>
            </a:r>
            <a:r>
              <a:rPr lang="ko-KR" altLang="en-US" b="1" dirty="0" smtClean="0"/>
              <a:t>사용할 수 없는 구간 제외</a:t>
            </a:r>
            <a:r>
              <a:rPr lang="en-US" altLang="ko-KR" b="1" dirty="0" smtClean="0"/>
              <a:t>, </a:t>
            </a:r>
            <a:r>
              <a:rPr lang="ko-KR" altLang="en-US" b="1" dirty="0" smtClean="0"/>
              <a:t>데이터 통합</a:t>
            </a:r>
            <a:r>
              <a:rPr lang="en-US" altLang="ko-KR" b="1" dirty="0" smtClean="0"/>
              <a:t>, </a:t>
            </a:r>
            <a:r>
              <a:rPr lang="ko-KR" altLang="en-US" b="1" dirty="0" smtClean="0"/>
              <a:t>입력 변수 선택</a:t>
            </a:r>
            <a:r>
              <a:rPr lang="ko-KR" altLang="en-US" dirty="0" smtClean="0"/>
              <a:t> 순서로 진행했습니다</a:t>
            </a:r>
            <a:r>
              <a:rPr lang="en-US" altLang="ko-KR" dirty="0" smtClean="0"/>
              <a:t>.</a:t>
            </a:r>
          </a:p>
          <a:p>
            <a:r>
              <a:rPr lang="ko-KR" altLang="en-US" dirty="0" smtClean="0"/>
              <a:t>이 과정을 통해 최종적으로 두 종류의 데이터를 만들었습니다</a:t>
            </a:r>
            <a:r>
              <a:rPr lang="en-US" altLang="ko-KR" dirty="0" smtClean="0"/>
              <a:t>.</a:t>
            </a:r>
          </a:p>
          <a:p>
            <a:r>
              <a:rPr lang="ko-KR" altLang="en-US" dirty="0" smtClean="0"/>
              <a:t>하나는 </a:t>
            </a:r>
            <a:r>
              <a:rPr lang="ko-KR" altLang="en-US" b="1" dirty="0" smtClean="0"/>
              <a:t>자치구별 월간 이송 건수를 예측하기 위한 데이터</a:t>
            </a:r>
            <a:r>
              <a:rPr lang="ko-KR" altLang="en-US" dirty="0" smtClean="0"/>
              <a:t>이고</a:t>
            </a:r>
            <a:r>
              <a:rPr lang="en-US" altLang="ko-KR" dirty="0" smtClean="0"/>
              <a:t>, </a:t>
            </a:r>
            <a:r>
              <a:rPr lang="ko-KR" altLang="en-US" dirty="0" smtClean="0"/>
              <a:t>다른 하나는 </a:t>
            </a:r>
            <a:r>
              <a:rPr lang="ko-KR" altLang="en-US" b="1" dirty="0" smtClean="0"/>
              <a:t>자치구별 일간 인구 밀집을 예측하기 위한 데이터</a:t>
            </a:r>
            <a:r>
              <a:rPr lang="ko-KR" altLang="en-US" dirty="0" smtClean="0"/>
              <a:t>입니다</a:t>
            </a:r>
            <a:r>
              <a:rPr lang="en-US" altLang="ko-KR" dirty="0" smtClean="0"/>
              <a:t>.</a:t>
            </a:r>
          </a:p>
          <a:p>
            <a:endParaRPr lang="en-US" altLang="ko-KR"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smtClean="0"/>
              <a:t>원본 자료는 파일마다 날짜나 지역 이름</a:t>
            </a:r>
            <a:r>
              <a:rPr lang="en-US" altLang="ko-KR" dirty="0" smtClean="0"/>
              <a:t>, </a:t>
            </a:r>
            <a:r>
              <a:rPr lang="ko-KR" altLang="en-US" dirty="0" smtClean="0"/>
              <a:t>데이터 형태가 달랐기 때문에 먼저 형식을 통일했습니다</a:t>
            </a:r>
            <a:r>
              <a:rPr lang="en-US" altLang="ko-KR" dirty="0" smtClean="0"/>
              <a:t>.</a:t>
            </a:r>
          </a:p>
          <a:p>
            <a:r>
              <a:rPr lang="ko-KR" altLang="en-US" dirty="0" smtClean="0"/>
              <a:t>그리고 관할구역 변경 등으로 같은 기준에서 비교하기 어려운 구간은 제외했습니다</a:t>
            </a:r>
            <a:r>
              <a:rPr lang="en-US" altLang="ko-KR" dirty="0" smtClean="0"/>
              <a:t>.</a:t>
            </a:r>
          </a:p>
          <a:p>
            <a:r>
              <a:rPr lang="ko-KR" altLang="en-US" dirty="0" smtClean="0"/>
              <a:t>특히 없는 값을 임의로 평균이나 특정 값으로 채우기보다는</a:t>
            </a:r>
            <a:r>
              <a:rPr lang="en-US" altLang="ko-KR" dirty="0" smtClean="0"/>
              <a:t>, </a:t>
            </a:r>
            <a:r>
              <a:rPr lang="ko-KR" altLang="en-US" b="1" dirty="0" smtClean="0"/>
              <a:t>실제 데이터가 존재하는 범위 안에서 학습하도록 처리했습니다</a:t>
            </a:r>
            <a:r>
              <a:rPr lang="en-US" altLang="ko-KR" b="1" dirty="0" smtClean="0"/>
              <a:t>.</a:t>
            </a:r>
            <a:endParaRPr lang="ko-KR" altLang="en-US" dirty="0" smtClean="0"/>
          </a:p>
          <a:p>
            <a:endParaRPr lang="en-US" altLang="ko-KR"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r>
              <a:rPr lang="ko-KR" altLang="en-US" dirty="0" err="1" smtClean="0"/>
              <a:t>전처리에서</a:t>
            </a:r>
            <a:r>
              <a:rPr lang="ko-KR" altLang="en-US" dirty="0" smtClean="0"/>
              <a:t> 가장 중요하게 생각한 원칙은 </a:t>
            </a:r>
            <a:r>
              <a:rPr lang="ko-KR" altLang="en-US" b="1" dirty="0" smtClean="0"/>
              <a:t>실제로 예측할 때 알 수 있는 정보만 사용하는 것</a:t>
            </a:r>
            <a:r>
              <a:rPr lang="ko-KR" altLang="en-US" dirty="0" smtClean="0"/>
              <a:t>이었습니다</a:t>
            </a:r>
            <a:r>
              <a:rPr lang="en-US" altLang="ko-KR" dirty="0" smtClean="0"/>
              <a:t>. </a:t>
            </a:r>
          </a:p>
          <a:p>
            <a:r>
              <a:rPr lang="ko-KR" altLang="en-US" dirty="0" smtClean="0"/>
              <a:t>이송 예측에는 지난달이나 작년 같은 시기의 정보를 사용하고</a:t>
            </a:r>
            <a:r>
              <a:rPr lang="en-US" altLang="ko-KR" dirty="0" smtClean="0"/>
              <a:t>, </a:t>
            </a:r>
          </a:p>
          <a:p>
            <a:r>
              <a:rPr lang="ko-KR" altLang="en-US" dirty="0" smtClean="0"/>
              <a:t>인구 예측에는 전날이나 일주일 전의 정보를 사용하는 방식으로 구성했습니다</a:t>
            </a:r>
            <a:r>
              <a:rPr lang="en-US" altLang="ko-KR" dirty="0" smtClean="0"/>
              <a:t>.</a:t>
            </a:r>
          </a:p>
          <a:p>
            <a:r>
              <a:rPr lang="ko-KR" altLang="en-US" dirty="0" smtClean="0"/>
              <a:t>이렇게 해서 실제 미래 예측 상황과 최대한 비슷한 학습 데이터를 만들었습니다</a:t>
            </a:r>
            <a:r>
              <a:rPr lang="en-US" altLang="ko-KR" dirty="0" smtClean="0"/>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b="1" dirty="0" err="1" smtClean="0"/>
              <a:t>결측치가</a:t>
            </a:r>
            <a:r>
              <a:rPr lang="ko-KR" altLang="en-US" b="1" dirty="0" smtClean="0"/>
              <a:t> 너무 많거나 예측 대상과 관계가 약한 변수</a:t>
            </a:r>
            <a:r>
              <a:rPr lang="en-US" altLang="ko-KR" b="1" dirty="0" smtClean="0"/>
              <a:t>, </a:t>
            </a:r>
            <a:r>
              <a:rPr lang="ko-KR" altLang="en-US" b="1" dirty="0" smtClean="0"/>
              <a:t>서로 비슷한 정보를 반복해서 가지고 있는 변수</a:t>
            </a:r>
            <a:r>
              <a:rPr lang="ko-KR" altLang="en-US" dirty="0" smtClean="0"/>
              <a:t>는 제외했습니다</a:t>
            </a:r>
            <a:r>
              <a:rPr lang="en-US" altLang="ko-KR" dirty="0" smtClean="0"/>
              <a:t>.</a:t>
            </a:r>
          </a:p>
          <a:p>
            <a:r>
              <a:rPr lang="ko-KR" altLang="en-US" dirty="0" smtClean="0"/>
              <a:t>이를 통해 필요한 정보만 남겨 모델이 불필요한 정보까지 학습하지 않도록 했습니다</a:t>
            </a:r>
            <a:r>
              <a:rPr lang="en-US" altLang="ko-KR" dirty="0" smtClean="0"/>
              <a:t>.</a:t>
            </a:r>
            <a:endParaRPr lang="en-US" altLang="ko-KR"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smtClean="0"/>
              <a:t>이렇게 정리된 데이터를 바탕으로 먼저 </a:t>
            </a:r>
            <a:r>
              <a:rPr lang="ko-KR" altLang="en-US" b="1" dirty="0" err="1" smtClean="0"/>
              <a:t>생활인구와</a:t>
            </a:r>
            <a:r>
              <a:rPr lang="ko-KR" altLang="en-US" b="1" dirty="0" smtClean="0"/>
              <a:t> 구급 수요의 관계</a:t>
            </a:r>
            <a:r>
              <a:rPr lang="ko-KR" altLang="en-US" dirty="0" smtClean="0"/>
              <a:t>를 분석했습니다</a:t>
            </a:r>
            <a:r>
              <a:rPr lang="en-US" altLang="ko-KR" dirty="0" smtClean="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smtClean="0"/>
              <a:t>분석 결과를 쉽게 정리해보면</a:t>
            </a:r>
            <a:r>
              <a:rPr lang="en-US" altLang="ko-KR" dirty="0" smtClean="0"/>
              <a:t>, </a:t>
            </a:r>
            <a:r>
              <a:rPr lang="ko-KR" altLang="en-US" b="1" dirty="0" smtClean="0"/>
              <a:t>사람이 많이 생활하는 지역일수록 전체적인 이송 수요도 많은 경향</a:t>
            </a:r>
            <a:r>
              <a:rPr lang="ko-KR" altLang="en-US" dirty="0" smtClean="0"/>
              <a:t>이 나타난 걸 알 수 있었습니다</a:t>
            </a:r>
            <a:r>
              <a:rPr lang="en-US" altLang="ko-KR" dirty="0" smtClean="0"/>
              <a:t>.</a:t>
            </a:r>
          </a:p>
          <a:p>
            <a:r>
              <a:rPr lang="ko-KR" altLang="en-US" dirty="0" smtClean="0"/>
              <a:t>반면 같은 자치구 안에서 </a:t>
            </a:r>
            <a:r>
              <a:rPr lang="ko-KR" altLang="en-US" dirty="0" err="1" smtClean="0"/>
              <a:t>생활인구가</a:t>
            </a:r>
            <a:r>
              <a:rPr lang="ko-KR" altLang="en-US" dirty="0" smtClean="0"/>
              <a:t> 매달 조금씩 변하는 것이 이송 건수의 변화와 직접적으로 강하게 연결되지는 않았습니다</a:t>
            </a:r>
            <a:r>
              <a:rPr lang="en-US" altLang="ko-KR" dirty="0" smtClean="0"/>
              <a:t>.</a:t>
            </a:r>
          </a:p>
          <a:p>
            <a:r>
              <a:rPr lang="ko-KR" altLang="en-US" dirty="0" smtClean="0"/>
              <a:t>따라서 </a:t>
            </a:r>
            <a:r>
              <a:rPr lang="ko-KR" altLang="en-US" dirty="0" err="1" smtClean="0"/>
              <a:t>생활인구는</a:t>
            </a:r>
            <a:r>
              <a:rPr lang="ko-KR" altLang="en-US" dirty="0" smtClean="0"/>
              <a:t> </a:t>
            </a:r>
            <a:r>
              <a:rPr lang="ko-KR" altLang="en-US" b="1" dirty="0" smtClean="0"/>
              <a:t>어느 지역의 기본적인 구급 수요가 큰지를 설명하는 데는 유용하지만</a:t>
            </a:r>
            <a:r>
              <a:rPr lang="en-US" altLang="ko-KR" dirty="0" smtClean="0"/>
              <a:t>, </a:t>
            </a:r>
            <a:r>
              <a:rPr lang="ko-KR" altLang="en-US" dirty="0" smtClean="0"/>
              <a:t>다음 달 수요 변화를 예측할 때는 과거 이송 기록이나 계절적인 특징도 함께 고려해야 한다고 판단했습니다</a:t>
            </a:r>
            <a:r>
              <a:rPr lang="en-US" altLang="ko-KR" dirty="0" smtClean="0"/>
              <a:t>.</a:t>
            </a:r>
            <a:endParaRPr lang="en-US" altLang="ko-KR"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ko-KR" altLang="en-US" dirty="0" smtClean="0"/>
              <a:t>이 그래프는 앞에서 설명한 관계를 시각적으로 확인한 결과입니다</a:t>
            </a:r>
            <a:r>
              <a:rPr lang="en-US" altLang="ko-KR" dirty="0" smtClean="0"/>
              <a:t>.</a:t>
            </a:r>
          </a:p>
          <a:p>
            <a:r>
              <a:rPr lang="ko-KR" altLang="en-US" dirty="0" smtClean="0"/>
              <a:t>자치구별로 보면 </a:t>
            </a:r>
            <a:r>
              <a:rPr lang="ko-KR" altLang="en-US" dirty="0" err="1" smtClean="0"/>
              <a:t>생활인구가</a:t>
            </a:r>
            <a:r>
              <a:rPr lang="ko-KR" altLang="en-US" dirty="0" smtClean="0"/>
              <a:t> 많은 지역에서 평균적인 이송 수요도 증가하는 흐름을 확인할 수 있습니다</a:t>
            </a:r>
            <a:r>
              <a:rPr lang="en-US" altLang="ko-KR" dirty="0" smtClean="0"/>
              <a:t>.</a:t>
            </a:r>
          </a:p>
          <a:p>
            <a:r>
              <a:rPr lang="ko-KR" altLang="en-US" dirty="0" smtClean="0"/>
              <a:t>따라서 이후에는 단순한 월별 인구 변화보다는 </a:t>
            </a:r>
            <a:r>
              <a:rPr lang="ko-KR" altLang="en-US" b="1" dirty="0" smtClean="0"/>
              <a:t>지역 자체가 가지고 있는 인구 규모와 특성</a:t>
            </a:r>
            <a:r>
              <a:rPr lang="ko-KR" altLang="en-US" dirty="0" smtClean="0"/>
              <a:t>도 함께 살펴봤습니다</a:t>
            </a:r>
            <a:r>
              <a:rPr lang="en-US" altLang="ko-KR" dirty="0" smtClean="0"/>
              <a:t>.</a:t>
            </a:r>
          </a:p>
          <a:p>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smtClean="0"/>
              <a:t>자치구마다 </a:t>
            </a:r>
            <a:r>
              <a:rPr lang="ko-KR" altLang="en-US" dirty="0" err="1" smtClean="0"/>
              <a:t>생활인구의</a:t>
            </a:r>
            <a:r>
              <a:rPr lang="ko-KR" altLang="en-US" dirty="0" smtClean="0"/>
              <a:t> 특성이 다르기 때문에 여러 인구 지표를 이용해 지역을 유형별로 </a:t>
            </a:r>
            <a:r>
              <a:rPr lang="ko-KR" altLang="en-US" dirty="0" err="1" smtClean="0"/>
              <a:t>나누어봤습니다</a:t>
            </a:r>
            <a:r>
              <a:rPr lang="en-US" altLang="ko-KR" dirty="0" smtClean="0"/>
              <a:t>.</a:t>
            </a:r>
          </a:p>
          <a:p>
            <a:r>
              <a:rPr lang="ko-KR" altLang="en-US" dirty="0" smtClean="0"/>
              <a:t>그 결과 인구 규모가 크다고 해서 </a:t>
            </a:r>
            <a:r>
              <a:rPr lang="ko-KR" altLang="en-US" b="1" dirty="0" smtClean="0"/>
              <a:t>인구 대비 구급 수요까지 반드시 높은 것은 아니었습니다</a:t>
            </a:r>
            <a:r>
              <a:rPr lang="en-US" altLang="ko-KR" b="1" dirty="0" smtClean="0"/>
              <a:t>.</a:t>
            </a:r>
            <a:endParaRPr lang="ko-KR" altLang="en-US" dirty="0" smtClean="0"/>
          </a:p>
          <a:p>
            <a:r>
              <a:rPr lang="ko-KR" altLang="en-US" dirty="0" smtClean="0"/>
              <a:t>즉 구급 수요를 판단할 때는 단순히 사람이 많은 지역만 보는 것이 아니라 </a:t>
            </a:r>
            <a:r>
              <a:rPr lang="ko-KR" altLang="en-US" b="1" dirty="0" smtClean="0"/>
              <a:t>각 지역이 가지고 있는 특성도 함께 고려할 필요가 있다</a:t>
            </a:r>
            <a:r>
              <a:rPr lang="ko-KR" altLang="en-US" dirty="0" smtClean="0"/>
              <a:t>는 것을 확인했습니다</a:t>
            </a:r>
            <a:r>
              <a:rPr lang="en-US" altLang="ko-KR" dirty="0" smtClean="0"/>
              <a:t>.</a:t>
            </a:r>
            <a:endParaRPr lang="en-US" altLang="ko-KR"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smtClean="0"/>
              <a:t>이송 건수를 월별로 비교했을 때도 일정한 </a:t>
            </a:r>
            <a:r>
              <a:rPr lang="ko-KR" altLang="en-US" b="1" dirty="0" smtClean="0"/>
              <a:t>계절적 패턴</a:t>
            </a:r>
            <a:r>
              <a:rPr lang="ko-KR" altLang="en-US" dirty="0" smtClean="0"/>
              <a:t>이 나타났습니다</a:t>
            </a:r>
            <a:r>
              <a:rPr lang="en-US" altLang="ko-KR" dirty="0" smtClean="0"/>
              <a:t>.</a:t>
            </a:r>
          </a:p>
          <a:p>
            <a:r>
              <a:rPr lang="ko-KR" altLang="en-US" dirty="0" smtClean="0"/>
              <a:t>특정 시기에 수요가 반복적으로 증가하거나 감소하는 흐름이 있었기 때문에</a:t>
            </a:r>
            <a:r>
              <a:rPr lang="en-US" altLang="ko-KR" dirty="0" smtClean="0"/>
              <a:t>, </a:t>
            </a:r>
            <a:r>
              <a:rPr lang="ko-KR" altLang="en-US" dirty="0" smtClean="0"/>
              <a:t>미래를 예측할 때도 이러한 계절성을 고려할 필요가 있다고 판단했습니다</a:t>
            </a:r>
            <a:r>
              <a:rPr lang="en-US" altLang="ko-KR" dirty="0" smtClean="0"/>
              <a:t>.</a:t>
            </a:r>
          </a:p>
          <a:p>
            <a:r>
              <a:rPr lang="ko-KR" altLang="en-US" dirty="0" smtClean="0"/>
              <a:t>그래서 이후 모델에서는 월 정보나 과거 같은 시기의 이송 기록 등을 함께 활용했습니다</a:t>
            </a:r>
            <a:r>
              <a:rPr lang="en-US" altLang="ko-KR" dirty="0" smtClean="0"/>
              <a:t>.</a:t>
            </a:r>
            <a:endParaRPr lang="en-US" altLang="ko-KR"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smtClean="0"/>
              <a:t>다음은 이러한 분석 결과를 이용한 </a:t>
            </a:r>
            <a:r>
              <a:rPr lang="ko-KR" altLang="en-US" b="1" dirty="0" smtClean="0"/>
              <a:t>예측 모델 개발 과정</a:t>
            </a:r>
            <a:r>
              <a:rPr lang="ko-KR" altLang="en-US" dirty="0" smtClean="0"/>
              <a:t>입니다</a:t>
            </a:r>
            <a:r>
              <a:rPr lang="en-US" altLang="ko-KR" dirty="0" smtClean="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smtClean="0"/>
              <a:t>모델을 학습할 때는 </a:t>
            </a:r>
            <a:r>
              <a:rPr lang="ko-KR" altLang="en-US" b="1" dirty="0" smtClean="0"/>
              <a:t>시간 순서대로 학습</a:t>
            </a:r>
            <a:r>
              <a:rPr lang="en-US" altLang="ko-KR" b="1" dirty="0" smtClean="0"/>
              <a:t>, </a:t>
            </a:r>
            <a:r>
              <a:rPr lang="ko-KR" altLang="en-US" b="1" dirty="0" smtClean="0"/>
              <a:t>검증</a:t>
            </a:r>
            <a:r>
              <a:rPr lang="en-US" altLang="ko-KR" b="1" dirty="0" smtClean="0"/>
              <a:t>, </a:t>
            </a:r>
            <a:r>
              <a:rPr lang="ko-KR" altLang="en-US" b="1" dirty="0" smtClean="0"/>
              <a:t>평가 데이터로 나눴습니다</a:t>
            </a:r>
            <a:r>
              <a:rPr lang="en-US" altLang="ko-KR" b="1" dirty="0" smtClean="0"/>
              <a:t>.</a:t>
            </a:r>
            <a:endParaRPr lang="ko-KR" altLang="en-US" dirty="0" smtClean="0"/>
          </a:p>
          <a:p>
            <a:r>
              <a:rPr lang="ko-KR" altLang="en-US" dirty="0" smtClean="0"/>
              <a:t>먼저 과거 데이터로 모델을 학습하고</a:t>
            </a:r>
            <a:r>
              <a:rPr lang="en-US" altLang="ko-KR" dirty="0" smtClean="0"/>
              <a:t>, </a:t>
            </a:r>
            <a:r>
              <a:rPr lang="ko-KR" altLang="en-US" dirty="0" smtClean="0"/>
              <a:t>그 이후 데이터로 어떤 모델과 설정이 좋은지를 선택했습니다</a:t>
            </a:r>
            <a:r>
              <a:rPr lang="en-US" altLang="ko-KR" dirty="0" smtClean="0"/>
              <a:t>.</a:t>
            </a:r>
          </a:p>
          <a:p>
            <a:r>
              <a:rPr lang="ko-KR" altLang="en-US" dirty="0" smtClean="0"/>
              <a:t>그리고 가장 최근 데이터는 모든 선택이 끝난 후 </a:t>
            </a:r>
            <a:r>
              <a:rPr lang="ko-KR" altLang="en-US" b="1" dirty="0" smtClean="0"/>
              <a:t>최종 성능을 확인하는 용도</a:t>
            </a:r>
            <a:r>
              <a:rPr lang="ko-KR" altLang="en-US" dirty="0" smtClean="0"/>
              <a:t>로만 사용했습니다</a:t>
            </a:r>
            <a:r>
              <a:rPr lang="en-US" altLang="ko-KR" dirty="0" smtClean="0"/>
              <a:t>.</a:t>
            </a:r>
          </a:p>
          <a:p>
            <a:r>
              <a:rPr lang="ko-KR" altLang="en-US" dirty="0" smtClean="0"/>
              <a:t>실제 미래를 예측하는 상황과 최대한 비슷한 환경에서 모델을 평가하기 위한 방법입니다</a:t>
            </a:r>
            <a:r>
              <a:rPr lang="en-US" altLang="ko-KR" dirty="0" smtClean="0"/>
              <a:t>.</a:t>
            </a:r>
            <a:endParaRPr lang="en-US" altLang="ko-KR"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smtClean="0"/>
              <a:t>앞의 분석에서는 </a:t>
            </a:r>
            <a:r>
              <a:rPr lang="ko-KR" altLang="en-US" dirty="0" err="1" smtClean="0"/>
              <a:t>생활인구와</a:t>
            </a:r>
            <a:r>
              <a:rPr lang="ko-KR" altLang="en-US" dirty="0" smtClean="0"/>
              <a:t> 이송 건수 사이의 관계가 확인됐습니다</a:t>
            </a:r>
            <a:r>
              <a:rPr lang="en-US" altLang="ko-KR" dirty="0" smtClean="0"/>
              <a:t>.</a:t>
            </a:r>
          </a:p>
          <a:p>
            <a:r>
              <a:rPr lang="ko-KR" altLang="en-US" dirty="0" smtClean="0"/>
              <a:t>그런데 실제 모델에 적용해보니 </a:t>
            </a:r>
            <a:r>
              <a:rPr lang="ko-KR" altLang="en-US" b="1" dirty="0" smtClean="0"/>
              <a:t>상관관계가 높다고 해서 반드시 예측 성능이 좋아지는 것은 아니었습니다</a:t>
            </a:r>
            <a:r>
              <a:rPr lang="en-US" altLang="ko-KR" b="1" dirty="0" smtClean="0"/>
              <a:t>.</a:t>
            </a:r>
            <a:endParaRPr lang="ko-KR" altLang="en-US" dirty="0" smtClean="0"/>
          </a:p>
          <a:p>
            <a:r>
              <a:rPr lang="ko-KR" altLang="en-US" dirty="0" smtClean="0"/>
              <a:t>특히 과거 이송 기록이 이미 포함된 경우에는 </a:t>
            </a:r>
            <a:r>
              <a:rPr lang="ko-KR" altLang="en-US" dirty="0" err="1" smtClean="0"/>
              <a:t>생활인구</a:t>
            </a:r>
            <a:r>
              <a:rPr lang="ko-KR" altLang="en-US" dirty="0" smtClean="0"/>
              <a:t> 변수를 더 추가해도 성능 향상이 크지 않았습니다</a:t>
            </a:r>
            <a:r>
              <a:rPr lang="en-US" altLang="ko-KR" dirty="0" smtClean="0"/>
              <a:t>.</a:t>
            </a:r>
          </a:p>
          <a:p>
            <a:r>
              <a:rPr lang="ko-KR" altLang="en-US" dirty="0" smtClean="0"/>
              <a:t>그래서 분석 결과만 보고 변수를 결정하지 않고</a:t>
            </a:r>
            <a:r>
              <a:rPr lang="en-US" altLang="ko-KR" dirty="0" smtClean="0"/>
              <a:t>, </a:t>
            </a:r>
            <a:r>
              <a:rPr lang="ko-KR" altLang="en-US" b="1" dirty="0" smtClean="0"/>
              <a:t>실제 예측 성능을 비교해서 사용할 변수를 결정했습니다</a:t>
            </a:r>
            <a:r>
              <a:rPr lang="en-US" altLang="ko-KR" b="1" dirty="0" smtClean="0"/>
              <a:t>.</a:t>
            </a:r>
            <a:endParaRPr lang="ko-KR" alt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smtClean="0"/>
              <a:t>반대로 월의 길이나 주말</a:t>
            </a:r>
            <a:r>
              <a:rPr lang="en-US" altLang="ko-KR" dirty="0" smtClean="0"/>
              <a:t>, </a:t>
            </a:r>
            <a:r>
              <a:rPr lang="ko-KR" altLang="en-US" dirty="0" smtClean="0"/>
              <a:t>공휴일과 같은 </a:t>
            </a:r>
            <a:r>
              <a:rPr lang="ko-KR" altLang="en-US" b="1" dirty="0" smtClean="0"/>
              <a:t>달력 정보는 예측 성능 개선에 도움이 됐습니다</a:t>
            </a:r>
            <a:r>
              <a:rPr lang="en-US" altLang="ko-KR" b="1" dirty="0" smtClean="0"/>
              <a:t>.</a:t>
            </a:r>
            <a:endParaRPr lang="ko-KR" altLang="en-US" dirty="0" smtClean="0"/>
          </a:p>
          <a:p>
            <a:r>
              <a:rPr lang="ko-KR" altLang="en-US" dirty="0" smtClean="0"/>
              <a:t>구급 수요에는 </a:t>
            </a:r>
            <a:r>
              <a:rPr lang="ko-KR" altLang="en-US" dirty="0" err="1" smtClean="0"/>
              <a:t>인구뿐</a:t>
            </a:r>
            <a:r>
              <a:rPr lang="ko-KR" altLang="en-US" dirty="0" smtClean="0"/>
              <a:t> 아니라 시기적인 특성도 영향을 준다는 것을 모델 실험을 통해 확인할 수 있었습니다</a:t>
            </a:r>
            <a:r>
              <a:rPr lang="en-US" altLang="ko-KR" dirty="0" smtClean="0"/>
              <a:t>.</a:t>
            </a:r>
            <a:endParaRPr lang="en-US" altLang="ko-KR"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smtClean="0"/>
              <a:t>이렇게 최종 입력 정보를 결정한 뒤 여러 모델을 같은 조건에서 비교했습니다</a:t>
            </a:r>
            <a:r>
              <a:rPr lang="en-US" altLang="ko-KR" dirty="0" smtClean="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ko-KR" dirty="0" smtClean="0"/>
          </a:p>
          <a:p>
            <a:r>
              <a:rPr lang="ko-KR" altLang="en-US" dirty="0" smtClean="0"/>
              <a:t>이송 건수 예측에는 선형 모델부터 트리 기반 모델</a:t>
            </a:r>
            <a:r>
              <a:rPr lang="en-US" altLang="ko-KR" dirty="0" smtClean="0"/>
              <a:t>, </a:t>
            </a:r>
            <a:r>
              <a:rPr lang="ko-KR" altLang="en-US" dirty="0" err="1" smtClean="0"/>
              <a:t>딥러닝</a:t>
            </a:r>
            <a:r>
              <a:rPr lang="ko-KR" altLang="en-US" dirty="0" smtClean="0"/>
              <a:t> 모델까지 여러 방법을 비교했습니다</a:t>
            </a:r>
            <a:r>
              <a:rPr lang="en-US" altLang="ko-KR" dirty="0" smtClean="0"/>
              <a:t>.</a:t>
            </a:r>
          </a:p>
          <a:p>
            <a:r>
              <a:rPr lang="ko-KR" altLang="en-US" dirty="0" smtClean="0"/>
              <a:t>그리고 단일 </a:t>
            </a:r>
            <a:r>
              <a:rPr lang="ko-KR" altLang="en-US" dirty="0" err="1" smtClean="0"/>
              <a:t>모델뿐</a:t>
            </a:r>
            <a:r>
              <a:rPr lang="ko-KR" altLang="en-US" dirty="0" smtClean="0"/>
              <a:t> 아니라 서로 다른 모델의 장점을 결합하는 방법도 실험했습니다</a:t>
            </a:r>
            <a:r>
              <a:rPr lang="en-US" altLang="ko-KR" dirty="0" smtClean="0"/>
              <a:t>.</a:t>
            </a:r>
          </a:p>
          <a:p>
            <a:r>
              <a:rPr lang="ko-KR" altLang="en-US" dirty="0" smtClean="0"/>
              <a:t>그 결과</a:t>
            </a:r>
            <a:r>
              <a:rPr lang="en-US" altLang="ko-KR" dirty="0" smtClean="0"/>
              <a:t>, </a:t>
            </a:r>
            <a:r>
              <a:rPr lang="ko-KR" altLang="en-US" dirty="0" smtClean="0"/>
              <a:t>전체적인 변화 경향을 안정적으로 반영하는 리지 와 복잡한 패턴을 학습하는 </a:t>
            </a:r>
            <a:r>
              <a:rPr lang="ko-KR" altLang="en-US" dirty="0" err="1" smtClean="0"/>
              <a:t>그레디언트</a:t>
            </a:r>
            <a:r>
              <a:rPr lang="en-US" altLang="ko-KR" dirty="0" smtClean="0"/>
              <a:t> </a:t>
            </a:r>
            <a:r>
              <a:rPr lang="ko-KR" altLang="en-US" dirty="0" err="1" smtClean="0"/>
              <a:t>부스팅</a:t>
            </a:r>
            <a:r>
              <a:rPr lang="ko-KR" altLang="en-US" dirty="0" smtClean="0"/>
              <a:t> 을 결합했을 때 서로의 단점을 보완할 수 있었고</a:t>
            </a:r>
            <a:r>
              <a:rPr lang="en-US" altLang="ko-KR" dirty="0" smtClean="0"/>
              <a:t>, </a:t>
            </a:r>
            <a:r>
              <a:rPr lang="ko-KR" altLang="en-US" dirty="0" err="1" smtClean="0"/>
              <a:t>실제값과</a:t>
            </a:r>
            <a:r>
              <a:rPr lang="ko-KR" altLang="en-US" dirty="0" smtClean="0"/>
              <a:t> </a:t>
            </a:r>
            <a:r>
              <a:rPr lang="ko-KR" altLang="en-US" dirty="0" err="1" smtClean="0"/>
              <a:t>예측값의</a:t>
            </a:r>
            <a:r>
              <a:rPr lang="ko-KR" altLang="en-US" dirty="0" smtClean="0"/>
              <a:t> 차이도 가장 안정적으로 나타났습니다</a:t>
            </a:r>
            <a:r>
              <a:rPr lang="en-US" altLang="ko-KR" dirty="0" smtClean="0"/>
              <a:t>.</a:t>
            </a:r>
          </a:p>
          <a:p>
            <a:r>
              <a:rPr lang="ko-KR" altLang="en-US" dirty="0" smtClean="0"/>
              <a:t>따라서 </a:t>
            </a:r>
            <a:r>
              <a:rPr lang="ko-KR" altLang="en-US" dirty="0" err="1" smtClean="0"/>
              <a:t>그레디언트</a:t>
            </a:r>
            <a:r>
              <a:rPr lang="en-US" altLang="ko-KR" dirty="0" smtClean="0"/>
              <a:t> </a:t>
            </a:r>
            <a:r>
              <a:rPr lang="ko-KR" altLang="en-US" dirty="0" err="1" smtClean="0"/>
              <a:t>부스팅</a:t>
            </a:r>
            <a:r>
              <a:rPr lang="ko-KR" altLang="en-US" dirty="0" smtClean="0"/>
              <a:t> 과 리지의 결과를 앙상블 모델을 최종 모델로 선정했습니다</a:t>
            </a:r>
            <a:r>
              <a:rPr lang="en-US" altLang="ko-KR" dirty="0" smtClean="0"/>
              <a:t>.</a:t>
            </a:r>
          </a:p>
          <a:p>
            <a:endParaRPr lang="en-US" altLang="ko-KR" dirty="0" smtClean="0"/>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dirty="0" smtClean="0"/>
              <a:t>(</a:t>
            </a:r>
            <a:r>
              <a:rPr lang="ko-KR" altLang="en-US" dirty="0" smtClean="0"/>
              <a:t>참고</a:t>
            </a:r>
            <a:r>
              <a:rPr lang="en-US" altLang="ko-KR" dirty="0" smtClean="0"/>
              <a:t>)</a:t>
            </a: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dirty="0" smtClean="0"/>
              <a:t>＇</a:t>
            </a:r>
            <a:r>
              <a:rPr lang="ko-KR" altLang="en-US" dirty="0" smtClean="0"/>
              <a:t>기준선 </a:t>
            </a:r>
            <a:r>
              <a:rPr lang="en-US" altLang="ko-KR" dirty="0" smtClean="0"/>
              <a:t>: </a:t>
            </a:r>
            <a:r>
              <a:rPr lang="ko-KR" altLang="en-US" dirty="0" smtClean="0"/>
              <a:t>마지막 달 유지 </a:t>
            </a:r>
            <a:r>
              <a:rPr lang="en-US" altLang="ko-KR" dirty="0" smtClean="0"/>
              <a:t>; </a:t>
            </a:r>
            <a:r>
              <a:rPr lang="ko-KR" altLang="ko-KR" sz="1200" b="0" i="0" kern="1200" dirty="0" smtClean="0">
                <a:solidFill>
                  <a:schemeClr val="tx1"/>
                </a:solidFill>
                <a:effectLst/>
                <a:latin typeface="+mn-lt"/>
                <a:ea typeface="+mn-ea"/>
                <a:cs typeface="+mn-cs"/>
              </a:rPr>
              <a:t>이번 달 = 지난달 값 (6개월 예측이면 예측 시작 전 마지막 달 값을 6개월 내내 유지)</a:t>
            </a:r>
            <a:r>
              <a:rPr lang="en-US" altLang="ko-KR" sz="1200" b="0" i="0" kern="1200" dirty="0" smtClean="0">
                <a:solidFill>
                  <a:schemeClr val="tx1"/>
                </a:solidFill>
                <a:effectLst/>
                <a:latin typeface="+mn-lt"/>
                <a:ea typeface="+mn-ea"/>
                <a:cs typeface="+mn-cs"/>
              </a:rPr>
              <a:t> ‘</a:t>
            </a:r>
            <a:endParaRPr lang="en-US" altLang="ko-KR" dirty="0" smtClean="0"/>
          </a:p>
          <a:p>
            <a:endParaRPr lang="en-US" altLang="ko-KR" dirty="0" smtClean="0"/>
          </a:p>
          <a:p>
            <a:endParaRPr lang="en-US" altLang="ko-KR"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ko-KR" altLang="en-US" dirty="0" smtClean="0"/>
              <a:t>최종 모델의 </a:t>
            </a:r>
            <a:r>
              <a:rPr lang="ko-KR" altLang="en-US" dirty="0" err="1" smtClean="0"/>
              <a:t>예측값과</a:t>
            </a:r>
            <a:r>
              <a:rPr lang="ko-KR" altLang="en-US" dirty="0" smtClean="0"/>
              <a:t> </a:t>
            </a:r>
            <a:r>
              <a:rPr lang="ko-KR" altLang="en-US" dirty="0" err="1" smtClean="0"/>
              <a:t>실제값을</a:t>
            </a:r>
            <a:r>
              <a:rPr lang="ko-KR" altLang="en-US" dirty="0" smtClean="0"/>
              <a:t> 비교한 결과</a:t>
            </a:r>
            <a:r>
              <a:rPr lang="en-US" altLang="ko-KR" dirty="0" smtClean="0"/>
              <a:t>, </a:t>
            </a:r>
            <a:r>
              <a:rPr lang="ko-KR" altLang="en-US" dirty="0" smtClean="0"/>
              <a:t>대부분의 기간에서 전체적인 변화 흐름을 잘 따라가는 것을 확인했습니다</a:t>
            </a:r>
            <a:r>
              <a:rPr lang="en-US" altLang="ko-KR" dirty="0" smtClean="0"/>
              <a:t>.</a:t>
            </a:r>
            <a:r>
              <a:rPr lang="en-US" altLang="ko-KR" baseline="0" dirty="0" smtClean="0"/>
              <a:t> </a:t>
            </a:r>
            <a:r>
              <a:rPr lang="ko-KR" altLang="en-US" dirty="0" smtClean="0"/>
              <a:t>다만 수요가 갑자기 크게 증가하는 시점에서는 실제보다 낮게 예측하는 경우가 있었습니다</a:t>
            </a:r>
            <a:r>
              <a:rPr lang="en-US" altLang="ko-KR" dirty="0" smtClean="0"/>
              <a:t>.</a:t>
            </a:r>
          </a:p>
          <a:p>
            <a:r>
              <a:rPr lang="ko-KR" altLang="en-US" dirty="0" smtClean="0"/>
              <a:t>따라서 모델이 일반적인 수요 흐름을 예측하는 데는 유용하지만</a:t>
            </a:r>
            <a:r>
              <a:rPr lang="en-US" altLang="ko-KR" dirty="0" smtClean="0"/>
              <a:t>, </a:t>
            </a:r>
            <a:r>
              <a:rPr lang="ko-KR" altLang="en-US" b="1" dirty="0" smtClean="0"/>
              <a:t>갑작스러운 수요 급증까지 완벽하게 예측하는 데는 한계가 있다</a:t>
            </a:r>
            <a:r>
              <a:rPr lang="ko-KR" altLang="en-US" dirty="0" smtClean="0"/>
              <a:t>고 판단했습니다</a:t>
            </a:r>
            <a:r>
              <a:rPr lang="en-US" altLang="ko-KR" dirty="0" smtClean="0"/>
              <a:t>.</a:t>
            </a:r>
            <a:endParaRPr lang="en-US" altLang="ko-K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ko-KR" altLang="en-US" dirty="0" smtClean="0"/>
              <a:t>자치구별로도 성능 차이를 확인했습니다</a:t>
            </a:r>
            <a:r>
              <a:rPr lang="en-US" altLang="ko-KR" dirty="0" smtClean="0"/>
              <a:t>.</a:t>
            </a:r>
            <a:r>
              <a:rPr lang="en-US" altLang="ko-KR" baseline="0" dirty="0" smtClean="0"/>
              <a:t> </a:t>
            </a:r>
            <a:r>
              <a:rPr lang="ko-KR" altLang="en-US" dirty="0" smtClean="0"/>
              <a:t>지역에 따라 차이는 있었지만 전체적으로 일정한 예측 성능을 보였고</a:t>
            </a:r>
            <a:r>
              <a:rPr lang="en-US" altLang="ko-KR" dirty="0" smtClean="0"/>
              <a:t>, </a:t>
            </a:r>
            <a:r>
              <a:rPr lang="ko-KR" altLang="en-US" dirty="0" smtClean="0"/>
              <a:t>특정 지역에서는 상대적으로 오차가 커지는 경우도 확인했습니다</a:t>
            </a:r>
            <a:r>
              <a:rPr lang="en-US" altLang="ko-KR" dirty="0" smtClean="0"/>
              <a:t>.</a:t>
            </a:r>
            <a:r>
              <a:rPr lang="en-US" altLang="ko-KR" baseline="0" dirty="0" smtClean="0"/>
              <a:t> </a:t>
            </a:r>
            <a:r>
              <a:rPr lang="ko-KR" altLang="en-US" dirty="0" smtClean="0"/>
              <a:t>이 부분은 향후 지역별 특성을 추가로 반영해 개선할 수 있다고 판단했습니다</a:t>
            </a:r>
            <a:r>
              <a:rPr lang="en-US" altLang="ko-KR" dirty="0" smtClean="0"/>
              <a:t>.</a:t>
            </a:r>
          </a:p>
          <a:p>
            <a:endParaRPr lang="en-US" dirty="0" smtClean="0"/>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dirty="0" smtClean="0"/>
              <a:t>(</a:t>
            </a:r>
            <a:r>
              <a:rPr lang="ko-KR" altLang="en-US" dirty="0" smtClean="0"/>
              <a:t>참고</a:t>
            </a:r>
            <a:r>
              <a:rPr lang="en-US" altLang="ko-KR" dirty="0" smtClean="0"/>
              <a:t>)</a:t>
            </a:r>
          </a:p>
          <a:p>
            <a:pPr marL="0" marR="0" indent="0" algn="l" defTabSz="914400" rtl="0" eaLnBrk="1" fontAlgn="auto" latinLnBrk="1" hangingPunct="1">
              <a:lnSpc>
                <a:spcPct val="100000"/>
              </a:lnSpc>
              <a:spcBef>
                <a:spcPts val="0"/>
              </a:spcBef>
              <a:spcAft>
                <a:spcPts val="0"/>
              </a:spcAft>
              <a:buClrTx/>
              <a:buSzTx/>
              <a:buFontTx/>
              <a:buNone/>
              <a:tabLst/>
              <a:defRPr/>
            </a:pPr>
            <a:r>
              <a:rPr lang="ko-KR" altLang="en-US" dirty="0" smtClean="0"/>
              <a:t>지역별 특성 </a:t>
            </a:r>
            <a:r>
              <a:rPr lang="en-US" altLang="ko-KR" dirty="0" smtClean="0"/>
              <a:t>: </a:t>
            </a:r>
            <a:r>
              <a:rPr lang="ko-KR" altLang="en-US" dirty="0" smtClean="0"/>
              <a:t>페스티벌 등의 인구 밀집 이벤트</a:t>
            </a:r>
            <a:r>
              <a:rPr lang="en-US" altLang="ko-KR" dirty="0" smtClean="0"/>
              <a:t>, </a:t>
            </a:r>
            <a:r>
              <a:rPr lang="ko-KR" altLang="en-US" dirty="0" smtClean="0"/>
              <a:t>지역별 연령대 분포</a:t>
            </a:r>
            <a:r>
              <a:rPr lang="en-US" altLang="ko-KR" dirty="0" smtClean="0"/>
              <a:t>(</a:t>
            </a:r>
            <a:r>
              <a:rPr lang="ko-KR" altLang="en-US" dirty="0" smtClean="0"/>
              <a:t>구급 환자 비율의 </a:t>
            </a:r>
            <a:r>
              <a:rPr lang="en-US" altLang="ko-KR" dirty="0" smtClean="0"/>
              <a:t>50% </a:t>
            </a:r>
            <a:r>
              <a:rPr lang="ko-KR" altLang="en-US" dirty="0" smtClean="0"/>
              <a:t>이상이 </a:t>
            </a:r>
            <a:r>
              <a:rPr lang="en-US" altLang="ko-KR" dirty="0" smtClean="0"/>
              <a:t>60</a:t>
            </a:r>
            <a:r>
              <a:rPr lang="ko-KR" altLang="en-US" dirty="0" smtClean="0"/>
              <a:t>대 이상</a:t>
            </a:r>
            <a:r>
              <a:rPr lang="en-US" altLang="ko-KR" dirty="0" smtClean="0"/>
              <a:t>)</a:t>
            </a:r>
            <a:r>
              <a:rPr lang="ko-KR" altLang="en-US" dirty="0" smtClean="0"/>
              <a:t> </a:t>
            </a:r>
            <a:r>
              <a:rPr lang="en-US" altLang="ko-KR" dirty="0" smtClean="0"/>
              <a:t>, </a:t>
            </a:r>
            <a:r>
              <a:rPr lang="ko-KR" altLang="en-US" dirty="0" smtClean="0"/>
              <a:t>제조업</a:t>
            </a:r>
            <a:r>
              <a:rPr lang="en-US" altLang="ko-KR" dirty="0" smtClean="0"/>
              <a:t>/</a:t>
            </a:r>
            <a:r>
              <a:rPr lang="ko-KR" altLang="en-US" dirty="0" smtClean="0"/>
              <a:t>건설업 추세</a:t>
            </a:r>
            <a:r>
              <a:rPr lang="en-US" altLang="ko-KR" dirty="0" smtClean="0"/>
              <a:t>(</a:t>
            </a:r>
            <a:r>
              <a:rPr lang="ko-KR" altLang="en-US" dirty="0" smtClean="0"/>
              <a:t>낙상 </a:t>
            </a:r>
            <a:r>
              <a:rPr lang="en-US" altLang="ko-KR" dirty="0" smtClean="0"/>
              <a:t>13%) </a:t>
            </a:r>
            <a:r>
              <a:rPr lang="ko-KR" altLang="en-US" dirty="0" smtClean="0"/>
              <a:t>등</a:t>
            </a:r>
          </a:p>
          <a:p>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smtClean="0"/>
              <a:t>인구 밀집 예측도 여러 모델을 비교해봤는데요</a:t>
            </a:r>
            <a:r>
              <a:rPr lang="en-US" altLang="ko-KR" dirty="0" smtClean="0"/>
              <a:t>.</a:t>
            </a:r>
          </a:p>
          <a:p>
            <a:r>
              <a:rPr lang="ko-KR" altLang="en-US" dirty="0" smtClean="0"/>
              <a:t>그중 </a:t>
            </a:r>
            <a:r>
              <a:rPr lang="en-US" altLang="ko-KR" dirty="0" smtClean="0"/>
              <a:t>Random Forest</a:t>
            </a:r>
            <a:r>
              <a:rPr lang="ko-KR" altLang="en-US" dirty="0" smtClean="0"/>
              <a:t>가 가장 좋은 성능을 보여 최종 모델로 선정했습니다</a:t>
            </a:r>
            <a:r>
              <a:rPr lang="en-US" altLang="ko-KR" dirty="0" smtClean="0"/>
              <a:t>.</a:t>
            </a:r>
          </a:p>
          <a:p>
            <a:r>
              <a:rPr lang="ko-KR" altLang="en-US" dirty="0" smtClean="0"/>
              <a:t>특히 지역이나 시간</a:t>
            </a:r>
            <a:r>
              <a:rPr lang="en-US" altLang="ko-KR" dirty="0" smtClean="0"/>
              <a:t>, </a:t>
            </a:r>
            <a:r>
              <a:rPr lang="ko-KR" altLang="en-US" dirty="0" smtClean="0"/>
              <a:t>계절에 따라 달라지는 인구 변화 패턴을 비교적 안정적으로 예측할 수 있었습니다</a:t>
            </a:r>
            <a:r>
              <a:rPr lang="en-US" altLang="ko-KR" dirty="0" smtClean="0"/>
              <a:t>.</a:t>
            </a:r>
          </a:p>
          <a:p>
            <a:endParaRPr lang="en-US" altLang="ko-KR" dirty="0" smtClean="0"/>
          </a:p>
          <a:p>
            <a:endParaRPr lang="en-US" altLang="ko-KR" dirty="0" smtClean="0"/>
          </a:p>
          <a:p>
            <a:pPr marL="0" marR="0" indent="0" algn="l" defTabSz="914400" rtl="0" eaLnBrk="1" fontAlgn="auto" latinLnBrk="1" hangingPunct="1">
              <a:lnSpc>
                <a:spcPct val="100000"/>
              </a:lnSpc>
              <a:spcBef>
                <a:spcPts val="0"/>
              </a:spcBef>
              <a:spcAft>
                <a:spcPts val="0"/>
              </a:spcAft>
              <a:buClrTx/>
              <a:buSzTx/>
              <a:buFontTx/>
              <a:buNone/>
              <a:tabLst/>
              <a:defRPr/>
            </a:pPr>
            <a:r>
              <a:rPr lang="ko-KR" altLang="en-US" dirty="0" smtClean="0"/>
              <a:t>이송 건수의 경우 검증 및 평가의 정확도 향상을 위해 앙상블을 사용했지만</a:t>
            </a:r>
            <a:r>
              <a:rPr lang="en-US" altLang="ko-KR" dirty="0" smtClean="0"/>
              <a:t>, </a:t>
            </a:r>
            <a:r>
              <a:rPr lang="ko-KR" altLang="en-US" dirty="0" smtClean="0"/>
              <a:t>인구 밀집 모델의 경우 </a:t>
            </a:r>
            <a:r>
              <a:rPr lang="en-US" altLang="ko-KR" dirty="0" smtClean="0"/>
              <a:t>98%</a:t>
            </a:r>
            <a:r>
              <a:rPr lang="ko-KR" altLang="en-US" dirty="0" smtClean="0"/>
              <a:t>를 달성하여 추가적인 성능 향상 작업은 하지 않았습니다</a:t>
            </a:r>
            <a:r>
              <a:rPr lang="en-US" altLang="ko-KR" dirty="0" smtClean="0"/>
              <a:t>.</a:t>
            </a:r>
          </a:p>
          <a:p>
            <a:endParaRPr lang="en-US" altLang="ko-KR"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ko-KR" altLang="en-US" dirty="0" smtClean="0"/>
              <a:t>전체적인 실제</a:t>
            </a:r>
            <a:r>
              <a:rPr lang="en-US" altLang="ko-KR" dirty="0" smtClean="0"/>
              <a:t>/</a:t>
            </a:r>
            <a:r>
              <a:rPr lang="ko-KR" altLang="en-US" dirty="0" smtClean="0"/>
              <a:t>예측 비교와 자치구별 정확도 입니다</a:t>
            </a:r>
            <a:r>
              <a:rPr lang="en-US" altLang="ko-KR" dirty="0" smtClean="0"/>
              <a:t>.</a:t>
            </a:r>
            <a:endParaRPr lang="en-US" altLang="ko-K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smtClean="0"/>
              <a:t>모델이 어떤 정보를 중요하게 </a:t>
            </a:r>
            <a:r>
              <a:rPr lang="ko-KR" altLang="en-US" dirty="0" err="1" smtClean="0"/>
              <a:t>사용했는지도</a:t>
            </a:r>
            <a:r>
              <a:rPr lang="ko-KR" altLang="en-US" dirty="0" smtClean="0"/>
              <a:t> 확인했습니다</a:t>
            </a:r>
            <a:r>
              <a:rPr lang="en-US" altLang="ko-KR" dirty="0" smtClean="0"/>
              <a:t>.</a:t>
            </a:r>
          </a:p>
          <a:p>
            <a:r>
              <a:rPr lang="ko-KR" altLang="en-US" dirty="0" smtClean="0"/>
              <a:t>모두 예측 두 </a:t>
            </a:r>
            <a:r>
              <a:rPr lang="ko-KR" altLang="en-US" b="1" dirty="0" smtClean="0"/>
              <a:t>가장 가까운 과거 값이 가장 중요한 정보로 작용했고</a:t>
            </a:r>
            <a:r>
              <a:rPr lang="en-US" altLang="ko-KR" dirty="0" smtClean="0"/>
              <a:t>, </a:t>
            </a:r>
            <a:r>
              <a:rPr lang="ko-KR" altLang="en-US" dirty="0" err="1" smtClean="0"/>
              <a:t>생활인구나</a:t>
            </a:r>
            <a:r>
              <a:rPr lang="ko-KR" altLang="en-US" dirty="0" smtClean="0"/>
              <a:t> 달력 정보 등이 이를 보완하는 형태로 나타났습니다</a:t>
            </a:r>
            <a:r>
              <a:rPr lang="en-US" altLang="ko-KR" dirty="0" smtClean="0"/>
              <a:t>.</a:t>
            </a:r>
          </a:p>
          <a:p>
            <a:r>
              <a:rPr lang="ko-KR" altLang="en-US" dirty="0" smtClean="0"/>
              <a:t>앞에서 진행한 데이터 분석 결과와도 어느 정도 일치하는 부분입니다</a:t>
            </a:r>
            <a:r>
              <a:rPr lang="en-US" altLang="ko-KR" dirty="0" smtClean="0"/>
              <a:t>.</a:t>
            </a:r>
            <a:endParaRPr lang="en-US" altLang="ko-KR"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smtClean="0"/>
              <a:t>최종 모델을 선정한 뒤에는 사용 가능한 전체 데이터로 다시 학습하고 모델을 저장했습니다</a:t>
            </a:r>
            <a:r>
              <a:rPr lang="en-US" altLang="ko-KR" dirty="0" smtClean="0"/>
              <a:t>.</a:t>
            </a:r>
          </a:p>
          <a:p>
            <a:r>
              <a:rPr lang="ko-KR" altLang="en-US" dirty="0" smtClean="0"/>
              <a:t>그리고 이 모델을 이용해 </a:t>
            </a:r>
            <a:r>
              <a:rPr lang="ko-KR" altLang="en-US" b="1" dirty="0" smtClean="0"/>
              <a:t>서울시 자치구별 미래 구급 수요를 예측했습니다</a:t>
            </a:r>
            <a:r>
              <a:rPr lang="en-US" altLang="ko-KR" b="1" dirty="0" smtClean="0"/>
              <a:t>.</a:t>
            </a:r>
            <a:endParaRPr lang="ko-KR" altLang="en-US" dirty="0" smtClean="0"/>
          </a:p>
          <a:p>
            <a:r>
              <a:rPr lang="ko-KR" altLang="en-US" dirty="0" smtClean="0"/>
              <a:t>이렇게 생성된 예측 결과는 웹 서비스와 연결해 사용자가 직접 확인할 수 있도록 했습니다</a:t>
            </a:r>
            <a:r>
              <a:rPr lang="en-US" altLang="ko-KR" dirty="0" smtClean="0"/>
              <a:t>.</a:t>
            </a:r>
            <a:endParaRPr lang="en-US" altLang="ko-KR"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ko-KR" altLang="en-US" dirty="0" smtClean="0"/>
              <a:t>여기까지가 데이터를 이용해 미래 구급 수요를 예측하는 과정이었습니다</a:t>
            </a:r>
            <a:r>
              <a:rPr lang="en-US" altLang="ko-KR" dirty="0" smtClean="0"/>
              <a:t>.</a:t>
            </a:r>
            <a:br>
              <a:rPr lang="en-US" altLang="ko-KR" dirty="0" smtClean="0"/>
            </a:br>
            <a:r>
              <a:rPr lang="ko-KR" altLang="en-US" dirty="0" smtClean="0"/>
              <a:t>다음으로 이 결과를 실제 서비스 형태로 구현한 내용을 보여드리겠습니다</a:t>
            </a:r>
            <a:r>
              <a:rPr lang="en-US" altLang="ko-KR" dirty="0" smtClean="0"/>
              <a:t>.</a:t>
            </a:r>
            <a:endParaRPr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ko-KR" altLang="en-US" dirty="0" smtClean="0"/>
              <a:t>웹 서비스는 크게 </a:t>
            </a:r>
            <a:r>
              <a:rPr lang="ko-KR" altLang="en-US" b="1" dirty="0" smtClean="0"/>
              <a:t>구급 수요 분석</a:t>
            </a:r>
            <a:r>
              <a:rPr lang="en-US" altLang="ko-KR" b="1" dirty="0" smtClean="0"/>
              <a:t>·</a:t>
            </a:r>
            <a:r>
              <a:rPr lang="ko-KR" altLang="en-US" b="1" dirty="0" smtClean="0"/>
              <a:t>예측과 실시간 응급실 병상 관제</a:t>
            </a:r>
            <a:r>
              <a:rPr lang="ko-KR" altLang="en-US" dirty="0" smtClean="0"/>
              <a:t> 두 가지 기능으로 구성했습니다</a:t>
            </a:r>
            <a:r>
              <a:rPr lang="en-US" altLang="ko-KR" dirty="0" smtClean="0"/>
              <a:t>.</a:t>
            </a:r>
            <a:endParaRPr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웹 서비스의 실제 화면입니다. 메인 화면에서 분석·예측과 병상 관제로 이동할 수 있고, 분석·예측 화면에서는 월별 실적과 예측 그래프, 자치구별 예상 수요 순위를 확인합니다. 병상 관제 화면은 서울시 총 가용병상과 위험·주의 지역 수를 보여 줍니다. 오른쪽 아래 버튼으로 여는 AI 챗봇에서는 동이나 구 이름으로 물으면 해당 자치구의 월별 이송 예측을 알려 줍니다(예: 신림동 → 관악구).</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ko-KR" altLang="en-US" dirty="0" smtClean="0"/>
              <a:t>지금까지 진행한 분석과 예측 결과를 실제로 활용하기 쉽도록 하나의 웹 서비스로 구현했습니다</a:t>
            </a:r>
            <a:r>
              <a:rPr lang="en-US" altLang="ko-KR" dirty="0" smtClean="0"/>
              <a:t>.</a:t>
            </a:r>
          </a:p>
          <a:p>
            <a:r>
              <a:rPr lang="ko-KR" altLang="en-US" dirty="0" smtClean="0"/>
              <a:t>메인 화면에서 </a:t>
            </a:r>
            <a:r>
              <a:rPr lang="ko-KR" altLang="en-US" b="1" dirty="0" smtClean="0"/>
              <a:t>구급 수요 분석</a:t>
            </a:r>
            <a:r>
              <a:rPr lang="en-US" altLang="ko-KR" b="1" dirty="0" smtClean="0"/>
              <a:t>·</a:t>
            </a:r>
            <a:r>
              <a:rPr lang="ko-KR" altLang="en-US" b="1" dirty="0" smtClean="0"/>
              <a:t>예측 서비스와 실시간 병상 관제 서비스</a:t>
            </a:r>
            <a:r>
              <a:rPr lang="ko-KR" altLang="en-US" dirty="0" smtClean="0"/>
              <a:t>로 이동할 수 있습니다</a:t>
            </a:r>
            <a:r>
              <a:rPr lang="en-US" altLang="ko-KR" dirty="0" smtClean="0"/>
              <a:t>.</a:t>
            </a:r>
          </a:p>
          <a:p>
            <a:r>
              <a:rPr lang="ko-KR" altLang="en-US" dirty="0" smtClean="0"/>
              <a:t>즉 앞에서 설명한 예측 결과와 실시간 의료 정보를 한 서비스 안에서 확인할 수 있도록 구성했습니다</a:t>
            </a:r>
            <a:r>
              <a:rPr lang="en-US" altLang="ko-KR" dirty="0" smtClean="0"/>
              <a:t>.</a:t>
            </a:r>
            <a:endParaRPr lang="en-US" altLang="ko-KR"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웹 서비스의 구성입니다. 예측은 서버에서 실행하지 않고, 분석 노트북에서 미리 학습·예측한 결과를 save_dashboard()로 dashboard_data.json에 저장합니다. Flask 서버는 이 파일을 /api/dashboard-data로 그대로 전달하고, 화면(/, /analysis, /beds)을 제공합니다. 병상 정보는 서버 안의 자동 갱신 스케줄러가 1시간 이상 간격, 하루 최대 3회 공공데이터포털 NMC API에서 23개 구 가용병상을 받아 캐시 파일에 저장합니다. 강북구·마포구는 API가 없어 등록 응급실 병상 수를 따로 넣습니다. 브라우저는 /api/realtime-beds/all로 25개 구 정보를 한 번에 받아 현황·검색·필터 화면을 그립니다.</a:t>
            </a:r>
            <a:endParaRPr lang="ko-KR" altLang="en-US" dirty="0"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ko-KR" altLang="en-US" dirty="0" smtClean="0"/>
              <a:t>먼저 구급 수요 분석</a:t>
            </a:r>
            <a:r>
              <a:rPr lang="en-US" altLang="ko-KR" dirty="0" smtClean="0"/>
              <a:t>·</a:t>
            </a:r>
            <a:r>
              <a:rPr lang="ko-KR" altLang="en-US" dirty="0" smtClean="0"/>
              <a:t>예측 화면입니다</a:t>
            </a:r>
            <a:r>
              <a:rPr lang="en-US" altLang="ko-KR" dirty="0" smtClean="0"/>
              <a:t>.</a:t>
            </a:r>
          </a:p>
          <a:p>
            <a:r>
              <a:rPr lang="ko-KR" altLang="en-US" dirty="0" smtClean="0"/>
              <a:t>사용자가 원하는 기간과 지역을 선택하면 </a:t>
            </a:r>
            <a:r>
              <a:rPr lang="ko-KR" altLang="en-US" b="1" dirty="0" smtClean="0"/>
              <a:t>예상되는 구급 수요와 지역별 순위</a:t>
            </a:r>
            <a:r>
              <a:rPr lang="ko-KR" altLang="en-US" dirty="0" smtClean="0"/>
              <a:t>를 확인할 수 있습니다</a:t>
            </a:r>
            <a:r>
              <a:rPr lang="en-US" altLang="ko-KR" dirty="0" smtClean="0"/>
              <a:t>.</a:t>
            </a:r>
          </a:p>
          <a:p>
            <a:r>
              <a:rPr lang="ko-KR" altLang="en-US" dirty="0" smtClean="0"/>
              <a:t>특정 자치구를 선택하면 예측 결과뿐 아니라 </a:t>
            </a:r>
            <a:r>
              <a:rPr lang="ko-KR" altLang="en-US" dirty="0" err="1" smtClean="0"/>
              <a:t>생활인구와</a:t>
            </a:r>
            <a:r>
              <a:rPr lang="ko-KR" altLang="en-US" dirty="0" smtClean="0"/>
              <a:t> 구급 수요의 관계</a:t>
            </a:r>
            <a:r>
              <a:rPr lang="en-US" altLang="ko-KR" dirty="0" smtClean="0"/>
              <a:t>, </a:t>
            </a:r>
            <a:r>
              <a:rPr lang="ko-KR" altLang="en-US" dirty="0" smtClean="0"/>
              <a:t>사고 관련 정보 등 앞에서 분석했던 결과도 함께 확인할 수 있습니다</a:t>
            </a:r>
            <a:r>
              <a:rPr lang="en-US" altLang="ko-KR" dirty="0" smtClean="0"/>
              <a:t>.</a:t>
            </a:r>
          </a:p>
          <a:p>
            <a:r>
              <a:rPr lang="ko-KR" altLang="en-US" dirty="0" smtClean="0"/>
              <a:t>특히 모델의 예측 결과와 웹 데이터를 </a:t>
            </a:r>
            <a:r>
              <a:rPr lang="ko-KR" altLang="en-US" dirty="0" err="1" smtClean="0"/>
              <a:t>연결해두어</a:t>
            </a:r>
            <a:r>
              <a:rPr lang="ko-KR" altLang="en-US" dirty="0" smtClean="0"/>
              <a:t> </a:t>
            </a:r>
            <a:r>
              <a:rPr lang="ko-KR" altLang="en-US" b="1" dirty="0" smtClean="0"/>
              <a:t>분석 결과가 실제 서비스 화면까지 이어지도록 구현했습니다</a:t>
            </a:r>
            <a:r>
              <a:rPr lang="en-US" altLang="ko-KR" b="1" dirty="0" smtClean="0"/>
              <a:t>.</a:t>
            </a:r>
            <a:endParaRPr lang="ko-KR" altLang="en-US" dirty="0" smtClean="0"/>
          </a:p>
          <a:p>
            <a:endParaRPr lang="en-US" altLang="ko-KR"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ko-KR" altLang="en-US" dirty="0" smtClean="0"/>
              <a:t>두 번째는 </a:t>
            </a:r>
            <a:r>
              <a:rPr lang="ko-KR" altLang="en-US" b="1" dirty="0" smtClean="0"/>
              <a:t>실시간 응급실 병상 관제 기능</a:t>
            </a:r>
            <a:r>
              <a:rPr lang="ko-KR" altLang="en-US" dirty="0" smtClean="0"/>
              <a:t>입니다</a:t>
            </a:r>
            <a:r>
              <a:rPr lang="en-US" altLang="ko-KR" dirty="0" smtClean="0"/>
              <a:t>.</a:t>
            </a:r>
          </a:p>
          <a:p>
            <a:r>
              <a:rPr lang="ko-KR" altLang="en-US" dirty="0" err="1" smtClean="0"/>
              <a:t>공공데이터</a:t>
            </a:r>
            <a:r>
              <a:rPr lang="ko-KR" altLang="en-US" dirty="0" smtClean="0"/>
              <a:t> </a:t>
            </a:r>
            <a:r>
              <a:rPr lang="en-US" altLang="ko-KR" dirty="0" smtClean="0"/>
              <a:t>API</a:t>
            </a:r>
            <a:r>
              <a:rPr lang="ko-KR" altLang="en-US" dirty="0" smtClean="0"/>
              <a:t>를 이용해 서울시 응급실의 </a:t>
            </a:r>
            <a:r>
              <a:rPr lang="ko-KR" altLang="en-US" dirty="0" err="1" smtClean="0"/>
              <a:t>가용병상</a:t>
            </a:r>
            <a:r>
              <a:rPr lang="ko-KR" altLang="en-US" dirty="0" smtClean="0"/>
              <a:t> 정보를 조회하고</a:t>
            </a:r>
            <a:r>
              <a:rPr lang="en-US" altLang="ko-KR" dirty="0" smtClean="0"/>
              <a:t>, </a:t>
            </a:r>
            <a:r>
              <a:rPr lang="ko-KR" altLang="en-US" dirty="0" smtClean="0"/>
              <a:t>지역별 병상 상황을 한 화면에서 확인할 수 있도록 했습니다</a:t>
            </a:r>
            <a:r>
              <a:rPr lang="en-US" altLang="ko-KR" dirty="0" smtClean="0"/>
              <a:t>.</a:t>
            </a:r>
          </a:p>
          <a:p>
            <a:r>
              <a:rPr lang="ko-KR" altLang="en-US" dirty="0" smtClean="0"/>
              <a:t>사용자는 원하는 자치구나 병원을 검색할 수 있고</a:t>
            </a:r>
            <a:r>
              <a:rPr lang="en-US" altLang="ko-KR" dirty="0" smtClean="0"/>
              <a:t>, </a:t>
            </a:r>
            <a:r>
              <a:rPr lang="ko-KR" altLang="en-US" dirty="0" smtClean="0"/>
              <a:t>현재 병상 상황에 따라 어떤 지역을 우선적으로 확인해야 하는지도 쉽게 파악할 수 있습니다</a:t>
            </a:r>
            <a:r>
              <a:rPr lang="en-US" altLang="ko-KR" dirty="0" smtClean="0"/>
              <a:t>.</a:t>
            </a:r>
          </a:p>
          <a:p>
            <a:r>
              <a:rPr lang="ko-KR" altLang="en-US" dirty="0" smtClean="0"/>
              <a:t>일부 지역처럼 </a:t>
            </a:r>
            <a:r>
              <a:rPr lang="en-US" altLang="ko-KR" dirty="0" smtClean="0"/>
              <a:t>API</a:t>
            </a:r>
            <a:r>
              <a:rPr lang="ko-KR" altLang="en-US" dirty="0" smtClean="0"/>
              <a:t>에서 실시간 정보가 제공되지 않는 경우에는 임의의 값을 만들지 않고 </a:t>
            </a:r>
            <a:r>
              <a:rPr lang="ko-KR" altLang="en-US" b="1" dirty="0" smtClean="0"/>
              <a:t>실시간 확인이 불가능하다는 점을 표시하고 참고 정보를 제공하도록 했습니다</a:t>
            </a:r>
            <a:r>
              <a:rPr lang="en-US" altLang="ko-KR" b="1" dirty="0" smtClean="0"/>
              <a:t>.</a:t>
            </a:r>
            <a:r>
              <a:rPr lang="ko-KR" altLang="en-US" dirty="0" smtClean="0"/>
              <a:t> </a:t>
            </a:r>
            <a:endParaRPr lang="en-US" altLang="ko-KR" dirty="0" smtClean="0"/>
          </a:p>
          <a:p>
            <a:endParaRPr lang="en-US" altLang="ko-KR" dirty="0" smtClean="0"/>
          </a:p>
          <a:p>
            <a:r>
              <a:rPr lang="ko-KR" altLang="en-US" dirty="0" smtClean="0"/>
              <a:t>결과적으로 모델 학습에는 사용하지 않았던 실시간 병상 데이터를 </a:t>
            </a:r>
            <a:r>
              <a:rPr lang="ko-KR" altLang="en-US" b="1" dirty="0" smtClean="0"/>
              <a:t>서비스 단계에서 다시 활용했습니다</a:t>
            </a:r>
            <a:r>
              <a:rPr lang="en-US" altLang="ko-KR" b="1" dirty="0" smtClean="0"/>
              <a:t>.</a:t>
            </a:r>
            <a:endParaRPr lang="ko-KR"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웹 서비스에서 일어나는 세 가지 동작의 순서입니다. A 분석·예측 화면: 이용자가 화면에 들어오면 브라우저가 서버에 예측 데이터를 요청하고, 서버는 노트북에서 미리 계산해 둔 dashboard_data.json을 읽어 그대로 돌려줍니다. 기간이나 지역을 바꾸면 이미 받은 데이터로 브라우저에서 다시 계산하므로 서버를 다시 부르지 않습니다. B 병상 관제 화면: 브라우저가 25개 구 병상 정보를 한 번에 요청하면 서버는 저장된 병상 캐시를 읽어 돌려줍니다. 방문자 요청 때 공공 API를 직접 부르지 않습니다. 검색과 권역·위험도 필터는 브라우저 안에서 처리합니다. C 병상 자동 갱신: 서버 안의 스케줄러가 1분마다 캐시 상태를 확인하고, 마지막 갱신 후 1시간이 지났고 당일 갱신이 3회 미만이면 공공데이터포털 NMC API에 23개 구 병상을 요청해 캐시를 새로 저장합니다.</a:t>
            </a:r>
          </a:p>
        </p:txBody>
      </p:sp>
    </p:spTree>
    <p:extLst>
      <p:ext uri="{BB962C8B-B14F-4D97-AF65-F5344CB8AC3E}">
        <p14:creationId xmlns:p14="http://schemas.microsoft.com/office/powerpoint/2010/main" val="14168507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smtClean="0"/>
              <a:t>마지막으로 프로젝트 결과를 정리하겠습니다</a:t>
            </a:r>
            <a:r>
              <a:rPr lang="en-US" altLang="ko-KR" dirty="0" smtClean="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smtClean="0"/>
              <a:t>이번 프로젝트에서는 </a:t>
            </a:r>
            <a:r>
              <a:rPr lang="ko-KR" altLang="en-US" b="1" dirty="0" err="1" smtClean="0"/>
              <a:t>공공데이터</a:t>
            </a:r>
            <a:r>
              <a:rPr lang="ko-KR" altLang="en-US" b="1" dirty="0" smtClean="0"/>
              <a:t> 수집부터 전처리</a:t>
            </a:r>
            <a:r>
              <a:rPr lang="en-US" altLang="ko-KR" b="1" dirty="0" smtClean="0"/>
              <a:t>, </a:t>
            </a:r>
            <a:r>
              <a:rPr lang="ko-KR" altLang="en-US" b="1" dirty="0" smtClean="0"/>
              <a:t>분석</a:t>
            </a:r>
            <a:r>
              <a:rPr lang="en-US" altLang="ko-KR" b="1" dirty="0" smtClean="0"/>
              <a:t>, </a:t>
            </a:r>
            <a:r>
              <a:rPr lang="ko-KR" altLang="en-US" b="1" dirty="0" smtClean="0"/>
              <a:t>예측 모델 개발</a:t>
            </a:r>
            <a:r>
              <a:rPr lang="en-US" altLang="ko-KR" b="1" dirty="0" smtClean="0"/>
              <a:t>, </a:t>
            </a:r>
            <a:r>
              <a:rPr lang="ko-KR" altLang="en-US" b="1" dirty="0" smtClean="0"/>
              <a:t>웹 서비스 구현까지 하나의 흐름으로 연결했습니다</a:t>
            </a:r>
            <a:r>
              <a:rPr lang="en-US" altLang="ko-KR" b="1" dirty="0" smtClean="0"/>
              <a:t>.</a:t>
            </a:r>
            <a:endParaRPr lang="ko-KR" altLang="en-US" dirty="0" smtClean="0"/>
          </a:p>
          <a:p>
            <a:r>
              <a:rPr lang="ko-KR" altLang="en-US" dirty="0" smtClean="0"/>
              <a:t>분석을 통해 </a:t>
            </a:r>
            <a:r>
              <a:rPr lang="ko-KR" altLang="en-US" dirty="0" err="1" smtClean="0"/>
              <a:t>생활인구가</a:t>
            </a:r>
            <a:r>
              <a:rPr lang="ko-KR" altLang="en-US" dirty="0" smtClean="0"/>
              <a:t> 지역별 구급 수요 규모와 관계가 있다는 것을 확인했고</a:t>
            </a:r>
            <a:r>
              <a:rPr lang="en-US" altLang="ko-KR" dirty="0" smtClean="0"/>
              <a:t>, </a:t>
            </a:r>
            <a:r>
              <a:rPr lang="ko-KR" altLang="en-US" dirty="0" smtClean="0"/>
              <a:t>실제 미래 예측에서는 과거 이송 기록과 계절적인 특징도 중요하다는 것을 확인했습니다</a:t>
            </a:r>
            <a:r>
              <a:rPr lang="en-US" altLang="ko-KR" dirty="0" smtClean="0"/>
              <a:t>.</a:t>
            </a:r>
          </a:p>
          <a:p>
            <a:r>
              <a:rPr lang="ko-KR" altLang="en-US" dirty="0" smtClean="0"/>
              <a:t>이를 바탕으로 여러 모델과 입력 변수를 비교해 최종 예측 모델을 선정하고</a:t>
            </a:r>
            <a:r>
              <a:rPr lang="en-US" altLang="ko-KR" dirty="0" smtClean="0"/>
              <a:t>, </a:t>
            </a:r>
            <a:r>
              <a:rPr lang="ko-KR" altLang="en-US" dirty="0" smtClean="0"/>
              <a:t>그 결과를 실제 웹 서비스와 연결했습니다</a:t>
            </a:r>
            <a:r>
              <a:rPr lang="en-US" altLang="ko-KR" dirty="0" smtClean="0"/>
              <a:t>. </a:t>
            </a:r>
          </a:p>
          <a:p>
            <a:pPr marL="0" marR="0" indent="0" algn="l" defTabSz="914400" rtl="0" eaLnBrk="1" fontAlgn="auto" latinLnBrk="1" hangingPunct="1">
              <a:lnSpc>
                <a:spcPct val="100000"/>
              </a:lnSpc>
              <a:spcBef>
                <a:spcPts val="0"/>
              </a:spcBef>
              <a:spcAft>
                <a:spcPts val="0"/>
              </a:spcAft>
              <a:buClrTx/>
              <a:buSzTx/>
              <a:buFontTx/>
              <a:buNone/>
              <a:tabLst/>
              <a:defRPr/>
            </a:pPr>
            <a:r>
              <a:rPr lang="ko-KR" altLang="en-US" dirty="0" smtClean="0"/>
              <a:t>향후 유관 부서의 협업이 있을 경우</a:t>
            </a:r>
            <a:r>
              <a:rPr lang="en-US" altLang="ko-KR" dirty="0" smtClean="0"/>
              <a:t>,</a:t>
            </a:r>
            <a:r>
              <a:rPr lang="ko-KR" altLang="en-US" dirty="0" smtClean="0"/>
              <a:t> 실시간 </a:t>
            </a:r>
            <a:r>
              <a:rPr lang="en-US" altLang="ko-KR" dirty="0" smtClean="0"/>
              <a:t>API</a:t>
            </a:r>
            <a:r>
              <a:rPr lang="ko-KR" altLang="en-US" dirty="0" smtClean="0"/>
              <a:t>와 이송 건수 및 응급 의료 병상 수의 일별 데이터를 공급 받아 추가해 </a:t>
            </a:r>
            <a:r>
              <a:rPr lang="ko-KR" altLang="en-US" b="1" dirty="0" smtClean="0"/>
              <a:t>단순히 구급 수요를 예측하는 것을 넘어</a:t>
            </a:r>
            <a:r>
              <a:rPr lang="en-US" altLang="ko-KR" b="1" dirty="0" smtClean="0"/>
              <a:t>, </a:t>
            </a:r>
            <a:r>
              <a:rPr lang="ko-KR" altLang="en-US" b="1" dirty="0" smtClean="0"/>
              <a:t>구급차 배치와 응급 의료 병상 수 포화 예측 및 현장의 병</a:t>
            </a:r>
            <a:endParaRPr lang="en-US" altLang="ko-KR" dirty="0" smtClean="0"/>
          </a:p>
          <a:p>
            <a:r>
              <a:rPr lang="ko-KR" altLang="en-US" b="1" dirty="0" smtClean="0"/>
              <a:t>원 선택까지 지원할 수 있는 시스템으로 확장하는 것 </a:t>
            </a:r>
            <a:r>
              <a:rPr lang="ko-KR" altLang="en-US" dirty="0" smtClean="0"/>
              <a:t>또한 가능합니다</a:t>
            </a:r>
            <a:r>
              <a:rPr lang="en-US" altLang="ko-KR" dirty="0" smtClean="0"/>
              <a:t>.</a:t>
            </a:r>
          </a:p>
          <a:p>
            <a:r>
              <a:rPr lang="ko-KR" altLang="en-US" dirty="0" smtClean="0"/>
              <a:t>이상으로 발표를 마치겠습니다</a:t>
            </a:r>
            <a:r>
              <a:rPr lang="en-US" altLang="ko-KR" dirty="0" smtClean="0"/>
              <a:t>. </a:t>
            </a:r>
            <a:r>
              <a:rPr lang="ko-KR" altLang="en-US" dirty="0" smtClean="0"/>
              <a:t>감사합니다</a:t>
            </a:r>
            <a:r>
              <a:rPr lang="en-US" altLang="ko-KR" smtClean="0"/>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chart" Target="../charts/chart9.xml"/></Relationships>
</file>

<file path=ppt/slides/_rels/slide33.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1E25"/>
        </a:solidFill>
        <a:effectLst/>
      </p:bgPr>
    </p:bg>
    <p:spTree>
      <p:nvGrpSpPr>
        <p:cNvPr id="1" name=""/>
        <p:cNvGrpSpPr/>
        <p:nvPr/>
      </p:nvGrpSpPr>
      <p:grpSpPr>
        <a:xfrm>
          <a:off x="0" y="0"/>
          <a:ext cx="0" cy="0"/>
          <a:chOff x="0" y="0"/>
          <a:chExt cx="0" cy="0"/>
        </a:xfrm>
      </p:grpSpPr>
      <p:sp>
        <p:nvSpPr>
          <p:cNvPr id="2" name="Text 0"/>
          <p:cNvSpPr txBox="1"/>
          <p:nvPr/>
        </p:nvSpPr>
        <p:spPr>
          <a:xfrm>
            <a:off x="822960" y="1737360"/>
            <a:ext cx="10058400" cy="320040"/>
          </a:xfrm>
          <a:prstGeom prst="rect">
            <a:avLst/>
          </a:prstGeom>
          <a:noFill/>
          <a:ln/>
        </p:spPr>
        <p:txBody>
          <a:bodyPr wrap="square" lIns="0" tIns="0" rIns="0" bIns="0" rtlCol="0" anchor="ctr"/>
          <a:lstStyle/>
          <a:p>
            <a:pPr marL="0" indent="0">
              <a:buNone/>
            </a:pPr>
            <a:r>
              <a:rPr lang="en-US" sz="1400" kern="0" spc="200" dirty="0">
                <a:solidFill>
                  <a:srgbClr val="E87A7A"/>
                </a:solidFill>
                <a:latin typeface="에이투지체 5 Medium"/>
                <a:ea typeface="에이투지체 5 Medium"/>
                <a:cs typeface="에이투지체 5 Medium"/>
              </a:rPr>
              <a:t>SEOUL 119 EMS DEMAND FORECAST</a:t>
            </a:r>
            <a:endParaRPr lang="en-US" sz="1400" dirty="0"/>
          </a:p>
        </p:txBody>
      </p:sp>
      <p:sp>
        <p:nvSpPr>
          <p:cNvPr id="3" name="Text 1"/>
          <p:cNvSpPr txBox="1"/>
          <p:nvPr/>
        </p:nvSpPr>
        <p:spPr>
          <a:xfrm>
            <a:off x="822960" y="2148840"/>
            <a:ext cx="10515600" cy="868680"/>
          </a:xfrm>
          <a:prstGeom prst="rect">
            <a:avLst/>
          </a:prstGeom>
          <a:noFill/>
          <a:ln/>
        </p:spPr>
        <p:txBody>
          <a:bodyPr wrap="square" lIns="0" tIns="0" rIns="0" bIns="0" rtlCol="0" anchor="ctr"/>
          <a:lstStyle/>
          <a:p>
            <a:pPr marL="0" indent="0">
              <a:buNone/>
            </a:pPr>
            <a:r>
              <a:rPr lang="en-US" sz="5200" b="1" dirty="0">
                <a:solidFill>
                  <a:srgbClr val="FFFFFF"/>
                </a:solidFill>
                <a:latin typeface="에이투지체 5 Medium"/>
                <a:ea typeface="에이투지체 5 Medium"/>
                <a:cs typeface="에이투지체 5 Medium"/>
              </a:rPr>
              <a:t>서울시 119 구급 수요 예측</a:t>
            </a:r>
            <a:endParaRPr lang="en-US" sz="5200" dirty="0"/>
          </a:p>
        </p:txBody>
      </p:sp>
      <p:sp>
        <p:nvSpPr>
          <p:cNvPr id="4" name="Text 2"/>
          <p:cNvSpPr txBox="1"/>
          <p:nvPr/>
        </p:nvSpPr>
        <p:spPr>
          <a:xfrm>
            <a:off x="849336" y="3108960"/>
            <a:ext cx="10515600" cy="457200"/>
          </a:xfrm>
          <a:prstGeom prst="rect">
            <a:avLst/>
          </a:prstGeom>
          <a:noFill/>
          <a:ln/>
        </p:spPr>
        <p:txBody>
          <a:bodyPr wrap="square" lIns="0" tIns="0" rIns="0" bIns="0" rtlCol="0" anchor="ctr"/>
          <a:lstStyle/>
          <a:p>
            <a:pPr marL="0" indent="0">
              <a:buNone/>
            </a:pPr>
            <a:r>
              <a:rPr lang="en-US" sz="2200" dirty="0">
                <a:solidFill>
                  <a:srgbClr val="FFFFFF">
                    <a:alpha val="70000"/>
                  </a:srgbClr>
                </a:solidFill>
                <a:latin typeface="에이투지체 5 Medium"/>
                <a:ea typeface="에이투지체 5 Medium"/>
                <a:cs typeface="에이투지체 5 Medium"/>
              </a:rPr>
              <a:t>자치구별 이송 건수 및 인구 밀집 예측 모델 개발</a:t>
            </a:r>
            <a:endParaRPr lang="en-US" sz="2200" dirty="0"/>
          </a:p>
        </p:txBody>
      </p:sp>
      <p:sp>
        <p:nvSpPr>
          <p:cNvPr id="1144" name="Add 1144"/>
          <p:cNvSpPr/>
          <p:nvPr/>
        </p:nvSpPr>
        <p:spPr>
          <a:xfrm>
            <a:off x="822960" y="4206240"/>
            <a:ext cx="1481328" cy="420624"/>
          </a:xfrm>
          <a:prstGeom prst="roundRect">
            <a:avLst>
              <a:gd name="adj" fmla="val 50000"/>
            </a:avLst>
          </a:prstGeom>
          <a:solidFill>
            <a:srgbClr val="2A313B"/>
          </a:solidFill>
          <a:ln>
            <a:noFill/>
          </a:ln>
        </p:spPr>
        <p:txBody>
          <a:bodyPr/>
          <a:lstStyle/>
          <a:p>
            <a:endParaRPr/>
          </a:p>
        </p:txBody>
      </p:sp>
      <p:sp>
        <p:nvSpPr>
          <p:cNvPr id="1145" name="Add 1145"/>
          <p:cNvSpPr txBox="1"/>
          <p:nvPr/>
        </p:nvSpPr>
        <p:spPr>
          <a:xfrm>
            <a:off x="822960" y="4206240"/>
            <a:ext cx="1481328" cy="420624"/>
          </a:xfrm>
          <a:prstGeom prst="rect">
            <a:avLst/>
          </a:prstGeom>
          <a:noFill/>
        </p:spPr>
        <p:txBody>
          <a:bodyPr wrap="square" lIns="0" tIns="0" rIns="0" bIns="0" rtlCol="0" anchor="ctr"/>
          <a:lstStyle/>
          <a:p>
            <a:pPr algn="ctr"/>
            <a:r>
              <a:rPr lang="ko-KR" sz="1300" b="1" dirty="0">
                <a:solidFill>
                  <a:srgbClr val="FFFFFF"/>
                </a:solidFill>
                <a:latin typeface="에이투지체 5 Medium"/>
                <a:ea typeface="에이투지체 5 Medium"/>
                <a:cs typeface="에이투지체 5 Medium"/>
              </a:rPr>
              <a:t>데이터 수집</a:t>
            </a:r>
          </a:p>
        </p:txBody>
      </p:sp>
      <p:sp>
        <p:nvSpPr>
          <p:cNvPr id="1146" name="Add 1146"/>
          <p:cNvSpPr/>
          <p:nvPr/>
        </p:nvSpPr>
        <p:spPr>
          <a:xfrm>
            <a:off x="2331720" y="4416552"/>
            <a:ext cx="219456" cy="0"/>
          </a:xfrm>
          <a:prstGeom prst="line">
            <a:avLst/>
          </a:prstGeom>
          <a:ln w="15875">
            <a:solidFill>
              <a:srgbClr val="6B7280"/>
            </a:solidFill>
            <a:tailEnd type="triangle"/>
          </a:ln>
        </p:spPr>
        <p:txBody>
          <a:bodyPr/>
          <a:lstStyle/>
          <a:p>
            <a:endParaRPr/>
          </a:p>
        </p:txBody>
      </p:sp>
      <p:sp>
        <p:nvSpPr>
          <p:cNvPr id="1147" name="Add 1147"/>
          <p:cNvSpPr/>
          <p:nvPr/>
        </p:nvSpPr>
        <p:spPr>
          <a:xfrm>
            <a:off x="2578608" y="4206240"/>
            <a:ext cx="1481328" cy="420624"/>
          </a:xfrm>
          <a:prstGeom prst="roundRect">
            <a:avLst>
              <a:gd name="adj" fmla="val 50000"/>
            </a:avLst>
          </a:prstGeom>
          <a:solidFill>
            <a:srgbClr val="2A313B"/>
          </a:solidFill>
          <a:ln>
            <a:noFill/>
          </a:ln>
        </p:spPr>
        <p:txBody>
          <a:bodyPr/>
          <a:lstStyle/>
          <a:p>
            <a:endParaRPr/>
          </a:p>
        </p:txBody>
      </p:sp>
      <p:sp>
        <p:nvSpPr>
          <p:cNvPr id="1148" name="Add 1148"/>
          <p:cNvSpPr txBox="1"/>
          <p:nvPr/>
        </p:nvSpPr>
        <p:spPr>
          <a:xfrm>
            <a:off x="2578608" y="4206240"/>
            <a:ext cx="1481328" cy="420624"/>
          </a:xfrm>
          <a:prstGeom prst="rect">
            <a:avLst/>
          </a:prstGeom>
          <a:noFill/>
        </p:spPr>
        <p:txBody>
          <a:bodyPr wrap="square" lIns="0" tIns="0" rIns="0" bIns="0" rtlCol="0" anchor="ctr"/>
          <a:lstStyle/>
          <a:p>
            <a:pPr algn="ctr"/>
            <a:r>
              <a:rPr lang="ko-KR" sz="1300" b="1" dirty="0">
                <a:solidFill>
                  <a:srgbClr val="FFFFFF"/>
                </a:solidFill>
                <a:latin typeface="에이투지체 5 Medium"/>
                <a:ea typeface="에이투지체 5 Medium"/>
                <a:cs typeface="에이투지체 5 Medium"/>
              </a:rPr>
              <a:t>전처리</a:t>
            </a:r>
          </a:p>
        </p:txBody>
      </p:sp>
      <p:sp>
        <p:nvSpPr>
          <p:cNvPr id="1149" name="Add 1149"/>
          <p:cNvSpPr/>
          <p:nvPr/>
        </p:nvSpPr>
        <p:spPr>
          <a:xfrm>
            <a:off x="4087368" y="4416552"/>
            <a:ext cx="219456" cy="0"/>
          </a:xfrm>
          <a:prstGeom prst="line">
            <a:avLst/>
          </a:prstGeom>
          <a:ln w="15875">
            <a:solidFill>
              <a:srgbClr val="6B7280"/>
            </a:solidFill>
            <a:tailEnd type="triangle"/>
          </a:ln>
        </p:spPr>
        <p:txBody>
          <a:bodyPr/>
          <a:lstStyle/>
          <a:p>
            <a:endParaRPr/>
          </a:p>
        </p:txBody>
      </p:sp>
      <p:sp>
        <p:nvSpPr>
          <p:cNvPr id="1150" name="Add 1150"/>
          <p:cNvSpPr/>
          <p:nvPr/>
        </p:nvSpPr>
        <p:spPr>
          <a:xfrm>
            <a:off x="4334256" y="4206240"/>
            <a:ext cx="1481328" cy="420624"/>
          </a:xfrm>
          <a:prstGeom prst="roundRect">
            <a:avLst>
              <a:gd name="adj" fmla="val 50000"/>
            </a:avLst>
          </a:prstGeom>
          <a:solidFill>
            <a:srgbClr val="2A313B"/>
          </a:solidFill>
          <a:ln>
            <a:noFill/>
          </a:ln>
        </p:spPr>
        <p:txBody>
          <a:bodyPr/>
          <a:lstStyle/>
          <a:p>
            <a:endParaRPr/>
          </a:p>
        </p:txBody>
      </p:sp>
      <p:sp>
        <p:nvSpPr>
          <p:cNvPr id="1151" name="Add 1151"/>
          <p:cNvSpPr txBox="1"/>
          <p:nvPr/>
        </p:nvSpPr>
        <p:spPr>
          <a:xfrm>
            <a:off x="4334256" y="4206240"/>
            <a:ext cx="1481328" cy="420624"/>
          </a:xfrm>
          <a:prstGeom prst="rect">
            <a:avLst/>
          </a:prstGeom>
          <a:noFill/>
        </p:spPr>
        <p:txBody>
          <a:bodyPr wrap="square" lIns="0" tIns="0" rIns="0" bIns="0" rtlCol="0" anchor="ctr"/>
          <a:lstStyle/>
          <a:p>
            <a:pPr algn="ctr"/>
            <a:r>
              <a:rPr lang="ko-KR" sz="1300" b="1" dirty="0">
                <a:solidFill>
                  <a:srgbClr val="FFFFFF"/>
                </a:solidFill>
                <a:latin typeface="에이투지체 5 Medium"/>
                <a:ea typeface="에이투지체 5 Medium"/>
                <a:cs typeface="에이투지체 5 Medium"/>
              </a:rPr>
              <a:t>분석</a:t>
            </a:r>
          </a:p>
        </p:txBody>
      </p:sp>
      <p:sp>
        <p:nvSpPr>
          <p:cNvPr id="1152" name="Add 1152"/>
          <p:cNvSpPr/>
          <p:nvPr/>
        </p:nvSpPr>
        <p:spPr>
          <a:xfrm>
            <a:off x="5843016" y="4416552"/>
            <a:ext cx="219456" cy="0"/>
          </a:xfrm>
          <a:prstGeom prst="line">
            <a:avLst/>
          </a:prstGeom>
          <a:ln w="15875">
            <a:solidFill>
              <a:srgbClr val="6B7280"/>
            </a:solidFill>
            <a:tailEnd type="triangle"/>
          </a:ln>
        </p:spPr>
        <p:txBody>
          <a:bodyPr/>
          <a:lstStyle/>
          <a:p>
            <a:endParaRPr/>
          </a:p>
        </p:txBody>
      </p:sp>
      <p:sp>
        <p:nvSpPr>
          <p:cNvPr id="1153" name="Add 1153"/>
          <p:cNvSpPr/>
          <p:nvPr/>
        </p:nvSpPr>
        <p:spPr>
          <a:xfrm>
            <a:off x="6089904" y="4206240"/>
            <a:ext cx="1481328" cy="420624"/>
          </a:xfrm>
          <a:prstGeom prst="roundRect">
            <a:avLst>
              <a:gd name="adj" fmla="val 50000"/>
            </a:avLst>
          </a:prstGeom>
          <a:solidFill>
            <a:srgbClr val="D62828"/>
          </a:solidFill>
          <a:ln>
            <a:noFill/>
          </a:ln>
        </p:spPr>
        <p:txBody>
          <a:bodyPr/>
          <a:lstStyle/>
          <a:p>
            <a:endParaRPr/>
          </a:p>
        </p:txBody>
      </p:sp>
      <p:sp>
        <p:nvSpPr>
          <p:cNvPr id="1154" name="Add 1154"/>
          <p:cNvSpPr txBox="1"/>
          <p:nvPr/>
        </p:nvSpPr>
        <p:spPr>
          <a:xfrm>
            <a:off x="6089904" y="4206240"/>
            <a:ext cx="1481328" cy="420624"/>
          </a:xfrm>
          <a:prstGeom prst="rect">
            <a:avLst/>
          </a:prstGeom>
          <a:noFill/>
        </p:spPr>
        <p:txBody>
          <a:bodyPr wrap="square" lIns="0" tIns="0" rIns="0" bIns="0" rtlCol="0" anchor="ctr"/>
          <a:lstStyle/>
          <a:p>
            <a:pPr algn="ctr"/>
            <a:r>
              <a:rPr lang="ko-KR" sz="1300" b="1" dirty="0">
                <a:solidFill>
                  <a:srgbClr val="FFFFFF"/>
                </a:solidFill>
                <a:latin typeface="에이투지체 5 Medium"/>
                <a:ea typeface="에이투지체 5 Medium"/>
                <a:cs typeface="에이투지체 5 Medium"/>
              </a:rPr>
              <a:t>모델 개발</a:t>
            </a:r>
          </a:p>
        </p:txBody>
      </p:sp>
      <p:sp>
        <p:nvSpPr>
          <p:cNvPr id="1155" name="Add 1155"/>
          <p:cNvSpPr/>
          <p:nvPr/>
        </p:nvSpPr>
        <p:spPr>
          <a:xfrm>
            <a:off x="7598664" y="4416552"/>
            <a:ext cx="219456" cy="0"/>
          </a:xfrm>
          <a:prstGeom prst="line">
            <a:avLst/>
          </a:prstGeom>
          <a:ln w="15875">
            <a:solidFill>
              <a:srgbClr val="6B7280"/>
            </a:solidFill>
            <a:tailEnd type="triangle"/>
          </a:ln>
        </p:spPr>
        <p:txBody>
          <a:bodyPr/>
          <a:lstStyle/>
          <a:p>
            <a:endParaRPr/>
          </a:p>
        </p:txBody>
      </p:sp>
      <p:sp>
        <p:nvSpPr>
          <p:cNvPr id="1156" name="Add 1156"/>
          <p:cNvSpPr/>
          <p:nvPr/>
        </p:nvSpPr>
        <p:spPr>
          <a:xfrm>
            <a:off x="7845552" y="4206240"/>
            <a:ext cx="1481328" cy="420624"/>
          </a:xfrm>
          <a:prstGeom prst="roundRect">
            <a:avLst>
              <a:gd name="adj" fmla="val 50000"/>
            </a:avLst>
          </a:prstGeom>
          <a:solidFill>
            <a:srgbClr val="2A313B"/>
          </a:solidFill>
          <a:ln>
            <a:noFill/>
          </a:ln>
        </p:spPr>
        <p:txBody>
          <a:bodyPr/>
          <a:lstStyle/>
          <a:p>
            <a:endParaRPr/>
          </a:p>
        </p:txBody>
      </p:sp>
      <p:sp>
        <p:nvSpPr>
          <p:cNvPr id="1157" name="Add 1157"/>
          <p:cNvSpPr txBox="1"/>
          <p:nvPr/>
        </p:nvSpPr>
        <p:spPr>
          <a:xfrm>
            <a:off x="7845552" y="4206240"/>
            <a:ext cx="1481328" cy="420624"/>
          </a:xfrm>
          <a:prstGeom prst="rect">
            <a:avLst/>
          </a:prstGeom>
          <a:noFill/>
        </p:spPr>
        <p:txBody>
          <a:bodyPr wrap="square" lIns="0" tIns="0" rIns="0" bIns="0" rtlCol="0" anchor="ctr"/>
          <a:lstStyle/>
          <a:p>
            <a:pPr algn="ctr"/>
            <a:r>
              <a:rPr lang="ko-KR" sz="1300" b="1" dirty="0">
                <a:solidFill>
                  <a:srgbClr val="FFFFFF"/>
                </a:solidFill>
                <a:latin typeface="에이투지체 5 Medium"/>
                <a:ea typeface="에이투지체 5 Medium"/>
                <a:cs typeface="에이투지체 5 Medium"/>
              </a:rPr>
              <a:t>웹 서비스</a:t>
            </a:r>
          </a:p>
        </p:txBody>
      </p:sp>
      <p:sp>
        <p:nvSpPr>
          <p:cNvPr id="1158" name="Add 1158"/>
          <p:cNvSpPr/>
          <p:nvPr/>
        </p:nvSpPr>
        <p:spPr>
          <a:xfrm>
            <a:off x="9354312" y="4416552"/>
            <a:ext cx="219456" cy="0"/>
          </a:xfrm>
          <a:prstGeom prst="line">
            <a:avLst/>
          </a:prstGeom>
          <a:ln w="15875">
            <a:solidFill>
              <a:srgbClr val="6B7280"/>
            </a:solidFill>
            <a:tailEnd type="triangle"/>
          </a:ln>
        </p:spPr>
        <p:txBody>
          <a:bodyPr/>
          <a:lstStyle/>
          <a:p>
            <a:endParaRPr/>
          </a:p>
        </p:txBody>
      </p:sp>
      <p:sp>
        <p:nvSpPr>
          <p:cNvPr id="1159" name="Add 1159"/>
          <p:cNvSpPr/>
          <p:nvPr/>
        </p:nvSpPr>
        <p:spPr>
          <a:xfrm>
            <a:off x="9601200" y="4206240"/>
            <a:ext cx="1481328" cy="420624"/>
          </a:xfrm>
          <a:prstGeom prst="roundRect">
            <a:avLst>
              <a:gd name="adj" fmla="val 50000"/>
            </a:avLst>
          </a:prstGeom>
          <a:solidFill>
            <a:srgbClr val="2A313B"/>
          </a:solidFill>
          <a:ln>
            <a:noFill/>
          </a:ln>
        </p:spPr>
        <p:txBody>
          <a:bodyPr/>
          <a:lstStyle/>
          <a:p>
            <a:endParaRPr/>
          </a:p>
        </p:txBody>
      </p:sp>
      <p:sp>
        <p:nvSpPr>
          <p:cNvPr id="1160" name="Add 1160"/>
          <p:cNvSpPr txBox="1"/>
          <p:nvPr/>
        </p:nvSpPr>
        <p:spPr>
          <a:xfrm>
            <a:off x="9601200" y="4206240"/>
            <a:ext cx="1481328" cy="420624"/>
          </a:xfrm>
          <a:prstGeom prst="rect">
            <a:avLst/>
          </a:prstGeom>
          <a:noFill/>
        </p:spPr>
        <p:txBody>
          <a:bodyPr wrap="square" lIns="0" tIns="0" rIns="0" bIns="0" rtlCol="0" anchor="ctr"/>
          <a:lstStyle/>
          <a:p>
            <a:pPr algn="ctr"/>
            <a:r>
              <a:rPr lang="ko-KR" sz="1300" b="1" dirty="0">
                <a:solidFill>
                  <a:srgbClr val="FFFFFF"/>
                </a:solidFill>
                <a:latin typeface="에이투지체 5 Medium"/>
                <a:ea typeface="에이투지체 5 Medium"/>
                <a:cs typeface="에이투지체 5 Medium"/>
              </a:rPr>
              <a:t>결론</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4"/>
        </a:solidFill>
        <a:effectLst/>
      </p:bgPr>
    </p:bg>
    <p:spTree>
      <p:nvGrpSpPr>
        <p:cNvPr id="1" name=""/>
        <p:cNvGrpSpPr/>
        <p:nvPr/>
      </p:nvGrpSpPr>
      <p:grpSpPr>
        <a:xfrm>
          <a:off x="0" y="0"/>
          <a:ext cx="0" cy="0"/>
          <a:chOff x="0" y="0"/>
          <a:chExt cx="0" cy="0"/>
        </a:xfrm>
      </p:grpSpPr>
      <p:sp>
        <p:nvSpPr>
          <p:cNvPr id="3" name="Text 1"/>
          <p:cNvSpPr txBox="1"/>
          <p:nvPr/>
        </p:nvSpPr>
        <p:spPr>
          <a:xfrm>
            <a:off x="457200" y="672084"/>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pitchFamily="50" charset="-127"/>
                <a:ea typeface="에이투지체 5 Medium" pitchFamily="50" charset="-127"/>
                <a:cs typeface="에이투지체 5 Medium"/>
              </a:rPr>
              <a:t>목차</a:t>
            </a:r>
            <a:endParaRPr lang="en-US" sz="3600" dirty="0">
              <a:latin typeface="에이투지체 5 Medium" pitchFamily="50" charset="-127"/>
              <a:ea typeface="에이투지체 5 Medium" pitchFamily="50" charset="-127"/>
            </a:endParaRPr>
          </a:p>
        </p:txBody>
      </p:sp>
      <p:sp>
        <p:nvSpPr>
          <p:cNvPr id="5" name="Text 3"/>
          <p:cNvSpPr txBox="1"/>
          <p:nvPr/>
        </p:nvSpPr>
        <p:spPr>
          <a:xfrm>
            <a:off x="455372" y="5989320"/>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02</a:t>
            </a:r>
            <a:endParaRPr lang="en-US" sz="900" dirty="0"/>
          </a:p>
        </p:txBody>
      </p:sp>
      <p:sp>
        <p:nvSpPr>
          <p:cNvPr id="1116" name="Add 1116"/>
          <p:cNvSpPr/>
          <p:nvPr/>
        </p:nvSpPr>
        <p:spPr>
          <a:xfrm>
            <a:off x="455372" y="1609344"/>
            <a:ext cx="2681935" cy="2002536"/>
          </a:xfrm>
          <a:prstGeom prst="roundRect">
            <a:avLst>
              <a:gd name="adj" fmla="val 4566"/>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1117" name="Add 1117"/>
          <p:cNvSpPr txBox="1"/>
          <p:nvPr/>
        </p:nvSpPr>
        <p:spPr>
          <a:xfrm>
            <a:off x="729692" y="1837944"/>
            <a:ext cx="1371600" cy="548640"/>
          </a:xfrm>
          <a:prstGeom prst="rect">
            <a:avLst/>
          </a:prstGeom>
          <a:noFill/>
        </p:spPr>
        <p:txBody>
          <a:bodyPr wrap="square" lIns="0" tIns="0" rIns="0" bIns="0" rtlCol="0" anchor="ctr"/>
          <a:lstStyle/>
          <a:p>
            <a:pPr algn="l"/>
            <a:r>
              <a:rPr lang="ko-KR" sz="3200" spc="-100" dirty="0">
                <a:solidFill>
                  <a:srgbClr val="D62828"/>
                </a:solidFill>
                <a:latin typeface="에이투지체 5 Medium"/>
                <a:ea typeface="에이투지체 5 Medium"/>
                <a:cs typeface="에이투지체 5 Medium"/>
              </a:rPr>
              <a:t>00</a:t>
            </a:r>
          </a:p>
        </p:txBody>
      </p:sp>
      <p:sp>
        <p:nvSpPr>
          <p:cNvPr id="1118" name="Add 1118"/>
          <p:cNvSpPr txBox="1"/>
          <p:nvPr/>
        </p:nvSpPr>
        <p:spPr>
          <a:xfrm>
            <a:off x="729692" y="2478024"/>
            <a:ext cx="2133295" cy="384048"/>
          </a:xfrm>
          <a:prstGeom prst="rect">
            <a:avLst/>
          </a:prstGeom>
          <a:noFill/>
        </p:spPr>
        <p:txBody>
          <a:bodyPr wrap="square" lIns="0" tIns="0" rIns="0" bIns="0" rtlCol="0" anchor="ctr"/>
          <a:lstStyle/>
          <a:p>
            <a:pPr algn="l"/>
            <a:r>
              <a:rPr lang="ko-KR" sz="2000" b="1" dirty="0">
                <a:solidFill>
                  <a:srgbClr val="222222"/>
                </a:solidFill>
                <a:latin typeface="에이투지체 5 Medium"/>
                <a:ea typeface="에이투지체 5 Medium"/>
                <a:cs typeface="에이투지체 5 Medium"/>
              </a:rPr>
              <a:t>프로젝트 소개</a:t>
            </a:r>
          </a:p>
        </p:txBody>
      </p:sp>
      <p:sp>
        <p:nvSpPr>
          <p:cNvPr id="1119" name="Add 1119"/>
          <p:cNvSpPr txBox="1"/>
          <p:nvPr/>
        </p:nvSpPr>
        <p:spPr>
          <a:xfrm>
            <a:off x="729692" y="2935224"/>
            <a:ext cx="2133295" cy="457200"/>
          </a:xfrm>
          <a:prstGeom prst="rect">
            <a:avLst/>
          </a:prstGeom>
          <a:noFill/>
        </p:spPr>
        <p:txBody>
          <a:bodyPr wrap="square" lIns="0" tIns="0" rIns="0" bIns="0" rtlCol="0" anchor="t"/>
          <a:lstStyle/>
          <a:p>
            <a:pPr algn="l"/>
            <a:r>
              <a:rPr lang="ko-KR" sz="1150" dirty="0">
                <a:solidFill>
                  <a:srgbClr val="45515E"/>
                </a:solidFill>
                <a:latin typeface="에이투지체 5 Medium"/>
                <a:ea typeface="에이투지체 5 Medium"/>
                <a:cs typeface="에이투지체 5 Medium"/>
              </a:rPr>
              <a:t>개발 목표 · 개발 과정 · 일정 · 업무 분담</a:t>
            </a:r>
          </a:p>
        </p:txBody>
      </p:sp>
      <p:sp>
        <p:nvSpPr>
          <p:cNvPr id="1120" name="Add 1120"/>
          <p:cNvSpPr/>
          <p:nvPr/>
        </p:nvSpPr>
        <p:spPr>
          <a:xfrm>
            <a:off x="3320187" y="1609344"/>
            <a:ext cx="2681935" cy="2002536"/>
          </a:xfrm>
          <a:prstGeom prst="roundRect">
            <a:avLst>
              <a:gd name="adj" fmla="val 4566"/>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1121" name="Add 1121"/>
          <p:cNvSpPr txBox="1"/>
          <p:nvPr/>
        </p:nvSpPr>
        <p:spPr>
          <a:xfrm>
            <a:off x="3594507" y="1837944"/>
            <a:ext cx="1371600" cy="548640"/>
          </a:xfrm>
          <a:prstGeom prst="rect">
            <a:avLst/>
          </a:prstGeom>
          <a:noFill/>
        </p:spPr>
        <p:txBody>
          <a:bodyPr wrap="square" lIns="0" tIns="0" rIns="0" bIns="0" rtlCol="0" anchor="ctr"/>
          <a:lstStyle/>
          <a:p>
            <a:pPr algn="l"/>
            <a:r>
              <a:rPr lang="ko-KR" sz="3200" spc="-100" dirty="0">
                <a:solidFill>
                  <a:srgbClr val="D62828"/>
                </a:solidFill>
                <a:latin typeface="에이투지체 5 Medium"/>
                <a:ea typeface="에이투지체 5 Medium"/>
                <a:cs typeface="에이투지체 5 Medium"/>
              </a:rPr>
              <a:t>01</a:t>
            </a:r>
          </a:p>
        </p:txBody>
      </p:sp>
      <p:sp>
        <p:nvSpPr>
          <p:cNvPr id="1122" name="Add 1122"/>
          <p:cNvSpPr txBox="1"/>
          <p:nvPr/>
        </p:nvSpPr>
        <p:spPr>
          <a:xfrm>
            <a:off x="3594507" y="2478024"/>
            <a:ext cx="2133295" cy="384048"/>
          </a:xfrm>
          <a:prstGeom prst="rect">
            <a:avLst/>
          </a:prstGeom>
          <a:noFill/>
        </p:spPr>
        <p:txBody>
          <a:bodyPr wrap="square" lIns="0" tIns="0" rIns="0" bIns="0" rtlCol="0" anchor="ctr"/>
          <a:lstStyle/>
          <a:p>
            <a:pPr algn="l"/>
            <a:r>
              <a:rPr lang="ko-KR" sz="2000" b="1" dirty="0">
                <a:solidFill>
                  <a:srgbClr val="222222"/>
                </a:solidFill>
                <a:latin typeface="에이투지체 5 Medium"/>
                <a:ea typeface="에이투지체 5 Medium"/>
                <a:cs typeface="에이투지체 5 Medium"/>
              </a:rPr>
              <a:t>데이터 수집</a:t>
            </a:r>
          </a:p>
        </p:txBody>
      </p:sp>
      <p:sp>
        <p:nvSpPr>
          <p:cNvPr id="1123" name="Add 1123"/>
          <p:cNvSpPr txBox="1"/>
          <p:nvPr/>
        </p:nvSpPr>
        <p:spPr>
          <a:xfrm>
            <a:off x="3594507" y="2935224"/>
            <a:ext cx="2133295" cy="457200"/>
          </a:xfrm>
          <a:prstGeom prst="rect">
            <a:avLst/>
          </a:prstGeom>
          <a:noFill/>
        </p:spPr>
        <p:txBody>
          <a:bodyPr wrap="square" lIns="0" tIns="0" rIns="0" bIns="0" rtlCol="0" anchor="t"/>
          <a:lstStyle/>
          <a:p>
            <a:pPr algn="l"/>
            <a:r>
              <a:rPr lang="ko-KR" sz="1150" dirty="0">
                <a:solidFill>
                  <a:srgbClr val="45515E"/>
                </a:solidFill>
                <a:latin typeface="에이투지체 5 Medium"/>
                <a:ea typeface="에이투지체 5 Medium"/>
                <a:cs typeface="에이투지체 5 Medium"/>
              </a:rPr>
              <a:t>자료 구성 · 제외 기준 · API 수집</a:t>
            </a:r>
          </a:p>
        </p:txBody>
      </p:sp>
      <p:sp>
        <p:nvSpPr>
          <p:cNvPr id="1124" name="Add 1124"/>
          <p:cNvSpPr/>
          <p:nvPr/>
        </p:nvSpPr>
        <p:spPr>
          <a:xfrm>
            <a:off x="6185002" y="1609344"/>
            <a:ext cx="2681935" cy="2002536"/>
          </a:xfrm>
          <a:prstGeom prst="roundRect">
            <a:avLst>
              <a:gd name="adj" fmla="val 4566"/>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1125" name="Add 1125"/>
          <p:cNvSpPr txBox="1"/>
          <p:nvPr/>
        </p:nvSpPr>
        <p:spPr>
          <a:xfrm>
            <a:off x="6459322" y="1837944"/>
            <a:ext cx="1371600" cy="548640"/>
          </a:xfrm>
          <a:prstGeom prst="rect">
            <a:avLst/>
          </a:prstGeom>
          <a:noFill/>
        </p:spPr>
        <p:txBody>
          <a:bodyPr wrap="square" lIns="0" tIns="0" rIns="0" bIns="0" rtlCol="0" anchor="ctr"/>
          <a:lstStyle/>
          <a:p>
            <a:pPr algn="l"/>
            <a:r>
              <a:rPr lang="ko-KR" sz="3200" spc="-100" dirty="0">
                <a:solidFill>
                  <a:srgbClr val="D62828"/>
                </a:solidFill>
                <a:latin typeface="에이투지체 5 Medium"/>
                <a:ea typeface="에이투지체 5 Medium"/>
                <a:cs typeface="에이투지체 5 Medium"/>
              </a:rPr>
              <a:t>02</a:t>
            </a:r>
          </a:p>
        </p:txBody>
      </p:sp>
      <p:sp>
        <p:nvSpPr>
          <p:cNvPr id="1126" name="Add 1126"/>
          <p:cNvSpPr txBox="1"/>
          <p:nvPr/>
        </p:nvSpPr>
        <p:spPr>
          <a:xfrm>
            <a:off x="6459322" y="2478024"/>
            <a:ext cx="2133295" cy="384048"/>
          </a:xfrm>
          <a:prstGeom prst="rect">
            <a:avLst/>
          </a:prstGeom>
          <a:noFill/>
        </p:spPr>
        <p:txBody>
          <a:bodyPr wrap="square" lIns="0" tIns="0" rIns="0" bIns="0" rtlCol="0" anchor="ctr"/>
          <a:lstStyle/>
          <a:p>
            <a:pPr algn="l"/>
            <a:r>
              <a:rPr lang="ko-KR" sz="2000" b="1" dirty="0">
                <a:solidFill>
                  <a:srgbClr val="222222"/>
                </a:solidFill>
                <a:latin typeface="에이투지체 5 Medium"/>
                <a:ea typeface="에이투지체 5 Medium"/>
                <a:cs typeface="에이투지체 5 Medium"/>
              </a:rPr>
              <a:t>데이터 전처리</a:t>
            </a:r>
          </a:p>
        </p:txBody>
      </p:sp>
      <p:sp>
        <p:nvSpPr>
          <p:cNvPr id="1127" name="Add 1127"/>
          <p:cNvSpPr txBox="1"/>
          <p:nvPr/>
        </p:nvSpPr>
        <p:spPr>
          <a:xfrm>
            <a:off x="6459322" y="2935224"/>
            <a:ext cx="2133295" cy="457200"/>
          </a:xfrm>
          <a:prstGeom prst="rect">
            <a:avLst/>
          </a:prstGeom>
          <a:noFill/>
        </p:spPr>
        <p:txBody>
          <a:bodyPr wrap="square" lIns="0" tIns="0" rIns="0" bIns="0" rtlCol="0" anchor="t"/>
          <a:lstStyle/>
          <a:p>
            <a:pPr algn="l"/>
            <a:r>
              <a:rPr lang="ko-KR" sz="1150" dirty="0">
                <a:solidFill>
                  <a:srgbClr val="45515E"/>
                </a:solidFill>
                <a:latin typeface="에이투지체 5 Medium"/>
                <a:ea typeface="에이투지체 5 Medium"/>
                <a:cs typeface="에이투지체 5 Medium"/>
              </a:rPr>
              <a:t>형식 통일 · 결측 처리 · 통합 · 변수 선택</a:t>
            </a:r>
          </a:p>
        </p:txBody>
      </p:sp>
      <p:sp>
        <p:nvSpPr>
          <p:cNvPr id="1128" name="Add 1128"/>
          <p:cNvSpPr/>
          <p:nvPr/>
        </p:nvSpPr>
        <p:spPr>
          <a:xfrm>
            <a:off x="9049818" y="1609344"/>
            <a:ext cx="2681935" cy="2002536"/>
          </a:xfrm>
          <a:prstGeom prst="roundRect">
            <a:avLst>
              <a:gd name="adj" fmla="val 4566"/>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1129" name="Add 1129"/>
          <p:cNvSpPr txBox="1"/>
          <p:nvPr/>
        </p:nvSpPr>
        <p:spPr>
          <a:xfrm>
            <a:off x="9324138" y="1837944"/>
            <a:ext cx="1371600" cy="548640"/>
          </a:xfrm>
          <a:prstGeom prst="rect">
            <a:avLst/>
          </a:prstGeom>
          <a:noFill/>
        </p:spPr>
        <p:txBody>
          <a:bodyPr wrap="square" lIns="0" tIns="0" rIns="0" bIns="0" rtlCol="0" anchor="ctr"/>
          <a:lstStyle/>
          <a:p>
            <a:pPr algn="l"/>
            <a:r>
              <a:rPr lang="ko-KR" sz="3200" spc="-100" dirty="0">
                <a:solidFill>
                  <a:srgbClr val="D62828"/>
                </a:solidFill>
                <a:latin typeface="에이투지체 5 Medium"/>
                <a:ea typeface="에이투지체 5 Medium"/>
                <a:cs typeface="에이투지체 5 Medium"/>
              </a:rPr>
              <a:t>03</a:t>
            </a:r>
          </a:p>
        </p:txBody>
      </p:sp>
      <p:sp>
        <p:nvSpPr>
          <p:cNvPr id="1130" name="Add 1130"/>
          <p:cNvSpPr txBox="1"/>
          <p:nvPr/>
        </p:nvSpPr>
        <p:spPr>
          <a:xfrm>
            <a:off x="9324138" y="2478024"/>
            <a:ext cx="2133295" cy="384048"/>
          </a:xfrm>
          <a:prstGeom prst="rect">
            <a:avLst/>
          </a:prstGeom>
          <a:noFill/>
        </p:spPr>
        <p:txBody>
          <a:bodyPr wrap="square" lIns="0" tIns="0" rIns="0" bIns="0" rtlCol="0" anchor="ctr"/>
          <a:lstStyle/>
          <a:p>
            <a:pPr algn="l"/>
            <a:r>
              <a:rPr lang="ko-KR" sz="2000" b="1" dirty="0">
                <a:solidFill>
                  <a:srgbClr val="222222"/>
                </a:solidFill>
                <a:latin typeface="에이투지체 5 Medium"/>
                <a:ea typeface="에이투지체 5 Medium"/>
                <a:cs typeface="에이투지체 5 Medium"/>
              </a:rPr>
              <a:t>데이터 분석</a:t>
            </a:r>
          </a:p>
        </p:txBody>
      </p:sp>
      <p:sp>
        <p:nvSpPr>
          <p:cNvPr id="1131" name="Add 1131"/>
          <p:cNvSpPr txBox="1"/>
          <p:nvPr/>
        </p:nvSpPr>
        <p:spPr>
          <a:xfrm>
            <a:off x="9324138" y="2935224"/>
            <a:ext cx="2133295" cy="457200"/>
          </a:xfrm>
          <a:prstGeom prst="rect">
            <a:avLst/>
          </a:prstGeom>
          <a:noFill/>
        </p:spPr>
        <p:txBody>
          <a:bodyPr wrap="square" lIns="0" tIns="0" rIns="0" bIns="0" rtlCol="0" anchor="t"/>
          <a:lstStyle/>
          <a:p>
            <a:pPr algn="l"/>
            <a:r>
              <a:rPr lang="ko-KR" sz="1150" dirty="0">
                <a:solidFill>
                  <a:srgbClr val="45515E"/>
                </a:solidFill>
                <a:latin typeface="에이투지체 5 Medium"/>
                <a:ea typeface="에이투지체 5 Medium"/>
                <a:cs typeface="에이투지체 5 Medium"/>
              </a:rPr>
              <a:t>인구-이송 관계 · 자치구 유형 · 계절성</a:t>
            </a:r>
          </a:p>
        </p:txBody>
      </p:sp>
      <p:sp>
        <p:nvSpPr>
          <p:cNvPr id="1132" name="Add 1132"/>
          <p:cNvSpPr/>
          <p:nvPr/>
        </p:nvSpPr>
        <p:spPr>
          <a:xfrm>
            <a:off x="455372" y="3803904"/>
            <a:ext cx="3637483" cy="2002536"/>
          </a:xfrm>
          <a:prstGeom prst="roundRect">
            <a:avLst>
              <a:gd name="adj" fmla="val 4566"/>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1133" name="Add 1133"/>
          <p:cNvSpPr txBox="1"/>
          <p:nvPr/>
        </p:nvSpPr>
        <p:spPr>
          <a:xfrm>
            <a:off x="729692" y="4032504"/>
            <a:ext cx="1371600" cy="548640"/>
          </a:xfrm>
          <a:prstGeom prst="rect">
            <a:avLst/>
          </a:prstGeom>
          <a:noFill/>
        </p:spPr>
        <p:txBody>
          <a:bodyPr wrap="square" lIns="0" tIns="0" rIns="0" bIns="0" rtlCol="0" anchor="ctr"/>
          <a:lstStyle/>
          <a:p>
            <a:pPr algn="l"/>
            <a:r>
              <a:rPr lang="ko-KR" sz="3200" spc="-100" dirty="0">
                <a:solidFill>
                  <a:srgbClr val="D62828"/>
                </a:solidFill>
                <a:latin typeface="에이투지체 5 Medium"/>
                <a:ea typeface="에이투지체 5 Medium"/>
                <a:cs typeface="에이투지체 5 Medium"/>
              </a:rPr>
              <a:t>04</a:t>
            </a:r>
          </a:p>
        </p:txBody>
      </p:sp>
      <p:sp>
        <p:nvSpPr>
          <p:cNvPr id="1134" name="Add 1134"/>
          <p:cNvSpPr txBox="1"/>
          <p:nvPr/>
        </p:nvSpPr>
        <p:spPr>
          <a:xfrm>
            <a:off x="729692" y="4672584"/>
            <a:ext cx="3088843" cy="384048"/>
          </a:xfrm>
          <a:prstGeom prst="rect">
            <a:avLst/>
          </a:prstGeom>
          <a:noFill/>
        </p:spPr>
        <p:txBody>
          <a:bodyPr wrap="square" lIns="0" tIns="0" rIns="0" bIns="0" rtlCol="0" anchor="ctr"/>
          <a:lstStyle/>
          <a:p>
            <a:pPr algn="l"/>
            <a:r>
              <a:rPr lang="ko-KR" sz="2000" b="1" dirty="0">
                <a:solidFill>
                  <a:srgbClr val="222222"/>
                </a:solidFill>
                <a:latin typeface="에이투지체 5 Medium"/>
                <a:ea typeface="에이투지체 5 Medium"/>
                <a:cs typeface="에이투지체 5 Medium"/>
              </a:rPr>
              <a:t>모델 개발</a:t>
            </a:r>
          </a:p>
        </p:txBody>
      </p:sp>
      <p:sp>
        <p:nvSpPr>
          <p:cNvPr id="1135" name="Add 1135"/>
          <p:cNvSpPr txBox="1"/>
          <p:nvPr/>
        </p:nvSpPr>
        <p:spPr>
          <a:xfrm>
            <a:off x="729692" y="5129784"/>
            <a:ext cx="3088843" cy="457200"/>
          </a:xfrm>
          <a:prstGeom prst="rect">
            <a:avLst/>
          </a:prstGeom>
          <a:noFill/>
        </p:spPr>
        <p:txBody>
          <a:bodyPr wrap="square" lIns="0" tIns="0" rIns="0" bIns="0" rtlCol="0" anchor="t"/>
          <a:lstStyle/>
          <a:p>
            <a:pPr algn="l"/>
            <a:r>
              <a:rPr lang="ko-KR" sz="1150" dirty="0">
                <a:solidFill>
                  <a:srgbClr val="45515E"/>
                </a:solidFill>
                <a:latin typeface="에이투지체 5 Medium"/>
                <a:ea typeface="에이투지체 5 Medium"/>
                <a:cs typeface="에이투지체 5 Medium"/>
              </a:rPr>
              <a:t>데이터 분할 · 특성 실험 · 모델 비교</a:t>
            </a:r>
          </a:p>
        </p:txBody>
      </p:sp>
      <p:sp>
        <p:nvSpPr>
          <p:cNvPr id="1136" name="Add 1136"/>
          <p:cNvSpPr/>
          <p:nvPr/>
        </p:nvSpPr>
        <p:spPr>
          <a:xfrm>
            <a:off x="4275735" y="3803904"/>
            <a:ext cx="3637483" cy="2002536"/>
          </a:xfrm>
          <a:prstGeom prst="roundRect">
            <a:avLst>
              <a:gd name="adj" fmla="val 4566"/>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1137" name="Add 1137"/>
          <p:cNvSpPr txBox="1"/>
          <p:nvPr/>
        </p:nvSpPr>
        <p:spPr>
          <a:xfrm>
            <a:off x="4550055" y="4032504"/>
            <a:ext cx="1371600" cy="548640"/>
          </a:xfrm>
          <a:prstGeom prst="rect">
            <a:avLst/>
          </a:prstGeom>
          <a:noFill/>
        </p:spPr>
        <p:txBody>
          <a:bodyPr wrap="square" lIns="0" tIns="0" rIns="0" bIns="0" rtlCol="0" anchor="ctr"/>
          <a:lstStyle/>
          <a:p>
            <a:pPr algn="l"/>
            <a:r>
              <a:rPr lang="ko-KR" sz="3200" spc="-100" dirty="0">
                <a:solidFill>
                  <a:srgbClr val="D62828"/>
                </a:solidFill>
                <a:latin typeface="에이투지체 5 Medium"/>
                <a:ea typeface="에이투지체 5 Medium"/>
                <a:cs typeface="에이투지체 5 Medium"/>
              </a:rPr>
              <a:t>05</a:t>
            </a:r>
          </a:p>
        </p:txBody>
      </p:sp>
      <p:sp>
        <p:nvSpPr>
          <p:cNvPr id="1138" name="Add 1138"/>
          <p:cNvSpPr txBox="1"/>
          <p:nvPr/>
        </p:nvSpPr>
        <p:spPr>
          <a:xfrm>
            <a:off x="4550055" y="4672584"/>
            <a:ext cx="3088843" cy="384048"/>
          </a:xfrm>
          <a:prstGeom prst="rect">
            <a:avLst/>
          </a:prstGeom>
          <a:noFill/>
        </p:spPr>
        <p:txBody>
          <a:bodyPr wrap="square" lIns="0" tIns="0" rIns="0" bIns="0" rtlCol="0" anchor="ctr"/>
          <a:lstStyle/>
          <a:p>
            <a:pPr algn="l"/>
            <a:r>
              <a:rPr lang="ko-KR" sz="2000" b="1" dirty="0">
                <a:solidFill>
                  <a:srgbClr val="222222"/>
                </a:solidFill>
                <a:latin typeface="에이투지체 5 Medium"/>
                <a:ea typeface="에이투지체 5 Medium"/>
                <a:cs typeface="에이투지체 5 Medium"/>
              </a:rPr>
              <a:t>웹 서비스</a:t>
            </a:r>
          </a:p>
        </p:txBody>
      </p:sp>
      <p:sp>
        <p:nvSpPr>
          <p:cNvPr id="1139" name="Add 1139"/>
          <p:cNvSpPr txBox="1"/>
          <p:nvPr/>
        </p:nvSpPr>
        <p:spPr>
          <a:xfrm>
            <a:off x="4550055" y="5129784"/>
            <a:ext cx="3088843" cy="457200"/>
          </a:xfrm>
          <a:prstGeom prst="rect">
            <a:avLst/>
          </a:prstGeom>
          <a:noFill/>
        </p:spPr>
        <p:txBody>
          <a:bodyPr wrap="square" lIns="0" tIns="0" rIns="0" bIns="0" rtlCol="0" anchor="t"/>
          <a:lstStyle/>
          <a:p>
            <a:pPr algn="l"/>
            <a:r>
              <a:rPr lang="ko-KR" sz="1150" dirty="0">
                <a:solidFill>
                  <a:srgbClr val="45515E"/>
                </a:solidFill>
                <a:latin typeface="에이투지체 5 Medium"/>
                <a:ea typeface="에이투지체 5 Medium"/>
                <a:cs typeface="에이투지체 5 Medium"/>
              </a:rPr>
              <a:t>서비스 구성 · 예측 대시보드 · 병상 관제</a:t>
            </a:r>
          </a:p>
        </p:txBody>
      </p:sp>
      <p:sp>
        <p:nvSpPr>
          <p:cNvPr id="1140" name="Add 1140"/>
          <p:cNvSpPr/>
          <p:nvPr/>
        </p:nvSpPr>
        <p:spPr>
          <a:xfrm>
            <a:off x="8096098" y="3803904"/>
            <a:ext cx="3637483" cy="2002536"/>
          </a:xfrm>
          <a:prstGeom prst="roundRect">
            <a:avLst>
              <a:gd name="adj" fmla="val 4566"/>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1141" name="Add 1141"/>
          <p:cNvSpPr txBox="1"/>
          <p:nvPr/>
        </p:nvSpPr>
        <p:spPr>
          <a:xfrm>
            <a:off x="8370418" y="4032504"/>
            <a:ext cx="1371600" cy="548640"/>
          </a:xfrm>
          <a:prstGeom prst="rect">
            <a:avLst/>
          </a:prstGeom>
          <a:noFill/>
        </p:spPr>
        <p:txBody>
          <a:bodyPr wrap="square" lIns="0" tIns="0" rIns="0" bIns="0" rtlCol="0" anchor="ctr"/>
          <a:lstStyle/>
          <a:p>
            <a:pPr algn="l"/>
            <a:r>
              <a:rPr lang="ko-KR" sz="3200" spc="-100" dirty="0">
                <a:solidFill>
                  <a:srgbClr val="D62828"/>
                </a:solidFill>
                <a:latin typeface="에이투지체 5 Medium"/>
                <a:ea typeface="에이투지체 5 Medium"/>
                <a:cs typeface="에이투지체 5 Medium"/>
              </a:rPr>
              <a:t>06</a:t>
            </a:r>
          </a:p>
        </p:txBody>
      </p:sp>
      <p:sp>
        <p:nvSpPr>
          <p:cNvPr id="1142" name="Add 1142"/>
          <p:cNvSpPr txBox="1"/>
          <p:nvPr/>
        </p:nvSpPr>
        <p:spPr>
          <a:xfrm>
            <a:off x="8370418" y="4672584"/>
            <a:ext cx="3088843" cy="384048"/>
          </a:xfrm>
          <a:prstGeom prst="rect">
            <a:avLst/>
          </a:prstGeom>
          <a:noFill/>
        </p:spPr>
        <p:txBody>
          <a:bodyPr wrap="square" lIns="0" tIns="0" rIns="0" bIns="0" rtlCol="0" anchor="ctr"/>
          <a:lstStyle/>
          <a:p>
            <a:pPr algn="l"/>
            <a:r>
              <a:rPr lang="ko-KR" sz="2000" b="1" dirty="0">
                <a:solidFill>
                  <a:srgbClr val="222222"/>
                </a:solidFill>
                <a:latin typeface="에이투지체 5 Medium"/>
                <a:ea typeface="에이투지체 5 Medium"/>
                <a:cs typeface="에이투지체 5 Medium"/>
              </a:rPr>
              <a:t>결론</a:t>
            </a:r>
          </a:p>
        </p:txBody>
      </p:sp>
      <p:sp>
        <p:nvSpPr>
          <p:cNvPr id="1143" name="Add 1143"/>
          <p:cNvSpPr txBox="1"/>
          <p:nvPr/>
        </p:nvSpPr>
        <p:spPr>
          <a:xfrm>
            <a:off x="8370418" y="5129784"/>
            <a:ext cx="3088843" cy="457200"/>
          </a:xfrm>
          <a:prstGeom prst="rect">
            <a:avLst/>
          </a:prstGeom>
          <a:noFill/>
        </p:spPr>
        <p:txBody>
          <a:bodyPr wrap="square" lIns="0" tIns="0" rIns="0" bIns="0" rtlCol="0" anchor="t"/>
          <a:lstStyle/>
          <a:p>
            <a:pPr algn="l"/>
            <a:r>
              <a:rPr lang="ko-KR" sz="1150" dirty="0">
                <a:solidFill>
                  <a:srgbClr val="45515E"/>
                </a:solidFill>
                <a:latin typeface="에이투지체 5 Medium"/>
                <a:ea typeface="에이투지체 5 Medium"/>
                <a:cs typeface="에이투지체 5 Medium"/>
              </a:rPr>
              <a:t>최종 결과 · 향후 연구 방향 · 참고 자료</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81E25"/>
        </a:solidFill>
        <a:effectLst/>
      </p:bgPr>
    </p:bg>
    <p:spTree>
      <p:nvGrpSpPr>
        <p:cNvPr id="1" name=""/>
        <p:cNvGrpSpPr/>
        <p:nvPr/>
      </p:nvGrpSpPr>
      <p:grpSpPr>
        <a:xfrm>
          <a:off x="0" y="0"/>
          <a:ext cx="0" cy="0"/>
          <a:chOff x="0" y="0"/>
          <a:chExt cx="0" cy="0"/>
        </a:xfrm>
      </p:grpSpPr>
      <p:sp>
        <p:nvSpPr>
          <p:cNvPr id="2" name="Text 0"/>
          <p:cNvSpPr txBox="1"/>
          <p:nvPr/>
        </p:nvSpPr>
        <p:spPr>
          <a:xfrm>
            <a:off x="822960" y="1965960"/>
            <a:ext cx="3657600" cy="365760"/>
          </a:xfrm>
          <a:prstGeom prst="rect">
            <a:avLst/>
          </a:prstGeom>
          <a:noFill/>
          <a:ln/>
        </p:spPr>
        <p:txBody>
          <a:bodyPr wrap="square" lIns="0" tIns="0" rIns="0" bIns="0" rtlCol="0" anchor="ctr"/>
          <a:lstStyle/>
          <a:p>
            <a:pPr marL="0" indent="0">
              <a:buNone/>
            </a:pPr>
            <a:r>
              <a:rPr lang="en-US" sz="1400" dirty="0">
                <a:solidFill>
                  <a:srgbClr val="FFFFFF">
                    <a:alpha val="60000"/>
                  </a:srgbClr>
                </a:solidFill>
                <a:latin typeface="에이투지체 5 Medium"/>
                <a:ea typeface="에이투지체 5 Medium"/>
                <a:cs typeface="에이투지체 5 Medium"/>
              </a:rPr>
              <a:t>00</a:t>
            </a:r>
            <a:endParaRPr lang="en-US" sz="1400" dirty="0"/>
          </a:p>
        </p:txBody>
      </p:sp>
      <p:sp>
        <p:nvSpPr>
          <p:cNvPr id="3" name="Text 1"/>
          <p:cNvSpPr txBox="1"/>
          <p:nvPr/>
        </p:nvSpPr>
        <p:spPr>
          <a:xfrm>
            <a:off x="822960" y="2377440"/>
            <a:ext cx="10515600" cy="868680"/>
          </a:xfrm>
          <a:prstGeom prst="rect">
            <a:avLst/>
          </a:prstGeom>
          <a:noFill/>
          <a:ln/>
        </p:spPr>
        <p:txBody>
          <a:bodyPr wrap="square" lIns="0" tIns="0" rIns="0" bIns="0" rtlCol="0" anchor="ctr"/>
          <a:lstStyle/>
          <a:p>
            <a:pPr marL="0" indent="0">
              <a:buNone/>
            </a:pPr>
            <a:r>
              <a:rPr lang="en-US" sz="5600" b="1" dirty="0">
                <a:solidFill>
                  <a:srgbClr val="FFFFFF"/>
                </a:solidFill>
                <a:latin typeface="에이투지체 5 Medium"/>
                <a:ea typeface="에이투지체 5 Medium"/>
                <a:cs typeface="에이투지체 5 Medium"/>
              </a:rPr>
              <a:t>프로젝트 소개</a:t>
            </a:r>
            <a:endParaRPr lang="en-US" sz="5600" dirty="0"/>
          </a:p>
        </p:txBody>
      </p:sp>
      <p:sp>
        <p:nvSpPr>
          <p:cNvPr id="4" name="Text 2"/>
          <p:cNvSpPr txBox="1"/>
          <p:nvPr/>
        </p:nvSpPr>
        <p:spPr>
          <a:xfrm>
            <a:off x="822960" y="3383280"/>
            <a:ext cx="10515600" cy="457200"/>
          </a:xfrm>
          <a:prstGeom prst="rect">
            <a:avLst/>
          </a:prstGeom>
          <a:noFill/>
          <a:ln/>
        </p:spPr>
        <p:txBody>
          <a:bodyPr wrap="square" lIns="0" tIns="0" rIns="0" bIns="0" rtlCol="0" anchor="ctr"/>
          <a:lstStyle/>
          <a:p>
            <a:pPr marL="0" indent="0">
              <a:buNone/>
            </a:pPr>
            <a:r>
              <a:rPr lang="en-US" sz="2200" dirty="0">
                <a:solidFill>
                  <a:srgbClr val="FFFFFF">
                    <a:alpha val="70000"/>
                  </a:srgbClr>
                </a:solidFill>
                <a:latin typeface="에이투지체 5 Medium"/>
                <a:ea typeface="에이투지체 5 Medium"/>
                <a:cs typeface="에이투지체 5 Medium"/>
              </a:rPr>
              <a:t>개발 목표와 전체 개발 과정, 프로젝트 일정 및 업무 분담</a:t>
            </a:r>
            <a:endParaRPr lang="en-US" sz="2200" dirty="0"/>
          </a:p>
        </p:txBody>
      </p:sp>
      <p:sp>
        <p:nvSpPr>
          <p:cNvPr id="5" name="Shape 3"/>
          <p:cNvSpPr/>
          <p:nvPr/>
        </p:nvSpPr>
        <p:spPr>
          <a:xfrm>
            <a:off x="822960" y="4434840"/>
            <a:ext cx="3393338" cy="0"/>
          </a:xfrm>
          <a:prstGeom prst="line">
            <a:avLst/>
          </a:prstGeom>
          <a:noFill/>
          <a:ln w="25400">
            <a:solidFill>
              <a:srgbClr val="D62828"/>
            </a:solidFill>
            <a:prstDash val="solid"/>
          </a:ln>
        </p:spPr>
        <p:txBody>
          <a:bodyPr/>
          <a:lstStyle/>
          <a:p>
            <a:endParaRPr/>
          </a:p>
        </p:txBody>
      </p:sp>
      <p:sp>
        <p:nvSpPr>
          <p:cNvPr id="6" name="Text 4"/>
          <p:cNvSpPr txBox="1"/>
          <p:nvPr/>
        </p:nvSpPr>
        <p:spPr>
          <a:xfrm>
            <a:off x="822960" y="4572000"/>
            <a:ext cx="3393338" cy="274320"/>
          </a:xfrm>
          <a:prstGeom prst="rect">
            <a:avLst/>
          </a:prstGeom>
          <a:noFill/>
          <a:ln/>
        </p:spPr>
        <p:txBody>
          <a:bodyPr wrap="square" lIns="0" tIns="0" rIns="0" bIns="0" rtlCol="0" anchor="ctr"/>
          <a:lstStyle/>
          <a:p>
            <a:pPr marL="0" indent="0">
              <a:buNone/>
            </a:pPr>
            <a:r>
              <a:rPr lang="en-US" sz="1200" b="1" dirty="0">
                <a:solidFill>
                  <a:srgbClr val="E87A7A"/>
                </a:solidFill>
                <a:latin typeface="에이투지체 5 Medium"/>
                <a:ea typeface="에이투지체 5 Medium"/>
                <a:cs typeface="에이투지체 5 Medium"/>
              </a:rPr>
              <a:t>01</a:t>
            </a:r>
            <a:endParaRPr lang="en-US" sz="1200" dirty="0"/>
          </a:p>
        </p:txBody>
      </p:sp>
      <p:sp>
        <p:nvSpPr>
          <p:cNvPr id="7" name="Text 5"/>
          <p:cNvSpPr txBox="1"/>
          <p:nvPr/>
        </p:nvSpPr>
        <p:spPr>
          <a:xfrm>
            <a:off x="822960"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개발 목표 · 전체 개발 과정</a:t>
            </a:r>
            <a:endParaRPr lang="en-US" sz="1500" dirty="0"/>
          </a:p>
        </p:txBody>
      </p:sp>
      <p:sp>
        <p:nvSpPr>
          <p:cNvPr id="8" name="Shape 6"/>
          <p:cNvSpPr/>
          <p:nvPr/>
        </p:nvSpPr>
        <p:spPr>
          <a:xfrm>
            <a:off x="4399178" y="4434840"/>
            <a:ext cx="3393338" cy="0"/>
          </a:xfrm>
          <a:prstGeom prst="line">
            <a:avLst/>
          </a:prstGeom>
          <a:noFill/>
          <a:ln w="25400">
            <a:solidFill>
              <a:srgbClr val="3A414B"/>
            </a:solidFill>
            <a:prstDash val="solid"/>
          </a:ln>
        </p:spPr>
        <p:txBody>
          <a:bodyPr/>
          <a:lstStyle/>
          <a:p>
            <a:endParaRPr/>
          </a:p>
        </p:txBody>
      </p:sp>
      <p:sp>
        <p:nvSpPr>
          <p:cNvPr id="9" name="Text 7"/>
          <p:cNvSpPr txBox="1"/>
          <p:nvPr/>
        </p:nvSpPr>
        <p:spPr>
          <a:xfrm>
            <a:off x="4399178" y="4572000"/>
            <a:ext cx="3393338"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02</a:t>
            </a:r>
            <a:endParaRPr lang="en-US" sz="1200" dirty="0"/>
          </a:p>
        </p:txBody>
      </p:sp>
      <p:sp>
        <p:nvSpPr>
          <p:cNvPr id="10" name="Text 8"/>
          <p:cNvSpPr txBox="1"/>
          <p:nvPr/>
        </p:nvSpPr>
        <p:spPr>
          <a:xfrm>
            <a:off x="4399178"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프로젝트 일정</a:t>
            </a:r>
            <a:endParaRPr lang="en-US" sz="1500" dirty="0"/>
          </a:p>
        </p:txBody>
      </p:sp>
      <p:sp>
        <p:nvSpPr>
          <p:cNvPr id="11" name="Shape 9"/>
          <p:cNvSpPr/>
          <p:nvPr/>
        </p:nvSpPr>
        <p:spPr>
          <a:xfrm>
            <a:off x="7975397" y="4434840"/>
            <a:ext cx="3393338" cy="0"/>
          </a:xfrm>
          <a:prstGeom prst="line">
            <a:avLst/>
          </a:prstGeom>
          <a:noFill/>
          <a:ln w="25400">
            <a:solidFill>
              <a:srgbClr val="3A414B"/>
            </a:solidFill>
            <a:prstDash val="solid"/>
          </a:ln>
        </p:spPr>
        <p:txBody>
          <a:bodyPr/>
          <a:lstStyle/>
          <a:p>
            <a:endParaRPr/>
          </a:p>
        </p:txBody>
      </p:sp>
      <p:sp>
        <p:nvSpPr>
          <p:cNvPr id="12" name="Text 10"/>
          <p:cNvSpPr txBox="1"/>
          <p:nvPr/>
        </p:nvSpPr>
        <p:spPr>
          <a:xfrm>
            <a:off x="7975397" y="4572000"/>
            <a:ext cx="3393338"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03</a:t>
            </a:r>
            <a:endParaRPr lang="en-US" sz="1200" dirty="0"/>
          </a:p>
        </p:txBody>
      </p:sp>
      <p:sp>
        <p:nvSpPr>
          <p:cNvPr id="13" name="Text 11"/>
          <p:cNvSpPr txBox="1"/>
          <p:nvPr/>
        </p:nvSpPr>
        <p:spPr>
          <a:xfrm>
            <a:off x="7975397"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업무 분담 및 간트 차트</a:t>
            </a:r>
            <a:endParaRPr lang="en-US" sz="15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00  프로젝트 소개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pitchFamily="50" charset="-127"/>
                <a:ea typeface="에이투지체 5 Medium" pitchFamily="50" charset="-127"/>
                <a:cs typeface="에이투지체 5 Medium"/>
              </a:rPr>
              <a:t>개발 목표 및 개발 환경</a:t>
            </a:r>
            <a:endParaRPr lang="en-US" sz="3600" dirty="0">
              <a:latin typeface="에이투지체 5 Medium" pitchFamily="50" charset="-127"/>
              <a:ea typeface="에이투지체 5 Medium" pitchFamily="50" charset="-127"/>
            </a:endParaRPr>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구급 수요 예측 기반 구급차 배치 지원 및 응급의료 정보 제공</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04</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기존 발표자료</a:t>
            </a:r>
            <a:endParaRPr lang="en-US" sz="900" dirty="0"/>
          </a:p>
        </p:txBody>
      </p:sp>
      <p:sp>
        <p:nvSpPr>
          <p:cNvPr id="8" name="Shape 5"/>
          <p:cNvSpPr/>
          <p:nvPr/>
        </p:nvSpPr>
        <p:spPr>
          <a:xfrm>
            <a:off x="457200" y="1993392"/>
            <a:ext cx="3637178" cy="1828800"/>
          </a:xfrm>
          <a:prstGeom prst="roundRect">
            <a:avLst>
              <a:gd name="adj" fmla="val 7000"/>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txBody>
          <a:bodyPr/>
          <a:lstStyle/>
          <a:p>
            <a:endParaRPr/>
          </a:p>
        </p:txBody>
      </p:sp>
      <p:sp>
        <p:nvSpPr>
          <p:cNvPr id="9" name="Text 6"/>
          <p:cNvSpPr txBox="1"/>
          <p:nvPr/>
        </p:nvSpPr>
        <p:spPr>
          <a:xfrm>
            <a:off x="676656" y="2176272"/>
            <a:ext cx="3198266" cy="457200"/>
          </a:xfrm>
          <a:prstGeom prst="rect">
            <a:avLst/>
          </a:prstGeom>
          <a:noFill/>
          <a:ln/>
        </p:spPr>
        <p:txBody>
          <a:bodyPr wrap="square" lIns="0" tIns="0" rIns="0" bIns="0" rtlCol="0" anchor="ctr"/>
          <a:lstStyle/>
          <a:p>
            <a:pPr marL="0" indent="0" algn="ctr">
              <a:buNone/>
            </a:pPr>
            <a:r>
              <a:rPr lang="en-US" sz="2800" dirty="0">
                <a:solidFill>
                  <a:srgbClr val="FFFFFF"/>
                </a:solidFill>
                <a:latin typeface="에이투지체 5 Medium"/>
                <a:ea typeface="에이투지체 5 Medium"/>
                <a:cs typeface="에이투지체 5 Medium"/>
              </a:rPr>
              <a:t>01</a:t>
            </a:r>
            <a:endParaRPr lang="en-US" sz="2800" dirty="0"/>
          </a:p>
        </p:txBody>
      </p:sp>
      <p:sp>
        <p:nvSpPr>
          <p:cNvPr id="10" name="Text 7"/>
          <p:cNvSpPr txBox="1"/>
          <p:nvPr/>
        </p:nvSpPr>
        <p:spPr>
          <a:xfrm>
            <a:off x="676656" y="2670048"/>
            <a:ext cx="3198266"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에이투지체 5 Medium"/>
                <a:ea typeface="에이투지체 5 Medium"/>
                <a:cs typeface="에이투지체 5 Medium"/>
              </a:rPr>
              <a:t>구급 수요 예측</a:t>
            </a:r>
            <a:endParaRPr lang="en-US" sz="1600" dirty="0"/>
          </a:p>
        </p:txBody>
      </p:sp>
      <p:sp>
        <p:nvSpPr>
          <p:cNvPr id="11" name="Shape 8"/>
          <p:cNvSpPr/>
          <p:nvPr/>
        </p:nvSpPr>
        <p:spPr>
          <a:xfrm>
            <a:off x="676656" y="3090672"/>
            <a:ext cx="3198266" cy="0"/>
          </a:xfrm>
          <a:prstGeom prst="line">
            <a:avLst/>
          </a:prstGeom>
          <a:noFill/>
          <a:ln w="9525">
            <a:solidFill>
              <a:srgbClr val="E87A7A"/>
            </a:solidFill>
            <a:prstDash val="solid"/>
          </a:ln>
        </p:spPr>
        <p:txBody>
          <a:bodyPr/>
          <a:lstStyle/>
          <a:p>
            <a:endParaRPr/>
          </a:p>
        </p:txBody>
      </p:sp>
      <p:sp>
        <p:nvSpPr>
          <p:cNvPr id="12" name="Text 9"/>
          <p:cNvSpPr txBox="1"/>
          <p:nvPr/>
        </p:nvSpPr>
        <p:spPr>
          <a:xfrm>
            <a:off x="676656" y="3200400"/>
            <a:ext cx="3198266" cy="457200"/>
          </a:xfrm>
          <a:prstGeom prst="rect">
            <a:avLst/>
          </a:prstGeom>
          <a:noFill/>
          <a:ln/>
        </p:spPr>
        <p:txBody>
          <a:bodyPr wrap="square" lIns="0" tIns="0" rIns="0" bIns="0" rtlCol="0" anchor="ctr"/>
          <a:lstStyle/>
          <a:p>
            <a:pPr marL="0" indent="0" algn="ctr">
              <a:buNone/>
            </a:pPr>
            <a:r>
              <a:rPr lang="en-US" sz="1100" dirty="0">
                <a:solidFill>
                  <a:srgbClr val="FDE3E3"/>
                </a:solidFill>
                <a:latin typeface="에이투지체 5 Medium"/>
                <a:ea typeface="에이투지체 5 Medium"/>
                <a:cs typeface="에이투지체 5 Medium"/>
              </a:rPr>
              <a:t>자치구별 구급 수요 · </a:t>
            </a:r>
            <a:endParaRPr lang="en-US" sz="1100" dirty="0" smtClean="0">
              <a:solidFill>
                <a:srgbClr val="FDE3E3"/>
              </a:solidFill>
              <a:latin typeface="에이투지체 5 Medium"/>
              <a:ea typeface="에이투지체 5 Medium"/>
              <a:cs typeface="에이투지체 5 Medium"/>
            </a:endParaRPr>
          </a:p>
          <a:p>
            <a:pPr marL="0" indent="0" algn="ctr">
              <a:buNone/>
            </a:pPr>
            <a:r>
              <a:rPr lang="en-US" sz="1100" dirty="0" err="1" smtClean="0">
                <a:solidFill>
                  <a:srgbClr val="FDE3E3"/>
                </a:solidFill>
                <a:latin typeface="에이투지체 5 Medium"/>
                <a:ea typeface="에이투지체 5 Medium"/>
                <a:cs typeface="에이투지체 5 Medium"/>
              </a:rPr>
              <a:t>생활인구</a:t>
            </a:r>
            <a:r>
              <a:rPr lang="en-US" sz="1100" dirty="0" smtClean="0">
                <a:solidFill>
                  <a:srgbClr val="FDE3E3"/>
                </a:solidFill>
                <a:latin typeface="에이투지체 5 Medium"/>
                <a:ea typeface="에이투지체 5 Medium"/>
                <a:cs typeface="에이투지체 5 Medium"/>
              </a:rPr>
              <a:t> </a:t>
            </a:r>
            <a:r>
              <a:rPr lang="en-US" sz="1100" dirty="0">
                <a:solidFill>
                  <a:srgbClr val="FDE3E3"/>
                </a:solidFill>
                <a:latin typeface="에이투지체 5 Medium"/>
                <a:ea typeface="에이투지체 5 Medium"/>
                <a:cs typeface="에이투지체 5 Medium"/>
              </a:rPr>
              <a:t>패턴 </a:t>
            </a:r>
            <a:r>
              <a:rPr lang="en-US" sz="1100" dirty="0" err="1">
                <a:solidFill>
                  <a:srgbClr val="FDE3E3"/>
                </a:solidFill>
                <a:latin typeface="에이투지체 5 Medium"/>
                <a:ea typeface="에이투지체 5 Medium"/>
                <a:cs typeface="에이투지체 5 Medium"/>
              </a:rPr>
              <a:t>분석</a:t>
            </a:r>
            <a:r>
              <a:rPr lang="en-US" sz="1100" dirty="0">
                <a:solidFill>
                  <a:srgbClr val="FDE3E3"/>
                </a:solidFill>
                <a:latin typeface="에이투지체 5 Medium"/>
                <a:ea typeface="에이투지체 5 Medium"/>
                <a:cs typeface="에이투지체 5 Medium"/>
              </a:rPr>
              <a:t> </a:t>
            </a:r>
            <a:r>
              <a:rPr lang="en-US" sz="1100" dirty="0" smtClean="0">
                <a:solidFill>
                  <a:srgbClr val="FDE3E3"/>
                </a:solidFill>
                <a:latin typeface="에이투지체 5 Medium"/>
                <a:ea typeface="에이투지체 5 Medium"/>
                <a:cs typeface="에이투지체 5 Medium"/>
              </a:rPr>
              <a:t>및 </a:t>
            </a:r>
            <a:r>
              <a:rPr lang="en-US" sz="1100" dirty="0">
                <a:solidFill>
                  <a:srgbClr val="FDE3E3"/>
                </a:solidFill>
                <a:latin typeface="에이투지체 5 Medium"/>
                <a:ea typeface="에이투지체 5 Medium"/>
                <a:cs typeface="에이투지체 5 Medium"/>
              </a:rPr>
              <a:t>미래 수요 예측</a:t>
            </a:r>
            <a:endParaRPr lang="en-US" sz="1100" dirty="0"/>
          </a:p>
        </p:txBody>
      </p:sp>
      <p:sp>
        <p:nvSpPr>
          <p:cNvPr id="13" name="Shape 10"/>
          <p:cNvSpPr/>
          <p:nvPr/>
        </p:nvSpPr>
        <p:spPr>
          <a:xfrm>
            <a:off x="4277258" y="1993392"/>
            <a:ext cx="3637178"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4" name="Text 11"/>
          <p:cNvSpPr txBox="1"/>
          <p:nvPr/>
        </p:nvSpPr>
        <p:spPr>
          <a:xfrm>
            <a:off x="4496714" y="2176272"/>
            <a:ext cx="3198266" cy="457200"/>
          </a:xfrm>
          <a:prstGeom prst="rect">
            <a:avLst/>
          </a:prstGeom>
          <a:noFill/>
          <a:ln/>
        </p:spPr>
        <p:txBody>
          <a:bodyPr wrap="square" lIns="0" tIns="0" rIns="0" bIns="0" rtlCol="0" anchor="ctr"/>
          <a:lstStyle/>
          <a:p>
            <a:pPr marL="0" indent="0" algn="ctr">
              <a:buNone/>
            </a:pPr>
            <a:r>
              <a:rPr lang="en-US" sz="2800" dirty="0">
                <a:solidFill>
                  <a:srgbClr val="D62828"/>
                </a:solidFill>
                <a:latin typeface="에이투지체 5 Medium"/>
                <a:ea typeface="에이투지체 5 Medium"/>
                <a:cs typeface="에이투지체 5 Medium"/>
              </a:rPr>
              <a:t>02</a:t>
            </a:r>
            <a:endParaRPr lang="en-US" sz="2800" dirty="0"/>
          </a:p>
        </p:txBody>
      </p:sp>
      <p:sp>
        <p:nvSpPr>
          <p:cNvPr id="15" name="Text 12"/>
          <p:cNvSpPr txBox="1"/>
          <p:nvPr/>
        </p:nvSpPr>
        <p:spPr>
          <a:xfrm>
            <a:off x="4496714" y="2670048"/>
            <a:ext cx="3198266" cy="292608"/>
          </a:xfrm>
          <a:prstGeom prst="rect">
            <a:avLst/>
          </a:prstGeom>
          <a:noFill/>
          <a:ln/>
        </p:spPr>
        <p:txBody>
          <a:bodyPr wrap="square" lIns="0" tIns="0" rIns="0" bIns="0" rtlCol="0" anchor="ctr"/>
          <a:lstStyle/>
          <a:p>
            <a:pPr marL="0" indent="0" algn="ctr">
              <a:buNone/>
            </a:pPr>
            <a:r>
              <a:rPr lang="en-US" sz="1600" b="1" dirty="0">
                <a:solidFill>
                  <a:srgbClr val="222222"/>
                </a:solidFill>
                <a:latin typeface="에이투지체 5 Medium"/>
                <a:ea typeface="에이투지체 5 Medium"/>
                <a:cs typeface="에이투지체 5 Medium"/>
              </a:rPr>
              <a:t>구급차 배치 지원</a:t>
            </a:r>
            <a:endParaRPr lang="en-US" sz="1600" dirty="0"/>
          </a:p>
        </p:txBody>
      </p:sp>
      <p:sp>
        <p:nvSpPr>
          <p:cNvPr id="16" name="Shape 13"/>
          <p:cNvSpPr/>
          <p:nvPr/>
        </p:nvSpPr>
        <p:spPr>
          <a:xfrm>
            <a:off x="4496714" y="3090672"/>
            <a:ext cx="3198266" cy="0"/>
          </a:xfrm>
          <a:prstGeom prst="line">
            <a:avLst/>
          </a:prstGeom>
          <a:noFill/>
          <a:ln w="9525">
            <a:solidFill>
              <a:srgbClr val="E5E7EB"/>
            </a:solidFill>
            <a:prstDash val="solid"/>
          </a:ln>
        </p:spPr>
        <p:txBody>
          <a:bodyPr/>
          <a:lstStyle/>
          <a:p>
            <a:endParaRPr/>
          </a:p>
        </p:txBody>
      </p:sp>
      <p:sp>
        <p:nvSpPr>
          <p:cNvPr id="17" name="Text 14"/>
          <p:cNvSpPr txBox="1"/>
          <p:nvPr/>
        </p:nvSpPr>
        <p:spPr>
          <a:xfrm>
            <a:off x="4496714" y="3200400"/>
            <a:ext cx="3198266" cy="457200"/>
          </a:xfrm>
          <a:prstGeom prst="rect">
            <a:avLst/>
          </a:prstGeom>
          <a:noFill/>
          <a:ln/>
        </p:spPr>
        <p:txBody>
          <a:bodyPr wrap="square" lIns="0" tIns="0" rIns="0" bIns="0" rtlCol="0" anchor="ctr"/>
          <a:lstStyle/>
          <a:p>
            <a:pPr marL="0" indent="0" algn="ctr">
              <a:buNone/>
            </a:pPr>
            <a:r>
              <a:rPr lang="en-US" sz="1100" dirty="0">
                <a:solidFill>
                  <a:srgbClr val="45515E"/>
                </a:solidFill>
                <a:latin typeface="에이투지체 5 Medium"/>
                <a:ea typeface="에이투지체 5 Medium"/>
                <a:cs typeface="에이투지체 5 Medium"/>
              </a:rPr>
              <a:t>지역 · 시기별 예측 결과 기반 구급차 배치 판단 지원</a:t>
            </a:r>
            <a:endParaRPr lang="en-US" sz="1100" dirty="0"/>
          </a:p>
        </p:txBody>
      </p:sp>
      <p:sp>
        <p:nvSpPr>
          <p:cNvPr id="18" name="Shape 15"/>
          <p:cNvSpPr/>
          <p:nvPr/>
        </p:nvSpPr>
        <p:spPr>
          <a:xfrm>
            <a:off x="8097317" y="1993392"/>
            <a:ext cx="3637178"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9" name="Text 16"/>
          <p:cNvSpPr txBox="1"/>
          <p:nvPr/>
        </p:nvSpPr>
        <p:spPr>
          <a:xfrm>
            <a:off x="8316773" y="2176272"/>
            <a:ext cx="3198266" cy="457200"/>
          </a:xfrm>
          <a:prstGeom prst="rect">
            <a:avLst/>
          </a:prstGeom>
          <a:noFill/>
          <a:ln/>
        </p:spPr>
        <p:txBody>
          <a:bodyPr wrap="square" lIns="0" tIns="0" rIns="0" bIns="0" rtlCol="0" anchor="ctr"/>
          <a:lstStyle/>
          <a:p>
            <a:pPr marL="0" indent="0" algn="ctr">
              <a:buNone/>
            </a:pPr>
            <a:r>
              <a:rPr lang="en-US" sz="2800" dirty="0">
                <a:solidFill>
                  <a:srgbClr val="D62828"/>
                </a:solidFill>
                <a:latin typeface="에이투지체 5 Medium"/>
                <a:ea typeface="에이투지체 5 Medium"/>
                <a:cs typeface="에이투지체 5 Medium"/>
              </a:rPr>
              <a:t>03</a:t>
            </a:r>
            <a:endParaRPr lang="en-US" sz="2800" dirty="0"/>
          </a:p>
        </p:txBody>
      </p:sp>
      <p:sp>
        <p:nvSpPr>
          <p:cNvPr id="20" name="Text 17"/>
          <p:cNvSpPr txBox="1"/>
          <p:nvPr/>
        </p:nvSpPr>
        <p:spPr>
          <a:xfrm>
            <a:off x="8316773" y="2670048"/>
            <a:ext cx="3198266" cy="292608"/>
          </a:xfrm>
          <a:prstGeom prst="rect">
            <a:avLst/>
          </a:prstGeom>
          <a:noFill/>
          <a:ln/>
        </p:spPr>
        <p:txBody>
          <a:bodyPr wrap="square" lIns="0" tIns="0" rIns="0" bIns="0" rtlCol="0" anchor="ctr"/>
          <a:lstStyle/>
          <a:p>
            <a:pPr marL="0" indent="0" algn="ctr">
              <a:buNone/>
            </a:pPr>
            <a:r>
              <a:rPr lang="en-US" sz="1600" b="1" dirty="0">
                <a:solidFill>
                  <a:srgbClr val="222222"/>
                </a:solidFill>
                <a:latin typeface="에이투지체 5 Medium"/>
                <a:ea typeface="에이투지체 5 Medium"/>
                <a:cs typeface="에이투지체 5 Medium"/>
              </a:rPr>
              <a:t>응급의료 정보 통합</a:t>
            </a:r>
            <a:endParaRPr lang="en-US" sz="1600" dirty="0"/>
          </a:p>
        </p:txBody>
      </p:sp>
      <p:sp>
        <p:nvSpPr>
          <p:cNvPr id="21" name="Shape 18"/>
          <p:cNvSpPr/>
          <p:nvPr/>
        </p:nvSpPr>
        <p:spPr>
          <a:xfrm>
            <a:off x="8316773" y="3090672"/>
            <a:ext cx="3198266" cy="0"/>
          </a:xfrm>
          <a:prstGeom prst="line">
            <a:avLst/>
          </a:prstGeom>
          <a:noFill/>
          <a:ln w="9525">
            <a:solidFill>
              <a:srgbClr val="E5E7EB"/>
            </a:solidFill>
            <a:prstDash val="solid"/>
          </a:ln>
        </p:spPr>
        <p:txBody>
          <a:bodyPr/>
          <a:lstStyle/>
          <a:p>
            <a:endParaRPr/>
          </a:p>
        </p:txBody>
      </p:sp>
      <p:sp>
        <p:nvSpPr>
          <p:cNvPr id="22" name="Text 19"/>
          <p:cNvSpPr txBox="1"/>
          <p:nvPr/>
        </p:nvSpPr>
        <p:spPr>
          <a:xfrm>
            <a:off x="8316773" y="3200400"/>
            <a:ext cx="3198266" cy="457200"/>
          </a:xfrm>
          <a:prstGeom prst="rect">
            <a:avLst/>
          </a:prstGeom>
          <a:noFill/>
          <a:ln/>
        </p:spPr>
        <p:txBody>
          <a:bodyPr wrap="square" lIns="0" tIns="0" rIns="0" bIns="0" rtlCol="0" anchor="ctr"/>
          <a:lstStyle/>
          <a:p>
            <a:pPr marL="0" indent="0" algn="ctr">
              <a:buNone/>
            </a:pPr>
            <a:r>
              <a:rPr lang="en-US" sz="1100" dirty="0">
                <a:solidFill>
                  <a:srgbClr val="45515E"/>
                </a:solidFill>
                <a:latin typeface="에이투지체 5 Medium"/>
                <a:ea typeface="에이투지체 5 Medium"/>
                <a:cs typeface="에이투지체 5 Medium"/>
              </a:rPr>
              <a:t>응급실 · 실시간 가용병상 정보 연계 웹 서비스 구축</a:t>
            </a:r>
            <a:endParaRPr lang="en-US" sz="1100" dirty="0"/>
          </a:p>
        </p:txBody>
      </p:sp>
      <p:sp>
        <p:nvSpPr>
          <p:cNvPr id="23" name="Shape 20"/>
          <p:cNvSpPr/>
          <p:nvPr/>
        </p:nvSpPr>
        <p:spPr>
          <a:xfrm>
            <a:off x="457200" y="4096512"/>
            <a:ext cx="5547665" cy="2093976"/>
          </a:xfrm>
          <a:prstGeom prst="roundRect">
            <a:avLst>
              <a:gd name="adj" fmla="val 43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4" name="Text 21"/>
          <p:cNvSpPr txBox="1"/>
          <p:nvPr/>
        </p:nvSpPr>
        <p:spPr>
          <a:xfrm>
            <a:off x="676656" y="4261104"/>
            <a:ext cx="5108753"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개발 환경</a:t>
            </a:r>
            <a:endParaRPr lang="en-US" sz="1800" dirty="0"/>
          </a:p>
        </p:txBody>
      </p:sp>
      <p:sp>
        <p:nvSpPr>
          <p:cNvPr id="25" name="Shape 22"/>
          <p:cNvSpPr/>
          <p:nvPr/>
        </p:nvSpPr>
        <p:spPr>
          <a:xfrm>
            <a:off x="676656" y="4663440"/>
            <a:ext cx="5108753" cy="0"/>
          </a:xfrm>
          <a:prstGeom prst="line">
            <a:avLst/>
          </a:prstGeom>
          <a:noFill/>
          <a:ln w="9525">
            <a:solidFill>
              <a:srgbClr val="E5E7EB"/>
            </a:solidFill>
            <a:prstDash val="solid"/>
          </a:ln>
        </p:spPr>
        <p:txBody>
          <a:bodyPr/>
          <a:lstStyle/>
          <a:p>
            <a:endParaRPr/>
          </a:p>
        </p:txBody>
      </p:sp>
      <p:sp>
        <p:nvSpPr>
          <p:cNvPr id="26" name="Text 23"/>
          <p:cNvSpPr txBox="1"/>
          <p:nvPr/>
        </p:nvSpPr>
        <p:spPr>
          <a:xfrm>
            <a:off x="676656" y="4773168"/>
            <a:ext cx="5108753" cy="1289304"/>
          </a:xfrm>
          <a:prstGeom prst="rect">
            <a:avLst/>
          </a:prstGeom>
          <a:noFill/>
          <a:ln/>
        </p:spPr>
        <p:txBody>
          <a:bodyPr wrap="square" lIns="0" tIns="0" rIns="0" bIns="0" rtlCol="0" anchor="t"/>
          <a:lstStyle/>
          <a:p>
            <a:pPr marL="0" indent="0">
              <a:lnSpc>
                <a:spcPct val="125000"/>
              </a:lnSpc>
              <a:buNone/>
            </a:pPr>
            <a:r>
              <a:rPr lang="en-US" sz="1200" dirty="0">
                <a:solidFill>
                  <a:srgbClr val="45515E"/>
                </a:solidFill>
                <a:latin typeface="에이투지체 5 Medium"/>
                <a:ea typeface="에이투지체 5 Medium"/>
                <a:cs typeface="에이투지체 5 Medium"/>
              </a:rPr>
              <a:t>· 운영체제 · 언어: Windows · Python</a:t>
            </a:r>
            <a:endParaRPr lang="en-US" sz="1200" dirty="0"/>
          </a:p>
          <a:p>
            <a:pPr marL="0" indent="0">
              <a:lnSpc>
                <a:spcPct val="125000"/>
              </a:lnSpc>
              <a:buNone/>
            </a:pPr>
            <a:r>
              <a:rPr lang="en-US" sz="1200" dirty="0">
                <a:solidFill>
                  <a:srgbClr val="45515E"/>
                </a:solidFill>
                <a:latin typeface="에이투지체 5 Medium"/>
                <a:ea typeface="에이투지체 5 Medium"/>
                <a:cs typeface="에이투지체 5 Medium"/>
              </a:rPr>
              <a:t>· 개발 도구: Visual Studio Code</a:t>
            </a:r>
            <a:endParaRPr lang="en-US" sz="1200" dirty="0"/>
          </a:p>
          <a:p>
            <a:pPr marL="0" indent="0">
              <a:lnSpc>
                <a:spcPct val="125000"/>
              </a:lnSpc>
              <a:buNone/>
            </a:pPr>
            <a:r>
              <a:rPr lang="en-US" sz="1200" dirty="0">
                <a:solidFill>
                  <a:srgbClr val="45515E"/>
                </a:solidFill>
                <a:latin typeface="에이투지체 5 Medium"/>
                <a:ea typeface="에이투지체 5 Medium"/>
                <a:cs typeface="에이투지체 5 Medium"/>
              </a:rPr>
              <a:t>· 데이터 처리: Pandas · NumPy</a:t>
            </a:r>
            <a:endParaRPr lang="en-US" sz="1200" dirty="0"/>
          </a:p>
          <a:p>
            <a:pPr marL="0" indent="0">
              <a:lnSpc>
                <a:spcPct val="125000"/>
              </a:lnSpc>
              <a:buNone/>
            </a:pPr>
            <a:r>
              <a:rPr lang="en-US" sz="1200" dirty="0">
                <a:solidFill>
                  <a:srgbClr val="45515E"/>
                </a:solidFill>
                <a:latin typeface="에이투지체 5 Medium"/>
                <a:ea typeface="에이투지체 5 Medium"/>
                <a:cs typeface="에이투지체 5 Medium"/>
              </a:rPr>
              <a:t>· 시각화: Matplotlib · Seaborn</a:t>
            </a:r>
            <a:endParaRPr lang="en-US" sz="1200" dirty="0"/>
          </a:p>
          <a:p>
            <a:pPr marL="0" indent="0">
              <a:lnSpc>
                <a:spcPct val="125000"/>
              </a:lnSpc>
              <a:buNone/>
            </a:pPr>
            <a:r>
              <a:rPr lang="en-US" sz="1200" dirty="0">
                <a:solidFill>
                  <a:srgbClr val="45515E"/>
                </a:solidFill>
                <a:latin typeface="에이투지체 5 Medium"/>
                <a:ea typeface="에이투지체 5 Medium"/>
                <a:cs typeface="에이투지체 5 Medium"/>
              </a:rPr>
              <a:t>· 머신러닝 · 딥러닝: Scikit-learn · TensorFlow / Keras</a:t>
            </a:r>
            <a:endParaRPr lang="en-US" sz="1200" dirty="0"/>
          </a:p>
        </p:txBody>
      </p:sp>
      <p:sp>
        <p:nvSpPr>
          <p:cNvPr id="27" name="Shape 24"/>
          <p:cNvSpPr/>
          <p:nvPr/>
        </p:nvSpPr>
        <p:spPr>
          <a:xfrm>
            <a:off x="6187745" y="4096512"/>
            <a:ext cx="5547665" cy="2093976"/>
          </a:xfrm>
          <a:prstGeom prst="roundRect">
            <a:avLst>
              <a:gd name="adj" fmla="val 43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8" name="Text 25"/>
          <p:cNvSpPr txBox="1"/>
          <p:nvPr/>
        </p:nvSpPr>
        <p:spPr>
          <a:xfrm>
            <a:off x="6407201" y="4261104"/>
            <a:ext cx="5108753"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비교 모델</a:t>
            </a:r>
            <a:endParaRPr lang="en-US" sz="1800" dirty="0"/>
          </a:p>
        </p:txBody>
      </p:sp>
      <p:sp>
        <p:nvSpPr>
          <p:cNvPr id="29" name="Shape 26"/>
          <p:cNvSpPr/>
          <p:nvPr/>
        </p:nvSpPr>
        <p:spPr>
          <a:xfrm>
            <a:off x="6407201" y="4663440"/>
            <a:ext cx="5108753" cy="0"/>
          </a:xfrm>
          <a:prstGeom prst="line">
            <a:avLst/>
          </a:prstGeom>
          <a:noFill/>
          <a:ln w="9525">
            <a:solidFill>
              <a:srgbClr val="E5E7EB"/>
            </a:solidFill>
            <a:prstDash val="solid"/>
          </a:ln>
        </p:spPr>
        <p:txBody>
          <a:bodyPr/>
          <a:lstStyle/>
          <a:p>
            <a:endParaRPr/>
          </a:p>
        </p:txBody>
      </p:sp>
      <p:sp>
        <p:nvSpPr>
          <p:cNvPr id="30" name="Text 27"/>
          <p:cNvSpPr txBox="1"/>
          <p:nvPr/>
        </p:nvSpPr>
        <p:spPr>
          <a:xfrm>
            <a:off x="6407201" y="4773168"/>
            <a:ext cx="5108753" cy="1289304"/>
          </a:xfrm>
          <a:prstGeom prst="rect">
            <a:avLst/>
          </a:prstGeom>
          <a:noFill/>
          <a:ln/>
        </p:spPr>
        <p:txBody>
          <a:bodyPr wrap="square" lIns="0" tIns="0" rIns="0" bIns="0" rtlCol="0" anchor="t"/>
          <a:lstStyle/>
          <a:p>
            <a:pPr marL="0" indent="0">
              <a:lnSpc>
                <a:spcPct val="125000"/>
              </a:lnSpc>
              <a:buNone/>
            </a:pPr>
            <a:r>
              <a:rPr lang="en-US" sz="1200" dirty="0">
                <a:solidFill>
                  <a:srgbClr val="45515E"/>
                </a:solidFill>
                <a:latin typeface="에이투지체 5 Medium"/>
                <a:ea typeface="에이투지체 5 Medium"/>
                <a:cs typeface="에이투지체 5 Medium"/>
              </a:rPr>
              <a:t>· Linear Regression · Ridge Regression</a:t>
            </a:r>
            <a:endParaRPr lang="en-US" sz="1200" dirty="0"/>
          </a:p>
          <a:p>
            <a:pPr marL="0" indent="0">
              <a:lnSpc>
                <a:spcPct val="125000"/>
              </a:lnSpc>
              <a:buNone/>
            </a:pPr>
            <a:r>
              <a:rPr lang="en-US" sz="1200" dirty="0">
                <a:solidFill>
                  <a:srgbClr val="45515E"/>
                </a:solidFill>
                <a:latin typeface="에이투지체 5 Medium"/>
                <a:ea typeface="에이투지체 5 Medium"/>
                <a:cs typeface="에이투지체 5 Medium"/>
              </a:rPr>
              <a:t>· Decision Tree · Random Forest</a:t>
            </a:r>
            <a:endParaRPr lang="en-US" sz="1200" dirty="0"/>
          </a:p>
          <a:p>
            <a:pPr marL="0" indent="0">
              <a:lnSpc>
                <a:spcPct val="125000"/>
              </a:lnSpc>
              <a:buNone/>
            </a:pPr>
            <a:r>
              <a:rPr lang="en-US" sz="1200" dirty="0">
                <a:solidFill>
                  <a:srgbClr val="45515E"/>
                </a:solidFill>
                <a:latin typeface="에이투지체 5 Medium"/>
                <a:ea typeface="에이투지체 5 Medium"/>
                <a:cs typeface="에이투지체 5 Medium"/>
              </a:rPr>
              <a:t>· Gradient Boosting</a:t>
            </a:r>
            <a:endParaRPr lang="en-US" sz="1200" dirty="0"/>
          </a:p>
          <a:p>
            <a:pPr marL="0" indent="0">
              <a:lnSpc>
                <a:spcPct val="125000"/>
              </a:lnSpc>
              <a:buNone/>
            </a:pPr>
            <a:r>
              <a:rPr lang="en-US" sz="1200" dirty="0">
                <a:solidFill>
                  <a:srgbClr val="45515E"/>
                </a:solidFill>
                <a:latin typeface="에이투지체 5 Medium"/>
                <a:ea typeface="에이투지체 5 Medium"/>
                <a:cs typeface="에이투지체 5 Medium"/>
              </a:rPr>
              <a:t>· DNN (Deep Neural Network)</a:t>
            </a:r>
            <a:endParaRPr lang="en-US" sz="1200" dirty="0"/>
          </a:p>
          <a:p>
            <a:pPr marL="0" indent="0">
              <a:lnSpc>
                <a:spcPct val="125000"/>
              </a:lnSpc>
              <a:buNone/>
            </a:pPr>
            <a:r>
              <a:rPr lang="en-US" sz="1200" dirty="0">
                <a:solidFill>
                  <a:srgbClr val="45515E"/>
                </a:solidFill>
                <a:latin typeface="에이투지체 5 Medium"/>
                <a:ea typeface="에이투지체 5 Medium"/>
                <a:cs typeface="에이투지체 5 Medium"/>
              </a:rPr>
              <a:t>· 이송 건수: Gradient Boosting + Ridge 앙상블 추가</a:t>
            </a:r>
            <a:endParaRPr lang="en-US" sz="12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00  프로젝트 소개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a:ea typeface="에이투지체 5 Medium"/>
                <a:cs typeface="에이투지체 5 Medium"/>
              </a:rPr>
              <a:t>전체 개발 과정</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데이터 수집 → 전처리 → 분석 → 모델 학습 → 검증 · 선정 → 웹 서비스 연결</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05</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01 · 02 · 03 노트북 · 웹 서비스 코드</a:t>
            </a:r>
            <a:endParaRPr lang="en-US" sz="900" dirty="0"/>
          </a:p>
        </p:txBody>
      </p:sp>
      <p:sp>
        <p:nvSpPr>
          <p:cNvPr id="5001" name="D 5001"/>
          <p:cNvSpPr/>
          <p:nvPr/>
        </p:nvSpPr>
        <p:spPr>
          <a:xfrm>
            <a:off x="457200" y="1993392"/>
            <a:ext cx="1691640" cy="3675888"/>
          </a:xfrm>
          <a:prstGeom prst="roundRect">
            <a:avLst>
              <a:gd name="adj" fmla="val 4324"/>
            </a:avLst>
          </a:prstGeom>
          <a:noFill/>
          <a:ln w="12700">
            <a:solidFill>
              <a:srgbClr val="B8BCC4"/>
            </a:solidFill>
            <a:prstDash val="dash"/>
          </a:ln>
        </p:spPr>
        <p:txBody>
          <a:bodyPr/>
          <a:lstStyle/>
          <a:p>
            <a:endParaRPr/>
          </a:p>
        </p:txBody>
      </p:sp>
      <p:sp>
        <p:nvSpPr>
          <p:cNvPr id="5002" name="D 5002"/>
          <p:cNvSpPr/>
          <p:nvPr/>
        </p:nvSpPr>
        <p:spPr>
          <a:xfrm>
            <a:off x="548640" y="5760720"/>
            <a:ext cx="1508760" cy="429768"/>
          </a:xfrm>
          <a:prstGeom prst="roundRect">
            <a:avLst>
              <a:gd name="adj" fmla="val 12765"/>
            </a:avLst>
          </a:prstGeom>
          <a:solidFill>
            <a:srgbClr val="FFFFFF"/>
          </a:solidFill>
          <a:ln w="12700">
            <a:solidFill>
              <a:srgbClr val="C9CDD3"/>
            </a:solidFill>
          </a:ln>
        </p:spPr>
        <p:txBody>
          <a:bodyPr/>
          <a:lstStyle/>
          <a:p>
            <a:endParaRPr/>
          </a:p>
        </p:txBody>
      </p:sp>
      <p:sp>
        <p:nvSpPr>
          <p:cNvPr id="5003" name="D 5003"/>
          <p:cNvSpPr txBox="1"/>
          <p:nvPr/>
        </p:nvSpPr>
        <p:spPr>
          <a:xfrm>
            <a:off x="548640" y="5760720"/>
            <a:ext cx="1508760" cy="429768"/>
          </a:xfrm>
          <a:prstGeom prst="rect">
            <a:avLst/>
          </a:prstGeom>
          <a:noFill/>
        </p:spPr>
        <p:txBody>
          <a:bodyPr wrap="square" lIns="0" tIns="0" rIns="0" bIns="0" rtlCol="0" anchor="ctr"/>
          <a:lstStyle/>
          <a:p>
            <a:pPr algn="ctr"/>
            <a:r>
              <a:rPr lang="ko-KR" sz="1100" b="1" dirty="0">
                <a:solidFill>
                  <a:srgbClr val="D62828"/>
                </a:solidFill>
                <a:latin typeface="에이투지체 5 Medium"/>
                <a:ea typeface="에이투지체 5 Medium"/>
                <a:cs typeface="에이투지체 5 Medium"/>
              </a:rPr>
              <a:t>1   </a:t>
            </a:r>
            <a:r>
              <a:rPr lang="ko-KR" sz="1100" b="1" dirty="0">
                <a:solidFill>
                  <a:srgbClr val="222222"/>
                </a:solidFill>
                <a:latin typeface="에이투지체 5 Medium"/>
                <a:ea typeface="에이투지체 5 Medium"/>
                <a:cs typeface="에이투지체 5 Medium"/>
              </a:rPr>
              <a:t>데이터 수집</a:t>
            </a:r>
          </a:p>
        </p:txBody>
      </p:sp>
      <p:sp>
        <p:nvSpPr>
          <p:cNvPr id="5004" name="D 5004"/>
          <p:cNvSpPr/>
          <p:nvPr/>
        </p:nvSpPr>
        <p:spPr>
          <a:xfrm>
            <a:off x="2249424" y="1993392"/>
            <a:ext cx="1783080" cy="3675888"/>
          </a:xfrm>
          <a:prstGeom prst="roundRect">
            <a:avLst>
              <a:gd name="adj" fmla="val 4102"/>
            </a:avLst>
          </a:prstGeom>
          <a:noFill/>
          <a:ln w="12700">
            <a:solidFill>
              <a:srgbClr val="B8BCC4"/>
            </a:solidFill>
            <a:prstDash val="dash"/>
          </a:ln>
        </p:spPr>
        <p:txBody>
          <a:bodyPr/>
          <a:lstStyle/>
          <a:p>
            <a:endParaRPr/>
          </a:p>
        </p:txBody>
      </p:sp>
      <p:sp>
        <p:nvSpPr>
          <p:cNvPr id="5005" name="D 5005"/>
          <p:cNvSpPr/>
          <p:nvPr/>
        </p:nvSpPr>
        <p:spPr>
          <a:xfrm>
            <a:off x="2340864" y="5760720"/>
            <a:ext cx="1600200" cy="429768"/>
          </a:xfrm>
          <a:prstGeom prst="roundRect">
            <a:avLst>
              <a:gd name="adj" fmla="val 12765"/>
            </a:avLst>
          </a:prstGeom>
          <a:solidFill>
            <a:srgbClr val="FFFFFF"/>
          </a:solidFill>
          <a:ln w="12700">
            <a:solidFill>
              <a:srgbClr val="C9CDD3"/>
            </a:solidFill>
          </a:ln>
        </p:spPr>
        <p:txBody>
          <a:bodyPr/>
          <a:lstStyle/>
          <a:p>
            <a:endParaRPr/>
          </a:p>
        </p:txBody>
      </p:sp>
      <p:sp>
        <p:nvSpPr>
          <p:cNvPr id="5006" name="D 5006"/>
          <p:cNvSpPr txBox="1"/>
          <p:nvPr/>
        </p:nvSpPr>
        <p:spPr>
          <a:xfrm>
            <a:off x="2340864" y="5760720"/>
            <a:ext cx="1600200" cy="429768"/>
          </a:xfrm>
          <a:prstGeom prst="rect">
            <a:avLst/>
          </a:prstGeom>
          <a:noFill/>
        </p:spPr>
        <p:txBody>
          <a:bodyPr wrap="square" lIns="0" tIns="0" rIns="0" bIns="0" rtlCol="0" anchor="ctr"/>
          <a:lstStyle/>
          <a:p>
            <a:pPr algn="ctr"/>
            <a:r>
              <a:rPr lang="ko-KR" sz="1100" b="1" dirty="0">
                <a:solidFill>
                  <a:srgbClr val="D62828"/>
                </a:solidFill>
                <a:latin typeface="에이투지체 5 Medium"/>
                <a:ea typeface="에이투지체 5 Medium"/>
                <a:cs typeface="에이투지체 5 Medium"/>
              </a:rPr>
              <a:t>2   </a:t>
            </a:r>
            <a:r>
              <a:rPr lang="ko-KR" sz="1100" b="1" dirty="0">
                <a:solidFill>
                  <a:srgbClr val="222222"/>
                </a:solidFill>
                <a:latin typeface="에이투지체 5 Medium"/>
                <a:ea typeface="에이투지체 5 Medium"/>
                <a:cs typeface="에이투지체 5 Medium"/>
              </a:rPr>
              <a:t>데이터 전처리</a:t>
            </a:r>
          </a:p>
        </p:txBody>
      </p:sp>
      <p:sp>
        <p:nvSpPr>
          <p:cNvPr id="5007" name="D 5007"/>
          <p:cNvSpPr/>
          <p:nvPr/>
        </p:nvSpPr>
        <p:spPr>
          <a:xfrm>
            <a:off x="4133088" y="1993392"/>
            <a:ext cx="1783080" cy="3675888"/>
          </a:xfrm>
          <a:prstGeom prst="roundRect">
            <a:avLst>
              <a:gd name="adj" fmla="val 4102"/>
            </a:avLst>
          </a:prstGeom>
          <a:noFill/>
          <a:ln w="12700">
            <a:solidFill>
              <a:srgbClr val="B8BCC4"/>
            </a:solidFill>
            <a:prstDash val="dash"/>
          </a:ln>
        </p:spPr>
        <p:txBody>
          <a:bodyPr/>
          <a:lstStyle/>
          <a:p>
            <a:endParaRPr/>
          </a:p>
        </p:txBody>
      </p:sp>
      <p:sp>
        <p:nvSpPr>
          <p:cNvPr id="5008" name="D 5008"/>
          <p:cNvSpPr/>
          <p:nvPr/>
        </p:nvSpPr>
        <p:spPr>
          <a:xfrm>
            <a:off x="4224528" y="5760720"/>
            <a:ext cx="1600200" cy="429768"/>
          </a:xfrm>
          <a:prstGeom prst="roundRect">
            <a:avLst>
              <a:gd name="adj" fmla="val 12765"/>
            </a:avLst>
          </a:prstGeom>
          <a:solidFill>
            <a:srgbClr val="FFFFFF"/>
          </a:solidFill>
          <a:ln w="12700">
            <a:solidFill>
              <a:srgbClr val="C9CDD3"/>
            </a:solidFill>
          </a:ln>
        </p:spPr>
        <p:txBody>
          <a:bodyPr/>
          <a:lstStyle/>
          <a:p>
            <a:endParaRPr/>
          </a:p>
        </p:txBody>
      </p:sp>
      <p:sp>
        <p:nvSpPr>
          <p:cNvPr id="5009" name="D 5009"/>
          <p:cNvSpPr txBox="1"/>
          <p:nvPr/>
        </p:nvSpPr>
        <p:spPr>
          <a:xfrm>
            <a:off x="4224528" y="5760720"/>
            <a:ext cx="1600200" cy="429768"/>
          </a:xfrm>
          <a:prstGeom prst="rect">
            <a:avLst/>
          </a:prstGeom>
          <a:noFill/>
        </p:spPr>
        <p:txBody>
          <a:bodyPr wrap="square" lIns="0" tIns="0" rIns="0" bIns="0" rtlCol="0" anchor="ctr"/>
          <a:lstStyle/>
          <a:p>
            <a:pPr algn="ctr"/>
            <a:r>
              <a:rPr lang="ko-KR" sz="1100" b="1" dirty="0">
                <a:solidFill>
                  <a:srgbClr val="D62828"/>
                </a:solidFill>
                <a:latin typeface="에이투지체 5 Medium"/>
                <a:ea typeface="에이투지체 5 Medium"/>
                <a:cs typeface="에이투지체 5 Medium"/>
              </a:rPr>
              <a:t>3   </a:t>
            </a:r>
            <a:r>
              <a:rPr lang="ko-KR" sz="1100" b="1" dirty="0">
                <a:solidFill>
                  <a:srgbClr val="222222"/>
                </a:solidFill>
                <a:latin typeface="에이투지체 5 Medium"/>
                <a:ea typeface="에이투지체 5 Medium"/>
                <a:cs typeface="에이투지체 5 Medium"/>
              </a:rPr>
              <a:t>데이터 분석</a:t>
            </a:r>
          </a:p>
        </p:txBody>
      </p:sp>
      <p:sp>
        <p:nvSpPr>
          <p:cNvPr id="5010" name="D 5010"/>
          <p:cNvSpPr/>
          <p:nvPr/>
        </p:nvSpPr>
        <p:spPr>
          <a:xfrm>
            <a:off x="6016752" y="1993392"/>
            <a:ext cx="1691640" cy="3675888"/>
          </a:xfrm>
          <a:prstGeom prst="roundRect">
            <a:avLst>
              <a:gd name="adj" fmla="val 4324"/>
            </a:avLst>
          </a:prstGeom>
          <a:noFill/>
          <a:ln w="12700">
            <a:solidFill>
              <a:srgbClr val="B8BCC4"/>
            </a:solidFill>
            <a:prstDash val="dash"/>
          </a:ln>
        </p:spPr>
        <p:txBody>
          <a:bodyPr/>
          <a:lstStyle/>
          <a:p>
            <a:endParaRPr/>
          </a:p>
        </p:txBody>
      </p:sp>
      <p:sp>
        <p:nvSpPr>
          <p:cNvPr id="5011" name="D 5011"/>
          <p:cNvSpPr/>
          <p:nvPr/>
        </p:nvSpPr>
        <p:spPr>
          <a:xfrm>
            <a:off x="6108192" y="5760720"/>
            <a:ext cx="1508760" cy="429768"/>
          </a:xfrm>
          <a:prstGeom prst="roundRect">
            <a:avLst>
              <a:gd name="adj" fmla="val 12765"/>
            </a:avLst>
          </a:prstGeom>
          <a:solidFill>
            <a:srgbClr val="FFFFFF"/>
          </a:solidFill>
          <a:ln w="12700">
            <a:solidFill>
              <a:srgbClr val="C9CDD3"/>
            </a:solidFill>
          </a:ln>
        </p:spPr>
        <p:txBody>
          <a:bodyPr/>
          <a:lstStyle/>
          <a:p>
            <a:endParaRPr/>
          </a:p>
        </p:txBody>
      </p:sp>
      <p:sp>
        <p:nvSpPr>
          <p:cNvPr id="5012" name="D 5012"/>
          <p:cNvSpPr txBox="1"/>
          <p:nvPr/>
        </p:nvSpPr>
        <p:spPr>
          <a:xfrm>
            <a:off x="6108192" y="5760720"/>
            <a:ext cx="1508760" cy="429768"/>
          </a:xfrm>
          <a:prstGeom prst="rect">
            <a:avLst/>
          </a:prstGeom>
          <a:noFill/>
        </p:spPr>
        <p:txBody>
          <a:bodyPr wrap="square" lIns="0" tIns="0" rIns="0" bIns="0" rtlCol="0" anchor="ctr"/>
          <a:lstStyle/>
          <a:p>
            <a:pPr algn="ctr"/>
            <a:r>
              <a:rPr lang="ko-KR" sz="1100" b="1" dirty="0">
                <a:solidFill>
                  <a:srgbClr val="D62828"/>
                </a:solidFill>
                <a:latin typeface="에이투지체 5 Medium"/>
                <a:ea typeface="에이투지체 5 Medium"/>
                <a:cs typeface="에이투지체 5 Medium"/>
              </a:rPr>
              <a:t>4   </a:t>
            </a:r>
            <a:r>
              <a:rPr lang="ko-KR" sz="1100" b="1" dirty="0">
                <a:solidFill>
                  <a:srgbClr val="222222"/>
                </a:solidFill>
                <a:latin typeface="에이투지체 5 Medium"/>
                <a:ea typeface="에이투지체 5 Medium"/>
                <a:cs typeface="에이투지체 5 Medium"/>
              </a:rPr>
              <a:t>AI 모델 학습</a:t>
            </a:r>
          </a:p>
        </p:txBody>
      </p:sp>
      <p:sp>
        <p:nvSpPr>
          <p:cNvPr id="5013" name="D 5013"/>
          <p:cNvSpPr/>
          <p:nvPr/>
        </p:nvSpPr>
        <p:spPr>
          <a:xfrm>
            <a:off x="7808976" y="1993392"/>
            <a:ext cx="1965960" cy="3675888"/>
          </a:xfrm>
          <a:prstGeom prst="roundRect">
            <a:avLst>
              <a:gd name="adj" fmla="val 3720"/>
            </a:avLst>
          </a:prstGeom>
          <a:noFill/>
          <a:ln w="12700">
            <a:solidFill>
              <a:srgbClr val="B8BCC4"/>
            </a:solidFill>
            <a:prstDash val="dash"/>
          </a:ln>
        </p:spPr>
        <p:txBody>
          <a:bodyPr/>
          <a:lstStyle/>
          <a:p>
            <a:endParaRPr/>
          </a:p>
        </p:txBody>
      </p:sp>
      <p:sp>
        <p:nvSpPr>
          <p:cNvPr id="5014" name="D 5014"/>
          <p:cNvSpPr/>
          <p:nvPr/>
        </p:nvSpPr>
        <p:spPr>
          <a:xfrm>
            <a:off x="7900416" y="5760720"/>
            <a:ext cx="1783080" cy="429768"/>
          </a:xfrm>
          <a:prstGeom prst="roundRect">
            <a:avLst>
              <a:gd name="adj" fmla="val 12765"/>
            </a:avLst>
          </a:prstGeom>
          <a:solidFill>
            <a:srgbClr val="FFFFFF"/>
          </a:solidFill>
          <a:ln w="12700">
            <a:solidFill>
              <a:srgbClr val="C9CDD3"/>
            </a:solidFill>
          </a:ln>
        </p:spPr>
        <p:txBody>
          <a:bodyPr/>
          <a:lstStyle/>
          <a:p>
            <a:endParaRPr/>
          </a:p>
        </p:txBody>
      </p:sp>
      <p:sp>
        <p:nvSpPr>
          <p:cNvPr id="5015" name="D 5015"/>
          <p:cNvSpPr txBox="1"/>
          <p:nvPr/>
        </p:nvSpPr>
        <p:spPr>
          <a:xfrm>
            <a:off x="7900416" y="5760720"/>
            <a:ext cx="1783080" cy="429768"/>
          </a:xfrm>
          <a:prstGeom prst="rect">
            <a:avLst/>
          </a:prstGeom>
          <a:noFill/>
        </p:spPr>
        <p:txBody>
          <a:bodyPr wrap="square" lIns="0" tIns="0" rIns="0" bIns="0" rtlCol="0" anchor="ctr"/>
          <a:lstStyle/>
          <a:p>
            <a:pPr algn="ctr"/>
            <a:r>
              <a:rPr lang="ko-KR" sz="1100" b="1" dirty="0">
                <a:solidFill>
                  <a:srgbClr val="D62828"/>
                </a:solidFill>
                <a:latin typeface="에이투지체 5 Medium"/>
                <a:ea typeface="에이투지체 5 Medium"/>
                <a:cs typeface="에이투지체 5 Medium"/>
              </a:rPr>
              <a:t>5   </a:t>
            </a:r>
            <a:r>
              <a:rPr lang="ko-KR" sz="1100" b="1" dirty="0">
                <a:solidFill>
                  <a:srgbClr val="222222"/>
                </a:solidFill>
                <a:latin typeface="에이투지체 5 Medium"/>
                <a:ea typeface="에이투지체 5 Medium"/>
                <a:cs typeface="에이투지체 5 Medium"/>
              </a:rPr>
              <a:t>모델 검증 · 선정</a:t>
            </a:r>
          </a:p>
        </p:txBody>
      </p:sp>
      <p:sp>
        <p:nvSpPr>
          <p:cNvPr id="5016" name="D 5016"/>
          <p:cNvSpPr/>
          <p:nvPr/>
        </p:nvSpPr>
        <p:spPr>
          <a:xfrm>
            <a:off x="9875520" y="1993392"/>
            <a:ext cx="1856232" cy="3675888"/>
          </a:xfrm>
          <a:prstGeom prst="roundRect">
            <a:avLst>
              <a:gd name="adj" fmla="val 3940"/>
            </a:avLst>
          </a:prstGeom>
          <a:noFill/>
          <a:ln w="15875">
            <a:solidFill>
              <a:srgbClr val="D62828"/>
            </a:solidFill>
            <a:prstDash val="dash"/>
          </a:ln>
        </p:spPr>
        <p:txBody>
          <a:bodyPr/>
          <a:lstStyle/>
          <a:p>
            <a:endParaRPr/>
          </a:p>
        </p:txBody>
      </p:sp>
      <p:sp>
        <p:nvSpPr>
          <p:cNvPr id="5017" name="D 5017"/>
          <p:cNvSpPr/>
          <p:nvPr/>
        </p:nvSpPr>
        <p:spPr>
          <a:xfrm>
            <a:off x="9966960" y="5760720"/>
            <a:ext cx="1673352" cy="429768"/>
          </a:xfrm>
          <a:prstGeom prst="roundRect">
            <a:avLst>
              <a:gd name="adj" fmla="val 12765"/>
            </a:avLst>
          </a:prstGeom>
          <a:solidFill>
            <a:srgbClr val="FFFFFF"/>
          </a:solidFill>
          <a:ln w="12700">
            <a:solidFill>
              <a:srgbClr val="D62828"/>
            </a:solidFill>
          </a:ln>
        </p:spPr>
        <p:txBody>
          <a:bodyPr/>
          <a:lstStyle/>
          <a:p>
            <a:endParaRPr/>
          </a:p>
        </p:txBody>
      </p:sp>
      <p:sp>
        <p:nvSpPr>
          <p:cNvPr id="5018" name="D 5018"/>
          <p:cNvSpPr txBox="1"/>
          <p:nvPr/>
        </p:nvSpPr>
        <p:spPr>
          <a:xfrm>
            <a:off x="9966960" y="5760720"/>
            <a:ext cx="1673352" cy="429768"/>
          </a:xfrm>
          <a:prstGeom prst="rect">
            <a:avLst/>
          </a:prstGeom>
          <a:noFill/>
        </p:spPr>
        <p:txBody>
          <a:bodyPr wrap="square" lIns="0" tIns="0" rIns="0" bIns="0" rtlCol="0" anchor="ctr"/>
          <a:lstStyle/>
          <a:p>
            <a:pPr algn="ctr"/>
            <a:r>
              <a:rPr lang="ko-KR" sz="1100" b="1" dirty="0">
                <a:solidFill>
                  <a:srgbClr val="D62828"/>
                </a:solidFill>
                <a:latin typeface="에이투지체 5 Medium"/>
                <a:ea typeface="에이투지체 5 Medium"/>
                <a:cs typeface="에이투지체 5 Medium"/>
              </a:rPr>
              <a:t>6   </a:t>
            </a:r>
            <a:r>
              <a:rPr lang="ko-KR" sz="1100" b="1" dirty="0">
                <a:solidFill>
                  <a:srgbClr val="222222"/>
                </a:solidFill>
                <a:latin typeface="에이투지체 5 Medium"/>
                <a:ea typeface="에이투지체 5 Medium"/>
                <a:cs typeface="에이투지체 5 Medium"/>
              </a:rPr>
              <a:t>서비스 연결</a:t>
            </a:r>
          </a:p>
        </p:txBody>
      </p:sp>
      <p:sp>
        <p:nvSpPr>
          <p:cNvPr id="5019" name="D 5019"/>
          <p:cNvSpPr/>
          <p:nvPr/>
        </p:nvSpPr>
        <p:spPr>
          <a:xfrm>
            <a:off x="548640" y="2148840"/>
            <a:ext cx="1508760" cy="548640"/>
          </a:xfrm>
          <a:prstGeom prst="roundRect">
            <a:avLst>
              <a:gd name="adj" fmla="val 50000"/>
            </a:avLst>
          </a:prstGeom>
          <a:solidFill>
            <a:srgbClr val="E6E8EB"/>
          </a:solidFill>
          <a:ln>
            <a:noFill/>
          </a:ln>
        </p:spPr>
        <p:txBody>
          <a:bodyPr wrap="square" lIns="45720" tIns="0" rIns="45720" bIns="0" rtlCol="0" anchor="ctr"/>
          <a:lstStyle/>
          <a:p>
            <a:pPr algn="ctr"/>
            <a:r>
              <a:rPr lang="ko-KR" sz="1000" b="1" dirty="0">
                <a:solidFill>
                  <a:srgbClr val="222222"/>
                </a:solidFill>
                <a:latin typeface="에이투지체 5 Medium"/>
                <a:ea typeface="에이투지체 5 Medium"/>
                <a:cs typeface="에이투지체 5 Medium"/>
              </a:rPr>
              <a:t>119 구급활동 통계</a:t>
            </a:r>
          </a:p>
          <a:p>
            <a:pPr algn="ctr"/>
            <a:r>
              <a:rPr lang="ko-KR" sz="800" dirty="0">
                <a:solidFill>
                  <a:srgbClr val="45515E"/>
                </a:solidFill>
                <a:latin typeface="에이투지체 5 Medium"/>
                <a:ea typeface="에이투지체 5 Medium"/>
                <a:cs typeface="에이투지체 5 Medium"/>
              </a:rPr>
              <a:t>소방청 API · 2017–2025</a:t>
            </a:r>
          </a:p>
        </p:txBody>
      </p:sp>
      <p:sp>
        <p:nvSpPr>
          <p:cNvPr id="5020" name="D 5020"/>
          <p:cNvSpPr/>
          <p:nvPr/>
        </p:nvSpPr>
        <p:spPr>
          <a:xfrm>
            <a:off x="548640" y="2807208"/>
            <a:ext cx="1508760" cy="548640"/>
          </a:xfrm>
          <a:prstGeom prst="roundRect">
            <a:avLst>
              <a:gd name="adj" fmla="val 50000"/>
            </a:avLst>
          </a:prstGeom>
          <a:solidFill>
            <a:srgbClr val="E6E8EB"/>
          </a:solidFill>
          <a:ln>
            <a:noFill/>
          </a:ln>
        </p:spPr>
        <p:txBody>
          <a:bodyPr wrap="square" lIns="45720" tIns="0" rIns="45720" bIns="0" rtlCol="0" anchor="ctr"/>
          <a:lstStyle/>
          <a:p>
            <a:pPr algn="ctr"/>
            <a:r>
              <a:rPr lang="ko-KR" sz="1000" b="1" dirty="0">
                <a:solidFill>
                  <a:srgbClr val="222222"/>
                </a:solidFill>
                <a:latin typeface="에이투지체 5 Medium"/>
                <a:ea typeface="에이투지체 5 Medium"/>
                <a:cs typeface="에이투지체 5 Medium"/>
              </a:rPr>
              <a:t>서울 생활인구</a:t>
            </a:r>
          </a:p>
          <a:p>
            <a:pPr algn="ctr"/>
            <a:r>
              <a:rPr lang="ko-KR" sz="800" dirty="0">
                <a:solidFill>
                  <a:srgbClr val="45515E"/>
                </a:solidFill>
                <a:latin typeface="에이투지체 5 Medium"/>
                <a:ea typeface="에이투지체 5 Medium"/>
                <a:cs typeface="에이투지체 5 Medium"/>
              </a:rPr>
              <a:t>일별 CSV · 2018–2026</a:t>
            </a:r>
          </a:p>
        </p:txBody>
      </p:sp>
      <p:sp>
        <p:nvSpPr>
          <p:cNvPr id="5021" name="D 5021"/>
          <p:cNvSpPr/>
          <p:nvPr/>
        </p:nvSpPr>
        <p:spPr>
          <a:xfrm>
            <a:off x="548640" y="3465576"/>
            <a:ext cx="1508760" cy="548640"/>
          </a:xfrm>
          <a:prstGeom prst="roundRect">
            <a:avLst>
              <a:gd name="adj" fmla="val 50000"/>
            </a:avLst>
          </a:prstGeom>
          <a:solidFill>
            <a:srgbClr val="E6E8EB"/>
          </a:solidFill>
          <a:ln>
            <a:noFill/>
          </a:ln>
        </p:spPr>
        <p:txBody>
          <a:bodyPr wrap="square" lIns="45720" tIns="0" rIns="45720" bIns="0" rtlCol="0" anchor="ctr"/>
          <a:lstStyle/>
          <a:p>
            <a:pPr algn="ctr"/>
            <a:r>
              <a:rPr lang="ko-KR" sz="1000" b="1" dirty="0">
                <a:solidFill>
                  <a:srgbClr val="222222"/>
                </a:solidFill>
                <a:latin typeface="에이투지체 5 Medium"/>
                <a:ea typeface="에이투지체 5 Medium"/>
                <a:cs typeface="에이투지체 5 Medium"/>
              </a:rPr>
              <a:t>구조활동 실적</a:t>
            </a:r>
          </a:p>
          <a:p>
            <a:pPr algn="ctr"/>
            <a:r>
              <a:rPr lang="ko-KR" sz="800" dirty="0">
                <a:solidFill>
                  <a:srgbClr val="45515E"/>
                </a:solidFill>
                <a:latin typeface="에이투지체 5 Medium"/>
                <a:ea typeface="에이투지체 5 Medium"/>
                <a:cs typeface="에이투지체 5 Medium"/>
              </a:rPr>
              <a:t>사고 원인 · 연 단위</a:t>
            </a:r>
          </a:p>
        </p:txBody>
      </p:sp>
      <p:sp>
        <p:nvSpPr>
          <p:cNvPr id="5022" name="D 5022"/>
          <p:cNvSpPr/>
          <p:nvPr/>
        </p:nvSpPr>
        <p:spPr>
          <a:xfrm>
            <a:off x="548640" y="4123944"/>
            <a:ext cx="1508760" cy="548640"/>
          </a:xfrm>
          <a:prstGeom prst="roundRect">
            <a:avLst>
              <a:gd name="adj" fmla="val 50000"/>
            </a:avLst>
          </a:prstGeom>
          <a:solidFill>
            <a:srgbClr val="E6E8EB"/>
          </a:solidFill>
          <a:ln>
            <a:noFill/>
          </a:ln>
        </p:spPr>
        <p:txBody>
          <a:bodyPr wrap="square" lIns="45720" tIns="0" rIns="45720" bIns="0" rtlCol="0" anchor="ctr"/>
          <a:lstStyle/>
          <a:p>
            <a:pPr algn="ctr"/>
            <a:r>
              <a:rPr lang="ko-KR" sz="1000" b="1" dirty="0">
                <a:solidFill>
                  <a:srgbClr val="222222"/>
                </a:solidFill>
                <a:latin typeface="에이투지체 5 Medium"/>
                <a:ea typeface="에이투지체 5 Medium"/>
                <a:cs typeface="에이투지체 5 Medium"/>
              </a:rPr>
              <a:t>의료이용 유출입</a:t>
            </a:r>
          </a:p>
          <a:p>
            <a:pPr algn="ctr"/>
            <a:r>
              <a:rPr lang="ko-KR" sz="800" dirty="0">
                <a:solidFill>
                  <a:srgbClr val="45515E"/>
                </a:solidFill>
                <a:latin typeface="에이투지체 5 Medium"/>
                <a:ea typeface="에이투지체 5 Medium"/>
                <a:cs typeface="에이투지체 5 Medium"/>
              </a:rPr>
              <a:t>XLSX · 연 단위</a:t>
            </a:r>
          </a:p>
        </p:txBody>
      </p:sp>
      <p:sp>
        <p:nvSpPr>
          <p:cNvPr id="5023" name="D 5023"/>
          <p:cNvSpPr/>
          <p:nvPr/>
        </p:nvSpPr>
        <p:spPr>
          <a:xfrm>
            <a:off x="548640" y="4919472"/>
            <a:ext cx="1508760" cy="548640"/>
          </a:xfrm>
          <a:prstGeom prst="roundRect">
            <a:avLst>
              <a:gd name="adj" fmla="val 50000"/>
            </a:avLst>
          </a:prstGeom>
          <a:solidFill>
            <a:srgbClr val="E6E8EB"/>
          </a:solidFill>
          <a:ln>
            <a:noFill/>
          </a:ln>
        </p:spPr>
        <p:txBody>
          <a:bodyPr wrap="square" lIns="45720" tIns="0" rIns="45720" bIns="0" rtlCol="0" anchor="ctr"/>
          <a:lstStyle/>
          <a:p>
            <a:pPr algn="ctr"/>
            <a:r>
              <a:rPr lang="ko-KR" sz="1000" b="1" dirty="0">
                <a:solidFill>
                  <a:srgbClr val="222222"/>
                </a:solidFill>
                <a:latin typeface="에이투지체 5 Medium"/>
                <a:ea typeface="에이투지체 5 Medium"/>
                <a:cs typeface="에이투지체 5 Medium"/>
              </a:rPr>
              <a:t>응급실 병상</a:t>
            </a:r>
          </a:p>
          <a:p>
            <a:pPr algn="ctr"/>
            <a:r>
              <a:rPr lang="ko-KR" sz="800" dirty="0">
                <a:solidFill>
                  <a:srgbClr val="45515E"/>
                </a:solidFill>
                <a:latin typeface="에이투지체 5 Medium"/>
                <a:ea typeface="에이투지체 5 Medium"/>
                <a:cs typeface="에이투지체 5 Medium"/>
              </a:rPr>
              <a:t>NMC 실시간 API</a:t>
            </a:r>
          </a:p>
        </p:txBody>
      </p:sp>
      <p:sp>
        <p:nvSpPr>
          <p:cNvPr id="5024" name="D 5024"/>
          <p:cNvSpPr/>
          <p:nvPr/>
        </p:nvSpPr>
        <p:spPr>
          <a:xfrm>
            <a:off x="2386584" y="2240280"/>
            <a:ext cx="1508760" cy="713232"/>
          </a:xfrm>
          <a:prstGeom prst="roundRect">
            <a:avLst>
              <a:gd name="adj" fmla="val 7692"/>
            </a:avLst>
          </a:prstGeom>
          <a:solidFill>
            <a:srgbClr val="FFFFFF"/>
          </a:solidFill>
          <a:ln w="12700">
            <a:solidFill>
              <a:srgbClr val="222222"/>
            </a:solidFill>
          </a:ln>
          <a:effectLst>
            <a:outerShdw blurRad="38100" dist="25400" dir="5400000" algn="t" rotWithShape="0">
              <a:srgbClr val="000000">
                <a:alpha val="8000"/>
              </a:srgbClr>
            </a:outerShdw>
          </a:effectLst>
        </p:spPr>
        <p:txBody>
          <a:bodyPr wrap="square" lIns="45720" tIns="0" rIns="45720" bIns="0" rtlCol="0" anchor="ctr"/>
          <a:lstStyle/>
          <a:p>
            <a:pPr algn="ctr"/>
            <a:r>
              <a:rPr lang="ko-KR" sz="1050" b="1" dirty="0">
                <a:solidFill>
                  <a:srgbClr val="222222"/>
                </a:solidFill>
                <a:latin typeface="에이투지체 5 Medium"/>
                <a:ea typeface="에이투지체 5 Medium"/>
                <a:cs typeface="에이투지체 5 Medium"/>
              </a:rPr>
              <a:t>형식 · 집계 통일</a:t>
            </a:r>
          </a:p>
          <a:p>
            <a:pPr algn="ctr"/>
            <a:r>
              <a:rPr lang="ko-KR" sz="850" dirty="0">
                <a:solidFill>
                  <a:srgbClr val="45515E"/>
                </a:solidFill>
                <a:latin typeface="에이투지체 5 Medium"/>
                <a:ea typeface="에이투지체 5 Medium"/>
                <a:cs typeface="에이투지체 5 Medium"/>
              </a:rPr>
              <a:t>날짜 · 자치구 기준</a:t>
            </a:r>
          </a:p>
          <a:p>
            <a:pPr algn="ctr"/>
            <a:r>
              <a:rPr lang="ko-KR" sz="850" dirty="0">
                <a:solidFill>
                  <a:srgbClr val="45515E"/>
                </a:solidFill>
                <a:latin typeface="에이투지체 5 Medium"/>
                <a:ea typeface="에이투지체 5 Medium"/>
                <a:cs typeface="에이투지체 5 Medium"/>
              </a:rPr>
              <a:t>관할 변경 70행 제외</a:t>
            </a:r>
          </a:p>
        </p:txBody>
      </p:sp>
      <p:sp>
        <p:nvSpPr>
          <p:cNvPr id="5025" name="D 5025"/>
          <p:cNvSpPr/>
          <p:nvPr/>
        </p:nvSpPr>
        <p:spPr>
          <a:xfrm>
            <a:off x="2386584" y="3246120"/>
            <a:ext cx="1508760" cy="603504"/>
          </a:xfrm>
          <a:prstGeom prst="roundRect">
            <a:avLst>
              <a:gd name="adj" fmla="val 9090"/>
            </a:avLst>
          </a:prstGeom>
          <a:solidFill>
            <a:srgbClr val="FFFFFF"/>
          </a:solidFill>
          <a:ln w="12700">
            <a:solidFill>
              <a:srgbClr val="222222"/>
            </a:solidFill>
          </a:ln>
          <a:effectLst>
            <a:outerShdw blurRad="38100" dist="25400" dir="5400000" algn="t" rotWithShape="0">
              <a:srgbClr val="000000">
                <a:alpha val="8000"/>
              </a:srgbClr>
            </a:outerShdw>
          </a:effectLst>
        </p:spPr>
        <p:txBody>
          <a:bodyPr wrap="square" lIns="45720" tIns="0" rIns="45720" bIns="0" rtlCol="0" anchor="ctr"/>
          <a:lstStyle/>
          <a:p>
            <a:pPr algn="ctr"/>
            <a:r>
              <a:rPr lang="ko-KR" sz="1050" b="1" dirty="0">
                <a:solidFill>
                  <a:srgbClr val="222222"/>
                </a:solidFill>
                <a:latin typeface="에이투지체 5 Medium"/>
                <a:ea typeface="에이투지체 5 Medium"/>
                <a:cs typeface="에이투지체 5 Medium"/>
              </a:rPr>
              <a:t>생활인구 정리</a:t>
            </a:r>
          </a:p>
          <a:p>
            <a:pPr algn="ctr"/>
            <a:r>
              <a:rPr lang="ko-KR" sz="850" dirty="0">
                <a:solidFill>
                  <a:srgbClr val="45515E"/>
                </a:solidFill>
                <a:latin typeface="에이투지체 5 Medium"/>
                <a:ea typeface="에이투지체 5 Medium"/>
                <a:cs typeface="에이투지체 5 Medium"/>
              </a:rPr>
              <a:t>일 단위 → 월평균</a:t>
            </a:r>
          </a:p>
        </p:txBody>
      </p:sp>
      <p:sp>
        <p:nvSpPr>
          <p:cNvPr id="5026" name="D 5026"/>
          <p:cNvSpPr/>
          <p:nvPr/>
        </p:nvSpPr>
        <p:spPr>
          <a:xfrm>
            <a:off x="2386584" y="4114800"/>
            <a:ext cx="1508760" cy="713232"/>
          </a:xfrm>
          <a:prstGeom prst="roundRect">
            <a:avLst>
              <a:gd name="adj" fmla="val 7692"/>
            </a:avLst>
          </a:prstGeom>
          <a:solidFill>
            <a:srgbClr val="FFFFFF"/>
          </a:solidFill>
          <a:ln w="12700">
            <a:solidFill>
              <a:srgbClr val="222222"/>
            </a:solidFill>
          </a:ln>
          <a:effectLst>
            <a:outerShdw blurRad="38100" dist="25400" dir="5400000" algn="t" rotWithShape="0">
              <a:srgbClr val="000000">
                <a:alpha val="8000"/>
              </a:srgbClr>
            </a:outerShdw>
          </a:effectLst>
        </p:spPr>
        <p:txBody>
          <a:bodyPr wrap="square" lIns="45720" tIns="0" rIns="45720" bIns="0" rtlCol="0" anchor="ctr"/>
          <a:lstStyle/>
          <a:p>
            <a:pPr algn="ctr"/>
            <a:r>
              <a:rPr lang="ko-KR" sz="1050" b="1" dirty="0">
                <a:solidFill>
                  <a:srgbClr val="222222"/>
                </a:solidFill>
                <a:latin typeface="에이투지체 5 Medium"/>
                <a:ea typeface="에이투지체 5 Medium"/>
                <a:cs typeface="에이투지체 5 Medium"/>
              </a:rPr>
              <a:t>과거 값 결합</a:t>
            </a:r>
          </a:p>
          <a:p>
            <a:pPr algn="ctr"/>
            <a:r>
              <a:rPr lang="ko-KR" sz="850" dirty="0">
                <a:solidFill>
                  <a:srgbClr val="45515E"/>
                </a:solidFill>
                <a:latin typeface="에이투지체 5 Medium"/>
                <a:ea typeface="에이투지체 5 Medium"/>
                <a:cs typeface="에이투지체 5 Medium"/>
              </a:rPr>
              <a:t>전월 · 전년 동월</a:t>
            </a:r>
          </a:p>
          <a:p>
            <a:pPr algn="ctr"/>
            <a:r>
              <a:rPr lang="ko-KR" sz="850" dirty="0">
                <a:solidFill>
                  <a:srgbClr val="45515E"/>
                </a:solidFill>
                <a:latin typeface="에이투지체 5 Medium"/>
                <a:ea typeface="에이투지체 5 Medium"/>
                <a:cs typeface="에이투지체 5 Medium"/>
              </a:rPr>
              <a:t>전일 · 7일 전</a:t>
            </a:r>
          </a:p>
        </p:txBody>
      </p:sp>
      <p:sp>
        <p:nvSpPr>
          <p:cNvPr id="5027" name="D 5027"/>
          <p:cNvSpPr/>
          <p:nvPr/>
        </p:nvSpPr>
        <p:spPr>
          <a:xfrm>
            <a:off x="2057400" y="2423160"/>
            <a:ext cx="164592" cy="0"/>
          </a:xfrm>
          <a:prstGeom prst="line">
            <a:avLst/>
          </a:prstGeom>
          <a:ln w="12700">
            <a:solidFill>
              <a:srgbClr val="45515E"/>
            </a:solidFill>
          </a:ln>
        </p:spPr>
        <p:txBody>
          <a:bodyPr/>
          <a:lstStyle/>
          <a:p>
            <a:endParaRPr/>
          </a:p>
        </p:txBody>
      </p:sp>
      <p:sp>
        <p:nvSpPr>
          <p:cNvPr id="5028" name="D 5028"/>
          <p:cNvSpPr/>
          <p:nvPr/>
        </p:nvSpPr>
        <p:spPr>
          <a:xfrm>
            <a:off x="2057400" y="3739896"/>
            <a:ext cx="164592" cy="0"/>
          </a:xfrm>
          <a:prstGeom prst="line">
            <a:avLst/>
          </a:prstGeom>
          <a:ln w="12700">
            <a:solidFill>
              <a:srgbClr val="45515E"/>
            </a:solidFill>
          </a:ln>
        </p:spPr>
        <p:txBody>
          <a:bodyPr/>
          <a:lstStyle/>
          <a:p>
            <a:endParaRPr/>
          </a:p>
        </p:txBody>
      </p:sp>
      <p:sp>
        <p:nvSpPr>
          <p:cNvPr id="5029" name="D 5029"/>
          <p:cNvSpPr/>
          <p:nvPr/>
        </p:nvSpPr>
        <p:spPr>
          <a:xfrm>
            <a:off x="2057400" y="4398264"/>
            <a:ext cx="164592" cy="0"/>
          </a:xfrm>
          <a:prstGeom prst="line">
            <a:avLst/>
          </a:prstGeom>
          <a:ln w="12700">
            <a:solidFill>
              <a:srgbClr val="45515E"/>
            </a:solidFill>
          </a:ln>
        </p:spPr>
        <p:txBody>
          <a:bodyPr/>
          <a:lstStyle/>
          <a:p>
            <a:endParaRPr/>
          </a:p>
        </p:txBody>
      </p:sp>
      <p:sp>
        <p:nvSpPr>
          <p:cNvPr id="5030" name="D 5030"/>
          <p:cNvSpPr/>
          <p:nvPr/>
        </p:nvSpPr>
        <p:spPr>
          <a:xfrm>
            <a:off x="2221992" y="2423160"/>
            <a:ext cx="0" cy="1975104"/>
          </a:xfrm>
          <a:prstGeom prst="line">
            <a:avLst/>
          </a:prstGeom>
          <a:ln w="12700">
            <a:solidFill>
              <a:srgbClr val="45515E"/>
            </a:solidFill>
          </a:ln>
        </p:spPr>
        <p:txBody>
          <a:bodyPr/>
          <a:lstStyle/>
          <a:p>
            <a:endParaRPr/>
          </a:p>
        </p:txBody>
      </p:sp>
      <p:sp>
        <p:nvSpPr>
          <p:cNvPr id="5031" name="D 5031"/>
          <p:cNvSpPr/>
          <p:nvPr/>
        </p:nvSpPr>
        <p:spPr>
          <a:xfrm>
            <a:off x="2221992" y="2596896"/>
            <a:ext cx="164592" cy="0"/>
          </a:xfrm>
          <a:prstGeom prst="line">
            <a:avLst/>
          </a:prstGeom>
          <a:ln w="12700">
            <a:solidFill>
              <a:srgbClr val="45515E"/>
            </a:solidFill>
            <a:tailEnd type="triangle" w="med" len="med"/>
          </a:ln>
        </p:spPr>
        <p:txBody>
          <a:bodyPr/>
          <a:lstStyle/>
          <a:p>
            <a:endParaRPr/>
          </a:p>
        </p:txBody>
      </p:sp>
      <p:sp>
        <p:nvSpPr>
          <p:cNvPr id="5032" name="D 5032"/>
          <p:cNvSpPr/>
          <p:nvPr/>
        </p:nvSpPr>
        <p:spPr>
          <a:xfrm>
            <a:off x="2057400" y="3081528"/>
            <a:ext cx="329184" cy="466344"/>
          </a:xfrm>
          <a:prstGeom prst="line">
            <a:avLst/>
          </a:prstGeom>
          <a:ln w="12700">
            <a:solidFill>
              <a:srgbClr val="45515E"/>
            </a:solidFill>
            <a:tailEnd type="triangle" w="med" len="med"/>
          </a:ln>
        </p:spPr>
        <p:txBody>
          <a:bodyPr/>
          <a:lstStyle/>
          <a:p>
            <a:endParaRPr/>
          </a:p>
        </p:txBody>
      </p:sp>
      <p:sp>
        <p:nvSpPr>
          <p:cNvPr id="5033" name="D 5033"/>
          <p:cNvSpPr/>
          <p:nvPr/>
        </p:nvSpPr>
        <p:spPr>
          <a:xfrm>
            <a:off x="3895344" y="2596896"/>
            <a:ext cx="73152" cy="0"/>
          </a:xfrm>
          <a:prstGeom prst="line">
            <a:avLst/>
          </a:prstGeom>
          <a:ln w="12700">
            <a:solidFill>
              <a:srgbClr val="45515E"/>
            </a:solidFill>
          </a:ln>
        </p:spPr>
        <p:txBody>
          <a:bodyPr/>
          <a:lstStyle/>
          <a:p>
            <a:endParaRPr/>
          </a:p>
        </p:txBody>
      </p:sp>
      <p:sp>
        <p:nvSpPr>
          <p:cNvPr id="5034" name="D 5034"/>
          <p:cNvSpPr/>
          <p:nvPr/>
        </p:nvSpPr>
        <p:spPr>
          <a:xfrm>
            <a:off x="3968496" y="2596896"/>
            <a:ext cx="0" cy="1874520"/>
          </a:xfrm>
          <a:prstGeom prst="line">
            <a:avLst/>
          </a:prstGeom>
          <a:ln w="12700">
            <a:solidFill>
              <a:srgbClr val="45515E"/>
            </a:solidFill>
          </a:ln>
        </p:spPr>
        <p:txBody>
          <a:bodyPr/>
          <a:lstStyle/>
          <a:p>
            <a:endParaRPr/>
          </a:p>
        </p:txBody>
      </p:sp>
      <p:sp>
        <p:nvSpPr>
          <p:cNvPr id="5035" name="D 5035"/>
          <p:cNvSpPr/>
          <p:nvPr/>
        </p:nvSpPr>
        <p:spPr>
          <a:xfrm flipH="1">
            <a:off x="3895344" y="4471416"/>
            <a:ext cx="73152" cy="0"/>
          </a:xfrm>
          <a:prstGeom prst="line">
            <a:avLst/>
          </a:prstGeom>
          <a:ln w="12700">
            <a:solidFill>
              <a:srgbClr val="45515E"/>
            </a:solidFill>
            <a:tailEnd type="triangle" w="med" len="med"/>
          </a:ln>
        </p:spPr>
        <p:txBody>
          <a:bodyPr/>
          <a:lstStyle/>
          <a:p>
            <a:endParaRPr/>
          </a:p>
        </p:txBody>
      </p:sp>
      <p:sp>
        <p:nvSpPr>
          <p:cNvPr id="5036" name="D 5036"/>
          <p:cNvSpPr/>
          <p:nvPr/>
        </p:nvSpPr>
        <p:spPr>
          <a:xfrm>
            <a:off x="3140964" y="3849624"/>
            <a:ext cx="0" cy="265176"/>
          </a:xfrm>
          <a:prstGeom prst="line">
            <a:avLst/>
          </a:prstGeom>
          <a:ln w="12700">
            <a:solidFill>
              <a:srgbClr val="45515E"/>
            </a:solidFill>
            <a:tailEnd type="triangle" w="med" len="med"/>
          </a:ln>
        </p:spPr>
        <p:txBody>
          <a:bodyPr/>
          <a:lstStyle/>
          <a:p>
            <a:endParaRPr/>
          </a:p>
        </p:txBody>
      </p:sp>
      <p:sp>
        <p:nvSpPr>
          <p:cNvPr id="5037" name="D 5037"/>
          <p:cNvSpPr/>
          <p:nvPr/>
        </p:nvSpPr>
        <p:spPr>
          <a:xfrm>
            <a:off x="2386584" y="4937760"/>
            <a:ext cx="1508760" cy="658368"/>
          </a:xfrm>
          <a:prstGeom prst="roundRect">
            <a:avLst>
              <a:gd name="adj" fmla="val 8333"/>
            </a:avLst>
          </a:prstGeom>
          <a:solidFill>
            <a:srgbClr val="FDE3E3"/>
          </a:solidFill>
          <a:ln w="9525">
            <a:solidFill>
              <a:srgbClr val="E87A7A"/>
            </a:solidFill>
          </a:ln>
        </p:spPr>
        <p:txBody>
          <a:bodyPr wrap="square" lIns="45720" tIns="0" rIns="45720" bIns="0" rtlCol="0" anchor="ctr"/>
          <a:lstStyle/>
          <a:p>
            <a:pPr algn="ctr"/>
            <a:r>
              <a:rPr lang="ko-KR" sz="1000" b="1" dirty="0">
                <a:solidFill>
                  <a:srgbClr val="8A1414"/>
                </a:solidFill>
                <a:latin typeface="에이투지체 5 Medium"/>
                <a:ea typeface="에이투지체 5 Medium"/>
                <a:cs typeface="에이투지체 5 Medium"/>
              </a:rPr>
              <a:t>학습 표 2종</a:t>
            </a:r>
          </a:p>
          <a:p>
            <a:pPr algn="ctr"/>
            <a:r>
              <a:rPr lang="ko-KR" sz="800" dirty="0">
                <a:solidFill>
                  <a:srgbClr val="8A1414"/>
                </a:solidFill>
                <a:latin typeface="에이투지체 5 Medium"/>
                <a:ea typeface="에이투지체 5 Medium"/>
                <a:cs typeface="에이투지체 5 Medium"/>
              </a:rPr>
              <a:t>이송 2,180행</a:t>
            </a:r>
          </a:p>
          <a:p>
            <a:pPr algn="ctr"/>
            <a:r>
              <a:rPr lang="ko-KR" sz="800" dirty="0">
                <a:solidFill>
                  <a:srgbClr val="8A1414"/>
                </a:solidFill>
                <a:latin typeface="에이투지체 5 Medium"/>
                <a:ea typeface="에이투지체 5 Medium"/>
                <a:cs typeface="에이투지체 5 Medium"/>
              </a:rPr>
              <a:t>인구 75,825행</a:t>
            </a:r>
          </a:p>
        </p:txBody>
      </p:sp>
      <p:sp>
        <p:nvSpPr>
          <p:cNvPr id="5038" name="D 5038"/>
          <p:cNvSpPr/>
          <p:nvPr/>
        </p:nvSpPr>
        <p:spPr>
          <a:xfrm>
            <a:off x="3140964" y="4828032"/>
            <a:ext cx="0" cy="109728"/>
          </a:xfrm>
          <a:prstGeom prst="line">
            <a:avLst/>
          </a:prstGeom>
          <a:ln w="12700">
            <a:solidFill>
              <a:srgbClr val="45515E"/>
            </a:solidFill>
            <a:tailEnd type="triangle" w="med" len="med"/>
          </a:ln>
        </p:spPr>
        <p:txBody>
          <a:bodyPr/>
          <a:lstStyle/>
          <a:p>
            <a:endParaRPr/>
          </a:p>
        </p:txBody>
      </p:sp>
      <p:sp>
        <p:nvSpPr>
          <p:cNvPr id="5039" name="D 5039"/>
          <p:cNvSpPr/>
          <p:nvPr/>
        </p:nvSpPr>
        <p:spPr>
          <a:xfrm>
            <a:off x="4270248" y="2286000"/>
            <a:ext cx="1508760" cy="603504"/>
          </a:xfrm>
          <a:prstGeom prst="roundRect">
            <a:avLst>
              <a:gd name="adj" fmla="val 9090"/>
            </a:avLst>
          </a:prstGeom>
          <a:solidFill>
            <a:srgbClr val="F2F3F5"/>
          </a:solidFill>
          <a:ln w="9525">
            <a:solidFill>
              <a:srgbClr val="45515E"/>
            </a:solidFill>
          </a:ln>
        </p:spPr>
        <p:txBody>
          <a:bodyPr wrap="square" lIns="45720" tIns="0" rIns="45720" bIns="0" rtlCol="0" anchor="ctr"/>
          <a:lstStyle/>
          <a:p>
            <a:pPr algn="ctr"/>
            <a:r>
              <a:rPr lang="ko-KR" sz="1050" b="1" dirty="0">
                <a:solidFill>
                  <a:srgbClr val="222222"/>
                </a:solidFill>
                <a:latin typeface="에이투지체 5 Medium"/>
                <a:ea typeface="에이투지체 5 Medium"/>
                <a:cs typeface="에이투지체 5 Medium"/>
              </a:rPr>
              <a:t>생활인구-이송 관계</a:t>
            </a:r>
          </a:p>
          <a:p>
            <a:pPr algn="ctr"/>
            <a:r>
              <a:rPr lang="ko-KR" sz="850" dirty="0">
                <a:solidFill>
                  <a:srgbClr val="45515E"/>
                </a:solidFill>
                <a:latin typeface="에이투지체 5 Medium"/>
                <a:ea typeface="에이투지체 5 Medium"/>
                <a:cs typeface="에이투지체 5 Medium"/>
              </a:rPr>
              <a:t>구 간 0.81 · 구 내 ≤ 0.33</a:t>
            </a:r>
          </a:p>
        </p:txBody>
      </p:sp>
      <p:sp>
        <p:nvSpPr>
          <p:cNvPr id="5040" name="D 5040"/>
          <p:cNvSpPr/>
          <p:nvPr/>
        </p:nvSpPr>
        <p:spPr>
          <a:xfrm>
            <a:off x="4270248" y="3246120"/>
            <a:ext cx="1508760" cy="603504"/>
          </a:xfrm>
          <a:prstGeom prst="roundRect">
            <a:avLst>
              <a:gd name="adj" fmla="val 9090"/>
            </a:avLst>
          </a:prstGeom>
          <a:solidFill>
            <a:srgbClr val="F2F3F5"/>
          </a:solidFill>
          <a:ln w="9525">
            <a:solidFill>
              <a:srgbClr val="45515E"/>
            </a:solidFill>
          </a:ln>
        </p:spPr>
        <p:txBody>
          <a:bodyPr wrap="square" lIns="45720" tIns="0" rIns="45720" bIns="0" rtlCol="0" anchor="ctr"/>
          <a:lstStyle/>
          <a:p>
            <a:pPr algn="ctr"/>
            <a:r>
              <a:rPr lang="ko-KR" sz="1050" b="1" dirty="0">
                <a:solidFill>
                  <a:srgbClr val="222222"/>
                </a:solidFill>
                <a:latin typeface="에이투지체 5 Medium"/>
                <a:ea typeface="에이투지체 5 Medium"/>
                <a:cs typeface="에이투지체 5 Medium"/>
              </a:rPr>
              <a:t>자치구 유형</a:t>
            </a:r>
          </a:p>
          <a:p>
            <a:pPr algn="ctr"/>
            <a:r>
              <a:rPr lang="ko-KR" sz="850" dirty="0">
                <a:solidFill>
                  <a:srgbClr val="45515E"/>
                </a:solidFill>
                <a:latin typeface="에이투지체 5 Medium"/>
                <a:ea typeface="에이투지체 5 Medium"/>
                <a:cs typeface="에이투지체 5 Medium"/>
              </a:rPr>
              <a:t>KMeans 4개 유형</a:t>
            </a:r>
          </a:p>
        </p:txBody>
      </p:sp>
      <p:sp>
        <p:nvSpPr>
          <p:cNvPr id="5041" name="D 5041"/>
          <p:cNvSpPr/>
          <p:nvPr/>
        </p:nvSpPr>
        <p:spPr>
          <a:xfrm>
            <a:off x="4270248" y="4206240"/>
            <a:ext cx="1508760" cy="603504"/>
          </a:xfrm>
          <a:prstGeom prst="roundRect">
            <a:avLst>
              <a:gd name="adj" fmla="val 9090"/>
            </a:avLst>
          </a:prstGeom>
          <a:solidFill>
            <a:srgbClr val="F2F3F5"/>
          </a:solidFill>
          <a:ln w="9525">
            <a:solidFill>
              <a:srgbClr val="45515E"/>
            </a:solidFill>
          </a:ln>
        </p:spPr>
        <p:txBody>
          <a:bodyPr wrap="square" lIns="45720" tIns="0" rIns="45720" bIns="0" rtlCol="0" anchor="ctr"/>
          <a:lstStyle/>
          <a:p>
            <a:pPr algn="ctr"/>
            <a:r>
              <a:rPr lang="ko-KR" sz="1050" b="1" dirty="0">
                <a:solidFill>
                  <a:srgbClr val="222222"/>
                </a:solidFill>
                <a:latin typeface="에이투지체 5 Medium"/>
                <a:ea typeface="에이투지체 5 Medium"/>
                <a:cs typeface="에이투지체 5 Medium"/>
              </a:rPr>
              <a:t>계절성</a:t>
            </a:r>
          </a:p>
          <a:p>
            <a:pPr algn="ctr"/>
            <a:r>
              <a:rPr lang="ko-KR" sz="850" dirty="0">
                <a:solidFill>
                  <a:srgbClr val="45515E"/>
                </a:solidFill>
                <a:latin typeface="에이투지체 5 Medium"/>
                <a:ea typeface="에이투지체 5 Medium"/>
                <a:cs typeface="에이투지체 5 Medium"/>
              </a:rPr>
              <a:t>7 · 8월 최다 · 2월 최소</a:t>
            </a:r>
          </a:p>
        </p:txBody>
      </p:sp>
      <p:sp>
        <p:nvSpPr>
          <p:cNvPr id="5042" name="D 5042"/>
          <p:cNvSpPr/>
          <p:nvPr/>
        </p:nvSpPr>
        <p:spPr>
          <a:xfrm>
            <a:off x="3895344" y="5266944"/>
            <a:ext cx="210312" cy="0"/>
          </a:xfrm>
          <a:prstGeom prst="line">
            <a:avLst/>
          </a:prstGeom>
          <a:ln w="12700">
            <a:solidFill>
              <a:srgbClr val="45515E"/>
            </a:solidFill>
          </a:ln>
        </p:spPr>
        <p:txBody>
          <a:bodyPr/>
          <a:lstStyle/>
          <a:p>
            <a:endParaRPr/>
          </a:p>
        </p:txBody>
      </p:sp>
      <p:sp>
        <p:nvSpPr>
          <p:cNvPr id="5043" name="D 5043"/>
          <p:cNvSpPr/>
          <p:nvPr/>
        </p:nvSpPr>
        <p:spPr>
          <a:xfrm>
            <a:off x="4105656" y="2587752"/>
            <a:ext cx="0" cy="2679192"/>
          </a:xfrm>
          <a:prstGeom prst="line">
            <a:avLst/>
          </a:prstGeom>
          <a:ln w="12700">
            <a:solidFill>
              <a:srgbClr val="45515E"/>
            </a:solidFill>
          </a:ln>
        </p:spPr>
        <p:txBody>
          <a:bodyPr/>
          <a:lstStyle/>
          <a:p>
            <a:endParaRPr/>
          </a:p>
        </p:txBody>
      </p:sp>
      <p:sp>
        <p:nvSpPr>
          <p:cNvPr id="5044" name="D 5044"/>
          <p:cNvSpPr/>
          <p:nvPr/>
        </p:nvSpPr>
        <p:spPr>
          <a:xfrm>
            <a:off x="4105656" y="2587752"/>
            <a:ext cx="164592" cy="0"/>
          </a:xfrm>
          <a:prstGeom prst="line">
            <a:avLst/>
          </a:prstGeom>
          <a:ln w="12700">
            <a:solidFill>
              <a:srgbClr val="45515E"/>
            </a:solidFill>
            <a:tailEnd type="triangle" w="med" len="med"/>
          </a:ln>
        </p:spPr>
        <p:txBody>
          <a:bodyPr/>
          <a:lstStyle/>
          <a:p>
            <a:endParaRPr/>
          </a:p>
        </p:txBody>
      </p:sp>
      <p:sp>
        <p:nvSpPr>
          <p:cNvPr id="5045" name="D 5045"/>
          <p:cNvSpPr/>
          <p:nvPr/>
        </p:nvSpPr>
        <p:spPr>
          <a:xfrm>
            <a:off x="4105656" y="3547872"/>
            <a:ext cx="164592" cy="0"/>
          </a:xfrm>
          <a:prstGeom prst="line">
            <a:avLst/>
          </a:prstGeom>
          <a:ln w="12700">
            <a:solidFill>
              <a:srgbClr val="45515E"/>
            </a:solidFill>
            <a:tailEnd type="triangle" w="med" len="med"/>
          </a:ln>
        </p:spPr>
        <p:txBody>
          <a:bodyPr/>
          <a:lstStyle/>
          <a:p>
            <a:endParaRPr/>
          </a:p>
        </p:txBody>
      </p:sp>
      <p:sp>
        <p:nvSpPr>
          <p:cNvPr id="5046" name="D 5046"/>
          <p:cNvSpPr/>
          <p:nvPr/>
        </p:nvSpPr>
        <p:spPr>
          <a:xfrm>
            <a:off x="4105656" y="4507992"/>
            <a:ext cx="164592" cy="0"/>
          </a:xfrm>
          <a:prstGeom prst="line">
            <a:avLst/>
          </a:prstGeom>
          <a:ln w="12700">
            <a:solidFill>
              <a:srgbClr val="45515E"/>
            </a:solidFill>
            <a:tailEnd type="triangle" w="med" len="med"/>
          </a:ln>
        </p:spPr>
        <p:txBody>
          <a:bodyPr/>
          <a:lstStyle/>
          <a:p>
            <a:endParaRPr/>
          </a:p>
        </p:txBody>
      </p:sp>
      <p:sp>
        <p:nvSpPr>
          <p:cNvPr id="5047" name="D 5047"/>
          <p:cNvSpPr/>
          <p:nvPr/>
        </p:nvSpPr>
        <p:spPr>
          <a:xfrm>
            <a:off x="6126480" y="2377440"/>
            <a:ext cx="1472184" cy="731520"/>
          </a:xfrm>
          <a:prstGeom prst="roundRect">
            <a:avLst>
              <a:gd name="adj" fmla="val 7500"/>
            </a:avLst>
          </a:prstGeom>
          <a:solidFill>
            <a:srgbClr val="2B323C"/>
          </a:solidFill>
          <a:ln>
            <a:noFill/>
          </a:ln>
        </p:spPr>
        <p:txBody>
          <a:bodyPr wrap="square" lIns="45720" tIns="0" rIns="45720" bIns="0" rtlCol="0" anchor="ctr"/>
          <a:lstStyle/>
          <a:p>
            <a:pPr algn="ctr"/>
            <a:r>
              <a:rPr lang="ko-KR" sz="1100" b="1" dirty="0">
                <a:solidFill>
                  <a:srgbClr val="FFFFFF"/>
                </a:solidFill>
                <a:latin typeface="에이투지체 5 Medium"/>
                <a:ea typeface="에이투지체 5 Medium"/>
                <a:cs typeface="에이투지체 5 Medium"/>
              </a:rPr>
              <a:t>이송 건수 모델</a:t>
            </a:r>
          </a:p>
          <a:p>
            <a:pPr algn="ctr"/>
            <a:r>
              <a:rPr lang="ko-KR" sz="850" dirty="0">
                <a:solidFill>
                  <a:srgbClr val="C9CED6"/>
                </a:solidFill>
                <a:latin typeface="에이투지체 5 Medium"/>
                <a:ea typeface="에이투지체 5 Medium"/>
                <a:cs typeface="에이투지체 5 Medium"/>
              </a:rPr>
              <a:t>자치구 × 월 회귀</a:t>
            </a:r>
          </a:p>
        </p:txBody>
      </p:sp>
      <p:sp>
        <p:nvSpPr>
          <p:cNvPr id="5048" name="D 5048"/>
          <p:cNvSpPr/>
          <p:nvPr/>
        </p:nvSpPr>
        <p:spPr>
          <a:xfrm>
            <a:off x="6126480" y="4343400"/>
            <a:ext cx="1472184" cy="731520"/>
          </a:xfrm>
          <a:prstGeom prst="roundRect">
            <a:avLst>
              <a:gd name="adj" fmla="val 7500"/>
            </a:avLst>
          </a:prstGeom>
          <a:solidFill>
            <a:srgbClr val="2B323C"/>
          </a:solidFill>
          <a:ln>
            <a:noFill/>
          </a:ln>
        </p:spPr>
        <p:txBody>
          <a:bodyPr wrap="square" lIns="45720" tIns="0" rIns="45720" bIns="0" rtlCol="0" anchor="ctr"/>
          <a:lstStyle/>
          <a:p>
            <a:pPr algn="ctr"/>
            <a:r>
              <a:rPr lang="ko-KR" sz="1100" b="1" dirty="0">
                <a:solidFill>
                  <a:srgbClr val="FFFFFF"/>
                </a:solidFill>
                <a:latin typeface="에이투지체 5 Medium"/>
                <a:ea typeface="에이투지체 5 Medium"/>
                <a:cs typeface="에이투지체 5 Medium"/>
              </a:rPr>
              <a:t>인구 밀집 모델</a:t>
            </a:r>
          </a:p>
          <a:p>
            <a:pPr algn="ctr"/>
            <a:r>
              <a:rPr lang="ko-KR" sz="850" dirty="0">
                <a:solidFill>
                  <a:srgbClr val="C9CED6"/>
                </a:solidFill>
                <a:latin typeface="에이투지체 5 Medium"/>
                <a:ea typeface="에이투지체 5 Medium"/>
                <a:cs typeface="에이투지체 5 Medium"/>
              </a:rPr>
              <a:t>자치구 × 일 회귀</a:t>
            </a:r>
          </a:p>
        </p:txBody>
      </p:sp>
      <p:sp>
        <p:nvSpPr>
          <p:cNvPr id="5049" name="D 5049"/>
          <p:cNvSpPr/>
          <p:nvPr/>
        </p:nvSpPr>
        <p:spPr>
          <a:xfrm>
            <a:off x="6126480" y="3337560"/>
            <a:ext cx="1472184" cy="713232"/>
          </a:xfrm>
          <a:prstGeom prst="roundRect">
            <a:avLst>
              <a:gd name="adj" fmla="val 7692"/>
            </a:avLst>
          </a:prstGeom>
          <a:solidFill>
            <a:srgbClr val="FFFFFF"/>
          </a:solidFill>
          <a:ln w="12700">
            <a:solidFill>
              <a:srgbClr val="222222"/>
            </a:solidFill>
          </a:ln>
        </p:spPr>
        <p:txBody>
          <a:bodyPr wrap="square" lIns="45720" tIns="0" rIns="45720" bIns="0" rtlCol="0" anchor="ctr"/>
          <a:lstStyle/>
          <a:p>
            <a:pPr algn="ctr"/>
            <a:r>
              <a:rPr lang="ko-KR" sz="1000" b="1" dirty="0">
                <a:solidFill>
                  <a:srgbClr val="222222"/>
                </a:solidFill>
                <a:latin typeface="에이투지체 5 Medium"/>
                <a:ea typeface="에이투지체 5 Medium"/>
                <a:cs typeface="에이투지체 5 Medium"/>
              </a:rPr>
              <a:t>특성 실험 (이송)</a:t>
            </a:r>
          </a:p>
          <a:p>
            <a:pPr algn="ctr"/>
            <a:r>
              <a:rPr lang="ko-KR" sz="850" dirty="0">
                <a:solidFill>
                  <a:srgbClr val="45515E"/>
                </a:solidFill>
                <a:latin typeface="에이투지체 5 Medium"/>
                <a:ea typeface="에이투지체 5 Medium"/>
                <a:cs typeface="에이투지체 5 Medium"/>
              </a:rPr>
              <a:t>인구 추가: 미반영</a:t>
            </a:r>
          </a:p>
          <a:p>
            <a:pPr algn="ctr"/>
            <a:r>
              <a:rPr lang="ko-KR" sz="850" dirty="0">
                <a:solidFill>
                  <a:srgbClr val="45515E"/>
                </a:solidFill>
                <a:latin typeface="에이투지체 5 Medium"/>
                <a:ea typeface="에이투지체 5 Medium"/>
                <a:cs typeface="에이투지체 5 Medium"/>
              </a:rPr>
              <a:t>달력 특성: 채택</a:t>
            </a:r>
          </a:p>
        </p:txBody>
      </p:sp>
      <p:sp>
        <p:nvSpPr>
          <p:cNvPr id="5050" name="D 5050"/>
          <p:cNvSpPr/>
          <p:nvPr/>
        </p:nvSpPr>
        <p:spPr>
          <a:xfrm>
            <a:off x="5779008" y="2587752"/>
            <a:ext cx="210312" cy="0"/>
          </a:xfrm>
          <a:prstGeom prst="line">
            <a:avLst/>
          </a:prstGeom>
          <a:ln w="12700">
            <a:solidFill>
              <a:srgbClr val="45515E"/>
            </a:solidFill>
          </a:ln>
        </p:spPr>
        <p:txBody>
          <a:bodyPr/>
          <a:lstStyle/>
          <a:p>
            <a:endParaRPr/>
          </a:p>
        </p:txBody>
      </p:sp>
      <p:sp>
        <p:nvSpPr>
          <p:cNvPr id="5051" name="D 5051"/>
          <p:cNvSpPr/>
          <p:nvPr/>
        </p:nvSpPr>
        <p:spPr>
          <a:xfrm>
            <a:off x="5779008" y="3547872"/>
            <a:ext cx="210312" cy="0"/>
          </a:xfrm>
          <a:prstGeom prst="line">
            <a:avLst/>
          </a:prstGeom>
          <a:ln w="12700">
            <a:solidFill>
              <a:srgbClr val="45515E"/>
            </a:solidFill>
          </a:ln>
        </p:spPr>
        <p:txBody>
          <a:bodyPr/>
          <a:lstStyle/>
          <a:p>
            <a:endParaRPr/>
          </a:p>
        </p:txBody>
      </p:sp>
      <p:sp>
        <p:nvSpPr>
          <p:cNvPr id="5052" name="D 5052"/>
          <p:cNvSpPr/>
          <p:nvPr/>
        </p:nvSpPr>
        <p:spPr>
          <a:xfrm>
            <a:off x="5779008" y="4507992"/>
            <a:ext cx="210312" cy="0"/>
          </a:xfrm>
          <a:prstGeom prst="line">
            <a:avLst/>
          </a:prstGeom>
          <a:ln w="12700">
            <a:solidFill>
              <a:srgbClr val="45515E"/>
            </a:solidFill>
          </a:ln>
        </p:spPr>
        <p:txBody>
          <a:bodyPr/>
          <a:lstStyle/>
          <a:p>
            <a:endParaRPr/>
          </a:p>
        </p:txBody>
      </p:sp>
      <p:sp>
        <p:nvSpPr>
          <p:cNvPr id="5053" name="D 5053"/>
          <p:cNvSpPr/>
          <p:nvPr/>
        </p:nvSpPr>
        <p:spPr>
          <a:xfrm>
            <a:off x="5989320" y="2587752"/>
            <a:ext cx="0" cy="2121408"/>
          </a:xfrm>
          <a:prstGeom prst="line">
            <a:avLst/>
          </a:prstGeom>
          <a:ln w="12700">
            <a:solidFill>
              <a:srgbClr val="45515E"/>
            </a:solidFill>
          </a:ln>
        </p:spPr>
        <p:txBody>
          <a:bodyPr/>
          <a:lstStyle/>
          <a:p>
            <a:endParaRPr/>
          </a:p>
        </p:txBody>
      </p:sp>
      <p:sp>
        <p:nvSpPr>
          <p:cNvPr id="5054" name="D 5054"/>
          <p:cNvSpPr/>
          <p:nvPr/>
        </p:nvSpPr>
        <p:spPr>
          <a:xfrm>
            <a:off x="5989320" y="2743200"/>
            <a:ext cx="137160" cy="0"/>
          </a:xfrm>
          <a:prstGeom prst="line">
            <a:avLst/>
          </a:prstGeom>
          <a:ln w="12700">
            <a:solidFill>
              <a:srgbClr val="45515E"/>
            </a:solidFill>
            <a:tailEnd type="triangle" w="med" len="med"/>
          </a:ln>
        </p:spPr>
        <p:txBody>
          <a:bodyPr/>
          <a:lstStyle/>
          <a:p>
            <a:endParaRPr/>
          </a:p>
        </p:txBody>
      </p:sp>
      <p:sp>
        <p:nvSpPr>
          <p:cNvPr id="5055" name="D 5055"/>
          <p:cNvSpPr/>
          <p:nvPr/>
        </p:nvSpPr>
        <p:spPr>
          <a:xfrm>
            <a:off x="5989320" y="4709160"/>
            <a:ext cx="137160" cy="0"/>
          </a:xfrm>
          <a:prstGeom prst="line">
            <a:avLst/>
          </a:prstGeom>
          <a:ln w="12700">
            <a:solidFill>
              <a:srgbClr val="45515E"/>
            </a:solidFill>
            <a:tailEnd type="triangle" w="med" len="med"/>
          </a:ln>
        </p:spPr>
        <p:txBody>
          <a:bodyPr/>
          <a:lstStyle/>
          <a:p>
            <a:endParaRPr/>
          </a:p>
        </p:txBody>
      </p:sp>
      <p:sp>
        <p:nvSpPr>
          <p:cNvPr id="5056" name="D 5056"/>
          <p:cNvSpPr/>
          <p:nvPr/>
        </p:nvSpPr>
        <p:spPr>
          <a:xfrm flipV="1">
            <a:off x="6862572" y="3108960"/>
            <a:ext cx="0" cy="228600"/>
          </a:xfrm>
          <a:prstGeom prst="line">
            <a:avLst/>
          </a:prstGeom>
          <a:ln w="12700">
            <a:solidFill>
              <a:srgbClr val="45515E"/>
            </a:solidFill>
            <a:tailEnd type="triangle" w="med" len="med"/>
          </a:ln>
        </p:spPr>
        <p:txBody>
          <a:bodyPr/>
          <a:lstStyle/>
          <a:p>
            <a:endParaRPr/>
          </a:p>
        </p:txBody>
      </p:sp>
      <p:sp>
        <p:nvSpPr>
          <p:cNvPr id="5057" name="D 5057"/>
          <p:cNvSpPr txBox="1"/>
          <p:nvPr/>
        </p:nvSpPr>
        <p:spPr>
          <a:xfrm>
            <a:off x="7946136" y="2048256"/>
            <a:ext cx="1691640" cy="201168"/>
          </a:xfrm>
          <a:prstGeom prst="rect">
            <a:avLst/>
          </a:prstGeom>
          <a:noFill/>
        </p:spPr>
        <p:txBody>
          <a:bodyPr wrap="square" lIns="0" tIns="0" rIns="0" bIns="0" rtlCol="0" anchor="ctr"/>
          <a:lstStyle/>
          <a:p>
            <a:pPr algn="ctr"/>
            <a:r>
              <a:rPr lang="ko-KR" sz="950" b="1" dirty="0">
                <a:solidFill>
                  <a:srgbClr val="222222"/>
                </a:solidFill>
                <a:latin typeface="에이투지체 5 Medium"/>
                <a:ea typeface="에이투지체 5 Medium"/>
                <a:cs typeface="에이투지체 5 Medium"/>
              </a:rPr>
              <a:t>시간순 평가</a:t>
            </a:r>
          </a:p>
        </p:txBody>
      </p:sp>
      <p:sp>
        <p:nvSpPr>
          <p:cNvPr id="5058" name="D 5058"/>
          <p:cNvSpPr txBox="1"/>
          <p:nvPr/>
        </p:nvSpPr>
        <p:spPr>
          <a:xfrm>
            <a:off x="7946136" y="2249424"/>
            <a:ext cx="1691640" cy="182880"/>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학습 → 검증(선택) → 평가(확인)</a:t>
            </a:r>
          </a:p>
        </p:txBody>
      </p:sp>
      <p:sp>
        <p:nvSpPr>
          <p:cNvPr id="5059" name="D 5059"/>
          <p:cNvSpPr/>
          <p:nvPr/>
        </p:nvSpPr>
        <p:spPr>
          <a:xfrm>
            <a:off x="8055864" y="2542032"/>
            <a:ext cx="1581912" cy="329184"/>
          </a:xfrm>
          <a:prstGeom prst="roundRect">
            <a:avLst>
              <a:gd name="adj" fmla="val 16666"/>
            </a:avLst>
          </a:prstGeom>
          <a:solidFill>
            <a:srgbClr val="2B323C"/>
          </a:solidFill>
          <a:ln>
            <a:noFill/>
          </a:ln>
        </p:spPr>
        <p:txBody>
          <a:bodyPr wrap="square" lIns="45720" tIns="0" rIns="45720" bIns="0" rtlCol="0" anchor="ctr"/>
          <a:lstStyle/>
          <a:p>
            <a:pPr algn="ctr"/>
            <a:r>
              <a:rPr lang="ko-KR" sz="900" b="1" dirty="0">
                <a:solidFill>
                  <a:srgbClr val="FFFFFF"/>
                </a:solidFill>
                <a:latin typeface="에이투지체 5 Medium"/>
                <a:ea typeface="에이투지체 5 Medium"/>
                <a:cs typeface="에이투지체 5 Medium"/>
              </a:rPr>
              <a:t>기준선 (지난달 · 7일 전)</a:t>
            </a:r>
          </a:p>
        </p:txBody>
      </p:sp>
      <p:sp>
        <p:nvSpPr>
          <p:cNvPr id="5060" name="D 5060"/>
          <p:cNvSpPr/>
          <p:nvPr/>
        </p:nvSpPr>
        <p:spPr>
          <a:xfrm>
            <a:off x="7836408" y="2706624"/>
            <a:ext cx="219456" cy="0"/>
          </a:xfrm>
          <a:prstGeom prst="line">
            <a:avLst/>
          </a:prstGeom>
          <a:ln w="12700">
            <a:solidFill>
              <a:srgbClr val="45515E"/>
            </a:solidFill>
            <a:tailEnd type="triangle" w="med" len="med"/>
          </a:ln>
        </p:spPr>
        <p:txBody>
          <a:bodyPr/>
          <a:lstStyle/>
          <a:p>
            <a:endParaRPr/>
          </a:p>
        </p:txBody>
      </p:sp>
      <p:sp>
        <p:nvSpPr>
          <p:cNvPr id="5061" name="D 5061"/>
          <p:cNvSpPr/>
          <p:nvPr/>
        </p:nvSpPr>
        <p:spPr>
          <a:xfrm>
            <a:off x="8055864" y="2962656"/>
            <a:ext cx="1581912" cy="329184"/>
          </a:xfrm>
          <a:prstGeom prst="roundRect">
            <a:avLst>
              <a:gd name="adj" fmla="val 16666"/>
            </a:avLst>
          </a:prstGeom>
          <a:solidFill>
            <a:srgbClr val="2B323C"/>
          </a:solidFill>
          <a:ln>
            <a:noFill/>
          </a:ln>
        </p:spPr>
        <p:txBody>
          <a:bodyPr wrap="square" lIns="45720" tIns="0" rIns="45720" bIns="0" rtlCol="0" anchor="ctr"/>
          <a:lstStyle/>
          <a:p>
            <a:pPr algn="ctr"/>
            <a:r>
              <a:rPr lang="ko-KR" sz="900" b="1" dirty="0">
                <a:solidFill>
                  <a:srgbClr val="FFFFFF"/>
                </a:solidFill>
                <a:latin typeface="에이투지체 5 Medium"/>
                <a:ea typeface="에이투지체 5 Medium"/>
                <a:cs typeface="에이투지체 5 Medium"/>
              </a:rPr>
              <a:t>Linear · Ridge</a:t>
            </a:r>
          </a:p>
        </p:txBody>
      </p:sp>
      <p:sp>
        <p:nvSpPr>
          <p:cNvPr id="5062" name="D 5062"/>
          <p:cNvSpPr/>
          <p:nvPr/>
        </p:nvSpPr>
        <p:spPr>
          <a:xfrm>
            <a:off x="7836408" y="3127248"/>
            <a:ext cx="219456" cy="0"/>
          </a:xfrm>
          <a:prstGeom prst="line">
            <a:avLst/>
          </a:prstGeom>
          <a:ln w="12700">
            <a:solidFill>
              <a:srgbClr val="45515E"/>
            </a:solidFill>
            <a:tailEnd type="triangle" w="med" len="med"/>
          </a:ln>
        </p:spPr>
        <p:txBody>
          <a:bodyPr/>
          <a:lstStyle/>
          <a:p>
            <a:endParaRPr/>
          </a:p>
        </p:txBody>
      </p:sp>
      <p:sp>
        <p:nvSpPr>
          <p:cNvPr id="5063" name="D 5063"/>
          <p:cNvSpPr/>
          <p:nvPr/>
        </p:nvSpPr>
        <p:spPr>
          <a:xfrm>
            <a:off x="8055864" y="3383280"/>
            <a:ext cx="1581912" cy="329184"/>
          </a:xfrm>
          <a:prstGeom prst="roundRect">
            <a:avLst>
              <a:gd name="adj" fmla="val 16666"/>
            </a:avLst>
          </a:prstGeom>
          <a:solidFill>
            <a:srgbClr val="2B323C"/>
          </a:solidFill>
          <a:ln>
            <a:noFill/>
          </a:ln>
        </p:spPr>
        <p:txBody>
          <a:bodyPr wrap="square" lIns="45720" tIns="0" rIns="45720" bIns="0" rtlCol="0" anchor="ctr"/>
          <a:lstStyle/>
          <a:p>
            <a:pPr algn="ctr"/>
            <a:r>
              <a:rPr lang="ko-KR" sz="900" b="1" dirty="0">
                <a:solidFill>
                  <a:srgbClr val="FFFFFF"/>
                </a:solidFill>
                <a:latin typeface="에이투지체 5 Medium"/>
                <a:ea typeface="에이투지체 5 Medium"/>
                <a:cs typeface="에이투지체 5 Medium"/>
              </a:rPr>
              <a:t>Decision Tree</a:t>
            </a:r>
          </a:p>
        </p:txBody>
      </p:sp>
      <p:sp>
        <p:nvSpPr>
          <p:cNvPr id="5064" name="D 5064"/>
          <p:cNvSpPr/>
          <p:nvPr/>
        </p:nvSpPr>
        <p:spPr>
          <a:xfrm>
            <a:off x="7836408" y="3547872"/>
            <a:ext cx="219456" cy="0"/>
          </a:xfrm>
          <a:prstGeom prst="line">
            <a:avLst/>
          </a:prstGeom>
          <a:ln w="12700">
            <a:solidFill>
              <a:srgbClr val="45515E"/>
            </a:solidFill>
            <a:tailEnd type="triangle" w="med" len="med"/>
          </a:ln>
        </p:spPr>
        <p:txBody>
          <a:bodyPr/>
          <a:lstStyle/>
          <a:p>
            <a:endParaRPr/>
          </a:p>
        </p:txBody>
      </p:sp>
      <p:sp>
        <p:nvSpPr>
          <p:cNvPr id="5065" name="D 5065"/>
          <p:cNvSpPr/>
          <p:nvPr/>
        </p:nvSpPr>
        <p:spPr>
          <a:xfrm>
            <a:off x="8055864" y="3803904"/>
            <a:ext cx="1581912" cy="329184"/>
          </a:xfrm>
          <a:prstGeom prst="roundRect">
            <a:avLst>
              <a:gd name="adj" fmla="val 16666"/>
            </a:avLst>
          </a:prstGeom>
          <a:solidFill>
            <a:srgbClr val="FFFFFF"/>
          </a:solidFill>
          <a:ln w="19050">
            <a:solidFill>
              <a:srgbClr val="D62828"/>
            </a:solidFill>
          </a:ln>
        </p:spPr>
        <p:txBody>
          <a:bodyPr wrap="square" lIns="45720" tIns="0" rIns="45720" bIns="0" rtlCol="0" anchor="ctr"/>
          <a:lstStyle/>
          <a:p>
            <a:pPr algn="ctr"/>
            <a:r>
              <a:rPr lang="ko-KR" sz="950" b="1" dirty="0">
                <a:solidFill>
                  <a:srgbClr val="D62828"/>
                </a:solidFill>
                <a:latin typeface="에이투지체 5 Medium"/>
                <a:ea typeface="에이투지체 5 Medium"/>
                <a:cs typeface="에이투지체 5 Medium"/>
              </a:rPr>
              <a:t>Random Forest</a:t>
            </a:r>
          </a:p>
        </p:txBody>
      </p:sp>
      <p:sp>
        <p:nvSpPr>
          <p:cNvPr id="5066" name="D 5066"/>
          <p:cNvSpPr/>
          <p:nvPr/>
        </p:nvSpPr>
        <p:spPr>
          <a:xfrm>
            <a:off x="7836408" y="3968496"/>
            <a:ext cx="219456" cy="0"/>
          </a:xfrm>
          <a:prstGeom prst="line">
            <a:avLst/>
          </a:prstGeom>
          <a:ln w="12700">
            <a:solidFill>
              <a:srgbClr val="45515E"/>
            </a:solidFill>
            <a:tailEnd type="triangle" w="med" len="med"/>
          </a:ln>
        </p:spPr>
        <p:txBody>
          <a:bodyPr/>
          <a:lstStyle/>
          <a:p>
            <a:endParaRPr/>
          </a:p>
        </p:txBody>
      </p:sp>
      <p:sp>
        <p:nvSpPr>
          <p:cNvPr id="5067" name="D 5067"/>
          <p:cNvSpPr/>
          <p:nvPr/>
        </p:nvSpPr>
        <p:spPr>
          <a:xfrm>
            <a:off x="8055864" y="4224528"/>
            <a:ext cx="1581912" cy="329184"/>
          </a:xfrm>
          <a:prstGeom prst="roundRect">
            <a:avLst>
              <a:gd name="adj" fmla="val 16666"/>
            </a:avLst>
          </a:prstGeom>
          <a:solidFill>
            <a:srgbClr val="2B323C"/>
          </a:solidFill>
          <a:ln>
            <a:noFill/>
          </a:ln>
        </p:spPr>
        <p:txBody>
          <a:bodyPr wrap="square" lIns="45720" tIns="0" rIns="45720" bIns="0" rtlCol="0" anchor="ctr"/>
          <a:lstStyle/>
          <a:p>
            <a:pPr algn="ctr"/>
            <a:r>
              <a:rPr lang="ko-KR" sz="900" b="1" dirty="0">
                <a:solidFill>
                  <a:srgbClr val="FFFFFF"/>
                </a:solidFill>
                <a:latin typeface="에이투지체 5 Medium"/>
                <a:ea typeface="에이투지체 5 Medium"/>
                <a:cs typeface="에이투지체 5 Medium"/>
              </a:rPr>
              <a:t>Gradient Boosting</a:t>
            </a:r>
          </a:p>
        </p:txBody>
      </p:sp>
      <p:sp>
        <p:nvSpPr>
          <p:cNvPr id="5068" name="D 5068"/>
          <p:cNvSpPr/>
          <p:nvPr/>
        </p:nvSpPr>
        <p:spPr>
          <a:xfrm>
            <a:off x="7836408" y="4389120"/>
            <a:ext cx="219456" cy="0"/>
          </a:xfrm>
          <a:prstGeom prst="line">
            <a:avLst/>
          </a:prstGeom>
          <a:ln w="12700">
            <a:solidFill>
              <a:srgbClr val="45515E"/>
            </a:solidFill>
            <a:tailEnd type="triangle" w="med" len="med"/>
          </a:ln>
        </p:spPr>
        <p:txBody>
          <a:bodyPr/>
          <a:lstStyle/>
          <a:p>
            <a:endParaRPr/>
          </a:p>
        </p:txBody>
      </p:sp>
      <p:sp>
        <p:nvSpPr>
          <p:cNvPr id="5069" name="D 5069"/>
          <p:cNvSpPr/>
          <p:nvPr/>
        </p:nvSpPr>
        <p:spPr>
          <a:xfrm>
            <a:off x="8055864" y="4645152"/>
            <a:ext cx="1581912" cy="329184"/>
          </a:xfrm>
          <a:prstGeom prst="roundRect">
            <a:avLst>
              <a:gd name="adj" fmla="val 16666"/>
            </a:avLst>
          </a:prstGeom>
          <a:solidFill>
            <a:srgbClr val="2B323C"/>
          </a:solidFill>
          <a:ln>
            <a:noFill/>
          </a:ln>
        </p:spPr>
        <p:txBody>
          <a:bodyPr wrap="square" lIns="45720" tIns="0" rIns="45720" bIns="0" rtlCol="0" anchor="ctr"/>
          <a:lstStyle/>
          <a:p>
            <a:pPr algn="ctr"/>
            <a:r>
              <a:rPr lang="ko-KR" sz="900" b="1" dirty="0">
                <a:solidFill>
                  <a:srgbClr val="FFFFFF"/>
                </a:solidFill>
                <a:latin typeface="에이투지체 5 Medium"/>
                <a:ea typeface="에이투지체 5 Medium"/>
                <a:cs typeface="에이투지체 5 Medium"/>
              </a:rPr>
              <a:t>DNN</a:t>
            </a:r>
          </a:p>
        </p:txBody>
      </p:sp>
      <p:sp>
        <p:nvSpPr>
          <p:cNvPr id="5070" name="D 5070"/>
          <p:cNvSpPr/>
          <p:nvPr/>
        </p:nvSpPr>
        <p:spPr>
          <a:xfrm>
            <a:off x="7836408" y="4809744"/>
            <a:ext cx="219456" cy="0"/>
          </a:xfrm>
          <a:prstGeom prst="line">
            <a:avLst/>
          </a:prstGeom>
          <a:ln w="12700">
            <a:solidFill>
              <a:srgbClr val="45515E"/>
            </a:solidFill>
            <a:tailEnd type="triangle" w="med" len="med"/>
          </a:ln>
        </p:spPr>
        <p:txBody>
          <a:bodyPr/>
          <a:lstStyle/>
          <a:p>
            <a:endParaRPr/>
          </a:p>
        </p:txBody>
      </p:sp>
      <p:sp>
        <p:nvSpPr>
          <p:cNvPr id="5071" name="D 5071"/>
          <p:cNvSpPr/>
          <p:nvPr/>
        </p:nvSpPr>
        <p:spPr>
          <a:xfrm>
            <a:off x="8055864" y="5065776"/>
            <a:ext cx="1581912" cy="329184"/>
          </a:xfrm>
          <a:prstGeom prst="roundRect">
            <a:avLst>
              <a:gd name="adj" fmla="val 16666"/>
            </a:avLst>
          </a:prstGeom>
          <a:solidFill>
            <a:srgbClr val="FFFFFF"/>
          </a:solidFill>
          <a:ln w="19050">
            <a:solidFill>
              <a:srgbClr val="D62828"/>
            </a:solidFill>
          </a:ln>
        </p:spPr>
        <p:txBody>
          <a:bodyPr wrap="square" lIns="45720" tIns="0" rIns="45720" bIns="0" rtlCol="0" anchor="ctr"/>
          <a:lstStyle/>
          <a:p>
            <a:pPr algn="ctr"/>
            <a:r>
              <a:rPr lang="ko-KR" sz="950" b="1" dirty="0">
                <a:solidFill>
                  <a:srgbClr val="D62828"/>
                </a:solidFill>
                <a:latin typeface="에이투지체 5 Medium"/>
                <a:ea typeface="에이투지체 5 Medium"/>
                <a:cs typeface="에이투지체 5 Medium"/>
              </a:rPr>
              <a:t>앙상블 (GB + Ridge)</a:t>
            </a:r>
          </a:p>
        </p:txBody>
      </p:sp>
      <p:sp>
        <p:nvSpPr>
          <p:cNvPr id="5072" name="D 5072"/>
          <p:cNvSpPr/>
          <p:nvPr/>
        </p:nvSpPr>
        <p:spPr>
          <a:xfrm>
            <a:off x="7836408" y="5230368"/>
            <a:ext cx="219456" cy="0"/>
          </a:xfrm>
          <a:prstGeom prst="line">
            <a:avLst/>
          </a:prstGeom>
          <a:ln w="12700">
            <a:solidFill>
              <a:srgbClr val="45515E"/>
            </a:solidFill>
            <a:tailEnd type="triangle" w="med" len="med"/>
          </a:ln>
        </p:spPr>
        <p:txBody>
          <a:bodyPr/>
          <a:lstStyle/>
          <a:p>
            <a:endParaRPr/>
          </a:p>
        </p:txBody>
      </p:sp>
      <p:sp>
        <p:nvSpPr>
          <p:cNvPr id="5073" name="D 5073"/>
          <p:cNvSpPr/>
          <p:nvPr/>
        </p:nvSpPr>
        <p:spPr>
          <a:xfrm>
            <a:off x="7598664" y="2743200"/>
            <a:ext cx="237744" cy="0"/>
          </a:xfrm>
          <a:prstGeom prst="line">
            <a:avLst/>
          </a:prstGeom>
          <a:ln w="12700">
            <a:solidFill>
              <a:srgbClr val="45515E"/>
            </a:solidFill>
          </a:ln>
        </p:spPr>
        <p:txBody>
          <a:bodyPr/>
          <a:lstStyle/>
          <a:p>
            <a:endParaRPr/>
          </a:p>
        </p:txBody>
      </p:sp>
      <p:sp>
        <p:nvSpPr>
          <p:cNvPr id="5074" name="D 5074"/>
          <p:cNvSpPr/>
          <p:nvPr/>
        </p:nvSpPr>
        <p:spPr>
          <a:xfrm>
            <a:off x="7598664" y="4709160"/>
            <a:ext cx="237744" cy="0"/>
          </a:xfrm>
          <a:prstGeom prst="line">
            <a:avLst/>
          </a:prstGeom>
          <a:ln w="12700">
            <a:solidFill>
              <a:srgbClr val="45515E"/>
            </a:solidFill>
          </a:ln>
        </p:spPr>
        <p:txBody>
          <a:bodyPr/>
          <a:lstStyle/>
          <a:p>
            <a:endParaRPr/>
          </a:p>
        </p:txBody>
      </p:sp>
      <p:sp>
        <p:nvSpPr>
          <p:cNvPr id="5075" name="D 5075"/>
          <p:cNvSpPr/>
          <p:nvPr/>
        </p:nvSpPr>
        <p:spPr>
          <a:xfrm>
            <a:off x="7836408" y="2706624"/>
            <a:ext cx="0" cy="2523744"/>
          </a:xfrm>
          <a:prstGeom prst="line">
            <a:avLst/>
          </a:prstGeom>
          <a:ln w="12700">
            <a:solidFill>
              <a:srgbClr val="45515E"/>
            </a:solidFill>
          </a:ln>
        </p:spPr>
        <p:txBody>
          <a:bodyPr/>
          <a:lstStyle/>
          <a:p>
            <a:endParaRPr/>
          </a:p>
        </p:txBody>
      </p:sp>
      <p:sp>
        <p:nvSpPr>
          <p:cNvPr id="5076" name="D 5076"/>
          <p:cNvSpPr txBox="1"/>
          <p:nvPr/>
        </p:nvSpPr>
        <p:spPr>
          <a:xfrm>
            <a:off x="9985248" y="2103120"/>
            <a:ext cx="1636776" cy="201168"/>
          </a:xfrm>
          <a:prstGeom prst="rect">
            <a:avLst/>
          </a:prstGeom>
          <a:noFill/>
        </p:spPr>
        <p:txBody>
          <a:bodyPr wrap="square" lIns="0" tIns="0" rIns="0" bIns="0" rtlCol="0" anchor="ctr"/>
          <a:lstStyle/>
          <a:p>
            <a:pPr algn="l"/>
            <a:r>
              <a:rPr lang="ko-KR" sz="900" b="1" dirty="0">
                <a:solidFill>
                  <a:srgbClr val="D62828"/>
                </a:solidFill>
                <a:latin typeface="에이투지체 5 Medium"/>
                <a:ea typeface="에이투지체 5 Medium"/>
                <a:cs typeface="에이투지체 5 Medium"/>
              </a:rPr>
              <a:t>M1 · 이송 건수</a:t>
            </a:r>
          </a:p>
        </p:txBody>
      </p:sp>
      <p:sp>
        <p:nvSpPr>
          <p:cNvPr id="5077" name="D 5077"/>
          <p:cNvSpPr/>
          <p:nvPr/>
        </p:nvSpPr>
        <p:spPr>
          <a:xfrm>
            <a:off x="9985248" y="2331720"/>
            <a:ext cx="1636776" cy="749808"/>
          </a:xfrm>
          <a:prstGeom prst="roundRect">
            <a:avLst>
              <a:gd name="adj" fmla="val 7317"/>
            </a:avLst>
          </a:prstGeom>
          <a:solidFill>
            <a:srgbClr val="FFFFFF"/>
          </a:solidFill>
          <a:ln w="15875">
            <a:solidFill>
              <a:srgbClr val="222222"/>
            </a:solidFill>
          </a:ln>
          <a:effectLst>
            <a:outerShdw blurRad="38100" dist="25400" dir="5400000" algn="t" rotWithShape="0">
              <a:srgbClr val="000000">
                <a:alpha val="8000"/>
              </a:srgbClr>
            </a:outerShdw>
          </a:effectLst>
        </p:spPr>
        <p:txBody>
          <a:bodyPr wrap="square" lIns="45720" tIns="0" rIns="45720" bIns="0" rtlCol="0" anchor="ctr"/>
          <a:lstStyle/>
          <a:p>
            <a:pPr algn="ctr"/>
            <a:r>
              <a:rPr lang="ko-KR" sz="1100" b="1" dirty="0">
                <a:solidFill>
                  <a:srgbClr val="222222"/>
                </a:solidFill>
                <a:latin typeface="에이투지체 5 Medium"/>
                <a:ea typeface="에이투지체 5 Medium"/>
                <a:cs typeface="에이투지체 5 Medium"/>
              </a:rPr>
              <a:t>앙상블</a:t>
            </a:r>
          </a:p>
          <a:p>
            <a:pPr algn="ctr"/>
            <a:r>
              <a:rPr lang="ko-KR" sz="850" dirty="0">
                <a:solidFill>
                  <a:srgbClr val="45515E"/>
                </a:solidFill>
                <a:latin typeface="에이투지체 5 Medium"/>
                <a:ea typeface="에이투지체 5 Medium"/>
                <a:cs typeface="에이투지체 5 Medium"/>
              </a:rPr>
              <a:t>평가 정확도 94.6%</a:t>
            </a:r>
          </a:p>
          <a:p>
            <a:pPr algn="ctr"/>
            <a:r>
              <a:rPr lang="ko-KR" sz="850" dirty="0">
                <a:solidFill>
                  <a:srgbClr val="45515E"/>
                </a:solidFill>
                <a:latin typeface="에이투지체 5 Medium"/>
                <a:ea typeface="에이투지체 5 Medium"/>
                <a:cs typeface="에이투지체 5 Medium"/>
              </a:rPr>
              <a:t>2026.01–06 구별 예측</a:t>
            </a:r>
          </a:p>
        </p:txBody>
      </p:sp>
      <p:sp>
        <p:nvSpPr>
          <p:cNvPr id="5078" name="D 5078"/>
          <p:cNvSpPr txBox="1"/>
          <p:nvPr/>
        </p:nvSpPr>
        <p:spPr>
          <a:xfrm>
            <a:off x="9985248" y="3218688"/>
            <a:ext cx="1636776" cy="201168"/>
          </a:xfrm>
          <a:prstGeom prst="rect">
            <a:avLst/>
          </a:prstGeom>
          <a:noFill/>
        </p:spPr>
        <p:txBody>
          <a:bodyPr wrap="square" lIns="0" tIns="0" rIns="0" bIns="0" rtlCol="0" anchor="ctr"/>
          <a:lstStyle/>
          <a:p>
            <a:pPr algn="l"/>
            <a:r>
              <a:rPr lang="ko-KR" sz="900" b="1" dirty="0">
                <a:solidFill>
                  <a:srgbClr val="D62828"/>
                </a:solidFill>
                <a:latin typeface="에이투지체 5 Medium"/>
                <a:ea typeface="에이투지체 5 Medium"/>
                <a:cs typeface="에이투지체 5 Medium"/>
              </a:rPr>
              <a:t>M2 · 인구 밀집</a:t>
            </a:r>
          </a:p>
        </p:txBody>
      </p:sp>
      <p:sp>
        <p:nvSpPr>
          <p:cNvPr id="5079" name="D 5079"/>
          <p:cNvSpPr/>
          <p:nvPr/>
        </p:nvSpPr>
        <p:spPr>
          <a:xfrm>
            <a:off x="9985248" y="3447288"/>
            <a:ext cx="1636776" cy="749808"/>
          </a:xfrm>
          <a:prstGeom prst="roundRect">
            <a:avLst>
              <a:gd name="adj" fmla="val 7317"/>
            </a:avLst>
          </a:prstGeom>
          <a:solidFill>
            <a:srgbClr val="FFFFFF"/>
          </a:solidFill>
          <a:ln w="15875">
            <a:solidFill>
              <a:srgbClr val="222222"/>
            </a:solidFill>
          </a:ln>
          <a:effectLst>
            <a:outerShdw blurRad="38100" dist="25400" dir="5400000" algn="t" rotWithShape="0">
              <a:srgbClr val="000000">
                <a:alpha val="8000"/>
              </a:srgbClr>
            </a:outerShdw>
          </a:effectLst>
        </p:spPr>
        <p:txBody>
          <a:bodyPr wrap="square" lIns="45720" tIns="0" rIns="45720" bIns="0" rtlCol="0" anchor="ctr"/>
          <a:lstStyle/>
          <a:p>
            <a:pPr algn="ctr"/>
            <a:r>
              <a:rPr lang="ko-KR" sz="1100" b="1" dirty="0">
                <a:solidFill>
                  <a:srgbClr val="222222"/>
                </a:solidFill>
                <a:latin typeface="에이투지체 5 Medium"/>
                <a:ea typeface="에이투지체 5 Medium"/>
                <a:cs typeface="에이투지체 5 Medium"/>
              </a:rPr>
              <a:t>Random Forest</a:t>
            </a:r>
          </a:p>
          <a:p>
            <a:pPr algn="ctr"/>
            <a:r>
              <a:rPr lang="ko-KR" sz="850" dirty="0">
                <a:solidFill>
                  <a:srgbClr val="45515E"/>
                </a:solidFill>
                <a:latin typeface="에이투지체 5 Medium"/>
                <a:ea typeface="에이투지체 5 Medium"/>
                <a:cs typeface="에이투지체 5 Medium"/>
              </a:rPr>
              <a:t>평가 정확도 98.2%</a:t>
            </a:r>
          </a:p>
          <a:p>
            <a:pPr algn="ctr"/>
            <a:r>
              <a:rPr lang="ko-KR" sz="850" dirty="0">
                <a:solidFill>
                  <a:srgbClr val="45515E"/>
                </a:solidFill>
                <a:latin typeface="에이투지체 5 Medium"/>
                <a:ea typeface="에이투지체 5 Medium"/>
                <a:cs typeface="에이투지체 5 Medium"/>
              </a:rPr>
              <a:t>평가 기간 예측 제공</a:t>
            </a:r>
          </a:p>
        </p:txBody>
      </p:sp>
      <p:sp>
        <p:nvSpPr>
          <p:cNvPr id="5080" name="D 5080"/>
          <p:cNvSpPr/>
          <p:nvPr/>
        </p:nvSpPr>
        <p:spPr>
          <a:xfrm>
            <a:off x="9985248" y="4434840"/>
            <a:ext cx="1636776" cy="960120"/>
          </a:xfrm>
          <a:prstGeom prst="roundRect">
            <a:avLst>
              <a:gd name="adj" fmla="val 9523"/>
            </a:avLst>
          </a:prstGeom>
          <a:solidFill>
            <a:srgbClr val="D62828"/>
          </a:solidFill>
          <a:ln>
            <a:noFill/>
          </a:ln>
          <a:effectLst>
            <a:outerShdw blurRad="38100" dist="25400" dir="5400000" algn="t" rotWithShape="0">
              <a:srgbClr val="000000">
                <a:alpha val="8000"/>
              </a:srgbClr>
            </a:outerShdw>
          </a:effectLst>
        </p:spPr>
        <p:txBody>
          <a:bodyPr wrap="square" lIns="45720" tIns="0" rIns="45720" bIns="0" rtlCol="0" anchor="ctr"/>
          <a:lstStyle/>
          <a:p>
            <a:pPr algn="ctr"/>
            <a:r>
              <a:rPr lang="ko-KR" sz="1300" b="1" dirty="0">
                <a:solidFill>
                  <a:srgbClr val="FFFFFF"/>
                </a:solidFill>
                <a:latin typeface="에이투지체 5 Medium"/>
                <a:ea typeface="에이투지체 5 Medium"/>
                <a:cs typeface="에이투지체 5 Medium"/>
              </a:rPr>
              <a:t>웹 서비스</a:t>
            </a:r>
          </a:p>
          <a:p>
            <a:pPr algn="ctr"/>
            <a:r>
              <a:rPr lang="ko-KR" sz="900" dirty="0">
                <a:solidFill>
                  <a:srgbClr val="FDE3E3"/>
                </a:solidFill>
                <a:latin typeface="에이투지체 5 Medium"/>
                <a:ea typeface="에이투지체 5 Medium"/>
                <a:cs typeface="에이투지체 5 Medium"/>
              </a:rPr>
              <a:t>분석 · 예측 대시보드</a:t>
            </a:r>
          </a:p>
          <a:p>
            <a:pPr algn="ctr"/>
            <a:r>
              <a:rPr lang="ko-KR" sz="900" dirty="0">
                <a:solidFill>
                  <a:srgbClr val="FDE3E3"/>
                </a:solidFill>
                <a:latin typeface="에이투지체 5 Medium"/>
                <a:ea typeface="에이투지체 5 Medium"/>
                <a:cs typeface="에이투지체 5 Medium"/>
              </a:rPr>
              <a:t>실시간 병상 관제</a:t>
            </a:r>
          </a:p>
        </p:txBody>
      </p:sp>
      <p:sp>
        <p:nvSpPr>
          <p:cNvPr id="5081" name="D 5081"/>
          <p:cNvSpPr/>
          <p:nvPr/>
        </p:nvSpPr>
        <p:spPr>
          <a:xfrm>
            <a:off x="9637776" y="5230368"/>
            <a:ext cx="210312" cy="0"/>
          </a:xfrm>
          <a:prstGeom prst="line">
            <a:avLst/>
          </a:prstGeom>
          <a:ln w="15875">
            <a:solidFill>
              <a:srgbClr val="D62828"/>
            </a:solidFill>
          </a:ln>
        </p:spPr>
        <p:txBody>
          <a:bodyPr/>
          <a:lstStyle/>
          <a:p>
            <a:endParaRPr/>
          </a:p>
        </p:txBody>
      </p:sp>
      <p:sp>
        <p:nvSpPr>
          <p:cNvPr id="5082" name="D 5082"/>
          <p:cNvSpPr/>
          <p:nvPr/>
        </p:nvSpPr>
        <p:spPr>
          <a:xfrm flipV="1">
            <a:off x="9848088" y="2706624"/>
            <a:ext cx="0" cy="2523744"/>
          </a:xfrm>
          <a:prstGeom prst="line">
            <a:avLst/>
          </a:prstGeom>
          <a:ln w="15875">
            <a:solidFill>
              <a:srgbClr val="D62828"/>
            </a:solidFill>
          </a:ln>
        </p:spPr>
        <p:txBody>
          <a:bodyPr/>
          <a:lstStyle/>
          <a:p>
            <a:endParaRPr/>
          </a:p>
        </p:txBody>
      </p:sp>
      <p:sp>
        <p:nvSpPr>
          <p:cNvPr id="5083" name="D 5083"/>
          <p:cNvSpPr/>
          <p:nvPr/>
        </p:nvSpPr>
        <p:spPr>
          <a:xfrm>
            <a:off x="9848088" y="2706624"/>
            <a:ext cx="137160" cy="0"/>
          </a:xfrm>
          <a:prstGeom prst="line">
            <a:avLst/>
          </a:prstGeom>
          <a:ln w="15875">
            <a:solidFill>
              <a:srgbClr val="D62828"/>
            </a:solidFill>
            <a:tailEnd type="triangle" w="med" len="med"/>
          </a:ln>
        </p:spPr>
        <p:txBody>
          <a:bodyPr/>
          <a:lstStyle/>
          <a:p>
            <a:endParaRPr/>
          </a:p>
        </p:txBody>
      </p:sp>
      <p:sp>
        <p:nvSpPr>
          <p:cNvPr id="5084" name="D 5084"/>
          <p:cNvSpPr/>
          <p:nvPr/>
        </p:nvSpPr>
        <p:spPr>
          <a:xfrm>
            <a:off x="9637776" y="3968496"/>
            <a:ext cx="283464" cy="0"/>
          </a:xfrm>
          <a:prstGeom prst="line">
            <a:avLst/>
          </a:prstGeom>
          <a:ln w="15875">
            <a:solidFill>
              <a:srgbClr val="D62828"/>
            </a:solidFill>
          </a:ln>
        </p:spPr>
        <p:txBody>
          <a:bodyPr/>
          <a:lstStyle/>
          <a:p>
            <a:endParaRPr/>
          </a:p>
        </p:txBody>
      </p:sp>
      <p:sp>
        <p:nvSpPr>
          <p:cNvPr id="5085" name="D 5085"/>
          <p:cNvSpPr/>
          <p:nvPr/>
        </p:nvSpPr>
        <p:spPr>
          <a:xfrm flipV="1">
            <a:off x="9921240" y="3822192"/>
            <a:ext cx="0" cy="146304"/>
          </a:xfrm>
          <a:prstGeom prst="line">
            <a:avLst/>
          </a:prstGeom>
          <a:ln w="15875">
            <a:solidFill>
              <a:srgbClr val="D62828"/>
            </a:solidFill>
          </a:ln>
        </p:spPr>
        <p:txBody>
          <a:bodyPr/>
          <a:lstStyle/>
          <a:p>
            <a:endParaRPr/>
          </a:p>
        </p:txBody>
      </p:sp>
      <p:sp>
        <p:nvSpPr>
          <p:cNvPr id="5086" name="D 5086"/>
          <p:cNvSpPr/>
          <p:nvPr/>
        </p:nvSpPr>
        <p:spPr>
          <a:xfrm>
            <a:off x="9921240" y="3822192"/>
            <a:ext cx="64008" cy="0"/>
          </a:xfrm>
          <a:prstGeom prst="line">
            <a:avLst/>
          </a:prstGeom>
          <a:ln w="15875">
            <a:solidFill>
              <a:srgbClr val="D62828"/>
            </a:solidFill>
            <a:tailEnd type="triangle" w="med" len="med"/>
          </a:ln>
        </p:spPr>
        <p:txBody>
          <a:bodyPr/>
          <a:lstStyle/>
          <a:p>
            <a:endParaRPr/>
          </a:p>
        </p:txBody>
      </p:sp>
      <p:sp>
        <p:nvSpPr>
          <p:cNvPr id="5087" name="D 5087"/>
          <p:cNvSpPr/>
          <p:nvPr/>
        </p:nvSpPr>
        <p:spPr>
          <a:xfrm>
            <a:off x="10803636" y="4197096"/>
            <a:ext cx="0" cy="237744"/>
          </a:xfrm>
          <a:prstGeom prst="line">
            <a:avLst/>
          </a:prstGeom>
          <a:ln w="12700">
            <a:solidFill>
              <a:srgbClr val="45515E"/>
            </a:solidFill>
            <a:tailEnd type="triangle" w="med" len="med"/>
          </a:ln>
        </p:spPr>
        <p:txBody>
          <a:bodyPr/>
          <a:lstStyle/>
          <a:p>
            <a:endParaRPr/>
          </a:p>
        </p:txBody>
      </p:sp>
      <p:sp>
        <p:nvSpPr>
          <p:cNvPr id="5088" name="D 5088"/>
          <p:cNvSpPr/>
          <p:nvPr/>
        </p:nvSpPr>
        <p:spPr>
          <a:xfrm>
            <a:off x="2057400" y="5193792"/>
            <a:ext cx="137160" cy="0"/>
          </a:xfrm>
          <a:prstGeom prst="line">
            <a:avLst/>
          </a:prstGeom>
          <a:ln w="12700">
            <a:solidFill>
              <a:srgbClr val="D62828"/>
            </a:solidFill>
            <a:prstDash val="dash"/>
          </a:ln>
        </p:spPr>
        <p:txBody>
          <a:bodyPr/>
          <a:lstStyle/>
          <a:p>
            <a:endParaRPr/>
          </a:p>
        </p:txBody>
      </p:sp>
      <p:sp>
        <p:nvSpPr>
          <p:cNvPr id="5089" name="D 5089"/>
          <p:cNvSpPr/>
          <p:nvPr/>
        </p:nvSpPr>
        <p:spPr>
          <a:xfrm>
            <a:off x="2194560" y="5193792"/>
            <a:ext cx="0" cy="402336"/>
          </a:xfrm>
          <a:prstGeom prst="line">
            <a:avLst/>
          </a:prstGeom>
          <a:ln w="12700">
            <a:solidFill>
              <a:srgbClr val="D62828"/>
            </a:solidFill>
            <a:prstDash val="dash"/>
          </a:ln>
        </p:spPr>
        <p:txBody>
          <a:bodyPr/>
          <a:lstStyle/>
          <a:p>
            <a:endParaRPr/>
          </a:p>
        </p:txBody>
      </p:sp>
      <p:sp>
        <p:nvSpPr>
          <p:cNvPr id="5090" name="D 5090"/>
          <p:cNvSpPr/>
          <p:nvPr/>
        </p:nvSpPr>
        <p:spPr>
          <a:xfrm>
            <a:off x="2194560" y="5596128"/>
            <a:ext cx="7699248" cy="0"/>
          </a:xfrm>
          <a:prstGeom prst="line">
            <a:avLst/>
          </a:prstGeom>
          <a:ln w="12700">
            <a:solidFill>
              <a:srgbClr val="D62828"/>
            </a:solidFill>
            <a:prstDash val="dash"/>
          </a:ln>
        </p:spPr>
        <p:txBody>
          <a:bodyPr/>
          <a:lstStyle/>
          <a:p>
            <a:endParaRPr/>
          </a:p>
        </p:txBody>
      </p:sp>
      <p:sp>
        <p:nvSpPr>
          <p:cNvPr id="5091" name="D 5091"/>
          <p:cNvSpPr/>
          <p:nvPr/>
        </p:nvSpPr>
        <p:spPr>
          <a:xfrm flipV="1">
            <a:off x="9893808" y="5120640"/>
            <a:ext cx="0" cy="475488"/>
          </a:xfrm>
          <a:prstGeom prst="line">
            <a:avLst/>
          </a:prstGeom>
          <a:ln w="12700">
            <a:solidFill>
              <a:srgbClr val="D62828"/>
            </a:solidFill>
            <a:prstDash val="dash"/>
          </a:ln>
        </p:spPr>
        <p:txBody>
          <a:bodyPr/>
          <a:lstStyle/>
          <a:p>
            <a:endParaRPr/>
          </a:p>
        </p:txBody>
      </p:sp>
      <p:sp>
        <p:nvSpPr>
          <p:cNvPr id="5092" name="D 5092"/>
          <p:cNvSpPr/>
          <p:nvPr/>
        </p:nvSpPr>
        <p:spPr>
          <a:xfrm>
            <a:off x="9893808" y="5120640"/>
            <a:ext cx="91440" cy="0"/>
          </a:xfrm>
          <a:prstGeom prst="line">
            <a:avLst/>
          </a:prstGeom>
          <a:ln w="12700">
            <a:solidFill>
              <a:srgbClr val="D62828"/>
            </a:solidFill>
            <a:prstDash val="dash"/>
            <a:tailEnd type="triangle" w="med" len="med"/>
          </a:ln>
        </p:spPr>
        <p:txBody>
          <a:bodyPr/>
          <a:lstStyle/>
          <a:p>
            <a:endParaRPr/>
          </a:p>
        </p:txBody>
      </p:sp>
      <p:sp>
        <p:nvSpPr>
          <p:cNvPr id="5093" name="D 5093"/>
          <p:cNvSpPr/>
          <p:nvPr/>
        </p:nvSpPr>
        <p:spPr>
          <a:xfrm>
            <a:off x="4407408" y="5495544"/>
            <a:ext cx="1325880" cy="201168"/>
          </a:xfrm>
          <a:prstGeom prst="roundRect">
            <a:avLst>
              <a:gd name="adj" fmla="val 50000"/>
            </a:avLst>
          </a:prstGeom>
          <a:solidFill>
            <a:srgbClr val="FFFFFF"/>
          </a:solidFill>
          <a:ln w="9525">
            <a:solidFill>
              <a:srgbClr val="D62828"/>
            </a:solidFill>
          </a:ln>
        </p:spPr>
        <p:txBody>
          <a:bodyPr wrap="square" lIns="45720" tIns="0" rIns="45720" bIns="0" rtlCol="0" anchor="ctr"/>
          <a:lstStyle/>
          <a:p>
            <a:pPr algn="ctr"/>
            <a:r>
              <a:rPr lang="ko-KR" sz="750" b="1" dirty="0">
                <a:solidFill>
                  <a:srgbClr val="D62828"/>
                </a:solidFill>
                <a:latin typeface="에이투지체 5 Medium"/>
                <a:ea typeface="에이투지체 5 Medium"/>
                <a:cs typeface="에이투지체 5 Medium"/>
              </a:rPr>
              <a:t>병상 API 직접 연계</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00  프로젝트 소개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a:ea typeface="에이투지체 5 Medium"/>
                <a:cs typeface="에이투지체 5 Medium"/>
              </a:rPr>
              <a:t>프로젝트 일정</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기획 · 데이터 수집 → 전처리 · 분석 → 모델링 · 웹 구현 → 평가 · 발표</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06</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기존 발표자료 (프로젝트 타임라인)</a:t>
            </a:r>
            <a:endParaRPr lang="en-US" sz="900" dirty="0"/>
          </a:p>
        </p:txBody>
      </p:sp>
      <p:sp>
        <p:nvSpPr>
          <p:cNvPr id="8" name="Shape 5"/>
          <p:cNvSpPr/>
          <p:nvPr/>
        </p:nvSpPr>
        <p:spPr>
          <a:xfrm>
            <a:off x="457200" y="1993392"/>
            <a:ext cx="11277295" cy="4197096"/>
          </a:xfrm>
          <a:prstGeom prst="roundRect">
            <a:avLst>
              <a:gd name="adj" fmla="val 217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pic>
        <p:nvPicPr>
          <p:cNvPr id="9" name="Image 0" descr="tl.png"/>
          <p:cNvPicPr>
            <a:picLocks noChangeAspect="1"/>
          </p:cNvPicPr>
          <p:nvPr/>
        </p:nvPicPr>
        <p:blipFill>
          <a:blip r:embed="rId3"/>
          <a:stretch>
            <a:fillRect/>
          </a:stretch>
        </p:blipFill>
        <p:spPr>
          <a:xfrm>
            <a:off x="1603725" y="2103120"/>
            <a:ext cx="8984245" cy="397764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00  프로젝트 소개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a:ea typeface="에이투지체 5 Medium"/>
                <a:cs typeface="에이투지체 5 Medium"/>
              </a:rPr>
              <a:t>업무 분담 및 간트 차트</a:t>
            </a:r>
            <a:endParaRPr lang="en-US" sz="3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07</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Project911_타임테이블.xlsx</a:t>
            </a:r>
            <a:endParaRPr lang="en-US" sz="900" dirty="0"/>
          </a:p>
        </p:txBody>
      </p:sp>
      <p:sp>
        <p:nvSpPr>
          <p:cNvPr id="5001" name="D 5001"/>
          <p:cNvSpPr/>
          <p:nvPr/>
        </p:nvSpPr>
        <p:spPr>
          <a:xfrm>
            <a:off x="457200" y="1672828"/>
            <a:ext cx="11277295" cy="4197096"/>
          </a:xfrm>
          <a:prstGeom prst="roundRect">
            <a:avLst>
              <a:gd name="adj" fmla="val 1742"/>
            </a:avLst>
          </a:prstGeom>
          <a:solidFill>
            <a:srgbClr val="FFFFFF"/>
          </a:solidFill>
          <a:ln>
            <a:noFill/>
          </a:ln>
          <a:effectLst>
            <a:outerShdw blurRad="38100" dist="25400" dir="5400000" algn="t" rotWithShape="0">
              <a:srgbClr val="000000">
                <a:alpha val="8000"/>
              </a:srgbClr>
            </a:outerShdw>
          </a:effectLst>
        </p:spPr>
      </p:sp>
      <p:sp>
        <p:nvSpPr>
          <p:cNvPr id="5002" name="D 5002"/>
          <p:cNvSpPr/>
          <p:nvPr/>
        </p:nvSpPr>
        <p:spPr>
          <a:xfrm>
            <a:off x="457200" y="1672828"/>
            <a:ext cx="11277295" cy="384048"/>
          </a:xfrm>
          <a:prstGeom prst="roundRect">
            <a:avLst>
              <a:gd name="adj" fmla="val 14285"/>
            </a:avLst>
          </a:prstGeom>
          <a:solidFill>
            <a:srgbClr val="F2F3F5"/>
          </a:solidFill>
          <a:ln>
            <a:noFill/>
          </a:ln>
        </p:spPr>
      </p:sp>
      <p:sp>
        <p:nvSpPr>
          <p:cNvPr id="5003" name="D 5003"/>
          <p:cNvSpPr txBox="1"/>
          <p:nvPr/>
        </p:nvSpPr>
        <p:spPr>
          <a:xfrm>
            <a:off x="457200" y="1672828"/>
            <a:ext cx="1325880" cy="384048"/>
          </a:xfrm>
          <a:prstGeom prst="rect">
            <a:avLst/>
          </a:prstGeom>
          <a:noFill/>
        </p:spPr>
        <p:txBody>
          <a:bodyPr wrap="square" lIns="0" tIns="0" rIns="0" bIns="0" rtlCol="0" anchor="ctr"/>
          <a:lstStyle/>
          <a:p>
            <a:pPr algn="ctr"/>
            <a:r>
              <a:rPr lang="ko-KR" sz="1100" b="1" dirty="0">
                <a:solidFill>
                  <a:srgbClr val="222222"/>
                </a:solidFill>
                <a:latin typeface="에이투지체 5 Medium"/>
                <a:ea typeface="에이투지체 5 Medium"/>
                <a:cs typeface="에이투지체 5 Medium"/>
              </a:rPr>
              <a:t>단계 · 기간</a:t>
            </a:r>
          </a:p>
        </p:txBody>
      </p:sp>
      <p:sp>
        <p:nvSpPr>
          <p:cNvPr id="5004" name="D 5004"/>
          <p:cNvSpPr txBox="1"/>
          <p:nvPr/>
        </p:nvSpPr>
        <p:spPr>
          <a:xfrm>
            <a:off x="1783080" y="1700260"/>
            <a:ext cx="2743200" cy="201168"/>
          </a:xfrm>
          <a:prstGeom prst="rect">
            <a:avLst/>
          </a:prstGeom>
          <a:noFill/>
        </p:spPr>
        <p:txBody>
          <a:bodyPr wrap="square" lIns="0" tIns="0" rIns="0" bIns="0" rtlCol="0" anchor="ctr"/>
          <a:lstStyle/>
          <a:p>
            <a:pPr algn="ctr"/>
            <a:r>
              <a:rPr lang="ko-KR" sz="1000" b="1" dirty="0">
                <a:solidFill>
                  <a:srgbClr val="222222"/>
                </a:solidFill>
                <a:latin typeface="에이투지체 5 Medium"/>
                <a:ea typeface="에이투지체 5 Medium"/>
                <a:cs typeface="에이투지체 5 Medium"/>
              </a:rPr>
              <a:t>일정 (9/23 – 10/10)</a:t>
            </a:r>
          </a:p>
        </p:txBody>
      </p:sp>
      <p:sp>
        <p:nvSpPr>
          <p:cNvPr id="5005" name="D 5005"/>
          <p:cNvSpPr txBox="1"/>
          <p:nvPr/>
        </p:nvSpPr>
        <p:spPr>
          <a:xfrm>
            <a:off x="4526280" y="1672828"/>
            <a:ext cx="1417320" cy="384048"/>
          </a:xfrm>
          <a:prstGeom prst="rect">
            <a:avLst/>
          </a:prstGeom>
          <a:noFill/>
        </p:spPr>
        <p:txBody>
          <a:bodyPr wrap="square" lIns="0" tIns="0" rIns="0" bIns="0" rtlCol="0" anchor="ctr"/>
          <a:lstStyle/>
          <a:p>
            <a:pPr algn="ctr"/>
            <a:r>
              <a:rPr lang="ko-KR" sz="1100" b="1" dirty="0">
                <a:solidFill>
                  <a:srgbClr val="222222"/>
                </a:solidFill>
                <a:latin typeface="에이투지체 5 Medium"/>
                <a:ea typeface="에이투지체 5 Medium"/>
                <a:cs typeface="에이투지체 5 Medium"/>
              </a:rPr>
              <a:t>박채원</a:t>
            </a:r>
          </a:p>
        </p:txBody>
      </p:sp>
      <p:sp>
        <p:nvSpPr>
          <p:cNvPr id="5006" name="D 5006"/>
          <p:cNvSpPr txBox="1"/>
          <p:nvPr/>
        </p:nvSpPr>
        <p:spPr>
          <a:xfrm>
            <a:off x="5943600" y="1672828"/>
            <a:ext cx="1417320" cy="384048"/>
          </a:xfrm>
          <a:prstGeom prst="rect">
            <a:avLst/>
          </a:prstGeom>
          <a:noFill/>
        </p:spPr>
        <p:txBody>
          <a:bodyPr wrap="square" lIns="0" tIns="0" rIns="0" bIns="0" rtlCol="0" anchor="ctr"/>
          <a:lstStyle/>
          <a:p>
            <a:pPr algn="ctr"/>
            <a:r>
              <a:rPr lang="ko-KR" sz="1100" b="1" dirty="0">
                <a:solidFill>
                  <a:srgbClr val="222222"/>
                </a:solidFill>
                <a:latin typeface="에이투지체 5 Medium"/>
                <a:ea typeface="에이투지체 5 Medium"/>
                <a:cs typeface="에이투지체 5 Medium"/>
              </a:rPr>
              <a:t>신건우</a:t>
            </a:r>
          </a:p>
        </p:txBody>
      </p:sp>
      <p:sp>
        <p:nvSpPr>
          <p:cNvPr id="5007" name="D 5007"/>
          <p:cNvSpPr txBox="1"/>
          <p:nvPr/>
        </p:nvSpPr>
        <p:spPr>
          <a:xfrm>
            <a:off x="7360920" y="1672828"/>
            <a:ext cx="1417320" cy="384048"/>
          </a:xfrm>
          <a:prstGeom prst="rect">
            <a:avLst/>
          </a:prstGeom>
          <a:noFill/>
        </p:spPr>
        <p:txBody>
          <a:bodyPr wrap="square" lIns="0" tIns="0" rIns="0" bIns="0" rtlCol="0" anchor="ctr"/>
          <a:lstStyle/>
          <a:p>
            <a:pPr algn="ctr"/>
            <a:r>
              <a:rPr lang="ko-KR" sz="1100" b="1" dirty="0">
                <a:solidFill>
                  <a:srgbClr val="222222"/>
                </a:solidFill>
                <a:latin typeface="에이투지체 5 Medium"/>
                <a:ea typeface="에이투지체 5 Medium"/>
                <a:cs typeface="에이투지체 5 Medium"/>
              </a:rPr>
              <a:t>정지윤</a:t>
            </a:r>
          </a:p>
        </p:txBody>
      </p:sp>
      <p:sp>
        <p:nvSpPr>
          <p:cNvPr id="5008" name="D 5008"/>
          <p:cNvSpPr txBox="1"/>
          <p:nvPr/>
        </p:nvSpPr>
        <p:spPr>
          <a:xfrm>
            <a:off x="8778240" y="1672828"/>
            <a:ext cx="1417320" cy="384048"/>
          </a:xfrm>
          <a:prstGeom prst="rect">
            <a:avLst/>
          </a:prstGeom>
          <a:noFill/>
        </p:spPr>
        <p:txBody>
          <a:bodyPr wrap="square" lIns="0" tIns="0" rIns="0" bIns="0" rtlCol="0" anchor="ctr"/>
          <a:lstStyle/>
          <a:p>
            <a:pPr algn="ctr"/>
            <a:r>
              <a:rPr lang="ko-KR" sz="1100" b="1" dirty="0">
                <a:solidFill>
                  <a:srgbClr val="222222"/>
                </a:solidFill>
                <a:latin typeface="에이투지체 5 Medium"/>
                <a:ea typeface="에이투지체 5 Medium"/>
                <a:cs typeface="에이투지체 5 Medium"/>
              </a:rPr>
              <a:t>조철현</a:t>
            </a:r>
          </a:p>
        </p:txBody>
      </p:sp>
      <p:sp>
        <p:nvSpPr>
          <p:cNvPr id="5009" name="D 5009"/>
          <p:cNvSpPr txBox="1"/>
          <p:nvPr/>
        </p:nvSpPr>
        <p:spPr>
          <a:xfrm>
            <a:off x="10195560" y="1672828"/>
            <a:ext cx="1538935" cy="384048"/>
          </a:xfrm>
          <a:prstGeom prst="rect">
            <a:avLst/>
          </a:prstGeom>
          <a:noFill/>
        </p:spPr>
        <p:txBody>
          <a:bodyPr wrap="square" lIns="0" tIns="0" rIns="0" bIns="0" rtlCol="0" anchor="ctr"/>
          <a:lstStyle/>
          <a:p>
            <a:pPr algn="ctr"/>
            <a:r>
              <a:rPr lang="ko-KR" sz="1100" b="1" dirty="0">
                <a:solidFill>
                  <a:srgbClr val="D62828"/>
                </a:solidFill>
                <a:latin typeface="에이투지체 5 Medium"/>
                <a:ea typeface="에이투지체 5 Medium"/>
                <a:cs typeface="에이투지체 5 Medium"/>
              </a:rPr>
              <a:t>전원</a:t>
            </a:r>
          </a:p>
        </p:txBody>
      </p:sp>
      <p:sp>
        <p:nvSpPr>
          <p:cNvPr id="5010" name="D 5010"/>
          <p:cNvSpPr/>
          <p:nvPr/>
        </p:nvSpPr>
        <p:spPr>
          <a:xfrm>
            <a:off x="2301240" y="2056876"/>
            <a:ext cx="142240" cy="3813048"/>
          </a:xfrm>
          <a:prstGeom prst="rect">
            <a:avLst/>
          </a:prstGeom>
          <a:solidFill>
            <a:srgbClr val="F6F6F7"/>
          </a:solidFill>
          <a:ln>
            <a:noFill/>
          </a:ln>
        </p:spPr>
      </p:sp>
      <p:sp>
        <p:nvSpPr>
          <p:cNvPr id="5011" name="D 5011"/>
          <p:cNvSpPr/>
          <p:nvPr/>
        </p:nvSpPr>
        <p:spPr>
          <a:xfrm>
            <a:off x="2443480" y="2056876"/>
            <a:ext cx="142240" cy="3813048"/>
          </a:xfrm>
          <a:prstGeom prst="rect">
            <a:avLst/>
          </a:prstGeom>
          <a:solidFill>
            <a:srgbClr val="F6F6F7"/>
          </a:solidFill>
          <a:ln>
            <a:noFill/>
          </a:ln>
        </p:spPr>
      </p:sp>
      <p:sp>
        <p:nvSpPr>
          <p:cNvPr id="5012" name="D 5012"/>
          <p:cNvSpPr/>
          <p:nvPr/>
        </p:nvSpPr>
        <p:spPr>
          <a:xfrm>
            <a:off x="3296920" y="2056876"/>
            <a:ext cx="142240" cy="3813048"/>
          </a:xfrm>
          <a:prstGeom prst="rect">
            <a:avLst/>
          </a:prstGeom>
          <a:solidFill>
            <a:srgbClr val="F6F6F7"/>
          </a:solidFill>
          <a:ln>
            <a:noFill/>
          </a:ln>
        </p:spPr>
      </p:sp>
      <p:sp>
        <p:nvSpPr>
          <p:cNvPr id="5013" name="D 5013"/>
          <p:cNvSpPr/>
          <p:nvPr/>
        </p:nvSpPr>
        <p:spPr>
          <a:xfrm>
            <a:off x="3439160" y="2056876"/>
            <a:ext cx="142240" cy="3813048"/>
          </a:xfrm>
          <a:prstGeom prst="rect">
            <a:avLst/>
          </a:prstGeom>
          <a:solidFill>
            <a:srgbClr val="F6F6F7"/>
          </a:solidFill>
          <a:ln>
            <a:noFill/>
          </a:ln>
        </p:spPr>
      </p:sp>
      <p:sp>
        <p:nvSpPr>
          <p:cNvPr id="5014" name="D 5014"/>
          <p:cNvSpPr/>
          <p:nvPr/>
        </p:nvSpPr>
        <p:spPr>
          <a:xfrm>
            <a:off x="4292600" y="2056876"/>
            <a:ext cx="142240" cy="3813048"/>
          </a:xfrm>
          <a:prstGeom prst="rect">
            <a:avLst/>
          </a:prstGeom>
          <a:solidFill>
            <a:srgbClr val="F6F6F7"/>
          </a:solidFill>
          <a:ln>
            <a:noFill/>
          </a:ln>
        </p:spPr>
      </p:sp>
      <p:sp>
        <p:nvSpPr>
          <p:cNvPr id="5015" name="D 5015"/>
          <p:cNvSpPr txBox="1"/>
          <p:nvPr/>
        </p:nvSpPr>
        <p:spPr>
          <a:xfrm>
            <a:off x="1691640" y="1910572"/>
            <a:ext cx="508000" cy="118872"/>
          </a:xfrm>
          <a:prstGeom prst="rect">
            <a:avLst/>
          </a:prstGeom>
          <a:noFill/>
        </p:spPr>
        <p:txBody>
          <a:bodyPr wrap="square" lIns="0" tIns="0" rIns="0" bIns="0" rtlCol="0" anchor="ctr"/>
          <a:lstStyle/>
          <a:p>
            <a:pPr algn="ctr"/>
            <a:r>
              <a:rPr lang="ko-KR" sz="700" dirty="0">
                <a:solidFill>
                  <a:srgbClr val="8E8E93"/>
                </a:solidFill>
                <a:latin typeface="에이투지체 5 Medium"/>
                <a:ea typeface="에이투지체 5 Medium"/>
                <a:cs typeface="에이투지체 5 Medium"/>
              </a:rPr>
              <a:t>9/23</a:t>
            </a:r>
          </a:p>
        </p:txBody>
      </p:sp>
      <p:sp>
        <p:nvSpPr>
          <p:cNvPr id="5016" name="D 5016"/>
          <p:cNvSpPr txBox="1"/>
          <p:nvPr/>
        </p:nvSpPr>
        <p:spPr>
          <a:xfrm>
            <a:off x="2402840" y="1910572"/>
            <a:ext cx="508000" cy="118872"/>
          </a:xfrm>
          <a:prstGeom prst="rect">
            <a:avLst/>
          </a:prstGeom>
          <a:noFill/>
        </p:spPr>
        <p:txBody>
          <a:bodyPr wrap="square" lIns="0" tIns="0" rIns="0" bIns="0" rtlCol="0" anchor="ctr"/>
          <a:lstStyle/>
          <a:p>
            <a:pPr algn="ctr"/>
            <a:r>
              <a:rPr lang="ko-KR" sz="700" dirty="0">
                <a:solidFill>
                  <a:srgbClr val="8E8E93"/>
                </a:solidFill>
                <a:latin typeface="에이투지체 5 Medium"/>
                <a:ea typeface="에이투지체 5 Medium"/>
                <a:cs typeface="에이투지체 5 Medium"/>
              </a:rPr>
              <a:t>9/28</a:t>
            </a:r>
          </a:p>
        </p:txBody>
      </p:sp>
      <p:sp>
        <p:nvSpPr>
          <p:cNvPr id="5017" name="D 5017"/>
          <p:cNvSpPr txBox="1"/>
          <p:nvPr/>
        </p:nvSpPr>
        <p:spPr>
          <a:xfrm>
            <a:off x="3114040" y="1910572"/>
            <a:ext cx="508000" cy="118872"/>
          </a:xfrm>
          <a:prstGeom prst="rect">
            <a:avLst/>
          </a:prstGeom>
          <a:noFill/>
        </p:spPr>
        <p:txBody>
          <a:bodyPr wrap="square" lIns="0" tIns="0" rIns="0" bIns="0" rtlCol="0" anchor="ctr"/>
          <a:lstStyle/>
          <a:p>
            <a:pPr algn="ctr"/>
            <a:r>
              <a:rPr lang="ko-KR" sz="700" dirty="0">
                <a:solidFill>
                  <a:srgbClr val="8E8E93"/>
                </a:solidFill>
                <a:latin typeface="에이투지체 5 Medium"/>
                <a:ea typeface="에이투지체 5 Medium"/>
                <a:cs typeface="에이투지체 5 Medium"/>
              </a:rPr>
              <a:t>10/3</a:t>
            </a:r>
          </a:p>
        </p:txBody>
      </p:sp>
      <p:sp>
        <p:nvSpPr>
          <p:cNvPr id="5018" name="D 5018"/>
          <p:cNvSpPr txBox="1"/>
          <p:nvPr/>
        </p:nvSpPr>
        <p:spPr>
          <a:xfrm>
            <a:off x="3825240" y="1910572"/>
            <a:ext cx="508000" cy="118872"/>
          </a:xfrm>
          <a:prstGeom prst="rect">
            <a:avLst/>
          </a:prstGeom>
          <a:noFill/>
        </p:spPr>
        <p:txBody>
          <a:bodyPr wrap="square" lIns="0" tIns="0" rIns="0" bIns="0" rtlCol="0" anchor="ctr"/>
          <a:lstStyle/>
          <a:p>
            <a:pPr algn="ctr"/>
            <a:r>
              <a:rPr lang="ko-KR" sz="700" dirty="0">
                <a:solidFill>
                  <a:srgbClr val="8E8E93"/>
                </a:solidFill>
                <a:latin typeface="에이투지체 5 Medium"/>
                <a:ea typeface="에이투지체 5 Medium"/>
                <a:cs typeface="에이투지체 5 Medium"/>
              </a:rPr>
              <a:t>10/8</a:t>
            </a:r>
          </a:p>
        </p:txBody>
      </p:sp>
      <p:sp>
        <p:nvSpPr>
          <p:cNvPr id="5019" name="D 5019"/>
          <p:cNvSpPr txBox="1"/>
          <p:nvPr/>
        </p:nvSpPr>
        <p:spPr>
          <a:xfrm>
            <a:off x="4109720" y="1910572"/>
            <a:ext cx="508000" cy="118872"/>
          </a:xfrm>
          <a:prstGeom prst="rect">
            <a:avLst/>
          </a:prstGeom>
          <a:noFill/>
        </p:spPr>
        <p:txBody>
          <a:bodyPr wrap="square" lIns="0" tIns="0" rIns="0" bIns="0" rtlCol="0" anchor="ctr"/>
          <a:lstStyle/>
          <a:p>
            <a:pPr algn="ctr"/>
            <a:r>
              <a:rPr lang="ko-KR" sz="700" dirty="0">
                <a:solidFill>
                  <a:srgbClr val="8E8E93"/>
                </a:solidFill>
                <a:latin typeface="에이투지체 5 Medium"/>
                <a:ea typeface="에이투지체 5 Medium"/>
                <a:cs typeface="에이투지체 5 Medium"/>
              </a:rPr>
              <a:t>10/10</a:t>
            </a:r>
          </a:p>
        </p:txBody>
      </p:sp>
      <p:sp>
        <p:nvSpPr>
          <p:cNvPr id="5020" name="D 5020"/>
          <p:cNvSpPr/>
          <p:nvPr/>
        </p:nvSpPr>
        <p:spPr>
          <a:xfrm>
            <a:off x="548640" y="2374630"/>
            <a:ext cx="11094415" cy="0"/>
          </a:xfrm>
          <a:prstGeom prst="line">
            <a:avLst/>
          </a:prstGeom>
          <a:ln w="9525">
            <a:solidFill>
              <a:srgbClr val="E5E7EB"/>
            </a:solidFill>
          </a:ln>
        </p:spPr>
      </p:sp>
      <p:sp>
        <p:nvSpPr>
          <p:cNvPr id="5021" name="D 5021"/>
          <p:cNvSpPr txBox="1"/>
          <p:nvPr/>
        </p:nvSpPr>
        <p:spPr>
          <a:xfrm>
            <a:off x="594360" y="2056876"/>
            <a:ext cx="1143000" cy="317754"/>
          </a:xfrm>
          <a:prstGeom prst="rect">
            <a:avLst/>
          </a:prstGeom>
          <a:noFill/>
        </p:spPr>
        <p:txBody>
          <a:bodyPr wrap="square" lIns="0" tIns="0" rIns="0" bIns="0" rtlCol="0" anchor="ctr"/>
          <a:lstStyle/>
          <a:p>
            <a:pPr algn="l"/>
            <a:r>
              <a:rPr lang="ko-KR" sz="1050" b="1" dirty="0">
                <a:solidFill>
                  <a:srgbClr val="222222"/>
                </a:solidFill>
                <a:latin typeface="에이투지체 5 Medium"/>
                <a:ea typeface="에이투지체 5 Medium"/>
                <a:cs typeface="에이투지체 5 Medium"/>
              </a:rPr>
              <a:t>기획</a:t>
            </a:r>
          </a:p>
          <a:p>
            <a:pPr algn="l"/>
            <a:r>
              <a:rPr lang="ko-KR" sz="800" dirty="0">
                <a:solidFill>
                  <a:srgbClr val="8E8E93"/>
                </a:solidFill>
                <a:latin typeface="에이투지체 5 Medium"/>
                <a:ea typeface="에이투지체 5 Medium"/>
                <a:cs typeface="에이투지체 5 Medium"/>
              </a:rPr>
              <a:t>9/23–9/24</a:t>
            </a:r>
          </a:p>
        </p:txBody>
      </p:sp>
      <p:sp>
        <p:nvSpPr>
          <p:cNvPr id="5022" name="D 5022"/>
          <p:cNvSpPr/>
          <p:nvPr/>
        </p:nvSpPr>
        <p:spPr>
          <a:xfrm>
            <a:off x="1883664" y="2151745"/>
            <a:ext cx="266192" cy="128016"/>
          </a:xfrm>
          <a:prstGeom prst="roundRect">
            <a:avLst>
              <a:gd name="adj" fmla="val 50000"/>
            </a:avLst>
          </a:prstGeom>
          <a:solidFill>
            <a:srgbClr val="D62828"/>
          </a:solidFill>
          <a:ln>
            <a:noFill/>
          </a:ln>
        </p:spPr>
      </p:sp>
      <p:sp>
        <p:nvSpPr>
          <p:cNvPr id="5023" name="D 5023"/>
          <p:cNvSpPr txBox="1"/>
          <p:nvPr/>
        </p:nvSpPr>
        <p:spPr>
          <a:xfrm>
            <a:off x="4526280" y="2056876"/>
            <a:ext cx="1417320" cy="317754"/>
          </a:xfrm>
          <a:prstGeom prst="rect">
            <a:avLst/>
          </a:prstGeom>
          <a:noFill/>
        </p:spPr>
        <p:txBody>
          <a:bodyPr wrap="square" lIns="0" tIns="0" rIns="0" bIns="0" rtlCol="0" anchor="ctr"/>
          <a:lstStyle/>
          <a:p>
            <a:pPr algn="ctr"/>
            <a:r>
              <a:rPr lang="ko-KR" sz="800" dirty="0">
                <a:solidFill>
                  <a:srgbClr val="C9CDD3"/>
                </a:solidFill>
                <a:latin typeface="에이투지체 5 Medium"/>
                <a:ea typeface="에이투지체 5 Medium"/>
                <a:cs typeface="에이투지체 5 Medium"/>
              </a:rPr>
              <a:t>–</a:t>
            </a:r>
          </a:p>
        </p:txBody>
      </p:sp>
      <p:sp>
        <p:nvSpPr>
          <p:cNvPr id="5024" name="D 5024"/>
          <p:cNvSpPr txBox="1"/>
          <p:nvPr/>
        </p:nvSpPr>
        <p:spPr>
          <a:xfrm>
            <a:off x="5943600" y="2056876"/>
            <a:ext cx="1417320" cy="317754"/>
          </a:xfrm>
          <a:prstGeom prst="rect">
            <a:avLst/>
          </a:prstGeom>
          <a:noFill/>
        </p:spPr>
        <p:txBody>
          <a:bodyPr wrap="square" lIns="0" tIns="0" rIns="0" bIns="0" rtlCol="0" anchor="ctr"/>
          <a:lstStyle/>
          <a:p>
            <a:pPr algn="ctr"/>
            <a:r>
              <a:rPr lang="ko-KR" sz="800" dirty="0">
                <a:solidFill>
                  <a:srgbClr val="C9CDD3"/>
                </a:solidFill>
                <a:latin typeface="에이투지체 5 Medium"/>
                <a:ea typeface="에이투지체 5 Medium"/>
                <a:cs typeface="에이투지체 5 Medium"/>
              </a:rPr>
              <a:t>–</a:t>
            </a:r>
          </a:p>
        </p:txBody>
      </p:sp>
      <p:sp>
        <p:nvSpPr>
          <p:cNvPr id="5025" name="D 5025"/>
          <p:cNvSpPr txBox="1"/>
          <p:nvPr/>
        </p:nvSpPr>
        <p:spPr>
          <a:xfrm>
            <a:off x="7360920" y="2056876"/>
            <a:ext cx="1417320" cy="317754"/>
          </a:xfrm>
          <a:prstGeom prst="rect">
            <a:avLst/>
          </a:prstGeom>
          <a:noFill/>
        </p:spPr>
        <p:txBody>
          <a:bodyPr wrap="square" lIns="0" tIns="0" rIns="0" bIns="0" rtlCol="0" anchor="ctr"/>
          <a:lstStyle/>
          <a:p>
            <a:pPr algn="ctr"/>
            <a:r>
              <a:rPr lang="ko-KR" sz="800" dirty="0">
                <a:solidFill>
                  <a:srgbClr val="C9CDD3"/>
                </a:solidFill>
                <a:latin typeface="에이투지체 5 Medium"/>
                <a:ea typeface="에이투지체 5 Medium"/>
                <a:cs typeface="에이투지체 5 Medium"/>
              </a:rPr>
              <a:t>–</a:t>
            </a:r>
          </a:p>
        </p:txBody>
      </p:sp>
      <p:sp>
        <p:nvSpPr>
          <p:cNvPr id="5026" name="D 5026"/>
          <p:cNvSpPr txBox="1"/>
          <p:nvPr/>
        </p:nvSpPr>
        <p:spPr>
          <a:xfrm>
            <a:off x="8778240" y="2056876"/>
            <a:ext cx="1417320" cy="317754"/>
          </a:xfrm>
          <a:prstGeom prst="rect">
            <a:avLst/>
          </a:prstGeom>
          <a:noFill/>
        </p:spPr>
        <p:txBody>
          <a:bodyPr wrap="square" lIns="0" tIns="0" rIns="0" bIns="0" rtlCol="0" anchor="ctr"/>
          <a:lstStyle/>
          <a:p>
            <a:pPr algn="ctr"/>
            <a:r>
              <a:rPr lang="ko-KR" sz="800" dirty="0">
                <a:solidFill>
                  <a:srgbClr val="C9CDD3"/>
                </a:solidFill>
                <a:latin typeface="에이투지체 5 Medium"/>
                <a:ea typeface="에이투지체 5 Medium"/>
                <a:cs typeface="에이투지체 5 Medium"/>
              </a:rPr>
              <a:t>–</a:t>
            </a:r>
          </a:p>
        </p:txBody>
      </p:sp>
      <p:sp>
        <p:nvSpPr>
          <p:cNvPr id="5027" name="D 5027"/>
          <p:cNvSpPr txBox="1"/>
          <p:nvPr/>
        </p:nvSpPr>
        <p:spPr>
          <a:xfrm>
            <a:off x="10250424" y="2056876"/>
            <a:ext cx="1429207" cy="317754"/>
          </a:xfrm>
          <a:prstGeom prst="rect">
            <a:avLst/>
          </a:prstGeom>
          <a:noFill/>
        </p:spPr>
        <p:txBody>
          <a:bodyPr wrap="square" lIns="0" tIns="0" rIns="0" bIns="0" rtlCol="0" anchor="ctr"/>
          <a:lstStyle/>
          <a:p>
            <a:pPr algn="ctr"/>
            <a:r>
              <a:rPr lang="ko-KR" sz="800" b="1" dirty="0">
                <a:solidFill>
                  <a:srgbClr val="8A1414"/>
                </a:solidFill>
                <a:latin typeface="에이투지체 5 Medium"/>
                <a:ea typeface="에이투지체 5 Medium"/>
                <a:cs typeface="에이투지체 5 Medium"/>
              </a:rPr>
              <a:t>주제 · 목표 확정</a:t>
            </a:r>
          </a:p>
          <a:p>
            <a:pPr algn="ctr"/>
            <a:r>
              <a:rPr lang="ko-KR" sz="800" b="1" dirty="0">
                <a:solidFill>
                  <a:srgbClr val="8A1414"/>
                </a:solidFill>
                <a:latin typeface="에이투지체 5 Medium"/>
                <a:ea typeface="에이투지체 5 Medium"/>
                <a:cs typeface="에이투지체 5 Medium"/>
              </a:rPr>
              <a:t>역할 · 일정 계획</a:t>
            </a:r>
          </a:p>
        </p:txBody>
      </p:sp>
      <p:sp>
        <p:nvSpPr>
          <p:cNvPr id="5028" name="D 5028"/>
          <p:cNvSpPr/>
          <p:nvPr/>
        </p:nvSpPr>
        <p:spPr>
          <a:xfrm>
            <a:off x="457200" y="2374630"/>
            <a:ext cx="11277295" cy="317754"/>
          </a:xfrm>
          <a:prstGeom prst="rect">
            <a:avLst/>
          </a:prstGeom>
          <a:noFill/>
          <a:ln>
            <a:noFill/>
          </a:ln>
        </p:spPr>
      </p:sp>
      <p:sp>
        <p:nvSpPr>
          <p:cNvPr id="5029" name="D 5029"/>
          <p:cNvSpPr/>
          <p:nvPr/>
        </p:nvSpPr>
        <p:spPr>
          <a:xfrm>
            <a:off x="548640" y="2692384"/>
            <a:ext cx="11094415" cy="0"/>
          </a:xfrm>
          <a:prstGeom prst="line">
            <a:avLst/>
          </a:prstGeom>
          <a:ln w="9525">
            <a:solidFill>
              <a:srgbClr val="E5E7EB"/>
            </a:solidFill>
          </a:ln>
        </p:spPr>
      </p:sp>
      <p:sp>
        <p:nvSpPr>
          <p:cNvPr id="5030" name="D 5030"/>
          <p:cNvSpPr txBox="1"/>
          <p:nvPr/>
        </p:nvSpPr>
        <p:spPr>
          <a:xfrm>
            <a:off x="594360" y="2374630"/>
            <a:ext cx="1143000" cy="317754"/>
          </a:xfrm>
          <a:prstGeom prst="rect">
            <a:avLst/>
          </a:prstGeom>
          <a:noFill/>
        </p:spPr>
        <p:txBody>
          <a:bodyPr wrap="square" lIns="0" tIns="0" rIns="0" bIns="0" rtlCol="0" anchor="ctr"/>
          <a:lstStyle/>
          <a:p>
            <a:pPr algn="l"/>
            <a:r>
              <a:rPr lang="ko-KR" sz="1050" b="1" dirty="0">
                <a:solidFill>
                  <a:srgbClr val="222222"/>
                </a:solidFill>
                <a:latin typeface="에이투지체 5 Medium"/>
                <a:ea typeface="에이투지체 5 Medium"/>
                <a:cs typeface="에이투지체 5 Medium"/>
              </a:rPr>
              <a:t>데이터 수집</a:t>
            </a:r>
          </a:p>
          <a:p>
            <a:pPr algn="l"/>
            <a:r>
              <a:rPr lang="ko-KR" sz="800" dirty="0">
                <a:solidFill>
                  <a:srgbClr val="8E8E93"/>
                </a:solidFill>
                <a:latin typeface="에이투지체 5 Medium"/>
                <a:ea typeface="에이투지체 5 Medium"/>
                <a:cs typeface="에이투지체 5 Medium"/>
              </a:rPr>
              <a:t>9/23–9/24</a:t>
            </a:r>
          </a:p>
        </p:txBody>
      </p:sp>
      <p:sp>
        <p:nvSpPr>
          <p:cNvPr id="5031" name="D 5031"/>
          <p:cNvSpPr/>
          <p:nvPr/>
        </p:nvSpPr>
        <p:spPr>
          <a:xfrm>
            <a:off x="1883664" y="2469499"/>
            <a:ext cx="266192" cy="128016"/>
          </a:xfrm>
          <a:prstGeom prst="roundRect">
            <a:avLst>
              <a:gd name="adj" fmla="val 50000"/>
            </a:avLst>
          </a:prstGeom>
          <a:solidFill>
            <a:srgbClr val="D62828"/>
          </a:solidFill>
          <a:ln>
            <a:noFill/>
          </a:ln>
        </p:spPr>
      </p:sp>
      <p:sp>
        <p:nvSpPr>
          <p:cNvPr id="5032" name="D 5032"/>
          <p:cNvSpPr txBox="1"/>
          <p:nvPr/>
        </p:nvSpPr>
        <p:spPr>
          <a:xfrm>
            <a:off x="4526280" y="2374630"/>
            <a:ext cx="1417320" cy="317754"/>
          </a:xfrm>
          <a:prstGeom prst="rect">
            <a:avLst/>
          </a:prstGeom>
          <a:noFill/>
        </p:spPr>
        <p:txBody>
          <a:bodyPr wrap="square" lIns="0" tIns="0" rIns="0" bIns="0" rtlCol="0" anchor="ctr"/>
          <a:lstStyle/>
          <a:p>
            <a:pPr algn="ctr"/>
            <a:r>
              <a:rPr lang="ko-KR" sz="800" dirty="0">
                <a:solidFill>
                  <a:srgbClr val="C9CDD3"/>
                </a:solidFill>
                <a:latin typeface="에이투지체 5 Medium"/>
                <a:ea typeface="에이투지체 5 Medium"/>
                <a:cs typeface="에이투지체 5 Medium"/>
              </a:rPr>
              <a:t>–</a:t>
            </a:r>
          </a:p>
        </p:txBody>
      </p:sp>
      <p:sp>
        <p:nvSpPr>
          <p:cNvPr id="5033" name="D 5033"/>
          <p:cNvSpPr txBox="1"/>
          <p:nvPr/>
        </p:nvSpPr>
        <p:spPr>
          <a:xfrm>
            <a:off x="5943600" y="2374630"/>
            <a:ext cx="1417320" cy="317754"/>
          </a:xfrm>
          <a:prstGeom prst="rect">
            <a:avLst/>
          </a:prstGeom>
          <a:noFill/>
        </p:spPr>
        <p:txBody>
          <a:bodyPr wrap="square" lIns="0" tIns="0" rIns="0" bIns="0" rtlCol="0" anchor="ctr"/>
          <a:lstStyle/>
          <a:p>
            <a:pPr algn="ctr"/>
            <a:r>
              <a:rPr lang="ko-KR" sz="800" dirty="0">
                <a:solidFill>
                  <a:srgbClr val="C9CDD3"/>
                </a:solidFill>
                <a:latin typeface="에이투지체 5 Medium"/>
                <a:ea typeface="에이투지체 5 Medium"/>
                <a:cs typeface="에이투지체 5 Medium"/>
              </a:rPr>
              <a:t>–</a:t>
            </a:r>
          </a:p>
        </p:txBody>
      </p:sp>
      <p:sp>
        <p:nvSpPr>
          <p:cNvPr id="5034" name="D 5034"/>
          <p:cNvSpPr txBox="1"/>
          <p:nvPr/>
        </p:nvSpPr>
        <p:spPr>
          <a:xfrm>
            <a:off x="7360920" y="2374630"/>
            <a:ext cx="1417320" cy="317754"/>
          </a:xfrm>
          <a:prstGeom prst="rect">
            <a:avLst/>
          </a:prstGeom>
          <a:noFill/>
        </p:spPr>
        <p:txBody>
          <a:bodyPr wrap="square" lIns="0" tIns="0" rIns="0" bIns="0" rtlCol="0" anchor="ctr"/>
          <a:lstStyle/>
          <a:p>
            <a:pPr algn="ctr"/>
            <a:r>
              <a:rPr lang="ko-KR" sz="800" dirty="0">
                <a:solidFill>
                  <a:srgbClr val="C9CDD3"/>
                </a:solidFill>
                <a:latin typeface="에이투지체 5 Medium"/>
                <a:ea typeface="에이투지체 5 Medium"/>
                <a:cs typeface="에이투지체 5 Medium"/>
              </a:rPr>
              <a:t>–</a:t>
            </a:r>
          </a:p>
        </p:txBody>
      </p:sp>
      <p:sp>
        <p:nvSpPr>
          <p:cNvPr id="5035" name="D 5035"/>
          <p:cNvSpPr txBox="1"/>
          <p:nvPr/>
        </p:nvSpPr>
        <p:spPr>
          <a:xfrm>
            <a:off x="8778240" y="2374630"/>
            <a:ext cx="1417320" cy="317754"/>
          </a:xfrm>
          <a:prstGeom prst="rect">
            <a:avLst/>
          </a:prstGeom>
          <a:noFill/>
        </p:spPr>
        <p:txBody>
          <a:bodyPr wrap="square" lIns="0" tIns="0" rIns="0" bIns="0" rtlCol="0" anchor="ctr"/>
          <a:lstStyle/>
          <a:p>
            <a:pPr algn="ctr"/>
            <a:r>
              <a:rPr lang="ko-KR" sz="800" dirty="0">
                <a:solidFill>
                  <a:srgbClr val="C9CDD3"/>
                </a:solidFill>
                <a:latin typeface="에이투지체 5 Medium"/>
                <a:ea typeface="에이투지체 5 Medium"/>
                <a:cs typeface="에이투지체 5 Medium"/>
              </a:rPr>
              <a:t>–</a:t>
            </a:r>
          </a:p>
        </p:txBody>
      </p:sp>
      <p:sp>
        <p:nvSpPr>
          <p:cNvPr id="5036" name="D 5036"/>
          <p:cNvSpPr txBox="1"/>
          <p:nvPr/>
        </p:nvSpPr>
        <p:spPr>
          <a:xfrm>
            <a:off x="10250424" y="2374630"/>
            <a:ext cx="1429207" cy="317754"/>
          </a:xfrm>
          <a:prstGeom prst="rect">
            <a:avLst/>
          </a:prstGeom>
          <a:noFill/>
        </p:spPr>
        <p:txBody>
          <a:bodyPr wrap="square" lIns="0" tIns="0" rIns="0" bIns="0" rtlCol="0" anchor="ctr"/>
          <a:lstStyle/>
          <a:p>
            <a:pPr algn="ctr"/>
            <a:r>
              <a:rPr lang="ko-KR" sz="800" b="1" dirty="0">
                <a:solidFill>
                  <a:srgbClr val="8A1414"/>
                </a:solidFill>
                <a:latin typeface="에이투지체 5 Medium"/>
                <a:ea typeface="에이투지체 5 Medium"/>
                <a:cs typeface="에이투지체 5 Medium"/>
              </a:rPr>
              <a:t>API 구조 확인</a:t>
            </a:r>
          </a:p>
          <a:p>
            <a:pPr algn="ctr"/>
            <a:r>
              <a:rPr lang="ko-KR" sz="800" b="1" dirty="0">
                <a:solidFill>
                  <a:srgbClr val="8A1414"/>
                </a:solidFill>
                <a:latin typeface="에이투지체 5 Medium"/>
                <a:ea typeface="에이투지체 5 Medium"/>
                <a:cs typeface="에이투지체 5 Medium"/>
              </a:rPr>
              <a:t>수집 · 검토</a:t>
            </a:r>
          </a:p>
        </p:txBody>
      </p:sp>
      <p:sp>
        <p:nvSpPr>
          <p:cNvPr id="5037" name="D 5037"/>
          <p:cNvSpPr/>
          <p:nvPr/>
        </p:nvSpPr>
        <p:spPr>
          <a:xfrm>
            <a:off x="548640" y="3010138"/>
            <a:ext cx="11094415" cy="0"/>
          </a:xfrm>
          <a:prstGeom prst="line">
            <a:avLst/>
          </a:prstGeom>
          <a:ln w="9525">
            <a:solidFill>
              <a:srgbClr val="E5E7EB"/>
            </a:solidFill>
          </a:ln>
        </p:spPr>
      </p:sp>
      <p:sp>
        <p:nvSpPr>
          <p:cNvPr id="5038" name="D 5038"/>
          <p:cNvSpPr txBox="1"/>
          <p:nvPr/>
        </p:nvSpPr>
        <p:spPr>
          <a:xfrm>
            <a:off x="594360" y="2692384"/>
            <a:ext cx="1143000" cy="317754"/>
          </a:xfrm>
          <a:prstGeom prst="rect">
            <a:avLst/>
          </a:prstGeom>
          <a:noFill/>
        </p:spPr>
        <p:txBody>
          <a:bodyPr wrap="square" lIns="0" tIns="0" rIns="0" bIns="0" rtlCol="0" anchor="ctr"/>
          <a:lstStyle/>
          <a:p>
            <a:pPr algn="l"/>
            <a:r>
              <a:rPr lang="ko-KR" sz="1050" b="1" dirty="0">
                <a:solidFill>
                  <a:srgbClr val="222222"/>
                </a:solidFill>
                <a:latin typeface="에이투지체 5 Medium"/>
                <a:ea typeface="에이투지체 5 Medium"/>
                <a:cs typeface="에이투지체 5 Medium"/>
              </a:rPr>
              <a:t>웹 설계</a:t>
            </a:r>
          </a:p>
          <a:p>
            <a:pPr algn="l"/>
            <a:r>
              <a:rPr lang="ko-KR" sz="800" dirty="0">
                <a:solidFill>
                  <a:srgbClr val="8E8E93"/>
                </a:solidFill>
                <a:latin typeface="에이투지체 5 Medium"/>
                <a:ea typeface="에이투지체 5 Medium"/>
                <a:cs typeface="에이투지체 5 Medium"/>
              </a:rPr>
              <a:t>9/23–9/24</a:t>
            </a:r>
          </a:p>
        </p:txBody>
      </p:sp>
      <p:sp>
        <p:nvSpPr>
          <p:cNvPr id="5039" name="D 5039"/>
          <p:cNvSpPr/>
          <p:nvPr/>
        </p:nvSpPr>
        <p:spPr>
          <a:xfrm>
            <a:off x="1883664" y="2787253"/>
            <a:ext cx="266192" cy="128016"/>
          </a:xfrm>
          <a:prstGeom prst="roundRect">
            <a:avLst>
              <a:gd name="adj" fmla="val 50000"/>
            </a:avLst>
          </a:prstGeom>
          <a:solidFill>
            <a:srgbClr val="D62828"/>
          </a:solidFill>
          <a:ln>
            <a:noFill/>
          </a:ln>
        </p:spPr>
      </p:sp>
      <p:sp>
        <p:nvSpPr>
          <p:cNvPr id="5040" name="D 5040"/>
          <p:cNvSpPr txBox="1"/>
          <p:nvPr/>
        </p:nvSpPr>
        <p:spPr>
          <a:xfrm>
            <a:off x="4581144" y="2692384"/>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입력 · 출력 화면 설계</a:t>
            </a:r>
          </a:p>
        </p:txBody>
      </p:sp>
      <p:sp>
        <p:nvSpPr>
          <p:cNvPr id="5041" name="D 5041"/>
          <p:cNvSpPr txBox="1"/>
          <p:nvPr/>
        </p:nvSpPr>
        <p:spPr>
          <a:xfrm>
            <a:off x="5998464" y="2692384"/>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기능 정의</a:t>
            </a:r>
          </a:p>
          <a:p>
            <a:pPr algn="ctr"/>
            <a:r>
              <a:rPr lang="ko-KR" sz="800" dirty="0">
                <a:solidFill>
                  <a:srgbClr val="45515E"/>
                </a:solidFill>
                <a:latin typeface="에이투지체 5 Medium"/>
                <a:ea typeface="에이투지체 5 Medium"/>
                <a:cs typeface="에이투지체 5 Medium"/>
              </a:rPr>
              <a:t>UI/UX 설계</a:t>
            </a:r>
          </a:p>
        </p:txBody>
      </p:sp>
      <p:sp>
        <p:nvSpPr>
          <p:cNvPr id="5042" name="D 5042"/>
          <p:cNvSpPr txBox="1"/>
          <p:nvPr/>
        </p:nvSpPr>
        <p:spPr>
          <a:xfrm>
            <a:off x="7360920" y="2692384"/>
            <a:ext cx="1417320" cy="317754"/>
          </a:xfrm>
          <a:prstGeom prst="rect">
            <a:avLst/>
          </a:prstGeom>
          <a:noFill/>
        </p:spPr>
        <p:txBody>
          <a:bodyPr wrap="square" lIns="0" tIns="0" rIns="0" bIns="0" rtlCol="0" anchor="ctr"/>
          <a:lstStyle/>
          <a:p>
            <a:pPr algn="ctr"/>
            <a:r>
              <a:rPr lang="ko-KR" sz="800" dirty="0">
                <a:solidFill>
                  <a:srgbClr val="C9CDD3"/>
                </a:solidFill>
                <a:latin typeface="에이투지체 5 Medium"/>
                <a:ea typeface="에이투지체 5 Medium"/>
                <a:cs typeface="에이투지체 5 Medium"/>
              </a:rPr>
              <a:t>–</a:t>
            </a:r>
          </a:p>
        </p:txBody>
      </p:sp>
      <p:sp>
        <p:nvSpPr>
          <p:cNvPr id="5043" name="D 5043"/>
          <p:cNvSpPr txBox="1"/>
          <p:nvPr/>
        </p:nvSpPr>
        <p:spPr>
          <a:xfrm>
            <a:off x="8833104" y="2692384"/>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사용자 흐름 설계</a:t>
            </a:r>
          </a:p>
        </p:txBody>
      </p:sp>
      <p:sp>
        <p:nvSpPr>
          <p:cNvPr id="5044" name="D 5044"/>
          <p:cNvSpPr txBox="1"/>
          <p:nvPr/>
        </p:nvSpPr>
        <p:spPr>
          <a:xfrm>
            <a:off x="10195560" y="2692384"/>
            <a:ext cx="1538935" cy="317754"/>
          </a:xfrm>
          <a:prstGeom prst="rect">
            <a:avLst/>
          </a:prstGeom>
          <a:noFill/>
        </p:spPr>
        <p:txBody>
          <a:bodyPr wrap="square" lIns="0" tIns="0" rIns="0" bIns="0" rtlCol="0" anchor="ctr"/>
          <a:lstStyle/>
          <a:p>
            <a:pPr algn="ctr"/>
            <a:r>
              <a:rPr lang="ko-KR" sz="800" dirty="0">
                <a:solidFill>
                  <a:srgbClr val="C9CDD3"/>
                </a:solidFill>
                <a:latin typeface="에이투지체 5 Medium"/>
                <a:ea typeface="에이투지체 5 Medium"/>
                <a:cs typeface="에이투지체 5 Medium"/>
              </a:rPr>
              <a:t>–</a:t>
            </a:r>
          </a:p>
        </p:txBody>
      </p:sp>
      <p:sp>
        <p:nvSpPr>
          <p:cNvPr id="5045" name="D 5045"/>
          <p:cNvSpPr/>
          <p:nvPr/>
        </p:nvSpPr>
        <p:spPr>
          <a:xfrm>
            <a:off x="457200" y="3010138"/>
            <a:ext cx="11277295" cy="317754"/>
          </a:xfrm>
          <a:prstGeom prst="rect">
            <a:avLst/>
          </a:prstGeom>
          <a:noFill/>
          <a:ln>
            <a:noFill/>
          </a:ln>
        </p:spPr>
      </p:sp>
      <p:sp>
        <p:nvSpPr>
          <p:cNvPr id="5046" name="D 5046"/>
          <p:cNvSpPr/>
          <p:nvPr/>
        </p:nvSpPr>
        <p:spPr>
          <a:xfrm>
            <a:off x="548640" y="3327892"/>
            <a:ext cx="11094415" cy="0"/>
          </a:xfrm>
          <a:prstGeom prst="line">
            <a:avLst/>
          </a:prstGeom>
          <a:ln w="9525">
            <a:solidFill>
              <a:srgbClr val="E5E7EB"/>
            </a:solidFill>
          </a:ln>
        </p:spPr>
      </p:sp>
      <p:sp>
        <p:nvSpPr>
          <p:cNvPr id="5047" name="D 5047"/>
          <p:cNvSpPr txBox="1"/>
          <p:nvPr/>
        </p:nvSpPr>
        <p:spPr>
          <a:xfrm>
            <a:off x="594360" y="3010138"/>
            <a:ext cx="1143000" cy="317754"/>
          </a:xfrm>
          <a:prstGeom prst="rect">
            <a:avLst/>
          </a:prstGeom>
          <a:noFill/>
        </p:spPr>
        <p:txBody>
          <a:bodyPr wrap="square" lIns="0" tIns="0" rIns="0" bIns="0" rtlCol="0" anchor="ctr"/>
          <a:lstStyle/>
          <a:p>
            <a:pPr algn="l"/>
            <a:r>
              <a:rPr lang="ko-KR" sz="1050" b="1" dirty="0">
                <a:solidFill>
                  <a:srgbClr val="222222"/>
                </a:solidFill>
                <a:latin typeface="에이투지체 5 Medium"/>
                <a:ea typeface="에이투지체 5 Medium"/>
                <a:cs typeface="에이투지체 5 Medium"/>
              </a:rPr>
              <a:t>휴식</a:t>
            </a:r>
          </a:p>
          <a:p>
            <a:pPr algn="l"/>
            <a:r>
              <a:rPr lang="ko-KR" sz="800" dirty="0">
                <a:solidFill>
                  <a:srgbClr val="8E8E93"/>
                </a:solidFill>
                <a:latin typeface="에이투지체 5 Medium"/>
                <a:ea typeface="에이투지체 5 Medium"/>
                <a:cs typeface="에이투지체 5 Medium"/>
              </a:rPr>
              <a:t>9/25–9/27</a:t>
            </a:r>
          </a:p>
        </p:txBody>
      </p:sp>
      <p:sp>
        <p:nvSpPr>
          <p:cNvPr id="5048" name="D 5048"/>
          <p:cNvSpPr/>
          <p:nvPr/>
        </p:nvSpPr>
        <p:spPr>
          <a:xfrm>
            <a:off x="2168144" y="3105007"/>
            <a:ext cx="408432" cy="128016"/>
          </a:xfrm>
          <a:prstGeom prst="roundRect">
            <a:avLst>
              <a:gd name="adj" fmla="val 50000"/>
            </a:avLst>
          </a:prstGeom>
          <a:solidFill>
            <a:srgbClr val="B8BCC4"/>
          </a:solidFill>
          <a:ln>
            <a:noFill/>
          </a:ln>
        </p:spPr>
      </p:sp>
      <p:sp>
        <p:nvSpPr>
          <p:cNvPr id="5049" name="D 5049"/>
          <p:cNvSpPr txBox="1"/>
          <p:nvPr/>
        </p:nvSpPr>
        <p:spPr>
          <a:xfrm>
            <a:off x="4526280" y="3010138"/>
            <a:ext cx="1417320" cy="317754"/>
          </a:xfrm>
          <a:prstGeom prst="rect">
            <a:avLst/>
          </a:prstGeom>
          <a:noFill/>
        </p:spPr>
        <p:txBody>
          <a:bodyPr wrap="square" lIns="0" tIns="0" rIns="0" bIns="0" rtlCol="0" anchor="ctr"/>
          <a:lstStyle/>
          <a:p>
            <a:pPr algn="ctr"/>
            <a:r>
              <a:rPr lang="ko-KR" sz="800" dirty="0">
                <a:solidFill>
                  <a:srgbClr val="C9CDD3"/>
                </a:solidFill>
                <a:latin typeface="에이투지체 5 Medium"/>
                <a:ea typeface="에이투지체 5 Medium"/>
                <a:cs typeface="에이투지체 5 Medium"/>
              </a:rPr>
              <a:t>–</a:t>
            </a:r>
          </a:p>
        </p:txBody>
      </p:sp>
      <p:sp>
        <p:nvSpPr>
          <p:cNvPr id="5050" name="D 5050"/>
          <p:cNvSpPr txBox="1"/>
          <p:nvPr/>
        </p:nvSpPr>
        <p:spPr>
          <a:xfrm>
            <a:off x="5943600" y="3010138"/>
            <a:ext cx="1417320" cy="317754"/>
          </a:xfrm>
          <a:prstGeom prst="rect">
            <a:avLst/>
          </a:prstGeom>
          <a:noFill/>
        </p:spPr>
        <p:txBody>
          <a:bodyPr wrap="square" lIns="0" tIns="0" rIns="0" bIns="0" rtlCol="0" anchor="ctr"/>
          <a:lstStyle/>
          <a:p>
            <a:pPr algn="ctr"/>
            <a:r>
              <a:rPr lang="ko-KR" sz="800" dirty="0">
                <a:solidFill>
                  <a:srgbClr val="C9CDD3"/>
                </a:solidFill>
                <a:latin typeface="에이투지체 5 Medium"/>
                <a:ea typeface="에이투지체 5 Medium"/>
                <a:cs typeface="에이투지체 5 Medium"/>
              </a:rPr>
              <a:t>–</a:t>
            </a:r>
          </a:p>
        </p:txBody>
      </p:sp>
      <p:sp>
        <p:nvSpPr>
          <p:cNvPr id="5051" name="D 5051"/>
          <p:cNvSpPr txBox="1"/>
          <p:nvPr/>
        </p:nvSpPr>
        <p:spPr>
          <a:xfrm>
            <a:off x="7360920" y="3010138"/>
            <a:ext cx="1417320" cy="317754"/>
          </a:xfrm>
          <a:prstGeom prst="rect">
            <a:avLst/>
          </a:prstGeom>
          <a:noFill/>
        </p:spPr>
        <p:txBody>
          <a:bodyPr wrap="square" lIns="0" tIns="0" rIns="0" bIns="0" rtlCol="0" anchor="ctr"/>
          <a:lstStyle/>
          <a:p>
            <a:pPr algn="ctr"/>
            <a:r>
              <a:rPr lang="ko-KR" sz="800" dirty="0">
                <a:solidFill>
                  <a:srgbClr val="C9CDD3"/>
                </a:solidFill>
                <a:latin typeface="에이투지체 5 Medium"/>
                <a:ea typeface="에이투지체 5 Medium"/>
                <a:cs typeface="에이투지체 5 Medium"/>
              </a:rPr>
              <a:t>–</a:t>
            </a:r>
          </a:p>
        </p:txBody>
      </p:sp>
      <p:sp>
        <p:nvSpPr>
          <p:cNvPr id="5052" name="D 5052"/>
          <p:cNvSpPr txBox="1"/>
          <p:nvPr/>
        </p:nvSpPr>
        <p:spPr>
          <a:xfrm>
            <a:off x="8778240" y="3010138"/>
            <a:ext cx="1417320" cy="317754"/>
          </a:xfrm>
          <a:prstGeom prst="rect">
            <a:avLst/>
          </a:prstGeom>
          <a:noFill/>
        </p:spPr>
        <p:txBody>
          <a:bodyPr wrap="square" lIns="0" tIns="0" rIns="0" bIns="0" rtlCol="0" anchor="ctr"/>
          <a:lstStyle/>
          <a:p>
            <a:pPr algn="ctr"/>
            <a:r>
              <a:rPr lang="ko-KR" sz="800" dirty="0">
                <a:solidFill>
                  <a:srgbClr val="C9CDD3"/>
                </a:solidFill>
                <a:latin typeface="에이투지체 5 Medium"/>
                <a:ea typeface="에이투지체 5 Medium"/>
                <a:cs typeface="에이투지체 5 Medium"/>
              </a:rPr>
              <a:t>–</a:t>
            </a:r>
          </a:p>
        </p:txBody>
      </p:sp>
      <p:sp>
        <p:nvSpPr>
          <p:cNvPr id="5053" name="D 5053"/>
          <p:cNvSpPr txBox="1"/>
          <p:nvPr/>
        </p:nvSpPr>
        <p:spPr>
          <a:xfrm>
            <a:off x="10250424" y="3010138"/>
            <a:ext cx="1429207" cy="317754"/>
          </a:xfrm>
          <a:prstGeom prst="rect">
            <a:avLst/>
          </a:prstGeom>
          <a:noFill/>
        </p:spPr>
        <p:txBody>
          <a:bodyPr wrap="square" lIns="0" tIns="0" rIns="0" bIns="0" rtlCol="0" anchor="ctr"/>
          <a:lstStyle/>
          <a:p>
            <a:pPr algn="ctr"/>
            <a:r>
              <a:rPr lang="ko-KR" sz="800" b="1" dirty="0">
                <a:solidFill>
                  <a:srgbClr val="8A1414"/>
                </a:solidFill>
                <a:latin typeface="에이투지체 5 Medium"/>
                <a:ea typeface="에이투지체 5 Medium"/>
                <a:cs typeface="에이투지체 5 Medium"/>
              </a:rPr>
              <a:t>휴식 · 일정 조정</a:t>
            </a:r>
          </a:p>
        </p:txBody>
      </p:sp>
      <p:sp>
        <p:nvSpPr>
          <p:cNvPr id="5054" name="D 5054"/>
          <p:cNvSpPr/>
          <p:nvPr/>
        </p:nvSpPr>
        <p:spPr>
          <a:xfrm>
            <a:off x="548640" y="3645646"/>
            <a:ext cx="11094415" cy="0"/>
          </a:xfrm>
          <a:prstGeom prst="line">
            <a:avLst/>
          </a:prstGeom>
          <a:ln w="9525">
            <a:solidFill>
              <a:srgbClr val="E5E7EB"/>
            </a:solidFill>
          </a:ln>
        </p:spPr>
      </p:sp>
      <p:sp>
        <p:nvSpPr>
          <p:cNvPr id="5055" name="D 5055"/>
          <p:cNvSpPr txBox="1"/>
          <p:nvPr/>
        </p:nvSpPr>
        <p:spPr>
          <a:xfrm>
            <a:off x="594360" y="3327892"/>
            <a:ext cx="1143000" cy="317754"/>
          </a:xfrm>
          <a:prstGeom prst="rect">
            <a:avLst/>
          </a:prstGeom>
          <a:noFill/>
        </p:spPr>
        <p:txBody>
          <a:bodyPr wrap="square" lIns="0" tIns="0" rIns="0" bIns="0" rtlCol="0" anchor="ctr"/>
          <a:lstStyle/>
          <a:p>
            <a:pPr algn="l"/>
            <a:r>
              <a:rPr lang="ko-KR" sz="1050" b="1" dirty="0">
                <a:solidFill>
                  <a:srgbClr val="222222"/>
                </a:solidFill>
                <a:latin typeface="에이투지체 5 Medium"/>
                <a:ea typeface="에이투지체 5 Medium"/>
                <a:cs typeface="에이투지체 5 Medium"/>
              </a:rPr>
              <a:t>전처리</a:t>
            </a:r>
          </a:p>
          <a:p>
            <a:pPr algn="l"/>
            <a:r>
              <a:rPr lang="ko-KR" sz="800" dirty="0">
                <a:solidFill>
                  <a:srgbClr val="8E8E93"/>
                </a:solidFill>
                <a:latin typeface="에이투지체 5 Medium"/>
                <a:ea typeface="에이투지체 5 Medium"/>
                <a:cs typeface="에이투지체 5 Medium"/>
              </a:rPr>
              <a:t>9/28–10/1</a:t>
            </a:r>
          </a:p>
        </p:txBody>
      </p:sp>
      <p:sp>
        <p:nvSpPr>
          <p:cNvPr id="5056" name="D 5056"/>
          <p:cNvSpPr/>
          <p:nvPr/>
        </p:nvSpPr>
        <p:spPr>
          <a:xfrm>
            <a:off x="2594864" y="3422761"/>
            <a:ext cx="550672" cy="128016"/>
          </a:xfrm>
          <a:prstGeom prst="roundRect">
            <a:avLst>
              <a:gd name="adj" fmla="val 50000"/>
            </a:avLst>
          </a:prstGeom>
          <a:solidFill>
            <a:srgbClr val="D62828"/>
          </a:solidFill>
          <a:ln>
            <a:noFill/>
          </a:ln>
        </p:spPr>
      </p:sp>
      <p:sp>
        <p:nvSpPr>
          <p:cNvPr id="5057" name="D 5057"/>
          <p:cNvSpPr txBox="1"/>
          <p:nvPr/>
        </p:nvSpPr>
        <p:spPr>
          <a:xfrm>
            <a:off x="4581144" y="3327892"/>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정제 · 형식 통일</a:t>
            </a:r>
          </a:p>
        </p:txBody>
      </p:sp>
      <p:sp>
        <p:nvSpPr>
          <p:cNvPr id="5058" name="D 5058"/>
          <p:cNvSpPr txBox="1"/>
          <p:nvPr/>
        </p:nvSpPr>
        <p:spPr>
          <a:xfrm>
            <a:off x="5998464" y="3327892"/>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전처리 · 파생변수</a:t>
            </a:r>
          </a:p>
        </p:txBody>
      </p:sp>
      <p:sp>
        <p:nvSpPr>
          <p:cNvPr id="5059" name="D 5059"/>
          <p:cNvSpPr txBox="1"/>
          <p:nvPr/>
        </p:nvSpPr>
        <p:spPr>
          <a:xfrm>
            <a:off x="7415784" y="3327892"/>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결측 · 중복 · 이상치</a:t>
            </a:r>
          </a:p>
        </p:txBody>
      </p:sp>
      <p:sp>
        <p:nvSpPr>
          <p:cNvPr id="5060" name="D 5060"/>
          <p:cNvSpPr txBox="1"/>
          <p:nvPr/>
        </p:nvSpPr>
        <p:spPr>
          <a:xfrm>
            <a:off x="8833104" y="3327892"/>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전처리 데이터 검토</a:t>
            </a:r>
          </a:p>
        </p:txBody>
      </p:sp>
      <p:sp>
        <p:nvSpPr>
          <p:cNvPr id="5061" name="D 5061"/>
          <p:cNvSpPr txBox="1"/>
          <p:nvPr/>
        </p:nvSpPr>
        <p:spPr>
          <a:xfrm>
            <a:off x="10195560" y="3327892"/>
            <a:ext cx="1538935" cy="317754"/>
          </a:xfrm>
          <a:prstGeom prst="rect">
            <a:avLst/>
          </a:prstGeom>
          <a:noFill/>
        </p:spPr>
        <p:txBody>
          <a:bodyPr wrap="square" lIns="0" tIns="0" rIns="0" bIns="0" rtlCol="0" anchor="ctr"/>
          <a:lstStyle/>
          <a:p>
            <a:pPr algn="ctr"/>
            <a:r>
              <a:rPr lang="ko-KR" sz="800" dirty="0">
                <a:solidFill>
                  <a:srgbClr val="C9CDD3"/>
                </a:solidFill>
                <a:latin typeface="에이투지체 5 Medium"/>
                <a:ea typeface="에이투지체 5 Medium"/>
                <a:cs typeface="에이투지체 5 Medium"/>
              </a:rPr>
              <a:t>–</a:t>
            </a:r>
          </a:p>
        </p:txBody>
      </p:sp>
      <p:sp>
        <p:nvSpPr>
          <p:cNvPr id="5062" name="D 5062"/>
          <p:cNvSpPr/>
          <p:nvPr/>
        </p:nvSpPr>
        <p:spPr>
          <a:xfrm>
            <a:off x="457200" y="3645646"/>
            <a:ext cx="11277295" cy="317754"/>
          </a:xfrm>
          <a:prstGeom prst="rect">
            <a:avLst/>
          </a:prstGeom>
          <a:noFill/>
          <a:ln>
            <a:noFill/>
          </a:ln>
        </p:spPr>
      </p:sp>
      <p:sp>
        <p:nvSpPr>
          <p:cNvPr id="5063" name="D 5063"/>
          <p:cNvSpPr/>
          <p:nvPr/>
        </p:nvSpPr>
        <p:spPr>
          <a:xfrm>
            <a:off x="548640" y="3963400"/>
            <a:ext cx="11094415" cy="0"/>
          </a:xfrm>
          <a:prstGeom prst="line">
            <a:avLst/>
          </a:prstGeom>
          <a:ln w="9525">
            <a:solidFill>
              <a:srgbClr val="E5E7EB"/>
            </a:solidFill>
          </a:ln>
        </p:spPr>
      </p:sp>
      <p:sp>
        <p:nvSpPr>
          <p:cNvPr id="5064" name="D 5064"/>
          <p:cNvSpPr txBox="1"/>
          <p:nvPr/>
        </p:nvSpPr>
        <p:spPr>
          <a:xfrm>
            <a:off x="594360" y="3645646"/>
            <a:ext cx="1143000" cy="317754"/>
          </a:xfrm>
          <a:prstGeom prst="rect">
            <a:avLst/>
          </a:prstGeom>
          <a:noFill/>
        </p:spPr>
        <p:txBody>
          <a:bodyPr wrap="square" lIns="0" tIns="0" rIns="0" bIns="0" rtlCol="0" anchor="ctr"/>
          <a:lstStyle/>
          <a:p>
            <a:pPr algn="l"/>
            <a:r>
              <a:rPr lang="ko-KR" sz="1050" b="1" dirty="0">
                <a:solidFill>
                  <a:srgbClr val="222222"/>
                </a:solidFill>
                <a:latin typeface="에이투지체 5 Medium"/>
                <a:ea typeface="에이투지체 5 Medium"/>
                <a:cs typeface="에이투지체 5 Medium"/>
              </a:rPr>
              <a:t>분석 (EDA)</a:t>
            </a:r>
          </a:p>
          <a:p>
            <a:pPr algn="l"/>
            <a:r>
              <a:rPr lang="ko-KR" sz="800" dirty="0">
                <a:solidFill>
                  <a:srgbClr val="8E8E93"/>
                </a:solidFill>
                <a:latin typeface="에이투지체 5 Medium"/>
                <a:ea typeface="에이투지체 5 Medium"/>
                <a:cs typeface="에이투지체 5 Medium"/>
              </a:rPr>
              <a:t>9/29–10/3</a:t>
            </a:r>
          </a:p>
        </p:txBody>
      </p:sp>
      <p:sp>
        <p:nvSpPr>
          <p:cNvPr id="5065" name="D 5065"/>
          <p:cNvSpPr/>
          <p:nvPr/>
        </p:nvSpPr>
        <p:spPr>
          <a:xfrm>
            <a:off x="2737104" y="3740515"/>
            <a:ext cx="692912" cy="128016"/>
          </a:xfrm>
          <a:prstGeom prst="roundRect">
            <a:avLst>
              <a:gd name="adj" fmla="val 50000"/>
            </a:avLst>
          </a:prstGeom>
          <a:solidFill>
            <a:srgbClr val="D62828"/>
          </a:solidFill>
          <a:ln>
            <a:noFill/>
          </a:ln>
        </p:spPr>
      </p:sp>
      <p:sp>
        <p:nvSpPr>
          <p:cNvPr id="5066" name="D 5066"/>
          <p:cNvSpPr txBox="1"/>
          <p:nvPr/>
        </p:nvSpPr>
        <p:spPr>
          <a:xfrm>
            <a:off x="4526280" y="3645646"/>
            <a:ext cx="1417320" cy="317754"/>
          </a:xfrm>
          <a:prstGeom prst="rect">
            <a:avLst/>
          </a:prstGeom>
          <a:noFill/>
        </p:spPr>
        <p:txBody>
          <a:bodyPr wrap="square" lIns="0" tIns="0" rIns="0" bIns="0" rtlCol="0" anchor="ctr"/>
          <a:lstStyle/>
          <a:p>
            <a:pPr algn="ctr"/>
            <a:r>
              <a:rPr lang="ko-KR" sz="800" dirty="0">
                <a:solidFill>
                  <a:srgbClr val="C9CDD3"/>
                </a:solidFill>
                <a:latin typeface="에이투지체 5 Medium"/>
                <a:ea typeface="에이투지체 5 Medium"/>
                <a:cs typeface="에이투지체 5 Medium"/>
              </a:rPr>
              <a:t>–</a:t>
            </a:r>
          </a:p>
        </p:txBody>
      </p:sp>
      <p:sp>
        <p:nvSpPr>
          <p:cNvPr id="5067" name="D 5067"/>
          <p:cNvSpPr txBox="1"/>
          <p:nvPr/>
        </p:nvSpPr>
        <p:spPr>
          <a:xfrm>
            <a:off x="5943600" y="3645646"/>
            <a:ext cx="1417320" cy="317754"/>
          </a:xfrm>
          <a:prstGeom prst="rect">
            <a:avLst/>
          </a:prstGeom>
          <a:noFill/>
        </p:spPr>
        <p:txBody>
          <a:bodyPr wrap="square" lIns="0" tIns="0" rIns="0" bIns="0" rtlCol="0" anchor="ctr"/>
          <a:lstStyle/>
          <a:p>
            <a:pPr algn="ctr"/>
            <a:r>
              <a:rPr lang="ko-KR" sz="800" dirty="0">
                <a:solidFill>
                  <a:srgbClr val="C9CDD3"/>
                </a:solidFill>
                <a:latin typeface="에이투지체 5 Medium"/>
                <a:ea typeface="에이투지체 5 Medium"/>
                <a:cs typeface="에이투지체 5 Medium"/>
              </a:rPr>
              <a:t>–</a:t>
            </a:r>
          </a:p>
        </p:txBody>
      </p:sp>
      <p:sp>
        <p:nvSpPr>
          <p:cNvPr id="5068" name="D 5068"/>
          <p:cNvSpPr txBox="1"/>
          <p:nvPr/>
        </p:nvSpPr>
        <p:spPr>
          <a:xfrm>
            <a:off x="7415784" y="3645646"/>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기초 통계 · 분포</a:t>
            </a:r>
          </a:p>
        </p:txBody>
      </p:sp>
      <p:sp>
        <p:nvSpPr>
          <p:cNvPr id="5069" name="D 5069"/>
          <p:cNvSpPr txBox="1"/>
          <p:nvPr/>
        </p:nvSpPr>
        <p:spPr>
          <a:xfrm>
            <a:off x="8833104" y="3645646"/>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데이터 시각화</a:t>
            </a:r>
          </a:p>
        </p:txBody>
      </p:sp>
      <p:sp>
        <p:nvSpPr>
          <p:cNvPr id="5070" name="D 5070"/>
          <p:cNvSpPr txBox="1"/>
          <p:nvPr/>
        </p:nvSpPr>
        <p:spPr>
          <a:xfrm>
            <a:off x="10250424" y="3645646"/>
            <a:ext cx="1429207" cy="317754"/>
          </a:xfrm>
          <a:prstGeom prst="rect">
            <a:avLst/>
          </a:prstGeom>
          <a:noFill/>
        </p:spPr>
        <p:txBody>
          <a:bodyPr wrap="square" lIns="0" tIns="0" rIns="0" bIns="0" rtlCol="0" anchor="ctr"/>
          <a:lstStyle/>
          <a:p>
            <a:pPr algn="ctr"/>
            <a:r>
              <a:rPr lang="ko-KR" sz="800" b="1" dirty="0">
                <a:solidFill>
                  <a:srgbClr val="8A1414"/>
                </a:solidFill>
                <a:latin typeface="에이투지체 5 Medium"/>
                <a:ea typeface="에이투지체 5 Medium"/>
                <a:cs typeface="에이투지체 5 Medium"/>
              </a:rPr>
              <a:t>변수 관계 · 패턴</a:t>
            </a:r>
          </a:p>
        </p:txBody>
      </p:sp>
      <p:sp>
        <p:nvSpPr>
          <p:cNvPr id="5071" name="D 5071"/>
          <p:cNvSpPr/>
          <p:nvPr/>
        </p:nvSpPr>
        <p:spPr>
          <a:xfrm>
            <a:off x="548640" y="4281154"/>
            <a:ext cx="11094415" cy="0"/>
          </a:xfrm>
          <a:prstGeom prst="line">
            <a:avLst/>
          </a:prstGeom>
          <a:ln w="9525">
            <a:solidFill>
              <a:srgbClr val="E5E7EB"/>
            </a:solidFill>
          </a:ln>
        </p:spPr>
      </p:sp>
      <p:sp>
        <p:nvSpPr>
          <p:cNvPr id="5072" name="D 5072"/>
          <p:cNvSpPr txBox="1"/>
          <p:nvPr/>
        </p:nvSpPr>
        <p:spPr>
          <a:xfrm>
            <a:off x="594360" y="3963400"/>
            <a:ext cx="1143000" cy="317754"/>
          </a:xfrm>
          <a:prstGeom prst="rect">
            <a:avLst/>
          </a:prstGeom>
          <a:noFill/>
        </p:spPr>
        <p:txBody>
          <a:bodyPr wrap="square" lIns="0" tIns="0" rIns="0" bIns="0" rtlCol="0" anchor="ctr"/>
          <a:lstStyle/>
          <a:p>
            <a:pPr algn="l"/>
            <a:r>
              <a:rPr lang="ko-KR" sz="1050" b="1" dirty="0">
                <a:solidFill>
                  <a:srgbClr val="222222"/>
                </a:solidFill>
                <a:latin typeface="에이투지체 5 Medium"/>
                <a:ea typeface="에이투지체 5 Medium"/>
                <a:cs typeface="에이투지체 5 Medium"/>
              </a:rPr>
              <a:t>모델링</a:t>
            </a:r>
          </a:p>
          <a:p>
            <a:pPr algn="l"/>
            <a:r>
              <a:rPr lang="ko-KR" sz="800" dirty="0">
                <a:solidFill>
                  <a:srgbClr val="8E8E93"/>
                </a:solidFill>
                <a:latin typeface="에이투지체 5 Medium"/>
                <a:ea typeface="에이투지체 5 Medium"/>
                <a:cs typeface="에이투지체 5 Medium"/>
              </a:rPr>
              <a:t>9/30–10/4</a:t>
            </a:r>
          </a:p>
        </p:txBody>
      </p:sp>
      <p:sp>
        <p:nvSpPr>
          <p:cNvPr id="5073" name="D 5073"/>
          <p:cNvSpPr/>
          <p:nvPr/>
        </p:nvSpPr>
        <p:spPr>
          <a:xfrm>
            <a:off x="2879344" y="4058269"/>
            <a:ext cx="692912" cy="128016"/>
          </a:xfrm>
          <a:prstGeom prst="roundRect">
            <a:avLst>
              <a:gd name="adj" fmla="val 50000"/>
            </a:avLst>
          </a:prstGeom>
          <a:solidFill>
            <a:srgbClr val="D62828"/>
          </a:solidFill>
          <a:ln>
            <a:noFill/>
          </a:ln>
        </p:spPr>
      </p:sp>
      <p:sp>
        <p:nvSpPr>
          <p:cNvPr id="5074" name="D 5074"/>
          <p:cNvSpPr txBox="1"/>
          <p:nvPr/>
        </p:nvSpPr>
        <p:spPr>
          <a:xfrm>
            <a:off x="4581144" y="3963400"/>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예측 문제 · 타깃 정의</a:t>
            </a:r>
          </a:p>
        </p:txBody>
      </p:sp>
      <p:sp>
        <p:nvSpPr>
          <p:cNvPr id="5075" name="D 5075"/>
          <p:cNvSpPr txBox="1"/>
          <p:nvPr/>
        </p:nvSpPr>
        <p:spPr>
          <a:xfrm>
            <a:off x="5998464" y="3963400"/>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모델링 변수 선정</a:t>
            </a:r>
          </a:p>
        </p:txBody>
      </p:sp>
      <p:sp>
        <p:nvSpPr>
          <p:cNvPr id="5076" name="D 5076"/>
          <p:cNvSpPr txBox="1"/>
          <p:nvPr/>
        </p:nvSpPr>
        <p:spPr>
          <a:xfrm>
            <a:off x="7415784" y="3963400"/>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입력 변수 ·</a:t>
            </a:r>
          </a:p>
          <a:p>
            <a:pPr algn="ctr"/>
            <a:r>
              <a:rPr lang="ko-KR" sz="800" dirty="0">
                <a:solidFill>
                  <a:srgbClr val="45515E"/>
                </a:solidFill>
                <a:latin typeface="에이투지체 5 Medium"/>
                <a:ea typeface="에이투지체 5 Medium"/>
                <a:cs typeface="에이투지체 5 Medium"/>
              </a:rPr>
              <a:t>학습 데이터 구성</a:t>
            </a:r>
          </a:p>
        </p:txBody>
      </p:sp>
      <p:sp>
        <p:nvSpPr>
          <p:cNvPr id="5077" name="D 5077"/>
          <p:cNvSpPr txBox="1"/>
          <p:nvPr/>
        </p:nvSpPr>
        <p:spPr>
          <a:xfrm>
            <a:off x="8833104" y="3963400"/>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ML / DL 구현 · 학습</a:t>
            </a:r>
          </a:p>
        </p:txBody>
      </p:sp>
      <p:sp>
        <p:nvSpPr>
          <p:cNvPr id="5078" name="D 5078"/>
          <p:cNvSpPr txBox="1"/>
          <p:nvPr/>
        </p:nvSpPr>
        <p:spPr>
          <a:xfrm>
            <a:off x="10250424" y="3963400"/>
            <a:ext cx="1429207" cy="317754"/>
          </a:xfrm>
          <a:prstGeom prst="rect">
            <a:avLst/>
          </a:prstGeom>
          <a:noFill/>
        </p:spPr>
        <p:txBody>
          <a:bodyPr wrap="square" lIns="0" tIns="0" rIns="0" bIns="0" rtlCol="0" anchor="ctr"/>
          <a:lstStyle/>
          <a:p>
            <a:pPr algn="ctr"/>
            <a:r>
              <a:rPr lang="ko-KR" sz="800" b="1" dirty="0">
                <a:solidFill>
                  <a:srgbClr val="8A1414"/>
                </a:solidFill>
                <a:latin typeface="에이투지체 5 Medium"/>
                <a:ea typeface="에이투지체 5 Medium"/>
                <a:cs typeface="에이투지체 5 Medium"/>
              </a:rPr>
              <a:t>모델 성능 비교</a:t>
            </a:r>
          </a:p>
        </p:txBody>
      </p:sp>
      <p:sp>
        <p:nvSpPr>
          <p:cNvPr id="5079" name="D 5079"/>
          <p:cNvSpPr/>
          <p:nvPr/>
        </p:nvSpPr>
        <p:spPr>
          <a:xfrm>
            <a:off x="457200" y="4281154"/>
            <a:ext cx="11277295" cy="317754"/>
          </a:xfrm>
          <a:prstGeom prst="rect">
            <a:avLst/>
          </a:prstGeom>
          <a:noFill/>
          <a:ln>
            <a:noFill/>
          </a:ln>
        </p:spPr>
      </p:sp>
      <p:sp>
        <p:nvSpPr>
          <p:cNvPr id="5080" name="D 5080"/>
          <p:cNvSpPr/>
          <p:nvPr/>
        </p:nvSpPr>
        <p:spPr>
          <a:xfrm>
            <a:off x="548640" y="4598908"/>
            <a:ext cx="11094415" cy="0"/>
          </a:xfrm>
          <a:prstGeom prst="line">
            <a:avLst/>
          </a:prstGeom>
          <a:ln w="9525">
            <a:solidFill>
              <a:srgbClr val="E5E7EB"/>
            </a:solidFill>
          </a:ln>
        </p:spPr>
      </p:sp>
      <p:sp>
        <p:nvSpPr>
          <p:cNvPr id="5081" name="D 5081"/>
          <p:cNvSpPr txBox="1"/>
          <p:nvPr/>
        </p:nvSpPr>
        <p:spPr>
          <a:xfrm>
            <a:off x="594360" y="4281154"/>
            <a:ext cx="1143000" cy="317754"/>
          </a:xfrm>
          <a:prstGeom prst="rect">
            <a:avLst/>
          </a:prstGeom>
          <a:noFill/>
        </p:spPr>
        <p:txBody>
          <a:bodyPr wrap="square" lIns="0" tIns="0" rIns="0" bIns="0" rtlCol="0" anchor="ctr"/>
          <a:lstStyle/>
          <a:p>
            <a:pPr algn="l"/>
            <a:r>
              <a:rPr lang="ko-KR" sz="1050" b="1" dirty="0">
                <a:solidFill>
                  <a:srgbClr val="222222"/>
                </a:solidFill>
                <a:latin typeface="에이투지체 5 Medium"/>
                <a:ea typeface="에이투지체 5 Medium"/>
                <a:cs typeface="에이투지체 5 Medium"/>
              </a:rPr>
              <a:t>웹 구현</a:t>
            </a:r>
          </a:p>
          <a:p>
            <a:pPr algn="l"/>
            <a:r>
              <a:rPr lang="ko-KR" sz="800" dirty="0">
                <a:solidFill>
                  <a:srgbClr val="8E8E93"/>
                </a:solidFill>
                <a:latin typeface="에이투지체 5 Medium"/>
                <a:ea typeface="에이투지체 5 Medium"/>
                <a:cs typeface="에이투지체 5 Medium"/>
              </a:rPr>
              <a:t>9/28–10/6</a:t>
            </a:r>
          </a:p>
        </p:txBody>
      </p:sp>
      <p:sp>
        <p:nvSpPr>
          <p:cNvPr id="5082" name="D 5082"/>
          <p:cNvSpPr/>
          <p:nvPr/>
        </p:nvSpPr>
        <p:spPr>
          <a:xfrm>
            <a:off x="2594864" y="4376023"/>
            <a:ext cx="1261872" cy="128016"/>
          </a:xfrm>
          <a:prstGeom prst="roundRect">
            <a:avLst>
              <a:gd name="adj" fmla="val 50000"/>
            </a:avLst>
          </a:prstGeom>
          <a:solidFill>
            <a:srgbClr val="D62828"/>
          </a:solidFill>
          <a:ln>
            <a:noFill/>
          </a:ln>
        </p:spPr>
      </p:sp>
      <p:sp>
        <p:nvSpPr>
          <p:cNvPr id="5083" name="D 5083"/>
          <p:cNvSpPr txBox="1"/>
          <p:nvPr/>
        </p:nvSpPr>
        <p:spPr>
          <a:xfrm>
            <a:off x="4581144" y="4281154"/>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조회 · 시각화</a:t>
            </a:r>
          </a:p>
          <a:p>
            <a:pPr algn="ctr"/>
            <a:r>
              <a:rPr lang="ko-KR" sz="800" dirty="0">
                <a:solidFill>
                  <a:srgbClr val="45515E"/>
                </a:solidFill>
                <a:latin typeface="에이투지체 5 Medium"/>
                <a:ea typeface="에이투지체 5 Medium"/>
                <a:cs typeface="에이투지체 5 Medium"/>
              </a:rPr>
              <a:t>결과 화면</a:t>
            </a:r>
          </a:p>
        </p:txBody>
      </p:sp>
      <p:sp>
        <p:nvSpPr>
          <p:cNvPr id="5084" name="D 5084"/>
          <p:cNvSpPr txBox="1"/>
          <p:nvPr/>
        </p:nvSpPr>
        <p:spPr>
          <a:xfrm>
            <a:off x="5998464" y="4281154"/>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기본 구조 · UI</a:t>
            </a:r>
          </a:p>
        </p:txBody>
      </p:sp>
      <p:sp>
        <p:nvSpPr>
          <p:cNvPr id="5085" name="D 5085"/>
          <p:cNvSpPr txBox="1"/>
          <p:nvPr/>
        </p:nvSpPr>
        <p:spPr>
          <a:xfrm>
            <a:off x="7360920" y="4281154"/>
            <a:ext cx="1417320" cy="317754"/>
          </a:xfrm>
          <a:prstGeom prst="rect">
            <a:avLst/>
          </a:prstGeom>
          <a:noFill/>
        </p:spPr>
        <p:txBody>
          <a:bodyPr wrap="square" lIns="0" tIns="0" rIns="0" bIns="0" rtlCol="0" anchor="ctr"/>
          <a:lstStyle/>
          <a:p>
            <a:pPr algn="ctr"/>
            <a:r>
              <a:rPr lang="ko-KR" sz="800" dirty="0">
                <a:solidFill>
                  <a:srgbClr val="C9CDD3"/>
                </a:solidFill>
                <a:latin typeface="에이투지체 5 Medium"/>
                <a:ea typeface="에이투지체 5 Medium"/>
                <a:cs typeface="에이투지체 5 Medium"/>
              </a:rPr>
              <a:t>–</a:t>
            </a:r>
          </a:p>
        </p:txBody>
      </p:sp>
      <p:sp>
        <p:nvSpPr>
          <p:cNvPr id="5086" name="D 5086"/>
          <p:cNvSpPr txBox="1"/>
          <p:nvPr/>
        </p:nvSpPr>
        <p:spPr>
          <a:xfrm>
            <a:off x="8833104" y="4281154"/>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화면 오류 · 기능 수정</a:t>
            </a:r>
          </a:p>
        </p:txBody>
      </p:sp>
      <p:sp>
        <p:nvSpPr>
          <p:cNvPr id="5087" name="D 5087"/>
          <p:cNvSpPr txBox="1"/>
          <p:nvPr/>
        </p:nvSpPr>
        <p:spPr>
          <a:xfrm>
            <a:off x="10195560" y="4281154"/>
            <a:ext cx="1538935" cy="317754"/>
          </a:xfrm>
          <a:prstGeom prst="rect">
            <a:avLst/>
          </a:prstGeom>
          <a:noFill/>
        </p:spPr>
        <p:txBody>
          <a:bodyPr wrap="square" lIns="0" tIns="0" rIns="0" bIns="0" rtlCol="0" anchor="ctr"/>
          <a:lstStyle/>
          <a:p>
            <a:pPr algn="ctr"/>
            <a:r>
              <a:rPr lang="ko-KR" sz="800" dirty="0">
                <a:solidFill>
                  <a:srgbClr val="C9CDD3"/>
                </a:solidFill>
                <a:latin typeface="에이투지체 5 Medium"/>
                <a:ea typeface="에이투지체 5 Medium"/>
                <a:cs typeface="에이투지체 5 Medium"/>
              </a:rPr>
              <a:t>–</a:t>
            </a:r>
          </a:p>
        </p:txBody>
      </p:sp>
      <p:sp>
        <p:nvSpPr>
          <p:cNvPr id="5088" name="D 5088"/>
          <p:cNvSpPr/>
          <p:nvPr/>
        </p:nvSpPr>
        <p:spPr>
          <a:xfrm>
            <a:off x="548640" y="4916662"/>
            <a:ext cx="11094415" cy="0"/>
          </a:xfrm>
          <a:prstGeom prst="line">
            <a:avLst/>
          </a:prstGeom>
          <a:ln w="9525">
            <a:solidFill>
              <a:srgbClr val="E5E7EB"/>
            </a:solidFill>
          </a:ln>
        </p:spPr>
      </p:sp>
      <p:sp>
        <p:nvSpPr>
          <p:cNvPr id="5089" name="D 5089"/>
          <p:cNvSpPr txBox="1"/>
          <p:nvPr/>
        </p:nvSpPr>
        <p:spPr>
          <a:xfrm>
            <a:off x="594360" y="4598908"/>
            <a:ext cx="1143000" cy="317754"/>
          </a:xfrm>
          <a:prstGeom prst="rect">
            <a:avLst/>
          </a:prstGeom>
          <a:noFill/>
        </p:spPr>
        <p:txBody>
          <a:bodyPr wrap="square" lIns="0" tIns="0" rIns="0" bIns="0" rtlCol="0" anchor="ctr"/>
          <a:lstStyle/>
          <a:p>
            <a:pPr algn="l"/>
            <a:r>
              <a:rPr lang="ko-KR" sz="1050" b="1" dirty="0">
                <a:solidFill>
                  <a:srgbClr val="222222"/>
                </a:solidFill>
                <a:latin typeface="에이투지체 5 Medium"/>
                <a:ea typeface="에이투지체 5 Medium"/>
                <a:cs typeface="에이투지체 5 Medium"/>
              </a:rPr>
              <a:t>API·모델 연동</a:t>
            </a:r>
          </a:p>
          <a:p>
            <a:pPr algn="l"/>
            <a:r>
              <a:rPr lang="ko-KR" sz="800" dirty="0">
                <a:solidFill>
                  <a:srgbClr val="8E8E93"/>
                </a:solidFill>
                <a:latin typeface="에이투지체 5 Medium"/>
                <a:ea typeface="에이투지체 5 Medium"/>
                <a:cs typeface="에이투지체 5 Medium"/>
              </a:rPr>
              <a:t>10/1–10/6</a:t>
            </a:r>
          </a:p>
        </p:txBody>
      </p:sp>
      <p:sp>
        <p:nvSpPr>
          <p:cNvPr id="5090" name="D 5090"/>
          <p:cNvSpPr/>
          <p:nvPr/>
        </p:nvSpPr>
        <p:spPr>
          <a:xfrm>
            <a:off x="3021584" y="4693777"/>
            <a:ext cx="835152" cy="128016"/>
          </a:xfrm>
          <a:prstGeom prst="roundRect">
            <a:avLst>
              <a:gd name="adj" fmla="val 50000"/>
            </a:avLst>
          </a:prstGeom>
          <a:solidFill>
            <a:srgbClr val="D62828"/>
          </a:solidFill>
          <a:ln>
            <a:noFill/>
          </a:ln>
        </p:spPr>
      </p:sp>
      <p:sp>
        <p:nvSpPr>
          <p:cNvPr id="5091" name="D 5091"/>
          <p:cNvSpPr txBox="1"/>
          <p:nvPr/>
        </p:nvSpPr>
        <p:spPr>
          <a:xfrm>
            <a:off x="4581144" y="4598908"/>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모델 – 웹 연동</a:t>
            </a:r>
          </a:p>
        </p:txBody>
      </p:sp>
      <p:sp>
        <p:nvSpPr>
          <p:cNvPr id="5092" name="D 5092"/>
          <p:cNvSpPr txBox="1"/>
          <p:nvPr/>
        </p:nvSpPr>
        <p:spPr>
          <a:xfrm>
            <a:off x="5998464" y="4598908"/>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데이터 – 웹 연동</a:t>
            </a:r>
          </a:p>
        </p:txBody>
      </p:sp>
      <p:sp>
        <p:nvSpPr>
          <p:cNvPr id="5093" name="D 5093"/>
          <p:cNvSpPr txBox="1"/>
          <p:nvPr/>
        </p:nvSpPr>
        <p:spPr>
          <a:xfrm>
            <a:off x="7415784" y="4598908"/>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API 데이터 연동</a:t>
            </a:r>
          </a:p>
        </p:txBody>
      </p:sp>
      <p:sp>
        <p:nvSpPr>
          <p:cNvPr id="5094" name="D 5094"/>
          <p:cNvSpPr txBox="1"/>
          <p:nvPr/>
        </p:nvSpPr>
        <p:spPr>
          <a:xfrm>
            <a:off x="8833104" y="4598908"/>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데이터 → 모델 → 웹</a:t>
            </a:r>
          </a:p>
          <a:p>
            <a:pPr algn="ctr"/>
            <a:r>
              <a:rPr lang="ko-KR" sz="800" dirty="0">
                <a:solidFill>
                  <a:srgbClr val="45515E"/>
                </a:solidFill>
                <a:latin typeface="에이투지체 5 Medium"/>
                <a:ea typeface="에이투지체 5 Medium"/>
                <a:cs typeface="에이투지체 5 Medium"/>
              </a:rPr>
              <a:t>흐름 연결</a:t>
            </a:r>
          </a:p>
        </p:txBody>
      </p:sp>
      <p:sp>
        <p:nvSpPr>
          <p:cNvPr id="5095" name="D 5095"/>
          <p:cNvSpPr txBox="1"/>
          <p:nvPr/>
        </p:nvSpPr>
        <p:spPr>
          <a:xfrm>
            <a:off x="10195560" y="4598908"/>
            <a:ext cx="1538935" cy="317754"/>
          </a:xfrm>
          <a:prstGeom prst="rect">
            <a:avLst/>
          </a:prstGeom>
          <a:noFill/>
        </p:spPr>
        <p:txBody>
          <a:bodyPr wrap="square" lIns="0" tIns="0" rIns="0" bIns="0" rtlCol="0" anchor="ctr"/>
          <a:lstStyle/>
          <a:p>
            <a:pPr algn="ctr"/>
            <a:r>
              <a:rPr lang="ko-KR" sz="800" dirty="0">
                <a:solidFill>
                  <a:srgbClr val="C9CDD3"/>
                </a:solidFill>
                <a:latin typeface="에이투지체 5 Medium"/>
                <a:ea typeface="에이투지체 5 Medium"/>
                <a:cs typeface="에이투지체 5 Medium"/>
              </a:rPr>
              <a:t>–</a:t>
            </a:r>
          </a:p>
        </p:txBody>
      </p:sp>
      <p:sp>
        <p:nvSpPr>
          <p:cNvPr id="5096" name="D 5096"/>
          <p:cNvSpPr/>
          <p:nvPr/>
        </p:nvSpPr>
        <p:spPr>
          <a:xfrm>
            <a:off x="457200" y="4916662"/>
            <a:ext cx="11277295" cy="317754"/>
          </a:xfrm>
          <a:prstGeom prst="rect">
            <a:avLst/>
          </a:prstGeom>
          <a:noFill/>
          <a:ln>
            <a:noFill/>
          </a:ln>
        </p:spPr>
      </p:sp>
      <p:sp>
        <p:nvSpPr>
          <p:cNvPr id="5097" name="D 5097"/>
          <p:cNvSpPr/>
          <p:nvPr/>
        </p:nvSpPr>
        <p:spPr>
          <a:xfrm>
            <a:off x="548640" y="5234416"/>
            <a:ext cx="11094415" cy="0"/>
          </a:xfrm>
          <a:prstGeom prst="line">
            <a:avLst/>
          </a:prstGeom>
          <a:ln w="9525">
            <a:solidFill>
              <a:srgbClr val="E5E7EB"/>
            </a:solidFill>
          </a:ln>
        </p:spPr>
      </p:sp>
      <p:sp>
        <p:nvSpPr>
          <p:cNvPr id="5098" name="D 5098"/>
          <p:cNvSpPr txBox="1"/>
          <p:nvPr/>
        </p:nvSpPr>
        <p:spPr>
          <a:xfrm>
            <a:off x="594360" y="4916662"/>
            <a:ext cx="1143000" cy="317754"/>
          </a:xfrm>
          <a:prstGeom prst="rect">
            <a:avLst/>
          </a:prstGeom>
          <a:noFill/>
        </p:spPr>
        <p:txBody>
          <a:bodyPr wrap="square" lIns="0" tIns="0" rIns="0" bIns="0" rtlCol="0" anchor="ctr"/>
          <a:lstStyle/>
          <a:p>
            <a:pPr algn="l"/>
            <a:r>
              <a:rPr lang="ko-KR" sz="1050" b="1" dirty="0">
                <a:solidFill>
                  <a:srgbClr val="222222"/>
                </a:solidFill>
                <a:latin typeface="에이투지체 5 Medium"/>
                <a:ea typeface="에이투지체 5 Medium"/>
                <a:cs typeface="에이투지체 5 Medium"/>
              </a:rPr>
              <a:t>통합 · 테스트</a:t>
            </a:r>
          </a:p>
          <a:p>
            <a:pPr algn="l"/>
            <a:r>
              <a:rPr lang="ko-KR" sz="800" dirty="0">
                <a:solidFill>
                  <a:srgbClr val="8E8E93"/>
                </a:solidFill>
                <a:latin typeface="에이투지체 5 Medium"/>
                <a:ea typeface="에이투지체 5 Medium"/>
                <a:cs typeface="에이투지체 5 Medium"/>
              </a:rPr>
              <a:t>10/4–10/8</a:t>
            </a:r>
          </a:p>
        </p:txBody>
      </p:sp>
      <p:sp>
        <p:nvSpPr>
          <p:cNvPr id="5099" name="D 5099"/>
          <p:cNvSpPr/>
          <p:nvPr/>
        </p:nvSpPr>
        <p:spPr>
          <a:xfrm>
            <a:off x="3448304" y="5011531"/>
            <a:ext cx="692912" cy="128016"/>
          </a:xfrm>
          <a:prstGeom prst="roundRect">
            <a:avLst>
              <a:gd name="adj" fmla="val 50000"/>
            </a:avLst>
          </a:prstGeom>
          <a:solidFill>
            <a:srgbClr val="D62828"/>
          </a:solidFill>
          <a:ln>
            <a:noFill/>
          </a:ln>
        </p:spPr>
      </p:sp>
      <p:sp>
        <p:nvSpPr>
          <p:cNvPr id="5100" name="D 5100"/>
          <p:cNvSpPr txBox="1"/>
          <p:nvPr/>
        </p:nvSpPr>
        <p:spPr>
          <a:xfrm>
            <a:off x="4581144" y="4916662"/>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웹 기능 테스트</a:t>
            </a:r>
          </a:p>
        </p:txBody>
      </p:sp>
      <p:sp>
        <p:nvSpPr>
          <p:cNvPr id="5101" name="D 5101"/>
          <p:cNvSpPr txBox="1"/>
          <p:nvPr/>
        </p:nvSpPr>
        <p:spPr>
          <a:xfrm>
            <a:off x="5998464" y="4916662"/>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예측 결과 검증</a:t>
            </a:r>
          </a:p>
        </p:txBody>
      </p:sp>
      <p:sp>
        <p:nvSpPr>
          <p:cNvPr id="5102" name="D 5102"/>
          <p:cNvSpPr txBox="1"/>
          <p:nvPr/>
        </p:nvSpPr>
        <p:spPr>
          <a:xfrm>
            <a:off x="7415784" y="4916662"/>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API · 모델</a:t>
            </a:r>
          </a:p>
          <a:p>
            <a:pPr algn="ctr"/>
            <a:r>
              <a:rPr lang="ko-KR" sz="800" dirty="0">
                <a:solidFill>
                  <a:srgbClr val="45515E"/>
                </a:solidFill>
                <a:latin typeface="에이투지체 5 Medium"/>
                <a:ea typeface="에이투지체 5 Medium"/>
                <a:cs typeface="에이투지체 5 Medium"/>
              </a:rPr>
              <a:t>연동 테스트</a:t>
            </a:r>
          </a:p>
        </p:txBody>
      </p:sp>
      <p:sp>
        <p:nvSpPr>
          <p:cNvPr id="5103" name="D 5103"/>
          <p:cNvSpPr txBox="1"/>
          <p:nvPr/>
        </p:nvSpPr>
        <p:spPr>
          <a:xfrm>
            <a:off x="8833104" y="4916662"/>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오류 수정</a:t>
            </a:r>
          </a:p>
          <a:p>
            <a:pPr algn="ctr"/>
            <a:r>
              <a:rPr lang="ko-KR" sz="800" dirty="0">
                <a:solidFill>
                  <a:srgbClr val="45515E"/>
                </a:solidFill>
                <a:latin typeface="에이투지체 5 Medium"/>
                <a:ea typeface="에이투지체 5 Medium"/>
                <a:cs typeface="에이투지체 5 Medium"/>
              </a:rPr>
              <a:t>성능 최종 확인</a:t>
            </a:r>
          </a:p>
        </p:txBody>
      </p:sp>
      <p:sp>
        <p:nvSpPr>
          <p:cNvPr id="5104" name="D 5104"/>
          <p:cNvSpPr txBox="1"/>
          <p:nvPr/>
        </p:nvSpPr>
        <p:spPr>
          <a:xfrm>
            <a:off x="10195560" y="4916662"/>
            <a:ext cx="1538935" cy="317754"/>
          </a:xfrm>
          <a:prstGeom prst="rect">
            <a:avLst/>
          </a:prstGeom>
          <a:noFill/>
        </p:spPr>
        <p:txBody>
          <a:bodyPr wrap="square" lIns="0" tIns="0" rIns="0" bIns="0" rtlCol="0" anchor="ctr"/>
          <a:lstStyle/>
          <a:p>
            <a:pPr algn="ctr"/>
            <a:r>
              <a:rPr lang="ko-KR" sz="800" dirty="0">
                <a:solidFill>
                  <a:srgbClr val="C9CDD3"/>
                </a:solidFill>
                <a:latin typeface="에이투지체 5 Medium"/>
                <a:ea typeface="에이투지체 5 Medium"/>
                <a:cs typeface="에이투지체 5 Medium"/>
              </a:rPr>
              <a:t>–</a:t>
            </a:r>
          </a:p>
        </p:txBody>
      </p:sp>
      <p:sp>
        <p:nvSpPr>
          <p:cNvPr id="5105" name="D 5105"/>
          <p:cNvSpPr/>
          <p:nvPr/>
        </p:nvSpPr>
        <p:spPr>
          <a:xfrm>
            <a:off x="548640" y="5552170"/>
            <a:ext cx="11094415" cy="0"/>
          </a:xfrm>
          <a:prstGeom prst="line">
            <a:avLst/>
          </a:prstGeom>
          <a:ln w="9525">
            <a:solidFill>
              <a:srgbClr val="E5E7EB"/>
            </a:solidFill>
          </a:ln>
        </p:spPr>
      </p:sp>
      <p:sp>
        <p:nvSpPr>
          <p:cNvPr id="5106" name="D 5106"/>
          <p:cNvSpPr txBox="1"/>
          <p:nvPr/>
        </p:nvSpPr>
        <p:spPr>
          <a:xfrm>
            <a:off x="594360" y="5234416"/>
            <a:ext cx="1143000" cy="317754"/>
          </a:xfrm>
          <a:prstGeom prst="rect">
            <a:avLst/>
          </a:prstGeom>
          <a:noFill/>
        </p:spPr>
        <p:txBody>
          <a:bodyPr wrap="square" lIns="0" tIns="0" rIns="0" bIns="0" rtlCol="0" anchor="ctr"/>
          <a:lstStyle/>
          <a:p>
            <a:pPr algn="l"/>
            <a:r>
              <a:rPr lang="ko-KR" sz="1050" b="1" dirty="0">
                <a:solidFill>
                  <a:srgbClr val="222222"/>
                </a:solidFill>
                <a:latin typeface="에이투지체 5 Medium"/>
                <a:ea typeface="에이투지체 5 Medium"/>
                <a:cs typeface="에이투지체 5 Medium"/>
              </a:rPr>
              <a:t>최종 결과</a:t>
            </a:r>
          </a:p>
          <a:p>
            <a:pPr algn="l"/>
            <a:r>
              <a:rPr lang="ko-KR" sz="800" dirty="0">
                <a:solidFill>
                  <a:srgbClr val="8E8E93"/>
                </a:solidFill>
                <a:latin typeface="에이투지체 5 Medium"/>
                <a:ea typeface="에이투지체 5 Medium"/>
                <a:cs typeface="에이투지체 5 Medium"/>
              </a:rPr>
              <a:t>10/7–10/9</a:t>
            </a:r>
          </a:p>
        </p:txBody>
      </p:sp>
      <p:sp>
        <p:nvSpPr>
          <p:cNvPr id="5107" name="D 5107"/>
          <p:cNvSpPr/>
          <p:nvPr/>
        </p:nvSpPr>
        <p:spPr>
          <a:xfrm>
            <a:off x="3875024" y="5329285"/>
            <a:ext cx="408432" cy="128016"/>
          </a:xfrm>
          <a:prstGeom prst="roundRect">
            <a:avLst>
              <a:gd name="adj" fmla="val 50000"/>
            </a:avLst>
          </a:prstGeom>
          <a:solidFill>
            <a:srgbClr val="D62828"/>
          </a:solidFill>
          <a:ln>
            <a:noFill/>
          </a:ln>
        </p:spPr>
      </p:sp>
      <p:sp>
        <p:nvSpPr>
          <p:cNvPr id="5108" name="D 5108"/>
          <p:cNvSpPr txBox="1"/>
          <p:nvPr/>
        </p:nvSpPr>
        <p:spPr>
          <a:xfrm>
            <a:off x="4581144" y="5234416"/>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웹 구현 결과 정리</a:t>
            </a:r>
          </a:p>
        </p:txBody>
      </p:sp>
      <p:sp>
        <p:nvSpPr>
          <p:cNvPr id="5109" name="D 5109"/>
          <p:cNvSpPr txBox="1"/>
          <p:nvPr/>
        </p:nvSpPr>
        <p:spPr>
          <a:xfrm>
            <a:off x="5998464" y="5234416"/>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출처 · 사용 기술 정리</a:t>
            </a:r>
          </a:p>
        </p:txBody>
      </p:sp>
      <p:sp>
        <p:nvSpPr>
          <p:cNvPr id="5110" name="D 5110"/>
          <p:cNvSpPr txBox="1"/>
          <p:nvPr/>
        </p:nvSpPr>
        <p:spPr>
          <a:xfrm>
            <a:off x="7415784" y="5234416"/>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전체 · EDA ·</a:t>
            </a:r>
          </a:p>
          <a:p>
            <a:pPr algn="ctr"/>
            <a:r>
              <a:rPr lang="ko-KR" sz="800" dirty="0">
                <a:solidFill>
                  <a:srgbClr val="45515E"/>
                </a:solidFill>
                <a:latin typeface="에이투지체 5 Medium"/>
                <a:ea typeface="에이투지체 5 Medium"/>
                <a:cs typeface="에이투지체 5 Medium"/>
              </a:rPr>
              <a:t>모델링 결과 정리</a:t>
            </a:r>
          </a:p>
        </p:txBody>
      </p:sp>
      <p:sp>
        <p:nvSpPr>
          <p:cNvPr id="5111" name="D 5111"/>
          <p:cNvSpPr txBox="1"/>
          <p:nvPr/>
        </p:nvSpPr>
        <p:spPr>
          <a:xfrm>
            <a:off x="8833104" y="5234416"/>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웹 · 모델 · 데이터</a:t>
            </a:r>
          </a:p>
          <a:p>
            <a:pPr algn="ctr"/>
            <a:r>
              <a:rPr lang="ko-KR" sz="800" dirty="0">
                <a:solidFill>
                  <a:srgbClr val="45515E"/>
                </a:solidFill>
                <a:latin typeface="에이투지체 5 Medium"/>
                <a:ea typeface="에이투지체 5 Medium"/>
                <a:cs typeface="에이투지체 5 Medium"/>
              </a:rPr>
              <a:t>최종 통합</a:t>
            </a:r>
          </a:p>
        </p:txBody>
      </p:sp>
      <p:sp>
        <p:nvSpPr>
          <p:cNvPr id="5112" name="D 5112"/>
          <p:cNvSpPr txBox="1"/>
          <p:nvPr/>
        </p:nvSpPr>
        <p:spPr>
          <a:xfrm>
            <a:off x="10250424" y="5234416"/>
            <a:ext cx="1429207" cy="317754"/>
          </a:xfrm>
          <a:prstGeom prst="rect">
            <a:avLst/>
          </a:prstGeom>
          <a:noFill/>
        </p:spPr>
        <p:txBody>
          <a:bodyPr wrap="square" lIns="0" tIns="0" rIns="0" bIns="0" rtlCol="0" anchor="ctr"/>
          <a:lstStyle/>
          <a:p>
            <a:pPr algn="ctr"/>
            <a:r>
              <a:rPr lang="ko-KR" sz="800" b="1" dirty="0">
                <a:solidFill>
                  <a:srgbClr val="8A1414"/>
                </a:solidFill>
                <a:latin typeface="에이투지체 5 Medium"/>
                <a:ea typeface="에이투지체 5 Medium"/>
                <a:cs typeface="에이투지체 5 Medium"/>
              </a:rPr>
              <a:t>최종 모델 선정</a:t>
            </a:r>
          </a:p>
          <a:p>
            <a:pPr algn="ctr"/>
            <a:r>
              <a:rPr lang="ko-KR" sz="800" b="1" dirty="0">
                <a:solidFill>
                  <a:srgbClr val="8A1414"/>
                </a:solidFill>
                <a:latin typeface="에이투지체 5 Medium"/>
                <a:ea typeface="에이투지체 5 Medium"/>
                <a:cs typeface="에이투지체 5 Medium"/>
              </a:rPr>
              <a:t>결과 검수</a:t>
            </a:r>
          </a:p>
        </p:txBody>
      </p:sp>
      <p:sp>
        <p:nvSpPr>
          <p:cNvPr id="5113" name="D 5113"/>
          <p:cNvSpPr/>
          <p:nvPr/>
        </p:nvSpPr>
        <p:spPr>
          <a:xfrm>
            <a:off x="457200" y="5552170"/>
            <a:ext cx="11277295" cy="317754"/>
          </a:xfrm>
          <a:prstGeom prst="rect">
            <a:avLst/>
          </a:prstGeom>
          <a:noFill/>
          <a:ln>
            <a:noFill/>
          </a:ln>
        </p:spPr>
      </p:sp>
      <p:sp>
        <p:nvSpPr>
          <p:cNvPr id="5114" name="D 5114"/>
          <p:cNvSpPr/>
          <p:nvPr/>
        </p:nvSpPr>
        <p:spPr>
          <a:xfrm>
            <a:off x="548640" y="5869924"/>
            <a:ext cx="11094415" cy="0"/>
          </a:xfrm>
          <a:prstGeom prst="line">
            <a:avLst/>
          </a:prstGeom>
          <a:ln w="9525">
            <a:solidFill>
              <a:srgbClr val="E5E7EB"/>
            </a:solidFill>
          </a:ln>
        </p:spPr>
      </p:sp>
      <p:sp>
        <p:nvSpPr>
          <p:cNvPr id="5115" name="D 5115"/>
          <p:cNvSpPr txBox="1"/>
          <p:nvPr/>
        </p:nvSpPr>
        <p:spPr>
          <a:xfrm>
            <a:off x="594360" y="5552170"/>
            <a:ext cx="1143000" cy="317754"/>
          </a:xfrm>
          <a:prstGeom prst="rect">
            <a:avLst/>
          </a:prstGeom>
          <a:noFill/>
        </p:spPr>
        <p:txBody>
          <a:bodyPr wrap="square" lIns="0" tIns="0" rIns="0" bIns="0" rtlCol="0" anchor="ctr"/>
          <a:lstStyle/>
          <a:p>
            <a:pPr algn="l"/>
            <a:r>
              <a:rPr lang="ko-KR" sz="1050" b="1" dirty="0">
                <a:solidFill>
                  <a:srgbClr val="222222"/>
                </a:solidFill>
                <a:latin typeface="에이투지체 5 Medium"/>
                <a:ea typeface="에이투지체 5 Medium"/>
                <a:cs typeface="에이투지체 5 Medium"/>
              </a:rPr>
              <a:t>PPT · 발표</a:t>
            </a:r>
          </a:p>
          <a:p>
            <a:pPr algn="l"/>
            <a:r>
              <a:rPr lang="ko-KR" sz="800" dirty="0">
                <a:solidFill>
                  <a:srgbClr val="8E8E93"/>
                </a:solidFill>
                <a:latin typeface="에이투지체 5 Medium"/>
                <a:ea typeface="에이투지체 5 Medium"/>
                <a:cs typeface="에이투지체 5 Medium"/>
              </a:rPr>
              <a:t>10/2–10/10</a:t>
            </a:r>
          </a:p>
        </p:txBody>
      </p:sp>
      <p:sp>
        <p:nvSpPr>
          <p:cNvPr id="5116" name="D 5116"/>
          <p:cNvSpPr/>
          <p:nvPr/>
        </p:nvSpPr>
        <p:spPr>
          <a:xfrm>
            <a:off x="3163824" y="5647039"/>
            <a:ext cx="1261872" cy="128016"/>
          </a:xfrm>
          <a:prstGeom prst="roundRect">
            <a:avLst>
              <a:gd name="adj" fmla="val 50000"/>
            </a:avLst>
          </a:prstGeom>
          <a:solidFill>
            <a:srgbClr val="D62828"/>
          </a:solidFill>
          <a:ln>
            <a:noFill/>
          </a:ln>
        </p:spPr>
      </p:sp>
      <p:sp>
        <p:nvSpPr>
          <p:cNvPr id="5117" name="D 5117"/>
          <p:cNvSpPr txBox="1"/>
          <p:nvPr/>
        </p:nvSpPr>
        <p:spPr>
          <a:xfrm>
            <a:off x="4581144" y="5552170"/>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그래프 · 웹 화면 정리</a:t>
            </a:r>
          </a:p>
        </p:txBody>
      </p:sp>
      <p:sp>
        <p:nvSpPr>
          <p:cNvPr id="5118" name="D 5118"/>
          <p:cNvSpPr txBox="1"/>
          <p:nvPr/>
        </p:nvSpPr>
        <p:spPr>
          <a:xfrm>
            <a:off x="5998464" y="5552170"/>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내용 · 결과 작성</a:t>
            </a:r>
          </a:p>
        </p:txBody>
      </p:sp>
      <p:sp>
        <p:nvSpPr>
          <p:cNvPr id="5119" name="D 5119"/>
          <p:cNvSpPr txBox="1"/>
          <p:nvPr/>
        </p:nvSpPr>
        <p:spPr>
          <a:xfrm>
            <a:off x="7415784" y="5552170"/>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PPT 초안 · 디자인</a:t>
            </a:r>
          </a:p>
          <a:p>
            <a:pPr algn="ctr"/>
            <a:r>
              <a:rPr lang="ko-KR" sz="800" dirty="0">
                <a:solidFill>
                  <a:srgbClr val="45515E"/>
                </a:solidFill>
                <a:latin typeface="에이투지체 5 Medium"/>
                <a:ea typeface="에이투지체 5 Medium"/>
                <a:cs typeface="에이투지체 5 Medium"/>
              </a:rPr>
              <a:t>발표 대본</a:t>
            </a:r>
          </a:p>
        </p:txBody>
      </p:sp>
      <p:sp>
        <p:nvSpPr>
          <p:cNvPr id="5120" name="D 5120"/>
          <p:cNvSpPr txBox="1"/>
          <p:nvPr/>
        </p:nvSpPr>
        <p:spPr>
          <a:xfrm>
            <a:off x="8833104" y="5552170"/>
            <a:ext cx="1307592" cy="317754"/>
          </a:xfrm>
          <a:prstGeom prst="rect">
            <a:avLst/>
          </a:prstGeom>
          <a:noFill/>
        </p:spPr>
        <p:txBody>
          <a:bodyPr wrap="square" lIns="0" tIns="0" rIns="0" bIns="0" rtlCol="0" anchor="ctr"/>
          <a:lstStyle/>
          <a:p>
            <a:pPr algn="ctr"/>
            <a:r>
              <a:rPr lang="ko-KR" sz="800" dirty="0">
                <a:solidFill>
                  <a:srgbClr val="45515E"/>
                </a:solidFill>
                <a:latin typeface="에이투지체 5 Medium"/>
                <a:ea typeface="에이투지체 5 Medium"/>
                <a:cs typeface="에이투지체 5 Medium"/>
              </a:rPr>
              <a:t>파일 · 코드</a:t>
            </a:r>
          </a:p>
          <a:p>
            <a:pPr algn="ctr"/>
            <a:r>
              <a:rPr lang="ko-KR" sz="800" dirty="0">
                <a:solidFill>
                  <a:srgbClr val="45515E"/>
                </a:solidFill>
                <a:latin typeface="에이투지체 5 Medium"/>
                <a:ea typeface="에이투지체 5 Medium"/>
                <a:cs typeface="에이투지체 5 Medium"/>
              </a:rPr>
              <a:t>제출본 정리</a:t>
            </a:r>
          </a:p>
        </p:txBody>
      </p:sp>
      <p:sp>
        <p:nvSpPr>
          <p:cNvPr id="5121" name="D 5121"/>
          <p:cNvSpPr txBox="1"/>
          <p:nvPr/>
        </p:nvSpPr>
        <p:spPr>
          <a:xfrm>
            <a:off x="10250424" y="5552170"/>
            <a:ext cx="1429207" cy="317754"/>
          </a:xfrm>
          <a:prstGeom prst="rect">
            <a:avLst/>
          </a:prstGeom>
          <a:noFill/>
        </p:spPr>
        <p:txBody>
          <a:bodyPr wrap="square" lIns="0" tIns="0" rIns="0" bIns="0" rtlCol="0" anchor="ctr"/>
          <a:lstStyle/>
          <a:p>
            <a:pPr algn="ctr"/>
            <a:r>
              <a:rPr lang="ko-KR" sz="800" b="1" dirty="0">
                <a:solidFill>
                  <a:srgbClr val="8A1414"/>
                </a:solidFill>
                <a:latin typeface="에이투지체 5 Medium"/>
                <a:ea typeface="에이투지체 5 Medium"/>
                <a:cs typeface="에이투지체 5 Medium"/>
              </a:rPr>
              <a:t>발표 연습 · 리허설</a:t>
            </a:r>
          </a:p>
          <a:p>
            <a:pPr algn="ctr"/>
            <a:r>
              <a:rPr lang="ko-KR" sz="800" b="1" dirty="0">
                <a:solidFill>
                  <a:srgbClr val="8A1414"/>
                </a:solidFill>
                <a:latin typeface="에이투지체 5 Medium"/>
                <a:ea typeface="에이투지체 5 Medium"/>
                <a:cs typeface="에이투지체 5 Medium"/>
              </a:rPr>
              <a:t>최종 발표</a:t>
            </a:r>
          </a:p>
        </p:txBody>
      </p:sp>
      <p:sp>
        <p:nvSpPr>
          <p:cNvPr id="5122" name="D 5122"/>
          <p:cNvSpPr/>
          <p:nvPr/>
        </p:nvSpPr>
        <p:spPr>
          <a:xfrm>
            <a:off x="1783080" y="1745980"/>
            <a:ext cx="0" cy="4050792"/>
          </a:xfrm>
          <a:prstGeom prst="line">
            <a:avLst/>
          </a:prstGeom>
          <a:ln w="9525">
            <a:solidFill>
              <a:srgbClr val="E5E7EB"/>
            </a:solidFill>
          </a:ln>
        </p:spPr>
      </p:sp>
      <p:sp>
        <p:nvSpPr>
          <p:cNvPr id="5123" name="D 5123"/>
          <p:cNvSpPr/>
          <p:nvPr/>
        </p:nvSpPr>
        <p:spPr>
          <a:xfrm>
            <a:off x="4526280" y="1745980"/>
            <a:ext cx="0" cy="4050792"/>
          </a:xfrm>
          <a:prstGeom prst="line">
            <a:avLst/>
          </a:prstGeom>
          <a:ln w="9525">
            <a:solidFill>
              <a:srgbClr val="E5E7EB"/>
            </a:solidFill>
          </a:ln>
        </p:spPr>
      </p:sp>
      <p:sp>
        <p:nvSpPr>
          <p:cNvPr id="5124" name="D 5124"/>
          <p:cNvSpPr/>
          <p:nvPr/>
        </p:nvSpPr>
        <p:spPr>
          <a:xfrm>
            <a:off x="5943600" y="1745980"/>
            <a:ext cx="0" cy="4050792"/>
          </a:xfrm>
          <a:prstGeom prst="line">
            <a:avLst/>
          </a:prstGeom>
          <a:ln w="9525">
            <a:solidFill>
              <a:srgbClr val="E5E7EB"/>
            </a:solidFill>
          </a:ln>
        </p:spPr>
      </p:sp>
      <p:sp>
        <p:nvSpPr>
          <p:cNvPr id="5125" name="D 5125"/>
          <p:cNvSpPr/>
          <p:nvPr/>
        </p:nvSpPr>
        <p:spPr>
          <a:xfrm>
            <a:off x="7360920" y="1745980"/>
            <a:ext cx="0" cy="4050792"/>
          </a:xfrm>
          <a:prstGeom prst="line">
            <a:avLst/>
          </a:prstGeom>
          <a:ln w="9525">
            <a:solidFill>
              <a:srgbClr val="E5E7EB"/>
            </a:solidFill>
          </a:ln>
        </p:spPr>
      </p:sp>
      <p:sp>
        <p:nvSpPr>
          <p:cNvPr id="5126" name="D 5126"/>
          <p:cNvSpPr/>
          <p:nvPr/>
        </p:nvSpPr>
        <p:spPr>
          <a:xfrm>
            <a:off x="8778240" y="1745980"/>
            <a:ext cx="0" cy="4050792"/>
          </a:xfrm>
          <a:prstGeom prst="line">
            <a:avLst/>
          </a:prstGeom>
          <a:ln w="9525">
            <a:solidFill>
              <a:srgbClr val="E5E7EB"/>
            </a:solidFill>
          </a:ln>
        </p:spPr>
      </p:sp>
      <p:sp>
        <p:nvSpPr>
          <p:cNvPr id="5127" name="D 5127"/>
          <p:cNvSpPr/>
          <p:nvPr/>
        </p:nvSpPr>
        <p:spPr>
          <a:xfrm>
            <a:off x="10195560" y="1745980"/>
            <a:ext cx="0" cy="4050792"/>
          </a:xfrm>
          <a:prstGeom prst="line">
            <a:avLst/>
          </a:prstGeom>
          <a:ln w="9525">
            <a:solidFill>
              <a:srgbClr val="E5E7EB"/>
            </a:solidFill>
          </a:ln>
        </p:spPr>
      </p:sp>
    </p:spTree>
    <p:extLst>
      <p:ext uri="{BB962C8B-B14F-4D97-AF65-F5344CB8AC3E}">
        <p14:creationId xmlns:p14="http://schemas.microsoft.com/office/powerpoint/2010/main" val="36546749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81E25"/>
        </a:solidFill>
        <a:effectLst/>
      </p:bgPr>
    </p:bg>
    <p:spTree>
      <p:nvGrpSpPr>
        <p:cNvPr id="1" name=""/>
        <p:cNvGrpSpPr/>
        <p:nvPr/>
      </p:nvGrpSpPr>
      <p:grpSpPr>
        <a:xfrm>
          <a:off x="0" y="0"/>
          <a:ext cx="0" cy="0"/>
          <a:chOff x="0" y="0"/>
          <a:chExt cx="0" cy="0"/>
        </a:xfrm>
      </p:grpSpPr>
      <p:sp>
        <p:nvSpPr>
          <p:cNvPr id="2" name="Text 0"/>
          <p:cNvSpPr txBox="1"/>
          <p:nvPr/>
        </p:nvSpPr>
        <p:spPr>
          <a:xfrm>
            <a:off x="822960" y="1965960"/>
            <a:ext cx="3657600" cy="365760"/>
          </a:xfrm>
          <a:prstGeom prst="rect">
            <a:avLst/>
          </a:prstGeom>
          <a:noFill/>
          <a:ln/>
        </p:spPr>
        <p:txBody>
          <a:bodyPr wrap="square" lIns="0" tIns="0" rIns="0" bIns="0" rtlCol="0" anchor="ctr"/>
          <a:lstStyle/>
          <a:p>
            <a:pPr marL="0" indent="0">
              <a:buNone/>
            </a:pPr>
            <a:r>
              <a:rPr lang="en-US" sz="1400" dirty="0">
                <a:solidFill>
                  <a:srgbClr val="FFFFFF">
                    <a:alpha val="60000"/>
                  </a:srgbClr>
                </a:solidFill>
                <a:latin typeface="에이투지체 5 Medium"/>
                <a:ea typeface="에이투지체 5 Medium"/>
                <a:cs typeface="에이투지체 5 Medium"/>
              </a:rPr>
              <a:t>01</a:t>
            </a:r>
            <a:endParaRPr lang="en-US" sz="1400" dirty="0"/>
          </a:p>
        </p:txBody>
      </p:sp>
      <p:sp>
        <p:nvSpPr>
          <p:cNvPr id="3" name="Text 1"/>
          <p:cNvSpPr txBox="1"/>
          <p:nvPr/>
        </p:nvSpPr>
        <p:spPr>
          <a:xfrm>
            <a:off x="822960" y="2377440"/>
            <a:ext cx="10515600" cy="868680"/>
          </a:xfrm>
          <a:prstGeom prst="rect">
            <a:avLst/>
          </a:prstGeom>
          <a:noFill/>
          <a:ln/>
        </p:spPr>
        <p:txBody>
          <a:bodyPr wrap="square" lIns="0" tIns="0" rIns="0" bIns="0" rtlCol="0" anchor="ctr"/>
          <a:lstStyle/>
          <a:p>
            <a:pPr marL="0" indent="0">
              <a:buNone/>
            </a:pPr>
            <a:r>
              <a:rPr lang="en-US" sz="5600" b="1" dirty="0">
                <a:solidFill>
                  <a:srgbClr val="FFFFFF"/>
                </a:solidFill>
                <a:latin typeface="에이투지체 5 Medium"/>
                <a:ea typeface="에이투지체 5 Medium"/>
                <a:cs typeface="에이투지체 5 Medium"/>
              </a:rPr>
              <a:t>데이터 수집</a:t>
            </a:r>
            <a:endParaRPr lang="en-US" sz="5600" dirty="0"/>
          </a:p>
        </p:txBody>
      </p:sp>
      <p:sp>
        <p:nvSpPr>
          <p:cNvPr id="4" name="Text 2"/>
          <p:cNvSpPr txBox="1"/>
          <p:nvPr/>
        </p:nvSpPr>
        <p:spPr>
          <a:xfrm>
            <a:off x="822960" y="3383280"/>
            <a:ext cx="10515600" cy="457200"/>
          </a:xfrm>
          <a:prstGeom prst="rect">
            <a:avLst/>
          </a:prstGeom>
          <a:noFill/>
          <a:ln/>
        </p:spPr>
        <p:txBody>
          <a:bodyPr wrap="square" lIns="0" tIns="0" rIns="0" bIns="0" rtlCol="0" anchor="ctr"/>
          <a:lstStyle/>
          <a:p>
            <a:pPr marL="0" indent="0">
              <a:buNone/>
            </a:pPr>
            <a:r>
              <a:rPr lang="en-US" sz="2200" dirty="0">
                <a:solidFill>
                  <a:srgbClr val="FFFFFF">
                    <a:alpha val="70000"/>
                  </a:srgbClr>
                </a:solidFill>
                <a:latin typeface="에이투지체 5 Medium"/>
                <a:ea typeface="에이투지체 5 Medium"/>
                <a:cs typeface="에이투지체 5 Medium"/>
              </a:rPr>
              <a:t>수집 자료 구성과 학습 제외 기준, 공공 API 수집 방식</a:t>
            </a:r>
            <a:endParaRPr lang="en-US" sz="2200" dirty="0"/>
          </a:p>
        </p:txBody>
      </p:sp>
      <p:sp>
        <p:nvSpPr>
          <p:cNvPr id="5" name="Shape 3"/>
          <p:cNvSpPr/>
          <p:nvPr/>
        </p:nvSpPr>
        <p:spPr>
          <a:xfrm>
            <a:off x="822960" y="4434840"/>
            <a:ext cx="3393338" cy="0"/>
          </a:xfrm>
          <a:prstGeom prst="line">
            <a:avLst/>
          </a:prstGeom>
          <a:noFill/>
          <a:ln w="25400">
            <a:solidFill>
              <a:srgbClr val="D62828"/>
            </a:solidFill>
            <a:prstDash val="solid"/>
          </a:ln>
        </p:spPr>
        <p:txBody>
          <a:bodyPr/>
          <a:lstStyle/>
          <a:p>
            <a:endParaRPr/>
          </a:p>
        </p:txBody>
      </p:sp>
      <p:sp>
        <p:nvSpPr>
          <p:cNvPr id="6" name="Text 4"/>
          <p:cNvSpPr txBox="1"/>
          <p:nvPr/>
        </p:nvSpPr>
        <p:spPr>
          <a:xfrm>
            <a:off x="822960" y="4572000"/>
            <a:ext cx="3393338" cy="274320"/>
          </a:xfrm>
          <a:prstGeom prst="rect">
            <a:avLst/>
          </a:prstGeom>
          <a:noFill/>
          <a:ln/>
        </p:spPr>
        <p:txBody>
          <a:bodyPr wrap="square" lIns="0" tIns="0" rIns="0" bIns="0" rtlCol="0" anchor="ctr"/>
          <a:lstStyle/>
          <a:p>
            <a:pPr marL="0" indent="0">
              <a:buNone/>
            </a:pPr>
            <a:r>
              <a:rPr lang="en-US" sz="1200" b="1" dirty="0">
                <a:solidFill>
                  <a:srgbClr val="E87A7A"/>
                </a:solidFill>
                <a:latin typeface="에이투지체 5 Medium"/>
                <a:ea typeface="에이투지체 5 Medium"/>
                <a:cs typeface="에이투지체 5 Medium"/>
              </a:rPr>
              <a:t>01</a:t>
            </a:r>
            <a:endParaRPr lang="en-US" sz="1200" dirty="0"/>
          </a:p>
        </p:txBody>
      </p:sp>
      <p:sp>
        <p:nvSpPr>
          <p:cNvPr id="7" name="Text 5"/>
          <p:cNvSpPr txBox="1"/>
          <p:nvPr/>
        </p:nvSpPr>
        <p:spPr>
          <a:xfrm>
            <a:off x="822960"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데이터 수집 개요</a:t>
            </a:r>
            <a:endParaRPr lang="en-US" sz="1500" dirty="0"/>
          </a:p>
        </p:txBody>
      </p:sp>
      <p:sp>
        <p:nvSpPr>
          <p:cNvPr id="8" name="Shape 6"/>
          <p:cNvSpPr/>
          <p:nvPr/>
        </p:nvSpPr>
        <p:spPr>
          <a:xfrm>
            <a:off x="4399178" y="4434840"/>
            <a:ext cx="3393338" cy="0"/>
          </a:xfrm>
          <a:prstGeom prst="line">
            <a:avLst/>
          </a:prstGeom>
          <a:noFill/>
          <a:ln w="25400">
            <a:solidFill>
              <a:srgbClr val="3A414B"/>
            </a:solidFill>
            <a:prstDash val="solid"/>
          </a:ln>
        </p:spPr>
        <p:txBody>
          <a:bodyPr/>
          <a:lstStyle/>
          <a:p>
            <a:endParaRPr/>
          </a:p>
        </p:txBody>
      </p:sp>
      <p:sp>
        <p:nvSpPr>
          <p:cNvPr id="9" name="Text 7"/>
          <p:cNvSpPr txBox="1"/>
          <p:nvPr/>
        </p:nvSpPr>
        <p:spPr>
          <a:xfrm>
            <a:off x="4399178" y="4572000"/>
            <a:ext cx="3393338"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02</a:t>
            </a:r>
            <a:endParaRPr lang="en-US" sz="1200" dirty="0"/>
          </a:p>
        </p:txBody>
      </p:sp>
      <p:sp>
        <p:nvSpPr>
          <p:cNvPr id="10" name="Text 8"/>
          <p:cNvSpPr txBox="1"/>
          <p:nvPr/>
        </p:nvSpPr>
        <p:spPr>
          <a:xfrm>
            <a:off x="4399178"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학습 제외 자료</a:t>
            </a:r>
            <a:endParaRPr lang="en-US" sz="1500" dirty="0"/>
          </a:p>
        </p:txBody>
      </p:sp>
      <p:sp>
        <p:nvSpPr>
          <p:cNvPr id="11" name="Shape 9"/>
          <p:cNvSpPr/>
          <p:nvPr/>
        </p:nvSpPr>
        <p:spPr>
          <a:xfrm>
            <a:off x="7975397" y="4434840"/>
            <a:ext cx="3393338" cy="0"/>
          </a:xfrm>
          <a:prstGeom prst="line">
            <a:avLst/>
          </a:prstGeom>
          <a:noFill/>
          <a:ln w="25400">
            <a:solidFill>
              <a:srgbClr val="3A414B"/>
            </a:solidFill>
            <a:prstDash val="solid"/>
          </a:ln>
        </p:spPr>
        <p:txBody>
          <a:bodyPr/>
          <a:lstStyle/>
          <a:p>
            <a:endParaRPr/>
          </a:p>
        </p:txBody>
      </p:sp>
      <p:sp>
        <p:nvSpPr>
          <p:cNvPr id="12" name="Text 10"/>
          <p:cNvSpPr txBox="1"/>
          <p:nvPr/>
        </p:nvSpPr>
        <p:spPr>
          <a:xfrm>
            <a:off x="7975397" y="4572000"/>
            <a:ext cx="3393338"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03</a:t>
            </a:r>
            <a:endParaRPr lang="en-US" sz="1200" dirty="0"/>
          </a:p>
        </p:txBody>
      </p:sp>
      <p:sp>
        <p:nvSpPr>
          <p:cNvPr id="13" name="Text 11"/>
          <p:cNvSpPr txBox="1"/>
          <p:nvPr/>
        </p:nvSpPr>
        <p:spPr>
          <a:xfrm>
            <a:off x="7975397"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공공 API 수집 방식</a:t>
            </a:r>
            <a:endParaRPr lang="en-US" sz="15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01  데이터 수집</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a:ea typeface="에이투지체 5 Medium"/>
                <a:cs typeface="에이투지체 5 Medium"/>
              </a:rPr>
              <a:t>데이터 수집 개요</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14종 원본 수집 → 4종 학습 표 통합 (서울 25개 자치구)</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09</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02_119_전처리_검토수정.ipynb</a:t>
            </a:r>
            <a:endParaRPr lang="en-US" sz="900" dirty="0"/>
          </a:p>
        </p:txBody>
      </p:sp>
      <p:sp>
        <p:nvSpPr>
          <p:cNvPr id="8" name="Shape 5"/>
          <p:cNvSpPr/>
          <p:nvPr/>
        </p:nvSpPr>
        <p:spPr>
          <a:xfrm>
            <a:off x="457200" y="1993392"/>
            <a:ext cx="2681935" cy="1828800"/>
          </a:xfrm>
          <a:prstGeom prst="roundRect">
            <a:avLst>
              <a:gd name="adj" fmla="val 7000"/>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txBody>
          <a:bodyPr/>
          <a:lstStyle/>
          <a:p>
            <a:endParaRPr/>
          </a:p>
        </p:txBody>
      </p:sp>
      <p:sp>
        <p:nvSpPr>
          <p:cNvPr id="9" name="Text 6"/>
          <p:cNvSpPr txBox="1"/>
          <p:nvPr/>
        </p:nvSpPr>
        <p:spPr>
          <a:xfrm>
            <a:off x="676656" y="2176272"/>
            <a:ext cx="2243023" cy="566928"/>
          </a:xfrm>
          <a:prstGeom prst="rect">
            <a:avLst/>
          </a:prstGeom>
          <a:noFill/>
          <a:ln/>
        </p:spPr>
        <p:txBody>
          <a:bodyPr wrap="square" lIns="0" tIns="0" rIns="0" bIns="0" rtlCol="0" anchor="ctr"/>
          <a:lstStyle/>
          <a:p>
            <a:pPr marL="0" indent="0" algn="ctr">
              <a:buNone/>
            </a:pPr>
            <a:r>
              <a:rPr lang="en-US" sz="3600" kern="0" spc="-108" dirty="0">
                <a:solidFill>
                  <a:srgbClr val="FFFFFF"/>
                </a:solidFill>
                <a:latin typeface="에이투지체 5 Medium"/>
                <a:ea typeface="에이투지체 5 Medium"/>
                <a:cs typeface="에이투지체 5 Medium"/>
              </a:rPr>
              <a:t>14종</a:t>
            </a:r>
            <a:endParaRPr lang="en-US" sz="3600" dirty="0"/>
          </a:p>
        </p:txBody>
      </p:sp>
      <p:sp>
        <p:nvSpPr>
          <p:cNvPr id="10" name="Text 7"/>
          <p:cNvSpPr txBox="1"/>
          <p:nvPr/>
        </p:nvSpPr>
        <p:spPr>
          <a:xfrm>
            <a:off x="676656" y="2779776"/>
            <a:ext cx="2243023"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에이투지체 5 Medium"/>
                <a:ea typeface="에이투지체 5 Medium"/>
                <a:cs typeface="에이투지체 5 Medium"/>
              </a:rPr>
              <a:t>수집 원본</a:t>
            </a:r>
            <a:endParaRPr lang="en-US" sz="1400" dirty="0"/>
          </a:p>
        </p:txBody>
      </p:sp>
      <p:sp>
        <p:nvSpPr>
          <p:cNvPr id="11" name="Shape 8"/>
          <p:cNvSpPr/>
          <p:nvPr/>
        </p:nvSpPr>
        <p:spPr>
          <a:xfrm>
            <a:off x="676656" y="3182112"/>
            <a:ext cx="2243023" cy="0"/>
          </a:xfrm>
          <a:prstGeom prst="line">
            <a:avLst/>
          </a:prstGeom>
          <a:noFill/>
          <a:ln w="9525">
            <a:solidFill>
              <a:srgbClr val="E87A7A"/>
            </a:solidFill>
            <a:prstDash val="solid"/>
          </a:ln>
        </p:spPr>
        <p:txBody>
          <a:bodyPr/>
          <a:lstStyle/>
          <a:p>
            <a:endParaRPr/>
          </a:p>
        </p:txBody>
      </p:sp>
      <p:sp>
        <p:nvSpPr>
          <p:cNvPr id="12" name="Text 9"/>
          <p:cNvSpPr txBox="1"/>
          <p:nvPr/>
        </p:nvSpPr>
        <p:spPr>
          <a:xfrm>
            <a:off x="676656" y="3291840"/>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FDE3E3"/>
                </a:solidFill>
                <a:latin typeface="에이투지체 5 Medium"/>
                <a:ea typeface="에이투지체 5 Medium"/>
                <a:cs typeface="에이투지체 5 Medium"/>
              </a:rPr>
              <a:t>Open API · CSV · XLSX</a:t>
            </a:r>
            <a:endParaRPr lang="en-US" sz="1100" dirty="0"/>
          </a:p>
        </p:txBody>
      </p:sp>
      <p:sp>
        <p:nvSpPr>
          <p:cNvPr id="13" name="Shape 10"/>
          <p:cNvSpPr/>
          <p:nvPr/>
        </p:nvSpPr>
        <p:spPr>
          <a:xfrm>
            <a:off x="3322015" y="1993392"/>
            <a:ext cx="2681935"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4" name="Text 11"/>
          <p:cNvSpPr txBox="1"/>
          <p:nvPr/>
        </p:nvSpPr>
        <p:spPr>
          <a:xfrm>
            <a:off x="3541471" y="2176272"/>
            <a:ext cx="2243023" cy="566928"/>
          </a:xfrm>
          <a:prstGeom prst="rect">
            <a:avLst/>
          </a:prstGeom>
          <a:noFill/>
          <a:ln/>
        </p:spPr>
        <p:txBody>
          <a:bodyPr wrap="square" lIns="0" tIns="0" rIns="0" bIns="0" rtlCol="0" anchor="ctr"/>
          <a:lstStyle/>
          <a:p>
            <a:pPr marL="0" indent="0" algn="ctr">
              <a:buNone/>
            </a:pPr>
            <a:r>
              <a:rPr lang="en-US" sz="3600" kern="0" spc="-108" dirty="0">
                <a:solidFill>
                  <a:srgbClr val="D62828"/>
                </a:solidFill>
                <a:latin typeface="에이투지체 5 Medium"/>
                <a:ea typeface="에이투지체 5 Medium"/>
                <a:cs typeface="에이투지체 5 Medium"/>
              </a:rPr>
              <a:t>4종</a:t>
            </a:r>
            <a:endParaRPr lang="en-US" sz="3600" dirty="0"/>
          </a:p>
        </p:txBody>
      </p:sp>
      <p:sp>
        <p:nvSpPr>
          <p:cNvPr id="15" name="Text 12"/>
          <p:cNvSpPr txBox="1"/>
          <p:nvPr/>
        </p:nvSpPr>
        <p:spPr>
          <a:xfrm>
            <a:off x="3541471" y="2779776"/>
            <a:ext cx="2243023" cy="274320"/>
          </a:xfrm>
          <a:prstGeom prst="rect">
            <a:avLst/>
          </a:prstGeom>
          <a:noFill/>
          <a:ln/>
        </p:spPr>
        <p:txBody>
          <a:bodyPr wrap="square" lIns="0" tIns="0" rIns="0" bIns="0" rtlCol="0" anchor="ctr"/>
          <a:lstStyle/>
          <a:p>
            <a:pPr marL="0" indent="0" algn="ctr">
              <a:buNone/>
            </a:pPr>
            <a:r>
              <a:rPr lang="en-US" sz="1400" b="1" dirty="0">
                <a:solidFill>
                  <a:srgbClr val="222222"/>
                </a:solidFill>
                <a:latin typeface="에이투지체 5 Medium"/>
                <a:ea typeface="에이투지체 5 Medium"/>
                <a:cs typeface="에이투지체 5 Medium"/>
              </a:rPr>
              <a:t>학습 표 통합</a:t>
            </a:r>
            <a:endParaRPr lang="en-US" sz="1400" dirty="0"/>
          </a:p>
        </p:txBody>
      </p:sp>
      <p:sp>
        <p:nvSpPr>
          <p:cNvPr id="16" name="Shape 13"/>
          <p:cNvSpPr/>
          <p:nvPr/>
        </p:nvSpPr>
        <p:spPr>
          <a:xfrm>
            <a:off x="3541471" y="3182112"/>
            <a:ext cx="2243023" cy="0"/>
          </a:xfrm>
          <a:prstGeom prst="line">
            <a:avLst/>
          </a:prstGeom>
          <a:noFill/>
          <a:ln w="9525">
            <a:solidFill>
              <a:srgbClr val="E5E7EB"/>
            </a:solidFill>
            <a:prstDash val="solid"/>
          </a:ln>
        </p:spPr>
        <p:txBody>
          <a:bodyPr/>
          <a:lstStyle/>
          <a:p>
            <a:endParaRPr/>
          </a:p>
        </p:txBody>
      </p:sp>
      <p:sp>
        <p:nvSpPr>
          <p:cNvPr id="17" name="Text 14"/>
          <p:cNvSpPr txBox="1"/>
          <p:nvPr/>
        </p:nvSpPr>
        <p:spPr>
          <a:xfrm>
            <a:off x="3541471" y="3291840"/>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45515E"/>
                </a:solidFill>
                <a:latin typeface="에이투지체 5 Medium"/>
                <a:ea typeface="에이투지체 5 Medium"/>
                <a:cs typeface="에이투지체 5 Medium"/>
              </a:rPr>
              <a:t>최종 입력: 이송 · 인구 · 사고</a:t>
            </a:r>
            <a:endParaRPr lang="en-US" sz="1100" dirty="0"/>
          </a:p>
        </p:txBody>
      </p:sp>
      <p:sp>
        <p:nvSpPr>
          <p:cNvPr id="18" name="Shape 15"/>
          <p:cNvSpPr/>
          <p:nvPr/>
        </p:nvSpPr>
        <p:spPr>
          <a:xfrm>
            <a:off x="6186830" y="1993392"/>
            <a:ext cx="2681935"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9" name="Text 16"/>
          <p:cNvSpPr txBox="1"/>
          <p:nvPr/>
        </p:nvSpPr>
        <p:spPr>
          <a:xfrm>
            <a:off x="6406286" y="2176272"/>
            <a:ext cx="2243023" cy="566928"/>
          </a:xfrm>
          <a:prstGeom prst="rect">
            <a:avLst/>
          </a:prstGeom>
          <a:noFill/>
          <a:ln/>
        </p:spPr>
        <p:txBody>
          <a:bodyPr wrap="square" lIns="0" tIns="0" rIns="0" bIns="0" rtlCol="0" anchor="ctr"/>
          <a:lstStyle/>
          <a:p>
            <a:pPr marL="0" indent="0" algn="ctr">
              <a:buNone/>
            </a:pPr>
            <a:r>
              <a:rPr lang="en-US" sz="3600" kern="0" spc="-108" dirty="0">
                <a:solidFill>
                  <a:srgbClr val="D62828"/>
                </a:solidFill>
                <a:latin typeface="에이투지체 5 Medium"/>
                <a:ea typeface="에이투지체 5 Medium"/>
                <a:cs typeface="에이투지체 5 Medium"/>
              </a:rPr>
              <a:t>108개월</a:t>
            </a:r>
            <a:endParaRPr lang="en-US" sz="3600" dirty="0"/>
          </a:p>
        </p:txBody>
      </p:sp>
      <p:sp>
        <p:nvSpPr>
          <p:cNvPr id="20" name="Text 17"/>
          <p:cNvSpPr txBox="1"/>
          <p:nvPr/>
        </p:nvSpPr>
        <p:spPr>
          <a:xfrm>
            <a:off x="6406286" y="2779776"/>
            <a:ext cx="2243023" cy="274320"/>
          </a:xfrm>
          <a:prstGeom prst="rect">
            <a:avLst/>
          </a:prstGeom>
          <a:noFill/>
          <a:ln/>
        </p:spPr>
        <p:txBody>
          <a:bodyPr wrap="square" lIns="0" tIns="0" rIns="0" bIns="0" rtlCol="0" anchor="ctr"/>
          <a:lstStyle/>
          <a:p>
            <a:pPr marL="0" indent="0" algn="ctr">
              <a:buNone/>
            </a:pPr>
            <a:r>
              <a:rPr lang="en-US" sz="1400" b="1" dirty="0">
                <a:solidFill>
                  <a:srgbClr val="222222"/>
                </a:solidFill>
                <a:latin typeface="에이투지체 5 Medium"/>
                <a:ea typeface="에이투지체 5 Medium"/>
                <a:cs typeface="에이투지체 5 Medium"/>
              </a:rPr>
              <a:t>이송 건수 기록</a:t>
            </a:r>
            <a:endParaRPr lang="en-US" sz="1400" dirty="0"/>
          </a:p>
        </p:txBody>
      </p:sp>
      <p:sp>
        <p:nvSpPr>
          <p:cNvPr id="21" name="Shape 18"/>
          <p:cNvSpPr/>
          <p:nvPr/>
        </p:nvSpPr>
        <p:spPr>
          <a:xfrm>
            <a:off x="6406286" y="3182112"/>
            <a:ext cx="2243023" cy="0"/>
          </a:xfrm>
          <a:prstGeom prst="line">
            <a:avLst/>
          </a:prstGeom>
          <a:noFill/>
          <a:ln w="9525">
            <a:solidFill>
              <a:srgbClr val="E5E7EB"/>
            </a:solidFill>
            <a:prstDash val="solid"/>
          </a:ln>
        </p:spPr>
        <p:txBody>
          <a:bodyPr/>
          <a:lstStyle/>
          <a:p>
            <a:endParaRPr/>
          </a:p>
        </p:txBody>
      </p:sp>
      <p:sp>
        <p:nvSpPr>
          <p:cNvPr id="22" name="Text 19"/>
          <p:cNvSpPr txBox="1"/>
          <p:nvPr/>
        </p:nvSpPr>
        <p:spPr>
          <a:xfrm>
            <a:off x="6406286" y="3291840"/>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45515E"/>
                </a:solidFill>
                <a:latin typeface="에이투지체 5 Medium"/>
                <a:ea typeface="에이투지체 5 Medium"/>
                <a:cs typeface="에이투지체 5 Medium"/>
              </a:rPr>
              <a:t>2017.01 ~ 2025.12</a:t>
            </a:r>
            <a:endParaRPr lang="en-US" sz="1100" dirty="0"/>
          </a:p>
        </p:txBody>
      </p:sp>
      <p:sp>
        <p:nvSpPr>
          <p:cNvPr id="23" name="Shape 20"/>
          <p:cNvSpPr/>
          <p:nvPr/>
        </p:nvSpPr>
        <p:spPr>
          <a:xfrm>
            <a:off x="9051646" y="1993392"/>
            <a:ext cx="2681935"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4" name="Text 21"/>
          <p:cNvSpPr txBox="1"/>
          <p:nvPr/>
        </p:nvSpPr>
        <p:spPr>
          <a:xfrm>
            <a:off x="9271102" y="2176272"/>
            <a:ext cx="2243023" cy="566928"/>
          </a:xfrm>
          <a:prstGeom prst="rect">
            <a:avLst/>
          </a:prstGeom>
          <a:noFill/>
          <a:ln/>
        </p:spPr>
        <p:txBody>
          <a:bodyPr wrap="square" lIns="0" tIns="0" rIns="0" bIns="0" rtlCol="0" anchor="ctr"/>
          <a:lstStyle/>
          <a:p>
            <a:pPr marL="0" indent="0" algn="ctr">
              <a:buNone/>
            </a:pPr>
            <a:r>
              <a:rPr lang="en-US" sz="3600" kern="0" spc="-108" dirty="0">
                <a:solidFill>
                  <a:srgbClr val="D62828"/>
                </a:solidFill>
                <a:latin typeface="에이투지체 5 Medium"/>
                <a:ea typeface="에이투지체 5 Medium"/>
                <a:cs typeface="에이투지체 5 Medium"/>
              </a:rPr>
              <a:t>25개 구</a:t>
            </a:r>
            <a:endParaRPr lang="en-US" sz="3600" dirty="0"/>
          </a:p>
        </p:txBody>
      </p:sp>
      <p:sp>
        <p:nvSpPr>
          <p:cNvPr id="25" name="Text 22"/>
          <p:cNvSpPr txBox="1"/>
          <p:nvPr/>
        </p:nvSpPr>
        <p:spPr>
          <a:xfrm>
            <a:off x="9271102" y="2779776"/>
            <a:ext cx="2243023" cy="274320"/>
          </a:xfrm>
          <a:prstGeom prst="rect">
            <a:avLst/>
          </a:prstGeom>
          <a:noFill/>
          <a:ln/>
        </p:spPr>
        <p:txBody>
          <a:bodyPr wrap="square" lIns="0" tIns="0" rIns="0" bIns="0" rtlCol="0" anchor="ctr"/>
          <a:lstStyle/>
          <a:p>
            <a:pPr marL="0" indent="0" algn="ctr">
              <a:buNone/>
            </a:pPr>
            <a:r>
              <a:rPr lang="en-US" sz="1400" b="1" dirty="0">
                <a:solidFill>
                  <a:srgbClr val="222222"/>
                </a:solidFill>
                <a:latin typeface="에이투지체 5 Medium"/>
                <a:ea typeface="에이투지체 5 Medium"/>
                <a:cs typeface="에이투지체 5 Medium"/>
              </a:rPr>
              <a:t>분석 단위</a:t>
            </a:r>
            <a:endParaRPr lang="en-US" sz="1400" dirty="0"/>
          </a:p>
        </p:txBody>
      </p:sp>
      <p:sp>
        <p:nvSpPr>
          <p:cNvPr id="26" name="Shape 23"/>
          <p:cNvSpPr/>
          <p:nvPr/>
        </p:nvSpPr>
        <p:spPr>
          <a:xfrm>
            <a:off x="9271102" y="3182112"/>
            <a:ext cx="2243023" cy="0"/>
          </a:xfrm>
          <a:prstGeom prst="line">
            <a:avLst/>
          </a:prstGeom>
          <a:noFill/>
          <a:ln w="9525">
            <a:solidFill>
              <a:srgbClr val="E5E7EB"/>
            </a:solidFill>
            <a:prstDash val="solid"/>
          </a:ln>
        </p:spPr>
        <p:txBody>
          <a:bodyPr/>
          <a:lstStyle/>
          <a:p>
            <a:endParaRPr/>
          </a:p>
        </p:txBody>
      </p:sp>
      <p:sp>
        <p:nvSpPr>
          <p:cNvPr id="27" name="Text 24"/>
          <p:cNvSpPr txBox="1"/>
          <p:nvPr/>
        </p:nvSpPr>
        <p:spPr>
          <a:xfrm>
            <a:off x="9271102" y="3291840"/>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45515E"/>
                </a:solidFill>
                <a:latin typeface="에이투지체 5 Medium"/>
                <a:ea typeface="에이투지체 5 Medium"/>
                <a:cs typeface="에이투지체 5 Medium"/>
              </a:rPr>
              <a:t>구 × 월 / 구 × 일</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4123944"/>
          <a:ext cx="11277295" cy="2066544"/>
        </p:xfrm>
        <a:graphic>
          <a:graphicData uri="http://schemas.openxmlformats.org/drawingml/2006/table">
            <a:tbl>
              <a:tblPr/>
              <a:tblGrid>
                <a:gridCol w="22860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3047695">
                  <a:extLst>
                    <a:ext uri="{9D8B030D-6E8A-4147-A177-3AD203B41FA5}">
                      <a16:colId xmlns:a16="http://schemas.microsoft.com/office/drawing/2014/main" val="20003"/>
                    </a:ext>
                  </a:extLst>
                </a:gridCol>
              </a:tblGrid>
              <a:tr h="384048">
                <a:tc>
                  <a:txBody>
                    <a:bodyPr/>
                    <a:lstStyle/>
                    <a:p>
                      <a:pPr marL="0" indent="0" algn="ctr">
                        <a:buNone/>
                      </a:pPr>
                      <a:r>
                        <a:rPr lang="en-US" sz="1200" dirty="0">
                          <a:solidFill>
                            <a:srgbClr val="222222"/>
                          </a:solidFill>
                          <a:latin typeface="에이투지체 5 Medium"/>
                          <a:ea typeface="에이투지체 5 Medium"/>
                          <a:cs typeface="에이투지체 5 Medium"/>
                        </a:rPr>
                        <a:t>자료</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222222"/>
                          </a:solidFill>
                          <a:latin typeface="에이투지체 5 Medium"/>
                          <a:ea typeface="에이투지체 5 Medium"/>
                          <a:cs typeface="에이투지체 5 Medium"/>
                        </a:rPr>
                        <a:t>출처</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222222"/>
                          </a:solidFill>
                          <a:latin typeface="에이투지체 5 Medium"/>
                          <a:ea typeface="에이투지체 5 Medium"/>
                          <a:cs typeface="에이투지체 5 Medium"/>
                        </a:rPr>
                        <a:t>기간 · 단위</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D62828"/>
                          </a:solidFill>
                          <a:latin typeface="에이투지체 5 Medium"/>
                          <a:ea typeface="에이투지체 5 Medium"/>
                          <a:cs typeface="에이투지체 5 Medium"/>
                        </a:rPr>
                        <a:t>활용</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extLst>
                  <a:ext uri="{0D108BD9-81ED-4DB2-BD59-A6C34878D82A}">
                    <a16:rowId xmlns:a16="http://schemas.microsoft.com/office/drawing/2014/main" val="10000"/>
                  </a:ext>
                </a:extLst>
              </a:tr>
              <a:tr h="420624">
                <a:tc>
                  <a:txBody>
                    <a:bodyPr/>
                    <a:lstStyle/>
                    <a:p>
                      <a:pPr marL="0" indent="0" algn="l">
                        <a:buNone/>
                      </a:pPr>
                      <a:r>
                        <a:rPr lang="en-US" sz="1200" b="1" dirty="0">
                          <a:solidFill>
                            <a:srgbClr val="222222"/>
                          </a:solidFill>
                          <a:latin typeface="에이투지체 5 Medium"/>
                          <a:ea typeface="에이투지체 5 Medium"/>
                          <a:cs typeface="에이투지체 5 Medium"/>
                        </a:rPr>
                        <a:t>119 구급활동 통계</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소방청 구급통계 OpenAPI</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2017.01~2025.12 · 구 × 월</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이송 건수 (예측 대상)</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en-US" sz="1200" b="1" dirty="0">
                          <a:solidFill>
                            <a:srgbClr val="222222"/>
                          </a:solidFill>
                          <a:latin typeface="에이투지체 5 Medium"/>
                          <a:ea typeface="에이투지체 5 Medium"/>
                          <a:cs typeface="에이투지체 5 Medium"/>
                        </a:rPr>
                        <a:t>서울 생활인구</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자치구단위 서울생활인구 CSV</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2018.04~2026.07 · 구 × 일</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인구 밀집 예측 · 이송 설명</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2"/>
                  </a:ext>
                </a:extLst>
              </a:tr>
              <a:tr h="420624">
                <a:tc>
                  <a:txBody>
                    <a:bodyPr/>
                    <a:lstStyle/>
                    <a:p>
                      <a:pPr marL="0" indent="0" algn="l">
                        <a:buNone/>
                      </a:pPr>
                      <a:r>
                        <a:rPr lang="en-US" sz="1200" b="1" dirty="0">
                          <a:solidFill>
                            <a:srgbClr val="222222"/>
                          </a:solidFill>
                          <a:latin typeface="에이투지체 5 Medium"/>
                          <a:ea typeface="에이투지체 5 Medium"/>
                          <a:cs typeface="에이투지체 5 Medium"/>
                        </a:rPr>
                        <a:t>119 구조활동 실적</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구별 구조활동 실적 CSV</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2006~2025 · 구 × 연</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사고 원인 변수</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en-US" sz="1200" b="1" dirty="0">
                          <a:solidFill>
                            <a:srgbClr val="222222"/>
                          </a:solidFill>
                          <a:latin typeface="에이투지체 5 Medium"/>
                          <a:ea typeface="에이투지체 5 Medium"/>
                          <a:cs typeface="에이투지체 5 Medium"/>
                        </a:rPr>
                        <a:t>의료이용 유출입</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의료이용 유출입 XLSX</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2019~2024 · 구 × 연</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통합 후 결측 과다로 입력 제외</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01  데이터 수집</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a:ea typeface="에이투지체 5 Medium"/>
                <a:cs typeface="에이투지체 5 Medium"/>
              </a:rPr>
              <a:t>학습 제외 자료 및 제외 사유</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집계 기준 · 시간 단위 불일치 자료 제외, 병상 자료는 웹 서비스 활용</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10</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02_119_전처리_검토수정.ipynb</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993392"/>
          <a:ext cx="7589520" cy="3456432"/>
        </p:xfrm>
        <a:graphic>
          <a:graphicData uri="http://schemas.openxmlformats.org/drawingml/2006/table">
            <a:tbl>
              <a:tblPr/>
              <a:tblGrid>
                <a:gridCol w="219456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84048">
                <a:tc>
                  <a:txBody>
                    <a:bodyPr/>
                    <a:lstStyle/>
                    <a:p>
                      <a:pPr marL="0" indent="0" algn="ctr">
                        <a:buNone/>
                      </a:pPr>
                      <a:r>
                        <a:rPr lang="en-US" sz="1200" dirty="0">
                          <a:solidFill>
                            <a:srgbClr val="222222"/>
                          </a:solidFill>
                          <a:latin typeface="에이투지체 5 Medium"/>
                          <a:ea typeface="에이투지체 5 Medium"/>
                          <a:cs typeface="에이투지체 5 Medium"/>
                        </a:rPr>
                        <a:t>제외 자료</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222222"/>
                          </a:solidFill>
                          <a:latin typeface="에이투지체 5 Medium"/>
                          <a:ea typeface="에이투지체 5 Medium"/>
                          <a:cs typeface="에이투지체 5 Medium"/>
                        </a:rPr>
                        <a:t>제외 사유</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D62828"/>
                          </a:solidFill>
                          <a:latin typeface="에이투지체 5 Medium"/>
                          <a:ea typeface="에이투지체 5 Medium"/>
                          <a:cs typeface="에이투지체 5 Medium"/>
                        </a:rPr>
                        <a:t>대체 자료</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extLst>
                  <a:ext uri="{0D108BD9-81ED-4DB2-BD59-A6C34878D82A}">
                    <a16:rowId xmlns:a16="http://schemas.microsoft.com/office/drawing/2014/main" val="10000"/>
                  </a:ext>
                </a:extLst>
              </a:tr>
              <a:tr h="512064">
                <a:tc>
                  <a:txBody>
                    <a:bodyPr/>
                    <a:lstStyle/>
                    <a:p>
                      <a:pPr marL="0" indent="0" algn="l">
                        <a:buNone/>
                      </a:pPr>
                      <a:r>
                        <a:rPr lang="en-US" sz="1200" b="1" dirty="0">
                          <a:solidFill>
                            <a:srgbClr val="222222"/>
                          </a:solidFill>
                          <a:latin typeface="에이투지체 5 Medium"/>
                          <a:ea typeface="에이투지체 5 Medium"/>
                          <a:cs typeface="에이투지체 5 Medium"/>
                        </a:rPr>
                        <a:t>구급출동 건별 현황</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발생 구 기준 집계 (API 대비 0.77~1.54배)</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API 관할 기준</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lgn="l">
                        <a:buNone/>
                      </a:pPr>
                      <a:r>
                        <a:rPr lang="en-US" sz="1200" b="1" dirty="0">
                          <a:solidFill>
                            <a:srgbClr val="222222"/>
                          </a:solidFill>
                          <a:latin typeface="에이투지체 5 Medium"/>
                          <a:ea typeface="에이투지체 5 Medium"/>
                          <a:cs typeface="에이투지체 5 Medium"/>
                        </a:rPr>
                        <a:t>서울시 구급 출동 현황</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출동 건수만 존재, 이송 건수 없음</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API 이송 건수</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2"/>
                  </a:ext>
                </a:extLst>
              </a:tr>
              <a:tr h="512064">
                <a:tc>
                  <a:txBody>
                    <a:bodyPr/>
                    <a:lstStyle/>
                    <a:p>
                      <a:pPr marL="0" indent="0" algn="l">
                        <a:buNone/>
                      </a:pPr>
                      <a:r>
                        <a:rPr lang="en-US" sz="1200" b="1" dirty="0">
                          <a:solidFill>
                            <a:srgbClr val="222222"/>
                          </a:solidFill>
                          <a:latin typeface="에이투지체 5 Medium"/>
                          <a:ea typeface="에이투지체 5 Medium"/>
                          <a:cs typeface="에이투지체 5 Medium"/>
                        </a:rPr>
                        <a:t>소방서별 구급 실적</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연 단위 집계</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API 월별 자료</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lgn="l">
                        <a:buNone/>
                      </a:pPr>
                      <a:r>
                        <a:rPr lang="en-US" sz="1200" b="1" dirty="0">
                          <a:solidFill>
                            <a:srgbClr val="222222"/>
                          </a:solidFill>
                          <a:latin typeface="에이투지체 5 Medium"/>
                          <a:ea typeface="에이투지체 5 Medium"/>
                          <a:cs typeface="에이투지체 5 Medium"/>
                        </a:rPr>
                        <a:t>서울 전체 월별 자료</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시 단위 합계 (구 단위 아님)</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구별 API</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4"/>
                  </a:ext>
                </a:extLst>
              </a:tr>
              <a:tr h="512064">
                <a:tc>
                  <a:txBody>
                    <a:bodyPr/>
                    <a:lstStyle/>
                    <a:p>
                      <a:pPr marL="0" indent="0" algn="l">
                        <a:buNone/>
                      </a:pPr>
                      <a:r>
                        <a:rPr lang="en-US" sz="1200" b="1" dirty="0">
                          <a:solidFill>
                            <a:srgbClr val="222222"/>
                          </a:solidFill>
                          <a:latin typeface="에이투지체 5 Medium"/>
                          <a:ea typeface="에이투지체 5 Medium"/>
                          <a:cs typeface="에이투지체 5 Medium"/>
                        </a:rPr>
                        <a:t>구급 건별 표본</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1개 구 · 1개월 표본</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빈도 참고용</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12064">
                <a:tc>
                  <a:txBody>
                    <a:bodyPr/>
                    <a:lstStyle/>
                    <a:p>
                      <a:pPr marL="0" indent="0" algn="l">
                        <a:buNone/>
                      </a:pPr>
                      <a:r>
                        <a:rPr lang="en-US" sz="1200" b="1" dirty="0">
                          <a:solidFill>
                            <a:srgbClr val="222222"/>
                          </a:solidFill>
                          <a:latin typeface="에이투지체 5 Medium"/>
                          <a:ea typeface="에이투지체 5 Medium"/>
                          <a:cs typeface="에이투지체 5 Medium"/>
                        </a:rPr>
                        <a:t>응급실 실시간 병상</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한 시점 스냅샷, 시간 단위 불일치</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웹 서비스 현황</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6"/>
                  </a:ext>
                </a:extLst>
              </a:tr>
            </a:tbl>
          </a:graphicData>
        </a:graphic>
      </p:graphicFrame>
      <p:sp>
        <p:nvSpPr>
          <p:cNvPr id="9" name="Shape 5"/>
          <p:cNvSpPr/>
          <p:nvPr/>
        </p:nvSpPr>
        <p:spPr>
          <a:xfrm>
            <a:off x="8229600" y="1993392"/>
            <a:ext cx="3504895" cy="1033272"/>
          </a:xfrm>
          <a:prstGeom prst="roundRect">
            <a:avLst>
              <a:gd name="adj" fmla="val 885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7" name="Text 6"/>
          <p:cNvSpPr txBox="1"/>
          <p:nvPr/>
        </p:nvSpPr>
        <p:spPr>
          <a:xfrm>
            <a:off x="8535572" y="1968070"/>
            <a:ext cx="1280160" cy="1033272"/>
          </a:xfrm>
          <a:prstGeom prst="rect">
            <a:avLst/>
          </a:prstGeom>
          <a:noFill/>
          <a:ln/>
        </p:spPr>
        <p:txBody>
          <a:bodyPr wrap="square" lIns="0" tIns="0" rIns="0" bIns="0" rtlCol="0" anchor="ctr"/>
          <a:lstStyle/>
          <a:p>
            <a:pPr marL="0" indent="0">
              <a:buNone/>
            </a:pPr>
            <a:r>
              <a:rPr lang="en-US" sz="2800" b="1" kern="0" spc="-80" dirty="0" smtClean="0">
                <a:solidFill>
                  <a:srgbClr val="D62828"/>
                </a:solidFill>
                <a:latin typeface="에이투지체 5 Medium"/>
                <a:ea typeface="에이투지체 5 Medium"/>
                <a:cs typeface="에이투지체 5 Medium"/>
              </a:rPr>
              <a:t>51</a:t>
            </a:r>
            <a:r>
              <a:rPr lang="ko-KR" altLang="en-US" sz="2800" b="1" kern="0" spc="-80" dirty="0" smtClean="0">
                <a:solidFill>
                  <a:srgbClr val="D62828"/>
                </a:solidFill>
                <a:latin typeface="에이투지체 5 Medium"/>
                <a:ea typeface="에이투지체 5 Medium"/>
                <a:cs typeface="에이투지체 5 Medium"/>
              </a:rPr>
              <a:t>개</a:t>
            </a:r>
            <a:endParaRPr lang="en-US" sz="2800" b="1" dirty="0"/>
          </a:p>
        </p:txBody>
      </p:sp>
      <p:sp>
        <p:nvSpPr>
          <p:cNvPr id="11" name="Text 7"/>
          <p:cNvSpPr txBox="1"/>
          <p:nvPr/>
        </p:nvSpPr>
        <p:spPr>
          <a:xfrm>
            <a:off x="9692640" y="2194560"/>
            <a:ext cx="1920240" cy="292608"/>
          </a:xfrm>
          <a:prstGeom prst="rect">
            <a:avLst/>
          </a:prstGeom>
          <a:noFill/>
          <a:ln/>
        </p:spPr>
        <p:txBody>
          <a:bodyPr wrap="square" lIns="0" tIns="0" rIns="0" bIns="0" rtlCol="0" anchor="ctr"/>
          <a:lstStyle/>
          <a:p>
            <a:pPr marL="0" indent="0">
              <a:buNone/>
            </a:pPr>
            <a:r>
              <a:rPr lang="en-US" sz="1300" b="1" dirty="0">
                <a:solidFill>
                  <a:srgbClr val="222222"/>
                </a:solidFill>
                <a:latin typeface="에이투지체 5 Medium"/>
                <a:ea typeface="에이투지체 5 Medium"/>
                <a:cs typeface="에이투지체 5 Medium"/>
              </a:rPr>
              <a:t>실시간 병상 병원</a:t>
            </a:r>
            <a:endParaRPr lang="en-US" sz="1300" dirty="0"/>
          </a:p>
        </p:txBody>
      </p:sp>
      <p:sp>
        <p:nvSpPr>
          <p:cNvPr id="12" name="Text 8"/>
          <p:cNvSpPr txBox="1"/>
          <p:nvPr/>
        </p:nvSpPr>
        <p:spPr>
          <a:xfrm>
            <a:off x="9692640" y="2523744"/>
            <a:ext cx="1965960" cy="320040"/>
          </a:xfrm>
          <a:prstGeom prst="rect">
            <a:avLst/>
          </a:prstGeom>
          <a:noFill/>
          <a:ln/>
        </p:spPr>
        <p:txBody>
          <a:bodyPr wrap="square" lIns="0" tIns="0" rIns="0" bIns="0" rtlCol="0" anchor="ctr"/>
          <a:lstStyle/>
          <a:p>
            <a:pPr marL="0" indent="0">
              <a:buNone/>
            </a:pPr>
            <a:r>
              <a:rPr lang="en-US" sz="1000" dirty="0">
                <a:solidFill>
                  <a:srgbClr val="45515E"/>
                </a:solidFill>
                <a:latin typeface="에이투지체 5 Medium"/>
                <a:ea typeface="에이투지체 5 Medium"/>
                <a:cs typeface="에이투지체 5 Medium"/>
              </a:rPr>
              <a:t>23개 구 (강북 · 마포 자료 없음)</a:t>
            </a:r>
            <a:endParaRPr lang="en-US" sz="1000" dirty="0"/>
          </a:p>
        </p:txBody>
      </p:sp>
      <p:sp>
        <p:nvSpPr>
          <p:cNvPr id="13" name="Shape 9"/>
          <p:cNvSpPr/>
          <p:nvPr/>
        </p:nvSpPr>
        <p:spPr>
          <a:xfrm>
            <a:off x="8229600" y="3145536"/>
            <a:ext cx="3504895" cy="1033272"/>
          </a:xfrm>
          <a:prstGeom prst="roundRect">
            <a:avLst>
              <a:gd name="adj" fmla="val 885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4" name="Text 10"/>
          <p:cNvSpPr txBox="1"/>
          <p:nvPr/>
        </p:nvSpPr>
        <p:spPr>
          <a:xfrm>
            <a:off x="8535572" y="3145536"/>
            <a:ext cx="1280160" cy="1033272"/>
          </a:xfrm>
          <a:prstGeom prst="rect">
            <a:avLst/>
          </a:prstGeom>
          <a:noFill/>
          <a:ln/>
        </p:spPr>
        <p:txBody>
          <a:bodyPr wrap="square" lIns="0" tIns="0" rIns="0" bIns="0" rtlCol="0" anchor="ctr"/>
          <a:lstStyle/>
          <a:p>
            <a:pPr marL="0" indent="0">
              <a:buNone/>
            </a:pPr>
            <a:r>
              <a:rPr lang="en-US" sz="2800" b="1" kern="0" spc="-80" dirty="0" smtClean="0">
                <a:solidFill>
                  <a:srgbClr val="D62828"/>
                </a:solidFill>
                <a:latin typeface="에이투지체 5 Medium"/>
                <a:ea typeface="에이투지체 5 Medium"/>
                <a:cs typeface="에이투지체 5 Medium"/>
              </a:rPr>
              <a:t>70</a:t>
            </a:r>
            <a:r>
              <a:rPr lang="ko-KR" altLang="en-US" sz="2800" b="1" kern="0" spc="-80" dirty="0" smtClean="0">
                <a:solidFill>
                  <a:srgbClr val="D62828"/>
                </a:solidFill>
                <a:latin typeface="에이투지체 5 Medium"/>
                <a:ea typeface="에이투지체 5 Medium"/>
                <a:cs typeface="에이투지체 5 Medium"/>
              </a:rPr>
              <a:t>개</a:t>
            </a:r>
            <a:endParaRPr lang="en-US" sz="2800" b="1" dirty="0"/>
          </a:p>
        </p:txBody>
      </p:sp>
      <p:sp>
        <p:nvSpPr>
          <p:cNvPr id="15" name="Text 11"/>
          <p:cNvSpPr txBox="1"/>
          <p:nvPr/>
        </p:nvSpPr>
        <p:spPr>
          <a:xfrm>
            <a:off x="9692640" y="3346704"/>
            <a:ext cx="1920240" cy="292608"/>
          </a:xfrm>
          <a:prstGeom prst="rect">
            <a:avLst/>
          </a:prstGeom>
          <a:noFill/>
          <a:ln/>
        </p:spPr>
        <p:txBody>
          <a:bodyPr wrap="square" lIns="0" tIns="0" rIns="0" bIns="0" rtlCol="0" anchor="ctr"/>
          <a:lstStyle/>
          <a:p>
            <a:pPr marL="0" indent="0">
              <a:buNone/>
            </a:pPr>
            <a:r>
              <a:rPr lang="en-US" sz="1300" b="1" dirty="0">
                <a:solidFill>
                  <a:srgbClr val="222222"/>
                </a:solidFill>
                <a:latin typeface="에이투지체 5 Medium"/>
                <a:ea typeface="에이투지체 5 Medium"/>
                <a:cs typeface="에이투지체 5 Medium"/>
              </a:rPr>
              <a:t>응급실 운영기관</a:t>
            </a:r>
            <a:endParaRPr lang="en-US" sz="1300" dirty="0"/>
          </a:p>
        </p:txBody>
      </p:sp>
      <p:sp>
        <p:nvSpPr>
          <p:cNvPr id="16" name="Text 12"/>
          <p:cNvSpPr txBox="1"/>
          <p:nvPr/>
        </p:nvSpPr>
        <p:spPr>
          <a:xfrm>
            <a:off x="9692640" y="3675888"/>
            <a:ext cx="1965960" cy="320040"/>
          </a:xfrm>
          <a:prstGeom prst="rect">
            <a:avLst/>
          </a:prstGeom>
          <a:noFill/>
          <a:ln/>
        </p:spPr>
        <p:txBody>
          <a:bodyPr wrap="square" lIns="0" tIns="0" rIns="0" bIns="0" rtlCol="0" anchor="ctr"/>
          <a:lstStyle/>
          <a:p>
            <a:pPr marL="0" indent="0">
              <a:buNone/>
            </a:pPr>
            <a:r>
              <a:rPr lang="en-US" sz="1000" dirty="0">
                <a:solidFill>
                  <a:srgbClr val="45515E"/>
                </a:solidFill>
                <a:latin typeface="에이투지체 5 Medium"/>
                <a:ea typeface="에이투지체 5 Medium"/>
                <a:cs typeface="에이투지체 5 Medium"/>
              </a:rPr>
              <a:t>의료기관 목록 기준</a:t>
            </a:r>
            <a:endParaRPr lang="en-US" sz="1000" dirty="0"/>
          </a:p>
        </p:txBody>
      </p:sp>
      <p:sp>
        <p:nvSpPr>
          <p:cNvPr id="17" name="Shape 13"/>
          <p:cNvSpPr/>
          <p:nvPr/>
        </p:nvSpPr>
        <p:spPr>
          <a:xfrm>
            <a:off x="8229600" y="4297680"/>
            <a:ext cx="3504895" cy="1033272"/>
          </a:xfrm>
          <a:prstGeom prst="roundRect">
            <a:avLst>
              <a:gd name="adj" fmla="val 885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8" name="Text 14"/>
          <p:cNvSpPr txBox="1"/>
          <p:nvPr/>
        </p:nvSpPr>
        <p:spPr>
          <a:xfrm>
            <a:off x="8605911" y="4274820"/>
            <a:ext cx="1280160" cy="1033272"/>
          </a:xfrm>
          <a:prstGeom prst="rect">
            <a:avLst/>
          </a:prstGeom>
          <a:noFill/>
          <a:ln/>
        </p:spPr>
        <p:txBody>
          <a:bodyPr wrap="square" lIns="0" tIns="0" rIns="0" bIns="0" rtlCol="0" anchor="ctr"/>
          <a:lstStyle/>
          <a:p>
            <a:pPr marL="0" indent="0">
              <a:buNone/>
            </a:pPr>
            <a:r>
              <a:rPr lang="en-US" sz="2800" b="1" kern="0" spc="-80" dirty="0" smtClean="0">
                <a:solidFill>
                  <a:srgbClr val="D62828"/>
                </a:solidFill>
                <a:latin typeface="에이투지체 5 Medium"/>
                <a:ea typeface="에이투지체 5 Medium"/>
                <a:cs typeface="에이투지체 5 Medium"/>
              </a:rPr>
              <a:t>8</a:t>
            </a:r>
            <a:r>
              <a:rPr lang="ko-KR" altLang="en-US" sz="2800" b="1" kern="0" spc="-80" dirty="0" smtClean="0">
                <a:solidFill>
                  <a:srgbClr val="D62828"/>
                </a:solidFill>
                <a:latin typeface="에이투지체 5 Medium"/>
                <a:ea typeface="에이투지체 5 Medium"/>
                <a:cs typeface="에이투지체 5 Medium"/>
              </a:rPr>
              <a:t>개</a:t>
            </a:r>
            <a:endParaRPr lang="en-US" sz="2800" b="1" dirty="0"/>
          </a:p>
        </p:txBody>
      </p:sp>
      <p:sp>
        <p:nvSpPr>
          <p:cNvPr id="19" name="Text 15"/>
          <p:cNvSpPr txBox="1"/>
          <p:nvPr/>
        </p:nvSpPr>
        <p:spPr>
          <a:xfrm>
            <a:off x="9692640" y="4498848"/>
            <a:ext cx="1920240" cy="292608"/>
          </a:xfrm>
          <a:prstGeom prst="rect">
            <a:avLst/>
          </a:prstGeom>
          <a:noFill/>
          <a:ln/>
        </p:spPr>
        <p:txBody>
          <a:bodyPr wrap="square" lIns="0" tIns="0" rIns="0" bIns="0" rtlCol="0" anchor="ctr"/>
          <a:lstStyle/>
          <a:p>
            <a:pPr marL="0" indent="0">
              <a:buNone/>
            </a:pPr>
            <a:r>
              <a:rPr lang="en-US" sz="1300" b="1" dirty="0">
                <a:solidFill>
                  <a:srgbClr val="222222"/>
                </a:solidFill>
                <a:latin typeface="에이투지체 5 Medium"/>
                <a:ea typeface="에이투지체 5 Medium"/>
                <a:cs typeface="에이투지체 5 Medium"/>
              </a:rPr>
              <a:t>과밀 병원</a:t>
            </a:r>
            <a:endParaRPr lang="en-US" sz="1300" dirty="0"/>
          </a:p>
        </p:txBody>
      </p:sp>
      <p:sp>
        <p:nvSpPr>
          <p:cNvPr id="20" name="Text 16"/>
          <p:cNvSpPr txBox="1"/>
          <p:nvPr/>
        </p:nvSpPr>
        <p:spPr>
          <a:xfrm>
            <a:off x="9692640" y="4828032"/>
            <a:ext cx="1965960" cy="320040"/>
          </a:xfrm>
          <a:prstGeom prst="rect">
            <a:avLst/>
          </a:prstGeom>
          <a:noFill/>
          <a:ln/>
        </p:spPr>
        <p:txBody>
          <a:bodyPr wrap="square" lIns="0" tIns="0" rIns="0" bIns="0" rtlCol="0" anchor="ctr"/>
          <a:lstStyle/>
          <a:p>
            <a:pPr marL="0" indent="0">
              <a:buNone/>
            </a:pPr>
            <a:r>
              <a:rPr lang="en-US" sz="1000" dirty="0">
                <a:solidFill>
                  <a:srgbClr val="45515E"/>
                </a:solidFill>
                <a:latin typeface="에이투지체 5 Medium"/>
                <a:ea typeface="에이투지체 5 Medium"/>
                <a:cs typeface="에이투지체 5 Medium"/>
              </a:rPr>
              <a:t>수집 시점 기준</a:t>
            </a:r>
            <a:endParaRPr lang="en-US" sz="1000" dirty="0"/>
          </a:p>
        </p:txBody>
      </p:sp>
      <p:sp>
        <p:nvSpPr>
          <p:cNvPr id="21" name="Shape 17"/>
          <p:cNvSpPr/>
          <p:nvPr/>
        </p:nvSpPr>
        <p:spPr>
          <a:xfrm>
            <a:off x="457200" y="5550408"/>
            <a:ext cx="11277295" cy="640080"/>
          </a:xfrm>
          <a:prstGeom prst="roundRect">
            <a:avLst>
              <a:gd name="adj" fmla="val 14286"/>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2" name="Text 18"/>
          <p:cNvSpPr txBox="1"/>
          <p:nvPr/>
        </p:nvSpPr>
        <p:spPr>
          <a:xfrm>
            <a:off x="640080" y="5550408"/>
            <a:ext cx="10908792" cy="640080"/>
          </a:xfrm>
          <a:prstGeom prst="rect">
            <a:avLst/>
          </a:prstGeom>
          <a:noFill/>
          <a:ln/>
        </p:spPr>
        <p:txBody>
          <a:bodyPr wrap="square" lIns="0" tIns="0" rIns="0" bIns="0" rtlCol="0" anchor="ctr"/>
          <a:lstStyle/>
          <a:p>
            <a:pPr marL="0" indent="0" algn="ctr">
              <a:buNone/>
            </a:pPr>
            <a:r>
              <a:rPr lang="en-US" sz="1400" dirty="0" err="1" smtClean="0">
                <a:solidFill>
                  <a:srgbClr val="222222"/>
                </a:solidFill>
                <a:latin typeface="에이투지체 5 Medium"/>
                <a:ea typeface="에이투지체 5 Medium"/>
                <a:cs typeface="에이투지체 5 Medium"/>
              </a:rPr>
              <a:t>예측</a:t>
            </a:r>
            <a:r>
              <a:rPr lang="en-US" sz="1400" dirty="0" smtClean="0">
                <a:solidFill>
                  <a:srgbClr val="222222"/>
                </a:solidFill>
                <a:latin typeface="에이투지체 5 Medium"/>
                <a:ea typeface="에이투지체 5 Medium"/>
                <a:cs typeface="에이투지체 5 Medium"/>
              </a:rPr>
              <a:t> </a:t>
            </a:r>
            <a:r>
              <a:rPr lang="en-US" sz="1400" dirty="0">
                <a:solidFill>
                  <a:srgbClr val="222222"/>
                </a:solidFill>
                <a:latin typeface="에이투지체 5 Medium"/>
                <a:ea typeface="에이투지체 5 Medium"/>
                <a:cs typeface="에이투지체 5 Medium"/>
              </a:rPr>
              <a:t>모델은 구 × 월 단위의 단일 집계 기준 자료만 사용, 병상 자료는 서비스 참고 정보로 분리</a:t>
            </a:r>
            <a:endParaRPr lang="en-US" sz="14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01  데이터 수집</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a:ea typeface="에이투지체 5 Medium"/>
                <a:cs typeface="에이투지체 5 Medium"/>
              </a:rPr>
              <a:t>공공 API 수집 방식</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소방서 단위 수집 → 자치구 매핑, 누락 월 재수집 자동화</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11</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01_119_공공API_연동_v2.ipynb · 02_119_전처리_검토수정.ipynb</a:t>
            </a:r>
            <a:endParaRPr lang="en-US" sz="900" dirty="0"/>
          </a:p>
        </p:txBody>
      </p:sp>
      <p:sp>
        <p:nvSpPr>
          <p:cNvPr id="8" name="Shape 5"/>
          <p:cNvSpPr/>
          <p:nvPr/>
        </p:nvSpPr>
        <p:spPr>
          <a:xfrm>
            <a:off x="457200" y="1993392"/>
            <a:ext cx="2613584" cy="2093976"/>
          </a:xfrm>
          <a:prstGeom prst="roundRect">
            <a:avLst>
              <a:gd name="adj" fmla="val 43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9" name="Text 6"/>
          <p:cNvSpPr txBox="1"/>
          <p:nvPr/>
        </p:nvSpPr>
        <p:spPr>
          <a:xfrm>
            <a:off x="676656" y="2176272"/>
            <a:ext cx="548640" cy="274320"/>
          </a:xfrm>
          <a:prstGeom prst="rect">
            <a:avLst/>
          </a:prstGeom>
          <a:noFill/>
          <a:ln/>
        </p:spPr>
        <p:txBody>
          <a:bodyPr wrap="square" lIns="0" tIns="0" rIns="0" bIns="0" rtlCol="0" anchor="ctr"/>
          <a:lstStyle/>
          <a:p>
            <a:pPr marL="0" indent="0">
              <a:buNone/>
            </a:pPr>
            <a:r>
              <a:rPr lang="en-US" sz="1300" b="1" dirty="0">
                <a:solidFill>
                  <a:srgbClr val="D62828"/>
                </a:solidFill>
                <a:latin typeface="에이투지체 5 Medium"/>
                <a:ea typeface="에이투지체 5 Medium"/>
                <a:cs typeface="에이투지체 5 Medium"/>
              </a:rPr>
              <a:t>01</a:t>
            </a:r>
            <a:endParaRPr lang="en-US" sz="1300" dirty="0"/>
          </a:p>
        </p:txBody>
      </p:sp>
      <p:sp>
        <p:nvSpPr>
          <p:cNvPr id="10" name="Text 7"/>
          <p:cNvSpPr txBox="1"/>
          <p:nvPr/>
        </p:nvSpPr>
        <p:spPr>
          <a:xfrm>
            <a:off x="676656" y="2468880"/>
            <a:ext cx="2174672" cy="347472"/>
          </a:xfrm>
          <a:prstGeom prst="rect">
            <a:avLst/>
          </a:prstGeom>
          <a:noFill/>
          <a:ln/>
        </p:spPr>
        <p:txBody>
          <a:bodyPr wrap="square" lIns="0" tIns="0" rIns="0" bIns="0" rtlCol="0" anchor="ctr"/>
          <a:lstStyle/>
          <a:p>
            <a:pPr marL="0" indent="0">
              <a:buNone/>
            </a:pPr>
            <a:r>
              <a:rPr lang="en-US" sz="1600" b="1" dirty="0">
                <a:solidFill>
                  <a:srgbClr val="222222"/>
                </a:solidFill>
                <a:latin typeface="에이투지체 5 Medium"/>
                <a:ea typeface="에이투지체 5 Medium"/>
                <a:cs typeface="에이투지체 5 Medium"/>
              </a:rPr>
              <a:t>자치구 매핑</a:t>
            </a:r>
            <a:endParaRPr lang="en-US" sz="1600" dirty="0"/>
          </a:p>
        </p:txBody>
      </p:sp>
      <p:sp>
        <p:nvSpPr>
          <p:cNvPr id="11" name="Shape 8"/>
          <p:cNvSpPr/>
          <p:nvPr/>
        </p:nvSpPr>
        <p:spPr>
          <a:xfrm>
            <a:off x="676656" y="2907792"/>
            <a:ext cx="2174672" cy="0"/>
          </a:xfrm>
          <a:prstGeom prst="line">
            <a:avLst/>
          </a:prstGeom>
          <a:noFill/>
          <a:ln w="9525">
            <a:solidFill>
              <a:srgbClr val="E5E7EB"/>
            </a:solidFill>
            <a:prstDash val="solid"/>
          </a:ln>
        </p:spPr>
        <p:txBody>
          <a:bodyPr/>
          <a:lstStyle/>
          <a:p>
            <a:endParaRPr/>
          </a:p>
        </p:txBody>
      </p:sp>
      <p:sp>
        <p:nvSpPr>
          <p:cNvPr id="12" name="Text 9"/>
          <p:cNvSpPr txBox="1"/>
          <p:nvPr/>
        </p:nvSpPr>
        <p:spPr>
          <a:xfrm>
            <a:off x="676656" y="3017520"/>
            <a:ext cx="2174672" cy="950976"/>
          </a:xfrm>
          <a:prstGeom prst="rect">
            <a:avLst/>
          </a:prstGeom>
          <a:noFill/>
          <a:ln/>
        </p:spPr>
        <p:txBody>
          <a:bodyPr wrap="square" lIns="0" tIns="0" rIns="0" bIns="0" rtlCol="0" anchor="t"/>
          <a:lstStyle/>
          <a:p>
            <a:pPr marL="0" indent="0">
              <a:lnSpc>
                <a:spcPct val="130000"/>
              </a:lnSpc>
              <a:buNone/>
            </a:pPr>
            <a:r>
              <a:rPr lang="en-US" sz="1100" dirty="0">
                <a:solidFill>
                  <a:srgbClr val="45515E"/>
                </a:solidFill>
                <a:latin typeface="에이투지체 5 Medium"/>
                <a:ea typeface="에이투지체 5 Medium"/>
                <a:cs typeface="에이투지체 5 Medium"/>
              </a:rPr>
              <a:t>관할구역에서 구 이름 추출 → 소방서별 최빈 자치구 연결</a:t>
            </a:r>
            <a:endParaRPr lang="en-US" sz="1100" dirty="0"/>
          </a:p>
        </p:txBody>
      </p:sp>
      <p:sp>
        <p:nvSpPr>
          <p:cNvPr id="13" name="Shape 10"/>
          <p:cNvSpPr/>
          <p:nvPr/>
        </p:nvSpPr>
        <p:spPr>
          <a:xfrm>
            <a:off x="3107360" y="3040380"/>
            <a:ext cx="201168" cy="0"/>
          </a:xfrm>
          <a:prstGeom prst="line">
            <a:avLst/>
          </a:prstGeom>
          <a:noFill/>
          <a:ln w="15875">
            <a:solidFill>
              <a:srgbClr val="8E8E93"/>
            </a:solidFill>
            <a:prstDash val="solid"/>
            <a:tailEnd type="triangle"/>
          </a:ln>
        </p:spPr>
        <p:txBody>
          <a:bodyPr/>
          <a:lstStyle/>
          <a:p>
            <a:endParaRPr/>
          </a:p>
        </p:txBody>
      </p:sp>
      <p:sp>
        <p:nvSpPr>
          <p:cNvPr id="14" name="Shape 11"/>
          <p:cNvSpPr/>
          <p:nvPr/>
        </p:nvSpPr>
        <p:spPr>
          <a:xfrm>
            <a:off x="3345104" y="1993392"/>
            <a:ext cx="2613584" cy="2093976"/>
          </a:xfrm>
          <a:prstGeom prst="roundRect">
            <a:avLst>
              <a:gd name="adj" fmla="val 43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5" name="Text 12"/>
          <p:cNvSpPr txBox="1"/>
          <p:nvPr/>
        </p:nvSpPr>
        <p:spPr>
          <a:xfrm>
            <a:off x="3564560" y="2176272"/>
            <a:ext cx="548640" cy="274320"/>
          </a:xfrm>
          <a:prstGeom prst="rect">
            <a:avLst/>
          </a:prstGeom>
          <a:noFill/>
          <a:ln/>
        </p:spPr>
        <p:txBody>
          <a:bodyPr wrap="square" lIns="0" tIns="0" rIns="0" bIns="0" rtlCol="0" anchor="ctr"/>
          <a:lstStyle/>
          <a:p>
            <a:pPr marL="0" indent="0">
              <a:buNone/>
            </a:pPr>
            <a:r>
              <a:rPr lang="en-US" sz="1300" b="1" dirty="0">
                <a:solidFill>
                  <a:srgbClr val="D62828"/>
                </a:solidFill>
                <a:latin typeface="에이투지체 5 Medium"/>
                <a:ea typeface="에이투지체 5 Medium"/>
                <a:cs typeface="에이투지체 5 Medium"/>
              </a:rPr>
              <a:t>02</a:t>
            </a:r>
            <a:endParaRPr lang="en-US" sz="1300" dirty="0"/>
          </a:p>
        </p:txBody>
      </p:sp>
      <p:sp>
        <p:nvSpPr>
          <p:cNvPr id="16" name="Text 13"/>
          <p:cNvSpPr txBox="1"/>
          <p:nvPr/>
        </p:nvSpPr>
        <p:spPr>
          <a:xfrm>
            <a:off x="3564560" y="2468880"/>
            <a:ext cx="2174672" cy="347472"/>
          </a:xfrm>
          <a:prstGeom prst="rect">
            <a:avLst/>
          </a:prstGeom>
          <a:noFill/>
          <a:ln/>
        </p:spPr>
        <p:txBody>
          <a:bodyPr wrap="square" lIns="0" tIns="0" rIns="0" bIns="0" rtlCol="0" anchor="ctr"/>
          <a:lstStyle/>
          <a:p>
            <a:pPr marL="0" indent="0">
              <a:buNone/>
            </a:pPr>
            <a:r>
              <a:rPr lang="en-US" sz="1600" b="1" dirty="0">
                <a:solidFill>
                  <a:srgbClr val="222222"/>
                </a:solidFill>
                <a:latin typeface="에이투지체 5 Medium"/>
                <a:ea typeface="에이투지체 5 Medium"/>
                <a:cs typeface="에이투지체 5 Medium"/>
              </a:rPr>
              <a:t>누락 월 수집</a:t>
            </a:r>
            <a:endParaRPr lang="en-US" sz="1600" dirty="0"/>
          </a:p>
        </p:txBody>
      </p:sp>
      <p:sp>
        <p:nvSpPr>
          <p:cNvPr id="17" name="Shape 14"/>
          <p:cNvSpPr/>
          <p:nvPr/>
        </p:nvSpPr>
        <p:spPr>
          <a:xfrm>
            <a:off x="3564560" y="2907792"/>
            <a:ext cx="2174672" cy="0"/>
          </a:xfrm>
          <a:prstGeom prst="line">
            <a:avLst/>
          </a:prstGeom>
          <a:noFill/>
          <a:ln w="9525">
            <a:solidFill>
              <a:srgbClr val="E5E7EB"/>
            </a:solidFill>
            <a:prstDash val="solid"/>
          </a:ln>
        </p:spPr>
        <p:txBody>
          <a:bodyPr/>
          <a:lstStyle/>
          <a:p>
            <a:endParaRPr/>
          </a:p>
        </p:txBody>
      </p:sp>
      <p:sp>
        <p:nvSpPr>
          <p:cNvPr id="18" name="Text 15"/>
          <p:cNvSpPr txBox="1"/>
          <p:nvPr/>
        </p:nvSpPr>
        <p:spPr>
          <a:xfrm>
            <a:off x="3564560" y="3017520"/>
            <a:ext cx="2174672" cy="950976"/>
          </a:xfrm>
          <a:prstGeom prst="rect">
            <a:avLst/>
          </a:prstGeom>
          <a:noFill/>
          <a:ln/>
        </p:spPr>
        <p:txBody>
          <a:bodyPr wrap="square" lIns="0" tIns="0" rIns="0" bIns="0" rtlCol="0" anchor="t"/>
          <a:lstStyle/>
          <a:p>
            <a:pPr marL="0" indent="0">
              <a:lnSpc>
                <a:spcPct val="130000"/>
              </a:lnSpc>
              <a:buNone/>
            </a:pPr>
            <a:r>
              <a:rPr lang="en-US" sz="1100" dirty="0">
                <a:solidFill>
                  <a:srgbClr val="45515E"/>
                </a:solidFill>
                <a:latin typeface="에이투지체 5 Medium"/>
                <a:ea typeface="에이투지체 5 Medium"/>
                <a:cs typeface="에이투지체 5 Medium"/>
              </a:rPr>
              <a:t>수집 완료 월 제외, 누락 월만 호출 및 월별 중간 저장</a:t>
            </a:r>
            <a:endParaRPr lang="en-US" sz="1100" dirty="0"/>
          </a:p>
        </p:txBody>
      </p:sp>
      <p:sp>
        <p:nvSpPr>
          <p:cNvPr id="19" name="Shape 16"/>
          <p:cNvSpPr/>
          <p:nvPr/>
        </p:nvSpPr>
        <p:spPr>
          <a:xfrm>
            <a:off x="5995264" y="3040380"/>
            <a:ext cx="201168" cy="0"/>
          </a:xfrm>
          <a:prstGeom prst="line">
            <a:avLst/>
          </a:prstGeom>
          <a:noFill/>
          <a:ln w="15875">
            <a:solidFill>
              <a:srgbClr val="8E8E93"/>
            </a:solidFill>
            <a:prstDash val="solid"/>
            <a:tailEnd type="triangle"/>
          </a:ln>
        </p:spPr>
        <p:txBody>
          <a:bodyPr/>
          <a:lstStyle/>
          <a:p>
            <a:endParaRPr/>
          </a:p>
        </p:txBody>
      </p:sp>
      <p:sp>
        <p:nvSpPr>
          <p:cNvPr id="20" name="Shape 17"/>
          <p:cNvSpPr/>
          <p:nvPr/>
        </p:nvSpPr>
        <p:spPr>
          <a:xfrm>
            <a:off x="6233008" y="1993392"/>
            <a:ext cx="2613584" cy="2093976"/>
          </a:xfrm>
          <a:prstGeom prst="roundRect">
            <a:avLst>
              <a:gd name="adj" fmla="val 43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1" name="Text 18"/>
          <p:cNvSpPr txBox="1"/>
          <p:nvPr/>
        </p:nvSpPr>
        <p:spPr>
          <a:xfrm>
            <a:off x="6452464" y="2176272"/>
            <a:ext cx="548640" cy="274320"/>
          </a:xfrm>
          <a:prstGeom prst="rect">
            <a:avLst/>
          </a:prstGeom>
          <a:noFill/>
          <a:ln/>
        </p:spPr>
        <p:txBody>
          <a:bodyPr wrap="square" lIns="0" tIns="0" rIns="0" bIns="0" rtlCol="0" anchor="ctr"/>
          <a:lstStyle/>
          <a:p>
            <a:pPr marL="0" indent="0">
              <a:buNone/>
            </a:pPr>
            <a:r>
              <a:rPr lang="en-US" sz="1300" b="1" dirty="0">
                <a:solidFill>
                  <a:srgbClr val="D62828"/>
                </a:solidFill>
                <a:latin typeface="에이투지체 5 Medium"/>
                <a:ea typeface="에이투지체 5 Medium"/>
                <a:cs typeface="에이투지체 5 Medium"/>
              </a:rPr>
              <a:t>03</a:t>
            </a:r>
            <a:endParaRPr lang="en-US" sz="1300" dirty="0"/>
          </a:p>
        </p:txBody>
      </p:sp>
      <p:sp>
        <p:nvSpPr>
          <p:cNvPr id="22" name="Text 19"/>
          <p:cNvSpPr txBox="1"/>
          <p:nvPr/>
        </p:nvSpPr>
        <p:spPr>
          <a:xfrm>
            <a:off x="6452464" y="2468880"/>
            <a:ext cx="2174672" cy="347472"/>
          </a:xfrm>
          <a:prstGeom prst="rect">
            <a:avLst/>
          </a:prstGeom>
          <a:noFill/>
          <a:ln/>
        </p:spPr>
        <p:txBody>
          <a:bodyPr wrap="square" lIns="0" tIns="0" rIns="0" bIns="0" rtlCol="0" anchor="ctr"/>
          <a:lstStyle/>
          <a:p>
            <a:pPr marL="0" indent="0">
              <a:buNone/>
            </a:pPr>
            <a:r>
              <a:rPr lang="en-US" sz="1600" b="1" dirty="0">
                <a:solidFill>
                  <a:srgbClr val="222222"/>
                </a:solidFill>
                <a:latin typeface="에이투지체 5 Medium"/>
                <a:ea typeface="에이투지체 5 Medium"/>
                <a:cs typeface="에이투지체 5 Medium"/>
              </a:rPr>
              <a:t>오류 재시도</a:t>
            </a:r>
            <a:endParaRPr lang="en-US" sz="1600" dirty="0"/>
          </a:p>
        </p:txBody>
      </p:sp>
      <p:sp>
        <p:nvSpPr>
          <p:cNvPr id="23" name="Shape 20"/>
          <p:cNvSpPr/>
          <p:nvPr/>
        </p:nvSpPr>
        <p:spPr>
          <a:xfrm>
            <a:off x="6452464" y="2907792"/>
            <a:ext cx="2174672" cy="0"/>
          </a:xfrm>
          <a:prstGeom prst="line">
            <a:avLst/>
          </a:prstGeom>
          <a:noFill/>
          <a:ln w="9525">
            <a:solidFill>
              <a:srgbClr val="E5E7EB"/>
            </a:solidFill>
            <a:prstDash val="solid"/>
          </a:ln>
        </p:spPr>
        <p:txBody>
          <a:bodyPr/>
          <a:lstStyle/>
          <a:p>
            <a:endParaRPr/>
          </a:p>
        </p:txBody>
      </p:sp>
      <p:sp>
        <p:nvSpPr>
          <p:cNvPr id="24" name="Text 21"/>
          <p:cNvSpPr txBox="1"/>
          <p:nvPr/>
        </p:nvSpPr>
        <p:spPr>
          <a:xfrm>
            <a:off x="6452464" y="3017520"/>
            <a:ext cx="2174672" cy="950976"/>
          </a:xfrm>
          <a:prstGeom prst="rect">
            <a:avLst/>
          </a:prstGeom>
          <a:noFill/>
          <a:ln/>
        </p:spPr>
        <p:txBody>
          <a:bodyPr wrap="square" lIns="0" tIns="0" rIns="0" bIns="0" rtlCol="0" anchor="t"/>
          <a:lstStyle/>
          <a:p>
            <a:pPr marL="0" indent="0">
              <a:lnSpc>
                <a:spcPct val="130000"/>
              </a:lnSpc>
              <a:buNone/>
            </a:pPr>
            <a:r>
              <a:rPr lang="en-US" sz="1100" dirty="0">
                <a:solidFill>
                  <a:srgbClr val="45515E"/>
                </a:solidFill>
                <a:latin typeface="에이투지체 5 Medium"/>
                <a:ea typeface="에이투지체 5 Medium"/>
                <a:cs typeface="에이투지체 5 Medium"/>
              </a:rPr>
              <a:t>2초 → 4초 → 8초 간격 재시도, 사용량 소진 시 중단</a:t>
            </a:r>
            <a:endParaRPr lang="en-US" sz="1100" dirty="0"/>
          </a:p>
        </p:txBody>
      </p:sp>
      <p:sp>
        <p:nvSpPr>
          <p:cNvPr id="25" name="Shape 22"/>
          <p:cNvSpPr/>
          <p:nvPr/>
        </p:nvSpPr>
        <p:spPr>
          <a:xfrm>
            <a:off x="8883167" y="3040380"/>
            <a:ext cx="201168" cy="0"/>
          </a:xfrm>
          <a:prstGeom prst="line">
            <a:avLst/>
          </a:prstGeom>
          <a:noFill/>
          <a:ln w="15875">
            <a:solidFill>
              <a:srgbClr val="8E8E93"/>
            </a:solidFill>
            <a:prstDash val="solid"/>
            <a:tailEnd type="triangle"/>
          </a:ln>
        </p:spPr>
        <p:txBody>
          <a:bodyPr/>
          <a:lstStyle/>
          <a:p>
            <a:endParaRPr/>
          </a:p>
        </p:txBody>
      </p:sp>
      <p:sp>
        <p:nvSpPr>
          <p:cNvPr id="26" name="Shape 23"/>
          <p:cNvSpPr/>
          <p:nvPr/>
        </p:nvSpPr>
        <p:spPr>
          <a:xfrm>
            <a:off x="9120911" y="1993392"/>
            <a:ext cx="2613584" cy="2093976"/>
          </a:xfrm>
          <a:prstGeom prst="roundRect">
            <a:avLst>
              <a:gd name="adj" fmla="val 43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7" name="Text 24"/>
          <p:cNvSpPr txBox="1"/>
          <p:nvPr/>
        </p:nvSpPr>
        <p:spPr>
          <a:xfrm>
            <a:off x="9340367" y="2176272"/>
            <a:ext cx="548640" cy="274320"/>
          </a:xfrm>
          <a:prstGeom prst="rect">
            <a:avLst/>
          </a:prstGeom>
          <a:noFill/>
          <a:ln/>
        </p:spPr>
        <p:txBody>
          <a:bodyPr wrap="square" lIns="0" tIns="0" rIns="0" bIns="0" rtlCol="0" anchor="ctr"/>
          <a:lstStyle/>
          <a:p>
            <a:pPr marL="0" indent="0">
              <a:buNone/>
            </a:pPr>
            <a:r>
              <a:rPr lang="en-US" sz="1300" b="1" dirty="0">
                <a:solidFill>
                  <a:srgbClr val="D62828"/>
                </a:solidFill>
                <a:latin typeface="에이투지체 5 Medium"/>
                <a:ea typeface="에이투지체 5 Medium"/>
                <a:cs typeface="에이투지체 5 Medium"/>
              </a:rPr>
              <a:t>04</a:t>
            </a:r>
            <a:endParaRPr lang="en-US" sz="1300" dirty="0"/>
          </a:p>
        </p:txBody>
      </p:sp>
      <p:sp>
        <p:nvSpPr>
          <p:cNvPr id="28" name="Text 25"/>
          <p:cNvSpPr txBox="1"/>
          <p:nvPr/>
        </p:nvSpPr>
        <p:spPr>
          <a:xfrm>
            <a:off x="9340367" y="2468880"/>
            <a:ext cx="2174672" cy="347472"/>
          </a:xfrm>
          <a:prstGeom prst="rect">
            <a:avLst/>
          </a:prstGeom>
          <a:noFill/>
          <a:ln/>
        </p:spPr>
        <p:txBody>
          <a:bodyPr wrap="square" lIns="0" tIns="0" rIns="0" bIns="0" rtlCol="0" anchor="ctr"/>
          <a:lstStyle/>
          <a:p>
            <a:pPr marL="0" indent="0">
              <a:buNone/>
            </a:pPr>
            <a:r>
              <a:rPr lang="en-US" sz="1600" b="1" dirty="0">
                <a:solidFill>
                  <a:srgbClr val="222222"/>
                </a:solidFill>
                <a:latin typeface="에이투지체 5 Medium"/>
                <a:ea typeface="에이투지체 5 Medium"/>
                <a:cs typeface="에이투지체 5 Medium"/>
              </a:rPr>
              <a:t>빈 자료 기록</a:t>
            </a:r>
            <a:endParaRPr lang="en-US" sz="1600" dirty="0"/>
          </a:p>
        </p:txBody>
      </p:sp>
      <p:sp>
        <p:nvSpPr>
          <p:cNvPr id="29" name="Shape 26"/>
          <p:cNvSpPr/>
          <p:nvPr/>
        </p:nvSpPr>
        <p:spPr>
          <a:xfrm>
            <a:off x="9340367" y="2907792"/>
            <a:ext cx="2174672" cy="0"/>
          </a:xfrm>
          <a:prstGeom prst="line">
            <a:avLst/>
          </a:prstGeom>
          <a:noFill/>
          <a:ln w="9525">
            <a:solidFill>
              <a:srgbClr val="E5E7EB"/>
            </a:solidFill>
            <a:prstDash val="solid"/>
          </a:ln>
        </p:spPr>
        <p:txBody>
          <a:bodyPr/>
          <a:lstStyle/>
          <a:p>
            <a:endParaRPr/>
          </a:p>
        </p:txBody>
      </p:sp>
      <p:sp>
        <p:nvSpPr>
          <p:cNvPr id="30" name="Text 27"/>
          <p:cNvSpPr txBox="1"/>
          <p:nvPr/>
        </p:nvSpPr>
        <p:spPr>
          <a:xfrm>
            <a:off x="9340367" y="3017520"/>
            <a:ext cx="2174672" cy="950976"/>
          </a:xfrm>
          <a:prstGeom prst="rect">
            <a:avLst/>
          </a:prstGeom>
          <a:noFill/>
          <a:ln/>
        </p:spPr>
        <p:txBody>
          <a:bodyPr wrap="square" lIns="0" tIns="0" rIns="0" bIns="0" rtlCol="0" anchor="t"/>
          <a:lstStyle/>
          <a:p>
            <a:pPr marL="0" indent="0">
              <a:lnSpc>
                <a:spcPct val="130000"/>
              </a:lnSpc>
              <a:buNone/>
            </a:pPr>
            <a:r>
              <a:rPr lang="en-US" sz="1100" dirty="0">
                <a:solidFill>
                  <a:srgbClr val="45515E"/>
                </a:solidFill>
                <a:latin typeface="에이투지체 5 Medium"/>
                <a:ea typeface="에이투지체 5 Medium"/>
                <a:cs typeface="에이투지체 5 Medium"/>
              </a:rPr>
              <a:t>정상 응답 빈 구-월 기록, 재호출 방지</a:t>
            </a:r>
            <a:endParaRPr lang="en-US" sz="1100" dirty="0"/>
          </a:p>
        </p:txBody>
      </p:sp>
      <p:sp>
        <p:nvSpPr>
          <p:cNvPr id="31" name="Shape 28"/>
          <p:cNvSpPr/>
          <p:nvPr/>
        </p:nvSpPr>
        <p:spPr>
          <a:xfrm>
            <a:off x="457200" y="4361688"/>
            <a:ext cx="2681935" cy="1828800"/>
          </a:xfrm>
          <a:prstGeom prst="roundRect">
            <a:avLst>
              <a:gd name="adj" fmla="val 7000"/>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txBody>
          <a:bodyPr/>
          <a:lstStyle/>
          <a:p>
            <a:endParaRPr/>
          </a:p>
        </p:txBody>
      </p:sp>
      <p:sp>
        <p:nvSpPr>
          <p:cNvPr id="32" name="Text 29"/>
          <p:cNvSpPr txBox="1"/>
          <p:nvPr/>
        </p:nvSpPr>
        <p:spPr>
          <a:xfrm>
            <a:off x="676656" y="4544568"/>
            <a:ext cx="2243023" cy="566928"/>
          </a:xfrm>
          <a:prstGeom prst="rect">
            <a:avLst/>
          </a:prstGeom>
          <a:noFill/>
          <a:ln/>
        </p:spPr>
        <p:txBody>
          <a:bodyPr wrap="square" lIns="0" tIns="0" rIns="0" bIns="0" rtlCol="0" anchor="ctr"/>
          <a:lstStyle/>
          <a:p>
            <a:pPr marL="0" indent="0" algn="ctr">
              <a:buNone/>
            </a:pPr>
            <a:r>
              <a:rPr lang="en-US" sz="3600" kern="0" spc="-108" dirty="0">
                <a:solidFill>
                  <a:srgbClr val="FFFFFF"/>
                </a:solidFill>
                <a:latin typeface="에이투지체 5 Medium"/>
                <a:ea typeface="에이투지체 5 Medium"/>
                <a:cs typeface="에이투지체 5 Medium"/>
              </a:rPr>
              <a:t>2,634행</a:t>
            </a:r>
            <a:endParaRPr lang="en-US" sz="3600" dirty="0"/>
          </a:p>
        </p:txBody>
      </p:sp>
      <p:sp>
        <p:nvSpPr>
          <p:cNvPr id="33" name="Text 30"/>
          <p:cNvSpPr txBox="1"/>
          <p:nvPr/>
        </p:nvSpPr>
        <p:spPr>
          <a:xfrm>
            <a:off x="676656" y="5148072"/>
            <a:ext cx="2243023"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에이투지체 5 Medium"/>
                <a:ea typeface="에이투지체 5 Medium"/>
                <a:cs typeface="에이투지체 5 Medium"/>
              </a:rPr>
              <a:t>수집 결과</a:t>
            </a:r>
            <a:endParaRPr lang="en-US" sz="1400" dirty="0"/>
          </a:p>
        </p:txBody>
      </p:sp>
      <p:sp>
        <p:nvSpPr>
          <p:cNvPr id="34" name="Shape 31"/>
          <p:cNvSpPr/>
          <p:nvPr/>
        </p:nvSpPr>
        <p:spPr>
          <a:xfrm>
            <a:off x="676656" y="5550408"/>
            <a:ext cx="2243023" cy="0"/>
          </a:xfrm>
          <a:prstGeom prst="line">
            <a:avLst/>
          </a:prstGeom>
          <a:noFill/>
          <a:ln w="9525">
            <a:solidFill>
              <a:srgbClr val="E87A7A"/>
            </a:solidFill>
            <a:prstDash val="solid"/>
          </a:ln>
        </p:spPr>
        <p:txBody>
          <a:bodyPr/>
          <a:lstStyle/>
          <a:p>
            <a:endParaRPr/>
          </a:p>
        </p:txBody>
      </p:sp>
      <p:sp>
        <p:nvSpPr>
          <p:cNvPr id="35" name="Text 32"/>
          <p:cNvSpPr txBox="1"/>
          <p:nvPr/>
        </p:nvSpPr>
        <p:spPr>
          <a:xfrm>
            <a:off x="676656" y="5660136"/>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FDE3E3"/>
                </a:solidFill>
                <a:latin typeface="에이투지체 5 Medium"/>
                <a:ea typeface="에이투지체 5 Medium"/>
                <a:cs typeface="에이투지체 5 Medium"/>
              </a:rPr>
              <a:t>2017.01 ~ 2025.12 · 25개 구</a:t>
            </a:r>
            <a:endParaRPr lang="en-US" sz="1100" dirty="0"/>
          </a:p>
        </p:txBody>
      </p:sp>
      <p:sp>
        <p:nvSpPr>
          <p:cNvPr id="36" name="Shape 33"/>
          <p:cNvSpPr/>
          <p:nvPr/>
        </p:nvSpPr>
        <p:spPr>
          <a:xfrm>
            <a:off x="3322015" y="4361688"/>
            <a:ext cx="2681935"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37" name="Text 34"/>
          <p:cNvSpPr txBox="1"/>
          <p:nvPr/>
        </p:nvSpPr>
        <p:spPr>
          <a:xfrm>
            <a:off x="3541471" y="4544568"/>
            <a:ext cx="2243023" cy="566928"/>
          </a:xfrm>
          <a:prstGeom prst="rect">
            <a:avLst/>
          </a:prstGeom>
          <a:noFill/>
          <a:ln/>
        </p:spPr>
        <p:txBody>
          <a:bodyPr wrap="square" lIns="0" tIns="0" rIns="0" bIns="0" rtlCol="0" anchor="ctr"/>
          <a:lstStyle/>
          <a:p>
            <a:pPr marL="0" indent="0" algn="ctr">
              <a:buNone/>
            </a:pPr>
            <a:r>
              <a:rPr lang="en-US" sz="3600" kern="0" spc="-108" dirty="0">
                <a:solidFill>
                  <a:srgbClr val="D62828"/>
                </a:solidFill>
                <a:latin typeface="에이투지체 5 Medium"/>
                <a:ea typeface="에이투지체 5 Medium"/>
                <a:cs typeface="에이투지체 5 Medium"/>
              </a:rPr>
              <a:t>2,700칸</a:t>
            </a:r>
            <a:endParaRPr lang="en-US" sz="3600" dirty="0"/>
          </a:p>
        </p:txBody>
      </p:sp>
      <p:sp>
        <p:nvSpPr>
          <p:cNvPr id="38" name="Text 35"/>
          <p:cNvSpPr txBox="1"/>
          <p:nvPr/>
        </p:nvSpPr>
        <p:spPr>
          <a:xfrm>
            <a:off x="3541471" y="5148072"/>
            <a:ext cx="2243023" cy="274320"/>
          </a:xfrm>
          <a:prstGeom prst="rect">
            <a:avLst/>
          </a:prstGeom>
          <a:noFill/>
          <a:ln/>
        </p:spPr>
        <p:txBody>
          <a:bodyPr wrap="square" lIns="0" tIns="0" rIns="0" bIns="0" rtlCol="0" anchor="ctr"/>
          <a:lstStyle/>
          <a:p>
            <a:pPr marL="0" indent="0" algn="ctr">
              <a:buNone/>
            </a:pPr>
            <a:r>
              <a:rPr lang="en-US" sz="1400" b="1" dirty="0">
                <a:solidFill>
                  <a:srgbClr val="222222"/>
                </a:solidFill>
                <a:latin typeface="에이투지체 5 Medium"/>
                <a:ea typeface="에이투지체 5 Medium"/>
                <a:cs typeface="에이투지체 5 Medium"/>
              </a:rPr>
              <a:t>예상 구-월</a:t>
            </a:r>
            <a:endParaRPr lang="en-US" sz="1400" dirty="0"/>
          </a:p>
        </p:txBody>
      </p:sp>
      <p:sp>
        <p:nvSpPr>
          <p:cNvPr id="39" name="Shape 36"/>
          <p:cNvSpPr/>
          <p:nvPr/>
        </p:nvSpPr>
        <p:spPr>
          <a:xfrm>
            <a:off x="3541471" y="5550408"/>
            <a:ext cx="2243023" cy="0"/>
          </a:xfrm>
          <a:prstGeom prst="line">
            <a:avLst/>
          </a:prstGeom>
          <a:noFill/>
          <a:ln w="9525">
            <a:solidFill>
              <a:srgbClr val="E5E7EB"/>
            </a:solidFill>
            <a:prstDash val="solid"/>
          </a:ln>
        </p:spPr>
        <p:txBody>
          <a:bodyPr/>
          <a:lstStyle/>
          <a:p>
            <a:endParaRPr/>
          </a:p>
        </p:txBody>
      </p:sp>
      <p:sp>
        <p:nvSpPr>
          <p:cNvPr id="40" name="Text 37"/>
          <p:cNvSpPr txBox="1"/>
          <p:nvPr/>
        </p:nvSpPr>
        <p:spPr>
          <a:xfrm>
            <a:off x="3541471" y="5660136"/>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45515E"/>
                </a:solidFill>
                <a:latin typeface="에이투지체 5 Medium"/>
                <a:ea typeface="에이투지체 5 Medium"/>
                <a:cs typeface="에이투지체 5 Medium"/>
              </a:rPr>
              <a:t>25개 구 × 108개월</a:t>
            </a:r>
            <a:endParaRPr lang="en-US" sz="1100" dirty="0"/>
          </a:p>
        </p:txBody>
      </p:sp>
      <p:sp>
        <p:nvSpPr>
          <p:cNvPr id="41" name="Shape 38"/>
          <p:cNvSpPr/>
          <p:nvPr/>
        </p:nvSpPr>
        <p:spPr>
          <a:xfrm>
            <a:off x="6186830" y="4361688"/>
            <a:ext cx="2681935"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42" name="Text 39"/>
          <p:cNvSpPr txBox="1"/>
          <p:nvPr/>
        </p:nvSpPr>
        <p:spPr>
          <a:xfrm>
            <a:off x="6406286" y="4544568"/>
            <a:ext cx="2243023" cy="566928"/>
          </a:xfrm>
          <a:prstGeom prst="rect">
            <a:avLst/>
          </a:prstGeom>
          <a:noFill/>
          <a:ln/>
        </p:spPr>
        <p:txBody>
          <a:bodyPr wrap="square" lIns="0" tIns="0" rIns="0" bIns="0" rtlCol="0" anchor="ctr"/>
          <a:lstStyle/>
          <a:p>
            <a:pPr marL="0" indent="0" algn="ctr">
              <a:buNone/>
            </a:pPr>
            <a:r>
              <a:rPr lang="en-US" sz="3600" kern="0" spc="-108" dirty="0">
                <a:solidFill>
                  <a:srgbClr val="D62828"/>
                </a:solidFill>
                <a:latin typeface="에이투지체 5 Medium"/>
                <a:ea typeface="에이투지체 5 Medium"/>
                <a:cs typeface="에이투지체 5 Medium"/>
              </a:rPr>
              <a:t>66칸</a:t>
            </a:r>
            <a:endParaRPr lang="en-US" sz="3600" dirty="0"/>
          </a:p>
        </p:txBody>
      </p:sp>
      <p:sp>
        <p:nvSpPr>
          <p:cNvPr id="43" name="Text 40"/>
          <p:cNvSpPr txBox="1"/>
          <p:nvPr/>
        </p:nvSpPr>
        <p:spPr>
          <a:xfrm>
            <a:off x="6406286" y="5148072"/>
            <a:ext cx="2243023" cy="274320"/>
          </a:xfrm>
          <a:prstGeom prst="rect">
            <a:avLst/>
          </a:prstGeom>
          <a:noFill/>
          <a:ln/>
        </p:spPr>
        <p:txBody>
          <a:bodyPr wrap="square" lIns="0" tIns="0" rIns="0" bIns="0" rtlCol="0" anchor="ctr"/>
          <a:lstStyle/>
          <a:p>
            <a:pPr marL="0" indent="0" algn="ctr">
              <a:buNone/>
            </a:pPr>
            <a:r>
              <a:rPr lang="en-US" sz="1400" b="1" dirty="0">
                <a:solidFill>
                  <a:srgbClr val="222222"/>
                </a:solidFill>
                <a:latin typeface="에이투지체 5 Medium"/>
                <a:ea typeface="에이투지체 5 Medium"/>
                <a:cs typeface="에이투지체 5 Medium"/>
              </a:rPr>
              <a:t>미수집 구-월</a:t>
            </a:r>
            <a:endParaRPr lang="en-US" sz="1400" dirty="0"/>
          </a:p>
        </p:txBody>
      </p:sp>
      <p:sp>
        <p:nvSpPr>
          <p:cNvPr id="44" name="Shape 41"/>
          <p:cNvSpPr/>
          <p:nvPr/>
        </p:nvSpPr>
        <p:spPr>
          <a:xfrm>
            <a:off x="6406286" y="5550408"/>
            <a:ext cx="2243023" cy="0"/>
          </a:xfrm>
          <a:prstGeom prst="line">
            <a:avLst/>
          </a:prstGeom>
          <a:noFill/>
          <a:ln w="9525">
            <a:solidFill>
              <a:srgbClr val="E5E7EB"/>
            </a:solidFill>
            <a:prstDash val="solid"/>
          </a:ln>
        </p:spPr>
        <p:txBody>
          <a:bodyPr/>
          <a:lstStyle/>
          <a:p>
            <a:endParaRPr/>
          </a:p>
        </p:txBody>
      </p:sp>
      <p:sp>
        <p:nvSpPr>
          <p:cNvPr id="45" name="Text 42"/>
          <p:cNvSpPr txBox="1"/>
          <p:nvPr/>
        </p:nvSpPr>
        <p:spPr>
          <a:xfrm>
            <a:off x="6406286" y="5660136"/>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45515E"/>
                </a:solidFill>
                <a:latin typeface="에이투지체 5 Medium"/>
                <a:ea typeface="에이투지체 5 Medium"/>
                <a:cs typeface="에이투지체 5 Medium"/>
              </a:rPr>
              <a:t>성동 6개월 · 금천 60개월</a:t>
            </a:r>
            <a:endParaRPr lang="en-US" sz="1100" dirty="0"/>
          </a:p>
        </p:txBody>
      </p:sp>
      <p:sp>
        <p:nvSpPr>
          <p:cNvPr id="46" name="Shape 43"/>
          <p:cNvSpPr/>
          <p:nvPr/>
        </p:nvSpPr>
        <p:spPr>
          <a:xfrm>
            <a:off x="9051646" y="4361688"/>
            <a:ext cx="2681935"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47" name="Text 44"/>
          <p:cNvSpPr txBox="1"/>
          <p:nvPr/>
        </p:nvSpPr>
        <p:spPr>
          <a:xfrm>
            <a:off x="9271102" y="4544568"/>
            <a:ext cx="2243023" cy="566928"/>
          </a:xfrm>
          <a:prstGeom prst="rect">
            <a:avLst/>
          </a:prstGeom>
          <a:noFill/>
          <a:ln/>
        </p:spPr>
        <p:txBody>
          <a:bodyPr wrap="square" lIns="0" tIns="0" rIns="0" bIns="0" rtlCol="0" anchor="ctr"/>
          <a:lstStyle/>
          <a:p>
            <a:pPr marL="0" indent="0" algn="ctr">
              <a:buNone/>
            </a:pPr>
            <a:r>
              <a:rPr lang="en-US" sz="3600" kern="0" spc="-108" dirty="0">
                <a:solidFill>
                  <a:srgbClr val="D62828"/>
                </a:solidFill>
                <a:latin typeface="에이투지체 5 Medium"/>
                <a:ea typeface="에이투지체 5 Medium"/>
                <a:cs typeface="에이투지체 5 Medium"/>
              </a:rPr>
              <a:t>25 → 25</a:t>
            </a:r>
            <a:endParaRPr lang="en-US" sz="3600" dirty="0"/>
          </a:p>
        </p:txBody>
      </p:sp>
      <p:sp>
        <p:nvSpPr>
          <p:cNvPr id="48" name="Text 45"/>
          <p:cNvSpPr txBox="1"/>
          <p:nvPr/>
        </p:nvSpPr>
        <p:spPr>
          <a:xfrm>
            <a:off x="9271102" y="5148072"/>
            <a:ext cx="2243023" cy="274320"/>
          </a:xfrm>
          <a:prstGeom prst="rect">
            <a:avLst/>
          </a:prstGeom>
          <a:noFill/>
          <a:ln/>
        </p:spPr>
        <p:txBody>
          <a:bodyPr wrap="square" lIns="0" tIns="0" rIns="0" bIns="0" rtlCol="0" anchor="ctr"/>
          <a:lstStyle/>
          <a:p>
            <a:pPr marL="0" indent="0" algn="ctr">
              <a:buNone/>
            </a:pPr>
            <a:r>
              <a:rPr lang="en-US" sz="1400" b="1" dirty="0">
                <a:solidFill>
                  <a:srgbClr val="222222"/>
                </a:solidFill>
                <a:latin typeface="에이투지체 5 Medium"/>
                <a:ea typeface="에이투지체 5 Medium"/>
                <a:cs typeface="에이투지체 5 Medium"/>
              </a:rPr>
              <a:t>소방서 → 자치구</a:t>
            </a:r>
            <a:endParaRPr lang="en-US" sz="1400" dirty="0"/>
          </a:p>
        </p:txBody>
      </p:sp>
      <p:sp>
        <p:nvSpPr>
          <p:cNvPr id="49" name="Shape 46"/>
          <p:cNvSpPr/>
          <p:nvPr/>
        </p:nvSpPr>
        <p:spPr>
          <a:xfrm>
            <a:off x="9271102" y="5550408"/>
            <a:ext cx="2243023" cy="0"/>
          </a:xfrm>
          <a:prstGeom prst="line">
            <a:avLst/>
          </a:prstGeom>
          <a:noFill/>
          <a:ln w="9525">
            <a:solidFill>
              <a:srgbClr val="E5E7EB"/>
            </a:solidFill>
            <a:prstDash val="solid"/>
          </a:ln>
        </p:spPr>
        <p:txBody>
          <a:bodyPr/>
          <a:lstStyle/>
          <a:p>
            <a:endParaRPr/>
          </a:p>
        </p:txBody>
      </p:sp>
      <p:sp>
        <p:nvSpPr>
          <p:cNvPr id="50" name="Text 47"/>
          <p:cNvSpPr txBox="1"/>
          <p:nvPr/>
        </p:nvSpPr>
        <p:spPr>
          <a:xfrm>
            <a:off x="9271102" y="5660136"/>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45515E"/>
                </a:solidFill>
                <a:latin typeface="에이투지체 5 Medium"/>
                <a:ea typeface="에이투지체 5 Medium"/>
                <a:cs typeface="에이투지체 5 Medium"/>
              </a:rPr>
              <a:t>누락 · 중복 매핑 없음</a:t>
            </a:r>
            <a:endParaRPr lang="en-US" sz="11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81E25"/>
        </a:solidFill>
        <a:effectLst/>
      </p:bgPr>
    </p:bg>
    <p:spTree>
      <p:nvGrpSpPr>
        <p:cNvPr id="1" name=""/>
        <p:cNvGrpSpPr/>
        <p:nvPr/>
      </p:nvGrpSpPr>
      <p:grpSpPr>
        <a:xfrm>
          <a:off x="0" y="0"/>
          <a:ext cx="0" cy="0"/>
          <a:chOff x="0" y="0"/>
          <a:chExt cx="0" cy="0"/>
        </a:xfrm>
      </p:grpSpPr>
      <p:sp>
        <p:nvSpPr>
          <p:cNvPr id="2" name="Text 0"/>
          <p:cNvSpPr txBox="1"/>
          <p:nvPr/>
        </p:nvSpPr>
        <p:spPr>
          <a:xfrm>
            <a:off x="822960" y="1965960"/>
            <a:ext cx="3657600" cy="365760"/>
          </a:xfrm>
          <a:prstGeom prst="rect">
            <a:avLst/>
          </a:prstGeom>
          <a:noFill/>
          <a:ln/>
        </p:spPr>
        <p:txBody>
          <a:bodyPr wrap="square" lIns="0" tIns="0" rIns="0" bIns="0" rtlCol="0" anchor="ctr"/>
          <a:lstStyle/>
          <a:p>
            <a:pPr marL="0" indent="0">
              <a:buNone/>
            </a:pPr>
            <a:r>
              <a:rPr lang="en-US" sz="1400" dirty="0">
                <a:solidFill>
                  <a:srgbClr val="FFFFFF">
                    <a:alpha val="60000"/>
                  </a:srgbClr>
                </a:solidFill>
                <a:latin typeface="에이투지체 5 Medium"/>
                <a:ea typeface="에이투지체 5 Medium"/>
                <a:cs typeface="에이투지체 5 Medium"/>
              </a:rPr>
              <a:t>02</a:t>
            </a:r>
            <a:endParaRPr lang="en-US" sz="1400" dirty="0"/>
          </a:p>
        </p:txBody>
      </p:sp>
      <p:sp>
        <p:nvSpPr>
          <p:cNvPr id="3" name="Text 1"/>
          <p:cNvSpPr txBox="1"/>
          <p:nvPr/>
        </p:nvSpPr>
        <p:spPr>
          <a:xfrm>
            <a:off x="822960" y="2377440"/>
            <a:ext cx="10515600" cy="868680"/>
          </a:xfrm>
          <a:prstGeom prst="rect">
            <a:avLst/>
          </a:prstGeom>
          <a:noFill/>
          <a:ln/>
        </p:spPr>
        <p:txBody>
          <a:bodyPr wrap="square" lIns="0" tIns="0" rIns="0" bIns="0" rtlCol="0" anchor="ctr"/>
          <a:lstStyle/>
          <a:p>
            <a:pPr marL="0" indent="0">
              <a:buNone/>
            </a:pPr>
            <a:r>
              <a:rPr lang="en-US" sz="5600" b="1" dirty="0">
                <a:solidFill>
                  <a:srgbClr val="FFFFFF"/>
                </a:solidFill>
                <a:latin typeface="에이투지체 5 Medium"/>
                <a:ea typeface="에이투지체 5 Medium"/>
                <a:cs typeface="에이투지체 5 Medium"/>
              </a:rPr>
              <a:t>데이터 전처리</a:t>
            </a:r>
            <a:endParaRPr lang="en-US" sz="5600" dirty="0"/>
          </a:p>
        </p:txBody>
      </p:sp>
      <p:sp>
        <p:nvSpPr>
          <p:cNvPr id="4" name="Text 2"/>
          <p:cNvSpPr txBox="1"/>
          <p:nvPr/>
        </p:nvSpPr>
        <p:spPr>
          <a:xfrm>
            <a:off x="822960" y="3383280"/>
            <a:ext cx="10515600" cy="457200"/>
          </a:xfrm>
          <a:prstGeom prst="rect">
            <a:avLst/>
          </a:prstGeom>
          <a:noFill/>
          <a:ln/>
        </p:spPr>
        <p:txBody>
          <a:bodyPr wrap="square" lIns="0" tIns="0" rIns="0" bIns="0" rtlCol="0" anchor="ctr"/>
          <a:lstStyle/>
          <a:p>
            <a:pPr marL="0" indent="0">
              <a:buNone/>
            </a:pPr>
            <a:r>
              <a:rPr lang="en-US" sz="2200" dirty="0">
                <a:solidFill>
                  <a:srgbClr val="FFFFFF">
                    <a:alpha val="70000"/>
                  </a:srgbClr>
                </a:solidFill>
                <a:latin typeface="에이투지체 5 Medium"/>
                <a:ea typeface="에이투지체 5 Medium"/>
                <a:cs typeface="에이투지체 5 Medium"/>
              </a:rPr>
              <a:t>형식 통일, 결측 및 중복 처리, 데이터 통합, 입력 변수 선택</a:t>
            </a:r>
            <a:endParaRPr lang="en-US" sz="2200" dirty="0"/>
          </a:p>
        </p:txBody>
      </p:sp>
      <p:sp>
        <p:nvSpPr>
          <p:cNvPr id="5" name="Shape 3"/>
          <p:cNvSpPr/>
          <p:nvPr/>
        </p:nvSpPr>
        <p:spPr>
          <a:xfrm>
            <a:off x="822960" y="4434840"/>
            <a:ext cx="2499284" cy="0"/>
          </a:xfrm>
          <a:prstGeom prst="line">
            <a:avLst/>
          </a:prstGeom>
          <a:noFill/>
          <a:ln w="25400">
            <a:solidFill>
              <a:srgbClr val="D62828"/>
            </a:solidFill>
            <a:prstDash val="solid"/>
          </a:ln>
        </p:spPr>
        <p:txBody>
          <a:bodyPr/>
          <a:lstStyle/>
          <a:p>
            <a:endParaRPr/>
          </a:p>
        </p:txBody>
      </p:sp>
      <p:sp>
        <p:nvSpPr>
          <p:cNvPr id="6" name="Text 4"/>
          <p:cNvSpPr txBox="1"/>
          <p:nvPr/>
        </p:nvSpPr>
        <p:spPr>
          <a:xfrm>
            <a:off x="822960" y="4572000"/>
            <a:ext cx="2499284" cy="274320"/>
          </a:xfrm>
          <a:prstGeom prst="rect">
            <a:avLst/>
          </a:prstGeom>
          <a:noFill/>
          <a:ln/>
        </p:spPr>
        <p:txBody>
          <a:bodyPr wrap="square" lIns="0" tIns="0" rIns="0" bIns="0" rtlCol="0" anchor="ctr"/>
          <a:lstStyle/>
          <a:p>
            <a:pPr marL="0" indent="0">
              <a:buNone/>
            </a:pPr>
            <a:r>
              <a:rPr lang="en-US" sz="1200" b="1" dirty="0">
                <a:solidFill>
                  <a:srgbClr val="E87A7A"/>
                </a:solidFill>
                <a:latin typeface="에이투지체 5 Medium"/>
                <a:ea typeface="에이투지체 5 Medium"/>
                <a:cs typeface="에이투지체 5 Medium"/>
              </a:rPr>
              <a:t>01</a:t>
            </a:r>
            <a:endParaRPr lang="en-US" sz="1200" dirty="0"/>
          </a:p>
        </p:txBody>
      </p:sp>
      <p:sp>
        <p:nvSpPr>
          <p:cNvPr id="7" name="Text 5"/>
          <p:cNvSpPr txBox="1"/>
          <p:nvPr/>
        </p:nvSpPr>
        <p:spPr>
          <a:xfrm>
            <a:off x="822960" y="4864608"/>
            <a:ext cx="2499284"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전처리 흐름</a:t>
            </a:r>
            <a:endParaRPr lang="en-US" sz="1500" dirty="0"/>
          </a:p>
        </p:txBody>
      </p:sp>
      <p:sp>
        <p:nvSpPr>
          <p:cNvPr id="8" name="Shape 6"/>
          <p:cNvSpPr/>
          <p:nvPr/>
        </p:nvSpPr>
        <p:spPr>
          <a:xfrm>
            <a:off x="3505124" y="4434840"/>
            <a:ext cx="2499284" cy="0"/>
          </a:xfrm>
          <a:prstGeom prst="line">
            <a:avLst/>
          </a:prstGeom>
          <a:noFill/>
          <a:ln w="25400">
            <a:solidFill>
              <a:srgbClr val="3A414B"/>
            </a:solidFill>
            <a:prstDash val="solid"/>
          </a:ln>
        </p:spPr>
        <p:txBody>
          <a:bodyPr/>
          <a:lstStyle/>
          <a:p>
            <a:endParaRPr/>
          </a:p>
        </p:txBody>
      </p:sp>
      <p:sp>
        <p:nvSpPr>
          <p:cNvPr id="9" name="Text 7"/>
          <p:cNvSpPr txBox="1"/>
          <p:nvPr/>
        </p:nvSpPr>
        <p:spPr>
          <a:xfrm>
            <a:off x="3505124" y="4572000"/>
            <a:ext cx="2499284"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02</a:t>
            </a:r>
            <a:endParaRPr lang="en-US" sz="1200" dirty="0"/>
          </a:p>
        </p:txBody>
      </p:sp>
      <p:sp>
        <p:nvSpPr>
          <p:cNvPr id="10" name="Text 8"/>
          <p:cNvSpPr txBox="1"/>
          <p:nvPr/>
        </p:nvSpPr>
        <p:spPr>
          <a:xfrm>
            <a:off x="3505124" y="4864608"/>
            <a:ext cx="2499284"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자료 정리 기준</a:t>
            </a:r>
            <a:endParaRPr lang="en-US" sz="1500" dirty="0"/>
          </a:p>
        </p:txBody>
      </p:sp>
      <p:sp>
        <p:nvSpPr>
          <p:cNvPr id="11" name="Shape 9"/>
          <p:cNvSpPr/>
          <p:nvPr/>
        </p:nvSpPr>
        <p:spPr>
          <a:xfrm>
            <a:off x="6187288" y="4434840"/>
            <a:ext cx="2499284" cy="0"/>
          </a:xfrm>
          <a:prstGeom prst="line">
            <a:avLst/>
          </a:prstGeom>
          <a:noFill/>
          <a:ln w="25400">
            <a:solidFill>
              <a:srgbClr val="3A414B"/>
            </a:solidFill>
            <a:prstDash val="solid"/>
          </a:ln>
        </p:spPr>
        <p:txBody>
          <a:bodyPr/>
          <a:lstStyle/>
          <a:p>
            <a:endParaRPr/>
          </a:p>
        </p:txBody>
      </p:sp>
      <p:sp>
        <p:nvSpPr>
          <p:cNvPr id="12" name="Text 10"/>
          <p:cNvSpPr txBox="1"/>
          <p:nvPr/>
        </p:nvSpPr>
        <p:spPr>
          <a:xfrm>
            <a:off x="6187288" y="4572000"/>
            <a:ext cx="2499284"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03</a:t>
            </a:r>
            <a:endParaRPr lang="en-US" sz="1200" dirty="0"/>
          </a:p>
        </p:txBody>
      </p:sp>
      <p:sp>
        <p:nvSpPr>
          <p:cNvPr id="13" name="Text 11"/>
          <p:cNvSpPr txBox="1"/>
          <p:nvPr/>
        </p:nvSpPr>
        <p:spPr>
          <a:xfrm>
            <a:off x="6187288" y="4864608"/>
            <a:ext cx="2499284"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과거 값 기반 통합</a:t>
            </a:r>
            <a:endParaRPr lang="en-US" sz="1500" dirty="0"/>
          </a:p>
        </p:txBody>
      </p:sp>
      <p:sp>
        <p:nvSpPr>
          <p:cNvPr id="14" name="Shape 12"/>
          <p:cNvSpPr/>
          <p:nvPr/>
        </p:nvSpPr>
        <p:spPr>
          <a:xfrm>
            <a:off x="8869451" y="4434840"/>
            <a:ext cx="2499284" cy="0"/>
          </a:xfrm>
          <a:prstGeom prst="line">
            <a:avLst/>
          </a:prstGeom>
          <a:noFill/>
          <a:ln w="25400">
            <a:solidFill>
              <a:srgbClr val="3A414B"/>
            </a:solidFill>
            <a:prstDash val="solid"/>
          </a:ln>
        </p:spPr>
        <p:txBody>
          <a:bodyPr/>
          <a:lstStyle/>
          <a:p>
            <a:endParaRPr/>
          </a:p>
        </p:txBody>
      </p:sp>
      <p:sp>
        <p:nvSpPr>
          <p:cNvPr id="15" name="Text 13"/>
          <p:cNvSpPr txBox="1"/>
          <p:nvPr/>
        </p:nvSpPr>
        <p:spPr>
          <a:xfrm>
            <a:off x="8869451" y="4572000"/>
            <a:ext cx="2499284"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04</a:t>
            </a:r>
            <a:endParaRPr lang="en-US" sz="1200" dirty="0"/>
          </a:p>
        </p:txBody>
      </p:sp>
      <p:sp>
        <p:nvSpPr>
          <p:cNvPr id="16" name="Text 14"/>
          <p:cNvSpPr txBox="1"/>
          <p:nvPr/>
        </p:nvSpPr>
        <p:spPr>
          <a:xfrm>
            <a:off x="8869451" y="4864608"/>
            <a:ext cx="2499284"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입력 변수 선택</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02  데이터 전처리</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a:ea typeface="에이투지체 5 Medium"/>
                <a:cs typeface="에이투지체 5 Medium"/>
              </a:rPr>
              <a:t>전처리 흐름</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원본 정리 → 제외 → 통합 → 입력 선택, 학습 표 2종 생성</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13</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02_119_전처리_검토수정.ipynb</a:t>
            </a:r>
            <a:endParaRPr lang="en-US" sz="900" dirty="0"/>
          </a:p>
        </p:txBody>
      </p:sp>
      <p:sp>
        <p:nvSpPr>
          <p:cNvPr id="8" name="Shape 5"/>
          <p:cNvSpPr/>
          <p:nvPr/>
        </p:nvSpPr>
        <p:spPr>
          <a:xfrm>
            <a:off x="457200" y="1993392"/>
            <a:ext cx="2036003"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9" name="Text 6"/>
          <p:cNvSpPr txBox="1"/>
          <p:nvPr/>
        </p:nvSpPr>
        <p:spPr>
          <a:xfrm>
            <a:off x="676656" y="2176272"/>
            <a:ext cx="548640" cy="274320"/>
          </a:xfrm>
          <a:prstGeom prst="rect">
            <a:avLst/>
          </a:prstGeom>
          <a:noFill/>
          <a:ln/>
        </p:spPr>
        <p:txBody>
          <a:bodyPr wrap="square" lIns="0" tIns="0" rIns="0" bIns="0" rtlCol="0" anchor="ctr"/>
          <a:lstStyle/>
          <a:p>
            <a:pPr marL="0" indent="0">
              <a:buNone/>
            </a:pPr>
            <a:r>
              <a:rPr lang="en-US" sz="1300" b="1" dirty="0">
                <a:solidFill>
                  <a:srgbClr val="D62828"/>
                </a:solidFill>
                <a:latin typeface="에이투지체 5 Medium"/>
                <a:ea typeface="에이투지체 5 Medium"/>
                <a:cs typeface="에이투지체 5 Medium"/>
              </a:rPr>
              <a:t>01</a:t>
            </a:r>
            <a:endParaRPr lang="en-US" sz="1300" dirty="0"/>
          </a:p>
        </p:txBody>
      </p:sp>
      <p:sp>
        <p:nvSpPr>
          <p:cNvPr id="10" name="Text 7"/>
          <p:cNvSpPr txBox="1"/>
          <p:nvPr/>
        </p:nvSpPr>
        <p:spPr>
          <a:xfrm>
            <a:off x="676656" y="2468880"/>
            <a:ext cx="1597091" cy="347472"/>
          </a:xfrm>
          <a:prstGeom prst="rect">
            <a:avLst/>
          </a:prstGeom>
          <a:noFill/>
          <a:ln/>
        </p:spPr>
        <p:txBody>
          <a:bodyPr wrap="square" lIns="0" tIns="0" rIns="0" bIns="0" rtlCol="0" anchor="ctr"/>
          <a:lstStyle/>
          <a:p>
            <a:pPr marL="0" indent="0">
              <a:buNone/>
            </a:pPr>
            <a:r>
              <a:rPr lang="en-US" sz="1600" b="1" dirty="0">
                <a:solidFill>
                  <a:srgbClr val="222222"/>
                </a:solidFill>
                <a:latin typeface="에이투지체 5 Medium"/>
                <a:ea typeface="에이투지체 5 Medium"/>
                <a:cs typeface="에이투지체 5 Medium"/>
              </a:rPr>
              <a:t>원본 수집</a:t>
            </a:r>
            <a:endParaRPr lang="en-US" sz="1600" dirty="0"/>
          </a:p>
        </p:txBody>
      </p:sp>
      <p:sp>
        <p:nvSpPr>
          <p:cNvPr id="11" name="Shape 8"/>
          <p:cNvSpPr/>
          <p:nvPr/>
        </p:nvSpPr>
        <p:spPr>
          <a:xfrm>
            <a:off x="676656" y="2907792"/>
            <a:ext cx="1597091" cy="0"/>
          </a:xfrm>
          <a:prstGeom prst="line">
            <a:avLst/>
          </a:prstGeom>
          <a:noFill/>
          <a:ln w="9525">
            <a:solidFill>
              <a:srgbClr val="E5E7EB"/>
            </a:solidFill>
            <a:prstDash val="solid"/>
          </a:ln>
        </p:spPr>
        <p:txBody>
          <a:bodyPr/>
          <a:lstStyle/>
          <a:p>
            <a:endParaRPr/>
          </a:p>
        </p:txBody>
      </p:sp>
      <p:sp>
        <p:nvSpPr>
          <p:cNvPr id="12" name="Text 9"/>
          <p:cNvSpPr txBox="1"/>
          <p:nvPr/>
        </p:nvSpPr>
        <p:spPr>
          <a:xfrm>
            <a:off x="676656" y="3017520"/>
            <a:ext cx="1597091" cy="685800"/>
          </a:xfrm>
          <a:prstGeom prst="rect">
            <a:avLst/>
          </a:prstGeom>
          <a:noFill/>
          <a:ln/>
        </p:spPr>
        <p:txBody>
          <a:bodyPr wrap="square" lIns="0" tIns="0" rIns="0" bIns="0" rtlCol="0" anchor="t"/>
          <a:lstStyle/>
          <a:p>
            <a:pPr marL="0" indent="0">
              <a:lnSpc>
                <a:spcPct val="130000"/>
              </a:lnSpc>
              <a:buNone/>
            </a:pPr>
            <a:r>
              <a:rPr lang="en-US" sz="1100" dirty="0">
                <a:solidFill>
                  <a:srgbClr val="45515E"/>
                </a:solidFill>
                <a:latin typeface="에이투지체 5 Medium"/>
                <a:ea typeface="에이투지체 5 Medium"/>
                <a:cs typeface="에이투지체 5 Medium"/>
              </a:rPr>
              <a:t>결과 파일 15개 로드 (구급 · 인구 · 사고 · 의료 · 병상)</a:t>
            </a:r>
            <a:endParaRPr lang="en-US" sz="1100" dirty="0"/>
          </a:p>
        </p:txBody>
      </p:sp>
      <p:sp>
        <p:nvSpPr>
          <p:cNvPr id="13" name="Shape 10"/>
          <p:cNvSpPr/>
          <p:nvPr/>
        </p:nvSpPr>
        <p:spPr>
          <a:xfrm>
            <a:off x="2529779" y="2907792"/>
            <a:ext cx="201168" cy="0"/>
          </a:xfrm>
          <a:prstGeom prst="line">
            <a:avLst/>
          </a:prstGeom>
          <a:noFill/>
          <a:ln w="15875">
            <a:solidFill>
              <a:srgbClr val="8E8E93"/>
            </a:solidFill>
            <a:prstDash val="solid"/>
            <a:tailEnd type="triangle"/>
          </a:ln>
        </p:spPr>
        <p:txBody>
          <a:bodyPr/>
          <a:lstStyle/>
          <a:p>
            <a:endParaRPr/>
          </a:p>
        </p:txBody>
      </p:sp>
      <p:sp>
        <p:nvSpPr>
          <p:cNvPr id="14" name="Shape 11"/>
          <p:cNvSpPr/>
          <p:nvPr/>
        </p:nvSpPr>
        <p:spPr>
          <a:xfrm>
            <a:off x="2767523" y="1993392"/>
            <a:ext cx="2036003"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5" name="Text 12"/>
          <p:cNvSpPr txBox="1"/>
          <p:nvPr/>
        </p:nvSpPr>
        <p:spPr>
          <a:xfrm>
            <a:off x="2986979" y="2176272"/>
            <a:ext cx="548640" cy="274320"/>
          </a:xfrm>
          <a:prstGeom prst="rect">
            <a:avLst/>
          </a:prstGeom>
          <a:noFill/>
          <a:ln/>
        </p:spPr>
        <p:txBody>
          <a:bodyPr wrap="square" lIns="0" tIns="0" rIns="0" bIns="0" rtlCol="0" anchor="ctr"/>
          <a:lstStyle/>
          <a:p>
            <a:pPr marL="0" indent="0">
              <a:buNone/>
            </a:pPr>
            <a:r>
              <a:rPr lang="en-US" sz="1300" b="1" dirty="0">
                <a:solidFill>
                  <a:srgbClr val="D62828"/>
                </a:solidFill>
                <a:latin typeface="에이투지체 5 Medium"/>
                <a:ea typeface="에이투지체 5 Medium"/>
                <a:cs typeface="에이투지체 5 Medium"/>
              </a:rPr>
              <a:t>02</a:t>
            </a:r>
            <a:endParaRPr lang="en-US" sz="1300" dirty="0"/>
          </a:p>
        </p:txBody>
      </p:sp>
      <p:sp>
        <p:nvSpPr>
          <p:cNvPr id="16" name="Text 13"/>
          <p:cNvSpPr txBox="1"/>
          <p:nvPr/>
        </p:nvSpPr>
        <p:spPr>
          <a:xfrm>
            <a:off x="2986979" y="2468880"/>
            <a:ext cx="1597091" cy="347472"/>
          </a:xfrm>
          <a:prstGeom prst="rect">
            <a:avLst/>
          </a:prstGeom>
          <a:noFill/>
          <a:ln/>
        </p:spPr>
        <p:txBody>
          <a:bodyPr wrap="square" lIns="0" tIns="0" rIns="0" bIns="0" rtlCol="0" anchor="ctr"/>
          <a:lstStyle/>
          <a:p>
            <a:pPr marL="0" indent="0">
              <a:buNone/>
            </a:pPr>
            <a:r>
              <a:rPr lang="en-US" sz="1600" b="1" dirty="0">
                <a:solidFill>
                  <a:srgbClr val="222222"/>
                </a:solidFill>
                <a:latin typeface="에이투지체 5 Medium"/>
                <a:ea typeface="에이투지체 5 Medium"/>
                <a:cs typeface="에이투지체 5 Medium"/>
              </a:rPr>
              <a:t>형식 통일</a:t>
            </a:r>
            <a:endParaRPr lang="en-US" sz="1600" dirty="0"/>
          </a:p>
        </p:txBody>
      </p:sp>
      <p:sp>
        <p:nvSpPr>
          <p:cNvPr id="17" name="Shape 14"/>
          <p:cNvSpPr/>
          <p:nvPr/>
        </p:nvSpPr>
        <p:spPr>
          <a:xfrm>
            <a:off x="2986979" y="2907792"/>
            <a:ext cx="1597091" cy="0"/>
          </a:xfrm>
          <a:prstGeom prst="line">
            <a:avLst/>
          </a:prstGeom>
          <a:noFill/>
          <a:ln w="9525">
            <a:solidFill>
              <a:srgbClr val="E5E7EB"/>
            </a:solidFill>
            <a:prstDash val="solid"/>
          </a:ln>
        </p:spPr>
        <p:txBody>
          <a:bodyPr/>
          <a:lstStyle/>
          <a:p>
            <a:endParaRPr/>
          </a:p>
        </p:txBody>
      </p:sp>
      <p:sp>
        <p:nvSpPr>
          <p:cNvPr id="18" name="Text 15"/>
          <p:cNvSpPr txBox="1"/>
          <p:nvPr/>
        </p:nvSpPr>
        <p:spPr>
          <a:xfrm>
            <a:off x="2986979" y="3017520"/>
            <a:ext cx="1597091" cy="685800"/>
          </a:xfrm>
          <a:prstGeom prst="rect">
            <a:avLst/>
          </a:prstGeom>
          <a:noFill/>
          <a:ln/>
        </p:spPr>
        <p:txBody>
          <a:bodyPr wrap="square" lIns="0" tIns="0" rIns="0" bIns="0" rtlCol="0" anchor="t"/>
          <a:lstStyle/>
          <a:p>
            <a:pPr marL="0" indent="0">
              <a:lnSpc>
                <a:spcPct val="130000"/>
              </a:lnSpc>
              <a:buNone/>
            </a:pPr>
            <a:r>
              <a:rPr lang="en-US" sz="1100" dirty="0">
                <a:solidFill>
                  <a:srgbClr val="45515E"/>
                </a:solidFill>
                <a:latin typeface="에이투지체 5 Medium"/>
                <a:ea typeface="에이투지체 5 Medium"/>
                <a:cs typeface="에이투지체 5 Medium"/>
              </a:rPr>
              <a:t>날짜 · 지역 · 컬럼명 기준 통일</a:t>
            </a:r>
            <a:endParaRPr lang="en-US" sz="1100" dirty="0"/>
          </a:p>
        </p:txBody>
      </p:sp>
      <p:sp>
        <p:nvSpPr>
          <p:cNvPr id="19" name="Shape 16"/>
          <p:cNvSpPr/>
          <p:nvPr/>
        </p:nvSpPr>
        <p:spPr>
          <a:xfrm>
            <a:off x="4840102" y="2907792"/>
            <a:ext cx="201168" cy="0"/>
          </a:xfrm>
          <a:prstGeom prst="line">
            <a:avLst/>
          </a:prstGeom>
          <a:noFill/>
          <a:ln w="15875">
            <a:solidFill>
              <a:srgbClr val="8E8E93"/>
            </a:solidFill>
            <a:prstDash val="solid"/>
            <a:tailEnd type="triangle"/>
          </a:ln>
        </p:spPr>
        <p:txBody>
          <a:bodyPr/>
          <a:lstStyle/>
          <a:p>
            <a:endParaRPr/>
          </a:p>
        </p:txBody>
      </p:sp>
      <p:sp>
        <p:nvSpPr>
          <p:cNvPr id="20" name="Shape 17"/>
          <p:cNvSpPr/>
          <p:nvPr/>
        </p:nvSpPr>
        <p:spPr>
          <a:xfrm>
            <a:off x="5077846" y="1993392"/>
            <a:ext cx="2036003"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1" name="Text 18"/>
          <p:cNvSpPr txBox="1"/>
          <p:nvPr/>
        </p:nvSpPr>
        <p:spPr>
          <a:xfrm>
            <a:off x="5297302" y="2176272"/>
            <a:ext cx="548640" cy="274320"/>
          </a:xfrm>
          <a:prstGeom prst="rect">
            <a:avLst/>
          </a:prstGeom>
          <a:noFill/>
          <a:ln/>
        </p:spPr>
        <p:txBody>
          <a:bodyPr wrap="square" lIns="0" tIns="0" rIns="0" bIns="0" rtlCol="0" anchor="ctr"/>
          <a:lstStyle/>
          <a:p>
            <a:pPr marL="0" indent="0">
              <a:buNone/>
            </a:pPr>
            <a:r>
              <a:rPr lang="en-US" sz="1300" b="1" dirty="0">
                <a:solidFill>
                  <a:srgbClr val="D62828"/>
                </a:solidFill>
                <a:latin typeface="에이투지체 5 Medium"/>
                <a:ea typeface="에이투지체 5 Medium"/>
                <a:cs typeface="에이투지체 5 Medium"/>
              </a:rPr>
              <a:t>03</a:t>
            </a:r>
            <a:endParaRPr lang="en-US" sz="1300" dirty="0"/>
          </a:p>
        </p:txBody>
      </p:sp>
      <p:sp>
        <p:nvSpPr>
          <p:cNvPr id="22" name="Text 19"/>
          <p:cNvSpPr txBox="1"/>
          <p:nvPr/>
        </p:nvSpPr>
        <p:spPr>
          <a:xfrm>
            <a:off x="5297302" y="2468880"/>
            <a:ext cx="1597091" cy="347472"/>
          </a:xfrm>
          <a:prstGeom prst="rect">
            <a:avLst/>
          </a:prstGeom>
          <a:noFill/>
          <a:ln/>
        </p:spPr>
        <p:txBody>
          <a:bodyPr wrap="square" lIns="0" tIns="0" rIns="0" bIns="0" rtlCol="0" anchor="ctr"/>
          <a:lstStyle/>
          <a:p>
            <a:pPr marL="0" indent="0">
              <a:buNone/>
            </a:pPr>
            <a:r>
              <a:rPr lang="en-US" sz="1600" b="1" dirty="0">
                <a:solidFill>
                  <a:srgbClr val="222222"/>
                </a:solidFill>
                <a:latin typeface="에이투지체 5 Medium"/>
                <a:ea typeface="에이투지체 5 Medium"/>
                <a:cs typeface="에이투지체 5 Medium"/>
              </a:rPr>
              <a:t>구간 제외</a:t>
            </a:r>
            <a:endParaRPr lang="en-US" sz="1600" dirty="0"/>
          </a:p>
        </p:txBody>
      </p:sp>
      <p:sp>
        <p:nvSpPr>
          <p:cNvPr id="23" name="Shape 20"/>
          <p:cNvSpPr/>
          <p:nvPr/>
        </p:nvSpPr>
        <p:spPr>
          <a:xfrm>
            <a:off x="5297302" y="2907792"/>
            <a:ext cx="1597091" cy="0"/>
          </a:xfrm>
          <a:prstGeom prst="line">
            <a:avLst/>
          </a:prstGeom>
          <a:noFill/>
          <a:ln w="9525">
            <a:solidFill>
              <a:srgbClr val="E5E7EB"/>
            </a:solidFill>
            <a:prstDash val="solid"/>
          </a:ln>
        </p:spPr>
        <p:txBody>
          <a:bodyPr/>
          <a:lstStyle/>
          <a:p>
            <a:endParaRPr/>
          </a:p>
        </p:txBody>
      </p:sp>
      <p:sp>
        <p:nvSpPr>
          <p:cNvPr id="24" name="Text 21"/>
          <p:cNvSpPr txBox="1"/>
          <p:nvPr/>
        </p:nvSpPr>
        <p:spPr>
          <a:xfrm>
            <a:off x="5297302" y="3017520"/>
            <a:ext cx="1597091" cy="685800"/>
          </a:xfrm>
          <a:prstGeom prst="rect">
            <a:avLst/>
          </a:prstGeom>
          <a:noFill/>
          <a:ln/>
        </p:spPr>
        <p:txBody>
          <a:bodyPr wrap="square" lIns="0" tIns="0" rIns="0" bIns="0" rtlCol="0" anchor="t"/>
          <a:lstStyle/>
          <a:p>
            <a:pPr marL="0" indent="0">
              <a:lnSpc>
                <a:spcPct val="130000"/>
              </a:lnSpc>
              <a:buNone/>
            </a:pPr>
            <a:r>
              <a:rPr lang="en-US" sz="1100" dirty="0">
                <a:solidFill>
                  <a:srgbClr val="45515E"/>
                </a:solidFill>
                <a:latin typeface="에이투지체 5 Medium"/>
                <a:ea typeface="에이투지체 5 Medium"/>
                <a:cs typeface="에이투지체 5 Medium"/>
              </a:rPr>
              <a:t>관할 변경 구간 70행 제외</a:t>
            </a:r>
            <a:endParaRPr lang="en-US" sz="1100" dirty="0"/>
          </a:p>
        </p:txBody>
      </p:sp>
      <p:sp>
        <p:nvSpPr>
          <p:cNvPr id="25" name="Shape 22"/>
          <p:cNvSpPr/>
          <p:nvPr/>
        </p:nvSpPr>
        <p:spPr>
          <a:xfrm>
            <a:off x="7150425" y="2907792"/>
            <a:ext cx="201168" cy="0"/>
          </a:xfrm>
          <a:prstGeom prst="line">
            <a:avLst/>
          </a:prstGeom>
          <a:noFill/>
          <a:ln w="15875">
            <a:solidFill>
              <a:srgbClr val="8E8E93"/>
            </a:solidFill>
            <a:prstDash val="solid"/>
            <a:tailEnd type="triangle"/>
          </a:ln>
        </p:spPr>
        <p:txBody>
          <a:bodyPr/>
          <a:lstStyle/>
          <a:p>
            <a:endParaRPr/>
          </a:p>
        </p:txBody>
      </p:sp>
      <p:sp>
        <p:nvSpPr>
          <p:cNvPr id="26" name="Shape 23"/>
          <p:cNvSpPr/>
          <p:nvPr/>
        </p:nvSpPr>
        <p:spPr>
          <a:xfrm>
            <a:off x="7388169" y="1993392"/>
            <a:ext cx="2036003"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7" name="Text 24"/>
          <p:cNvSpPr txBox="1"/>
          <p:nvPr/>
        </p:nvSpPr>
        <p:spPr>
          <a:xfrm>
            <a:off x="7607625" y="2176272"/>
            <a:ext cx="548640" cy="274320"/>
          </a:xfrm>
          <a:prstGeom prst="rect">
            <a:avLst/>
          </a:prstGeom>
          <a:noFill/>
          <a:ln/>
        </p:spPr>
        <p:txBody>
          <a:bodyPr wrap="square" lIns="0" tIns="0" rIns="0" bIns="0" rtlCol="0" anchor="ctr"/>
          <a:lstStyle/>
          <a:p>
            <a:pPr marL="0" indent="0">
              <a:buNone/>
            </a:pPr>
            <a:r>
              <a:rPr lang="en-US" sz="1300" b="1" dirty="0">
                <a:solidFill>
                  <a:srgbClr val="D62828"/>
                </a:solidFill>
                <a:latin typeface="에이투지체 5 Medium"/>
                <a:ea typeface="에이투지체 5 Medium"/>
                <a:cs typeface="에이투지체 5 Medium"/>
              </a:rPr>
              <a:t>04</a:t>
            </a:r>
            <a:endParaRPr lang="en-US" sz="1300" dirty="0"/>
          </a:p>
        </p:txBody>
      </p:sp>
      <p:sp>
        <p:nvSpPr>
          <p:cNvPr id="28" name="Text 25"/>
          <p:cNvSpPr txBox="1"/>
          <p:nvPr/>
        </p:nvSpPr>
        <p:spPr>
          <a:xfrm>
            <a:off x="7607625" y="2468880"/>
            <a:ext cx="1597091" cy="347472"/>
          </a:xfrm>
          <a:prstGeom prst="rect">
            <a:avLst/>
          </a:prstGeom>
          <a:noFill/>
          <a:ln/>
        </p:spPr>
        <p:txBody>
          <a:bodyPr wrap="square" lIns="0" tIns="0" rIns="0" bIns="0" rtlCol="0" anchor="ctr"/>
          <a:lstStyle/>
          <a:p>
            <a:pPr marL="0" indent="0">
              <a:buNone/>
            </a:pPr>
            <a:r>
              <a:rPr lang="en-US" sz="1600" b="1" dirty="0">
                <a:solidFill>
                  <a:srgbClr val="222222"/>
                </a:solidFill>
                <a:latin typeface="에이투지체 5 Medium"/>
                <a:ea typeface="에이투지체 5 Medium"/>
                <a:cs typeface="에이투지체 5 Medium"/>
              </a:rPr>
              <a:t>데이터 통합</a:t>
            </a:r>
            <a:endParaRPr lang="en-US" sz="1600" dirty="0"/>
          </a:p>
        </p:txBody>
      </p:sp>
      <p:sp>
        <p:nvSpPr>
          <p:cNvPr id="29" name="Shape 26"/>
          <p:cNvSpPr/>
          <p:nvPr/>
        </p:nvSpPr>
        <p:spPr>
          <a:xfrm>
            <a:off x="7607625" y="2907792"/>
            <a:ext cx="1597091" cy="0"/>
          </a:xfrm>
          <a:prstGeom prst="line">
            <a:avLst/>
          </a:prstGeom>
          <a:noFill/>
          <a:ln w="9525">
            <a:solidFill>
              <a:srgbClr val="E5E7EB"/>
            </a:solidFill>
            <a:prstDash val="solid"/>
          </a:ln>
        </p:spPr>
        <p:txBody>
          <a:bodyPr/>
          <a:lstStyle/>
          <a:p>
            <a:endParaRPr/>
          </a:p>
        </p:txBody>
      </p:sp>
      <p:sp>
        <p:nvSpPr>
          <p:cNvPr id="30" name="Text 27"/>
          <p:cNvSpPr txBox="1"/>
          <p:nvPr/>
        </p:nvSpPr>
        <p:spPr>
          <a:xfrm>
            <a:off x="7607625" y="3017520"/>
            <a:ext cx="1597091" cy="685800"/>
          </a:xfrm>
          <a:prstGeom prst="rect">
            <a:avLst/>
          </a:prstGeom>
          <a:noFill/>
          <a:ln/>
        </p:spPr>
        <p:txBody>
          <a:bodyPr wrap="square" lIns="0" tIns="0" rIns="0" bIns="0" rtlCol="0" anchor="t"/>
          <a:lstStyle/>
          <a:p>
            <a:pPr marL="0" indent="0">
              <a:lnSpc>
                <a:spcPct val="130000"/>
              </a:lnSpc>
              <a:buNone/>
            </a:pPr>
            <a:r>
              <a:rPr lang="en-US" sz="1100" dirty="0">
                <a:solidFill>
                  <a:srgbClr val="45515E"/>
                </a:solidFill>
                <a:latin typeface="에이투지체 5 Medium"/>
                <a:ea typeface="에이투지체 5 Medium"/>
                <a:cs typeface="에이투지체 5 Medium"/>
              </a:rPr>
              <a:t>이송 표 (구 × 월), 인구 표 (구 × 일)</a:t>
            </a:r>
            <a:endParaRPr lang="en-US" sz="1100" dirty="0"/>
          </a:p>
        </p:txBody>
      </p:sp>
      <p:sp>
        <p:nvSpPr>
          <p:cNvPr id="31" name="Shape 28"/>
          <p:cNvSpPr/>
          <p:nvPr/>
        </p:nvSpPr>
        <p:spPr>
          <a:xfrm>
            <a:off x="9460748" y="2907792"/>
            <a:ext cx="201168" cy="0"/>
          </a:xfrm>
          <a:prstGeom prst="line">
            <a:avLst/>
          </a:prstGeom>
          <a:noFill/>
          <a:ln w="15875">
            <a:solidFill>
              <a:srgbClr val="8E8E93"/>
            </a:solidFill>
            <a:prstDash val="solid"/>
            <a:tailEnd type="triangle"/>
          </a:ln>
        </p:spPr>
        <p:txBody>
          <a:bodyPr/>
          <a:lstStyle/>
          <a:p>
            <a:endParaRPr/>
          </a:p>
        </p:txBody>
      </p:sp>
      <p:sp>
        <p:nvSpPr>
          <p:cNvPr id="32" name="Shape 29"/>
          <p:cNvSpPr/>
          <p:nvPr/>
        </p:nvSpPr>
        <p:spPr>
          <a:xfrm>
            <a:off x="9698492" y="1993392"/>
            <a:ext cx="2036003" cy="1828800"/>
          </a:xfrm>
          <a:prstGeom prst="roundRect">
            <a:avLst>
              <a:gd name="adj" fmla="val 7000"/>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txBody>
          <a:bodyPr/>
          <a:lstStyle/>
          <a:p>
            <a:endParaRPr/>
          </a:p>
        </p:txBody>
      </p:sp>
      <p:sp>
        <p:nvSpPr>
          <p:cNvPr id="33" name="Text 30"/>
          <p:cNvSpPr txBox="1"/>
          <p:nvPr/>
        </p:nvSpPr>
        <p:spPr>
          <a:xfrm>
            <a:off x="9917948" y="2176272"/>
            <a:ext cx="548640" cy="274320"/>
          </a:xfrm>
          <a:prstGeom prst="rect">
            <a:avLst/>
          </a:prstGeom>
          <a:noFill/>
          <a:ln/>
        </p:spPr>
        <p:txBody>
          <a:bodyPr wrap="square" lIns="0" tIns="0" rIns="0" bIns="0" rtlCol="0" anchor="ctr"/>
          <a:lstStyle/>
          <a:p>
            <a:pPr marL="0" indent="0">
              <a:buNone/>
            </a:pPr>
            <a:r>
              <a:rPr lang="en-US" sz="1300" b="1" dirty="0">
                <a:solidFill>
                  <a:srgbClr val="FDE3E3"/>
                </a:solidFill>
                <a:latin typeface="에이투지체 5 Medium"/>
                <a:ea typeface="에이투지체 5 Medium"/>
                <a:cs typeface="에이투지체 5 Medium"/>
              </a:rPr>
              <a:t>05</a:t>
            </a:r>
            <a:endParaRPr lang="en-US" sz="1300" dirty="0"/>
          </a:p>
        </p:txBody>
      </p:sp>
      <p:sp>
        <p:nvSpPr>
          <p:cNvPr id="34" name="Text 31"/>
          <p:cNvSpPr txBox="1"/>
          <p:nvPr/>
        </p:nvSpPr>
        <p:spPr>
          <a:xfrm>
            <a:off x="9917948" y="2468880"/>
            <a:ext cx="1597091" cy="347472"/>
          </a:xfrm>
          <a:prstGeom prst="rect">
            <a:avLst/>
          </a:prstGeom>
          <a:noFill/>
          <a:ln/>
        </p:spPr>
        <p:txBody>
          <a:bodyPr wrap="square" lIns="0" tIns="0" rIns="0" bIns="0" rtlCol="0" anchor="ctr"/>
          <a:lstStyle/>
          <a:p>
            <a:pPr marL="0" indent="0">
              <a:buNone/>
            </a:pPr>
            <a:r>
              <a:rPr lang="en-US" sz="1600" b="1" dirty="0">
                <a:solidFill>
                  <a:srgbClr val="FFFFFF"/>
                </a:solidFill>
                <a:latin typeface="에이투지체 5 Medium"/>
                <a:ea typeface="에이투지체 5 Medium"/>
                <a:cs typeface="에이투지체 5 Medium"/>
              </a:rPr>
              <a:t>입력 선택</a:t>
            </a:r>
            <a:endParaRPr lang="en-US" sz="1600" dirty="0"/>
          </a:p>
        </p:txBody>
      </p:sp>
      <p:sp>
        <p:nvSpPr>
          <p:cNvPr id="35" name="Shape 32"/>
          <p:cNvSpPr/>
          <p:nvPr/>
        </p:nvSpPr>
        <p:spPr>
          <a:xfrm>
            <a:off x="9917948" y="2907792"/>
            <a:ext cx="1597091" cy="0"/>
          </a:xfrm>
          <a:prstGeom prst="line">
            <a:avLst/>
          </a:prstGeom>
          <a:noFill/>
          <a:ln w="9525">
            <a:solidFill>
              <a:srgbClr val="E87A7A"/>
            </a:solidFill>
            <a:prstDash val="solid"/>
          </a:ln>
        </p:spPr>
        <p:txBody>
          <a:bodyPr/>
          <a:lstStyle/>
          <a:p>
            <a:endParaRPr/>
          </a:p>
        </p:txBody>
      </p:sp>
      <p:sp>
        <p:nvSpPr>
          <p:cNvPr id="36" name="Text 33"/>
          <p:cNvSpPr txBox="1"/>
          <p:nvPr/>
        </p:nvSpPr>
        <p:spPr>
          <a:xfrm>
            <a:off x="9917948" y="3017520"/>
            <a:ext cx="1597091" cy="685800"/>
          </a:xfrm>
          <a:prstGeom prst="rect">
            <a:avLst/>
          </a:prstGeom>
          <a:noFill/>
          <a:ln/>
        </p:spPr>
        <p:txBody>
          <a:bodyPr wrap="square" lIns="0" tIns="0" rIns="0" bIns="0" rtlCol="0" anchor="t"/>
          <a:lstStyle/>
          <a:p>
            <a:pPr marL="0" indent="0">
              <a:lnSpc>
                <a:spcPct val="130000"/>
              </a:lnSpc>
              <a:buNone/>
            </a:pPr>
            <a:r>
              <a:rPr lang="en-US" sz="1100" dirty="0">
                <a:solidFill>
                  <a:srgbClr val="FDE3E3"/>
                </a:solidFill>
                <a:latin typeface="에이투지체 5 Medium"/>
                <a:ea typeface="에이투지체 5 Medium"/>
                <a:cs typeface="에이투지체 5 Medium"/>
              </a:rPr>
              <a:t>이송 8개 · 인구 5개</a:t>
            </a:r>
            <a:endParaRPr lang="en-US" sz="1100" dirty="0"/>
          </a:p>
        </p:txBody>
      </p:sp>
      <p:sp>
        <p:nvSpPr>
          <p:cNvPr id="37" name="Shape 34"/>
          <p:cNvSpPr/>
          <p:nvPr/>
        </p:nvSpPr>
        <p:spPr>
          <a:xfrm>
            <a:off x="457200" y="4096512"/>
            <a:ext cx="5547665" cy="2093976"/>
          </a:xfrm>
          <a:prstGeom prst="roundRect">
            <a:avLst>
              <a:gd name="adj" fmla="val 43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38" name="Text 35"/>
          <p:cNvSpPr txBox="1"/>
          <p:nvPr/>
        </p:nvSpPr>
        <p:spPr>
          <a:xfrm>
            <a:off x="676656" y="4261104"/>
            <a:ext cx="5108753"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이송 건수 예측용 표</a:t>
            </a:r>
            <a:endParaRPr lang="en-US" sz="1800" dirty="0"/>
          </a:p>
        </p:txBody>
      </p:sp>
      <p:sp>
        <p:nvSpPr>
          <p:cNvPr id="39" name="Shape 36"/>
          <p:cNvSpPr/>
          <p:nvPr/>
        </p:nvSpPr>
        <p:spPr>
          <a:xfrm>
            <a:off x="676656" y="4663440"/>
            <a:ext cx="5108753" cy="0"/>
          </a:xfrm>
          <a:prstGeom prst="line">
            <a:avLst/>
          </a:prstGeom>
          <a:noFill/>
          <a:ln w="9525">
            <a:solidFill>
              <a:srgbClr val="E5E7EB"/>
            </a:solidFill>
            <a:prstDash val="solid"/>
          </a:ln>
        </p:spPr>
        <p:txBody>
          <a:bodyPr/>
          <a:lstStyle/>
          <a:p>
            <a:endParaRPr/>
          </a:p>
        </p:txBody>
      </p:sp>
      <p:sp>
        <p:nvSpPr>
          <p:cNvPr id="40" name="Text 37"/>
          <p:cNvSpPr txBox="1"/>
          <p:nvPr/>
        </p:nvSpPr>
        <p:spPr>
          <a:xfrm>
            <a:off x="676656" y="4773168"/>
            <a:ext cx="5108753" cy="1289304"/>
          </a:xfrm>
          <a:prstGeom prst="rect">
            <a:avLst/>
          </a:prstGeom>
          <a:noFill/>
          <a:ln/>
        </p:spPr>
        <p:txBody>
          <a:bodyPr wrap="square" lIns="0" tIns="0" rIns="0" bIns="0" rtlCol="0" anchor="t"/>
          <a:lstStyle/>
          <a:p>
            <a:pPr marL="0" indent="0">
              <a:lnSpc>
                <a:spcPct val="135000"/>
              </a:lnSpc>
              <a:buNone/>
            </a:pPr>
            <a:r>
              <a:rPr lang="en-US" sz="1300" dirty="0">
                <a:solidFill>
                  <a:srgbClr val="45515E"/>
                </a:solidFill>
                <a:latin typeface="에이투지체 5 Medium"/>
                <a:ea typeface="에이투지체 5 Medium"/>
                <a:cs typeface="에이투지체 5 Medium"/>
              </a:rPr>
              <a:t>· 단위: 자치구 × 월</a:t>
            </a:r>
            <a:endParaRPr lang="en-US" sz="1300" dirty="0"/>
          </a:p>
          <a:p>
            <a:pPr marL="0" indent="0">
              <a:lnSpc>
                <a:spcPct val="135000"/>
              </a:lnSpc>
              <a:buNone/>
            </a:pPr>
            <a:r>
              <a:rPr lang="en-US" sz="1300" dirty="0">
                <a:solidFill>
                  <a:srgbClr val="45515E"/>
                </a:solidFill>
                <a:latin typeface="에이투지체 5 Medium"/>
                <a:ea typeface="에이투지체 5 Medium"/>
                <a:cs typeface="에이투지체 5 Medium"/>
              </a:rPr>
              <a:t>· 통합 결과: 2,564행 × 46열</a:t>
            </a:r>
            <a:endParaRPr lang="en-US" sz="1300" dirty="0"/>
          </a:p>
          <a:p>
            <a:pPr marL="0" indent="0">
              <a:lnSpc>
                <a:spcPct val="135000"/>
              </a:lnSpc>
              <a:buNone/>
            </a:pPr>
            <a:r>
              <a:rPr lang="en-US" sz="1300" dirty="0">
                <a:solidFill>
                  <a:srgbClr val="45515E"/>
                </a:solidFill>
                <a:latin typeface="에이투지체 5 Medium"/>
                <a:ea typeface="에이투지체 5 Medium"/>
                <a:cs typeface="에이투지체 5 Medium"/>
              </a:rPr>
              <a:t>· 학습용: 2,180행 × 13열 (결측 행 제외)</a:t>
            </a:r>
            <a:endParaRPr lang="en-US" sz="1300" dirty="0"/>
          </a:p>
          <a:p>
            <a:pPr marL="0" indent="0">
              <a:lnSpc>
                <a:spcPct val="135000"/>
              </a:lnSpc>
              <a:buNone/>
            </a:pPr>
            <a:r>
              <a:rPr lang="en-US" sz="1300" dirty="0">
                <a:solidFill>
                  <a:srgbClr val="45515E"/>
                </a:solidFill>
                <a:latin typeface="에이투지체 5 Medium"/>
                <a:ea typeface="에이투지체 5 Medium"/>
                <a:cs typeface="에이투지체 5 Medium"/>
              </a:rPr>
              <a:t>· 기간: 2018.05 ~ 2025.12</a:t>
            </a:r>
            <a:endParaRPr lang="en-US" sz="1300" dirty="0"/>
          </a:p>
        </p:txBody>
      </p:sp>
      <p:sp>
        <p:nvSpPr>
          <p:cNvPr id="41" name="Shape 38"/>
          <p:cNvSpPr/>
          <p:nvPr/>
        </p:nvSpPr>
        <p:spPr>
          <a:xfrm>
            <a:off x="6187745" y="4096512"/>
            <a:ext cx="5547665" cy="2093976"/>
          </a:xfrm>
          <a:prstGeom prst="roundRect">
            <a:avLst>
              <a:gd name="adj" fmla="val 43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42" name="Text 39"/>
          <p:cNvSpPr txBox="1"/>
          <p:nvPr/>
        </p:nvSpPr>
        <p:spPr>
          <a:xfrm>
            <a:off x="6407201" y="4261104"/>
            <a:ext cx="5108753"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인구 밀집 예측용 표</a:t>
            </a:r>
            <a:endParaRPr lang="en-US" sz="1800" dirty="0"/>
          </a:p>
        </p:txBody>
      </p:sp>
      <p:sp>
        <p:nvSpPr>
          <p:cNvPr id="43" name="Shape 40"/>
          <p:cNvSpPr/>
          <p:nvPr/>
        </p:nvSpPr>
        <p:spPr>
          <a:xfrm>
            <a:off x="6407201" y="4663440"/>
            <a:ext cx="5108753" cy="0"/>
          </a:xfrm>
          <a:prstGeom prst="line">
            <a:avLst/>
          </a:prstGeom>
          <a:noFill/>
          <a:ln w="9525">
            <a:solidFill>
              <a:srgbClr val="E5E7EB"/>
            </a:solidFill>
            <a:prstDash val="solid"/>
          </a:ln>
        </p:spPr>
        <p:txBody>
          <a:bodyPr/>
          <a:lstStyle/>
          <a:p>
            <a:endParaRPr/>
          </a:p>
        </p:txBody>
      </p:sp>
      <p:sp>
        <p:nvSpPr>
          <p:cNvPr id="44" name="Text 41"/>
          <p:cNvSpPr txBox="1"/>
          <p:nvPr/>
        </p:nvSpPr>
        <p:spPr>
          <a:xfrm>
            <a:off x="6407201" y="4773168"/>
            <a:ext cx="5108753" cy="1289304"/>
          </a:xfrm>
          <a:prstGeom prst="rect">
            <a:avLst/>
          </a:prstGeom>
          <a:noFill/>
          <a:ln/>
        </p:spPr>
        <p:txBody>
          <a:bodyPr wrap="square" lIns="0" tIns="0" rIns="0" bIns="0" rtlCol="0" anchor="t"/>
          <a:lstStyle/>
          <a:p>
            <a:pPr marL="0" indent="0">
              <a:lnSpc>
                <a:spcPct val="135000"/>
              </a:lnSpc>
              <a:buNone/>
            </a:pPr>
            <a:r>
              <a:rPr lang="en-US" sz="1300" dirty="0">
                <a:solidFill>
                  <a:srgbClr val="45515E"/>
                </a:solidFill>
                <a:latin typeface="에이투지체 5 Medium"/>
                <a:ea typeface="에이투지체 5 Medium"/>
                <a:cs typeface="에이투지체 5 Medium"/>
              </a:rPr>
              <a:t>· 단위: 자치구 × 일</a:t>
            </a:r>
            <a:endParaRPr lang="en-US" sz="1300" dirty="0"/>
          </a:p>
          <a:p>
            <a:pPr marL="0" indent="0">
              <a:lnSpc>
                <a:spcPct val="135000"/>
              </a:lnSpc>
              <a:buNone/>
            </a:pPr>
            <a:r>
              <a:rPr lang="en-US" sz="1300" dirty="0">
                <a:solidFill>
                  <a:srgbClr val="45515E"/>
                </a:solidFill>
                <a:latin typeface="에이투지체 5 Medium"/>
                <a:ea typeface="에이투지체 5 Medium"/>
                <a:cs typeface="에이투지체 5 Medium"/>
              </a:rPr>
              <a:t>· 통합 결과: 75,825행 × 20열</a:t>
            </a:r>
            <a:endParaRPr lang="en-US" sz="1300" dirty="0"/>
          </a:p>
          <a:p>
            <a:pPr marL="0" indent="0">
              <a:lnSpc>
                <a:spcPct val="135000"/>
              </a:lnSpc>
              <a:buNone/>
            </a:pPr>
            <a:r>
              <a:rPr lang="en-US" sz="1300" dirty="0">
                <a:solidFill>
                  <a:srgbClr val="45515E"/>
                </a:solidFill>
                <a:latin typeface="에이투지체 5 Medium"/>
                <a:ea typeface="에이투지체 5 Medium"/>
                <a:cs typeface="에이투지체 5 Medium"/>
              </a:rPr>
              <a:t>· 학습용: 75,825행 × 11열</a:t>
            </a:r>
            <a:endParaRPr lang="en-US" sz="1300" dirty="0"/>
          </a:p>
          <a:p>
            <a:pPr marL="0" indent="0">
              <a:lnSpc>
                <a:spcPct val="135000"/>
              </a:lnSpc>
              <a:buNone/>
            </a:pPr>
            <a:r>
              <a:rPr lang="en-US" sz="1300" dirty="0">
                <a:solidFill>
                  <a:srgbClr val="45515E"/>
                </a:solidFill>
                <a:latin typeface="에이투지체 5 Medium"/>
                <a:ea typeface="에이투지체 5 Medium"/>
                <a:cs typeface="에이투지체 5 Medium"/>
              </a:rPr>
              <a:t>· 기간: 2018.04.12 ~ 2026.07.31</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02  데이터 전처리</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a:ea typeface="에이투지체 5 Medium"/>
                <a:cs typeface="에이투지체 5 Medium"/>
              </a:rPr>
              <a:t>자료 정리 및 결측 · 중복 처리</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임의 값 생성 없이 형식 통일 및 이상 구간 제외</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14</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02_119_전처리_검토수정.ipynb (형식 · 숫자 정리는 이전 전처리 단계)</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993392"/>
          <a:ext cx="11277295" cy="3401568"/>
        </p:xfrm>
        <a:graphic>
          <a:graphicData uri="http://schemas.openxmlformats.org/drawingml/2006/table">
            <a:tbl>
              <a:tblPr/>
              <a:tblGrid>
                <a:gridCol w="16459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2407615">
                  <a:extLst>
                    <a:ext uri="{9D8B030D-6E8A-4147-A177-3AD203B41FA5}">
                      <a16:colId xmlns:a16="http://schemas.microsoft.com/office/drawing/2014/main" val="20003"/>
                    </a:ext>
                  </a:extLst>
                </a:gridCol>
              </a:tblGrid>
              <a:tr h="384048">
                <a:tc>
                  <a:txBody>
                    <a:bodyPr/>
                    <a:lstStyle/>
                    <a:p>
                      <a:pPr marL="0" indent="0" algn="ctr">
                        <a:buNone/>
                      </a:pPr>
                      <a:r>
                        <a:rPr lang="en-US" sz="1200" dirty="0">
                          <a:solidFill>
                            <a:srgbClr val="222222"/>
                          </a:solidFill>
                          <a:latin typeface="에이투지체 5 Medium"/>
                          <a:ea typeface="에이투지체 5 Medium"/>
                          <a:cs typeface="에이투지체 5 Medium"/>
                        </a:rPr>
                        <a:t>구분</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222222"/>
                          </a:solidFill>
                          <a:latin typeface="에이투지체 5 Medium"/>
                          <a:ea typeface="에이투지체 5 Medium"/>
                          <a:cs typeface="에이투지체 5 Medium"/>
                        </a:rPr>
                        <a:t>문제</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222222"/>
                          </a:solidFill>
                          <a:latin typeface="에이투지체 5 Medium"/>
                          <a:ea typeface="에이투지체 5 Medium"/>
                          <a:cs typeface="에이투지체 5 Medium"/>
                        </a:rPr>
                        <a:t>처리</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D62828"/>
                          </a:solidFill>
                          <a:latin typeface="에이투지체 5 Medium"/>
                          <a:ea typeface="에이투지체 5 Medium"/>
                          <a:cs typeface="에이투지체 5 Medium"/>
                        </a:rPr>
                        <a:t>결과</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extLst>
                  <a:ext uri="{0D108BD9-81ED-4DB2-BD59-A6C34878D82A}">
                    <a16:rowId xmlns:a16="http://schemas.microsoft.com/office/drawing/2014/main" val="10000"/>
                  </a:ext>
                </a:extLst>
              </a:tr>
              <a:tr h="502920">
                <a:tc>
                  <a:txBody>
                    <a:bodyPr/>
                    <a:lstStyle/>
                    <a:p>
                      <a:pPr marL="0" indent="0" algn="l">
                        <a:buNone/>
                      </a:pPr>
                      <a:r>
                        <a:rPr lang="en-US" sz="1200" b="1" dirty="0">
                          <a:solidFill>
                            <a:srgbClr val="222222"/>
                          </a:solidFill>
                          <a:latin typeface="에이투지체 5 Medium"/>
                          <a:ea typeface="에이투지체 5 Medium"/>
                          <a:cs typeface="에이투지체 5 Medium"/>
                        </a:rPr>
                        <a:t>형식</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3~4줄 헤더, 가로로 펼친 월 컬럼</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한 행 = 한 시점 구조로 변환</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세로형 표</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200" b="1" dirty="0">
                          <a:solidFill>
                            <a:srgbClr val="222222"/>
                          </a:solidFill>
                          <a:latin typeface="에이투지체 5 Medium"/>
                          <a:ea typeface="에이투지체 5 Medium"/>
                          <a:cs typeface="에이투지체 5 Medium"/>
                        </a:rPr>
                        <a:t>명칭</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파일별 날짜 · 지역 컬럼명 상이</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ds · District로 통일</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공통 키 병합</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2"/>
                  </a:ext>
                </a:extLst>
              </a:tr>
              <a:tr h="502920">
                <a:tc>
                  <a:txBody>
                    <a:bodyPr/>
                    <a:lstStyle/>
                    <a:p>
                      <a:pPr marL="0" indent="0" algn="l">
                        <a:buNone/>
                      </a:pPr>
                      <a:r>
                        <a:rPr lang="en-US" sz="1200" b="1" dirty="0">
                          <a:solidFill>
                            <a:srgbClr val="222222"/>
                          </a:solidFill>
                          <a:latin typeface="에이투지체 5 Medium"/>
                          <a:ea typeface="에이투지체 5 Medium"/>
                          <a:cs typeface="에이투지체 5 Medium"/>
                        </a:rPr>
                        <a:t>숫자</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천 단위 콤마, "-" 표기</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콤마 제거, "-" → 0</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숫자형 변환</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200" b="1" dirty="0">
                          <a:solidFill>
                            <a:srgbClr val="222222"/>
                          </a:solidFill>
                          <a:latin typeface="에이투지체 5 Medium"/>
                          <a:ea typeface="에이투지체 5 Medium"/>
                          <a:cs typeface="에이투지체 5 Medium"/>
                        </a:rPr>
                        <a:t>중복 컬럼</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Pop_Peak = 일최대인구수</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뒤쪽 컬럼 제외</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1개 컬럼 제외</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4"/>
                  </a:ext>
                </a:extLst>
              </a:tr>
              <a:tr h="502920">
                <a:tc>
                  <a:txBody>
                    <a:bodyPr/>
                    <a:lstStyle/>
                    <a:p>
                      <a:pPr marL="0" indent="0" algn="l">
                        <a:buNone/>
                      </a:pPr>
                      <a:r>
                        <a:rPr lang="en-US" sz="1200" b="1" dirty="0">
                          <a:solidFill>
                            <a:srgbClr val="222222"/>
                          </a:solidFill>
                          <a:latin typeface="에이투지체 5 Medium"/>
                          <a:ea typeface="에이투지체 5 Medium"/>
                          <a:cs typeface="에이투지체 5 Medium"/>
                        </a:rPr>
                        <a:t>미수집 구간</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소방서 개서 이전 66칸</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임의 값 미입력</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빈 구간 유지</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l">
                        <a:buNone/>
                      </a:pPr>
                      <a:r>
                        <a:rPr lang="en-US" sz="1200" b="1" dirty="0">
                          <a:solidFill>
                            <a:srgbClr val="222222"/>
                          </a:solidFill>
                          <a:latin typeface="에이투지체 5 Medium"/>
                          <a:ea typeface="에이투지체 5 Medium"/>
                          <a:cs typeface="에이투지체 5 Medium"/>
                        </a:rPr>
                        <a:t>관할 변경</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성동 · 광진 ~2017.7, 금천 · 구로 ~2022.1</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변경 이전 구간 제외</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2,634 → 2,564행</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6"/>
                  </a:ext>
                </a:extLst>
              </a:tr>
            </a:tbl>
          </a:graphicData>
        </a:graphic>
      </p:graphicFrame>
      <p:sp>
        <p:nvSpPr>
          <p:cNvPr id="9" name="Shape 5"/>
          <p:cNvSpPr/>
          <p:nvPr/>
        </p:nvSpPr>
        <p:spPr>
          <a:xfrm>
            <a:off x="457200" y="5596128"/>
            <a:ext cx="11277295" cy="594360"/>
          </a:xfrm>
          <a:prstGeom prst="roundRect">
            <a:avLst>
              <a:gd name="adj" fmla="val 15385"/>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0" name="Text 6"/>
          <p:cNvSpPr txBox="1"/>
          <p:nvPr/>
        </p:nvSpPr>
        <p:spPr>
          <a:xfrm>
            <a:off x="640080" y="5596128"/>
            <a:ext cx="10908792" cy="594360"/>
          </a:xfrm>
          <a:prstGeom prst="rect">
            <a:avLst/>
          </a:prstGeom>
          <a:noFill/>
          <a:ln/>
        </p:spPr>
        <p:txBody>
          <a:bodyPr wrap="square" lIns="0" tIns="0" rIns="0" bIns="0" rtlCol="0" anchor="ctr"/>
          <a:lstStyle/>
          <a:p>
            <a:pPr marL="0" indent="0" algn="ctr">
              <a:buNone/>
            </a:pPr>
            <a:r>
              <a:rPr lang="en-US" sz="1400" dirty="0" err="1" smtClean="0">
                <a:solidFill>
                  <a:srgbClr val="222222"/>
                </a:solidFill>
                <a:latin typeface="에이투지체 5 Medium"/>
                <a:ea typeface="에이투지체 5 Medium"/>
                <a:cs typeface="에이투지체 5 Medium"/>
              </a:rPr>
              <a:t>생활인구</a:t>
            </a:r>
            <a:r>
              <a:rPr lang="en-US" sz="1400" dirty="0" smtClean="0">
                <a:solidFill>
                  <a:srgbClr val="222222"/>
                </a:solidFill>
                <a:latin typeface="에이투지체 5 Medium"/>
                <a:ea typeface="에이투지체 5 Medium"/>
                <a:cs typeface="에이투지체 5 Medium"/>
              </a:rPr>
              <a:t> </a:t>
            </a:r>
            <a:r>
              <a:rPr lang="en-US" sz="1400" dirty="0">
                <a:solidFill>
                  <a:srgbClr val="222222"/>
                </a:solidFill>
                <a:latin typeface="에이투지체 5 Medium"/>
                <a:ea typeface="에이투지체 5 Medium"/>
                <a:cs typeface="에이투지체 5 Medium"/>
              </a:rPr>
              <a:t>25개 구 × 3,040일 연속 확인, 결측의 평균 · 0 </a:t>
            </a:r>
            <a:r>
              <a:rPr lang="en-US" sz="1400" dirty="0" err="1" smtClean="0">
                <a:solidFill>
                  <a:srgbClr val="222222"/>
                </a:solidFill>
                <a:latin typeface="에이투지체 5 Medium"/>
                <a:ea typeface="에이투지체 5 Medium"/>
                <a:cs typeface="에이투지체 5 Medium"/>
              </a:rPr>
              <a:t>대체</a:t>
            </a:r>
            <a:r>
              <a:rPr lang="en-US" sz="1400" dirty="0" smtClean="0">
                <a:solidFill>
                  <a:srgbClr val="222222"/>
                </a:solidFill>
                <a:latin typeface="에이투지체 5 Medium"/>
                <a:ea typeface="에이투지체 5 Medium"/>
                <a:cs typeface="에이투지체 5 Medium"/>
              </a:rPr>
              <a:t> </a:t>
            </a:r>
            <a:r>
              <a:rPr lang="ko-KR" altLang="en-US" sz="1400" dirty="0">
                <a:solidFill>
                  <a:srgbClr val="222222"/>
                </a:solidFill>
                <a:latin typeface="에이투지체 5 Medium"/>
                <a:ea typeface="에이투지체 5 Medium"/>
                <a:cs typeface="에이투지체 5 Medium"/>
              </a:rPr>
              <a:t>미</a:t>
            </a:r>
            <a:r>
              <a:rPr lang="en-US" sz="1400" dirty="0" err="1" smtClean="0">
                <a:solidFill>
                  <a:srgbClr val="222222"/>
                </a:solidFill>
                <a:latin typeface="에이투지체 5 Medium"/>
                <a:ea typeface="에이투지체 5 Medium"/>
                <a:cs typeface="에이투지체 5 Medium"/>
              </a:rPr>
              <a:t>적용</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02  데이터 전처리</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a:ea typeface="에이투지체 5 Medium"/>
                <a:cs typeface="에이투지체 5 Medium"/>
              </a:rPr>
              <a:t>과거 값 기반 학습 표 통합</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예측 시점에 확인 가능한 지난달 · 작년 · 전일 값만 입력으로 사용</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15</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02_119_전처리_검토수정.ipynb</a:t>
            </a:r>
            <a:endParaRPr lang="en-US" sz="900" dirty="0"/>
          </a:p>
        </p:txBody>
      </p:sp>
      <p:sp>
        <p:nvSpPr>
          <p:cNvPr id="8" name="Shape 5"/>
          <p:cNvSpPr/>
          <p:nvPr/>
        </p:nvSpPr>
        <p:spPr>
          <a:xfrm>
            <a:off x="457200" y="1993392"/>
            <a:ext cx="4023360" cy="731520"/>
          </a:xfrm>
          <a:prstGeom prst="roundRect">
            <a:avLst>
              <a:gd name="adj" fmla="val 125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9" name="Text 6"/>
          <p:cNvSpPr txBox="1"/>
          <p:nvPr/>
        </p:nvSpPr>
        <p:spPr>
          <a:xfrm>
            <a:off x="676656" y="1993392"/>
            <a:ext cx="2377440" cy="731520"/>
          </a:xfrm>
          <a:prstGeom prst="rect">
            <a:avLst/>
          </a:prstGeom>
          <a:noFill/>
          <a:ln/>
        </p:spPr>
        <p:txBody>
          <a:bodyPr wrap="square" lIns="0" tIns="0" rIns="0" bIns="0" rtlCol="0" anchor="ctr"/>
          <a:lstStyle/>
          <a:p>
            <a:pPr marL="0" indent="0">
              <a:buNone/>
            </a:pPr>
            <a:r>
              <a:rPr lang="en-US" sz="1300" b="1" dirty="0">
                <a:solidFill>
                  <a:srgbClr val="222222"/>
                </a:solidFill>
                <a:latin typeface="에이투지체 5 Medium"/>
                <a:ea typeface="에이투지체 5 Medium"/>
                <a:cs typeface="에이투지체 5 Medium"/>
              </a:rPr>
              <a:t>소방청 API 이송 건수</a:t>
            </a:r>
            <a:endParaRPr lang="en-US" sz="1300" dirty="0"/>
          </a:p>
        </p:txBody>
      </p:sp>
      <p:sp>
        <p:nvSpPr>
          <p:cNvPr id="10" name="Shape 7"/>
          <p:cNvSpPr/>
          <p:nvPr/>
        </p:nvSpPr>
        <p:spPr>
          <a:xfrm>
            <a:off x="3017520" y="2221992"/>
            <a:ext cx="1280160" cy="274320"/>
          </a:xfrm>
          <a:prstGeom prst="roundRect">
            <a:avLst>
              <a:gd name="adj" fmla="val 50000"/>
            </a:avLst>
          </a:prstGeom>
          <a:solidFill>
            <a:srgbClr val="FDE3E3"/>
          </a:solidFill>
          <a:ln w="12700">
            <a:solidFill>
              <a:srgbClr val="FDE3E3"/>
            </a:solidFill>
            <a:prstDash val="solid"/>
          </a:ln>
        </p:spPr>
        <p:txBody>
          <a:bodyPr/>
          <a:lstStyle/>
          <a:p>
            <a:endParaRPr/>
          </a:p>
        </p:txBody>
      </p:sp>
      <p:sp>
        <p:nvSpPr>
          <p:cNvPr id="11" name="Text 8"/>
          <p:cNvSpPr txBox="1"/>
          <p:nvPr/>
        </p:nvSpPr>
        <p:spPr>
          <a:xfrm>
            <a:off x="3017520" y="2221992"/>
            <a:ext cx="1280160" cy="274320"/>
          </a:xfrm>
          <a:prstGeom prst="rect">
            <a:avLst/>
          </a:prstGeom>
          <a:noFill/>
          <a:ln/>
        </p:spPr>
        <p:txBody>
          <a:bodyPr wrap="square" lIns="0" tIns="0" rIns="0" bIns="0" rtlCol="0" anchor="ctr"/>
          <a:lstStyle/>
          <a:p>
            <a:pPr marL="0" indent="0" algn="ctr">
              <a:buNone/>
            </a:pPr>
            <a:r>
              <a:rPr lang="en-US" sz="1050" b="1" dirty="0">
                <a:solidFill>
                  <a:srgbClr val="8A1414"/>
                </a:solidFill>
                <a:latin typeface="에이투지체 5 Medium"/>
                <a:ea typeface="에이투지체 5 Medium"/>
                <a:cs typeface="에이투지체 5 Medium"/>
              </a:rPr>
              <a:t>전월 · 전년 동월</a:t>
            </a:r>
            <a:endParaRPr lang="en-US" sz="1050" dirty="0"/>
          </a:p>
        </p:txBody>
      </p:sp>
      <p:sp>
        <p:nvSpPr>
          <p:cNvPr id="12" name="Shape 9"/>
          <p:cNvSpPr/>
          <p:nvPr/>
        </p:nvSpPr>
        <p:spPr>
          <a:xfrm>
            <a:off x="4572000" y="2359152"/>
            <a:ext cx="502920" cy="0"/>
          </a:xfrm>
          <a:prstGeom prst="line">
            <a:avLst/>
          </a:prstGeom>
          <a:noFill/>
          <a:ln w="15875">
            <a:solidFill>
              <a:srgbClr val="D62828"/>
            </a:solidFill>
            <a:prstDash val="solid"/>
            <a:tailEnd type="triangle"/>
          </a:ln>
        </p:spPr>
        <p:txBody>
          <a:bodyPr/>
          <a:lstStyle/>
          <a:p>
            <a:endParaRPr/>
          </a:p>
        </p:txBody>
      </p:sp>
      <p:sp>
        <p:nvSpPr>
          <p:cNvPr id="13" name="Shape 10"/>
          <p:cNvSpPr/>
          <p:nvPr/>
        </p:nvSpPr>
        <p:spPr>
          <a:xfrm>
            <a:off x="457200" y="2862072"/>
            <a:ext cx="4023360" cy="731520"/>
          </a:xfrm>
          <a:prstGeom prst="roundRect">
            <a:avLst>
              <a:gd name="adj" fmla="val 125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4" name="Text 11"/>
          <p:cNvSpPr txBox="1"/>
          <p:nvPr/>
        </p:nvSpPr>
        <p:spPr>
          <a:xfrm>
            <a:off x="676656" y="2862072"/>
            <a:ext cx="2377440" cy="731520"/>
          </a:xfrm>
          <a:prstGeom prst="rect">
            <a:avLst/>
          </a:prstGeom>
          <a:noFill/>
          <a:ln/>
        </p:spPr>
        <p:txBody>
          <a:bodyPr wrap="square" lIns="0" tIns="0" rIns="0" bIns="0" rtlCol="0" anchor="ctr"/>
          <a:lstStyle/>
          <a:p>
            <a:pPr marL="0" indent="0">
              <a:buNone/>
            </a:pPr>
            <a:r>
              <a:rPr lang="en-US" sz="1300" b="1" dirty="0">
                <a:solidFill>
                  <a:srgbClr val="222222"/>
                </a:solidFill>
                <a:latin typeface="에이투지체 5 Medium"/>
                <a:ea typeface="에이투지체 5 Medium"/>
                <a:cs typeface="에이투지체 5 Medium"/>
              </a:rPr>
              <a:t>생활인구 (일 → 월평균)</a:t>
            </a:r>
            <a:endParaRPr lang="en-US" sz="1300" dirty="0"/>
          </a:p>
        </p:txBody>
      </p:sp>
      <p:sp>
        <p:nvSpPr>
          <p:cNvPr id="15" name="Shape 12"/>
          <p:cNvSpPr/>
          <p:nvPr/>
        </p:nvSpPr>
        <p:spPr>
          <a:xfrm>
            <a:off x="3017520" y="3090672"/>
            <a:ext cx="1280160" cy="274320"/>
          </a:xfrm>
          <a:prstGeom prst="roundRect">
            <a:avLst>
              <a:gd name="adj" fmla="val 50000"/>
            </a:avLst>
          </a:prstGeom>
          <a:solidFill>
            <a:srgbClr val="FDE3E3"/>
          </a:solidFill>
          <a:ln w="12700">
            <a:solidFill>
              <a:srgbClr val="FDE3E3"/>
            </a:solidFill>
            <a:prstDash val="solid"/>
          </a:ln>
        </p:spPr>
        <p:txBody>
          <a:bodyPr/>
          <a:lstStyle/>
          <a:p>
            <a:endParaRPr/>
          </a:p>
        </p:txBody>
      </p:sp>
      <p:sp>
        <p:nvSpPr>
          <p:cNvPr id="16" name="Text 13"/>
          <p:cNvSpPr txBox="1"/>
          <p:nvPr/>
        </p:nvSpPr>
        <p:spPr>
          <a:xfrm>
            <a:off x="3017520" y="3090672"/>
            <a:ext cx="1280160" cy="274320"/>
          </a:xfrm>
          <a:prstGeom prst="rect">
            <a:avLst/>
          </a:prstGeom>
          <a:noFill/>
          <a:ln/>
        </p:spPr>
        <p:txBody>
          <a:bodyPr wrap="square" lIns="0" tIns="0" rIns="0" bIns="0" rtlCol="0" anchor="ctr"/>
          <a:lstStyle/>
          <a:p>
            <a:pPr marL="0" indent="0" algn="ctr">
              <a:buNone/>
            </a:pPr>
            <a:r>
              <a:rPr lang="en-US" sz="1050" b="1" dirty="0">
                <a:solidFill>
                  <a:srgbClr val="8A1414"/>
                </a:solidFill>
                <a:latin typeface="에이투지체 5 Medium"/>
                <a:ea typeface="에이투지체 5 Medium"/>
                <a:cs typeface="에이투지체 5 Medium"/>
              </a:rPr>
              <a:t>전월</a:t>
            </a:r>
            <a:endParaRPr lang="en-US" sz="1050" dirty="0"/>
          </a:p>
        </p:txBody>
      </p:sp>
      <p:sp>
        <p:nvSpPr>
          <p:cNvPr id="17" name="Shape 14"/>
          <p:cNvSpPr/>
          <p:nvPr/>
        </p:nvSpPr>
        <p:spPr>
          <a:xfrm>
            <a:off x="4572000" y="3227832"/>
            <a:ext cx="502920" cy="0"/>
          </a:xfrm>
          <a:prstGeom prst="line">
            <a:avLst/>
          </a:prstGeom>
          <a:noFill/>
          <a:ln w="15875">
            <a:solidFill>
              <a:srgbClr val="D62828"/>
            </a:solidFill>
            <a:prstDash val="solid"/>
            <a:tailEnd type="triangle"/>
          </a:ln>
        </p:spPr>
        <p:txBody>
          <a:bodyPr/>
          <a:lstStyle/>
          <a:p>
            <a:endParaRPr/>
          </a:p>
        </p:txBody>
      </p:sp>
      <p:sp>
        <p:nvSpPr>
          <p:cNvPr id="18" name="Shape 15"/>
          <p:cNvSpPr/>
          <p:nvPr/>
        </p:nvSpPr>
        <p:spPr>
          <a:xfrm>
            <a:off x="457200" y="3730752"/>
            <a:ext cx="4023360" cy="731520"/>
          </a:xfrm>
          <a:prstGeom prst="roundRect">
            <a:avLst>
              <a:gd name="adj" fmla="val 125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9" name="Text 16"/>
          <p:cNvSpPr txBox="1"/>
          <p:nvPr/>
        </p:nvSpPr>
        <p:spPr>
          <a:xfrm>
            <a:off x="676656" y="3730752"/>
            <a:ext cx="2377440" cy="731520"/>
          </a:xfrm>
          <a:prstGeom prst="rect">
            <a:avLst/>
          </a:prstGeom>
          <a:noFill/>
          <a:ln/>
        </p:spPr>
        <p:txBody>
          <a:bodyPr wrap="square" lIns="0" tIns="0" rIns="0" bIns="0" rtlCol="0" anchor="ctr"/>
          <a:lstStyle/>
          <a:p>
            <a:pPr marL="0" indent="0">
              <a:buNone/>
            </a:pPr>
            <a:r>
              <a:rPr lang="en-US" sz="1300" b="1" dirty="0">
                <a:solidFill>
                  <a:srgbClr val="222222"/>
                </a:solidFill>
                <a:latin typeface="에이투지체 5 Medium"/>
                <a:ea typeface="에이투지체 5 Medium"/>
                <a:cs typeface="에이투지체 5 Medium"/>
              </a:rPr>
              <a:t>구조활동 사고 원인</a:t>
            </a:r>
            <a:endParaRPr lang="en-US" sz="1300" dirty="0"/>
          </a:p>
        </p:txBody>
      </p:sp>
      <p:sp>
        <p:nvSpPr>
          <p:cNvPr id="20" name="Shape 17"/>
          <p:cNvSpPr/>
          <p:nvPr/>
        </p:nvSpPr>
        <p:spPr>
          <a:xfrm>
            <a:off x="3017520" y="3959352"/>
            <a:ext cx="1280160" cy="274320"/>
          </a:xfrm>
          <a:prstGeom prst="roundRect">
            <a:avLst>
              <a:gd name="adj" fmla="val 50000"/>
            </a:avLst>
          </a:prstGeom>
          <a:solidFill>
            <a:srgbClr val="FDE3E3"/>
          </a:solidFill>
          <a:ln w="12700">
            <a:solidFill>
              <a:srgbClr val="FDE3E3"/>
            </a:solidFill>
            <a:prstDash val="solid"/>
          </a:ln>
        </p:spPr>
        <p:txBody>
          <a:bodyPr/>
          <a:lstStyle/>
          <a:p>
            <a:endParaRPr/>
          </a:p>
        </p:txBody>
      </p:sp>
      <p:sp>
        <p:nvSpPr>
          <p:cNvPr id="21" name="Text 18"/>
          <p:cNvSpPr txBox="1"/>
          <p:nvPr/>
        </p:nvSpPr>
        <p:spPr>
          <a:xfrm>
            <a:off x="3017520" y="3959352"/>
            <a:ext cx="1280160" cy="274320"/>
          </a:xfrm>
          <a:prstGeom prst="rect">
            <a:avLst/>
          </a:prstGeom>
          <a:noFill/>
          <a:ln/>
        </p:spPr>
        <p:txBody>
          <a:bodyPr wrap="square" lIns="0" tIns="0" rIns="0" bIns="0" rtlCol="0" anchor="ctr"/>
          <a:lstStyle/>
          <a:p>
            <a:pPr marL="0" indent="0" algn="ctr">
              <a:buNone/>
            </a:pPr>
            <a:r>
              <a:rPr lang="en-US" sz="1050" b="1" dirty="0">
                <a:solidFill>
                  <a:srgbClr val="8A1414"/>
                </a:solidFill>
                <a:latin typeface="에이투지체 5 Medium"/>
                <a:ea typeface="에이투지체 5 Medium"/>
                <a:cs typeface="에이투지체 5 Medium"/>
              </a:rPr>
              <a:t>전년</a:t>
            </a:r>
            <a:endParaRPr lang="en-US" sz="1050" dirty="0"/>
          </a:p>
        </p:txBody>
      </p:sp>
      <p:sp>
        <p:nvSpPr>
          <p:cNvPr id="22" name="Shape 19"/>
          <p:cNvSpPr/>
          <p:nvPr/>
        </p:nvSpPr>
        <p:spPr>
          <a:xfrm>
            <a:off x="4572000" y="4096512"/>
            <a:ext cx="502920" cy="0"/>
          </a:xfrm>
          <a:prstGeom prst="line">
            <a:avLst/>
          </a:prstGeom>
          <a:noFill/>
          <a:ln w="15875">
            <a:solidFill>
              <a:srgbClr val="D62828"/>
            </a:solidFill>
            <a:prstDash val="solid"/>
            <a:tailEnd type="triangle"/>
          </a:ln>
        </p:spPr>
        <p:txBody>
          <a:bodyPr/>
          <a:lstStyle/>
          <a:p>
            <a:endParaRPr/>
          </a:p>
        </p:txBody>
      </p:sp>
      <p:sp>
        <p:nvSpPr>
          <p:cNvPr id="23" name="Shape 20"/>
          <p:cNvSpPr/>
          <p:nvPr/>
        </p:nvSpPr>
        <p:spPr>
          <a:xfrm>
            <a:off x="457200" y="4599432"/>
            <a:ext cx="4023360" cy="731520"/>
          </a:xfrm>
          <a:prstGeom prst="roundRect">
            <a:avLst>
              <a:gd name="adj" fmla="val 125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4" name="Text 21"/>
          <p:cNvSpPr txBox="1"/>
          <p:nvPr/>
        </p:nvSpPr>
        <p:spPr>
          <a:xfrm>
            <a:off x="676656" y="4599432"/>
            <a:ext cx="2377440" cy="731520"/>
          </a:xfrm>
          <a:prstGeom prst="rect">
            <a:avLst/>
          </a:prstGeom>
          <a:noFill/>
          <a:ln/>
        </p:spPr>
        <p:txBody>
          <a:bodyPr wrap="square" lIns="0" tIns="0" rIns="0" bIns="0" rtlCol="0" anchor="ctr"/>
          <a:lstStyle/>
          <a:p>
            <a:pPr marL="0" indent="0">
              <a:buNone/>
            </a:pPr>
            <a:r>
              <a:rPr lang="en-US" sz="1300" b="1" dirty="0">
                <a:solidFill>
                  <a:srgbClr val="222222"/>
                </a:solidFill>
                <a:latin typeface="에이투지체 5 Medium"/>
                <a:ea typeface="에이투지체 5 Medium"/>
                <a:cs typeface="에이투지체 5 Medium"/>
              </a:rPr>
              <a:t>의료이용 수요 · 공급</a:t>
            </a:r>
            <a:endParaRPr lang="en-US" sz="1300" dirty="0"/>
          </a:p>
        </p:txBody>
      </p:sp>
      <p:sp>
        <p:nvSpPr>
          <p:cNvPr id="25" name="Shape 22"/>
          <p:cNvSpPr/>
          <p:nvPr/>
        </p:nvSpPr>
        <p:spPr>
          <a:xfrm>
            <a:off x="3017520" y="4828032"/>
            <a:ext cx="1280160" cy="274320"/>
          </a:xfrm>
          <a:prstGeom prst="roundRect">
            <a:avLst>
              <a:gd name="adj" fmla="val 50000"/>
            </a:avLst>
          </a:prstGeom>
          <a:solidFill>
            <a:srgbClr val="FDE3E3"/>
          </a:solidFill>
          <a:ln w="12700">
            <a:solidFill>
              <a:srgbClr val="FDE3E3"/>
            </a:solidFill>
            <a:prstDash val="solid"/>
          </a:ln>
        </p:spPr>
        <p:txBody>
          <a:bodyPr/>
          <a:lstStyle/>
          <a:p>
            <a:endParaRPr/>
          </a:p>
        </p:txBody>
      </p:sp>
      <p:sp>
        <p:nvSpPr>
          <p:cNvPr id="26" name="Text 23"/>
          <p:cNvSpPr txBox="1"/>
          <p:nvPr/>
        </p:nvSpPr>
        <p:spPr>
          <a:xfrm>
            <a:off x="3017520" y="4828032"/>
            <a:ext cx="1280160" cy="274320"/>
          </a:xfrm>
          <a:prstGeom prst="rect">
            <a:avLst/>
          </a:prstGeom>
          <a:noFill/>
          <a:ln/>
        </p:spPr>
        <p:txBody>
          <a:bodyPr wrap="square" lIns="0" tIns="0" rIns="0" bIns="0" rtlCol="0" anchor="ctr"/>
          <a:lstStyle/>
          <a:p>
            <a:pPr marL="0" indent="0" algn="ctr">
              <a:buNone/>
            </a:pPr>
            <a:r>
              <a:rPr lang="en-US" sz="1050" b="1" dirty="0">
                <a:solidFill>
                  <a:srgbClr val="8A1414"/>
                </a:solidFill>
                <a:latin typeface="에이투지체 5 Medium"/>
                <a:ea typeface="에이투지체 5 Medium"/>
                <a:cs typeface="에이투지체 5 Medium"/>
              </a:rPr>
              <a:t>전년</a:t>
            </a:r>
            <a:endParaRPr lang="en-US" sz="1050" dirty="0"/>
          </a:p>
        </p:txBody>
      </p:sp>
      <p:sp>
        <p:nvSpPr>
          <p:cNvPr id="27" name="Shape 24"/>
          <p:cNvSpPr/>
          <p:nvPr/>
        </p:nvSpPr>
        <p:spPr>
          <a:xfrm>
            <a:off x="4572000" y="4965192"/>
            <a:ext cx="502920" cy="0"/>
          </a:xfrm>
          <a:prstGeom prst="line">
            <a:avLst/>
          </a:prstGeom>
          <a:noFill/>
          <a:ln w="15875">
            <a:solidFill>
              <a:srgbClr val="D62828"/>
            </a:solidFill>
            <a:prstDash val="solid"/>
            <a:tailEnd type="triangle"/>
          </a:ln>
        </p:spPr>
        <p:txBody>
          <a:bodyPr/>
          <a:lstStyle/>
          <a:p>
            <a:endParaRPr/>
          </a:p>
        </p:txBody>
      </p:sp>
      <p:sp>
        <p:nvSpPr>
          <p:cNvPr id="28" name="Shape 25"/>
          <p:cNvSpPr/>
          <p:nvPr/>
        </p:nvSpPr>
        <p:spPr>
          <a:xfrm>
            <a:off x="5212080" y="1993392"/>
            <a:ext cx="2743200" cy="3337560"/>
          </a:xfrm>
          <a:prstGeom prst="roundRect">
            <a:avLst>
              <a:gd name="adj" fmla="val 4667"/>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txBody>
          <a:bodyPr/>
          <a:lstStyle/>
          <a:p>
            <a:endParaRPr/>
          </a:p>
        </p:txBody>
      </p:sp>
      <p:sp>
        <p:nvSpPr>
          <p:cNvPr id="29" name="Text 26"/>
          <p:cNvSpPr txBox="1"/>
          <p:nvPr/>
        </p:nvSpPr>
        <p:spPr>
          <a:xfrm>
            <a:off x="5431536" y="2286000"/>
            <a:ext cx="2304288"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에이투지체 5 Medium"/>
                <a:ea typeface="에이투지체 5 Medium"/>
                <a:cs typeface="에이투지체 5 Medium"/>
              </a:rPr>
              <a:t>이송 예측 표</a:t>
            </a:r>
            <a:endParaRPr lang="en-US" sz="1800" dirty="0"/>
          </a:p>
        </p:txBody>
      </p:sp>
      <p:sp>
        <p:nvSpPr>
          <p:cNvPr id="30" name="Text 27"/>
          <p:cNvSpPr txBox="1"/>
          <p:nvPr/>
        </p:nvSpPr>
        <p:spPr>
          <a:xfrm>
            <a:off x="5431536" y="2743200"/>
            <a:ext cx="2304288" cy="640080"/>
          </a:xfrm>
          <a:prstGeom prst="rect">
            <a:avLst/>
          </a:prstGeom>
          <a:noFill/>
          <a:ln/>
        </p:spPr>
        <p:txBody>
          <a:bodyPr wrap="square" lIns="0" tIns="0" rIns="0" bIns="0" rtlCol="0" anchor="ctr"/>
          <a:lstStyle/>
          <a:p>
            <a:pPr marL="0" indent="0" algn="ctr">
              <a:buNone/>
            </a:pPr>
            <a:r>
              <a:rPr lang="en-US" sz="1300" dirty="0">
                <a:solidFill>
                  <a:srgbClr val="FDE3E3"/>
                </a:solidFill>
                <a:latin typeface="에이투지체 5 Medium"/>
                <a:ea typeface="에이투지체 5 Medium"/>
                <a:cs typeface="에이투지체 5 Medium"/>
              </a:rPr>
              <a:t>구 × 월</a:t>
            </a:r>
            <a:endParaRPr lang="en-US" sz="1300" dirty="0"/>
          </a:p>
          <a:p>
            <a:pPr marL="0" indent="0" algn="ctr">
              <a:buNone/>
            </a:pPr>
            <a:r>
              <a:rPr lang="en-US" sz="1300" dirty="0">
                <a:solidFill>
                  <a:srgbClr val="FDE3E3"/>
                </a:solidFill>
                <a:latin typeface="에이투지체 5 Medium"/>
                <a:ea typeface="에이투지체 5 Medium"/>
                <a:cs typeface="에이투지체 5 Medium"/>
              </a:rPr>
              <a:t>2,564행 × 46열</a:t>
            </a:r>
            <a:endParaRPr lang="en-US" sz="1300" dirty="0"/>
          </a:p>
        </p:txBody>
      </p:sp>
      <p:sp>
        <p:nvSpPr>
          <p:cNvPr id="31" name="Shape 28"/>
          <p:cNvSpPr/>
          <p:nvPr/>
        </p:nvSpPr>
        <p:spPr>
          <a:xfrm>
            <a:off x="5431536" y="3566160"/>
            <a:ext cx="2304288" cy="0"/>
          </a:xfrm>
          <a:prstGeom prst="line">
            <a:avLst/>
          </a:prstGeom>
          <a:noFill/>
          <a:ln w="9525">
            <a:solidFill>
              <a:srgbClr val="E87A7A"/>
            </a:solidFill>
            <a:prstDash val="solid"/>
          </a:ln>
        </p:spPr>
        <p:txBody>
          <a:bodyPr/>
          <a:lstStyle/>
          <a:p>
            <a:endParaRPr/>
          </a:p>
        </p:txBody>
      </p:sp>
      <p:sp>
        <p:nvSpPr>
          <p:cNvPr id="32" name="Text 29"/>
          <p:cNvSpPr txBox="1"/>
          <p:nvPr/>
        </p:nvSpPr>
        <p:spPr>
          <a:xfrm>
            <a:off x="5431536" y="3833447"/>
            <a:ext cx="2304288" cy="274320"/>
          </a:xfrm>
          <a:prstGeom prst="rect">
            <a:avLst/>
          </a:prstGeom>
          <a:noFill/>
          <a:ln/>
        </p:spPr>
        <p:txBody>
          <a:bodyPr wrap="square" lIns="0" tIns="0" rIns="0" bIns="0" rtlCol="0" anchor="ctr"/>
          <a:lstStyle/>
          <a:p>
            <a:pPr marL="0" indent="0" algn="ctr">
              <a:buNone/>
            </a:pPr>
            <a:r>
              <a:rPr lang="en-US" sz="1200" b="1" dirty="0">
                <a:solidFill>
                  <a:schemeClr val="bg1"/>
                </a:solidFill>
                <a:latin typeface="에이투지체 5 Medium"/>
                <a:ea typeface="에이투지체 5 Medium"/>
                <a:cs typeface="에이투지체 5 Medium"/>
              </a:rPr>
              <a:t>정답</a:t>
            </a:r>
            <a:endParaRPr lang="en-US" sz="1200" b="1" dirty="0">
              <a:solidFill>
                <a:schemeClr val="bg1"/>
              </a:solidFill>
            </a:endParaRPr>
          </a:p>
        </p:txBody>
      </p:sp>
      <p:sp>
        <p:nvSpPr>
          <p:cNvPr id="33" name="Text 30"/>
          <p:cNvSpPr txBox="1"/>
          <p:nvPr/>
        </p:nvSpPr>
        <p:spPr>
          <a:xfrm>
            <a:off x="5400903" y="4242816"/>
            <a:ext cx="2304288"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에이투지체 5 Medium"/>
                <a:ea typeface="에이투지체 5 Medium"/>
                <a:cs typeface="에이투지체 5 Medium"/>
              </a:rPr>
              <a:t>당월 이송 건수</a:t>
            </a:r>
            <a:endParaRPr lang="en-US" sz="1600" dirty="0"/>
          </a:p>
        </p:txBody>
      </p:sp>
      <p:sp>
        <p:nvSpPr>
          <p:cNvPr id="34" name="Shape 31"/>
          <p:cNvSpPr/>
          <p:nvPr/>
        </p:nvSpPr>
        <p:spPr>
          <a:xfrm>
            <a:off x="8138160" y="1993392"/>
            <a:ext cx="3596335" cy="3337560"/>
          </a:xfrm>
          <a:prstGeom prst="roundRect">
            <a:avLst>
              <a:gd name="adj" fmla="val 274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35" name="Text 32"/>
          <p:cNvSpPr txBox="1"/>
          <p:nvPr/>
        </p:nvSpPr>
        <p:spPr>
          <a:xfrm>
            <a:off x="8357616" y="2176272"/>
            <a:ext cx="3154680"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인구 밀집 예측 표</a:t>
            </a:r>
            <a:endParaRPr lang="en-US" sz="1800" dirty="0"/>
          </a:p>
        </p:txBody>
      </p:sp>
      <p:sp>
        <p:nvSpPr>
          <p:cNvPr id="36" name="Shape 33"/>
          <p:cNvSpPr/>
          <p:nvPr/>
        </p:nvSpPr>
        <p:spPr>
          <a:xfrm>
            <a:off x="8357616" y="2578608"/>
            <a:ext cx="3154680" cy="0"/>
          </a:xfrm>
          <a:prstGeom prst="line">
            <a:avLst/>
          </a:prstGeom>
          <a:noFill/>
          <a:ln w="9525">
            <a:solidFill>
              <a:srgbClr val="E5E7EB"/>
            </a:solidFill>
            <a:prstDash val="solid"/>
          </a:ln>
        </p:spPr>
        <p:txBody>
          <a:bodyPr/>
          <a:lstStyle/>
          <a:p>
            <a:endParaRPr/>
          </a:p>
        </p:txBody>
      </p:sp>
      <p:sp>
        <p:nvSpPr>
          <p:cNvPr id="37" name="Shape 34"/>
          <p:cNvSpPr/>
          <p:nvPr/>
        </p:nvSpPr>
        <p:spPr>
          <a:xfrm>
            <a:off x="8357616" y="2816352"/>
            <a:ext cx="1097280" cy="274320"/>
          </a:xfrm>
          <a:prstGeom prst="roundRect">
            <a:avLst>
              <a:gd name="adj" fmla="val 50000"/>
            </a:avLst>
          </a:prstGeom>
          <a:solidFill>
            <a:srgbClr val="F2F3F5"/>
          </a:solidFill>
          <a:ln w="12700">
            <a:solidFill>
              <a:srgbClr val="F2F3F5"/>
            </a:solidFill>
            <a:prstDash val="solid"/>
          </a:ln>
        </p:spPr>
        <p:txBody>
          <a:bodyPr/>
          <a:lstStyle/>
          <a:p>
            <a:endParaRPr/>
          </a:p>
        </p:txBody>
      </p:sp>
      <p:sp>
        <p:nvSpPr>
          <p:cNvPr id="38" name="Text 35"/>
          <p:cNvSpPr txBox="1"/>
          <p:nvPr/>
        </p:nvSpPr>
        <p:spPr>
          <a:xfrm>
            <a:off x="8357616" y="2816352"/>
            <a:ext cx="1097280" cy="274320"/>
          </a:xfrm>
          <a:prstGeom prst="rect">
            <a:avLst/>
          </a:prstGeom>
          <a:noFill/>
          <a:ln/>
        </p:spPr>
        <p:txBody>
          <a:bodyPr wrap="square" lIns="0" tIns="0" rIns="0" bIns="0" rtlCol="0" anchor="ctr"/>
          <a:lstStyle/>
          <a:p>
            <a:pPr marL="0" indent="0" algn="ctr">
              <a:buNone/>
            </a:pPr>
            <a:r>
              <a:rPr lang="en-US" sz="1050" b="1" dirty="0">
                <a:solidFill>
                  <a:srgbClr val="45515E"/>
                </a:solidFill>
                <a:latin typeface="에이투지체 5 Medium"/>
                <a:ea typeface="에이투지체 5 Medium"/>
                <a:cs typeface="에이투지체 5 Medium"/>
              </a:rPr>
              <a:t>전일 값</a:t>
            </a:r>
            <a:endParaRPr lang="en-US" sz="1050" dirty="0"/>
          </a:p>
        </p:txBody>
      </p:sp>
      <p:sp>
        <p:nvSpPr>
          <p:cNvPr id="39" name="Text 36"/>
          <p:cNvSpPr txBox="1"/>
          <p:nvPr/>
        </p:nvSpPr>
        <p:spPr>
          <a:xfrm>
            <a:off x="9601200" y="2743200"/>
            <a:ext cx="1920240" cy="420624"/>
          </a:xfrm>
          <a:prstGeom prst="rect">
            <a:avLst/>
          </a:prstGeom>
          <a:noFill/>
          <a:ln/>
        </p:spPr>
        <p:txBody>
          <a:bodyPr wrap="square" lIns="0" tIns="0" rIns="0" bIns="0" rtlCol="0" anchor="ctr"/>
          <a:lstStyle/>
          <a:p>
            <a:pPr marL="0" indent="0">
              <a:buNone/>
            </a:pPr>
            <a:r>
              <a:rPr lang="en-US" sz="1200" dirty="0">
                <a:solidFill>
                  <a:srgbClr val="45515E"/>
                </a:solidFill>
                <a:latin typeface="에이투지체 5 Medium"/>
                <a:ea typeface="에이투지체 5 Medium"/>
                <a:cs typeface="에이투지체 5 Medium"/>
              </a:rPr>
              <a:t>전일 생활인구 지표</a:t>
            </a:r>
            <a:endParaRPr lang="en-US" sz="1200" dirty="0"/>
          </a:p>
        </p:txBody>
      </p:sp>
      <p:sp>
        <p:nvSpPr>
          <p:cNvPr id="40" name="Shape 37"/>
          <p:cNvSpPr/>
          <p:nvPr/>
        </p:nvSpPr>
        <p:spPr>
          <a:xfrm>
            <a:off x="8357616" y="3346704"/>
            <a:ext cx="1097280" cy="274320"/>
          </a:xfrm>
          <a:prstGeom prst="roundRect">
            <a:avLst>
              <a:gd name="adj" fmla="val 50000"/>
            </a:avLst>
          </a:prstGeom>
          <a:solidFill>
            <a:srgbClr val="F2F3F5"/>
          </a:solidFill>
          <a:ln w="12700">
            <a:solidFill>
              <a:srgbClr val="F2F3F5"/>
            </a:solidFill>
            <a:prstDash val="solid"/>
          </a:ln>
        </p:spPr>
        <p:txBody>
          <a:bodyPr/>
          <a:lstStyle/>
          <a:p>
            <a:endParaRPr/>
          </a:p>
        </p:txBody>
      </p:sp>
      <p:sp>
        <p:nvSpPr>
          <p:cNvPr id="41" name="Text 38"/>
          <p:cNvSpPr txBox="1"/>
          <p:nvPr/>
        </p:nvSpPr>
        <p:spPr>
          <a:xfrm>
            <a:off x="8357616" y="3346704"/>
            <a:ext cx="1097280" cy="274320"/>
          </a:xfrm>
          <a:prstGeom prst="rect">
            <a:avLst/>
          </a:prstGeom>
          <a:noFill/>
          <a:ln/>
        </p:spPr>
        <p:txBody>
          <a:bodyPr wrap="square" lIns="0" tIns="0" rIns="0" bIns="0" rtlCol="0" anchor="ctr"/>
          <a:lstStyle/>
          <a:p>
            <a:pPr marL="0" indent="0" algn="ctr">
              <a:buNone/>
            </a:pPr>
            <a:r>
              <a:rPr lang="en-US" sz="1050" b="1" dirty="0">
                <a:solidFill>
                  <a:srgbClr val="45515E"/>
                </a:solidFill>
                <a:latin typeface="에이투지체 5 Medium"/>
                <a:ea typeface="에이투지체 5 Medium"/>
                <a:cs typeface="에이투지체 5 Medium"/>
              </a:rPr>
              <a:t>7일 전 값</a:t>
            </a:r>
            <a:endParaRPr lang="en-US" sz="1050" dirty="0"/>
          </a:p>
        </p:txBody>
      </p:sp>
      <p:sp>
        <p:nvSpPr>
          <p:cNvPr id="42" name="Text 39"/>
          <p:cNvSpPr txBox="1"/>
          <p:nvPr/>
        </p:nvSpPr>
        <p:spPr>
          <a:xfrm>
            <a:off x="9601200" y="3273552"/>
            <a:ext cx="1920240" cy="420624"/>
          </a:xfrm>
          <a:prstGeom prst="rect">
            <a:avLst/>
          </a:prstGeom>
          <a:noFill/>
          <a:ln/>
        </p:spPr>
        <p:txBody>
          <a:bodyPr wrap="square" lIns="0" tIns="0" rIns="0" bIns="0" rtlCol="0" anchor="ctr"/>
          <a:lstStyle/>
          <a:p>
            <a:pPr marL="0" indent="0">
              <a:buNone/>
            </a:pPr>
            <a:r>
              <a:rPr lang="en-US" sz="1200" dirty="0">
                <a:solidFill>
                  <a:srgbClr val="45515E"/>
                </a:solidFill>
                <a:latin typeface="에이투지체 5 Medium"/>
                <a:ea typeface="에이투지체 5 Medium"/>
                <a:cs typeface="에이투지체 5 Medium"/>
              </a:rPr>
              <a:t>전주 동일 요일</a:t>
            </a:r>
            <a:endParaRPr lang="en-US" sz="1200" dirty="0"/>
          </a:p>
        </p:txBody>
      </p:sp>
      <p:sp>
        <p:nvSpPr>
          <p:cNvPr id="43" name="Shape 40"/>
          <p:cNvSpPr/>
          <p:nvPr/>
        </p:nvSpPr>
        <p:spPr>
          <a:xfrm>
            <a:off x="8357616" y="3877056"/>
            <a:ext cx="1097280" cy="274320"/>
          </a:xfrm>
          <a:prstGeom prst="roundRect">
            <a:avLst>
              <a:gd name="adj" fmla="val 50000"/>
            </a:avLst>
          </a:prstGeom>
          <a:solidFill>
            <a:srgbClr val="F2F3F5"/>
          </a:solidFill>
          <a:ln w="12700">
            <a:solidFill>
              <a:srgbClr val="F2F3F5"/>
            </a:solidFill>
            <a:prstDash val="solid"/>
          </a:ln>
        </p:spPr>
        <p:txBody>
          <a:bodyPr/>
          <a:lstStyle/>
          <a:p>
            <a:endParaRPr/>
          </a:p>
        </p:txBody>
      </p:sp>
      <p:sp>
        <p:nvSpPr>
          <p:cNvPr id="44" name="Text 41"/>
          <p:cNvSpPr txBox="1"/>
          <p:nvPr/>
        </p:nvSpPr>
        <p:spPr>
          <a:xfrm>
            <a:off x="8357616" y="3877056"/>
            <a:ext cx="1097280" cy="274320"/>
          </a:xfrm>
          <a:prstGeom prst="rect">
            <a:avLst/>
          </a:prstGeom>
          <a:noFill/>
          <a:ln/>
        </p:spPr>
        <p:txBody>
          <a:bodyPr wrap="square" lIns="0" tIns="0" rIns="0" bIns="0" rtlCol="0" anchor="ctr"/>
          <a:lstStyle/>
          <a:p>
            <a:pPr marL="0" indent="0" algn="ctr">
              <a:buNone/>
            </a:pPr>
            <a:r>
              <a:rPr lang="en-US" sz="1050" b="1" dirty="0">
                <a:solidFill>
                  <a:srgbClr val="45515E"/>
                </a:solidFill>
                <a:latin typeface="에이투지체 5 Medium"/>
                <a:ea typeface="에이투지체 5 Medium"/>
                <a:cs typeface="에이투지체 5 Medium"/>
              </a:rPr>
              <a:t>달력 정보</a:t>
            </a:r>
            <a:endParaRPr lang="en-US" sz="1050" dirty="0"/>
          </a:p>
        </p:txBody>
      </p:sp>
      <p:sp>
        <p:nvSpPr>
          <p:cNvPr id="45" name="Text 42"/>
          <p:cNvSpPr txBox="1"/>
          <p:nvPr/>
        </p:nvSpPr>
        <p:spPr>
          <a:xfrm>
            <a:off x="9601200" y="3803904"/>
            <a:ext cx="1920240" cy="420624"/>
          </a:xfrm>
          <a:prstGeom prst="rect">
            <a:avLst/>
          </a:prstGeom>
          <a:noFill/>
          <a:ln/>
        </p:spPr>
        <p:txBody>
          <a:bodyPr wrap="square" lIns="0" tIns="0" rIns="0" bIns="0" rtlCol="0" anchor="ctr"/>
          <a:lstStyle/>
          <a:p>
            <a:pPr marL="0" indent="0">
              <a:buNone/>
            </a:pPr>
            <a:r>
              <a:rPr lang="en-US" sz="1200" dirty="0">
                <a:solidFill>
                  <a:srgbClr val="45515E"/>
                </a:solidFill>
                <a:latin typeface="에이투지체 5 Medium"/>
                <a:ea typeface="에이투지체 5 Medium"/>
                <a:cs typeface="에이투지체 5 Medium"/>
              </a:rPr>
              <a:t>월 · 요일 · 주말</a:t>
            </a:r>
            <a:endParaRPr lang="en-US" sz="1200" dirty="0"/>
          </a:p>
        </p:txBody>
      </p:sp>
      <p:sp>
        <p:nvSpPr>
          <p:cNvPr id="46" name="Text 43"/>
          <p:cNvSpPr txBox="1"/>
          <p:nvPr/>
        </p:nvSpPr>
        <p:spPr>
          <a:xfrm>
            <a:off x="8357616" y="4434840"/>
            <a:ext cx="3154680" cy="640080"/>
          </a:xfrm>
          <a:prstGeom prst="rect">
            <a:avLst/>
          </a:prstGeom>
          <a:noFill/>
          <a:ln/>
        </p:spPr>
        <p:txBody>
          <a:bodyPr wrap="square" lIns="0" tIns="0" rIns="0" bIns="0" rtlCol="0" anchor="ctr"/>
          <a:lstStyle/>
          <a:p>
            <a:pPr marL="0" indent="0" algn="ctr">
              <a:buNone/>
            </a:pPr>
            <a:r>
              <a:rPr lang="en-US" sz="1200" b="1" dirty="0">
                <a:solidFill>
                  <a:srgbClr val="222222"/>
                </a:solidFill>
                <a:latin typeface="에이투지체 5 Medium"/>
                <a:ea typeface="에이투지체 5 Medium"/>
                <a:cs typeface="에이투지체 5 Medium"/>
              </a:rPr>
              <a:t>정답: 당일 일최대인구수</a:t>
            </a:r>
            <a:endParaRPr lang="en-US" sz="1200" dirty="0"/>
          </a:p>
          <a:p>
            <a:pPr marL="0" indent="0" algn="ctr">
              <a:buNone/>
            </a:pPr>
            <a:r>
              <a:rPr lang="en-US" sz="1200" b="1" dirty="0">
                <a:solidFill>
                  <a:srgbClr val="222222"/>
                </a:solidFill>
                <a:latin typeface="에이투지체 5 Medium"/>
                <a:ea typeface="에이투지체 5 Medium"/>
                <a:cs typeface="에이투지체 5 Medium"/>
              </a:rPr>
              <a:t>75,825행 × 20열</a:t>
            </a:r>
            <a:endParaRPr lang="en-US" sz="1200" dirty="0"/>
          </a:p>
        </p:txBody>
      </p:sp>
      <p:sp>
        <p:nvSpPr>
          <p:cNvPr id="47" name="Shape 44"/>
          <p:cNvSpPr/>
          <p:nvPr/>
        </p:nvSpPr>
        <p:spPr>
          <a:xfrm>
            <a:off x="457200" y="5550408"/>
            <a:ext cx="11277295" cy="640080"/>
          </a:xfrm>
          <a:prstGeom prst="roundRect">
            <a:avLst>
              <a:gd name="adj" fmla="val 14286"/>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48" name="Text 45"/>
          <p:cNvSpPr txBox="1"/>
          <p:nvPr/>
        </p:nvSpPr>
        <p:spPr>
          <a:xfrm>
            <a:off x="640080" y="5550408"/>
            <a:ext cx="10908792" cy="640080"/>
          </a:xfrm>
          <a:prstGeom prst="rect">
            <a:avLst/>
          </a:prstGeom>
          <a:noFill/>
          <a:ln/>
        </p:spPr>
        <p:txBody>
          <a:bodyPr wrap="square" lIns="0" tIns="0" rIns="0" bIns="0" rtlCol="0" anchor="ctr"/>
          <a:lstStyle/>
          <a:p>
            <a:pPr marL="0" indent="0" algn="ctr">
              <a:buNone/>
            </a:pPr>
            <a:r>
              <a:rPr lang="en-US" sz="1400" dirty="0" err="1" smtClean="0">
                <a:solidFill>
                  <a:srgbClr val="222222"/>
                </a:solidFill>
                <a:latin typeface="에이투지체 5 Medium"/>
                <a:ea typeface="에이투지체 5 Medium"/>
                <a:cs typeface="에이투지체 5 Medium"/>
              </a:rPr>
              <a:t>지난달</a:t>
            </a:r>
            <a:r>
              <a:rPr lang="en-US" sz="1400" dirty="0" smtClean="0">
                <a:solidFill>
                  <a:srgbClr val="222222"/>
                </a:solidFill>
                <a:latin typeface="에이투지체 5 Medium"/>
                <a:ea typeface="에이투지체 5 Medium"/>
                <a:cs typeface="에이투지체 5 Medium"/>
              </a:rPr>
              <a:t> </a:t>
            </a:r>
            <a:r>
              <a:rPr lang="en-US" sz="1400" dirty="0">
                <a:solidFill>
                  <a:srgbClr val="222222"/>
                </a:solidFill>
                <a:latin typeface="에이투지체 5 Medium"/>
                <a:ea typeface="에이투지체 5 Medium"/>
                <a:cs typeface="에이투지체 5 Medium"/>
              </a:rPr>
              <a:t>출동 건수 등 미래 시점에 계산 불가한 값은 입력에서 제외, 미래 예측 입력 150행 동일 방식 생성</a:t>
            </a:r>
            <a:endParaRPr lang="en-US" sz="14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02  데이터 전처리</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pitchFamily="50" charset="-127"/>
                <a:ea typeface="에이투지체 5 Medium" pitchFamily="50" charset="-127"/>
                <a:cs typeface="에이투지체 5 Medium"/>
              </a:rPr>
              <a:t>입력 변수 선택 기준 및 결과</a:t>
            </a:r>
            <a:endParaRPr lang="en-US" sz="3600" dirty="0">
              <a:latin typeface="에이투지체 5 Medium" pitchFamily="50" charset="-127"/>
              <a:ea typeface="에이투지체 5 Medium" pitchFamily="50" charset="-127"/>
            </a:endParaRPr>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2024년까지 자료 기준 4단계 규칙 적용 → 이송 8개 · 인구 5개</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16</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02_119_전처리_검토수정.ipynb · features_transport · features_population</a:t>
            </a:r>
            <a:endParaRPr lang="en-US" sz="900" dirty="0"/>
          </a:p>
        </p:txBody>
      </p:sp>
      <p:sp>
        <p:nvSpPr>
          <p:cNvPr id="8" name="Shape 5"/>
          <p:cNvSpPr/>
          <p:nvPr/>
        </p:nvSpPr>
        <p:spPr>
          <a:xfrm>
            <a:off x="457200" y="1993392"/>
            <a:ext cx="3749040" cy="941832"/>
          </a:xfrm>
          <a:prstGeom prst="roundRect">
            <a:avLst>
              <a:gd name="adj" fmla="val 970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9" name="Shape 6"/>
          <p:cNvSpPr/>
          <p:nvPr/>
        </p:nvSpPr>
        <p:spPr>
          <a:xfrm>
            <a:off x="658368" y="2258568"/>
            <a:ext cx="411480" cy="411480"/>
          </a:xfrm>
          <a:prstGeom prst="roundRect">
            <a:avLst>
              <a:gd name="adj" fmla="val 48889"/>
            </a:avLst>
          </a:prstGeom>
          <a:solidFill>
            <a:srgbClr val="D62828"/>
          </a:solidFill>
          <a:ln w="12700">
            <a:solidFill>
              <a:srgbClr val="D62828"/>
            </a:solidFill>
            <a:prstDash val="solid"/>
          </a:ln>
        </p:spPr>
        <p:txBody>
          <a:bodyPr/>
          <a:lstStyle/>
          <a:p>
            <a:endParaRPr/>
          </a:p>
        </p:txBody>
      </p:sp>
      <p:sp>
        <p:nvSpPr>
          <p:cNvPr id="10" name="Text 7"/>
          <p:cNvSpPr txBox="1"/>
          <p:nvPr/>
        </p:nvSpPr>
        <p:spPr>
          <a:xfrm>
            <a:off x="658368" y="2258568"/>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에이투지체 5 Medium"/>
                <a:ea typeface="에이투지체 5 Medium"/>
                <a:cs typeface="에이투지체 5 Medium"/>
              </a:rPr>
              <a:t>1</a:t>
            </a:r>
            <a:endParaRPr lang="en-US" sz="1400" dirty="0"/>
          </a:p>
        </p:txBody>
      </p:sp>
      <p:sp>
        <p:nvSpPr>
          <p:cNvPr id="11" name="Text 8"/>
          <p:cNvSpPr txBox="1"/>
          <p:nvPr/>
        </p:nvSpPr>
        <p:spPr>
          <a:xfrm>
            <a:off x="1234440" y="2148840"/>
            <a:ext cx="2834640" cy="329184"/>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결측 20% 초과 제외</a:t>
            </a:r>
            <a:endParaRPr lang="en-US" sz="1400" dirty="0"/>
          </a:p>
        </p:txBody>
      </p:sp>
      <p:sp>
        <p:nvSpPr>
          <p:cNvPr id="12" name="Text 9"/>
          <p:cNvSpPr txBox="1"/>
          <p:nvPr/>
        </p:nvSpPr>
        <p:spPr>
          <a:xfrm>
            <a:off x="1234440" y="2496312"/>
            <a:ext cx="2834640" cy="274320"/>
          </a:xfrm>
          <a:prstGeom prst="rect">
            <a:avLst/>
          </a:prstGeom>
          <a:noFill/>
          <a:ln/>
        </p:spPr>
        <p:txBody>
          <a:bodyPr wrap="square" lIns="0" tIns="0" rIns="0" bIns="0" rtlCol="0" anchor="ctr"/>
          <a:lstStyle/>
          <a:p>
            <a:pPr marL="0" indent="0">
              <a:buNone/>
            </a:pPr>
            <a:r>
              <a:rPr lang="en-US" sz="1100" dirty="0">
                <a:solidFill>
                  <a:srgbClr val="45515E"/>
                </a:solidFill>
                <a:latin typeface="에이투지체 5 Medium"/>
                <a:ea typeface="에이투지체 5 Medium"/>
                <a:cs typeface="에이투지체 5 Medium"/>
              </a:rPr>
              <a:t>행 손실 방지</a:t>
            </a:r>
            <a:endParaRPr lang="en-US" sz="1100" dirty="0"/>
          </a:p>
        </p:txBody>
      </p:sp>
      <p:sp>
        <p:nvSpPr>
          <p:cNvPr id="13" name="Shape 10"/>
          <p:cNvSpPr/>
          <p:nvPr/>
        </p:nvSpPr>
        <p:spPr>
          <a:xfrm>
            <a:off x="457200" y="3063240"/>
            <a:ext cx="3749040" cy="941832"/>
          </a:xfrm>
          <a:prstGeom prst="roundRect">
            <a:avLst>
              <a:gd name="adj" fmla="val 970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4" name="Shape 11"/>
          <p:cNvSpPr/>
          <p:nvPr/>
        </p:nvSpPr>
        <p:spPr>
          <a:xfrm>
            <a:off x="658368" y="3328416"/>
            <a:ext cx="411480" cy="411480"/>
          </a:xfrm>
          <a:prstGeom prst="roundRect">
            <a:avLst>
              <a:gd name="adj" fmla="val 48889"/>
            </a:avLst>
          </a:prstGeom>
          <a:solidFill>
            <a:srgbClr val="D62828"/>
          </a:solidFill>
          <a:ln w="12700">
            <a:solidFill>
              <a:srgbClr val="D62828"/>
            </a:solidFill>
            <a:prstDash val="solid"/>
          </a:ln>
        </p:spPr>
        <p:txBody>
          <a:bodyPr/>
          <a:lstStyle/>
          <a:p>
            <a:endParaRPr/>
          </a:p>
        </p:txBody>
      </p:sp>
      <p:sp>
        <p:nvSpPr>
          <p:cNvPr id="15" name="Text 12"/>
          <p:cNvSpPr txBox="1"/>
          <p:nvPr/>
        </p:nvSpPr>
        <p:spPr>
          <a:xfrm>
            <a:off x="658368" y="3328416"/>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에이투지체 5 Medium"/>
                <a:ea typeface="에이투지체 5 Medium"/>
                <a:cs typeface="에이투지체 5 Medium"/>
              </a:rPr>
              <a:t>2</a:t>
            </a:r>
            <a:endParaRPr lang="en-US" sz="1400" dirty="0"/>
          </a:p>
        </p:txBody>
      </p:sp>
      <p:sp>
        <p:nvSpPr>
          <p:cNvPr id="16" name="Text 13"/>
          <p:cNvSpPr txBox="1"/>
          <p:nvPr/>
        </p:nvSpPr>
        <p:spPr>
          <a:xfrm>
            <a:off x="1234440" y="3218688"/>
            <a:ext cx="2834640" cy="329184"/>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정답과 |r| &lt; 0.3 제외</a:t>
            </a:r>
            <a:endParaRPr lang="en-US" sz="1400" dirty="0"/>
          </a:p>
        </p:txBody>
      </p:sp>
      <p:sp>
        <p:nvSpPr>
          <p:cNvPr id="17" name="Text 14"/>
          <p:cNvSpPr txBox="1"/>
          <p:nvPr/>
        </p:nvSpPr>
        <p:spPr>
          <a:xfrm>
            <a:off x="1234440" y="3566160"/>
            <a:ext cx="2834640" cy="274320"/>
          </a:xfrm>
          <a:prstGeom prst="rect">
            <a:avLst/>
          </a:prstGeom>
          <a:noFill/>
          <a:ln/>
        </p:spPr>
        <p:txBody>
          <a:bodyPr wrap="square" lIns="0" tIns="0" rIns="0" bIns="0" rtlCol="0" anchor="ctr"/>
          <a:lstStyle/>
          <a:p>
            <a:pPr marL="0" indent="0">
              <a:buNone/>
            </a:pPr>
            <a:r>
              <a:rPr lang="en-US" sz="1100" dirty="0">
                <a:solidFill>
                  <a:srgbClr val="45515E"/>
                </a:solidFill>
                <a:latin typeface="에이투지체 5 Medium"/>
                <a:ea typeface="에이투지체 5 Medium"/>
                <a:cs typeface="에이투지체 5 Medium"/>
              </a:rPr>
              <a:t>관계가 약한 변수 제외</a:t>
            </a:r>
            <a:endParaRPr lang="en-US" sz="1100" dirty="0"/>
          </a:p>
        </p:txBody>
      </p:sp>
      <p:sp>
        <p:nvSpPr>
          <p:cNvPr id="18" name="Shape 15"/>
          <p:cNvSpPr/>
          <p:nvPr/>
        </p:nvSpPr>
        <p:spPr>
          <a:xfrm>
            <a:off x="457200" y="4133088"/>
            <a:ext cx="3749040" cy="941832"/>
          </a:xfrm>
          <a:prstGeom prst="roundRect">
            <a:avLst>
              <a:gd name="adj" fmla="val 970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9" name="Shape 16"/>
          <p:cNvSpPr/>
          <p:nvPr/>
        </p:nvSpPr>
        <p:spPr>
          <a:xfrm>
            <a:off x="658368" y="4398264"/>
            <a:ext cx="411480" cy="411480"/>
          </a:xfrm>
          <a:prstGeom prst="roundRect">
            <a:avLst>
              <a:gd name="adj" fmla="val 48889"/>
            </a:avLst>
          </a:prstGeom>
          <a:solidFill>
            <a:srgbClr val="D62828"/>
          </a:solidFill>
          <a:ln w="12700">
            <a:solidFill>
              <a:srgbClr val="D62828"/>
            </a:solidFill>
            <a:prstDash val="solid"/>
          </a:ln>
        </p:spPr>
        <p:txBody>
          <a:bodyPr/>
          <a:lstStyle/>
          <a:p>
            <a:endParaRPr/>
          </a:p>
        </p:txBody>
      </p:sp>
      <p:sp>
        <p:nvSpPr>
          <p:cNvPr id="20" name="Text 17"/>
          <p:cNvSpPr txBox="1"/>
          <p:nvPr/>
        </p:nvSpPr>
        <p:spPr>
          <a:xfrm>
            <a:off x="658368" y="4398264"/>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에이투지체 5 Medium"/>
                <a:ea typeface="에이투지체 5 Medium"/>
                <a:cs typeface="에이투지체 5 Medium"/>
              </a:rPr>
              <a:t>3</a:t>
            </a:r>
            <a:endParaRPr lang="en-US" sz="1400" dirty="0"/>
          </a:p>
        </p:txBody>
      </p:sp>
      <p:sp>
        <p:nvSpPr>
          <p:cNvPr id="21" name="Text 18"/>
          <p:cNvSpPr txBox="1"/>
          <p:nvPr/>
        </p:nvSpPr>
        <p:spPr>
          <a:xfrm>
            <a:off x="1234440" y="4288536"/>
            <a:ext cx="2834640" cy="329184"/>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선택 변수와 |r| ≥ 0.9 제외</a:t>
            </a:r>
            <a:endParaRPr lang="en-US" sz="1400" dirty="0"/>
          </a:p>
        </p:txBody>
      </p:sp>
      <p:sp>
        <p:nvSpPr>
          <p:cNvPr id="22" name="Text 19"/>
          <p:cNvSpPr txBox="1"/>
          <p:nvPr/>
        </p:nvSpPr>
        <p:spPr>
          <a:xfrm>
            <a:off x="1234440" y="4636008"/>
            <a:ext cx="2834640" cy="274320"/>
          </a:xfrm>
          <a:prstGeom prst="rect">
            <a:avLst/>
          </a:prstGeom>
          <a:noFill/>
          <a:ln/>
        </p:spPr>
        <p:txBody>
          <a:bodyPr wrap="square" lIns="0" tIns="0" rIns="0" bIns="0" rtlCol="0" anchor="ctr"/>
          <a:lstStyle/>
          <a:p>
            <a:pPr marL="0" indent="0">
              <a:buNone/>
            </a:pPr>
            <a:r>
              <a:rPr lang="en-US" sz="1100" dirty="0">
                <a:solidFill>
                  <a:srgbClr val="45515E"/>
                </a:solidFill>
                <a:latin typeface="에이투지체 5 Medium"/>
                <a:ea typeface="에이투지체 5 Medium"/>
                <a:cs typeface="에이투지체 5 Medium"/>
              </a:rPr>
              <a:t>중복 정보 제외</a:t>
            </a:r>
            <a:endParaRPr lang="en-US" sz="1100" dirty="0"/>
          </a:p>
        </p:txBody>
      </p:sp>
      <p:sp>
        <p:nvSpPr>
          <p:cNvPr id="23" name="Shape 20"/>
          <p:cNvSpPr/>
          <p:nvPr/>
        </p:nvSpPr>
        <p:spPr>
          <a:xfrm>
            <a:off x="457200" y="5202936"/>
            <a:ext cx="3749040" cy="941832"/>
          </a:xfrm>
          <a:prstGeom prst="roundRect">
            <a:avLst>
              <a:gd name="adj" fmla="val 970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4" name="Shape 21"/>
          <p:cNvSpPr/>
          <p:nvPr/>
        </p:nvSpPr>
        <p:spPr>
          <a:xfrm>
            <a:off x="658368" y="5468112"/>
            <a:ext cx="411480" cy="411480"/>
          </a:xfrm>
          <a:prstGeom prst="roundRect">
            <a:avLst>
              <a:gd name="adj" fmla="val 48889"/>
            </a:avLst>
          </a:prstGeom>
          <a:solidFill>
            <a:srgbClr val="D62828"/>
          </a:solidFill>
          <a:ln w="12700">
            <a:solidFill>
              <a:srgbClr val="D62828"/>
            </a:solidFill>
            <a:prstDash val="solid"/>
          </a:ln>
        </p:spPr>
        <p:txBody>
          <a:bodyPr/>
          <a:lstStyle/>
          <a:p>
            <a:endParaRPr/>
          </a:p>
        </p:txBody>
      </p:sp>
      <p:sp>
        <p:nvSpPr>
          <p:cNvPr id="25" name="Text 22"/>
          <p:cNvSpPr txBox="1"/>
          <p:nvPr/>
        </p:nvSpPr>
        <p:spPr>
          <a:xfrm>
            <a:off x="658368" y="5468112"/>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에이투지체 5 Medium"/>
                <a:ea typeface="에이투지체 5 Medium"/>
                <a:cs typeface="에이투지체 5 Medium"/>
              </a:rPr>
              <a:t>4</a:t>
            </a:r>
            <a:endParaRPr lang="en-US" sz="1400" dirty="0"/>
          </a:p>
        </p:txBody>
      </p:sp>
      <p:sp>
        <p:nvSpPr>
          <p:cNvPr id="26" name="Text 23"/>
          <p:cNvSpPr txBox="1"/>
          <p:nvPr/>
        </p:nvSpPr>
        <p:spPr>
          <a:xfrm>
            <a:off x="1234440" y="5358384"/>
            <a:ext cx="2834640" cy="329184"/>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계산 기간: 2024년까지</a:t>
            </a:r>
            <a:endParaRPr lang="en-US" sz="1400" dirty="0"/>
          </a:p>
        </p:txBody>
      </p:sp>
      <p:sp>
        <p:nvSpPr>
          <p:cNvPr id="27" name="Text 24"/>
          <p:cNvSpPr txBox="1"/>
          <p:nvPr/>
        </p:nvSpPr>
        <p:spPr>
          <a:xfrm>
            <a:off x="1234440" y="5705856"/>
            <a:ext cx="2834640" cy="274320"/>
          </a:xfrm>
          <a:prstGeom prst="rect">
            <a:avLst/>
          </a:prstGeom>
          <a:noFill/>
          <a:ln/>
        </p:spPr>
        <p:txBody>
          <a:bodyPr wrap="square" lIns="0" tIns="0" rIns="0" bIns="0" rtlCol="0" anchor="ctr"/>
          <a:lstStyle/>
          <a:p>
            <a:pPr marL="0" indent="0">
              <a:buNone/>
            </a:pPr>
            <a:r>
              <a:rPr lang="en-US" sz="1100" dirty="0">
                <a:solidFill>
                  <a:srgbClr val="45515E"/>
                </a:solidFill>
                <a:latin typeface="에이투지체 5 Medium"/>
                <a:ea typeface="에이투지체 5 Medium"/>
                <a:cs typeface="에이투지체 5 Medium"/>
              </a:rPr>
              <a:t>이후 기간 정보 차단</a:t>
            </a:r>
            <a:endParaRPr lang="en-US" sz="1100" dirty="0"/>
          </a:p>
        </p:txBody>
      </p:sp>
      <p:sp>
        <p:nvSpPr>
          <p:cNvPr id="28" name="Shape 25"/>
          <p:cNvSpPr/>
          <p:nvPr/>
        </p:nvSpPr>
        <p:spPr>
          <a:xfrm>
            <a:off x="4389120" y="1993392"/>
            <a:ext cx="3673145" cy="4197096"/>
          </a:xfrm>
          <a:prstGeom prst="roundRect">
            <a:avLst>
              <a:gd name="adj" fmla="val 248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9" name="Text 26"/>
          <p:cNvSpPr txBox="1"/>
          <p:nvPr/>
        </p:nvSpPr>
        <p:spPr>
          <a:xfrm>
            <a:off x="4608576" y="2157984"/>
            <a:ext cx="3234233"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이송 건수 · 8개 (33개 제외)</a:t>
            </a:r>
            <a:endParaRPr lang="en-US" sz="1800" dirty="0"/>
          </a:p>
        </p:txBody>
      </p:sp>
      <p:sp>
        <p:nvSpPr>
          <p:cNvPr id="30" name="Shape 27"/>
          <p:cNvSpPr/>
          <p:nvPr/>
        </p:nvSpPr>
        <p:spPr>
          <a:xfrm>
            <a:off x="4608576" y="2560320"/>
            <a:ext cx="3234233" cy="0"/>
          </a:xfrm>
          <a:prstGeom prst="line">
            <a:avLst/>
          </a:prstGeom>
          <a:noFill/>
          <a:ln w="9525">
            <a:solidFill>
              <a:srgbClr val="E5E7EB"/>
            </a:solidFill>
            <a:prstDash val="solid"/>
          </a:ln>
        </p:spPr>
        <p:txBody>
          <a:bodyPr/>
          <a:lstStyle/>
          <a:p>
            <a:endParaRPr/>
          </a:p>
        </p:txBody>
      </p:sp>
      <p:sp>
        <p:nvSpPr>
          <p:cNvPr id="31" name="Text 28"/>
          <p:cNvSpPr txBox="1"/>
          <p:nvPr/>
        </p:nvSpPr>
        <p:spPr>
          <a:xfrm>
            <a:off x="4608576" y="2670048"/>
            <a:ext cx="3234233" cy="3392424"/>
          </a:xfrm>
          <a:prstGeom prst="rect">
            <a:avLst/>
          </a:prstGeom>
          <a:noFill/>
          <a:ln/>
        </p:spPr>
        <p:txBody>
          <a:bodyPr wrap="square" lIns="0" tIns="0" rIns="0" bIns="0" rtlCol="0" anchor="t"/>
          <a:lstStyle/>
          <a:p>
            <a:pPr marL="0" indent="0">
              <a:lnSpc>
                <a:spcPct val="145000"/>
              </a:lnSpc>
              <a:buNone/>
            </a:pPr>
            <a:r>
              <a:rPr lang="en-US" sz="1300" dirty="0">
                <a:solidFill>
                  <a:srgbClr val="45515E"/>
                </a:solidFill>
                <a:latin typeface="에이투지체 5 Medium"/>
                <a:ea typeface="에이투지체 5 Medium"/>
                <a:cs typeface="에이투지체 5 Medium"/>
              </a:rPr>
              <a:t>· 전월 이송 건수</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전년 동월 이송 건수</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전월 야간인구</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전월 일최대인구</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전월 동일구 행정동간 이동인구</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전월 서울외 유입인구</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전년 인명갇힘 사고</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전년 승강기 사고</a:t>
            </a:r>
            <a:endParaRPr lang="en-US" sz="1300" dirty="0"/>
          </a:p>
        </p:txBody>
      </p:sp>
      <p:sp>
        <p:nvSpPr>
          <p:cNvPr id="32" name="Shape 29"/>
          <p:cNvSpPr/>
          <p:nvPr/>
        </p:nvSpPr>
        <p:spPr>
          <a:xfrm>
            <a:off x="8245145" y="1993392"/>
            <a:ext cx="3489350" cy="4197096"/>
          </a:xfrm>
          <a:prstGeom prst="roundRect">
            <a:avLst>
              <a:gd name="adj" fmla="val 2621"/>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33" name="Text 30"/>
          <p:cNvSpPr txBox="1"/>
          <p:nvPr/>
        </p:nvSpPr>
        <p:spPr>
          <a:xfrm>
            <a:off x="8464601" y="2157984"/>
            <a:ext cx="3050438"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인구 밀집 · 5개 (9개 제외)</a:t>
            </a:r>
            <a:endParaRPr lang="en-US" sz="1800" dirty="0"/>
          </a:p>
        </p:txBody>
      </p:sp>
      <p:sp>
        <p:nvSpPr>
          <p:cNvPr id="34" name="Shape 31"/>
          <p:cNvSpPr/>
          <p:nvPr/>
        </p:nvSpPr>
        <p:spPr>
          <a:xfrm>
            <a:off x="8464601" y="2560320"/>
            <a:ext cx="3050438" cy="0"/>
          </a:xfrm>
          <a:prstGeom prst="line">
            <a:avLst/>
          </a:prstGeom>
          <a:noFill/>
          <a:ln w="9525">
            <a:solidFill>
              <a:srgbClr val="E5E7EB"/>
            </a:solidFill>
            <a:prstDash val="solid"/>
          </a:ln>
        </p:spPr>
        <p:txBody>
          <a:bodyPr/>
          <a:lstStyle/>
          <a:p>
            <a:endParaRPr/>
          </a:p>
        </p:txBody>
      </p:sp>
      <p:sp>
        <p:nvSpPr>
          <p:cNvPr id="35" name="Text 32"/>
          <p:cNvSpPr txBox="1"/>
          <p:nvPr/>
        </p:nvSpPr>
        <p:spPr>
          <a:xfrm>
            <a:off x="8464601" y="2670048"/>
            <a:ext cx="3050438" cy="3392424"/>
          </a:xfrm>
          <a:prstGeom prst="rect">
            <a:avLst/>
          </a:prstGeom>
          <a:noFill/>
          <a:ln/>
        </p:spPr>
        <p:txBody>
          <a:bodyPr wrap="square" lIns="0" tIns="0" rIns="0" bIns="0" rtlCol="0" anchor="t"/>
          <a:lstStyle/>
          <a:p>
            <a:pPr marL="0" indent="0">
              <a:lnSpc>
                <a:spcPct val="145000"/>
              </a:lnSpc>
              <a:buNone/>
            </a:pPr>
            <a:r>
              <a:rPr lang="en-US" sz="1300" dirty="0">
                <a:solidFill>
                  <a:srgbClr val="45515E"/>
                </a:solidFill>
                <a:latin typeface="에이투지체 5 Medium"/>
                <a:ea typeface="에이투지체 5 Medium"/>
                <a:cs typeface="에이투지체 5 Medium"/>
              </a:rPr>
              <a:t>· 7일 전 일최대인구</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전일 야간인구</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전일 일최대 이동인구</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전일 동일구 행정동간 이동인구</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전일 주야간 인구 차이</a:t>
            </a:r>
            <a:endParaRPr lang="en-US" sz="13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181E25"/>
        </a:solidFill>
        <a:effectLst/>
      </p:bgPr>
    </p:bg>
    <p:spTree>
      <p:nvGrpSpPr>
        <p:cNvPr id="1" name=""/>
        <p:cNvGrpSpPr/>
        <p:nvPr/>
      </p:nvGrpSpPr>
      <p:grpSpPr>
        <a:xfrm>
          <a:off x="0" y="0"/>
          <a:ext cx="0" cy="0"/>
          <a:chOff x="0" y="0"/>
          <a:chExt cx="0" cy="0"/>
        </a:xfrm>
      </p:grpSpPr>
      <p:sp>
        <p:nvSpPr>
          <p:cNvPr id="2" name="Text 0"/>
          <p:cNvSpPr txBox="1"/>
          <p:nvPr/>
        </p:nvSpPr>
        <p:spPr>
          <a:xfrm>
            <a:off x="822960" y="1965960"/>
            <a:ext cx="3657600" cy="365760"/>
          </a:xfrm>
          <a:prstGeom prst="rect">
            <a:avLst/>
          </a:prstGeom>
          <a:noFill/>
          <a:ln/>
        </p:spPr>
        <p:txBody>
          <a:bodyPr wrap="square" lIns="0" tIns="0" rIns="0" bIns="0" rtlCol="0" anchor="ctr"/>
          <a:lstStyle/>
          <a:p>
            <a:pPr marL="0" indent="0">
              <a:buNone/>
            </a:pPr>
            <a:r>
              <a:rPr lang="en-US" sz="1400" dirty="0">
                <a:solidFill>
                  <a:srgbClr val="FFFFFF">
                    <a:alpha val="60000"/>
                  </a:srgbClr>
                </a:solidFill>
                <a:latin typeface="에이투지체 5 Medium"/>
                <a:ea typeface="에이투지체 5 Medium"/>
                <a:cs typeface="에이투지체 5 Medium"/>
              </a:rPr>
              <a:t>03</a:t>
            </a:r>
            <a:endParaRPr lang="en-US" sz="1400" dirty="0"/>
          </a:p>
        </p:txBody>
      </p:sp>
      <p:sp>
        <p:nvSpPr>
          <p:cNvPr id="3" name="Text 1"/>
          <p:cNvSpPr txBox="1"/>
          <p:nvPr/>
        </p:nvSpPr>
        <p:spPr>
          <a:xfrm>
            <a:off x="822960" y="2377440"/>
            <a:ext cx="10515600" cy="868680"/>
          </a:xfrm>
          <a:prstGeom prst="rect">
            <a:avLst/>
          </a:prstGeom>
          <a:noFill/>
          <a:ln/>
        </p:spPr>
        <p:txBody>
          <a:bodyPr wrap="square" lIns="0" tIns="0" rIns="0" bIns="0" rtlCol="0" anchor="ctr"/>
          <a:lstStyle/>
          <a:p>
            <a:pPr marL="0" indent="0">
              <a:buNone/>
            </a:pPr>
            <a:r>
              <a:rPr lang="en-US" sz="5600" b="1" dirty="0">
                <a:solidFill>
                  <a:srgbClr val="FFFFFF"/>
                </a:solidFill>
                <a:latin typeface="에이투지체 5 Medium"/>
                <a:ea typeface="에이투지체 5 Medium"/>
                <a:cs typeface="에이투지체 5 Medium"/>
              </a:rPr>
              <a:t>데이터 분석</a:t>
            </a:r>
            <a:endParaRPr lang="en-US" sz="5600" dirty="0"/>
          </a:p>
        </p:txBody>
      </p:sp>
      <p:sp>
        <p:nvSpPr>
          <p:cNvPr id="4" name="Text 2"/>
          <p:cNvSpPr txBox="1"/>
          <p:nvPr/>
        </p:nvSpPr>
        <p:spPr>
          <a:xfrm>
            <a:off x="822960" y="3383280"/>
            <a:ext cx="10515600" cy="457200"/>
          </a:xfrm>
          <a:prstGeom prst="rect">
            <a:avLst/>
          </a:prstGeom>
          <a:noFill/>
          <a:ln/>
        </p:spPr>
        <p:txBody>
          <a:bodyPr wrap="square" lIns="0" tIns="0" rIns="0" bIns="0" rtlCol="0" anchor="ctr"/>
          <a:lstStyle/>
          <a:p>
            <a:pPr marL="0" indent="0">
              <a:buNone/>
            </a:pPr>
            <a:r>
              <a:rPr lang="en-US" sz="2200" dirty="0">
                <a:solidFill>
                  <a:srgbClr val="FFFFFF">
                    <a:alpha val="70000"/>
                  </a:srgbClr>
                </a:solidFill>
                <a:latin typeface="에이투지체 5 Medium"/>
                <a:ea typeface="에이투지체 5 Medium"/>
                <a:cs typeface="에이투지체 5 Medium"/>
              </a:rPr>
              <a:t>생활인구와 이송 건수의 관계, 인구 가중치 및 자치구 유형, 계절성</a:t>
            </a:r>
            <a:endParaRPr lang="en-US" sz="2200" dirty="0"/>
          </a:p>
        </p:txBody>
      </p:sp>
      <p:sp>
        <p:nvSpPr>
          <p:cNvPr id="5" name="Shape 3"/>
          <p:cNvSpPr/>
          <p:nvPr/>
        </p:nvSpPr>
        <p:spPr>
          <a:xfrm>
            <a:off x="822960" y="4434840"/>
            <a:ext cx="3393338" cy="0"/>
          </a:xfrm>
          <a:prstGeom prst="line">
            <a:avLst/>
          </a:prstGeom>
          <a:noFill/>
          <a:ln w="25400">
            <a:solidFill>
              <a:srgbClr val="D62828"/>
            </a:solidFill>
            <a:prstDash val="solid"/>
          </a:ln>
        </p:spPr>
        <p:txBody>
          <a:bodyPr/>
          <a:lstStyle/>
          <a:p>
            <a:endParaRPr/>
          </a:p>
        </p:txBody>
      </p:sp>
      <p:sp>
        <p:nvSpPr>
          <p:cNvPr id="6" name="Text 4"/>
          <p:cNvSpPr txBox="1"/>
          <p:nvPr/>
        </p:nvSpPr>
        <p:spPr>
          <a:xfrm>
            <a:off x="822960" y="4572000"/>
            <a:ext cx="3393338" cy="274320"/>
          </a:xfrm>
          <a:prstGeom prst="rect">
            <a:avLst/>
          </a:prstGeom>
          <a:noFill/>
          <a:ln/>
        </p:spPr>
        <p:txBody>
          <a:bodyPr wrap="square" lIns="0" tIns="0" rIns="0" bIns="0" rtlCol="0" anchor="ctr"/>
          <a:lstStyle/>
          <a:p>
            <a:pPr marL="0" indent="0">
              <a:buNone/>
            </a:pPr>
            <a:r>
              <a:rPr lang="en-US" sz="1200" b="1" dirty="0">
                <a:solidFill>
                  <a:srgbClr val="E87A7A"/>
                </a:solidFill>
                <a:latin typeface="에이투지체 5 Medium"/>
                <a:ea typeface="에이투지체 5 Medium"/>
                <a:cs typeface="에이투지체 5 Medium"/>
              </a:rPr>
              <a:t>01</a:t>
            </a:r>
            <a:endParaRPr lang="en-US" sz="1200" dirty="0"/>
          </a:p>
        </p:txBody>
      </p:sp>
      <p:sp>
        <p:nvSpPr>
          <p:cNvPr id="7" name="Text 5"/>
          <p:cNvSpPr txBox="1"/>
          <p:nvPr/>
        </p:nvSpPr>
        <p:spPr>
          <a:xfrm>
            <a:off x="822960"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생활인구-이송 관계</a:t>
            </a:r>
            <a:endParaRPr lang="en-US" sz="1500" dirty="0"/>
          </a:p>
        </p:txBody>
      </p:sp>
      <p:sp>
        <p:nvSpPr>
          <p:cNvPr id="8" name="Shape 6"/>
          <p:cNvSpPr/>
          <p:nvPr/>
        </p:nvSpPr>
        <p:spPr>
          <a:xfrm>
            <a:off x="4399178" y="4434840"/>
            <a:ext cx="3393338" cy="0"/>
          </a:xfrm>
          <a:prstGeom prst="line">
            <a:avLst/>
          </a:prstGeom>
          <a:noFill/>
          <a:ln w="25400">
            <a:solidFill>
              <a:srgbClr val="3A414B"/>
            </a:solidFill>
            <a:prstDash val="solid"/>
          </a:ln>
        </p:spPr>
        <p:txBody>
          <a:bodyPr/>
          <a:lstStyle/>
          <a:p>
            <a:endParaRPr/>
          </a:p>
        </p:txBody>
      </p:sp>
      <p:sp>
        <p:nvSpPr>
          <p:cNvPr id="9" name="Text 7"/>
          <p:cNvSpPr txBox="1"/>
          <p:nvPr/>
        </p:nvSpPr>
        <p:spPr>
          <a:xfrm>
            <a:off x="4399178" y="4572000"/>
            <a:ext cx="3393338"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02</a:t>
            </a:r>
            <a:endParaRPr lang="en-US" sz="1200" dirty="0"/>
          </a:p>
        </p:txBody>
      </p:sp>
      <p:sp>
        <p:nvSpPr>
          <p:cNvPr id="10" name="Text 8"/>
          <p:cNvSpPr txBox="1"/>
          <p:nvPr/>
        </p:nvSpPr>
        <p:spPr>
          <a:xfrm>
            <a:off x="4399178"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인구 가중치 및 자치구 유형</a:t>
            </a:r>
            <a:endParaRPr lang="en-US" sz="1500" dirty="0"/>
          </a:p>
        </p:txBody>
      </p:sp>
      <p:sp>
        <p:nvSpPr>
          <p:cNvPr id="11" name="Shape 9"/>
          <p:cNvSpPr/>
          <p:nvPr/>
        </p:nvSpPr>
        <p:spPr>
          <a:xfrm>
            <a:off x="7975397" y="4434840"/>
            <a:ext cx="3393338" cy="0"/>
          </a:xfrm>
          <a:prstGeom prst="line">
            <a:avLst/>
          </a:prstGeom>
          <a:noFill/>
          <a:ln w="25400">
            <a:solidFill>
              <a:srgbClr val="3A414B"/>
            </a:solidFill>
            <a:prstDash val="solid"/>
          </a:ln>
        </p:spPr>
        <p:txBody>
          <a:bodyPr/>
          <a:lstStyle/>
          <a:p>
            <a:endParaRPr/>
          </a:p>
        </p:txBody>
      </p:sp>
      <p:sp>
        <p:nvSpPr>
          <p:cNvPr id="12" name="Text 10"/>
          <p:cNvSpPr txBox="1"/>
          <p:nvPr/>
        </p:nvSpPr>
        <p:spPr>
          <a:xfrm>
            <a:off x="7975397" y="4572000"/>
            <a:ext cx="3393338"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03</a:t>
            </a:r>
            <a:endParaRPr lang="en-US" sz="1200" dirty="0"/>
          </a:p>
        </p:txBody>
      </p:sp>
      <p:sp>
        <p:nvSpPr>
          <p:cNvPr id="13" name="Text 11"/>
          <p:cNvSpPr txBox="1"/>
          <p:nvPr/>
        </p:nvSpPr>
        <p:spPr>
          <a:xfrm>
            <a:off x="7975397"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월별 계절성</a:t>
            </a:r>
            <a:endParaRPr lang="en-US" sz="15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03  데이터 분석</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kern="0" spc="-40" dirty="0">
                <a:ln w="15875">
                  <a:solidFill>
                    <a:srgbClr val="222222"/>
                  </a:solidFill>
                </a:ln>
                <a:solidFill>
                  <a:srgbClr val="222222"/>
                </a:solidFill>
                <a:latin typeface="에이투지체 5 Medium" pitchFamily="50" charset="-127"/>
                <a:ea typeface="에이투지체 5 Medium" pitchFamily="50" charset="-127"/>
                <a:cs typeface="에이투지체 5 Medium"/>
              </a:rPr>
              <a:t>생활인구와 이송 건수의 관계</a:t>
            </a:r>
            <a:endParaRPr lang="en-US" sz="3600" dirty="0">
              <a:latin typeface="에이투지체 5 Medium" pitchFamily="50" charset="-127"/>
              <a:ea typeface="에이투지체 5 Medium" pitchFamily="50" charset="-127"/>
            </a:endParaRPr>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구 간 비교(규모)와 구 내 비교(월별 변화)의 상관 차이</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18</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transport_dataset · population_dataset 재계산 (2018.04~2025.12, 2,233행)</a:t>
            </a:r>
            <a:endParaRPr lang="en-US" sz="900" dirty="0"/>
          </a:p>
        </p:txBody>
      </p:sp>
      <p:sp>
        <p:nvSpPr>
          <p:cNvPr id="8" name="Shape 5"/>
          <p:cNvSpPr/>
          <p:nvPr/>
        </p:nvSpPr>
        <p:spPr>
          <a:xfrm>
            <a:off x="457200" y="1993392"/>
            <a:ext cx="7315200" cy="3465576"/>
          </a:xfrm>
          <a:prstGeom prst="roundRect">
            <a:avLst>
              <a:gd name="adj" fmla="val 263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graphicFrame>
        <p:nvGraphicFramePr>
          <p:cNvPr id="9" name="Chart 0"/>
          <p:cNvGraphicFramePr/>
          <p:nvPr/>
        </p:nvGraphicFramePr>
        <p:xfrm>
          <a:off x="548640" y="2066544"/>
          <a:ext cx="7132320" cy="3319272"/>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6"/>
          <p:cNvSpPr/>
          <p:nvPr/>
        </p:nvSpPr>
        <p:spPr>
          <a:xfrm>
            <a:off x="7955280" y="1993392"/>
            <a:ext cx="3779215" cy="1645920"/>
          </a:xfrm>
          <a:prstGeom prst="roundRect">
            <a:avLst>
              <a:gd name="adj" fmla="val 7778"/>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txBody>
          <a:bodyPr/>
          <a:lstStyle/>
          <a:p>
            <a:endParaRPr/>
          </a:p>
        </p:txBody>
      </p:sp>
      <p:sp>
        <p:nvSpPr>
          <p:cNvPr id="11" name="Text 7"/>
          <p:cNvSpPr txBox="1"/>
          <p:nvPr/>
        </p:nvSpPr>
        <p:spPr>
          <a:xfrm>
            <a:off x="8174736" y="2105933"/>
            <a:ext cx="3340303" cy="566928"/>
          </a:xfrm>
          <a:prstGeom prst="rect">
            <a:avLst/>
          </a:prstGeom>
          <a:noFill/>
          <a:ln/>
        </p:spPr>
        <p:txBody>
          <a:bodyPr wrap="square" lIns="0" tIns="0" rIns="0" bIns="0" rtlCol="0" anchor="ctr"/>
          <a:lstStyle/>
          <a:p>
            <a:pPr marL="0" indent="0" algn="ctr">
              <a:buNone/>
            </a:pPr>
            <a:r>
              <a:rPr lang="en-US" sz="3600" kern="0" spc="-108" dirty="0">
                <a:solidFill>
                  <a:srgbClr val="FFFFFF"/>
                </a:solidFill>
                <a:latin typeface="에이투지체 5 Medium"/>
                <a:ea typeface="에이투지체 5 Medium"/>
                <a:cs typeface="에이투지체 5 Medium"/>
              </a:rPr>
              <a:t>0.81</a:t>
            </a:r>
            <a:endParaRPr lang="en-US" sz="3600" dirty="0"/>
          </a:p>
        </p:txBody>
      </p:sp>
      <p:sp>
        <p:nvSpPr>
          <p:cNvPr id="12" name="Text 8"/>
          <p:cNvSpPr txBox="1"/>
          <p:nvPr/>
        </p:nvSpPr>
        <p:spPr>
          <a:xfrm>
            <a:off x="8174736" y="2709437"/>
            <a:ext cx="3340303"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에이투지체 5 Medium"/>
                <a:ea typeface="에이투지체 5 Medium"/>
                <a:cs typeface="에이투지체 5 Medium"/>
              </a:rPr>
              <a:t>구 간 상관 (야간인구)</a:t>
            </a:r>
            <a:endParaRPr lang="en-US" sz="1400" dirty="0"/>
          </a:p>
        </p:txBody>
      </p:sp>
      <p:sp>
        <p:nvSpPr>
          <p:cNvPr id="13" name="Shape 9"/>
          <p:cNvSpPr/>
          <p:nvPr/>
        </p:nvSpPr>
        <p:spPr>
          <a:xfrm>
            <a:off x="8174736" y="3041435"/>
            <a:ext cx="3340303" cy="0"/>
          </a:xfrm>
          <a:prstGeom prst="line">
            <a:avLst/>
          </a:prstGeom>
          <a:noFill/>
          <a:ln w="9525">
            <a:solidFill>
              <a:srgbClr val="E87A7A"/>
            </a:solidFill>
            <a:prstDash val="solid"/>
          </a:ln>
        </p:spPr>
        <p:txBody>
          <a:bodyPr/>
          <a:lstStyle/>
          <a:p>
            <a:endParaRPr/>
          </a:p>
        </p:txBody>
      </p:sp>
      <p:sp>
        <p:nvSpPr>
          <p:cNvPr id="14" name="Text 10"/>
          <p:cNvSpPr txBox="1"/>
          <p:nvPr/>
        </p:nvSpPr>
        <p:spPr>
          <a:xfrm>
            <a:off x="8174736" y="3221501"/>
            <a:ext cx="3340303" cy="219456"/>
          </a:xfrm>
          <a:prstGeom prst="rect">
            <a:avLst/>
          </a:prstGeom>
          <a:noFill/>
          <a:ln/>
        </p:spPr>
        <p:txBody>
          <a:bodyPr wrap="square" lIns="0" tIns="0" rIns="0" bIns="0" rtlCol="0" anchor="ctr"/>
          <a:lstStyle/>
          <a:p>
            <a:pPr marL="0" indent="0" algn="ctr">
              <a:lnSpc>
                <a:spcPct val="120000"/>
              </a:lnSpc>
              <a:buNone/>
            </a:pPr>
            <a:r>
              <a:rPr lang="en-US" sz="1100" dirty="0">
                <a:solidFill>
                  <a:srgbClr val="FDE3E3"/>
                </a:solidFill>
                <a:latin typeface="에이투지체 5 Medium"/>
                <a:ea typeface="에이투지체 5 Medium"/>
                <a:cs typeface="에이투지체 5 Medium"/>
              </a:rPr>
              <a:t>인구 규모가 큰 구일수록</a:t>
            </a:r>
            <a:endParaRPr lang="en-US" sz="1100" dirty="0"/>
          </a:p>
          <a:p>
            <a:pPr marL="0" indent="0" algn="ctr">
              <a:lnSpc>
                <a:spcPct val="120000"/>
              </a:lnSpc>
              <a:buNone/>
            </a:pPr>
            <a:r>
              <a:rPr lang="en-US" sz="1100" dirty="0">
                <a:solidFill>
                  <a:srgbClr val="FDE3E3"/>
                </a:solidFill>
                <a:latin typeface="에이투지체 5 Medium"/>
                <a:ea typeface="에이투지체 5 Medium"/>
                <a:cs typeface="에이투지체 5 Medium"/>
              </a:rPr>
              <a:t>이송 건수 증가</a:t>
            </a:r>
            <a:endParaRPr lang="en-US" sz="1100" dirty="0"/>
          </a:p>
        </p:txBody>
      </p:sp>
      <p:sp>
        <p:nvSpPr>
          <p:cNvPr id="15" name="Shape 11"/>
          <p:cNvSpPr/>
          <p:nvPr/>
        </p:nvSpPr>
        <p:spPr>
          <a:xfrm>
            <a:off x="7955280" y="3813048"/>
            <a:ext cx="3779215" cy="1645920"/>
          </a:xfrm>
          <a:prstGeom prst="roundRect">
            <a:avLst>
              <a:gd name="adj" fmla="val 5556"/>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6" name="Text 12"/>
          <p:cNvSpPr txBox="1"/>
          <p:nvPr/>
        </p:nvSpPr>
        <p:spPr>
          <a:xfrm>
            <a:off x="8174736" y="3951968"/>
            <a:ext cx="3340303" cy="566928"/>
          </a:xfrm>
          <a:prstGeom prst="rect">
            <a:avLst/>
          </a:prstGeom>
          <a:noFill/>
          <a:ln/>
        </p:spPr>
        <p:txBody>
          <a:bodyPr wrap="square" lIns="0" tIns="0" rIns="0" bIns="0" rtlCol="0" anchor="ctr"/>
          <a:lstStyle/>
          <a:p>
            <a:pPr marL="0" indent="0" algn="ctr">
              <a:buNone/>
            </a:pPr>
            <a:r>
              <a:rPr lang="en-US" sz="3600" kern="0" spc="-108" dirty="0">
                <a:solidFill>
                  <a:srgbClr val="D62828"/>
                </a:solidFill>
                <a:latin typeface="에이투지체 5 Medium"/>
                <a:ea typeface="에이투지체 5 Medium"/>
                <a:cs typeface="에이투지체 5 Medium"/>
              </a:rPr>
              <a:t>≤ 0.33</a:t>
            </a:r>
            <a:endParaRPr lang="en-US" sz="3600" dirty="0"/>
          </a:p>
        </p:txBody>
      </p:sp>
      <p:sp>
        <p:nvSpPr>
          <p:cNvPr id="17" name="Text 13"/>
          <p:cNvSpPr txBox="1"/>
          <p:nvPr/>
        </p:nvSpPr>
        <p:spPr>
          <a:xfrm>
            <a:off x="8174736" y="4555472"/>
            <a:ext cx="3340303" cy="274320"/>
          </a:xfrm>
          <a:prstGeom prst="rect">
            <a:avLst/>
          </a:prstGeom>
          <a:noFill/>
          <a:ln/>
        </p:spPr>
        <p:txBody>
          <a:bodyPr wrap="square" lIns="0" tIns="0" rIns="0" bIns="0" rtlCol="0" anchor="ctr"/>
          <a:lstStyle/>
          <a:p>
            <a:pPr marL="0" indent="0" algn="ctr">
              <a:buNone/>
            </a:pPr>
            <a:r>
              <a:rPr lang="en-US" sz="1400" b="1" dirty="0">
                <a:solidFill>
                  <a:srgbClr val="222222"/>
                </a:solidFill>
                <a:latin typeface="에이투지체 5 Medium"/>
                <a:ea typeface="에이투지체 5 Medium"/>
                <a:cs typeface="에이투지체 5 Medium"/>
              </a:rPr>
              <a:t>구 내 상관 (전 지표)</a:t>
            </a:r>
            <a:endParaRPr lang="en-US" sz="1400" dirty="0"/>
          </a:p>
        </p:txBody>
      </p:sp>
      <p:sp>
        <p:nvSpPr>
          <p:cNvPr id="18" name="Shape 14"/>
          <p:cNvSpPr/>
          <p:nvPr/>
        </p:nvSpPr>
        <p:spPr>
          <a:xfrm>
            <a:off x="8174736" y="4905056"/>
            <a:ext cx="3340303" cy="0"/>
          </a:xfrm>
          <a:prstGeom prst="line">
            <a:avLst/>
          </a:prstGeom>
          <a:noFill/>
          <a:ln w="9525">
            <a:solidFill>
              <a:srgbClr val="E5E7EB"/>
            </a:solidFill>
            <a:prstDash val="solid"/>
          </a:ln>
        </p:spPr>
        <p:txBody>
          <a:bodyPr/>
          <a:lstStyle/>
          <a:p>
            <a:endParaRPr/>
          </a:p>
        </p:txBody>
      </p:sp>
      <p:sp>
        <p:nvSpPr>
          <p:cNvPr id="19" name="Text 15"/>
          <p:cNvSpPr txBox="1"/>
          <p:nvPr/>
        </p:nvSpPr>
        <p:spPr>
          <a:xfrm>
            <a:off x="8174736" y="5067536"/>
            <a:ext cx="3340303" cy="219456"/>
          </a:xfrm>
          <a:prstGeom prst="rect">
            <a:avLst/>
          </a:prstGeom>
          <a:noFill/>
          <a:ln/>
        </p:spPr>
        <p:txBody>
          <a:bodyPr wrap="square" lIns="0" tIns="0" rIns="0" bIns="0" rtlCol="0" anchor="ctr"/>
          <a:lstStyle/>
          <a:p>
            <a:pPr marL="0" indent="0" algn="ctr">
              <a:lnSpc>
                <a:spcPct val="120000"/>
              </a:lnSpc>
              <a:buNone/>
            </a:pPr>
            <a:r>
              <a:rPr lang="en-US" sz="1100" dirty="0">
                <a:solidFill>
                  <a:srgbClr val="45515E"/>
                </a:solidFill>
                <a:latin typeface="에이투지체 5 Medium"/>
                <a:ea typeface="에이투지체 5 Medium"/>
                <a:cs typeface="에이투지체 5 Medium"/>
              </a:rPr>
              <a:t>같은 구의 월별 인구 변화와</a:t>
            </a:r>
            <a:endParaRPr lang="en-US" sz="1100" dirty="0"/>
          </a:p>
          <a:p>
            <a:pPr marL="0" indent="0" algn="ctr">
              <a:lnSpc>
                <a:spcPct val="120000"/>
              </a:lnSpc>
              <a:buNone/>
            </a:pPr>
            <a:r>
              <a:rPr lang="en-US" sz="1100" dirty="0">
                <a:solidFill>
                  <a:srgbClr val="45515E"/>
                </a:solidFill>
                <a:latin typeface="에이투지체 5 Medium"/>
                <a:ea typeface="에이투지체 5 Medium"/>
                <a:cs typeface="에이투지체 5 Medium"/>
              </a:rPr>
              <a:t>이송 변화의 관계 약함</a:t>
            </a:r>
            <a:endParaRPr lang="en-US" sz="1100" dirty="0"/>
          </a:p>
        </p:txBody>
      </p:sp>
      <p:sp>
        <p:nvSpPr>
          <p:cNvPr id="20" name="Shape 16"/>
          <p:cNvSpPr/>
          <p:nvPr/>
        </p:nvSpPr>
        <p:spPr>
          <a:xfrm>
            <a:off x="457200" y="5641848"/>
            <a:ext cx="11277295" cy="548640"/>
          </a:xfrm>
          <a:prstGeom prst="roundRect">
            <a:avLst>
              <a:gd name="adj" fmla="val 166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1" name="Text 17"/>
          <p:cNvSpPr txBox="1"/>
          <p:nvPr/>
        </p:nvSpPr>
        <p:spPr>
          <a:xfrm>
            <a:off x="640080" y="5641848"/>
            <a:ext cx="10908792" cy="548640"/>
          </a:xfrm>
          <a:prstGeom prst="rect">
            <a:avLst/>
          </a:prstGeom>
          <a:noFill/>
          <a:ln/>
        </p:spPr>
        <p:txBody>
          <a:bodyPr wrap="square" lIns="0" tIns="0" rIns="0" bIns="0" rtlCol="0" anchor="ctr"/>
          <a:lstStyle/>
          <a:p>
            <a:pPr marL="0" indent="0" algn="ctr">
              <a:buNone/>
            </a:pPr>
            <a:r>
              <a:rPr lang="en-US" sz="1400" dirty="0" err="1" smtClean="0">
                <a:solidFill>
                  <a:srgbClr val="222222"/>
                </a:solidFill>
                <a:latin typeface="에이투지체 5 Medium"/>
                <a:ea typeface="에이투지체 5 Medium"/>
                <a:cs typeface="에이투지체 5 Medium"/>
              </a:rPr>
              <a:t>생활인구는</a:t>
            </a:r>
            <a:r>
              <a:rPr lang="en-US" sz="1400" dirty="0" smtClean="0">
                <a:solidFill>
                  <a:srgbClr val="222222"/>
                </a:solidFill>
                <a:latin typeface="에이투지체 5 Medium"/>
                <a:ea typeface="에이투지체 5 Medium"/>
                <a:cs typeface="에이투지체 5 Medium"/>
              </a:rPr>
              <a:t> </a:t>
            </a:r>
            <a:r>
              <a:rPr lang="en-US" sz="1400" dirty="0">
                <a:solidFill>
                  <a:srgbClr val="222222"/>
                </a:solidFill>
                <a:latin typeface="에이투지체 5 Medium"/>
                <a:ea typeface="에이투지체 5 Medium"/>
                <a:cs typeface="에이투지체 5 Medium"/>
              </a:rPr>
              <a:t>구별 수요 규모 설명 변수, 월별 변화는 계절 · 전월 값으로 설명</a:t>
            </a:r>
            <a:endParaRPr lang="en-US" sz="14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03  데이터 분석</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a:ea typeface="에이투지체 5 Medium"/>
                <a:cs typeface="에이투지체 5 Medium"/>
              </a:rPr>
              <a:t>생활인구-이송 건수 산점도</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구 × 월 전체 분포와 자치구별 평균 비교 (야간인구 기준, 학습 기간)</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19</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(relation_scatter)</a:t>
            </a:r>
            <a:endParaRPr lang="en-US" sz="900" dirty="0"/>
          </a:p>
        </p:txBody>
      </p:sp>
      <p:sp>
        <p:nvSpPr>
          <p:cNvPr id="1001" name="Add 1001"/>
          <p:cNvSpPr/>
          <p:nvPr/>
        </p:nvSpPr>
        <p:spPr>
          <a:xfrm>
            <a:off x="457200" y="1993392"/>
            <a:ext cx="11277295" cy="3291840"/>
          </a:xfrm>
          <a:prstGeom prst="roundRect">
            <a:avLst>
              <a:gd name="adj" fmla="val 2777"/>
            </a:avLst>
          </a:prstGeom>
          <a:solidFill>
            <a:srgbClr val="FFFFFF"/>
          </a:solidFill>
          <a:ln>
            <a:noFill/>
          </a:ln>
          <a:effectLst>
            <a:outerShdw blurRad="38100" dist="25400" dir="5400000" algn="t" rotWithShape="0">
              <a:srgbClr val="000000">
                <a:alpha val="8000"/>
              </a:srgbClr>
            </a:outerShdw>
          </a:effectLst>
        </p:spPr>
        <p:txBody>
          <a:bodyPr/>
          <a:lstStyle/>
          <a:p>
            <a:endParaRPr/>
          </a:p>
        </p:txBody>
      </p:sp>
      <p:pic>
        <p:nvPicPr>
          <p:cNvPr id="1002" name="Picture 1001" descr="relation_scatter.png"/>
          <p:cNvPicPr>
            <a:picLocks noChangeAspect="1"/>
          </p:cNvPicPr>
          <p:nvPr/>
        </p:nvPicPr>
        <p:blipFill>
          <a:blip r:embed="rId3"/>
          <a:stretch>
            <a:fillRect/>
          </a:stretch>
        </p:blipFill>
        <p:spPr>
          <a:xfrm>
            <a:off x="1756889" y="2103120"/>
            <a:ext cx="8677917" cy="3072384"/>
          </a:xfrm>
          <a:prstGeom prst="rect">
            <a:avLst/>
          </a:prstGeom>
        </p:spPr>
      </p:pic>
      <p:sp>
        <p:nvSpPr>
          <p:cNvPr id="7" name="Add 1002"/>
          <p:cNvSpPr/>
          <p:nvPr/>
        </p:nvSpPr>
        <p:spPr>
          <a:xfrm>
            <a:off x="457200" y="5468112"/>
            <a:ext cx="5547665" cy="722376"/>
          </a:xfrm>
          <a:prstGeom prst="roundRect">
            <a:avLst>
              <a:gd name="adj" fmla="val 12658"/>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1003" name="Add 1003"/>
          <p:cNvSpPr txBox="1"/>
          <p:nvPr/>
        </p:nvSpPr>
        <p:spPr>
          <a:xfrm>
            <a:off x="676656" y="5468112"/>
            <a:ext cx="1463040" cy="722376"/>
          </a:xfrm>
          <a:prstGeom prst="rect">
            <a:avLst/>
          </a:prstGeom>
          <a:noFill/>
        </p:spPr>
        <p:txBody>
          <a:bodyPr wrap="square" lIns="0" tIns="0" rIns="0" bIns="0" rtlCol="0" anchor="ctr"/>
          <a:lstStyle/>
          <a:p>
            <a:pPr algn="l"/>
            <a:r>
              <a:rPr lang="ko-KR" sz="1400" b="1" dirty="0">
                <a:solidFill>
                  <a:srgbClr val="D62828"/>
                </a:solidFill>
                <a:latin typeface="에이투지체 5 Medium"/>
                <a:ea typeface="에이투지체 5 Medium"/>
                <a:cs typeface="에이투지체 5 Medium"/>
              </a:rPr>
              <a:t>구 × 월 전체</a:t>
            </a:r>
          </a:p>
        </p:txBody>
      </p:sp>
      <p:sp>
        <p:nvSpPr>
          <p:cNvPr id="1004" name="Add 1004"/>
          <p:cNvSpPr txBox="1"/>
          <p:nvPr/>
        </p:nvSpPr>
        <p:spPr>
          <a:xfrm>
            <a:off x="2103120" y="5468112"/>
            <a:ext cx="3749040" cy="722376"/>
          </a:xfrm>
          <a:prstGeom prst="rect">
            <a:avLst/>
          </a:prstGeom>
          <a:noFill/>
        </p:spPr>
        <p:txBody>
          <a:bodyPr wrap="square" lIns="0" tIns="0" rIns="0" bIns="0" rtlCol="0" anchor="ctr"/>
          <a:lstStyle/>
          <a:p>
            <a:pPr algn="l"/>
            <a:r>
              <a:rPr lang="ko-KR" sz="1100" dirty="0">
                <a:solidFill>
                  <a:srgbClr val="45515E"/>
                </a:solidFill>
                <a:latin typeface="에이투지체 5 Medium"/>
                <a:ea typeface="에이투지체 5 Medium"/>
                <a:cs typeface="에이투지체 5 Medium"/>
              </a:rPr>
              <a:t>자치구(색)별 군집 분포 → 구 규모 차이가 전체 상관 주도</a:t>
            </a:r>
          </a:p>
        </p:txBody>
      </p:sp>
      <p:sp>
        <p:nvSpPr>
          <p:cNvPr id="1005" name="Add 1005"/>
          <p:cNvSpPr/>
          <p:nvPr/>
        </p:nvSpPr>
        <p:spPr>
          <a:xfrm>
            <a:off x="6187745" y="5468112"/>
            <a:ext cx="5546750" cy="722376"/>
          </a:xfrm>
          <a:prstGeom prst="roundRect">
            <a:avLst>
              <a:gd name="adj" fmla="val 12658"/>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1006" name="Add 1006"/>
          <p:cNvSpPr txBox="1"/>
          <p:nvPr/>
        </p:nvSpPr>
        <p:spPr>
          <a:xfrm>
            <a:off x="6409944" y="5468112"/>
            <a:ext cx="1463040" cy="722376"/>
          </a:xfrm>
          <a:prstGeom prst="rect">
            <a:avLst/>
          </a:prstGeom>
          <a:noFill/>
        </p:spPr>
        <p:txBody>
          <a:bodyPr wrap="square" lIns="0" tIns="0" rIns="0" bIns="0" rtlCol="0" anchor="ctr"/>
          <a:lstStyle/>
          <a:p>
            <a:pPr algn="l"/>
            <a:r>
              <a:rPr lang="ko-KR" sz="1400" b="1" dirty="0">
                <a:solidFill>
                  <a:srgbClr val="D62828"/>
                </a:solidFill>
                <a:latin typeface="에이투지체 5 Medium"/>
                <a:ea typeface="에이투지체 5 Medium"/>
                <a:cs typeface="에이투지체 5 Medium"/>
              </a:rPr>
              <a:t>자치구별 평균</a:t>
            </a:r>
          </a:p>
        </p:txBody>
      </p:sp>
      <p:sp>
        <p:nvSpPr>
          <p:cNvPr id="1007" name="Add 1007"/>
          <p:cNvSpPr txBox="1"/>
          <p:nvPr/>
        </p:nvSpPr>
        <p:spPr>
          <a:xfrm>
            <a:off x="7836408" y="5468112"/>
            <a:ext cx="3749040" cy="722376"/>
          </a:xfrm>
          <a:prstGeom prst="rect">
            <a:avLst/>
          </a:prstGeom>
          <a:noFill/>
        </p:spPr>
        <p:txBody>
          <a:bodyPr wrap="square" lIns="0" tIns="0" rIns="0" bIns="0" rtlCol="0" anchor="ctr"/>
          <a:lstStyle/>
          <a:p>
            <a:pPr algn="l"/>
            <a:r>
              <a:rPr lang="ko-KR" sz="1100" dirty="0">
                <a:solidFill>
                  <a:srgbClr val="45515E"/>
                </a:solidFill>
                <a:latin typeface="에이투지체 5 Medium"/>
                <a:ea typeface="에이투지체 5 Medium"/>
                <a:cs typeface="에이투지체 5 Medium"/>
              </a:rPr>
              <a:t>야간인구가 많은 구일수록 평균 이송 증가 (구 간 0.80)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03  데이터 분석</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a:ea typeface="에이투지체 5 Medium"/>
                <a:cs typeface="에이투지체 5 Medium"/>
              </a:rPr>
              <a:t>인구 가중치 및 자치구 유형</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중복 없는 인구 지표 4개 가중치 산출, KMeans 4개 유형 분류</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20</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transport_dataset · population_dataset 재계산 (KMeans, k = 4)</a:t>
            </a:r>
            <a:endParaRPr lang="en-US" sz="900" dirty="0"/>
          </a:p>
        </p:txBody>
      </p:sp>
      <p:sp>
        <p:nvSpPr>
          <p:cNvPr id="8" name="Shape 5"/>
          <p:cNvSpPr/>
          <p:nvPr/>
        </p:nvSpPr>
        <p:spPr>
          <a:xfrm>
            <a:off x="457200" y="1993392"/>
            <a:ext cx="4937760" cy="3008376"/>
          </a:xfrm>
          <a:prstGeom prst="roundRect">
            <a:avLst>
              <a:gd name="adj" fmla="val 304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graphicFrame>
        <p:nvGraphicFramePr>
          <p:cNvPr id="9" name="Chart 0"/>
          <p:cNvGraphicFramePr/>
          <p:nvPr/>
        </p:nvGraphicFramePr>
        <p:xfrm>
          <a:off x="548640" y="2066544"/>
          <a:ext cx="4754880" cy="2862072"/>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6"/>
          <p:cNvSpPr/>
          <p:nvPr/>
        </p:nvSpPr>
        <p:spPr>
          <a:xfrm>
            <a:off x="457200" y="5184648"/>
            <a:ext cx="4937760" cy="1005840"/>
          </a:xfrm>
          <a:prstGeom prst="roundRect">
            <a:avLst>
              <a:gd name="adj" fmla="val 9091"/>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1" name="Text 7"/>
          <p:cNvSpPr txBox="1"/>
          <p:nvPr/>
        </p:nvSpPr>
        <p:spPr>
          <a:xfrm>
            <a:off x="719208" y="5167064"/>
            <a:ext cx="1188720" cy="1005840"/>
          </a:xfrm>
          <a:prstGeom prst="rect">
            <a:avLst/>
          </a:prstGeom>
          <a:noFill/>
          <a:ln/>
        </p:spPr>
        <p:txBody>
          <a:bodyPr wrap="square" lIns="0" tIns="0" rIns="0" bIns="0" rtlCol="0" anchor="ctr"/>
          <a:lstStyle/>
          <a:p>
            <a:pPr marL="0" indent="0">
              <a:buNone/>
            </a:pPr>
            <a:r>
              <a:rPr lang="en-US" sz="3000" kern="0" spc="-80" dirty="0">
                <a:solidFill>
                  <a:srgbClr val="D62828"/>
                </a:solidFill>
                <a:latin typeface="에이투지체 5 Medium"/>
                <a:ea typeface="에이투지체 5 Medium"/>
                <a:cs typeface="에이투지체 5 Medium"/>
              </a:rPr>
              <a:t>0.80</a:t>
            </a:r>
            <a:endParaRPr lang="en-US" sz="3000" dirty="0"/>
          </a:p>
        </p:txBody>
      </p:sp>
      <p:sp>
        <p:nvSpPr>
          <p:cNvPr id="12" name="Text 8"/>
          <p:cNvSpPr txBox="1"/>
          <p:nvPr/>
        </p:nvSpPr>
        <p:spPr>
          <a:xfrm>
            <a:off x="1874520" y="5330952"/>
            <a:ext cx="3383280" cy="292608"/>
          </a:xfrm>
          <a:prstGeom prst="rect">
            <a:avLst/>
          </a:prstGeom>
          <a:noFill/>
          <a:ln/>
        </p:spPr>
        <p:txBody>
          <a:bodyPr wrap="square" lIns="0" tIns="0" rIns="0" bIns="0" rtlCol="0" anchor="ctr"/>
          <a:lstStyle/>
          <a:p>
            <a:pPr marL="0" indent="0">
              <a:buNone/>
            </a:pPr>
            <a:r>
              <a:rPr lang="en-US" sz="1300" b="1" dirty="0">
                <a:solidFill>
                  <a:srgbClr val="222222"/>
                </a:solidFill>
                <a:latin typeface="에이투지체 5 Medium"/>
                <a:ea typeface="에이투지체 5 Medium"/>
                <a:cs typeface="에이투지체 5 Medium"/>
              </a:rPr>
              <a:t>가중 지수 - 이송 건수 상관</a:t>
            </a:r>
            <a:endParaRPr lang="en-US" sz="1300" dirty="0"/>
          </a:p>
        </p:txBody>
      </p:sp>
      <p:sp>
        <p:nvSpPr>
          <p:cNvPr id="13" name="Text 9"/>
          <p:cNvSpPr txBox="1"/>
          <p:nvPr/>
        </p:nvSpPr>
        <p:spPr>
          <a:xfrm>
            <a:off x="1874520" y="5669280"/>
            <a:ext cx="3383280" cy="320040"/>
          </a:xfrm>
          <a:prstGeom prst="rect">
            <a:avLst/>
          </a:prstGeom>
          <a:noFill/>
          <a:ln/>
        </p:spPr>
        <p:txBody>
          <a:bodyPr wrap="square" lIns="0" tIns="0" rIns="0" bIns="0" rtlCol="0" anchor="ctr"/>
          <a:lstStyle/>
          <a:p>
            <a:pPr marL="0" indent="0">
              <a:buNone/>
            </a:pPr>
            <a:r>
              <a:rPr lang="en-US" sz="1100" dirty="0">
                <a:solidFill>
                  <a:srgbClr val="45515E"/>
                </a:solidFill>
                <a:latin typeface="에이투지체 5 Medium"/>
                <a:ea typeface="에이투지체 5 Medium"/>
                <a:cs typeface="에이투지체 5 Medium"/>
              </a:rPr>
              <a:t>야간인구 단독 0.81과 유사 → 야간인구 중심</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3065388576"/>
              </p:ext>
            </p:extLst>
          </p:nvPr>
        </p:nvGraphicFramePr>
        <p:xfrm>
          <a:off x="5577840" y="1993392"/>
          <a:ext cx="6156655" cy="4041648"/>
        </p:xfrm>
        <a:graphic>
          <a:graphicData uri="http://schemas.openxmlformats.org/drawingml/2006/table">
            <a:tbl>
              <a:tblPr/>
              <a:tblGrid>
                <a:gridCol w="14173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081735">
                  <a:extLst>
                    <a:ext uri="{9D8B030D-6E8A-4147-A177-3AD203B41FA5}">
                      <a16:colId xmlns:a16="http://schemas.microsoft.com/office/drawing/2014/main" val="20003"/>
                    </a:ext>
                  </a:extLst>
                </a:gridCol>
              </a:tblGrid>
              <a:tr h="384048">
                <a:tc>
                  <a:txBody>
                    <a:bodyPr/>
                    <a:lstStyle/>
                    <a:p>
                      <a:pPr marL="0" indent="0" algn="ctr">
                        <a:buNone/>
                      </a:pPr>
                      <a:r>
                        <a:rPr lang="en-US" sz="1200" dirty="0">
                          <a:solidFill>
                            <a:srgbClr val="222222"/>
                          </a:solidFill>
                          <a:latin typeface="에이투지체 5 Medium"/>
                          <a:ea typeface="에이투지체 5 Medium"/>
                          <a:cs typeface="에이투지체 5 Medium"/>
                        </a:rPr>
                        <a:t>유형</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222222"/>
                          </a:solidFill>
                          <a:latin typeface="에이투지체 5 Medium"/>
                          <a:ea typeface="에이투지체 5 Medium"/>
                          <a:cs typeface="에이투지체 5 Medium"/>
                        </a:rPr>
                        <a:t>해당 자치구</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222222"/>
                          </a:solidFill>
                          <a:latin typeface="에이투지체 5 Medium"/>
                          <a:ea typeface="에이투지체 5 Medium"/>
                          <a:cs typeface="에이투지체 5 Medium"/>
                        </a:rPr>
                        <a:t>야간인구</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D62828"/>
                          </a:solidFill>
                          <a:latin typeface="에이투지체 5 Medium"/>
                          <a:ea typeface="에이투지체 5 Medium"/>
                          <a:cs typeface="에이투지체 5 Medium"/>
                        </a:rPr>
                        <a:t>1만 명당 이송</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extLst>
                  <a:ext uri="{0D108BD9-81ED-4DB2-BD59-A6C34878D82A}">
                    <a16:rowId xmlns:a16="http://schemas.microsoft.com/office/drawing/2014/main" val="10000"/>
                  </a:ext>
                </a:extLst>
              </a:tr>
              <a:tr h="914400">
                <a:tc>
                  <a:txBody>
                    <a:bodyPr/>
                    <a:lstStyle/>
                    <a:p>
                      <a:pPr marL="0" indent="0" algn="l">
                        <a:buNone/>
                      </a:pPr>
                      <a:r>
                        <a:rPr lang="en-US" sz="1200" b="1" dirty="0">
                          <a:solidFill>
                            <a:srgbClr val="222222"/>
                          </a:solidFill>
                          <a:latin typeface="에이투지체 5 Medium"/>
                          <a:ea typeface="에이투지체 5 Medium"/>
                          <a:cs typeface="에이투지체 5 Medium"/>
                        </a:rPr>
                        <a:t>주거 고수요형</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강북 · 구로 · 금천 · 도봉 · </a:t>
                      </a:r>
                      <a:r>
                        <a:rPr lang="en-US" sz="1200" dirty="0" err="1" smtClean="0">
                          <a:solidFill>
                            <a:srgbClr val="45515E"/>
                          </a:solidFill>
                          <a:latin typeface="에이투지체 5 Medium"/>
                          <a:ea typeface="에이투지체 5 Medium"/>
                          <a:cs typeface="에이투지체 5 Medium"/>
                        </a:rPr>
                        <a:t>동대문</a:t>
                      </a:r>
                      <a:endParaRPr lang="en-US" sz="1200" dirty="0" smtClean="0">
                        <a:solidFill>
                          <a:srgbClr val="45515E"/>
                        </a:solidFill>
                        <a:latin typeface="에이투지체 5 Medium"/>
                        <a:ea typeface="에이투지체 5 Medium"/>
                        <a:cs typeface="에이투지체 5 Medium"/>
                      </a:endParaRPr>
                    </a:p>
                    <a:p>
                      <a:pPr marL="0" indent="0" algn="l">
                        <a:buNone/>
                      </a:pPr>
                      <a:r>
                        <a:rPr lang="en-US" sz="1200" dirty="0" smtClean="0">
                          <a:solidFill>
                            <a:srgbClr val="45515E"/>
                          </a:solidFill>
                          <a:latin typeface="에이투지체 5 Medium"/>
                          <a:ea typeface="에이투지체 5 Medium"/>
                          <a:cs typeface="에이투지체 5 Medium"/>
                        </a:rPr>
                        <a:t> </a:t>
                      </a:r>
                      <a:r>
                        <a:rPr lang="en-US" sz="1200" dirty="0">
                          <a:solidFill>
                            <a:srgbClr val="45515E"/>
                          </a:solidFill>
                          <a:latin typeface="에이투지체 5 Medium"/>
                          <a:ea typeface="에이투지체 5 Medium"/>
                          <a:cs typeface="에이투지체 5 Medium"/>
                        </a:rPr>
                        <a:t>· 양천 · 중랑</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34만</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29.6건</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marL="0" indent="0" algn="l">
                        <a:buNone/>
                      </a:pPr>
                      <a:r>
                        <a:rPr lang="en-US" sz="1200" b="1" dirty="0">
                          <a:solidFill>
                            <a:srgbClr val="222222"/>
                          </a:solidFill>
                          <a:latin typeface="에이투지체 5 Medium"/>
                          <a:ea typeface="에이투지체 5 Medium"/>
                          <a:cs typeface="에이투지체 5 Medium"/>
                        </a:rPr>
                        <a:t>도심 유입형</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종로 · 중구 (주야간비 1.58)</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25만</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29.2건</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2"/>
                  </a:ext>
                </a:extLst>
              </a:tr>
              <a:tr h="914400">
                <a:tc>
                  <a:txBody>
                    <a:bodyPr/>
                    <a:lstStyle/>
                    <a:p>
                      <a:pPr marL="0" indent="0" algn="l">
                        <a:buNone/>
                      </a:pPr>
                      <a:r>
                        <a:rPr lang="en-US" sz="1200" b="1" dirty="0">
                          <a:solidFill>
                            <a:srgbClr val="222222"/>
                          </a:solidFill>
                          <a:latin typeface="에이투지체 5 Medium"/>
                          <a:ea typeface="에이투지체 5 Medium"/>
                          <a:cs typeface="에이투지체 5 Medium"/>
                        </a:rPr>
                        <a:t>일반 주거형</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강동 · 강서 · 관악 · 마포 등 13개 구</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45만</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22.5건</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marL="0" indent="0" algn="l">
                        <a:buNone/>
                      </a:pPr>
                      <a:r>
                        <a:rPr lang="en-US" sz="1200" b="1" dirty="0">
                          <a:solidFill>
                            <a:srgbClr val="222222"/>
                          </a:solidFill>
                          <a:latin typeface="에이투지체 5 Medium"/>
                          <a:ea typeface="에이투지체 5 Medium"/>
                          <a:cs typeface="에이투지체 5 Medium"/>
                        </a:rPr>
                        <a:t>대규모 거점형</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강남 · 서초 · 송파</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68만</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19.2건</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03  데이터 분석</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pitchFamily="50" charset="-127"/>
                <a:ea typeface="에이투지체 5 Medium" pitchFamily="50" charset="-127"/>
                <a:cs typeface="에이투지체 5 Medium"/>
              </a:rPr>
              <a:t>월별 계절성</a:t>
            </a:r>
            <a:endParaRPr lang="en-US" sz="3600" b="1" dirty="0">
              <a:latin typeface="에이투지체 5 Medium" pitchFamily="50" charset="-127"/>
              <a:ea typeface="에이투지체 5 Medium" pitchFamily="50" charset="-127"/>
            </a:endParaRPr>
          </a:p>
        </p:txBody>
      </p:sp>
      <p:sp>
        <p:nvSpPr>
          <p:cNvPr id="4" name="Text 2"/>
          <p:cNvSpPr txBox="1"/>
          <p:nvPr/>
        </p:nvSpPr>
        <p:spPr>
          <a:xfrm>
            <a:off x="483576"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7 · 8월 최다, 2월 최소 — 월 정보 및 전년 동월 값 입력 근거</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21</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transport_dataset 월별 평균 · 02_119_전처리_검토수정.ipynb 시계열 분해</a:t>
            </a:r>
            <a:endParaRPr lang="en-US" sz="900" dirty="0"/>
          </a:p>
        </p:txBody>
      </p:sp>
      <p:sp>
        <p:nvSpPr>
          <p:cNvPr id="8" name="Shape 5"/>
          <p:cNvSpPr/>
          <p:nvPr/>
        </p:nvSpPr>
        <p:spPr>
          <a:xfrm>
            <a:off x="457200" y="1993392"/>
            <a:ext cx="7680960" cy="4197096"/>
          </a:xfrm>
          <a:prstGeom prst="roundRect">
            <a:avLst>
              <a:gd name="adj" fmla="val 217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graphicFrame>
        <p:nvGraphicFramePr>
          <p:cNvPr id="9" name="Chart 0"/>
          <p:cNvGraphicFramePr/>
          <p:nvPr/>
        </p:nvGraphicFramePr>
        <p:xfrm>
          <a:off x="548640" y="2066544"/>
          <a:ext cx="7498080" cy="4050792"/>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6"/>
          <p:cNvSpPr/>
          <p:nvPr/>
        </p:nvSpPr>
        <p:spPr>
          <a:xfrm>
            <a:off x="8321040" y="1993392"/>
            <a:ext cx="3413455" cy="1307592"/>
          </a:xfrm>
          <a:prstGeom prst="roundRect">
            <a:avLst>
              <a:gd name="adj" fmla="val 9790"/>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txBody>
          <a:bodyPr/>
          <a:lstStyle/>
          <a:p>
            <a:endParaRPr/>
          </a:p>
        </p:txBody>
      </p:sp>
      <p:sp>
        <p:nvSpPr>
          <p:cNvPr id="11" name="Text 7"/>
          <p:cNvSpPr txBox="1"/>
          <p:nvPr/>
        </p:nvSpPr>
        <p:spPr>
          <a:xfrm>
            <a:off x="8540496" y="1993392"/>
            <a:ext cx="1325880" cy="1307592"/>
          </a:xfrm>
          <a:prstGeom prst="rect">
            <a:avLst/>
          </a:prstGeom>
          <a:noFill/>
          <a:ln/>
        </p:spPr>
        <p:txBody>
          <a:bodyPr wrap="square" lIns="0" tIns="0" rIns="0" bIns="0" rtlCol="0" anchor="ctr"/>
          <a:lstStyle/>
          <a:p>
            <a:pPr marL="0" indent="0">
              <a:buNone/>
            </a:pPr>
            <a:r>
              <a:rPr lang="en-US" sz="3000" kern="0" spc="-90" dirty="0">
                <a:solidFill>
                  <a:srgbClr val="FFFFFF"/>
                </a:solidFill>
                <a:latin typeface="에이투지체 5 Medium"/>
                <a:ea typeface="에이투지체 5 Medium"/>
                <a:cs typeface="에이투지체 5 Medium"/>
              </a:rPr>
              <a:t>108.6</a:t>
            </a:r>
            <a:endParaRPr lang="en-US" sz="3000" dirty="0"/>
          </a:p>
        </p:txBody>
      </p:sp>
      <p:sp>
        <p:nvSpPr>
          <p:cNvPr id="12" name="Text 8"/>
          <p:cNvSpPr txBox="1"/>
          <p:nvPr/>
        </p:nvSpPr>
        <p:spPr>
          <a:xfrm>
            <a:off x="9866376" y="2351765"/>
            <a:ext cx="1648663" cy="310896"/>
          </a:xfrm>
          <a:prstGeom prst="rect">
            <a:avLst/>
          </a:prstGeom>
          <a:noFill/>
          <a:ln/>
        </p:spPr>
        <p:txBody>
          <a:bodyPr wrap="square" lIns="0" tIns="0" rIns="0" bIns="0" rtlCol="0" anchor="ctr"/>
          <a:lstStyle/>
          <a:p>
            <a:pPr marL="0" indent="0">
              <a:buNone/>
            </a:pPr>
            <a:r>
              <a:rPr lang="en-US" sz="1400" b="1" dirty="0">
                <a:solidFill>
                  <a:srgbClr val="FFFFFF"/>
                </a:solidFill>
                <a:latin typeface="에이투지체 5 Medium"/>
                <a:ea typeface="에이투지체 5 Medium"/>
                <a:cs typeface="에이투지체 5 Medium"/>
              </a:rPr>
              <a:t>7월 최다</a:t>
            </a:r>
            <a:endParaRPr lang="en-US" sz="1400" dirty="0"/>
          </a:p>
        </p:txBody>
      </p:sp>
      <p:sp>
        <p:nvSpPr>
          <p:cNvPr id="13" name="Text 9"/>
          <p:cNvSpPr txBox="1"/>
          <p:nvPr/>
        </p:nvSpPr>
        <p:spPr>
          <a:xfrm>
            <a:off x="9866376" y="2699237"/>
            <a:ext cx="1648663" cy="457200"/>
          </a:xfrm>
          <a:prstGeom prst="rect">
            <a:avLst/>
          </a:prstGeom>
          <a:noFill/>
          <a:ln/>
        </p:spPr>
        <p:txBody>
          <a:bodyPr wrap="square" lIns="0" tIns="0" rIns="0" bIns="0" rtlCol="0" anchor="t"/>
          <a:lstStyle/>
          <a:p>
            <a:pPr marL="0" indent="0">
              <a:buNone/>
            </a:pPr>
            <a:r>
              <a:rPr lang="en-US" sz="1100" dirty="0">
                <a:solidFill>
                  <a:srgbClr val="FDE3E3"/>
                </a:solidFill>
                <a:latin typeface="에이투지체 5 Medium"/>
                <a:ea typeface="에이투지체 5 Medium"/>
                <a:cs typeface="에이투지체 5 Medium"/>
              </a:rPr>
              <a:t>8월 108.4 동반 상승</a:t>
            </a:r>
            <a:endParaRPr lang="en-US" sz="1100" dirty="0"/>
          </a:p>
        </p:txBody>
      </p:sp>
      <p:sp>
        <p:nvSpPr>
          <p:cNvPr id="14" name="Shape 10"/>
          <p:cNvSpPr/>
          <p:nvPr/>
        </p:nvSpPr>
        <p:spPr>
          <a:xfrm>
            <a:off x="8321040" y="3422599"/>
            <a:ext cx="3413455" cy="1307592"/>
          </a:xfrm>
          <a:prstGeom prst="roundRect">
            <a:avLst>
              <a:gd name="adj" fmla="val 6993"/>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5" name="Text 11"/>
          <p:cNvSpPr txBox="1"/>
          <p:nvPr/>
        </p:nvSpPr>
        <p:spPr>
          <a:xfrm>
            <a:off x="8672381" y="3422599"/>
            <a:ext cx="1325880" cy="1307592"/>
          </a:xfrm>
          <a:prstGeom prst="rect">
            <a:avLst/>
          </a:prstGeom>
          <a:noFill/>
          <a:ln/>
        </p:spPr>
        <p:txBody>
          <a:bodyPr wrap="square" lIns="0" tIns="0" rIns="0" bIns="0" rtlCol="0" anchor="ctr"/>
          <a:lstStyle/>
          <a:p>
            <a:pPr marL="0" indent="0">
              <a:buNone/>
            </a:pPr>
            <a:r>
              <a:rPr lang="en-US" sz="3000" kern="0" spc="-90" dirty="0">
                <a:solidFill>
                  <a:srgbClr val="D62828"/>
                </a:solidFill>
                <a:latin typeface="에이투지체 5 Medium"/>
                <a:ea typeface="에이투지체 5 Medium"/>
                <a:cs typeface="에이투지체 5 Medium"/>
              </a:rPr>
              <a:t>86.8</a:t>
            </a:r>
            <a:endParaRPr lang="en-US" sz="3000" dirty="0"/>
          </a:p>
        </p:txBody>
      </p:sp>
      <p:sp>
        <p:nvSpPr>
          <p:cNvPr id="16" name="Text 12"/>
          <p:cNvSpPr txBox="1"/>
          <p:nvPr/>
        </p:nvSpPr>
        <p:spPr>
          <a:xfrm>
            <a:off x="9866376" y="3763388"/>
            <a:ext cx="1648663" cy="310896"/>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2월 최소</a:t>
            </a:r>
            <a:endParaRPr lang="en-US" sz="1400" dirty="0"/>
          </a:p>
        </p:txBody>
      </p:sp>
      <p:sp>
        <p:nvSpPr>
          <p:cNvPr id="17" name="Text 13"/>
          <p:cNvSpPr txBox="1"/>
          <p:nvPr/>
        </p:nvSpPr>
        <p:spPr>
          <a:xfrm>
            <a:off x="9866376" y="4110860"/>
            <a:ext cx="1648663" cy="457200"/>
          </a:xfrm>
          <a:prstGeom prst="rect">
            <a:avLst/>
          </a:prstGeom>
          <a:noFill/>
          <a:ln/>
        </p:spPr>
        <p:txBody>
          <a:bodyPr wrap="square" lIns="0" tIns="0" rIns="0" bIns="0" rtlCol="0" anchor="t"/>
          <a:lstStyle/>
          <a:p>
            <a:pPr marL="0" indent="0">
              <a:buNone/>
            </a:pPr>
            <a:r>
              <a:rPr lang="en-US" sz="1100" dirty="0">
                <a:solidFill>
                  <a:srgbClr val="45515E"/>
                </a:solidFill>
                <a:latin typeface="에이투지체 5 Medium"/>
                <a:ea typeface="에이투지체 5 Medium"/>
                <a:cs typeface="에이투지체 5 Medium"/>
              </a:rPr>
              <a:t>28일 월 길이 영향 포함</a:t>
            </a:r>
            <a:endParaRPr lang="en-US" sz="1100" dirty="0"/>
          </a:p>
        </p:txBody>
      </p:sp>
      <p:sp>
        <p:nvSpPr>
          <p:cNvPr id="18" name="Shape 14"/>
          <p:cNvSpPr/>
          <p:nvPr/>
        </p:nvSpPr>
        <p:spPr>
          <a:xfrm>
            <a:off x="8321040" y="4851806"/>
            <a:ext cx="3413455" cy="1307592"/>
          </a:xfrm>
          <a:prstGeom prst="roundRect">
            <a:avLst>
              <a:gd name="adj" fmla="val 6993"/>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9" name="Text 15"/>
          <p:cNvSpPr txBox="1"/>
          <p:nvPr/>
        </p:nvSpPr>
        <p:spPr>
          <a:xfrm>
            <a:off x="8672381" y="4851806"/>
            <a:ext cx="1325880" cy="1307592"/>
          </a:xfrm>
          <a:prstGeom prst="rect">
            <a:avLst/>
          </a:prstGeom>
          <a:noFill/>
          <a:ln/>
        </p:spPr>
        <p:txBody>
          <a:bodyPr wrap="square" lIns="0" tIns="0" rIns="0" bIns="0" rtlCol="0" anchor="ctr"/>
          <a:lstStyle/>
          <a:p>
            <a:pPr marL="0" indent="0">
              <a:buNone/>
            </a:pPr>
            <a:r>
              <a:rPr lang="en-US" sz="3000" kern="0" spc="-90" dirty="0">
                <a:solidFill>
                  <a:srgbClr val="D62828"/>
                </a:solidFill>
                <a:latin typeface="에이투지체 5 Medium"/>
                <a:ea typeface="에이투지체 5 Medium"/>
                <a:cs typeface="에이투지체 5 Medium"/>
              </a:rPr>
              <a:t>22%</a:t>
            </a:r>
            <a:endParaRPr lang="en-US" sz="3000" dirty="0"/>
          </a:p>
        </p:txBody>
      </p:sp>
      <p:sp>
        <p:nvSpPr>
          <p:cNvPr id="20" name="Text 16"/>
          <p:cNvSpPr txBox="1"/>
          <p:nvPr/>
        </p:nvSpPr>
        <p:spPr>
          <a:xfrm>
            <a:off x="9866376" y="5104674"/>
            <a:ext cx="1648663" cy="310896"/>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계절 효과 폭</a:t>
            </a:r>
            <a:endParaRPr lang="en-US" sz="1400" dirty="0"/>
          </a:p>
        </p:txBody>
      </p:sp>
      <p:sp>
        <p:nvSpPr>
          <p:cNvPr id="21" name="Text 17"/>
          <p:cNvSpPr txBox="1"/>
          <p:nvPr/>
        </p:nvSpPr>
        <p:spPr>
          <a:xfrm>
            <a:off x="9866376" y="5452146"/>
            <a:ext cx="1648663" cy="457200"/>
          </a:xfrm>
          <a:prstGeom prst="rect">
            <a:avLst/>
          </a:prstGeom>
          <a:noFill/>
          <a:ln/>
        </p:spPr>
        <p:txBody>
          <a:bodyPr wrap="square" lIns="0" tIns="0" rIns="0" bIns="0" rtlCol="0" anchor="t"/>
          <a:lstStyle/>
          <a:p>
            <a:pPr marL="0" indent="0">
              <a:lnSpc>
                <a:spcPct val="130000"/>
              </a:lnSpc>
              <a:buNone/>
            </a:pPr>
            <a:r>
              <a:rPr lang="en-US" sz="1100" dirty="0">
                <a:solidFill>
                  <a:srgbClr val="45515E"/>
                </a:solidFill>
                <a:latin typeface="에이투지체 5 Medium"/>
                <a:ea typeface="에이투지체 5 Medium"/>
                <a:cs typeface="에이투지체 5 Medium"/>
              </a:rPr>
              <a:t>5,835</a:t>
            </a:r>
            <a:r>
              <a:rPr lang="en-US" sz="1100" dirty="0" smtClean="0">
                <a:solidFill>
                  <a:srgbClr val="45515E"/>
                </a:solidFill>
                <a:latin typeface="에이투지체 5 Medium"/>
                <a:ea typeface="에이투지체 5 Medium"/>
                <a:cs typeface="에이투지체 5 Medium"/>
              </a:rPr>
              <a:t>건</a:t>
            </a:r>
          </a:p>
          <a:p>
            <a:pPr marL="0" indent="0">
              <a:lnSpc>
                <a:spcPct val="130000"/>
              </a:lnSpc>
              <a:buNone/>
            </a:pPr>
            <a:r>
              <a:rPr lang="en-US" sz="1100" dirty="0" err="1" smtClean="0">
                <a:solidFill>
                  <a:srgbClr val="45515E"/>
                </a:solidFill>
                <a:latin typeface="에이투지체 5 Medium"/>
                <a:ea typeface="에이투지체 5 Medium"/>
                <a:cs typeface="에이투지체 5 Medium"/>
              </a:rPr>
              <a:t>월평균</a:t>
            </a:r>
            <a:r>
              <a:rPr lang="en-US" sz="1100" dirty="0" smtClean="0">
                <a:solidFill>
                  <a:srgbClr val="45515E"/>
                </a:solidFill>
                <a:latin typeface="에이투지체 5 Medium"/>
                <a:ea typeface="에이투지체 5 Medium"/>
                <a:cs typeface="에이투지체 5 Medium"/>
              </a:rPr>
              <a:t> </a:t>
            </a:r>
            <a:r>
              <a:rPr lang="en-US" sz="1100" dirty="0">
                <a:solidFill>
                  <a:srgbClr val="45515E"/>
                </a:solidFill>
                <a:latin typeface="에이투지체 5 Medium"/>
                <a:ea typeface="에이투지체 5 Medium"/>
                <a:cs typeface="에이투지체 5 Medium"/>
              </a:rPr>
              <a:t>25,942</a:t>
            </a:r>
            <a:r>
              <a:rPr lang="en-US" sz="1100" dirty="0" smtClean="0">
                <a:solidFill>
                  <a:srgbClr val="45515E"/>
                </a:solidFill>
                <a:latin typeface="에이투지체 5 Medium"/>
                <a:ea typeface="에이투지체 5 Medium"/>
                <a:cs typeface="에이투지체 5 Medium"/>
              </a:rPr>
              <a:t>건</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181E25"/>
        </a:solidFill>
        <a:effectLst/>
      </p:bgPr>
    </p:bg>
    <p:spTree>
      <p:nvGrpSpPr>
        <p:cNvPr id="1" name=""/>
        <p:cNvGrpSpPr/>
        <p:nvPr/>
      </p:nvGrpSpPr>
      <p:grpSpPr>
        <a:xfrm>
          <a:off x="0" y="0"/>
          <a:ext cx="0" cy="0"/>
          <a:chOff x="0" y="0"/>
          <a:chExt cx="0" cy="0"/>
        </a:xfrm>
      </p:grpSpPr>
      <p:sp>
        <p:nvSpPr>
          <p:cNvPr id="2" name="Text 0"/>
          <p:cNvSpPr txBox="1"/>
          <p:nvPr/>
        </p:nvSpPr>
        <p:spPr>
          <a:xfrm>
            <a:off x="822960" y="1965960"/>
            <a:ext cx="3657600" cy="365760"/>
          </a:xfrm>
          <a:prstGeom prst="rect">
            <a:avLst/>
          </a:prstGeom>
          <a:noFill/>
          <a:ln/>
        </p:spPr>
        <p:txBody>
          <a:bodyPr wrap="square" lIns="0" tIns="0" rIns="0" bIns="0" rtlCol="0" anchor="ctr"/>
          <a:lstStyle/>
          <a:p>
            <a:pPr marL="0" indent="0">
              <a:buNone/>
            </a:pPr>
            <a:r>
              <a:rPr lang="en-US" sz="1400" dirty="0">
                <a:solidFill>
                  <a:srgbClr val="FFFFFF">
                    <a:alpha val="60000"/>
                  </a:srgbClr>
                </a:solidFill>
                <a:latin typeface="에이투지체 5 Medium"/>
                <a:ea typeface="에이투지체 5 Medium"/>
                <a:cs typeface="에이투지체 5 Medium"/>
              </a:rPr>
              <a:t>04</a:t>
            </a:r>
            <a:endParaRPr lang="en-US" sz="1400" dirty="0"/>
          </a:p>
        </p:txBody>
      </p:sp>
      <p:sp>
        <p:nvSpPr>
          <p:cNvPr id="3" name="Text 1"/>
          <p:cNvSpPr txBox="1"/>
          <p:nvPr/>
        </p:nvSpPr>
        <p:spPr>
          <a:xfrm>
            <a:off x="822960" y="2377440"/>
            <a:ext cx="10515600" cy="868680"/>
          </a:xfrm>
          <a:prstGeom prst="rect">
            <a:avLst/>
          </a:prstGeom>
          <a:noFill/>
          <a:ln/>
        </p:spPr>
        <p:txBody>
          <a:bodyPr wrap="square" lIns="0" tIns="0" rIns="0" bIns="0" rtlCol="0" anchor="ctr"/>
          <a:lstStyle/>
          <a:p>
            <a:pPr marL="0" indent="0">
              <a:buNone/>
            </a:pPr>
            <a:r>
              <a:rPr lang="en-US" sz="5600" b="1" dirty="0">
                <a:solidFill>
                  <a:srgbClr val="FFFFFF"/>
                </a:solidFill>
                <a:latin typeface="에이투지체 5 Medium"/>
                <a:ea typeface="에이투지체 5 Medium"/>
                <a:cs typeface="에이투지체 5 Medium"/>
              </a:rPr>
              <a:t>모델 개발</a:t>
            </a:r>
            <a:endParaRPr lang="en-US" sz="5600" dirty="0"/>
          </a:p>
        </p:txBody>
      </p:sp>
      <p:sp>
        <p:nvSpPr>
          <p:cNvPr id="4" name="Text 2"/>
          <p:cNvSpPr txBox="1"/>
          <p:nvPr/>
        </p:nvSpPr>
        <p:spPr>
          <a:xfrm>
            <a:off x="822960" y="3383280"/>
            <a:ext cx="10515600" cy="457200"/>
          </a:xfrm>
          <a:prstGeom prst="rect">
            <a:avLst/>
          </a:prstGeom>
          <a:noFill/>
          <a:ln/>
        </p:spPr>
        <p:txBody>
          <a:bodyPr wrap="square" lIns="0" tIns="0" rIns="0" bIns="0" rtlCol="0" anchor="ctr"/>
          <a:lstStyle/>
          <a:p>
            <a:pPr marL="0" indent="0">
              <a:buNone/>
            </a:pPr>
            <a:r>
              <a:rPr lang="en-US" sz="2200" dirty="0">
                <a:solidFill>
                  <a:srgbClr val="FFFFFF">
                    <a:alpha val="70000"/>
                  </a:srgbClr>
                </a:solidFill>
                <a:latin typeface="에이투지체 5 Medium"/>
                <a:ea typeface="에이투지체 5 Medium"/>
                <a:cs typeface="에이투지체 5 Medium"/>
              </a:rPr>
              <a:t>데이터 분할부터 특성 실험, 모델 비교, 최종 모델 선정까지</a:t>
            </a:r>
            <a:endParaRPr lang="en-US" sz="2200" dirty="0"/>
          </a:p>
        </p:txBody>
      </p:sp>
      <p:sp>
        <p:nvSpPr>
          <p:cNvPr id="5" name="Shape 3"/>
          <p:cNvSpPr/>
          <p:nvPr/>
        </p:nvSpPr>
        <p:spPr>
          <a:xfrm>
            <a:off x="822960" y="4434840"/>
            <a:ext cx="2499284" cy="0"/>
          </a:xfrm>
          <a:prstGeom prst="line">
            <a:avLst/>
          </a:prstGeom>
          <a:noFill/>
          <a:ln w="25400">
            <a:solidFill>
              <a:srgbClr val="D62828"/>
            </a:solidFill>
            <a:prstDash val="solid"/>
          </a:ln>
        </p:spPr>
        <p:txBody>
          <a:bodyPr/>
          <a:lstStyle/>
          <a:p>
            <a:endParaRPr/>
          </a:p>
        </p:txBody>
      </p:sp>
      <p:sp>
        <p:nvSpPr>
          <p:cNvPr id="6" name="Text 4"/>
          <p:cNvSpPr txBox="1"/>
          <p:nvPr/>
        </p:nvSpPr>
        <p:spPr>
          <a:xfrm>
            <a:off x="822960" y="4572000"/>
            <a:ext cx="2499284" cy="274320"/>
          </a:xfrm>
          <a:prstGeom prst="rect">
            <a:avLst/>
          </a:prstGeom>
          <a:noFill/>
          <a:ln/>
        </p:spPr>
        <p:txBody>
          <a:bodyPr wrap="square" lIns="0" tIns="0" rIns="0" bIns="0" rtlCol="0" anchor="ctr"/>
          <a:lstStyle/>
          <a:p>
            <a:pPr marL="0" indent="0">
              <a:buNone/>
            </a:pPr>
            <a:r>
              <a:rPr lang="en-US" sz="1200" b="1" dirty="0">
                <a:solidFill>
                  <a:srgbClr val="E87A7A"/>
                </a:solidFill>
                <a:latin typeface="에이투지체 5 Medium"/>
                <a:ea typeface="에이투지체 5 Medium"/>
                <a:cs typeface="에이투지체 5 Medium"/>
              </a:rPr>
              <a:t>01</a:t>
            </a:r>
            <a:endParaRPr lang="en-US" sz="1200" dirty="0"/>
          </a:p>
        </p:txBody>
      </p:sp>
      <p:sp>
        <p:nvSpPr>
          <p:cNvPr id="7" name="Text 5"/>
          <p:cNvSpPr txBox="1"/>
          <p:nvPr/>
        </p:nvSpPr>
        <p:spPr>
          <a:xfrm>
            <a:off x="822960" y="4864608"/>
            <a:ext cx="2499284"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예측 대상 및 분할</a:t>
            </a:r>
            <a:endParaRPr lang="en-US" sz="1500" dirty="0"/>
          </a:p>
        </p:txBody>
      </p:sp>
      <p:sp>
        <p:nvSpPr>
          <p:cNvPr id="8" name="Shape 6"/>
          <p:cNvSpPr/>
          <p:nvPr/>
        </p:nvSpPr>
        <p:spPr>
          <a:xfrm>
            <a:off x="3505124" y="4434840"/>
            <a:ext cx="2499284" cy="0"/>
          </a:xfrm>
          <a:prstGeom prst="line">
            <a:avLst/>
          </a:prstGeom>
          <a:noFill/>
          <a:ln w="25400">
            <a:solidFill>
              <a:srgbClr val="3A414B"/>
            </a:solidFill>
            <a:prstDash val="solid"/>
          </a:ln>
        </p:spPr>
        <p:txBody>
          <a:bodyPr/>
          <a:lstStyle/>
          <a:p>
            <a:endParaRPr/>
          </a:p>
        </p:txBody>
      </p:sp>
      <p:sp>
        <p:nvSpPr>
          <p:cNvPr id="9" name="Text 7"/>
          <p:cNvSpPr txBox="1"/>
          <p:nvPr/>
        </p:nvSpPr>
        <p:spPr>
          <a:xfrm>
            <a:off x="3505124" y="4572000"/>
            <a:ext cx="2499284"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02</a:t>
            </a:r>
            <a:endParaRPr lang="en-US" sz="1200" dirty="0"/>
          </a:p>
        </p:txBody>
      </p:sp>
      <p:sp>
        <p:nvSpPr>
          <p:cNvPr id="10" name="Text 8"/>
          <p:cNvSpPr txBox="1"/>
          <p:nvPr/>
        </p:nvSpPr>
        <p:spPr>
          <a:xfrm>
            <a:off x="3505124" y="4864608"/>
            <a:ext cx="2499284"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특성 실험</a:t>
            </a:r>
            <a:endParaRPr lang="en-US" sz="1500" dirty="0"/>
          </a:p>
        </p:txBody>
      </p:sp>
      <p:sp>
        <p:nvSpPr>
          <p:cNvPr id="11" name="Shape 9"/>
          <p:cNvSpPr/>
          <p:nvPr/>
        </p:nvSpPr>
        <p:spPr>
          <a:xfrm>
            <a:off x="6187288" y="4434840"/>
            <a:ext cx="2499284" cy="0"/>
          </a:xfrm>
          <a:prstGeom prst="line">
            <a:avLst/>
          </a:prstGeom>
          <a:noFill/>
          <a:ln w="25400">
            <a:solidFill>
              <a:srgbClr val="3A414B"/>
            </a:solidFill>
            <a:prstDash val="solid"/>
          </a:ln>
        </p:spPr>
        <p:txBody>
          <a:bodyPr/>
          <a:lstStyle/>
          <a:p>
            <a:endParaRPr/>
          </a:p>
        </p:txBody>
      </p:sp>
      <p:sp>
        <p:nvSpPr>
          <p:cNvPr id="12" name="Text 10"/>
          <p:cNvSpPr txBox="1"/>
          <p:nvPr/>
        </p:nvSpPr>
        <p:spPr>
          <a:xfrm>
            <a:off x="6187288" y="4572000"/>
            <a:ext cx="2499284"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03</a:t>
            </a:r>
            <a:endParaRPr lang="en-US" sz="1200" dirty="0"/>
          </a:p>
        </p:txBody>
      </p:sp>
      <p:sp>
        <p:nvSpPr>
          <p:cNvPr id="13" name="Text 11"/>
          <p:cNvSpPr txBox="1"/>
          <p:nvPr/>
        </p:nvSpPr>
        <p:spPr>
          <a:xfrm>
            <a:off x="6187288" y="4864608"/>
            <a:ext cx="2499284"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모델 비교</a:t>
            </a:r>
            <a:endParaRPr lang="en-US" sz="1500" dirty="0"/>
          </a:p>
        </p:txBody>
      </p:sp>
      <p:sp>
        <p:nvSpPr>
          <p:cNvPr id="14" name="Shape 12"/>
          <p:cNvSpPr/>
          <p:nvPr/>
        </p:nvSpPr>
        <p:spPr>
          <a:xfrm>
            <a:off x="8869451" y="4434840"/>
            <a:ext cx="2499284" cy="0"/>
          </a:xfrm>
          <a:prstGeom prst="line">
            <a:avLst/>
          </a:prstGeom>
          <a:noFill/>
          <a:ln w="25400">
            <a:solidFill>
              <a:srgbClr val="3A414B"/>
            </a:solidFill>
            <a:prstDash val="solid"/>
          </a:ln>
        </p:spPr>
        <p:txBody>
          <a:bodyPr/>
          <a:lstStyle/>
          <a:p>
            <a:endParaRPr/>
          </a:p>
        </p:txBody>
      </p:sp>
      <p:sp>
        <p:nvSpPr>
          <p:cNvPr id="15" name="Text 13"/>
          <p:cNvSpPr txBox="1"/>
          <p:nvPr/>
        </p:nvSpPr>
        <p:spPr>
          <a:xfrm>
            <a:off x="8869451" y="4572000"/>
            <a:ext cx="2499284"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04</a:t>
            </a:r>
            <a:endParaRPr lang="en-US" sz="1200" dirty="0"/>
          </a:p>
        </p:txBody>
      </p:sp>
      <p:sp>
        <p:nvSpPr>
          <p:cNvPr id="16" name="Text 14"/>
          <p:cNvSpPr txBox="1"/>
          <p:nvPr/>
        </p:nvSpPr>
        <p:spPr>
          <a:xfrm>
            <a:off x="8869451" y="4864608"/>
            <a:ext cx="2499284"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최종 모델 및 예측</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a:ea typeface="에이투지체 5 Medium"/>
                <a:cs typeface="에이투지체 5 Medium"/>
              </a:rPr>
              <a:t>예측 대상 및 데이터 분할</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시간순 3단계 분할: 학습 → 검증 (선택) → 평가 (확인)</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23</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(1장 · 4-1 · 5-3)</a:t>
            </a:r>
            <a:endParaRPr lang="en-US" sz="900" dirty="0"/>
          </a:p>
        </p:txBody>
      </p:sp>
      <p:sp>
        <p:nvSpPr>
          <p:cNvPr id="8" name="Shape 5"/>
          <p:cNvSpPr/>
          <p:nvPr/>
        </p:nvSpPr>
        <p:spPr>
          <a:xfrm>
            <a:off x="457200" y="1993392"/>
            <a:ext cx="11277295" cy="1051560"/>
          </a:xfrm>
          <a:prstGeom prst="roundRect">
            <a:avLst>
              <a:gd name="adj" fmla="val 8696"/>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9" name="Text 6"/>
          <p:cNvSpPr txBox="1"/>
          <p:nvPr/>
        </p:nvSpPr>
        <p:spPr>
          <a:xfrm>
            <a:off x="676656" y="2157984"/>
            <a:ext cx="1828800" cy="320040"/>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119 이송 건수</a:t>
            </a:r>
            <a:endParaRPr lang="en-US" sz="1400" dirty="0"/>
          </a:p>
        </p:txBody>
      </p:sp>
      <p:sp>
        <p:nvSpPr>
          <p:cNvPr id="10" name="Text 7"/>
          <p:cNvSpPr txBox="1"/>
          <p:nvPr/>
        </p:nvSpPr>
        <p:spPr>
          <a:xfrm>
            <a:off x="676656" y="2523744"/>
            <a:ext cx="1828800" cy="365760"/>
          </a:xfrm>
          <a:prstGeom prst="rect">
            <a:avLst/>
          </a:prstGeom>
          <a:noFill/>
          <a:ln/>
        </p:spPr>
        <p:txBody>
          <a:bodyPr wrap="square" lIns="0" tIns="0" rIns="0" bIns="0" rtlCol="0" anchor="ctr"/>
          <a:lstStyle/>
          <a:p>
            <a:pPr marL="0" indent="0">
              <a:buNone/>
            </a:pPr>
            <a:r>
              <a:rPr lang="en-US" sz="1000" dirty="0">
                <a:solidFill>
                  <a:srgbClr val="45515E"/>
                </a:solidFill>
                <a:latin typeface="에이투지체 5 Medium"/>
                <a:ea typeface="에이투지체 5 Medium"/>
                <a:cs typeface="에이투지체 5 Medium"/>
              </a:rPr>
              <a:t>자치구 × 월 · 6개월 연속 예측</a:t>
            </a:r>
            <a:endParaRPr lang="en-US" sz="1000" dirty="0"/>
          </a:p>
        </p:txBody>
      </p:sp>
      <p:sp>
        <p:nvSpPr>
          <p:cNvPr id="11" name="Shape 8"/>
          <p:cNvSpPr/>
          <p:nvPr/>
        </p:nvSpPr>
        <p:spPr>
          <a:xfrm>
            <a:off x="2606040" y="2176272"/>
            <a:ext cx="3694176" cy="685800"/>
          </a:xfrm>
          <a:prstGeom prst="roundRect">
            <a:avLst>
              <a:gd name="adj" fmla="val 8000"/>
            </a:avLst>
          </a:prstGeom>
          <a:solidFill>
            <a:srgbClr val="8E8E93"/>
          </a:solidFill>
          <a:ln w="12700">
            <a:solidFill>
              <a:srgbClr val="8E8E93"/>
            </a:solidFill>
            <a:prstDash val="solid"/>
          </a:ln>
        </p:spPr>
        <p:txBody>
          <a:bodyPr/>
          <a:lstStyle/>
          <a:p>
            <a:endParaRPr/>
          </a:p>
        </p:txBody>
      </p:sp>
      <p:sp>
        <p:nvSpPr>
          <p:cNvPr id="12" name="Text 9"/>
          <p:cNvSpPr txBox="1"/>
          <p:nvPr/>
        </p:nvSpPr>
        <p:spPr>
          <a:xfrm>
            <a:off x="2743200" y="2176272"/>
            <a:ext cx="548640" cy="685800"/>
          </a:xfrm>
          <a:prstGeom prst="rect">
            <a:avLst/>
          </a:prstGeom>
          <a:noFill/>
          <a:ln/>
        </p:spPr>
        <p:txBody>
          <a:bodyPr wrap="square" lIns="0" tIns="0" rIns="0" bIns="0" rtlCol="0" anchor="ctr"/>
          <a:lstStyle/>
          <a:p>
            <a:pPr marL="0" indent="0">
              <a:buNone/>
            </a:pPr>
            <a:r>
              <a:rPr lang="en-US" sz="1300" b="1" dirty="0">
                <a:solidFill>
                  <a:srgbClr val="FFFFFF"/>
                </a:solidFill>
                <a:latin typeface="에이투지체 5 Medium"/>
                <a:ea typeface="에이투지체 5 Medium"/>
                <a:cs typeface="에이투지체 5 Medium"/>
              </a:rPr>
              <a:t>학습</a:t>
            </a:r>
            <a:endParaRPr lang="en-US" sz="1300" dirty="0"/>
          </a:p>
        </p:txBody>
      </p:sp>
      <p:sp>
        <p:nvSpPr>
          <p:cNvPr id="13" name="Text 10"/>
          <p:cNvSpPr txBox="1"/>
          <p:nvPr/>
        </p:nvSpPr>
        <p:spPr>
          <a:xfrm>
            <a:off x="3291840" y="2176272"/>
            <a:ext cx="2916936" cy="685800"/>
          </a:xfrm>
          <a:prstGeom prst="rect">
            <a:avLst/>
          </a:prstGeom>
          <a:noFill/>
          <a:ln/>
        </p:spPr>
        <p:txBody>
          <a:bodyPr wrap="square" lIns="0" tIns="0" rIns="0" bIns="0" rtlCol="0" anchor="ctr"/>
          <a:lstStyle/>
          <a:p>
            <a:pPr marL="0" indent="0">
              <a:lnSpc>
                <a:spcPct val="120000"/>
              </a:lnSpc>
              <a:buNone/>
            </a:pPr>
            <a:r>
              <a:rPr lang="en-US" sz="1050" dirty="0">
                <a:solidFill>
                  <a:srgbClr val="FFFFFF"/>
                </a:solidFill>
                <a:latin typeface="에이투지체 5 Medium"/>
                <a:ea typeface="에이투지체 5 Medium"/>
                <a:cs typeface="에이투지체 5 Medium"/>
              </a:rPr>
              <a:t>2018.05 ~ 2024.12</a:t>
            </a:r>
            <a:endParaRPr lang="en-US" sz="1050" dirty="0"/>
          </a:p>
          <a:p>
            <a:pPr marL="0" indent="0">
              <a:lnSpc>
                <a:spcPct val="120000"/>
              </a:lnSpc>
              <a:buNone/>
            </a:pPr>
            <a:r>
              <a:rPr lang="en-US" sz="1050" dirty="0">
                <a:solidFill>
                  <a:srgbClr val="FFFFFF"/>
                </a:solidFill>
                <a:latin typeface="에이투지체 5 Medium"/>
                <a:ea typeface="에이투지체 5 Medium"/>
                <a:cs typeface="에이투지체 5 Medium"/>
              </a:rPr>
              <a:t>1,880행</a:t>
            </a:r>
            <a:endParaRPr lang="en-US" sz="1050" dirty="0"/>
          </a:p>
        </p:txBody>
      </p:sp>
      <p:sp>
        <p:nvSpPr>
          <p:cNvPr id="14" name="Shape 11"/>
          <p:cNvSpPr/>
          <p:nvPr/>
        </p:nvSpPr>
        <p:spPr>
          <a:xfrm>
            <a:off x="6355080" y="2176272"/>
            <a:ext cx="2551176" cy="685800"/>
          </a:xfrm>
          <a:prstGeom prst="roundRect">
            <a:avLst>
              <a:gd name="adj" fmla="val 8000"/>
            </a:avLst>
          </a:prstGeom>
          <a:solidFill>
            <a:srgbClr val="D62828"/>
          </a:solidFill>
          <a:ln w="12700">
            <a:solidFill>
              <a:srgbClr val="D62828"/>
            </a:solidFill>
            <a:prstDash val="solid"/>
          </a:ln>
        </p:spPr>
        <p:txBody>
          <a:bodyPr/>
          <a:lstStyle/>
          <a:p>
            <a:endParaRPr/>
          </a:p>
        </p:txBody>
      </p:sp>
      <p:sp>
        <p:nvSpPr>
          <p:cNvPr id="15" name="Text 12"/>
          <p:cNvSpPr txBox="1"/>
          <p:nvPr/>
        </p:nvSpPr>
        <p:spPr>
          <a:xfrm>
            <a:off x="6492240" y="2176272"/>
            <a:ext cx="548640" cy="685800"/>
          </a:xfrm>
          <a:prstGeom prst="rect">
            <a:avLst/>
          </a:prstGeom>
          <a:noFill/>
          <a:ln/>
        </p:spPr>
        <p:txBody>
          <a:bodyPr wrap="square" lIns="0" tIns="0" rIns="0" bIns="0" rtlCol="0" anchor="ctr"/>
          <a:lstStyle/>
          <a:p>
            <a:pPr marL="0" indent="0">
              <a:buNone/>
            </a:pPr>
            <a:r>
              <a:rPr lang="en-US" sz="1300" b="1" dirty="0">
                <a:solidFill>
                  <a:srgbClr val="FFFFFF"/>
                </a:solidFill>
                <a:latin typeface="에이투지체 5 Medium"/>
                <a:ea typeface="에이투지체 5 Medium"/>
                <a:cs typeface="에이투지체 5 Medium"/>
              </a:rPr>
              <a:t>검증</a:t>
            </a:r>
            <a:endParaRPr lang="en-US" sz="1300" dirty="0"/>
          </a:p>
        </p:txBody>
      </p:sp>
      <p:sp>
        <p:nvSpPr>
          <p:cNvPr id="16" name="Text 13"/>
          <p:cNvSpPr txBox="1"/>
          <p:nvPr/>
        </p:nvSpPr>
        <p:spPr>
          <a:xfrm>
            <a:off x="7040880" y="2176272"/>
            <a:ext cx="1773936" cy="685800"/>
          </a:xfrm>
          <a:prstGeom prst="rect">
            <a:avLst/>
          </a:prstGeom>
          <a:noFill/>
          <a:ln/>
        </p:spPr>
        <p:txBody>
          <a:bodyPr wrap="square" lIns="0" tIns="0" rIns="0" bIns="0" rtlCol="0" anchor="ctr"/>
          <a:lstStyle/>
          <a:p>
            <a:pPr marL="0" indent="0">
              <a:lnSpc>
                <a:spcPct val="120000"/>
              </a:lnSpc>
              <a:buNone/>
            </a:pPr>
            <a:r>
              <a:rPr lang="en-US" sz="1050" dirty="0">
                <a:solidFill>
                  <a:srgbClr val="FFFFFF"/>
                </a:solidFill>
                <a:latin typeface="에이투지체 5 Medium"/>
                <a:ea typeface="에이투지체 5 Medium"/>
                <a:cs typeface="에이투지체 5 Medium"/>
              </a:rPr>
              <a:t>2025.01 ~ 06</a:t>
            </a:r>
            <a:endParaRPr lang="en-US" sz="1050" dirty="0"/>
          </a:p>
          <a:p>
            <a:pPr marL="0" indent="0">
              <a:lnSpc>
                <a:spcPct val="120000"/>
              </a:lnSpc>
              <a:buNone/>
            </a:pPr>
            <a:r>
              <a:rPr lang="en-US" sz="1050" dirty="0">
                <a:solidFill>
                  <a:srgbClr val="FFFFFF"/>
                </a:solidFill>
                <a:latin typeface="에이투지체 5 Medium"/>
                <a:ea typeface="에이투지체 5 Medium"/>
                <a:cs typeface="에이투지체 5 Medium"/>
              </a:rPr>
              <a:t>150행</a:t>
            </a:r>
            <a:endParaRPr lang="en-US" sz="1050" dirty="0"/>
          </a:p>
        </p:txBody>
      </p:sp>
      <p:sp>
        <p:nvSpPr>
          <p:cNvPr id="17" name="Shape 14"/>
          <p:cNvSpPr/>
          <p:nvPr/>
        </p:nvSpPr>
        <p:spPr>
          <a:xfrm>
            <a:off x="8961120" y="2176272"/>
            <a:ext cx="2724912" cy="685800"/>
          </a:xfrm>
          <a:prstGeom prst="roundRect">
            <a:avLst>
              <a:gd name="adj" fmla="val 8000"/>
            </a:avLst>
          </a:prstGeom>
          <a:solidFill>
            <a:srgbClr val="45515E"/>
          </a:solidFill>
          <a:ln w="12700">
            <a:solidFill>
              <a:srgbClr val="45515E"/>
            </a:solidFill>
            <a:prstDash val="solid"/>
          </a:ln>
        </p:spPr>
        <p:txBody>
          <a:bodyPr/>
          <a:lstStyle/>
          <a:p>
            <a:endParaRPr/>
          </a:p>
        </p:txBody>
      </p:sp>
      <p:sp>
        <p:nvSpPr>
          <p:cNvPr id="18" name="Text 15"/>
          <p:cNvSpPr txBox="1"/>
          <p:nvPr/>
        </p:nvSpPr>
        <p:spPr>
          <a:xfrm>
            <a:off x="9098280" y="2176272"/>
            <a:ext cx="548640" cy="685800"/>
          </a:xfrm>
          <a:prstGeom prst="rect">
            <a:avLst/>
          </a:prstGeom>
          <a:noFill/>
          <a:ln/>
        </p:spPr>
        <p:txBody>
          <a:bodyPr wrap="square" lIns="0" tIns="0" rIns="0" bIns="0" rtlCol="0" anchor="ctr"/>
          <a:lstStyle/>
          <a:p>
            <a:pPr marL="0" indent="0">
              <a:buNone/>
            </a:pPr>
            <a:r>
              <a:rPr lang="en-US" sz="1300" b="1" dirty="0">
                <a:solidFill>
                  <a:srgbClr val="FFFFFF"/>
                </a:solidFill>
                <a:latin typeface="에이투지체 5 Medium"/>
                <a:ea typeface="에이투지체 5 Medium"/>
                <a:cs typeface="에이투지체 5 Medium"/>
              </a:rPr>
              <a:t>평가</a:t>
            </a:r>
            <a:endParaRPr lang="en-US" sz="1300" dirty="0"/>
          </a:p>
        </p:txBody>
      </p:sp>
      <p:sp>
        <p:nvSpPr>
          <p:cNvPr id="19" name="Text 16"/>
          <p:cNvSpPr txBox="1"/>
          <p:nvPr/>
        </p:nvSpPr>
        <p:spPr>
          <a:xfrm>
            <a:off x="9646920" y="2176272"/>
            <a:ext cx="1947672" cy="685800"/>
          </a:xfrm>
          <a:prstGeom prst="rect">
            <a:avLst/>
          </a:prstGeom>
          <a:noFill/>
          <a:ln/>
        </p:spPr>
        <p:txBody>
          <a:bodyPr wrap="square" lIns="0" tIns="0" rIns="0" bIns="0" rtlCol="0" anchor="ctr"/>
          <a:lstStyle/>
          <a:p>
            <a:pPr marL="0" indent="0">
              <a:lnSpc>
                <a:spcPct val="120000"/>
              </a:lnSpc>
              <a:buNone/>
            </a:pPr>
            <a:r>
              <a:rPr lang="en-US" sz="1050" dirty="0">
                <a:solidFill>
                  <a:srgbClr val="FFFFFF"/>
                </a:solidFill>
                <a:latin typeface="에이투지체 5 Medium"/>
                <a:ea typeface="에이투지체 5 Medium"/>
                <a:cs typeface="에이투지체 5 Medium"/>
              </a:rPr>
              <a:t>2025.07 ~ 12</a:t>
            </a:r>
            <a:endParaRPr lang="en-US" sz="1050" dirty="0"/>
          </a:p>
          <a:p>
            <a:pPr marL="0" indent="0">
              <a:lnSpc>
                <a:spcPct val="120000"/>
              </a:lnSpc>
              <a:buNone/>
            </a:pPr>
            <a:r>
              <a:rPr lang="en-US" sz="1050" dirty="0">
                <a:solidFill>
                  <a:srgbClr val="FFFFFF"/>
                </a:solidFill>
                <a:latin typeface="에이투지체 5 Medium"/>
                <a:ea typeface="에이투지체 5 Medium"/>
                <a:cs typeface="에이투지체 5 Medium"/>
              </a:rPr>
              <a:t>150행</a:t>
            </a:r>
            <a:endParaRPr lang="en-US" sz="1050" dirty="0"/>
          </a:p>
        </p:txBody>
      </p:sp>
      <p:sp>
        <p:nvSpPr>
          <p:cNvPr id="20" name="Shape 17"/>
          <p:cNvSpPr/>
          <p:nvPr/>
        </p:nvSpPr>
        <p:spPr>
          <a:xfrm>
            <a:off x="457200" y="3182112"/>
            <a:ext cx="11277295" cy="1051560"/>
          </a:xfrm>
          <a:prstGeom prst="roundRect">
            <a:avLst>
              <a:gd name="adj" fmla="val 8696"/>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1" name="Text 18"/>
          <p:cNvSpPr txBox="1"/>
          <p:nvPr/>
        </p:nvSpPr>
        <p:spPr>
          <a:xfrm>
            <a:off x="676656" y="3346704"/>
            <a:ext cx="1828800" cy="320040"/>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인구 밀집</a:t>
            </a:r>
            <a:endParaRPr lang="en-US" sz="1400" dirty="0"/>
          </a:p>
        </p:txBody>
      </p:sp>
      <p:sp>
        <p:nvSpPr>
          <p:cNvPr id="22" name="Text 19"/>
          <p:cNvSpPr txBox="1"/>
          <p:nvPr/>
        </p:nvSpPr>
        <p:spPr>
          <a:xfrm>
            <a:off x="676656" y="3712464"/>
            <a:ext cx="1828800" cy="365760"/>
          </a:xfrm>
          <a:prstGeom prst="rect">
            <a:avLst/>
          </a:prstGeom>
          <a:noFill/>
          <a:ln/>
        </p:spPr>
        <p:txBody>
          <a:bodyPr wrap="square" lIns="0" tIns="0" rIns="0" bIns="0" rtlCol="0" anchor="ctr"/>
          <a:lstStyle/>
          <a:p>
            <a:pPr marL="0" indent="0">
              <a:buNone/>
            </a:pPr>
            <a:r>
              <a:rPr lang="en-US" sz="1000" dirty="0">
                <a:solidFill>
                  <a:srgbClr val="45515E"/>
                </a:solidFill>
                <a:latin typeface="에이투지체 5 Medium"/>
                <a:ea typeface="에이투지체 5 Medium"/>
                <a:cs typeface="에이투지체 5 Medium"/>
              </a:rPr>
              <a:t>자치구 × 일 · 일별 예측</a:t>
            </a:r>
            <a:endParaRPr lang="en-US" sz="1000" dirty="0"/>
          </a:p>
        </p:txBody>
      </p:sp>
      <p:sp>
        <p:nvSpPr>
          <p:cNvPr id="23" name="Shape 20"/>
          <p:cNvSpPr/>
          <p:nvPr/>
        </p:nvSpPr>
        <p:spPr>
          <a:xfrm>
            <a:off x="2606040" y="3364992"/>
            <a:ext cx="3694176" cy="685800"/>
          </a:xfrm>
          <a:prstGeom prst="roundRect">
            <a:avLst>
              <a:gd name="adj" fmla="val 8000"/>
            </a:avLst>
          </a:prstGeom>
          <a:solidFill>
            <a:srgbClr val="8E8E93"/>
          </a:solidFill>
          <a:ln w="12700">
            <a:solidFill>
              <a:srgbClr val="8E8E93"/>
            </a:solidFill>
            <a:prstDash val="solid"/>
          </a:ln>
        </p:spPr>
        <p:txBody>
          <a:bodyPr/>
          <a:lstStyle/>
          <a:p>
            <a:endParaRPr/>
          </a:p>
        </p:txBody>
      </p:sp>
      <p:sp>
        <p:nvSpPr>
          <p:cNvPr id="24" name="Text 21"/>
          <p:cNvSpPr txBox="1"/>
          <p:nvPr/>
        </p:nvSpPr>
        <p:spPr>
          <a:xfrm>
            <a:off x="2743200" y="3364992"/>
            <a:ext cx="548640" cy="685800"/>
          </a:xfrm>
          <a:prstGeom prst="rect">
            <a:avLst/>
          </a:prstGeom>
          <a:noFill/>
          <a:ln/>
        </p:spPr>
        <p:txBody>
          <a:bodyPr wrap="square" lIns="0" tIns="0" rIns="0" bIns="0" rtlCol="0" anchor="ctr"/>
          <a:lstStyle/>
          <a:p>
            <a:pPr marL="0" indent="0">
              <a:buNone/>
            </a:pPr>
            <a:r>
              <a:rPr lang="en-US" sz="1300" b="1" dirty="0">
                <a:solidFill>
                  <a:srgbClr val="FFFFFF"/>
                </a:solidFill>
                <a:latin typeface="에이투지체 5 Medium"/>
                <a:ea typeface="에이투지체 5 Medium"/>
                <a:cs typeface="에이투지체 5 Medium"/>
              </a:rPr>
              <a:t>학습</a:t>
            </a:r>
            <a:endParaRPr lang="en-US" sz="1300" dirty="0"/>
          </a:p>
        </p:txBody>
      </p:sp>
      <p:sp>
        <p:nvSpPr>
          <p:cNvPr id="25" name="Text 22"/>
          <p:cNvSpPr txBox="1"/>
          <p:nvPr/>
        </p:nvSpPr>
        <p:spPr>
          <a:xfrm>
            <a:off x="3291840" y="3364992"/>
            <a:ext cx="2916936" cy="685800"/>
          </a:xfrm>
          <a:prstGeom prst="rect">
            <a:avLst/>
          </a:prstGeom>
          <a:noFill/>
          <a:ln/>
        </p:spPr>
        <p:txBody>
          <a:bodyPr wrap="square" lIns="0" tIns="0" rIns="0" bIns="0" rtlCol="0" anchor="ctr"/>
          <a:lstStyle/>
          <a:p>
            <a:pPr marL="0" indent="0">
              <a:lnSpc>
                <a:spcPct val="120000"/>
              </a:lnSpc>
              <a:buNone/>
            </a:pPr>
            <a:r>
              <a:rPr lang="en-US" sz="1050" dirty="0">
                <a:solidFill>
                  <a:srgbClr val="FFFFFF"/>
                </a:solidFill>
                <a:latin typeface="에이투지체 5 Medium"/>
                <a:ea typeface="에이투지체 5 Medium"/>
                <a:cs typeface="에이투지체 5 Medium"/>
              </a:rPr>
              <a:t>2018.04 ~ 2025.02</a:t>
            </a:r>
            <a:endParaRPr lang="en-US" sz="1050" dirty="0"/>
          </a:p>
          <a:p>
            <a:pPr marL="0" indent="0">
              <a:lnSpc>
                <a:spcPct val="120000"/>
              </a:lnSpc>
              <a:buNone/>
            </a:pPr>
            <a:r>
              <a:rPr lang="en-US" sz="1050" dirty="0">
                <a:solidFill>
                  <a:srgbClr val="FFFFFF"/>
                </a:solidFill>
                <a:latin typeface="에이투지체 5 Medium"/>
                <a:ea typeface="에이투지체 5 Medium"/>
                <a:cs typeface="에이투지체 5 Medium"/>
              </a:rPr>
              <a:t>62,200행</a:t>
            </a:r>
            <a:endParaRPr lang="en-US" sz="1050" dirty="0"/>
          </a:p>
        </p:txBody>
      </p:sp>
      <p:sp>
        <p:nvSpPr>
          <p:cNvPr id="26" name="Shape 23"/>
          <p:cNvSpPr/>
          <p:nvPr/>
        </p:nvSpPr>
        <p:spPr>
          <a:xfrm>
            <a:off x="6355080" y="3364992"/>
            <a:ext cx="2551176" cy="685800"/>
          </a:xfrm>
          <a:prstGeom prst="roundRect">
            <a:avLst>
              <a:gd name="adj" fmla="val 8000"/>
            </a:avLst>
          </a:prstGeom>
          <a:solidFill>
            <a:srgbClr val="D62828"/>
          </a:solidFill>
          <a:ln w="12700">
            <a:solidFill>
              <a:srgbClr val="D62828"/>
            </a:solidFill>
            <a:prstDash val="solid"/>
          </a:ln>
        </p:spPr>
        <p:txBody>
          <a:bodyPr/>
          <a:lstStyle/>
          <a:p>
            <a:endParaRPr/>
          </a:p>
        </p:txBody>
      </p:sp>
      <p:sp>
        <p:nvSpPr>
          <p:cNvPr id="27" name="Text 24"/>
          <p:cNvSpPr txBox="1"/>
          <p:nvPr/>
        </p:nvSpPr>
        <p:spPr>
          <a:xfrm>
            <a:off x="6492240" y="3364992"/>
            <a:ext cx="548640" cy="685800"/>
          </a:xfrm>
          <a:prstGeom prst="rect">
            <a:avLst/>
          </a:prstGeom>
          <a:noFill/>
          <a:ln/>
        </p:spPr>
        <p:txBody>
          <a:bodyPr wrap="square" lIns="0" tIns="0" rIns="0" bIns="0" rtlCol="0" anchor="ctr"/>
          <a:lstStyle/>
          <a:p>
            <a:pPr marL="0" indent="0">
              <a:buNone/>
            </a:pPr>
            <a:r>
              <a:rPr lang="en-US" sz="1300" b="1" dirty="0">
                <a:solidFill>
                  <a:srgbClr val="FFFFFF"/>
                </a:solidFill>
                <a:latin typeface="에이투지체 5 Medium"/>
                <a:ea typeface="에이투지체 5 Medium"/>
                <a:cs typeface="에이투지체 5 Medium"/>
              </a:rPr>
              <a:t>검증</a:t>
            </a:r>
            <a:endParaRPr lang="en-US" sz="1300" dirty="0"/>
          </a:p>
        </p:txBody>
      </p:sp>
      <p:sp>
        <p:nvSpPr>
          <p:cNvPr id="28" name="Text 25"/>
          <p:cNvSpPr txBox="1"/>
          <p:nvPr/>
        </p:nvSpPr>
        <p:spPr>
          <a:xfrm>
            <a:off x="7040880" y="3364992"/>
            <a:ext cx="1773936" cy="685800"/>
          </a:xfrm>
          <a:prstGeom prst="rect">
            <a:avLst/>
          </a:prstGeom>
          <a:noFill/>
          <a:ln/>
        </p:spPr>
        <p:txBody>
          <a:bodyPr wrap="square" lIns="0" tIns="0" rIns="0" bIns="0" rtlCol="0" anchor="ctr"/>
          <a:lstStyle/>
          <a:p>
            <a:pPr marL="0" indent="0">
              <a:lnSpc>
                <a:spcPct val="120000"/>
              </a:lnSpc>
              <a:buNone/>
            </a:pPr>
            <a:r>
              <a:rPr lang="en-US" sz="1050" dirty="0">
                <a:solidFill>
                  <a:srgbClr val="FFFFFF"/>
                </a:solidFill>
                <a:latin typeface="에이투지체 5 Medium"/>
                <a:ea typeface="에이투지체 5 Medium"/>
                <a:cs typeface="에이투지체 5 Medium"/>
              </a:rPr>
              <a:t>2025.02 ~ 07</a:t>
            </a:r>
            <a:endParaRPr lang="en-US" sz="1050" dirty="0"/>
          </a:p>
          <a:p>
            <a:pPr marL="0" indent="0">
              <a:lnSpc>
                <a:spcPct val="120000"/>
              </a:lnSpc>
              <a:buNone/>
            </a:pPr>
            <a:r>
              <a:rPr lang="en-US" sz="1050" dirty="0">
                <a:solidFill>
                  <a:srgbClr val="FFFFFF"/>
                </a:solidFill>
                <a:latin typeface="에이투지체 5 Medium"/>
                <a:ea typeface="에이투지체 5 Medium"/>
                <a:cs typeface="에이투지체 5 Medium"/>
              </a:rPr>
              <a:t>4,500행</a:t>
            </a:r>
            <a:endParaRPr lang="en-US" sz="1050" dirty="0"/>
          </a:p>
        </p:txBody>
      </p:sp>
      <p:sp>
        <p:nvSpPr>
          <p:cNvPr id="29" name="Shape 26"/>
          <p:cNvSpPr/>
          <p:nvPr/>
        </p:nvSpPr>
        <p:spPr>
          <a:xfrm>
            <a:off x="8961120" y="3364992"/>
            <a:ext cx="2724912" cy="685800"/>
          </a:xfrm>
          <a:prstGeom prst="roundRect">
            <a:avLst>
              <a:gd name="adj" fmla="val 8000"/>
            </a:avLst>
          </a:prstGeom>
          <a:solidFill>
            <a:srgbClr val="45515E"/>
          </a:solidFill>
          <a:ln w="12700">
            <a:solidFill>
              <a:srgbClr val="45515E"/>
            </a:solidFill>
            <a:prstDash val="solid"/>
          </a:ln>
        </p:spPr>
        <p:txBody>
          <a:bodyPr/>
          <a:lstStyle/>
          <a:p>
            <a:endParaRPr/>
          </a:p>
        </p:txBody>
      </p:sp>
      <p:sp>
        <p:nvSpPr>
          <p:cNvPr id="30" name="Text 27"/>
          <p:cNvSpPr txBox="1"/>
          <p:nvPr/>
        </p:nvSpPr>
        <p:spPr>
          <a:xfrm>
            <a:off x="9098280" y="3364992"/>
            <a:ext cx="548640" cy="685800"/>
          </a:xfrm>
          <a:prstGeom prst="rect">
            <a:avLst/>
          </a:prstGeom>
          <a:noFill/>
          <a:ln/>
        </p:spPr>
        <p:txBody>
          <a:bodyPr wrap="square" lIns="0" tIns="0" rIns="0" bIns="0" rtlCol="0" anchor="ctr"/>
          <a:lstStyle/>
          <a:p>
            <a:pPr marL="0" indent="0">
              <a:buNone/>
            </a:pPr>
            <a:r>
              <a:rPr lang="en-US" sz="1300" b="1" dirty="0">
                <a:solidFill>
                  <a:srgbClr val="FFFFFF"/>
                </a:solidFill>
                <a:latin typeface="에이투지체 5 Medium"/>
                <a:ea typeface="에이투지체 5 Medium"/>
                <a:cs typeface="에이투지체 5 Medium"/>
              </a:rPr>
              <a:t>평가</a:t>
            </a:r>
            <a:endParaRPr lang="en-US" sz="1300" dirty="0"/>
          </a:p>
        </p:txBody>
      </p:sp>
      <p:sp>
        <p:nvSpPr>
          <p:cNvPr id="31" name="Text 28"/>
          <p:cNvSpPr txBox="1"/>
          <p:nvPr/>
        </p:nvSpPr>
        <p:spPr>
          <a:xfrm>
            <a:off x="9646920" y="3364992"/>
            <a:ext cx="1947672" cy="685800"/>
          </a:xfrm>
          <a:prstGeom prst="rect">
            <a:avLst/>
          </a:prstGeom>
          <a:noFill/>
          <a:ln/>
        </p:spPr>
        <p:txBody>
          <a:bodyPr wrap="square" lIns="0" tIns="0" rIns="0" bIns="0" rtlCol="0" anchor="ctr"/>
          <a:lstStyle/>
          <a:p>
            <a:pPr marL="0" indent="0">
              <a:lnSpc>
                <a:spcPct val="120000"/>
              </a:lnSpc>
              <a:buNone/>
            </a:pPr>
            <a:r>
              <a:rPr lang="en-US" sz="1050" dirty="0">
                <a:solidFill>
                  <a:srgbClr val="FFFFFF"/>
                </a:solidFill>
                <a:latin typeface="에이투지체 5 Medium"/>
                <a:ea typeface="에이투지체 5 Medium"/>
                <a:cs typeface="에이투지체 5 Medium"/>
              </a:rPr>
              <a:t>2025.08 ~ 2026.07</a:t>
            </a:r>
            <a:endParaRPr lang="en-US" sz="1050" dirty="0"/>
          </a:p>
          <a:p>
            <a:pPr marL="0" indent="0">
              <a:lnSpc>
                <a:spcPct val="120000"/>
              </a:lnSpc>
              <a:buNone/>
            </a:pPr>
            <a:r>
              <a:rPr lang="en-US" sz="1050" dirty="0">
                <a:solidFill>
                  <a:srgbClr val="FFFFFF"/>
                </a:solidFill>
                <a:latin typeface="에이투지체 5 Medium"/>
                <a:ea typeface="에이투지체 5 Medium"/>
                <a:cs typeface="에이투지체 5 Medium"/>
              </a:rPr>
              <a:t>9,125행</a:t>
            </a:r>
            <a:endParaRPr lang="en-US" sz="1050" dirty="0"/>
          </a:p>
        </p:txBody>
      </p:sp>
      <p:sp>
        <p:nvSpPr>
          <p:cNvPr id="32" name="Shape 29"/>
          <p:cNvSpPr/>
          <p:nvPr/>
        </p:nvSpPr>
        <p:spPr>
          <a:xfrm>
            <a:off x="457200" y="4361688"/>
            <a:ext cx="3637178"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33" name="Shape 30"/>
          <p:cNvSpPr/>
          <p:nvPr/>
        </p:nvSpPr>
        <p:spPr>
          <a:xfrm>
            <a:off x="1589989" y="4544568"/>
            <a:ext cx="1371600" cy="274320"/>
          </a:xfrm>
          <a:prstGeom prst="roundRect">
            <a:avLst>
              <a:gd name="adj" fmla="val 50000"/>
            </a:avLst>
          </a:prstGeom>
          <a:solidFill>
            <a:srgbClr val="F2F3F5"/>
          </a:solidFill>
          <a:ln w="12700">
            <a:solidFill>
              <a:srgbClr val="F2F3F5"/>
            </a:solidFill>
            <a:prstDash val="solid"/>
          </a:ln>
        </p:spPr>
        <p:txBody>
          <a:bodyPr/>
          <a:lstStyle/>
          <a:p>
            <a:endParaRPr/>
          </a:p>
        </p:txBody>
      </p:sp>
      <p:sp>
        <p:nvSpPr>
          <p:cNvPr id="34" name="Text 31"/>
          <p:cNvSpPr txBox="1"/>
          <p:nvPr/>
        </p:nvSpPr>
        <p:spPr>
          <a:xfrm>
            <a:off x="1589989" y="4544568"/>
            <a:ext cx="1371600" cy="274320"/>
          </a:xfrm>
          <a:prstGeom prst="rect">
            <a:avLst/>
          </a:prstGeom>
          <a:noFill/>
          <a:ln/>
        </p:spPr>
        <p:txBody>
          <a:bodyPr wrap="square" lIns="0" tIns="0" rIns="0" bIns="0" rtlCol="0" anchor="ctr"/>
          <a:lstStyle/>
          <a:p>
            <a:pPr marL="0" indent="0" algn="ctr">
              <a:buNone/>
            </a:pPr>
            <a:r>
              <a:rPr lang="en-US" sz="1050" b="1" dirty="0">
                <a:solidFill>
                  <a:srgbClr val="45515E"/>
                </a:solidFill>
                <a:latin typeface="에이투지체 5 Medium"/>
                <a:ea typeface="에이투지체 5 Medium"/>
                <a:cs typeface="에이투지체 5 Medium"/>
              </a:rPr>
              <a:t>학습 데이터</a:t>
            </a:r>
            <a:endParaRPr lang="en-US" sz="1050" dirty="0"/>
          </a:p>
        </p:txBody>
      </p:sp>
      <p:sp>
        <p:nvSpPr>
          <p:cNvPr id="35" name="Text 32"/>
          <p:cNvSpPr txBox="1"/>
          <p:nvPr/>
        </p:nvSpPr>
        <p:spPr>
          <a:xfrm>
            <a:off x="676656" y="4956048"/>
            <a:ext cx="3198266" cy="411480"/>
          </a:xfrm>
          <a:prstGeom prst="rect">
            <a:avLst/>
          </a:prstGeom>
          <a:noFill/>
          <a:ln/>
        </p:spPr>
        <p:txBody>
          <a:bodyPr wrap="square" lIns="0" tIns="0" rIns="0" bIns="0" rtlCol="0" anchor="ctr"/>
          <a:lstStyle/>
          <a:p>
            <a:pPr marL="0" indent="0" algn="ctr">
              <a:buNone/>
            </a:pPr>
            <a:r>
              <a:rPr lang="en-US" sz="2000" b="1" dirty="0">
                <a:solidFill>
                  <a:srgbClr val="222222"/>
                </a:solidFill>
                <a:latin typeface="에이투지체 5 Medium"/>
                <a:ea typeface="에이투지체 5 Medium"/>
                <a:cs typeface="에이투지체 5 Medium"/>
              </a:rPr>
              <a:t>모델 학습</a:t>
            </a:r>
            <a:endParaRPr lang="en-US" sz="2000" dirty="0"/>
          </a:p>
        </p:txBody>
      </p:sp>
      <p:sp>
        <p:nvSpPr>
          <p:cNvPr id="36" name="Shape 33"/>
          <p:cNvSpPr/>
          <p:nvPr/>
        </p:nvSpPr>
        <p:spPr>
          <a:xfrm>
            <a:off x="676656" y="5504688"/>
            <a:ext cx="3198266" cy="0"/>
          </a:xfrm>
          <a:prstGeom prst="line">
            <a:avLst/>
          </a:prstGeom>
          <a:noFill/>
          <a:ln w="9525">
            <a:solidFill>
              <a:srgbClr val="E5E7EB"/>
            </a:solidFill>
            <a:prstDash val="solid"/>
          </a:ln>
        </p:spPr>
        <p:txBody>
          <a:bodyPr/>
          <a:lstStyle/>
          <a:p>
            <a:endParaRPr/>
          </a:p>
        </p:txBody>
      </p:sp>
      <p:sp>
        <p:nvSpPr>
          <p:cNvPr id="37" name="Text 34"/>
          <p:cNvSpPr txBox="1"/>
          <p:nvPr/>
        </p:nvSpPr>
        <p:spPr>
          <a:xfrm>
            <a:off x="676656" y="5596128"/>
            <a:ext cx="3198266" cy="457200"/>
          </a:xfrm>
          <a:prstGeom prst="rect">
            <a:avLst/>
          </a:prstGeom>
          <a:noFill/>
          <a:ln/>
        </p:spPr>
        <p:txBody>
          <a:bodyPr wrap="square" lIns="0" tIns="0" rIns="0" bIns="0" rtlCol="0" anchor="ctr"/>
          <a:lstStyle/>
          <a:p>
            <a:pPr marL="0" indent="0" algn="ctr">
              <a:buNone/>
            </a:pPr>
            <a:r>
              <a:rPr lang="en-US" sz="1100" dirty="0">
                <a:solidFill>
                  <a:srgbClr val="45515E"/>
                </a:solidFill>
                <a:latin typeface="에이투지체 5 Medium"/>
                <a:ea typeface="에이투지체 5 Medium"/>
                <a:cs typeface="에이투지체 5 Medium"/>
              </a:rPr>
              <a:t>연관성 분석 · 변수 선택도 학습 기간만 사용</a:t>
            </a:r>
            <a:endParaRPr lang="en-US" sz="1100" dirty="0"/>
          </a:p>
        </p:txBody>
      </p:sp>
      <p:sp>
        <p:nvSpPr>
          <p:cNvPr id="38" name="Shape 35"/>
          <p:cNvSpPr/>
          <p:nvPr/>
        </p:nvSpPr>
        <p:spPr>
          <a:xfrm>
            <a:off x="4277258" y="4361688"/>
            <a:ext cx="3637178" cy="1828800"/>
          </a:xfrm>
          <a:prstGeom prst="roundRect">
            <a:avLst>
              <a:gd name="adj" fmla="val 7000"/>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txBody>
          <a:bodyPr/>
          <a:lstStyle/>
          <a:p>
            <a:endParaRPr/>
          </a:p>
        </p:txBody>
      </p:sp>
      <p:sp>
        <p:nvSpPr>
          <p:cNvPr id="39" name="Shape 36"/>
          <p:cNvSpPr/>
          <p:nvPr/>
        </p:nvSpPr>
        <p:spPr>
          <a:xfrm>
            <a:off x="5410048" y="4544568"/>
            <a:ext cx="1371600" cy="274320"/>
          </a:xfrm>
          <a:prstGeom prst="roundRect">
            <a:avLst>
              <a:gd name="adj" fmla="val 50000"/>
            </a:avLst>
          </a:prstGeom>
          <a:solidFill>
            <a:srgbClr val="FDE3E3"/>
          </a:solidFill>
          <a:ln w="12700">
            <a:solidFill>
              <a:srgbClr val="FDE3E3"/>
            </a:solidFill>
            <a:prstDash val="solid"/>
          </a:ln>
        </p:spPr>
        <p:txBody>
          <a:bodyPr/>
          <a:lstStyle/>
          <a:p>
            <a:endParaRPr/>
          </a:p>
        </p:txBody>
      </p:sp>
      <p:sp>
        <p:nvSpPr>
          <p:cNvPr id="40" name="Text 37"/>
          <p:cNvSpPr txBox="1"/>
          <p:nvPr/>
        </p:nvSpPr>
        <p:spPr>
          <a:xfrm>
            <a:off x="5410048" y="4544568"/>
            <a:ext cx="1371600" cy="274320"/>
          </a:xfrm>
          <a:prstGeom prst="rect">
            <a:avLst/>
          </a:prstGeom>
          <a:noFill/>
          <a:ln/>
        </p:spPr>
        <p:txBody>
          <a:bodyPr wrap="square" lIns="0" tIns="0" rIns="0" bIns="0" rtlCol="0" anchor="ctr"/>
          <a:lstStyle/>
          <a:p>
            <a:pPr marL="0" indent="0" algn="ctr">
              <a:buNone/>
            </a:pPr>
            <a:r>
              <a:rPr lang="en-US" sz="1050" b="1" dirty="0">
                <a:solidFill>
                  <a:srgbClr val="8A1414"/>
                </a:solidFill>
                <a:latin typeface="에이투지체 5 Medium"/>
                <a:ea typeface="에이투지체 5 Medium"/>
                <a:cs typeface="에이투지체 5 Medium"/>
              </a:rPr>
              <a:t>검증 데이터</a:t>
            </a:r>
            <a:endParaRPr lang="en-US" sz="1050" dirty="0"/>
          </a:p>
        </p:txBody>
      </p:sp>
      <p:sp>
        <p:nvSpPr>
          <p:cNvPr id="41" name="Text 38"/>
          <p:cNvSpPr txBox="1"/>
          <p:nvPr/>
        </p:nvSpPr>
        <p:spPr>
          <a:xfrm>
            <a:off x="4496714" y="4956048"/>
            <a:ext cx="3198266"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에이투지체 5 Medium"/>
                <a:ea typeface="에이투지체 5 Medium"/>
                <a:cs typeface="에이투지체 5 Medium"/>
              </a:rPr>
              <a:t>특성 · 설정 · 모델 선택</a:t>
            </a:r>
            <a:endParaRPr lang="en-US" sz="2000" dirty="0"/>
          </a:p>
        </p:txBody>
      </p:sp>
      <p:sp>
        <p:nvSpPr>
          <p:cNvPr id="42" name="Shape 39"/>
          <p:cNvSpPr/>
          <p:nvPr/>
        </p:nvSpPr>
        <p:spPr>
          <a:xfrm>
            <a:off x="4496714" y="5504688"/>
            <a:ext cx="3198266" cy="0"/>
          </a:xfrm>
          <a:prstGeom prst="line">
            <a:avLst/>
          </a:prstGeom>
          <a:noFill/>
          <a:ln w="9525">
            <a:solidFill>
              <a:srgbClr val="E87A7A"/>
            </a:solidFill>
            <a:prstDash val="solid"/>
          </a:ln>
        </p:spPr>
        <p:txBody>
          <a:bodyPr/>
          <a:lstStyle/>
          <a:p>
            <a:endParaRPr/>
          </a:p>
        </p:txBody>
      </p:sp>
      <p:sp>
        <p:nvSpPr>
          <p:cNvPr id="43" name="Text 40"/>
          <p:cNvSpPr txBox="1"/>
          <p:nvPr/>
        </p:nvSpPr>
        <p:spPr>
          <a:xfrm>
            <a:off x="4496714" y="5596128"/>
            <a:ext cx="3198266" cy="457200"/>
          </a:xfrm>
          <a:prstGeom prst="rect">
            <a:avLst/>
          </a:prstGeom>
          <a:noFill/>
          <a:ln/>
        </p:spPr>
        <p:txBody>
          <a:bodyPr wrap="square" lIns="0" tIns="0" rIns="0" bIns="0" rtlCol="0" anchor="ctr"/>
          <a:lstStyle/>
          <a:p>
            <a:pPr marL="0" indent="0" algn="ctr">
              <a:buNone/>
            </a:pPr>
            <a:r>
              <a:rPr lang="en-US" sz="1100" dirty="0">
                <a:solidFill>
                  <a:srgbClr val="FDE3E3"/>
                </a:solidFill>
                <a:latin typeface="에이투지체 5 Medium"/>
                <a:ea typeface="에이투지체 5 Medium"/>
                <a:cs typeface="에이투지체 5 Medium"/>
              </a:rPr>
              <a:t>특성 조합, 달력 설정, 모델 7종 비교에만 사용</a:t>
            </a:r>
            <a:endParaRPr lang="en-US" sz="1100" dirty="0"/>
          </a:p>
        </p:txBody>
      </p:sp>
      <p:sp>
        <p:nvSpPr>
          <p:cNvPr id="44" name="Shape 41"/>
          <p:cNvSpPr/>
          <p:nvPr/>
        </p:nvSpPr>
        <p:spPr>
          <a:xfrm>
            <a:off x="8097317" y="4361688"/>
            <a:ext cx="3637178"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45" name="Shape 42"/>
          <p:cNvSpPr/>
          <p:nvPr/>
        </p:nvSpPr>
        <p:spPr>
          <a:xfrm>
            <a:off x="9230106" y="4544568"/>
            <a:ext cx="1371600" cy="274320"/>
          </a:xfrm>
          <a:prstGeom prst="roundRect">
            <a:avLst>
              <a:gd name="adj" fmla="val 50000"/>
            </a:avLst>
          </a:prstGeom>
          <a:solidFill>
            <a:srgbClr val="F2F3F5"/>
          </a:solidFill>
          <a:ln w="12700">
            <a:solidFill>
              <a:srgbClr val="F2F3F5"/>
            </a:solidFill>
            <a:prstDash val="solid"/>
          </a:ln>
        </p:spPr>
        <p:txBody>
          <a:bodyPr/>
          <a:lstStyle/>
          <a:p>
            <a:endParaRPr/>
          </a:p>
        </p:txBody>
      </p:sp>
      <p:sp>
        <p:nvSpPr>
          <p:cNvPr id="46" name="Text 43"/>
          <p:cNvSpPr txBox="1"/>
          <p:nvPr/>
        </p:nvSpPr>
        <p:spPr>
          <a:xfrm>
            <a:off x="9230106" y="4544568"/>
            <a:ext cx="1371600" cy="274320"/>
          </a:xfrm>
          <a:prstGeom prst="rect">
            <a:avLst/>
          </a:prstGeom>
          <a:noFill/>
          <a:ln/>
        </p:spPr>
        <p:txBody>
          <a:bodyPr wrap="square" lIns="0" tIns="0" rIns="0" bIns="0" rtlCol="0" anchor="ctr"/>
          <a:lstStyle/>
          <a:p>
            <a:pPr marL="0" indent="0" algn="ctr">
              <a:buNone/>
            </a:pPr>
            <a:r>
              <a:rPr lang="en-US" sz="1050" b="1" dirty="0">
                <a:solidFill>
                  <a:srgbClr val="45515E"/>
                </a:solidFill>
                <a:latin typeface="에이투지체 5 Medium"/>
                <a:ea typeface="에이투지체 5 Medium"/>
                <a:cs typeface="에이투지체 5 Medium"/>
              </a:rPr>
              <a:t>평가 데이터</a:t>
            </a:r>
            <a:endParaRPr lang="en-US" sz="1050" dirty="0"/>
          </a:p>
        </p:txBody>
      </p:sp>
      <p:sp>
        <p:nvSpPr>
          <p:cNvPr id="47" name="Text 44"/>
          <p:cNvSpPr txBox="1"/>
          <p:nvPr/>
        </p:nvSpPr>
        <p:spPr>
          <a:xfrm>
            <a:off x="8316773" y="4956048"/>
            <a:ext cx="3198266" cy="411480"/>
          </a:xfrm>
          <a:prstGeom prst="rect">
            <a:avLst/>
          </a:prstGeom>
          <a:noFill/>
          <a:ln/>
        </p:spPr>
        <p:txBody>
          <a:bodyPr wrap="square" lIns="0" tIns="0" rIns="0" bIns="0" rtlCol="0" anchor="ctr"/>
          <a:lstStyle/>
          <a:p>
            <a:pPr marL="0" indent="0" algn="ctr">
              <a:buNone/>
            </a:pPr>
            <a:r>
              <a:rPr lang="en-US" sz="2000" b="1" dirty="0">
                <a:solidFill>
                  <a:srgbClr val="222222"/>
                </a:solidFill>
                <a:latin typeface="에이투지체 5 Medium"/>
                <a:ea typeface="에이투지체 5 Medium"/>
                <a:cs typeface="에이투지체 5 Medium"/>
              </a:rPr>
              <a:t>최종 성능 확인</a:t>
            </a:r>
            <a:endParaRPr lang="en-US" sz="2000" dirty="0"/>
          </a:p>
        </p:txBody>
      </p:sp>
      <p:sp>
        <p:nvSpPr>
          <p:cNvPr id="48" name="Shape 45"/>
          <p:cNvSpPr/>
          <p:nvPr/>
        </p:nvSpPr>
        <p:spPr>
          <a:xfrm>
            <a:off x="8316773" y="5504688"/>
            <a:ext cx="3198266" cy="0"/>
          </a:xfrm>
          <a:prstGeom prst="line">
            <a:avLst/>
          </a:prstGeom>
          <a:noFill/>
          <a:ln w="9525">
            <a:solidFill>
              <a:srgbClr val="E5E7EB"/>
            </a:solidFill>
            <a:prstDash val="solid"/>
          </a:ln>
        </p:spPr>
        <p:txBody>
          <a:bodyPr/>
          <a:lstStyle/>
          <a:p>
            <a:endParaRPr/>
          </a:p>
        </p:txBody>
      </p:sp>
      <p:sp>
        <p:nvSpPr>
          <p:cNvPr id="49" name="Text 46"/>
          <p:cNvSpPr txBox="1"/>
          <p:nvPr/>
        </p:nvSpPr>
        <p:spPr>
          <a:xfrm>
            <a:off x="8316773" y="5596128"/>
            <a:ext cx="3198266" cy="457200"/>
          </a:xfrm>
          <a:prstGeom prst="rect">
            <a:avLst/>
          </a:prstGeom>
          <a:noFill/>
          <a:ln/>
        </p:spPr>
        <p:txBody>
          <a:bodyPr wrap="square" lIns="0" tIns="0" rIns="0" bIns="0" rtlCol="0" anchor="ctr"/>
          <a:lstStyle/>
          <a:p>
            <a:pPr marL="0" indent="0" algn="ctr">
              <a:buNone/>
            </a:pPr>
            <a:r>
              <a:rPr lang="en-US" sz="1100" dirty="0">
                <a:solidFill>
                  <a:srgbClr val="45515E"/>
                </a:solidFill>
                <a:latin typeface="에이투지체 5 Medium"/>
                <a:ea typeface="에이투지체 5 Medium"/>
                <a:cs typeface="에이투지체 5 Medium"/>
              </a:rPr>
              <a:t>선택 완료 후 일반화 성능 확인에만 사용</a:t>
            </a:r>
            <a:endParaRPr lang="en-US" sz="11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a:ea typeface="에이투지체 5 Medium"/>
                <a:cs typeface="에이투지체 5 Medium"/>
              </a:rPr>
              <a:t>인구 특성 추가 실험</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상관관계 ≠ 성능 향상 — 5개 입력 조합의 검증 정확도 비교</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24</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(3-1 · 3-2 · 3-3)</a:t>
            </a:r>
            <a:endParaRPr lang="en-US" sz="900" dirty="0"/>
          </a:p>
        </p:txBody>
      </p:sp>
      <p:sp>
        <p:nvSpPr>
          <p:cNvPr id="8" name="Shape 5"/>
          <p:cNvSpPr/>
          <p:nvPr/>
        </p:nvSpPr>
        <p:spPr>
          <a:xfrm>
            <a:off x="457200" y="1993392"/>
            <a:ext cx="3291840" cy="2642616"/>
          </a:xfrm>
          <a:prstGeom prst="roundRect">
            <a:avLst>
              <a:gd name="adj" fmla="val 346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9" name="Text 6"/>
          <p:cNvSpPr txBox="1"/>
          <p:nvPr/>
        </p:nvSpPr>
        <p:spPr>
          <a:xfrm>
            <a:off x="676656" y="2157984"/>
            <a:ext cx="2852928"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입력 조합</a:t>
            </a:r>
            <a:endParaRPr lang="en-US" sz="1800" dirty="0"/>
          </a:p>
        </p:txBody>
      </p:sp>
      <p:sp>
        <p:nvSpPr>
          <p:cNvPr id="10" name="Shape 7"/>
          <p:cNvSpPr/>
          <p:nvPr/>
        </p:nvSpPr>
        <p:spPr>
          <a:xfrm>
            <a:off x="676656" y="2560320"/>
            <a:ext cx="2852928" cy="0"/>
          </a:xfrm>
          <a:prstGeom prst="line">
            <a:avLst/>
          </a:prstGeom>
          <a:noFill/>
          <a:ln w="9525">
            <a:solidFill>
              <a:srgbClr val="E5E7EB"/>
            </a:solidFill>
            <a:prstDash val="solid"/>
          </a:ln>
        </p:spPr>
        <p:txBody>
          <a:bodyPr/>
          <a:lstStyle/>
          <a:p>
            <a:endParaRPr/>
          </a:p>
        </p:txBody>
      </p:sp>
      <p:sp>
        <p:nvSpPr>
          <p:cNvPr id="11" name="Text 8"/>
          <p:cNvSpPr txBox="1"/>
          <p:nvPr/>
        </p:nvSpPr>
        <p:spPr>
          <a:xfrm>
            <a:off x="771422" y="2670048"/>
            <a:ext cx="2852928" cy="1837944"/>
          </a:xfrm>
          <a:prstGeom prst="rect">
            <a:avLst/>
          </a:prstGeom>
          <a:noFill/>
          <a:ln/>
        </p:spPr>
        <p:txBody>
          <a:bodyPr wrap="square" lIns="0" tIns="0" rIns="0" bIns="0" rtlCol="0" anchor="t"/>
          <a:lstStyle/>
          <a:p>
            <a:pPr marL="0" indent="0">
              <a:lnSpc>
                <a:spcPct val="150000"/>
              </a:lnSpc>
              <a:buNone/>
            </a:pPr>
            <a:r>
              <a:rPr lang="en-US" sz="1250" dirty="0">
                <a:solidFill>
                  <a:srgbClr val="FF0000"/>
                </a:solidFill>
                <a:latin typeface="에이투지체 5 Medium"/>
                <a:ea typeface="에이투지체 5 Medium"/>
                <a:cs typeface="에이투지체 5 Medium"/>
              </a:rPr>
              <a:t>A</a:t>
            </a:r>
            <a:r>
              <a:rPr lang="en-US" sz="1250" dirty="0">
                <a:solidFill>
                  <a:srgbClr val="45515E"/>
                </a:solidFill>
                <a:latin typeface="에이투지체 5 Medium"/>
                <a:ea typeface="에이투지체 5 Medium"/>
                <a:cs typeface="에이투지체 5 Medium"/>
              </a:rPr>
              <a:t>  구 · 월 원-핫</a:t>
            </a:r>
            <a:endParaRPr lang="en-US" sz="1250" dirty="0"/>
          </a:p>
          <a:p>
            <a:pPr marL="0" indent="0">
              <a:lnSpc>
                <a:spcPct val="150000"/>
              </a:lnSpc>
              <a:buNone/>
            </a:pPr>
            <a:r>
              <a:rPr lang="en-US" sz="1250" dirty="0">
                <a:solidFill>
                  <a:srgbClr val="FF0000"/>
                </a:solidFill>
                <a:latin typeface="에이투지체 5 Medium"/>
                <a:ea typeface="에이투지체 5 Medium"/>
                <a:cs typeface="에이투지체 5 Medium"/>
              </a:rPr>
              <a:t>B</a:t>
            </a:r>
            <a:r>
              <a:rPr lang="en-US" sz="1250" dirty="0">
                <a:solidFill>
                  <a:srgbClr val="45515E"/>
                </a:solidFill>
                <a:latin typeface="에이투지체 5 Medium"/>
                <a:ea typeface="에이투지체 5 Medium"/>
                <a:cs typeface="에이투지체 5 Medium"/>
              </a:rPr>
              <a:t>  A + 인구 변수 9개</a:t>
            </a:r>
            <a:endParaRPr lang="en-US" sz="1250" dirty="0"/>
          </a:p>
          <a:p>
            <a:pPr marL="0" indent="0">
              <a:lnSpc>
                <a:spcPct val="150000"/>
              </a:lnSpc>
              <a:buNone/>
            </a:pPr>
            <a:r>
              <a:rPr lang="en-US" sz="1250" dirty="0">
                <a:solidFill>
                  <a:srgbClr val="FF0000"/>
                </a:solidFill>
                <a:latin typeface="에이투지체 5 Medium"/>
                <a:ea typeface="에이투지체 5 Medium"/>
                <a:cs typeface="에이투지체 5 Medium"/>
              </a:rPr>
              <a:t>C</a:t>
            </a:r>
            <a:r>
              <a:rPr lang="en-US" sz="1250" dirty="0">
                <a:solidFill>
                  <a:srgbClr val="45515E"/>
                </a:solidFill>
                <a:latin typeface="에이투지체 5 Medium"/>
                <a:ea typeface="에이투지체 5 Medium"/>
                <a:cs typeface="에이투지체 5 Medium"/>
              </a:rPr>
              <a:t>  B + 인구 기반 기대값</a:t>
            </a:r>
            <a:endParaRPr lang="en-US" sz="1250" dirty="0"/>
          </a:p>
          <a:p>
            <a:pPr marL="0" indent="0">
              <a:lnSpc>
                <a:spcPct val="150000"/>
              </a:lnSpc>
              <a:buNone/>
            </a:pPr>
            <a:r>
              <a:rPr lang="en-US" sz="1250" dirty="0">
                <a:solidFill>
                  <a:srgbClr val="FF0000"/>
                </a:solidFill>
                <a:latin typeface="에이투지체 5 Medium"/>
                <a:ea typeface="에이투지체 5 Medium"/>
                <a:cs typeface="에이투지체 5 Medium"/>
              </a:rPr>
              <a:t>D</a:t>
            </a:r>
            <a:r>
              <a:rPr lang="en-US" sz="1250" dirty="0">
                <a:solidFill>
                  <a:srgbClr val="45515E"/>
                </a:solidFill>
                <a:latin typeface="에이투지체 5 Medium"/>
                <a:ea typeface="에이투지체 5 Medium"/>
                <a:cs typeface="에이투지체 5 Medium"/>
              </a:rPr>
              <a:t>  A + 이송 이력</a:t>
            </a:r>
            <a:endParaRPr lang="en-US" sz="1250" dirty="0"/>
          </a:p>
          <a:p>
            <a:pPr marL="0" indent="0">
              <a:lnSpc>
                <a:spcPct val="150000"/>
              </a:lnSpc>
              <a:buNone/>
            </a:pPr>
            <a:r>
              <a:rPr lang="en-US" sz="1250" dirty="0">
                <a:solidFill>
                  <a:srgbClr val="FF0000"/>
                </a:solidFill>
                <a:latin typeface="에이투지체 5 Medium"/>
                <a:ea typeface="에이투지체 5 Medium"/>
                <a:cs typeface="에이투지체 5 Medium"/>
              </a:rPr>
              <a:t>E</a:t>
            </a:r>
            <a:r>
              <a:rPr lang="en-US" sz="1250" dirty="0">
                <a:solidFill>
                  <a:srgbClr val="45515E"/>
                </a:solidFill>
                <a:latin typeface="에이투지체 5 Medium"/>
                <a:ea typeface="에이투지체 5 Medium"/>
                <a:cs typeface="에이투지체 5 Medium"/>
              </a:rPr>
              <a:t>  D + 인구 변수 전체</a:t>
            </a:r>
            <a:endParaRPr lang="en-US" sz="1250" dirty="0"/>
          </a:p>
        </p:txBody>
      </p:sp>
      <p:sp>
        <p:nvSpPr>
          <p:cNvPr id="12" name="Shape 9"/>
          <p:cNvSpPr/>
          <p:nvPr/>
        </p:nvSpPr>
        <p:spPr>
          <a:xfrm>
            <a:off x="3931920" y="1993392"/>
            <a:ext cx="7802575" cy="2642616"/>
          </a:xfrm>
          <a:prstGeom prst="roundRect">
            <a:avLst>
              <a:gd name="adj" fmla="val 346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graphicFrame>
        <p:nvGraphicFramePr>
          <p:cNvPr id="13" name="Chart 0"/>
          <p:cNvGraphicFramePr/>
          <p:nvPr>
            <p:extLst>
              <p:ext uri="{D42A27DB-BD31-4B8C-83A1-F6EECF244321}">
                <p14:modId xmlns:p14="http://schemas.microsoft.com/office/powerpoint/2010/main" val="2780124323"/>
              </p:ext>
            </p:extLst>
          </p:nvPr>
        </p:nvGraphicFramePr>
        <p:xfrm>
          <a:off x="4023360" y="2066544"/>
          <a:ext cx="7619695" cy="2496312"/>
        </p:xfrm>
        <a:graphic>
          <a:graphicData uri="http://schemas.openxmlformats.org/drawingml/2006/chart">
            <c:chart xmlns:c="http://schemas.openxmlformats.org/drawingml/2006/chart" xmlns:r="http://schemas.openxmlformats.org/officeDocument/2006/relationships" r:id="rId3"/>
          </a:graphicData>
        </a:graphic>
      </p:graphicFrame>
      <p:sp>
        <p:nvSpPr>
          <p:cNvPr id="14" name="Shape 10"/>
          <p:cNvSpPr/>
          <p:nvPr/>
        </p:nvSpPr>
        <p:spPr>
          <a:xfrm>
            <a:off x="457200" y="4818888"/>
            <a:ext cx="3637178" cy="1371600"/>
          </a:xfrm>
          <a:prstGeom prst="roundRect">
            <a:avLst>
              <a:gd name="adj" fmla="val 66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5" name="Text 11"/>
          <p:cNvSpPr txBox="1"/>
          <p:nvPr/>
        </p:nvSpPr>
        <p:spPr>
          <a:xfrm>
            <a:off x="615111" y="4818888"/>
            <a:ext cx="2011680" cy="1371600"/>
          </a:xfrm>
          <a:prstGeom prst="rect">
            <a:avLst/>
          </a:prstGeom>
          <a:noFill/>
          <a:ln/>
        </p:spPr>
        <p:txBody>
          <a:bodyPr wrap="square" lIns="0" tIns="0" rIns="0" bIns="0" rtlCol="0" anchor="ctr"/>
          <a:lstStyle/>
          <a:p>
            <a:pPr marL="0" indent="0">
              <a:buNone/>
            </a:pPr>
            <a:r>
              <a:rPr lang="en-US" sz="3000" kern="0" spc="-90" dirty="0" smtClean="0">
                <a:solidFill>
                  <a:srgbClr val="D62828"/>
                </a:solidFill>
                <a:latin typeface="에이투지체 5 Medium"/>
                <a:ea typeface="에이투지체 5 Medium"/>
                <a:cs typeface="에이투지체 5 Medium"/>
              </a:rPr>
              <a:t>+10.57%p</a:t>
            </a:r>
            <a:endParaRPr lang="en-US" sz="3000" dirty="0"/>
          </a:p>
        </p:txBody>
      </p:sp>
      <p:sp>
        <p:nvSpPr>
          <p:cNvPr id="16" name="Text 12"/>
          <p:cNvSpPr txBox="1"/>
          <p:nvPr/>
        </p:nvSpPr>
        <p:spPr>
          <a:xfrm>
            <a:off x="2661960" y="5209265"/>
            <a:ext cx="1186586" cy="310896"/>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이송 </a:t>
            </a:r>
            <a:r>
              <a:rPr lang="en-US" sz="1400" b="1" dirty="0" err="1">
                <a:solidFill>
                  <a:srgbClr val="222222"/>
                </a:solidFill>
                <a:latin typeface="에이투지체 5 Medium"/>
                <a:ea typeface="에이투지체 5 Medium"/>
                <a:cs typeface="에이투지체 5 Medium"/>
              </a:rPr>
              <a:t>이력</a:t>
            </a:r>
            <a:r>
              <a:rPr lang="en-US" sz="1400" b="1" dirty="0">
                <a:solidFill>
                  <a:srgbClr val="222222"/>
                </a:solidFill>
                <a:latin typeface="에이투지체 5 Medium"/>
                <a:ea typeface="에이투지체 5 Medium"/>
                <a:cs typeface="에이투지체 5 Medium"/>
              </a:rPr>
              <a:t> </a:t>
            </a:r>
            <a:r>
              <a:rPr lang="ko-KR" altLang="en-US" sz="1400" b="1" dirty="0" smtClean="0">
                <a:solidFill>
                  <a:srgbClr val="222222"/>
                </a:solidFill>
                <a:latin typeface="에이투지체 5 Medium"/>
                <a:ea typeface="에이투지체 5 Medium"/>
                <a:cs typeface="에이투지체 5 Medium"/>
              </a:rPr>
              <a:t>반영</a:t>
            </a:r>
            <a:endParaRPr lang="en-US" sz="1400" dirty="0"/>
          </a:p>
        </p:txBody>
      </p:sp>
      <p:sp>
        <p:nvSpPr>
          <p:cNvPr id="17" name="Text 13"/>
          <p:cNvSpPr txBox="1"/>
          <p:nvPr/>
        </p:nvSpPr>
        <p:spPr>
          <a:xfrm>
            <a:off x="2661960" y="5556737"/>
            <a:ext cx="1186586" cy="457200"/>
          </a:xfrm>
          <a:prstGeom prst="rect">
            <a:avLst/>
          </a:prstGeom>
          <a:noFill/>
          <a:ln/>
        </p:spPr>
        <p:txBody>
          <a:bodyPr wrap="square" lIns="0" tIns="0" rIns="0" bIns="0" rtlCol="0" anchor="t"/>
          <a:lstStyle/>
          <a:p>
            <a:pPr marL="0" indent="0">
              <a:buNone/>
            </a:pPr>
            <a:r>
              <a:rPr lang="en-US" sz="1100" dirty="0">
                <a:solidFill>
                  <a:srgbClr val="45515E"/>
                </a:solidFill>
                <a:latin typeface="에이투지체 5 Medium"/>
                <a:ea typeface="에이투지체 5 Medium"/>
                <a:cs typeface="에이투지체 5 Medium"/>
              </a:rPr>
              <a:t>A → D</a:t>
            </a:r>
            <a:r>
              <a:rPr lang="en-US" sz="1100" dirty="0" smtClean="0">
                <a:solidFill>
                  <a:srgbClr val="45515E"/>
                </a:solidFill>
                <a:latin typeface="에이투지체 5 Medium"/>
                <a:ea typeface="에이투지체 5 Medium"/>
                <a:cs typeface="에이투지체 5 Medium"/>
              </a:rPr>
              <a:t> 94.96 %</a:t>
            </a:r>
            <a:endParaRPr lang="en-US" sz="1100" dirty="0"/>
          </a:p>
        </p:txBody>
      </p:sp>
      <p:sp>
        <p:nvSpPr>
          <p:cNvPr id="18" name="Shape 14"/>
          <p:cNvSpPr/>
          <p:nvPr/>
        </p:nvSpPr>
        <p:spPr>
          <a:xfrm>
            <a:off x="4277258" y="4818888"/>
            <a:ext cx="3637178" cy="1371600"/>
          </a:xfrm>
          <a:prstGeom prst="roundRect">
            <a:avLst>
              <a:gd name="adj" fmla="val 66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9" name="Text 15"/>
          <p:cNvSpPr txBox="1"/>
          <p:nvPr/>
        </p:nvSpPr>
        <p:spPr>
          <a:xfrm>
            <a:off x="4496714" y="4792512"/>
            <a:ext cx="2011680" cy="1371600"/>
          </a:xfrm>
          <a:prstGeom prst="rect">
            <a:avLst/>
          </a:prstGeom>
          <a:noFill/>
          <a:ln/>
        </p:spPr>
        <p:txBody>
          <a:bodyPr wrap="square" lIns="0" tIns="0" rIns="0" bIns="0" rtlCol="0" anchor="ctr"/>
          <a:lstStyle/>
          <a:p>
            <a:pPr marL="0" indent="0">
              <a:buNone/>
            </a:pPr>
            <a:r>
              <a:rPr lang="en-US" sz="3000" kern="0" spc="-90" dirty="0">
                <a:solidFill>
                  <a:srgbClr val="D62828"/>
                </a:solidFill>
                <a:latin typeface="에이투지체 5 Medium"/>
                <a:ea typeface="에이투지체 5 Medium"/>
                <a:cs typeface="에이투지체 5 Medium"/>
              </a:rPr>
              <a:t>−0.18%p</a:t>
            </a:r>
            <a:endParaRPr lang="en-US" sz="3000" dirty="0"/>
          </a:p>
        </p:txBody>
      </p:sp>
      <p:sp>
        <p:nvSpPr>
          <p:cNvPr id="20" name="Text 16"/>
          <p:cNvSpPr txBox="1"/>
          <p:nvPr/>
        </p:nvSpPr>
        <p:spPr>
          <a:xfrm>
            <a:off x="6455642" y="5209266"/>
            <a:ext cx="1186586" cy="310896"/>
          </a:xfrm>
          <a:prstGeom prst="rect">
            <a:avLst/>
          </a:prstGeom>
          <a:noFill/>
          <a:ln/>
        </p:spPr>
        <p:txBody>
          <a:bodyPr wrap="square" lIns="0" tIns="0" rIns="0" bIns="0" rtlCol="0" anchor="ctr"/>
          <a:lstStyle/>
          <a:p>
            <a:pPr marL="0" indent="0">
              <a:buNone/>
            </a:pPr>
            <a:r>
              <a:rPr lang="ko-KR" altLang="en-US" sz="1400" b="1" dirty="0" smtClean="0">
                <a:solidFill>
                  <a:srgbClr val="222222"/>
                </a:solidFill>
                <a:latin typeface="에이투지체 5 Medium"/>
                <a:ea typeface="에이투지체 5 Medium"/>
              </a:rPr>
              <a:t>인구 변수 반영</a:t>
            </a:r>
            <a:endParaRPr lang="en-US" sz="1400" dirty="0"/>
          </a:p>
        </p:txBody>
      </p:sp>
      <p:sp>
        <p:nvSpPr>
          <p:cNvPr id="21" name="Text 17"/>
          <p:cNvSpPr txBox="1"/>
          <p:nvPr/>
        </p:nvSpPr>
        <p:spPr>
          <a:xfrm>
            <a:off x="6455642" y="5556738"/>
            <a:ext cx="1186586" cy="457200"/>
          </a:xfrm>
          <a:prstGeom prst="rect">
            <a:avLst/>
          </a:prstGeom>
          <a:noFill/>
          <a:ln/>
        </p:spPr>
        <p:txBody>
          <a:bodyPr wrap="square" lIns="0" tIns="0" rIns="0" bIns="0" rtlCol="0" anchor="t"/>
          <a:lstStyle/>
          <a:p>
            <a:pPr marL="0" indent="0">
              <a:buNone/>
            </a:pPr>
            <a:r>
              <a:rPr lang="en-US" sz="1100" dirty="0">
                <a:solidFill>
                  <a:srgbClr val="45515E"/>
                </a:solidFill>
                <a:latin typeface="에이투지체 5 Medium"/>
                <a:ea typeface="에이투지체 5 Medium"/>
                <a:cs typeface="에이투지체 5 Medium"/>
              </a:rPr>
              <a:t>D → E 94.79%</a:t>
            </a:r>
            <a:endParaRPr lang="en-US" sz="1100" dirty="0"/>
          </a:p>
        </p:txBody>
      </p:sp>
      <p:sp>
        <p:nvSpPr>
          <p:cNvPr id="22" name="Shape 18"/>
          <p:cNvSpPr/>
          <p:nvPr/>
        </p:nvSpPr>
        <p:spPr>
          <a:xfrm>
            <a:off x="8097317" y="4818888"/>
            <a:ext cx="3637178" cy="1371600"/>
          </a:xfrm>
          <a:prstGeom prst="roundRect">
            <a:avLst>
              <a:gd name="adj" fmla="val 9333"/>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txBody>
          <a:bodyPr/>
          <a:lstStyle/>
          <a:p>
            <a:endParaRPr/>
          </a:p>
        </p:txBody>
      </p:sp>
      <p:sp>
        <p:nvSpPr>
          <p:cNvPr id="23" name="Text 19"/>
          <p:cNvSpPr txBox="1"/>
          <p:nvPr/>
        </p:nvSpPr>
        <p:spPr>
          <a:xfrm>
            <a:off x="8316773" y="4818888"/>
            <a:ext cx="2011680" cy="1371600"/>
          </a:xfrm>
          <a:prstGeom prst="rect">
            <a:avLst/>
          </a:prstGeom>
          <a:noFill/>
          <a:ln/>
        </p:spPr>
        <p:txBody>
          <a:bodyPr wrap="square" lIns="0" tIns="0" rIns="0" bIns="0" rtlCol="0" anchor="ctr"/>
          <a:lstStyle/>
          <a:p>
            <a:pPr marL="0" indent="0">
              <a:buNone/>
            </a:pPr>
            <a:r>
              <a:rPr lang="en-US" altLang="ko-KR" sz="3000" kern="0" spc="-90" dirty="0" smtClean="0">
                <a:solidFill>
                  <a:srgbClr val="FFFFFF"/>
                </a:solidFill>
                <a:latin typeface="에이투지체 5 Medium"/>
                <a:ea typeface="에이투지체 5 Medium"/>
              </a:rPr>
              <a:t>D </a:t>
            </a:r>
            <a:r>
              <a:rPr lang="ko-KR" altLang="en-US" sz="3000" kern="0" spc="-90" dirty="0" smtClean="0">
                <a:solidFill>
                  <a:srgbClr val="FFFFFF"/>
                </a:solidFill>
                <a:latin typeface="에이투지체 5 Medium"/>
                <a:ea typeface="에이투지체 5 Medium"/>
              </a:rPr>
              <a:t>조합 채택</a:t>
            </a:r>
            <a:endParaRPr lang="en-US" sz="3000" dirty="0"/>
          </a:p>
        </p:txBody>
      </p:sp>
      <p:sp>
        <p:nvSpPr>
          <p:cNvPr id="24" name="Text 20"/>
          <p:cNvSpPr txBox="1"/>
          <p:nvPr/>
        </p:nvSpPr>
        <p:spPr>
          <a:xfrm>
            <a:off x="10425168" y="5235643"/>
            <a:ext cx="1186586" cy="310896"/>
          </a:xfrm>
          <a:prstGeom prst="rect">
            <a:avLst/>
          </a:prstGeom>
          <a:noFill/>
          <a:ln/>
        </p:spPr>
        <p:txBody>
          <a:bodyPr wrap="square" lIns="0" tIns="0" rIns="0" bIns="0" rtlCol="0" anchor="ctr"/>
          <a:lstStyle/>
          <a:p>
            <a:pPr marL="0" indent="0">
              <a:buNone/>
            </a:pPr>
            <a:r>
              <a:rPr lang="ko-KR" altLang="en-US" sz="1400" b="1" dirty="0" err="1" smtClean="0">
                <a:solidFill>
                  <a:srgbClr val="FFFFFF"/>
                </a:solidFill>
                <a:latin typeface="에이투지체 5 Medium"/>
                <a:ea typeface="에이투지체 5 Medium"/>
              </a:rPr>
              <a:t>미반영</a:t>
            </a:r>
            <a:endParaRPr lang="en-US" sz="1400" dirty="0"/>
          </a:p>
        </p:txBody>
      </p:sp>
      <p:sp>
        <p:nvSpPr>
          <p:cNvPr id="25" name="Text 21"/>
          <p:cNvSpPr txBox="1"/>
          <p:nvPr/>
        </p:nvSpPr>
        <p:spPr>
          <a:xfrm>
            <a:off x="10425168" y="5583115"/>
            <a:ext cx="1186586" cy="457200"/>
          </a:xfrm>
          <a:prstGeom prst="rect">
            <a:avLst/>
          </a:prstGeom>
          <a:noFill/>
          <a:ln/>
        </p:spPr>
        <p:txBody>
          <a:bodyPr wrap="square" lIns="0" tIns="0" rIns="0" bIns="0" rtlCol="0" anchor="t"/>
          <a:lstStyle/>
          <a:p>
            <a:pPr marL="0" indent="0">
              <a:buNone/>
            </a:pPr>
            <a:r>
              <a:rPr lang="en-US" sz="1100" dirty="0">
                <a:solidFill>
                  <a:srgbClr val="FDE3E3"/>
                </a:solidFill>
                <a:latin typeface="에이투지체 5 Medium"/>
                <a:ea typeface="에이투지체 5 Medium"/>
                <a:cs typeface="에이투지체 5 Medium"/>
              </a:rPr>
              <a:t>기존 8개 유지</a:t>
            </a:r>
            <a:endParaRPr lang="en-US" sz="11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a:ea typeface="에이투지체 5 Medium"/>
                <a:cs typeface="에이투지체 5 Medium"/>
              </a:rPr>
              <a:t>달력 특성 추가 실험</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주말 · 공휴일 · 명절 구성 차이 반영, 검증 6개월 정확도 기준 채택</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25</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(4-0 · 4-1-2)</a:t>
            </a:r>
            <a:endParaRPr lang="en-US" sz="900" dirty="0"/>
          </a:p>
        </p:txBody>
      </p:sp>
      <p:sp>
        <p:nvSpPr>
          <p:cNvPr id="8" name="Shape 5"/>
          <p:cNvSpPr/>
          <p:nvPr/>
        </p:nvSpPr>
        <p:spPr>
          <a:xfrm>
            <a:off x="457200" y="1993392"/>
            <a:ext cx="4023360" cy="3465576"/>
          </a:xfrm>
          <a:prstGeom prst="roundRect">
            <a:avLst>
              <a:gd name="adj" fmla="val 263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9" name="Text 6"/>
          <p:cNvSpPr txBox="1"/>
          <p:nvPr/>
        </p:nvSpPr>
        <p:spPr>
          <a:xfrm>
            <a:off x="676656" y="2157984"/>
            <a:ext cx="3584448"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달력 특성 4종</a:t>
            </a:r>
            <a:endParaRPr lang="en-US" sz="1800" dirty="0"/>
          </a:p>
        </p:txBody>
      </p:sp>
      <p:sp>
        <p:nvSpPr>
          <p:cNvPr id="10" name="Shape 7"/>
          <p:cNvSpPr/>
          <p:nvPr/>
        </p:nvSpPr>
        <p:spPr>
          <a:xfrm>
            <a:off x="676656" y="2560320"/>
            <a:ext cx="3584448" cy="0"/>
          </a:xfrm>
          <a:prstGeom prst="line">
            <a:avLst/>
          </a:prstGeom>
          <a:noFill/>
          <a:ln w="9525">
            <a:solidFill>
              <a:srgbClr val="E5E7EB"/>
            </a:solidFill>
            <a:prstDash val="solid"/>
          </a:ln>
        </p:spPr>
        <p:txBody>
          <a:bodyPr/>
          <a:lstStyle/>
          <a:p>
            <a:endParaRPr/>
          </a:p>
        </p:txBody>
      </p:sp>
      <p:sp>
        <p:nvSpPr>
          <p:cNvPr id="11" name="Text 8"/>
          <p:cNvSpPr txBox="1"/>
          <p:nvPr/>
        </p:nvSpPr>
        <p:spPr>
          <a:xfrm>
            <a:off x="676656" y="2670048"/>
            <a:ext cx="3584448" cy="2660904"/>
          </a:xfrm>
          <a:prstGeom prst="rect">
            <a:avLst/>
          </a:prstGeom>
          <a:noFill/>
          <a:ln/>
        </p:spPr>
        <p:txBody>
          <a:bodyPr wrap="square" lIns="0" tIns="0" rIns="0" bIns="0" rtlCol="0" anchor="t"/>
          <a:lstStyle/>
          <a:p>
            <a:pPr marL="0" indent="0">
              <a:lnSpc>
                <a:spcPct val="140000"/>
              </a:lnSpc>
              <a:buNone/>
            </a:pPr>
            <a:r>
              <a:rPr lang="en-US" sz="1200" dirty="0">
                <a:solidFill>
                  <a:srgbClr val="45515E"/>
                </a:solidFill>
                <a:latin typeface="에이투지체 5 Medium"/>
                <a:ea typeface="에이투지체 5 Medium"/>
                <a:cs typeface="에이투지체 5 Medium"/>
              </a:rPr>
              <a:t>· 일수: 28 ~ 31일</a:t>
            </a:r>
            <a:endParaRPr lang="en-US" sz="1200" dirty="0"/>
          </a:p>
          <a:p>
            <a:pPr marL="0" indent="0">
              <a:lnSpc>
                <a:spcPct val="140000"/>
              </a:lnSpc>
              <a:buNone/>
            </a:pPr>
            <a:r>
              <a:rPr lang="en-US" sz="1200" dirty="0">
                <a:solidFill>
                  <a:srgbClr val="45515E"/>
                </a:solidFill>
                <a:latin typeface="에이투지체 5 Medium"/>
                <a:ea typeface="에이투지체 5 Medium"/>
                <a:cs typeface="에이투지체 5 Medium"/>
              </a:rPr>
              <a:t>· 주말 수: 토 · 일 일수</a:t>
            </a:r>
            <a:endParaRPr lang="en-US" sz="1200" dirty="0"/>
          </a:p>
          <a:p>
            <a:pPr marL="0" indent="0">
              <a:lnSpc>
                <a:spcPct val="140000"/>
              </a:lnSpc>
              <a:buNone/>
            </a:pPr>
            <a:r>
              <a:rPr lang="en-US" sz="1200" dirty="0">
                <a:solidFill>
                  <a:srgbClr val="45515E"/>
                </a:solidFill>
                <a:latin typeface="에이투지체 5 Medium"/>
                <a:ea typeface="에이투지체 5 Medium"/>
                <a:cs typeface="에이투지체 5 Medium"/>
              </a:rPr>
              <a:t>· 평일 공휴일 수: 주말 외 공휴일</a:t>
            </a:r>
            <a:endParaRPr lang="en-US" sz="1200" dirty="0"/>
          </a:p>
          <a:p>
            <a:pPr marL="0" indent="0">
              <a:lnSpc>
                <a:spcPct val="140000"/>
              </a:lnSpc>
              <a:buNone/>
            </a:pPr>
            <a:r>
              <a:rPr lang="en-US" sz="1200" dirty="0">
                <a:solidFill>
                  <a:srgbClr val="45515E"/>
                </a:solidFill>
                <a:latin typeface="에이투지체 5 Medium"/>
                <a:ea typeface="에이투지체 5 Medium"/>
                <a:cs typeface="에이투지체 5 Medium"/>
              </a:rPr>
              <a:t>· 명절 연휴 일수: 설 · 추석 연휴</a:t>
            </a:r>
            <a:endParaRPr lang="en-US" sz="1200" dirty="0"/>
          </a:p>
          <a:p>
            <a:pPr marL="0" indent="0">
              <a:lnSpc>
                <a:spcPct val="140000"/>
              </a:lnSpc>
              <a:buNone/>
            </a:pPr>
            <a:endParaRPr lang="en-US" sz="1200" dirty="0"/>
          </a:p>
          <a:p>
            <a:pPr marL="0" indent="0">
              <a:lnSpc>
                <a:spcPct val="140000"/>
              </a:lnSpc>
              <a:buNone/>
            </a:pPr>
            <a:r>
              <a:rPr lang="en-US" sz="1200" dirty="0">
                <a:solidFill>
                  <a:srgbClr val="45515E"/>
                </a:solidFill>
                <a:latin typeface="에이투지체 5 Medium"/>
                <a:ea typeface="에이투지체 5 Medium"/>
                <a:cs typeface="에이투지체 5 Medium"/>
              </a:rPr>
              <a:t>예시</a:t>
            </a:r>
            <a:endParaRPr lang="en-US" sz="1200" dirty="0"/>
          </a:p>
          <a:p>
            <a:pPr marL="0" indent="0">
              <a:lnSpc>
                <a:spcPct val="140000"/>
              </a:lnSpc>
              <a:buNone/>
            </a:pPr>
            <a:r>
              <a:rPr lang="en-US" sz="1200" dirty="0">
                <a:solidFill>
                  <a:srgbClr val="45515E"/>
                </a:solidFill>
                <a:latin typeface="에이투지체 5 Medium"/>
                <a:ea typeface="에이투지체 5 Medium"/>
                <a:cs typeface="에이투지체 5 Medium"/>
              </a:rPr>
              <a:t>· 2025.01: 31일 · 평일 공휴일 4일 · 명절 3일</a:t>
            </a:r>
            <a:endParaRPr lang="en-US" sz="1200" dirty="0"/>
          </a:p>
          <a:p>
            <a:pPr marL="0" indent="0">
              <a:lnSpc>
                <a:spcPct val="140000"/>
              </a:lnSpc>
              <a:buNone/>
            </a:pPr>
            <a:r>
              <a:rPr lang="en-US" sz="1200" dirty="0">
                <a:solidFill>
                  <a:srgbClr val="45515E"/>
                </a:solidFill>
                <a:latin typeface="에이투지체 5 Medium"/>
                <a:ea typeface="에이투지체 5 Medium"/>
                <a:cs typeface="에이투지체 5 Medium"/>
              </a:rPr>
              <a:t>· 2025.02: 28일 · 평일 공휴일 0일 · 명절 0일</a:t>
            </a:r>
            <a:endParaRPr lang="en-US" sz="1200" dirty="0"/>
          </a:p>
        </p:txBody>
      </p:sp>
      <p:sp>
        <p:nvSpPr>
          <p:cNvPr id="12" name="Shape 9"/>
          <p:cNvSpPr/>
          <p:nvPr/>
        </p:nvSpPr>
        <p:spPr>
          <a:xfrm>
            <a:off x="4663440" y="1993392"/>
            <a:ext cx="7071055" cy="3465576"/>
          </a:xfrm>
          <a:prstGeom prst="roundRect">
            <a:avLst>
              <a:gd name="adj" fmla="val 263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graphicFrame>
        <p:nvGraphicFramePr>
          <p:cNvPr id="13" name="Chart 0"/>
          <p:cNvGraphicFramePr/>
          <p:nvPr/>
        </p:nvGraphicFramePr>
        <p:xfrm>
          <a:off x="4754880" y="2066544"/>
          <a:ext cx="6888175" cy="3319272"/>
        </p:xfrm>
        <a:graphic>
          <a:graphicData uri="http://schemas.openxmlformats.org/drawingml/2006/chart">
            <c:chart xmlns:c="http://schemas.openxmlformats.org/drawingml/2006/chart" xmlns:r="http://schemas.openxmlformats.org/officeDocument/2006/relationships" r:id="rId3"/>
          </a:graphicData>
        </a:graphic>
      </p:graphicFrame>
      <p:sp>
        <p:nvSpPr>
          <p:cNvPr id="14" name="Shape 10"/>
          <p:cNvSpPr/>
          <p:nvPr/>
        </p:nvSpPr>
        <p:spPr>
          <a:xfrm>
            <a:off x="457200" y="5641848"/>
            <a:ext cx="11277295" cy="548640"/>
          </a:xfrm>
          <a:prstGeom prst="roundRect">
            <a:avLst>
              <a:gd name="adj" fmla="val 23333"/>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txBody>
          <a:bodyPr/>
          <a:lstStyle/>
          <a:p>
            <a:endParaRPr/>
          </a:p>
        </p:txBody>
      </p:sp>
      <p:sp>
        <p:nvSpPr>
          <p:cNvPr id="15" name="Text 11"/>
          <p:cNvSpPr txBox="1"/>
          <p:nvPr/>
        </p:nvSpPr>
        <p:spPr>
          <a:xfrm>
            <a:off x="640080" y="5641848"/>
            <a:ext cx="10908792" cy="548640"/>
          </a:xfrm>
          <a:prstGeom prst="rect">
            <a:avLst/>
          </a:prstGeom>
          <a:noFill/>
          <a:ln/>
        </p:spPr>
        <p:txBody>
          <a:bodyPr wrap="square" lIns="0" tIns="0" rIns="0" bIns="0" rtlCol="0" anchor="ctr"/>
          <a:lstStyle/>
          <a:p>
            <a:pPr marL="0" indent="0" algn="ctr">
              <a:buNone/>
            </a:pPr>
            <a:r>
              <a:rPr lang="en-US" sz="1400" dirty="0" err="1" smtClean="0">
                <a:solidFill>
                  <a:srgbClr val="FFFFFF"/>
                </a:solidFill>
                <a:latin typeface="에이투지체 5 Medium"/>
                <a:ea typeface="에이투지체 5 Medium"/>
                <a:cs typeface="에이투지체 5 Medium"/>
              </a:rPr>
              <a:t>달력</a:t>
            </a:r>
            <a:r>
              <a:rPr lang="en-US" sz="1400" dirty="0" smtClean="0">
                <a:solidFill>
                  <a:srgbClr val="FFFFFF"/>
                </a:solidFill>
                <a:latin typeface="에이투지체 5 Medium"/>
                <a:ea typeface="에이투지체 5 Medium"/>
                <a:cs typeface="에이투지체 5 Medium"/>
              </a:rPr>
              <a:t> </a:t>
            </a:r>
            <a:r>
              <a:rPr lang="en-US" sz="1400" dirty="0">
                <a:solidFill>
                  <a:srgbClr val="FFFFFF"/>
                </a:solidFill>
                <a:latin typeface="에이투지체 5 Medium"/>
                <a:ea typeface="에이투지체 5 Medium"/>
                <a:cs typeface="에이투지체 5 Medium"/>
              </a:rPr>
              <a:t>특성 채택 (기본 대비 +0.73%p), 검증 데이터 </a:t>
            </a:r>
            <a:r>
              <a:rPr lang="en-US" sz="1400" dirty="0" err="1">
                <a:solidFill>
                  <a:srgbClr val="FFFFFF"/>
                </a:solidFill>
                <a:latin typeface="에이투지체 5 Medium"/>
                <a:ea typeface="에이투지체 5 Medium"/>
                <a:cs typeface="에이투지체 5 Medium"/>
              </a:rPr>
              <a:t>기준</a:t>
            </a:r>
            <a:r>
              <a:rPr lang="en-US" sz="1400" dirty="0">
                <a:solidFill>
                  <a:srgbClr val="FFFFFF"/>
                </a:solidFill>
                <a:latin typeface="에이투지체 5 Medium"/>
                <a:ea typeface="에이투지체 5 Medium"/>
                <a:cs typeface="에이투지체 5 Medium"/>
              </a:rPr>
              <a:t> </a:t>
            </a:r>
            <a:r>
              <a:rPr lang="en-US" sz="1400" dirty="0" err="1" smtClean="0">
                <a:solidFill>
                  <a:srgbClr val="FFFFFF"/>
                </a:solidFill>
                <a:latin typeface="에이투지체 5 Medium"/>
                <a:ea typeface="에이투지체 5 Medium"/>
                <a:cs typeface="에이투지체 5 Medium"/>
              </a:rPr>
              <a:t>결정</a:t>
            </a:r>
            <a:endParaRPr lang="en-US" sz="14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a:ea typeface="에이투지체 5 Medium"/>
                <a:cs typeface="에이투지체 5 Medium"/>
              </a:rPr>
              <a:t>비교 모델 구성</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선형 · 트리 · 부스팅 · 신경망 6종 + 이송 건수 앙상블</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26</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(0-1 모델 설정)</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993392"/>
          <a:ext cx="11277295" cy="4160520"/>
        </p:xfrm>
        <a:graphic>
          <a:graphicData uri="http://schemas.openxmlformats.org/drawingml/2006/table">
            <a:tbl>
              <a:tblPr/>
              <a:tblGrid>
                <a:gridCol w="256032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224735">
                  <a:extLst>
                    <a:ext uri="{9D8B030D-6E8A-4147-A177-3AD203B41FA5}">
                      <a16:colId xmlns:a16="http://schemas.microsoft.com/office/drawing/2014/main" val="20003"/>
                    </a:ext>
                  </a:extLst>
                </a:gridCol>
              </a:tblGrid>
              <a:tr h="384048">
                <a:tc>
                  <a:txBody>
                    <a:bodyPr/>
                    <a:lstStyle/>
                    <a:p>
                      <a:pPr marL="0" indent="0" algn="ctr">
                        <a:buNone/>
                      </a:pPr>
                      <a:r>
                        <a:rPr lang="en-US" sz="1200" dirty="0">
                          <a:solidFill>
                            <a:srgbClr val="222222"/>
                          </a:solidFill>
                          <a:latin typeface="에이투지체 5 Medium"/>
                          <a:ea typeface="에이투지체 5 Medium"/>
                          <a:cs typeface="에이투지체 5 Medium"/>
                        </a:rPr>
                        <a:t>모델</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222222"/>
                          </a:solidFill>
                          <a:latin typeface="에이투지체 5 Medium"/>
                          <a:ea typeface="에이투지체 5 Medium"/>
                          <a:cs typeface="에이투지체 5 Medium"/>
                        </a:rPr>
                        <a:t>예측 방식</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222222"/>
                          </a:solidFill>
                          <a:latin typeface="에이투지체 5 Medium"/>
                          <a:ea typeface="에이투지체 5 Medium"/>
                          <a:cs typeface="에이투지체 5 Medium"/>
                        </a:rPr>
                        <a:t>특징</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D62828"/>
                          </a:solidFill>
                          <a:latin typeface="에이투지체 5 Medium"/>
                          <a:ea typeface="에이투지체 5 Medium"/>
                          <a:cs typeface="에이투지체 5 Medium"/>
                        </a:rPr>
                        <a:t>적용</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extLst>
                  <a:ext uri="{0D108BD9-81ED-4DB2-BD59-A6C34878D82A}">
                    <a16:rowId xmlns:a16="http://schemas.microsoft.com/office/drawing/2014/main" val="10000"/>
                  </a:ext>
                </a:extLst>
              </a:tr>
              <a:tr h="539496">
                <a:tc>
                  <a:txBody>
                    <a:bodyPr/>
                    <a:lstStyle/>
                    <a:p>
                      <a:pPr marL="0" indent="0" algn="l">
                        <a:buNone/>
                      </a:pPr>
                      <a:r>
                        <a:rPr lang="en-US" sz="1200" b="1" dirty="0">
                          <a:solidFill>
                            <a:srgbClr val="222222"/>
                          </a:solidFill>
                          <a:latin typeface="에이투지체 5 Medium"/>
                          <a:ea typeface="에이투지체 5 Medium"/>
                          <a:cs typeface="에이투지체 5 Medium"/>
                        </a:rPr>
                        <a:t>Linear Regression</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입력과 정답의 직선 관계</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비교 기준 모델</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이송 · 인구</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9496">
                <a:tc>
                  <a:txBody>
                    <a:bodyPr/>
                    <a:lstStyle/>
                    <a:p>
                      <a:pPr marL="0" indent="0" algn="l">
                        <a:buNone/>
                      </a:pPr>
                      <a:r>
                        <a:rPr lang="en-US" sz="1200" b="1" dirty="0">
                          <a:solidFill>
                            <a:srgbClr val="222222"/>
                          </a:solidFill>
                          <a:latin typeface="에이투지체 5 Medium"/>
                          <a:ea typeface="에이투지체 5 Medium"/>
                          <a:cs typeface="에이투지체 5 Medium"/>
                        </a:rPr>
                        <a:t>Ridge</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직선 관계 + 계수 크기 규제</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과적합 억제</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이송 · 인구</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2"/>
                  </a:ext>
                </a:extLst>
              </a:tr>
              <a:tr h="539496">
                <a:tc>
                  <a:txBody>
                    <a:bodyPr/>
                    <a:lstStyle/>
                    <a:p>
                      <a:pPr marL="0" indent="0" algn="l">
                        <a:buNone/>
                      </a:pPr>
                      <a:r>
                        <a:rPr lang="en-US" sz="1200" b="1" dirty="0">
                          <a:solidFill>
                            <a:srgbClr val="222222"/>
                          </a:solidFill>
                          <a:latin typeface="에이투지체 5 Medium"/>
                          <a:ea typeface="에이투지체 5 Medium"/>
                          <a:cs typeface="에이투지체 5 Medium"/>
                        </a:rPr>
                        <a:t>Decision Tree</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조건 분기 반복</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해석 용이</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이송 · 인구</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9496">
                <a:tc>
                  <a:txBody>
                    <a:bodyPr/>
                    <a:lstStyle/>
                    <a:p>
                      <a:pPr marL="0" indent="0" algn="l">
                        <a:buNone/>
                      </a:pPr>
                      <a:r>
                        <a:rPr lang="en-US" sz="1200" b="1" dirty="0">
                          <a:solidFill>
                            <a:srgbClr val="222222"/>
                          </a:solidFill>
                          <a:latin typeface="에이투지체 5 Medium"/>
                          <a:ea typeface="에이투지체 5 Medium"/>
                          <a:cs typeface="에이투지체 5 Medium"/>
                        </a:rPr>
                        <a:t>Random Forest</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다수 트리 예측 평균</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예측 안정성</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이송 · 인구</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4"/>
                  </a:ext>
                </a:extLst>
              </a:tr>
              <a:tr h="539496">
                <a:tc>
                  <a:txBody>
                    <a:bodyPr/>
                    <a:lstStyle/>
                    <a:p>
                      <a:pPr marL="0" indent="0" algn="l">
                        <a:buNone/>
                      </a:pPr>
                      <a:r>
                        <a:rPr lang="en-US" sz="1200" b="1" dirty="0">
                          <a:solidFill>
                            <a:srgbClr val="222222"/>
                          </a:solidFill>
                          <a:latin typeface="에이투지체 5 Medium"/>
                          <a:ea typeface="에이투지체 5 Medium"/>
                          <a:cs typeface="에이투지체 5 Medium"/>
                        </a:rPr>
                        <a:t>Gradient Boosting</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이전 트리 오차를 다음 트리가 보완</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높은 정확도</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이송 · 인구</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9496">
                <a:tc>
                  <a:txBody>
                    <a:bodyPr/>
                    <a:lstStyle/>
                    <a:p>
                      <a:pPr marL="0" indent="0" algn="l">
                        <a:buNone/>
                      </a:pPr>
                      <a:r>
                        <a:rPr lang="en-US" sz="1200" b="1" dirty="0">
                          <a:solidFill>
                            <a:srgbClr val="222222"/>
                          </a:solidFill>
                          <a:latin typeface="에이투지체 5 Medium"/>
                          <a:ea typeface="에이투지체 5 Medium"/>
                          <a:cs typeface="에이투지체 5 Medium"/>
                        </a:rPr>
                        <a:t>DNN</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다층 인공 신경망</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복잡한 관계 학습</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이송 · 인구</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6"/>
                  </a:ext>
                </a:extLst>
              </a:tr>
              <a:tr h="539496">
                <a:tc>
                  <a:txBody>
                    <a:bodyPr/>
                    <a:lstStyle/>
                    <a:p>
                      <a:pPr marL="0" indent="0" algn="l">
                        <a:buNone/>
                      </a:pPr>
                      <a:r>
                        <a:rPr lang="en-US" sz="1200" b="1" dirty="0">
                          <a:solidFill>
                            <a:srgbClr val="222222"/>
                          </a:solidFill>
                          <a:latin typeface="에이투지체 5 Medium"/>
                          <a:ea typeface="에이투지체 5 Medium"/>
                          <a:cs typeface="에이투지체 5 Medium"/>
                        </a:rPr>
                        <a:t>앙상블 (GB + Ridge)</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Gradient Boosting · Ridge 예측 평균</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서로 다른 오차 상쇄</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이송</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a:ea typeface="에이투지체 5 Medium"/>
                <a:cs typeface="에이투지체 5 Medium"/>
              </a:rPr>
              <a:t>이송 건수 모델 성능 비교</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검증 6개월 정확도 1위 앙상블 선정, 평가 정확도 94.6% 확인</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27</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(4-2 · 4-2-2)</a:t>
            </a:r>
            <a:endParaRPr lang="en-US" sz="900" dirty="0"/>
          </a:p>
        </p:txBody>
      </p:sp>
      <p:sp>
        <p:nvSpPr>
          <p:cNvPr id="8" name="Shape 5"/>
          <p:cNvSpPr/>
          <p:nvPr/>
        </p:nvSpPr>
        <p:spPr>
          <a:xfrm>
            <a:off x="457200" y="1993392"/>
            <a:ext cx="7223760" cy="4197096"/>
          </a:xfrm>
          <a:prstGeom prst="roundRect">
            <a:avLst>
              <a:gd name="adj" fmla="val 217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graphicFrame>
        <p:nvGraphicFramePr>
          <p:cNvPr id="9" name="Chart 0"/>
          <p:cNvGraphicFramePr/>
          <p:nvPr/>
        </p:nvGraphicFramePr>
        <p:xfrm>
          <a:off x="548640" y="2066544"/>
          <a:ext cx="7040880" cy="4050792"/>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6"/>
          <p:cNvSpPr/>
          <p:nvPr/>
        </p:nvSpPr>
        <p:spPr>
          <a:xfrm>
            <a:off x="7863840" y="1993392"/>
            <a:ext cx="3870655" cy="2185416"/>
          </a:xfrm>
          <a:prstGeom prst="roundRect">
            <a:avLst>
              <a:gd name="adj" fmla="val 4184"/>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1" name="Text 7"/>
          <p:cNvSpPr txBox="1"/>
          <p:nvPr/>
        </p:nvSpPr>
        <p:spPr>
          <a:xfrm>
            <a:off x="8083296" y="2157984"/>
            <a:ext cx="3429000"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앙상블 구성</a:t>
            </a:r>
            <a:endParaRPr lang="en-US" sz="1800" dirty="0"/>
          </a:p>
        </p:txBody>
      </p:sp>
      <p:sp>
        <p:nvSpPr>
          <p:cNvPr id="12" name="Shape 8"/>
          <p:cNvSpPr/>
          <p:nvPr/>
        </p:nvSpPr>
        <p:spPr>
          <a:xfrm>
            <a:off x="8083296" y="2560320"/>
            <a:ext cx="3429000" cy="0"/>
          </a:xfrm>
          <a:prstGeom prst="line">
            <a:avLst/>
          </a:prstGeom>
          <a:noFill/>
          <a:ln w="9525">
            <a:solidFill>
              <a:srgbClr val="E5E7EB"/>
            </a:solidFill>
            <a:prstDash val="solid"/>
          </a:ln>
        </p:spPr>
        <p:txBody>
          <a:bodyPr/>
          <a:lstStyle/>
          <a:p>
            <a:endParaRPr/>
          </a:p>
        </p:txBody>
      </p:sp>
      <p:sp>
        <p:nvSpPr>
          <p:cNvPr id="13" name="Shape 9"/>
          <p:cNvSpPr/>
          <p:nvPr/>
        </p:nvSpPr>
        <p:spPr>
          <a:xfrm>
            <a:off x="8083296" y="2743200"/>
            <a:ext cx="1645920" cy="329184"/>
          </a:xfrm>
          <a:prstGeom prst="roundRect">
            <a:avLst>
              <a:gd name="adj" fmla="val 50000"/>
            </a:avLst>
          </a:prstGeom>
          <a:solidFill>
            <a:srgbClr val="F2F3F5"/>
          </a:solidFill>
          <a:ln w="12700">
            <a:solidFill>
              <a:srgbClr val="F2F3F5"/>
            </a:solidFill>
            <a:prstDash val="solid"/>
          </a:ln>
        </p:spPr>
        <p:txBody>
          <a:bodyPr/>
          <a:lstStyle/>
          <a:p>
            <a:endParaRPr/>
          </a:p>
        </p:txBody>
      </p:sp>
      <p:sp>
        <p:nvSpPr>
          <p:cNvPr id="14" name="Text 10"/>
          <p:cNvSpPr txBox="1"/>
          <p:nvPr/>
        </p:nvSpPr>
        <p:spPr>
          <a:xfrm>
            <a:off x="8083296" y="2743200"/>
            <a:ext cx="1645920" cy="329184"/>
          </a:xfrm>
          <a:prstGeom prst="rect">
            <a:avLst/>
          </a:prstGeom>
          <a:noFill/>
          <a:ln/>
        </p:spPr>
        <p:txBody>
          <a:bodyPr wrap="square" lIns="0" tIns="0" rIns="0" bIns="0" rtlCol="0" anchor="ctr"/>
          <a:lstStyle/>
          <a:p>
            <a:pPr marL="0" indent="0" algn="ctr">
              <a:buNone/>
            </a:pPr>
            <a:r>
              <a:rPr lang="en-US" sz="1050" b="1" dirty="0">
                <a:solidFill>
                  <a:srgbClr val="45515E"/>
                </a:solidFill>
                <a:latin typeface="에이투지체 5 Medium"/>
                <a:ea typeface="에이투지체 5 Medium"/>
                <a:cs typeface="에이투지체 5 Medium"/>
              </a:rPr>
              <a:t>Gradient Boosting</a:t>
            </a:r>
            <a:endParaRPr lang="en-US" sz="1050" dirty="0"/>
          </a:p>
        </p:txBody>
      </p:sp>
      <p:sp>
        <p:nvSpPr>
          <p:cNvPr id="15" name="Shape 11"/>
          <p:cNvSpPr/>
          <p:nvPr/>
        </p:nvSpPr>
        <p:spPr>
          <a:xfrm>
            <a:off x="8083296" y="3200400"/>
            <a:ext cx="1645920" cy="329184"/>
          </a:xfrm>
          <a:prstGeom prst="roundRect">
            <a:avLst>
              <a:gd name="adj" fmla="val 50000"/>
            </a:avLst>
          </a:prstGeom>
          <a:solidFill>
            <a:srgbClr val="F2F3F5"/>
          </a:solidFill>
          <a:ln w="12700">
            <a:solidFill>
              <a:srgbClr val="F2F3F5"/>
            </a:solidFill>
            <a:prstDash val="solid"/>
          </a:ln>
        </p:spPr>
        <p:txBody>
          <a:bodyPr/>
          <a:lstStyle/>
          <a:p>
            <a:endParaRPr/>
          </a:p>
        </p:txBody>
      </p:sp>
      <p:sp>
        <p:nvSpPr>
          <p:cNvPr id="16" name="Text 12"/>
          <p:cNvSpPr txBox="1"/>
          <p:nvPr/>
        </p:nvSpPr>
        <p:spPr>
          <a:xfrm>
            <a:off x="8083296" y="3200400"/>
            <a:ext cx="1645920" cy="329184"/>
          </a:xfrm>
          <a:prstGeom prst="rect">
            <a:avLst/>
          </a:prstGeom>
          <a:noFill/>
          <a:ln/>
        </p:spPr>
        <p:txBody>
          <a:bodyPr wrap="square" lIns="0" tIns="0" rIns="0" bIns="0" rtlCol="0" anchor="ctr"/>
          <a:lstStyle/>
          <a:p>
            <a:pPr marL="0" indent="0" algn="ctr">
              <a:buNone/>
            </a:pPr>
            <a:r>
              <a:rPr lang="en-US" sz="1050" b="1" dirty="0">
                <a:solidFill>
                  <a:srgbClr val="45515E"/>
                </a:solidFill>
                <a:latin typeface="에이투지체 5 Medium"/>
                <a:ea typeface="에이투지체 5 Medium"/>
                <a:cs typeface="에이투지체 5 Medium"/>
              </a:rPr>
              <a:t>Ridge</a:t>
            </a:r>
            <a:endParaRPr lang="en-US" sz="1050" dirty="0"/>
          </a:p>
        </p:txBody>
      </p:sp>
      <p:sp>
        <p:nvSpPr>
          <p:cNvPr id="17" name="Shape 13"/>
          <p:cNvSpPr/>
          <p:nvPr/>
        </p:nvSpPr>
        <p:spPr>
          <a:xfrm>
            <a:off x="9784080" y="3136392"/>
            <a:ext cx="320040" cy="0"/>
          </a:xfrm>
          <a:prstGeom prst="line">
            <a:avLst/>
          </a:prstGeom>
          <a:noFill/>
          <a:ln w="15875">
            <a:solidFill>
              <a:srgbClr val="D62828"/>
            </a:solidFill>
            <a:prstDash val="solid"/>
            <a:tailEnd type="triangle"/>
          </a:ln>
        </p:spPr>
        <p:txBody>
          <a:bodyPr/>
          <a:lstStyle/>
          <a:p>
            <a:endParaRPr/>
          </a:p>
        </p:txBody>
      </p:sp>
      <p:sp>
        <p:nvSpPr>
          <p:cNvPr id="18" name="Shape 14"/>
          <p:cNvSpPr/>
          <p:nvPr/>
        </p:nvSpPr>
        <p:spPr>
          <a:xfrm>
            <a:off x="10149840" y="2944368"/>
            <a:ext cx="1362456" cy="384048"/>
          </a:xfrm>
          <a:prstGeom prst="roundRect">
            <a:avLst>
              <a:gd name="adj" fmla="val 50000"/>
            </a:avLst>
          </a:prstGeom>
          <a:solidFill>
            <a:srgbClr val="D62828"/>
          </a:solidFill>
          <a:ln w="12700">
            <a:solidFill>
              <a:srgbClr val="D62828"/>
            </a:solidFill>
            <a:prstDash val="solid"/>
          </a:ln>
        </p:spPr>
        <p:txBody>
          <a:bodyPr/>
          <a:lstStyle/>
          <a:p>
            <a:endParaRPr/>
          </a:p>
        </p:txBody>
      </p:sp>
      <p:sp>
        <p:nvSpPr>
          <p:cNvPr id="19" name="Text 15"/>
          <p:cNvSpPr txBox="1"/>
          <p:nvPr/>
        </p:nvSpPr>
        <p:spPr>
          <a:xfrm>
            <a:off x="10149840" y="2944368"/>
            <a:ext cx="1362456"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에이투지체 5 Medium"/>
                <a:ea typeface="에이투지체 5 Medium"/>
                <a:cs typeface="에이투지체 5 Medium"/>
              </a:rPr>
              <a:t>예측 평균</a:t>
            </a:r>
            <a:endParaRPr lang="en-US" sz="1050" dirty="0"/>
          </a:p>
        </p:txBody>
      </p:sp>
      <p:sp>
        <p:nvSpPr>
          <p:cNvPr id="20" name="Text 16"/>
          <p:cNvSpPr txBox="1"/>
          <p:nvPr/>
        </p:nvSpPr>
        <p:spPr>
          <a:xfrm>
            <a:off x="8083296" y="3685032"/>
            <a:ext cx="3429000" cy="320040"/>
          </a:xfrm>
          <a:prstGeom prst="rect">
            <a:avLst/>
          </a:prstGeom>
          <a:noFill/>
          <a:ln/>
        </p:spPr>
        <p:txBody>
          <a:bodyPr wrap="square" lIns="0" tIns="0" rIns="0" bIns="0" rtlCol="0" anchor="ctr"/>
          <a:lstStyle/>
          <a:p>
            <a:pPr marL="0" indent="0" algn="ctr">
              <a:buNone/>
            </a:pPr>
            <a:r>
              <a:rPr lang="en-US" sz="1050" dirty="0">
                <a:solidFill>
                  <a:srgbClr val="45515E"/>
                </a:solidFill>
                <a:latin typeface="에이투지체 5 Medium"/>
                <a:ea typeface="에이투지체 5 Medium"/>
                <a:cs typeface="에이투지체 5 Medium"/>
              </a:rPr>
              <a:t>검증 오차 상관 0.500 · GB 대비 검증 +0.26%p</a:t>
            </a:r>
            <a:endParaRPr lang="en-US" sz="1050" dirty="0"/>
          </a:p>
        </p:txBody>
      </p:sp>
      <p:sp>
        <p:nvSpPr>
          <p:cNvPr id="21" name="Shape 17"/>
          <p:cNvSpPr/>
          <p:nvPr/>
        </p:nvSpPr>
        <p:spPr>
          <a:xfrm>
            <a:off x="7863840" y="4361688"/>
            <a:ext cx="3870655" cy="1828800"/>
          </a:xfrm>
          <a:prstGeom prst="roundRect">
            <a:avLst>
              <a:gd name="adj" fmla="val 7000"/>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txBody>
          <a:bodyPr/>
          <a:lstStyle/>
          <a:p>
            <a:endParaRPr/>
          </a:p>
        </p:txBody>
      </p:sp>
      <p:sp>
        <p:nvSpPr>
          <p:cNvPr id="22" name="Text 18"/>
          <p:cNvSpPr txBox="1"/>
          <p:nvPr/>
        </p:nvSpPr>
        <p:spPr>
          <a:xfrm>
            <a:off x="8083296" y="4544568"/>
            <a:ext cx="3431743" cy="566928"/>
          </a:xfrm>
          <a:prstGeom prst="rect">
            <a:avLst/>
          </a:prstGeom>
          <a:noFill/>
          <a:ln/>
        </p:spPr>
        <p:txBody>
          <a:bodyPr wrap="square" lIns="0" tIns="0" rIns="0" bIns="0" rtlCol="0" anchor="ctr"/>
          <a:lstStyle/>
          <a:p>
            <a:pPr marL="0" indent="0" algn="ctr">
              <a:buNone/>
            </a:pPr>
            <a:r>
              <a:rPr lang="en-US" sz="3600" kern="0" spc="-108" dirty="0">
                <a:solidFill>
                  <a:srgbClr val="FFFFFF"/>
                </a:solidFill>
                <a:latin typeface="에이투지체 5 Medium"/>
                <a:ea typeface="에이투지체 5 Medium"/>
                <a:cs typeface="에이투지체 5 Medium"/>
              </a:rPr>
              <a:t>94.6%</a:t>
            </a:r>
            <a:endParaRPr lang="en-US" sz="3600" dirty="0"/>
          </a:p>
        </p:txBody>
      </p:sp>
      <p:sp>
        <p:nvSpPr>
          <p:cNvPr id="23" name="Text 19"/>
          <p:cNvSpPr txBox="1"/>
          <p:nvPr/>
        </p:nvSpPr>
        <p:spPr>
          <a:xfrm>
            <a:off x="8083296" y="5148072"/>
            <a:ext cx="3431743"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에이투지체 5 Medium"/>
                <a:ea typeface="에이투지체 5 Medium"/>
                <a:cs typeface="에이투지체 5 Medium"/>
              </a:rPr>
              <a:t>평가 6개월 정확도</a:t>
            </a:r>
            <a:endParaRPr lang="en-US" sz="1400" dirty="0"/>
          </a:p>
        </p:txBody>
      </p:sp>
      <p:sp>
        <p:nvSpPr>
          <p:cNvPr id="24" name="Shape 20"/>
          <p:cNvSpPr/>
          <p:nvPr/>
        </p:nvSpPr>
        <p:spPr>
          <a:xfrm>
            <a:off x="8083296" y="5550408"/>
            <a:ext cx="3431743" cy="0"/>
          </a:xfrm>
          <a:prstGeom prst="line">
            <a:avLst/>
          </a:prstGeom>
          <a:noFill/>
          <a:ln w="9525">
            <a:solidFill>
              <a:srgbClr val="E87A7A"/>
            </a:solidFill>
            <a:prstDash val="solid"/>
          </a:ln>
        </p:spPr>
        <p:txBody>
          <a:bodyPr/>
          <a:lstStyle/>
          <a:p>
            <a:endParaRPr/>
          </a:p>
        </p:txBody>
      </p:sp>
      <p:sp>
        <p:nvSpPr>
          <p:cNvPr id="25" name="Text 21"/>
          <p:cNvSpPr txBox="1"/>
          <p:nvPr/>
        </p:nvSpPr>
        <p:spPr>
          <a:xfrm>
            <a:off x="8083296" y="5660136"/>
            <a:ext cx="3431743" cy="402336"/>
          </a:xfrm>
          <a:prstGeom prst="rect">
            <a:avLst/>
          </a:prstGeom>
          <a:noFill/>
          <a:ln/>
        </p:spPr>
        <p:txBody>
          <a:bodyPr wrap="square" lIns="0" tIns="0" rIns="0" bIns="0" rtlCol="0" anchor="ctr"/>
          <a:lstStyle/>
          <a:p>
            <a:pPr marL="0" indent="0" algn="ctr">
              <a:lnSpc>
                <a:spcPct val="120000"/>
              </a:lnSpc>
              <a:buNone/>
            </a:pPr>
            <a:r>
              <a:rPr lang="en-US" sz="1100" dirty="0">
                <a:solidFill>
                  <a:srgbClr val="FDE3E3"/>
                </a:solidFill>
                <a:latin typeface="에이투지체 5 Medium"/>
                <a:ea typeface="에이투지체 5 Medium"/>
                <a:cs typeface="에이투지체 5 Medium"/>
              </a:rPr>
              <a:t>기준선 93.25% 대비 우수</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a:ea typeface="에이투지체 5 Medium"/>
                <a:cs typeface="에이투지체 5 Medium"/>
              </a:rPr>
              <a:t>이송 건수 평가 결과</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평가 6개월 실제 vs 예측 및 자치구별 정확도 (앙상블, 6개월 연속 예측)</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28</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(transport_test_result)</a:t>
            </a:r>
            <a:endParaRPr lang="en-US" sz="900" dirty="0"/>
          </a:p>
        </p:txBody>
      </p:sp>
      <p:sp>
        <p:nvSpPr>
          <p:cNvPr id="1008" name="Add 1008"/>
          <p:cNvSpPr/>
          <p:nvPr/>
        </p:nvSpPr>
        <p:spPr>
          <a:xfrm>
            <a:off x="457200" y="1993392"/>
            <a:ext cx="8595360" cy="4197096"/>
          </a:xfrm>
          <a:prstGeom prst="roundRect">
            <a:avLst>
              <a:gd name="adj" fmla="val 2178"/>
            </a:avLst>
          </a:prstGeom>
          <a:solidFill>
            <a:srgbClr val="FFFFFF"/>
          </a:solidFill>
          <a:ln>
            <a:noFill/>
          </a:ln>
          <a:effectLst>
            <a:outerShdw blurRad="38100" dist="25400" dir="5400000" algn="t" rotWithShape="0">
              <a:srgbClr val="000000">
                <a:alpha val="8000"/>
              </a:srgbClr>
            </a:outerShdw>
          </a:effectLst>
        </p:spPr>
        <p:txBody>
          <a:bodyPr/>
          <a:lstStyle/>
          <a:p>
            <a:endParaRPr/>
          </a:p>
        </p:txBody>
      </p:sp>
      <p:pic>
        <p:nvPicPr>
          <p:cNvPr id="1009" name="Picture 1008" descr="transport_test_result.png"/>
          <p:cNvPicPr>
            <a:picLocks noChangeAspect="1"/>
          </p:cNvPicPr>
          <p:nvPr/>
        </p:nvPicPr>
        <p:blipFill>
          <a:blip r:embed="rId3"/>
          <a:stretch>
            <a:fillRect/>
          </a:stretch>
        </p:blipFill>
        <p:spPr>
          <a:xfrm>
            <a:off x="566928" y="2230628"/>
            <a:ext cx="8375904" cy="3722624"/>
          </a:xfrm>
          <a:prstGeom prst="rect">
            <a:avLst/>
          </a:prstGeom>
        </p:spPr>
      </p:pic>
      <p:sp>
        <p:nvSpPr>
          <p:cNvPr id="7" name="Add 1009"/>
          <p:cNvSpPr/>
          <p:nvPr/>
        </p:nvSpPr>
        <p:spPr>
          <a:xfrm>
            <a:off x="9235440" y="1993392"/>
            <a:ext cx="2499055" cy="1325880"/>
          </a:xfrm>
          <a:prstGeom prst="roundRect">
            <a:avLst>
              <a:gd name="adj" fmla="val 9655"/>
            </a:avLst>
          </a:prstGeom>
          <a:solidFill>
            <a:srgbClr val="D62828"/>
          </a:solidFill>
          <a:ln>
            <a:noFill/>
          </a:ln>
          <a:effectLst>
            <a:outerShdw blurRad="95250" dist="50800" dir="5400000" algn="t" rotWithShape="0">
              <a:srgbClr val="8A1414">
                <a:alpha val="16000"/>
              </a:srgbClr>
            </a:outerShdw>
          </a:effectLst>
        </p:spPr>
        <p:txBody>
          <a:bodyPr/>
          <a:lstStyle/>
          <a:p>
            <a:endParaRPr/>
          </a:p>
        </p:txBody>
      </p:sp>
      <p:sp>
        <p:nvSpPr>
          <p:cNvPr id="1010" name="Add 1010"/>
          <p:cNvSpPr txBox="1"/>
          <p:nvPr/>
        </p:nvSpPr>
        <p:spPr>
          <a:xfrm>
            <a:off x="9418320" y="2077448"/>
            <a:ext cx="2133295" cy="502920"/>
          </a:xfrm>
          <a:prstGeom prst="rect">
            <a:avLst/>
          </a:prstGeom>
          <a:noFill/>
        </p:spPr>
        <p:txBody>
          <a:bodyPr wrap="square" lIns="0" tIns="0" rIns="0" bIns="0" rtlCol="0" anchor="ctr"/>
          <a:lstStyle/>
          <a:p>
            <a:pPr algn="ctr"/>
            <a:r>
              <a:rPr lang="ko-KR" sz="2800" spc="-80" dirty="0">
                <a:solidFill>
                  <a:srgbClr val="FFFFFF"/>
                </a:solidFill>
                <a:latin typeface="에이투지체 5 Medium"/>
                <a:ea typeface="에이투지체 5 Medium"/>
                <a:cs typeface="에이투지체 5 Medium"/>
              </a:rPr>
              <a:t>94.6%</a:t>
            </a:r>
          </a:p>
        </p:txBody>
      </p:sp>
      <p:sp>
        <p:nvSpPr>
          <p:cNvPr id="1011" name="Add 1011"/>
          <p:cNvSpPr txBox="1"/>
          <p:nvPr/>
        </p:nvSpPr>
        <p:spPr>
          <a:xfrm>
            <a:off x="9418320" y="2607800"/>
            <a:ext cx="2133295" cy="274320"/>
          </a:xfrm>
          <a:prstGeom prst="rect">
            <a:avLst/>
          </a:prstGeom>
          <a:noFill/>
        </p:spPr>
        <p:txBody>
          <a:bodyPr wrap="square" lIns="0" tIns="0" rIns="0" bIns="0" rtlCol="0" anchor="ctr"/>
          <a:lstStyle/>
          <a:p>
            <a:pPr algn="ctr"/>
            <a:r>
              <a:rPr lang="ko-KR" sz="1300" b="1" dirty="0">
                <a:solidFill>
                  <a:srgbClr val="FFFFFF"/>
                </a:solidFill>
                <a:latin typeface="에이투지체 5 Medium"/>
                <a:ea typeface="에이투지체 5 Medium"/>
                <a:cs typeface="에이투지체 5 Medium"/>
              </a:rPr>
              <a:t>전체 평가 정확도</a:t>
            </a:r>
          </a:p>
        </p:txBody>
      </p:sp>
      <p:sp>
        <p:nvSpPr>
          <p:cNvPr id="1012" name="Add 1012"/>
          <p:cNvSpPr/>
          <p:nvPr/>
        </p:nvSpPr>
        <p:spPr>
          <a:xfrm>
            <a:off x="9418320" y="2936984"/>
            <a:ext cx="2133295" cy="0"/>
          </a:xfrm>
          <a:prstGeom prst="line">
            <a:avLst/>
          </a:prstGeom>
          <a:ln w="9525">
            <a:solidFill>
              <a:srgbClr val="E87A7A"/>
            </a:solidFill>
          </a:ln>
        </p:spPr>
        <p:txBody>
          <a:bodyPr/>
          <a:lstStyle/>
          <a:p>
            <a:endParaRPr/>
          </a:p>
        </p:txBody>
      </p:sp>
      <p:sp>
        <p:nvSpPr>
          <p:cNvPr id="1013" name="Add 1013"/>
          <p:cNvSpPr txBox="1"/>
          <p:nvPr/>
        </p:nvSpPr>
        <p:spPr>
          <a:xfrm>
            <a:off x="9418320" y="3027720"/>
            <a:ext cx="2133295" cy="173736"/>
          </a:xfrm>
          <a:prstGeom prst="rect">
            <a:avLst/>
          </a:prstGeom>
          <a:noFill/>
        </p:spPr>
        <p:txBody>
          <a:bodyPr wrap="square" lIns="0" tIns="0" rIns="0" bIns="0" rtlCol="0" anchor="t"/>
          <a:lstStyle/>
          <a:p>
            <a:pPr algn="ctr"/>
            <a:r>
              <a:rPr lang="ko-KR" sz="1050" dirty="0">
                <a:solidFill>
                  <a:srgbClr val="FDE3E3"/>
                </a:solidFill>
                <a:latin typeface="에이투지체 5 Medium"/>
                <a:ea typeface="에이투지체 5 Medium"/>
                <a:cs typeface="에이투지체 5 Medium"/>
              </a:rPr>
              <a:t>25개 구 × 6개월</a:t>
            </a:r>
          </a:p>
        </p:txBody>
      </p:sp>
      <p:sp>
        <p:nvSpPr>
          <p:cNvPr id="1014" name="Add 1014"/>
          <p:cNvSpPr/>
          <p:nvPr/>
        </p:nvSpPr>
        <p:spPr>
          <a:xfrm>
            <a:off x="9235440" y="3429000"/>
            <a:ext cx="2499055" cy="1325880"/>
          </a:xfrm>
          <a:prstGeom prst="roundRect">
            <a:avLst>
              <a:gd name="adj" fmla="val 6896"/>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1015" name="Add 1015"/>
          <p:cNvSpPr txBox="1"/>
          <p:nvPr/>
        </p:nvSpPr>
        <p:spPr>
          <a:xfrm>
            <a:off x="9418320" y="3513056"/>
            <a:ext cx="2133295" cy="502920"/>
          </a:xfrm>
          <a:prstGeom prst="rect">
            <a:avLst/>
          </a:prstGeom>
          <a:noFill/>
        </p:spPr>
        <p:txBody>
          <a:bodyPr wrap="square" lIns="0" tIns="0" rIns="0" bIns="0" rtlCol="0" anchor="ctr"/>
          <a:lstStyle/>
          <a:p>
            <a:pPr algn="ctr"/>
            <a:r>
              <a:rPr lang="ko-KR" sz="2800" spc="-80" dirty="0">
                <a:solidFill>
                  <a:srgbClr val="D62828"/>
                </a:solidFill>
                <a:latin typeface="에이투지체 5 Medium"/>
                <a:ea typeface="에이투지체 5 Medium"/>
                <a:cs typeface="에이투지체 5 Medium"/>
              </a:rPr>
              <a:t>98.7%</a:t>
            </a:r>
          </a:p>
        </p:txBody>
      </p:sp>
      <p:sp>
        <p:nvSpPr>
          <p:cNvPr id="1016" name="Add 1016"/>
          <p:cNvSpPr txBox="1"/>
          <p:nvPr/>
        </p:nvSpPr>
        <p:spPr>
          <a:xfrm>
            <a:off x="9418320" y="4043408"/>
            <a:ext cx="2133295" cy="274320"/>
          </a:xfrm>
          <a:prstGeom prst="rect">
            <a:avLst/>
          </a:prstGeom>
          <a:noFill/>
        </p:spPr>
        <p:txBody>
          <a:bodyPr wrap="square" lIns="0" tIns="0" rIns="0" bIns="0" rtlCol="0" anchor="ctr"/>
          <a:lstStyle/>
          <a:p>
            <a:pPr algn="ctr"/>
            <a:r>
              <a:rPr lang="ko-KR" sz="1300" b="1" dirty="0">
                <a:solidFill>
                  <a:srgbClr val="222222"/>
                </a:solidFill>
                <a:latin typeface="에이투지체 5 Medium"/>
                <a:ea typeface="에이투지체 5 Medium"/>
                <a:cs typeface="에이투지체 5 Medium"/>
              </a:rPr>
              <a:t>최고 · 강서구</a:t>
            </a:r>
          </a:p>
        </p:txBody>
      </p:sp>
      <p:sp>
        <p:nvSpPr>
          <p:cNvPr id="1017" name="Add 1017"/>
          <p:cNvSpPr/>
          <p:nvPr/>
        </p:nvSpPr>
        <p:spPr>
          <a:xfrm>
            <a:off x="9418320" y="4372592"/>
            <a:ext cx="2133295" cy="0"/>
          </a:xfrm>
          <a:prstGeom prst="line">
            <a:avLst/>
          </a:prstGeom>
          <a:ln w="9525">
            <a:solidFill>
              <a:srgbClr val="E5E7EB"/>
            </a:solidFill>
          </a:ln>
        </p:spPr>
        <p:txBody>
          <a:bodyPr/>
          <a:lstStyle/>
          <a:p>
            <a:endParaRPr/>
          </a:p>
        </p:txBody>
      </p:sp>
      <p:sp>
        <p:nvSpPr>
          <p:cNvPr id="1018" name="Add 1018"/>
          <p:cNvSpPr txBox="1"/>
          <p:nvPr/>
        </p:nvSpPr>
        <p:spPr>
          <a:xfrm>
            <a:off x="9418320" y="4463328"/>
            <a:ext cx="2133295" cy="173736"/>
          </a:xfrm>
          <a:prstGeom prst="rect">
            <a:avLst/>
          </a:prstGeom>
          <a:noFill/>
        </p:spPr>
        <p:txBody>
          <a:bodyPr wrap="square" lIns="0" tIns="0" rIns="0" bIns="0" rtlCol="0" anchor="t"/>
          <a:lstStyle/>
          <a:p>
            <a:pPr algn="ctr"/>
            <a:r>
              <a:rPr lang="ko-KR" sz="1050" dirty="0">
                <a:solidFill>
                  <a:srgbClr val="45515E"/>
                </a:solidFill>
                <a:latin typeface="에이투지체 5 Medium"/>
                <a:ea typeface="에이투지체 5 Medium"/>
                <a:cs typeface="에이투지체 5 Medium"/>
              </a:rPr>
              <a:t>자치구별 정확도</a:t>
            </a:r>
          </a:p>
        </p:txBody>
      </p:sp>
      <p:sp>
        <p:nvSpPr>
          <p:cNvPr id="1019" name="Add 1019"/>
          <p:cNvSpPr/>
          <p:nvPr/>
        </p:nvSpPr>
        <p:spPr>
          <a:xfrm>
            <a:off x="9235440" y="4864608"/>
            <a:ext cx="2499055" cy="1325880"/>
          </a:xfrm>
          <a:prstGeom prst="roundRect">
            <a:avLst>
              <a:gd name="adj" fmla="val 6896"/>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1020" name="Add 1020"/>
          <p:cNvSpPr txBox="1"/>
          <p:nvPr/>
        </p:nvSpPr>
        <p:spPr>
          <a:xfrm>
            <a:off x="9418320" y="4948664"/>
            <a:ext cx="2133295" cy="502920"/>
          </a:xfrm>
          <a:prstGeom prst="rect">
            <a:avLst/>
          </a:prstGeom>
          <a:noFill/>
        </p:spPr>
        <p:txBody>
          <a:bodyPr wrap="square" lIns="0" tIns="0" rIns="0" bIns="0" rtlCol="0" anchor="ctr"/>
          <a:lstStyle/>
          <a:p>
            <a:pPr algn="ctr"/>
            <a:r>
              <a:rPr lang="ko-KR" sz="2800" spc="-80" dirty="0">
                <a:solidFill>
                  <a:srgbClr val="D62828"/>
                </a:solidFill>
                <a:latin typeface="에이투지체 5 Medium"/>
                <a:ea typeface="에이투지체 5 Medium"/>
                <a:cs typeface="에이투지체 5 Medium"/>
              </a:rPr>
              <a:t>90.1%</a:t>
            </a:r>
          </a:p>
        </p:txBody>
      </p:sp>
      <p:sp>
        <p:nvSpPr>
          <p:cNvPr id="1021" name="Add 1021"/>
          <p:cNvSpPr txBox="1"/>
          <p:nvPr/>
        </p:nvSpPr>
        <p:spPr>
          <a:xfrm>
            <a:off x="9418320" y="5479016"/>
            <a:ext cx="2133295" cy="274320"/>
          </a:xfrm>
          <a:prstGeom prst="rect">
            <a:avLst/>
          </a:prstGeom>
          <a:noFill/>
        </p:spPr>
        <p:txBody>
          <a:bodyPr wrap="square" lIns="0" tIns="0" rIns="0" bIns="0" rtlCol="0" anchor="ctr"/>
          <a:lstStyle/>
          <a:p>
            <a:pPr algn="ctr"/>
            <a:r>
              <a:rPr lang="ko-KR" sz="1300" b="1" dirty="0">
                <a:solidFill>
                  <a:srgbClr val="222222"/>
                </a:solidFill>
                <a:latin typeface="에이투지체 5 Medium"/>
                <a:ea typeface="에이투지체 5 Medium"/>
                <a:cs typeface="에이투지체 5 Medium"/>
              </a:rPr>
              <a:t>최저 · 양천구</a:t>
            </a:r>
          </a:p>
        </p:txBody>
      </p:sp>
      <p:sp>
        <p:nvSpPr>
          <p:cNvPr id="1022" name="Add 1022"/>
          <p:cNvSpPr/>
          <p:nvPr/>
        </p:nvSpPr>
        <p:spPr>
          <a:xfrm>
            <a:off x="9418320" y="5808200"/>
            <a:ext cx="2133295" cy="0"/>
          </a:xfrm>
          <a:prstGeom prst="line">
            <a:avLst/>
          </a:prstGeom>
          <a:ln w="9525">
            <a:solidFill>
              <a:srgbClr val="E5E7EB"/>
            </a:solidFill>
          </a:ln>
        </p:spPr>
        <p:txBody>
          <a:bodyPr/>
          <a:lstStyle/>
          <a:p>
            <a:endParaRPr/>
          </a:p>
        </p:txBody>
      </p:sp>
      <p:sp>
        <p:nvSpPr>
          <p:cNvPr id="1023" name="Add 1023"/>
          <p:cNvSpPr txBox="1"/>
          <p:nvPr/>
        </p:nvSpPr>
        <p:spPr>
          <a:xfrm>
            <a:off x="9418320" y="5898936"/>
            <a:ext cx="2133295" cy="173736"/>
          </a:xfrm>
          <a:prstGeom prst="rect">
            <a:avLst/>
          </a:prstGeom>
          <a:noFill/>
        </p:spPr>
        <p:txBody>
          <a:bodyPr wrap="square" lIns="0" tIns="0" rIns="0" bIns="0" rtlCol="0" anchor="t"/>
          <a:lstStyle/>
          <a:p>
            <a:pPr algn="ctr"/>
            <a:r>
              <a:rPr lang="ko-KR" sz="1050" dirty="0">
                <a:solidFill>
                  <a:srgbClr val="45515E"/>
                </a:solidFill>
                <a:latin typeface="에이투지체 5 Medium"/>
                <a:ea typeface="에이투지체 5 Medium"/>
                <a:cs typeface="에이투지체 5 Medium"/>
              </a:rPr>
              <a:t>빗금 = 관할 변경 구</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a:ea typeface="에이투지체 5 Medium"/>
                <a:cs typeface="에이투지체 5 Medium"/>
              </a:rPr>
              <a:t>이송 건수 실제 · 예측 추이</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이송 건수 상위 4개 구의 평가 기간(2025.07~12) 실제 vs 예측</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29</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(transport_test_trend)</a:t>
            </a:r>
            <a:endParaRPr lang="en-US" sz="900" dirty="0"/>
          </a:p>
        </p:txBody>
      </p:sp>
      <p:sp>
        <p:nvSpPr>
          <p:cNvPr id="1024" name="Add 1024"/>
          <p:cNvSpPr/>
          <p:nvPr/>
        </p:nvSpPr>
        <p:spPr>
          <a:xfrm>
            <a:off x="457200" y="1993392"/>
            <a:ext cx="8595360" cy="4197096"/>
          </a:xfrm>
          <a:prstGeom prst="roundRect">
            <a:avLst>
              <a:gd name="adj" fmla="val 2178"/>
            </a:avLst>
          </a:prstGeom>
          <a:solidFill>
            <a:srgbClr val="FFFFFF"/>
          </a:solidFill>
          <a:ln>
            <a:noFill/>
          </a:ln>
          <a:effectLst>
            <a:outerShdw blurRad="38100" dist="25400" dir="5400000" algn="t" rotWithShape="0">
              <a:srgbClr val="000000">
                <a:alpha val="8000"/>
              </a:srgbClr>
            </a:outerShdw>
          </a:effectLst>
        </p:spPr>
        <p:txBody>
          <a:bodyPr/>
          <a:lstStyle/>
          <a:p>
            <a:endParaRPr/>
          </a:p>
        </p:txBody>
      </p:sp>
      <p:pic>
        <p:nvPicPr>
          <p:cNvPr id="1025" name="Picture 1024" descr="transport_test_trend.png"/>
          <p:cNvPicPr>
            <a:picLocks noChangeAspect="1"/>
          </p:cNvPicPr>
          <p:nvPr/>
        </p:nvPicPr>
        <p:blipFill>
          <a:blip r:embed="rId3"/>
          <a:stretch>
            <a:fillRect/>
          </a:stretch>
        </p:blipFill>
        <p:spPr>
          <a:xfrm>
            <a:off x="749512" y="2103120"/>
            <a:ext cx="8010735" cy="3977640"/>
          </a:xfrm>
          <a:prstGeom prst="rect">
            <a:avLst/>
          </a:prstGeom>
        </p:spPr>
      </p:pic>
      <p:sp>
        <p:nvSpPr>
          <p:cNvPr id="7" name="Add 1025"/>
          <p:cNvSpPr/>
          <p:nvPr/>
        </p:nvSpPr>
        <p:spPr>
          <a:xfrm>
            <a:off x="9235440" y="1993392"/>
            <a:ext cx="2499055" cy="4197096"/>
          </a:xfrm>
          <a:prstGeom prst="roundRect">
            <a:avLst>
              <a:gd name="adj" fmla="val 3658"/>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1026" name="Add 1026"/>
          <p:cNvSpPr txBox="1"/>
          <p:nvPr/>
        </p:nvSpPr>
        <p:spPr>
          <a:xfrm>
            <a:off x="9454896" y="2157984"/>
            <a:ext cx="2060143" cy="310896"/>
          </a:xfrm>
          <a:prstGeom prst="rect">
            <a:avLst/>
          </a:prstGeom>
          <a:noFill/>
        </p:spPr>
        <p:txBody>
          <a:bodyPr wrap="square" lIns="0" tIns="0" rIns="0" bIns="0" rtlCol="0" anchor="ctr"/>
          <a:lstStyle/>
          <a:p>
            <a:pPr algn="ctr"/>
            <a:r>
              <a:rPr lang="ko-KR" sz="1600" b="1" dirty="0">
                <a:solidFill>
                  <a:srgbClr val="D62828"/>
                </a:solidFill>
                <a:latin typeface="에이투지체 5 Medium"/>
                <a:ea typeface="에이투지체 5 Medium"/>
                <a:cs typeface="에이투지체 5 Medium"/>
              </a:rPr>
              <a:t>읽는 법</a:t>
            </a:r>
          </a:p>
        </p:txBody>
      </p:sp>
      <p:sp>
        <p:nvSpPr>
          <p:cNvPr id="1027" name="Add 1027"/>
          <p:cNvSpPr/>
          <p:nvPr/>
        </p:nvSpPr>
        <p:spPr>
          <a:xfrm>
            <a:off x="9454896" y="2560320"/>
            <a:ext cx="2060143" cy="0"/>
          </a:xfrm>
          <a:prstGeom prst="line">
            <a:avLst/>
          </a:prstGeom>
          <a:ln w="9525">
            <a:solidFill>
              <a:srgbClr val="E5E7EB"/>
            </a:solidFill>
          </a:ln>
        </p:spPr>
        <p:txBody>
          <a:bodyPr/>
          <a:lstStyle/>
          <a:p>
            <a:endParaRPr/>
          </a:p>
        </p:txBody>
      </p:sp>
      <p:sp>
        <p:nvSpPr>
          <p:cNvPr id="1028" name="Add 1028"/>
          <p:cNvSpPr txBox="1"/>
          <p:nvPr/>
        </p:nvSpPr>
        <p:spPr>
          <a:xfrm>
            <a:off x="9454896" y="2670048"/>
            <a:ext cx="2060143" cy="3392424"/>
          </a:xfrm>
          <a:prstGeom prst="rect">
            <a:avLst/>
          </a:prstGeom>
          <a:noFill/>
        </p:spPr>
        <p:txBody>
          <a:bodyPr wrap="square" lIns="0" tIns="0" rIns="0" bIns="0" rtlCol="0" anchor="t"/>
          <a:lstStyle/>
          <a:p>
            <a:pPr algn="l">
              <a:lnSpc>
                <a:spcPct val="130000"/>
              </a:lnSpc>
            </a:pPr>
            <a:r>
              <a:rPr lang="ko-KR" sz="1100" dirty="0">
                <a:solidFill>
                  <a:srgbClr val="45515E"/>
                </a:solidFill>
                <a:latin typeface="에이투지체 5 Medium"/>
                <a:ea typeface="에이투지체 5 Medium"/>
                <a:cs typeface="에이투지체 5 Medium"/>
              </a:rPr>
              <a:t>· 실선: 실제 이송 건수</a:t>
            </a:r>
          </a:p>
          <a:p>
            <a:pPr algn="l">
              <a:lnSpc>
                <a:spcPct val="130000"/>
              </a:lnSpc>
            </a:pPr>
            <a:r>
              <a:rPr lang="ko-KR" sz="1100" dirty="0">
                <a:solidFill>
                  <a:srgbClr val="45515E"/>
                </a:solidFill>
                <a:latin typeface="에이투지체 5 Medium"/>
                <a:ea typeface="에이투지체 5 Medium"/>
                <a:cs typeface="에이투지체 5 Medium"/>
              </a:rPr>
              <a:t>· 점선: 앙상블 예측</a:t>
            </a:r>
          </a:p>
          <a:p>
            <a:pPr algn="l">
              <a:lnSpc>
                <a:spcPct val="130000"/>
              </a:lnSpc>
            </a:pPr>
            <a:r>
              <a:rPr lang="ko-KR" sz="1100" dirty="0">
                <a:solidFill>
                  <a:srgbClr val="45515E"/>
                </a:solidFill>
                <a:latin typeface="에이투지체 5 Medium"/>
                <a:ea typeface="에이투지체 5 Medium"/>
                <a:cs typeface="에이투지체 5 Medium"/>
              </a:rPr>
              <a:t>· 대상: 강남 · 구로</a:t>
            </a:r>
          </a:p>
          <a:p>
            <a:pPr algn="l">
              <a:lnSpc>
                <a:spcPct val="130000"/>
              </a:lnSpc>
            </a:pPr>
            <a:r>
              <a:rPr lang="ko-KR" sz="1100" dirty="0">
                <a:solidFill>
                  <a:srgbClr val="45515E"/>
                </a:solidFill>
                <a:latin typeface="에이투지체 5 Medium"/>
                <a:ea typeface="에이투지체 5 Medium"/>
                <a:cs typeface="에이투지체 5 Medium"/>
              </a:rPr>
              <a:t>  강서 · 송파</a:t>
            </a:r>
          </a:p>
          <a:p>
            <a:pPr algn="l">
              <a:lnSpc>
                <a:spcPct val="130000"/>
              </a:lnSpc>
            </a:pPr>
            <a:endParaRPr lang="ko-KR" sz="1100" dirty="0">
              <a:solidFill>
                <a:srgbClr val="45515E"/>
              </a:solidFill>
              <a:latin typeface="에이투지체 5 Medium"/>
              <a:ea typeface="에이투지체 5 Medium"/>
              <a:cs typeface="에이투지체 5 Medium"/>
            </a:endParaRPr>
          </a:p>
          <a:p>
            <a:pPr algn="l">
              <a:lnSpc>
                <a:spcPct val="130000"/>
              </a:lnSpc>
            </a:pPr>
            <a:r>
              <a:rPr lang="ko-KR" sz="1100" dirty="0">
                <a:solidFill>
                  <a:srgbClr val="45515E"/>
                </a:solidFill>
                <a:latin typeface="에이투지체 5 Medium"/>
                <a:ea typeface="에이투지체 5 Medium"/>
                <a:cs typeface="에이투지체 5 Medium"/>
              </a:rPr>
              <a:t>관찰</a:t>
            </a:r>
          </a:p>
          <a:p>
            <a:pPr algn="l">
              <a:lnSpc>
                <a:spcPct val="130000"/>
              </a:lnSpc>
            </a:pPr>
            <a:r>
              <a:rPr lang="ko-KR" sz="1100" dirty="0">
                <a:solidFill>
                  <a:srgbClr val="45515E"/>
                </a:solidFill>
                <a:latin typeface="에이투지체 5 Medium"/>
                <a:ea typeface="에이투지체 5 Medium"/>
                <a:cs typeface="에이투지체 5 Medium"/>
              </a:rPr>
              <a:t>· 월별 수준 · 흐름 추종</a:t>
            </a:r>
          </a:p>
          <a:p>
            <a:pPr algn="l">
              <a:lnSpc>
                <a:spcPct val="130000"/>
              </a:lnSpc>
            </a:pPr>
            <a:r>
              <a:rPr lang="ko-KR" sz="1100" dirty="0">
                <a:solidFill>
                  <a:srgbClr val="45515E"/>
                </a:solidFill>
                <a:latin typeface="에이투지체 5 Medium"/>
                <a:ea typeface="에이투지체 5 Medium"/>
                <a:cs typeface="에이투지체 5 Medium"/>
              </a:rPr>
              <a:t>· 급증 월은 과소 예측</a:t>
            </a:r>
          </a:p>
          <a:p>
            <a:pPr algn="l">
              <a:lnSpc>
                <a:spcPct val="130000"/>
              </a:lnSpc>
            </a:pPr>
            <a:r>
              <a:rPr lang="ko-KR" sz="1100" dirty="0">
                <a:solidFill>
                  <a:srgbClr val="45515E"/>
                </a:solidFill>
                <a:latin typeface="에이투지체 5 Medium"/>
                <a:ea typeface="에이투지체 5 Medium"/>
                <a:cs typeface="에이투지체 5 Medium"/>
              </a:rPr>
              <a:t>  (예: 강남구 2025.07)</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6">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a:ea typeface="에이투지체 5 Medium"/>
                <a:cs typeface="에이투지체 5 Medium"/>
              </a:rPr>
              <a:t>인구 밀집 모델 성능 비교</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검증 정확도 1위 Random Forest 선정, 평가 정확도 98.2% 확인</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30</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(5-3 · 5-4)</a:t>
            </a:r>
            <a:endParaRPr lang="en-US" sz="900" dirty="0"/>
          </a:p>
        </p:txBody>
      </p:sp>
      <p:sp>
        <p:nvSpPr>
          <p:cNvPr id="8" name="Shape 5"/>
          <p:cNvSpPr/>
          <p:nvPr/>
        </p:nvSpPr>
        <p:spPr>
          <a:xfrm>
            <a:off x="457200" y="1993392"/>
            <a:ext cx="7223760" cy="4197096"/>
          </a:xfrm>
          <a:prstGeom prst="roundRect">
            <a:avLst>
              <a:gd name="adj" fmla="val 217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graphicFrame>
        <p:nvGraphicFramePr>
          <p:cNvPr id="9" name="Chart 0"/>
          <p:cNvGraphicFramePr/>
          <p:nvPr/>
        </p:nvGraphicFramePr>
        <p:xfrm>
          <a:off x="548640" y="2066544"/>
          <a:ext cx="7040880" cy="4050792"/>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6"/>
          <p:cNvSpPr/>
          <p:nvPr/>
        </p:nvSpPr>
        <p:spPr>
          <a:xfrm>
            <a:off x="7863840" y="1993392"/>
            <a:ext cx="3870655" cy="1828800"/>
          </a:xfrm>
          <a:prstGeom prst="roundRect">
            <a:avLst>
              <a:gd name="adj" fmla="val 7000"/>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txBody>
          <a:bodyPr/>
          <a:lstStyle/>
          <a:p>
            <a:endParaRPr/>
          </a:p>
        </p:txBody>
      </p:sp>
      <p:sp>
        <p:nvSpPr>
          <p:cNvPr id="11" name="Text 7"/>
          <p:cNvSpPr txBox="1"/>
          <p:nvPr/>
        </p:nvSpPr>
        <p:spPr>
          <a:xfrm>
            <a:off x="8083296" y="2149896"/>
            <a:ext cx="3431743" cy="566928"/>
          </a:xfrm>
          <a:prstGeom prst="rect">
            <a:avLst/>
          </a:prstGeom>
          <a:noFill/>
          <a:ln/>
        </p:spPr>
        <p:txBody>
          <a:bodyPr wrap="square" lIns="0" tIns="0" rIns="0" bIns="0" rtlCol="0" anchor="ctr"/>
          <a:lstStyle/>
          <a:p>
            <a:pPr marL="0" indent="0" algn="ctr">
              <a:buNone/>
            </a:pPr>
            <a:r>
              <a:rPr lang="en-US" sz="3600" kern="0" spc="-108" dirty="0">
                <a:solidFill>
                  <a:srgbClr val="FFFFFF"/>
                </a:solidFill>
                <a:latin typeface="에이투지체 5 Medium"/>
                <a:ea typeface="에이투지체 5 Medium"/>
                <a:cs typeface="에이투지체 5 Medium"/>
              </a:rPr>
              <a:t>98.2%</a:t>
            </a:r>
            <a:endParaRPr lang="en-US" sz="3600" dirty="0"/>
          </a:p>
        </p:txBody>
      </p:sp>
      <p:sp>
        <p:nvSpPr>
          <p:cNvPr id="12" name="Text 8"/>
          <p:cNvSpPr txBox="1"/>
          <p:nvPr/>
        </p:nvSpPr>
        <p:spPr>
          <a:xfrm>
            <a:off x="8083296" y="2753400"/>
            <a:ext cx="3431743"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에이투지체 5 Medium"/>
                <a:ea typeface="에이투지체 5 Medium"/>
                <a:cs typeface="에이투지체 5 Medium"/>
              </a:rPr>
              <a:t>평가 정확도</a:t>
            </a:r>
            <a:endParaRPr lang="en-US" sz="1400" dirty="0"/>
          </a:p>
        </p:txBody>
      </p:sp>
      <p:sp>
        <p:nvSpPr>
          <p:cNvPr id="13" name="Shape 9"/>
          <p:cNvSpPr/>
          <p:nvPr/>
        </p:nvSpPr>
        <p:spPr>
          <a:xfrm>
            <a:off x="8083296" y="3155736"/>
            <a:ext cx="3431743" cy="0"/>
          </a:xfrm>
          <a:prstGeom prst="line">
            <a:avLst/>
          </a:prstGeom>
          <a:noFill/>
          <a:ln w="9525">
            <a:solidFill>
              <a:srgbClr val="E87A7A"/>
            </a:solidFill>
            <a:prstDash val="solid"/>
          </a:ln>
        </p:spPr>
        <p:txBody>
          <a:bodyPr/>
          <a:lstStyle/>
          <a:p>
            <a:endParaRPr/>
          </a:p>
        </p:txBody>
      </p:sp>
      <p:sp>
        <p:nvSpPr>
          <p:cNvPr id="14" name="Text 10"/>
          <p:cNvSpPr txBox="1"/>
          <p:nvPr/>
        </p:nvSpPr>
        <p:spPr>
          <a:xfrm>
            <a:off x="8083296" y="3265464"/>
            <a:ext cx="3431743" cy="402336"/>
          </a:xfrm>
          <a:prstGeom prst="rect">
            <a:avLst/>
          </a:prstGeom>
          <a:noFill/>
          <a:ln/>
        </p:spPr>
        <p:txBody>
          <a:bodyPr wrap="square" lIns="0" tIns="0" rIns="0" bIns="0" rtlCol="0" anchor="ctr"/>
          <a:lstStyle/>
          <a:p>
            <a:pPr marL="0" indent="0" algn="ctr">
              <a:lnSpc>
                <a:spcPct val="120000"/>
              </a:lnSpc>
              <a:buNone/>
            </a:pPr>
            <a:r>
              <a:rPr lang="en-US" sz="1100" dirty="0">
                <a:solidFill>
                  <a:srgbClr val="FDE3E3"/>
                </a:solidFill>
                <a:latin typeface="에이투지체 5 Medium"/>
                <a:ea typeface="에이투지체 5 Medium"/>
                <a:cs typeface="에이투지체 5 Medium"/>
              </a:rPr>
              <a:t>검증 98.59% → 평가 98.16%</a:t>
            </a:r>
            <a:endParaRPr lang="en-US" sz="1100" dirty="0"/>
          </a:p>
          <a:p>
            <a:pPr marL="0" indent="0" algn="ctr">
              <a:lnSpc>
                <a:spcPct val="120000"/>
              </a:lnSpc>
              <a:buNone/>
            </a:pPr>
            <a:r>
              <a:rPr lang="en-US" sz="1100" dirty="0">
                <a:solidFill>
                  <a:srgbClr val="FDE3E3"/>
                </a:solidFill>
                <a:latin typeface="에이투지체 5 Medium"/>
                <a:ea typeface="에이투지체 5 Medium"/>
                <a:cs typeface="에이투지체 5 Medium"/>
              </a:rPr>
              <a:t>평가에서도 1위 유지</a:t>
            </a:r>
            <a:endParaRPr lang="en-US" sz="1100" dirty="0"/>
          </a:p>
        </p:txBody>
      </p:sp>
      <p:sp>
        <p:nvSpPr>
          <p:cNvPr id="15" name="Shape 11"/>
          <p:cNvSpPr/>
          <p:nvPr/>
        </p:nvSpPr>
        <p:spPr>
          <a:xfrm>
            <a:off x="7863840" y="4005072"/>
            <a:ext cx="3870655" cy="2185416"/>
          </a:xfrm>
          <a:prstGeom prst="roundRect">
            <a:avLst>
              <a:gd name="adj" fmla="val 4184"/>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6" name="Text 12"/>
          <p:cNvSpPr txBox="1"/>
          <p:nvPr/>
        </p:nvSpPr>
        <p:spPr>
          <a:xfrm>
            <a:off x="8083296" y="4196040"/>
            <a:ext cx="3429000"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일평균 오차 인원 (평가)</a:t>
            </a:r>
            <a:endParaRPr lang="en-US" sz="1800" dirty="0"/>
          </a:p>
        </p:txBody>
      </p:sp>
      <p:sp>
        <p:nvSpPr>
          <p:cNvPr id="17" name="Shape 13"/>
          <p:cNvSpPr/>
          <p:nvPr/>
        </p:nvSpPr>
        <p:spPr>
          <a:xfrm>
            <a:off x="8083296" y="4633544"/>
            <a:ext cx="3429000" cy="0"/>
          </a:xfrm>
          <a:prstGeom prst="line">
            <a:avLst/>
          </a:prstGeom>
          <a:noFill/>
          <a:ln w="9525">
            <a:solidFill>
              <a:srgbClr val="E5E7EB"/>
            </a:solidFill>
            <a:prstDash val="solid"/>
          </a:ln>
        </p:spPr>
        <p:txBody>
          <a:bodyPr/>
          <a:lstStyle/>
          <a:p>
            <a:endParaRPr/>
          </a:p>
        </p:txBody>
      </p:sp>
      <p:sp>
        <p:nvSpPr>
          <p:cNvPr id="18" name="Text 14"/>
          <p:cNvSpPr txBox="1"/>
          <p:nvPr/>
        </p:nvSpPr>
        <p:spPr>
          <a:xfrm>
            <a:off x="8083296" y="4778442"/>
            <a:ext cx="1828800" cy="411480"/>
          </a:xfrm>
          <a:prstGeom prst="rect">
            <a:avLst/>
          </a:prstGeom>
          <a:noFill/>
          <a:ln/>
        </p:spPr>
        <p:txBody>
          <a:bodyPr wrap="square" lIns="0" tIns="0" rIns="0" bIns="0" rtlCol="0" anchor="ctr"/>
          <a:lstStyle/>
          <a:p>
            <a:pPr marL="0" indent="0">
              <a:buNone/>
            </a:pPr>
            <a:r>
              <a:rPr lang="en-US" sz="1200" dirty="0">
                <a:solidFill>
                  <a:srgbClr val="45515E"/>
                </a:solidFill>
                <a:latin typeface="에이투지체 5 Medium"/>
                <a:ea typeface="에이투지체 5 Medium"/>
                <a:cs typeface="에이투지체 5 Medium"/>
              </a:rPr>
              <a:t>Random Forest</a:t>
            </a:r>
            <a:endParaRPr lang="en-US" sz="1200" dirty="0"/>
          </a:p>
        </p:txBody>
      </p:sp>
      <p:sp>
        <p:nvSpPr>
          <p:cNvPr id="19" name="Text 15"/>
          <p:cNvSpPr txBox="1"/>
          <p:nvPr/>
        </p:nvSpPr>
        <p:spPr>
          <a:xfrm>
            <a:off x="9831560" y="4743272"/>
            <a:ext cx="1636776" cy="411480"/>
          </a:xfrm>
          <a:prstGeom prst="rect">
            <a:avLst/>
          </a:prstGeom>
          <a:noFill/>
          <a:ln/>
        </p:spPr>
        <p:txBody>
          <a:bodyPr wrap="square" lIns="0" tIns="0" rIns="0" bIns="0" rtlCol="0" anchor="ctr"/>
          <a:lstStyle/>
          <a:p>
            <a:pPr marL="0" indent="0" algn="r">
              <a:buNone/>
            </a:pPr>
            <a:r>
              <a:rPr lang="en-US" sz="2000" dirty="0">
                <a:solidFill>
                  <a:srgbClr val="D62828"/>
                </a:solidFill>
                <a:latin typeface="에이투지체 5 Medium"/>
                <a:ea typeface="에이투지체 5 Medium"/>
                <a:cs typeface="에이투지체 5 Medium"/>
              </a:rPr>
              <a:t>8,836명</a:t>
            </a:r>
            <a:endParaRPr lang="en-US" sz="2000" dirty="0"/>
          </a:p>
        </p:txBody>
      </p:sp>
      <p:sp>
        <p:nvSpPr>
          <p:cNvPr id="20" name="Text 16"/>
          <p:cNvSpPr txBox="1"/>
          <p:nvPr/>
        </p:nvSpPr>
        <p:spPr>
          <a:xfrm>
            <a:off x="8083296" y="5235642"/>
            <a:ext cx="1828800" cy="411480"/>
          </a:xfrm>
          <a:prstGeom prst="rect">
            <a:avLst/>
          </a:prstGeom>
          <a:noFill/>
          <a:ln/>
        </p:spPr>
        <p:txBody>
          <a:bodyPr wrap="square" lIns="0" tIns="0" rIns="0" bIns="0" rtlCol="0" anchor="ctr"/>
          <a:lstStyle/>
          <a:p>
            <a:pPr marL="0" indent="0">
              <a:buNone/>
            </a:pPr>
            <a:r>
              <a:rPr lang="en-US" sz="1200" dirty="0">
                <a:solidFill>
                  <a:srgbClr val="45515E"/>
                </a:solidFill>
                <a:latin typeface="에이투지체 5 Medium"/>
                <a:ea typeface="에이투지체 5 Medium"/>
                <a:cs typeface="에이투지체 5 Medium"/>
              </a:rPr>
              <a:t>기준선 (7일 전 값)</a:t>
            </a:r>
            <a:endParaRPr lang="en-US" sz="1200" dirty="0"/>
          </a:p>
        </p:txBody>
      </p:sp>
      <p:sp>
        <p:nvSpPr>
          <p:cNvPr id="21" name="Text 17"/>
          <p:cNvSpPr txBox="1"/>
          <p:nvPr/>
        </p:nvSpPr>
        <p:spPr>
          <a:xfrm>
            <a:off x="9831560" y="5200472"/>
            <a:ext cx="1636776" cy="411480"/>
          </a:xfrm>
          <a:prstGeom prst="rect">
            <a:avLst/>
          </a:prstGeom>
          <a:noFill/>
          <a:ln/>
        </p:spPr>
        <p:txBody>
          <a:bodyPr wrap="square" lIns="0" tIns="0" rIns="0" bIns="0" rtlCol="0" anchor="ctr"/>
          <a:lstStyle/>
          <a:p>
            <a:pPr marL="0" indent="0" algn="r">
              <a:buNone/>
            </a:pPr>
            <a:r>
              <a:rPr lang="en-US" sz="2000" dirty="0">
                <a:solidFill>
                  <a:srgbClr val="8E8E93"/>
                </a:solidFill>
                <a:latin typeface="에이투지체 5 Medium"/>
                <a:ea typeface="에이투지체 5 Medium"/>
                <a:cs typeface="에이투지체 5 Medium"/>
              </a:rPr>
              <a:t>12,015명</a:t>
            </a:r>
            <a:endParaRPr lang="en-US" sz="2000" dirty="0"/>
          </a:p>
        </p:txBody>
      </p:sp>
      <p:sp>
        <p:nvSpPr>
          <p:cNvPr id="22" name="Text 18"/>
          <p:cNvSpPr txBox="1"/>
          <p:nvPr/>
        </p:nvSpPr>
        <p:spPr>
          <a:xfrm>
            <a:off x="8083296" y="5713240"/>
            <a:ext cx="3429000" cy="320040"/>
          </a:xfrm>
          <a:prstGeom prst="rect">
            <a:avLst/>
          </a:prstGeom>
          <a:noFill/>
          <a:ln/>
        </p:spPr>
        <p:txBody>
          <a:bodyPr wrap="square" lIns="0" tIns="0" rIns="0" bIns="0" rtlCol="0" anchor="ctr"/>
          <a:lstStyle/>
          <a:p>
            <a:pPr marL="0" indent="0" algn="ctr">
              <a:buNone/>
            </a:pPr>
            <a:r>
              <a:rPr lang="en-US" sz="1000" dirty="0">
                <a:solidFill>
                  <a:srgbClr val="45515E"/>
                </a:solidFill>
                <a:latin typeface="에이투지체 5 Medium"/>
                <a:ea typeface="에이투지체 5 Medium"/>
                <a:cs typeface="에이투지체 5 Medium"/>
              </a:rPr>
              <a:t>명절 연휴 부근 오차 최대 (2025.10.06 · 2026.02.16)</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a:ea typeface="에이투지체 5 Medium"/>
                <a:cs typeface="에이투지체 5 Medium"/>
              </a:rPr>
              <a:t>인구 밀집 평가 결과</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평가 1년 실제 vs 예측 및 자치구별 정확도 (Random Forest)</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31</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(population_test_result)</a:t>
            </a:r>
            <a:endParaRPr lang="en-US" sz="900" dirty="0"/>
          </a:p>
        </p:txBody>
      </p:sp>
      <p:sp>
        <p:nvSpPr>
          <p:cNvPr id="1029" name="Add 1029"/>
          <p:cNvSpPr/>
          <p:nvPr/>
        </p:nvSpPr>
        <p:spPr>
          <a:xfrm>
            <a:off x="457200" y="1993392"/>
            <a:ext cx="8595360" cy="4197096"/>
          </a:xfrm>
          <a:prstGeom prst="roundRect">
            <a:avLst>
              <a:gd name="adj" fmla="val 2178"/>
            </a:avLst>
          </a:prstGeom>
          <a:solidFill>
            <a:srgbClr val="FFFFFF"/>
          </a:solidFill>
          <a:ln>
            <a:noFill/>
          </a:ln>
          <a:effectLst>
            <a:outerShdw blurRad="38100" dist="25400" dir="5400000" algn="t" rotWithShape="0">
              <a:srgbClr val="000000">
                <a:alpha val="8000"/>
              </a:srgbClr>
            </a:outerShdw>
          </a:effectLst>
        </p:spPr>
        <p:txBody>
          <a:bodyPr/>
          <a:lstStyle/>
          <a:p>
            <a:endParaRPr/>
          </a:p>
        </p:txBody>
      </p:sp>
      <p:pic>
        <p:nvPicPr>
          <p:cNvPr id="1030" name="Picture 1029" descr="population_test_result.png"/>
          <p:cNvPicPr>
            <a:picLocks noChangeAspect="1"/>
          </p:cNvPicPr>
          <p:nvPr/>
        </p:nvPicPr>
        <p:blipFill>
          <a:blip r:embed="rId3"/>
          <a:stretch>
            <a:fillRect/>
          </a:stretch>
        </p:blipFill>
        <p:spPr>
          <a:xfrm>
            <a:off x="566928" y="2463292"/>
            <a:ext cx="8375904" cy="3257296"/>
          </a:xfrm>
          <a:prstGeom prst="rect">
            <a:avLst/>
          </a:prstGeom>
        </p:spPr>
      </p:pic>
      <p:sp>
        <p:nvSpPr>
          <p:cNvPr id="7" name="Add 1030"/>
          <p:cNvSpPr/>
          <p:nvPr/>
        </p:nvSpPr>
        <p:spPr>
          <a:xfrm>
            <a:off x="9235440" y="1993392"/>
            <a:ext cx="2499055" cy="1325880"/>
          </a:xfrm>
          <a:prstGeom prst="roundRect">
            <a:avLst>
              <a:gd name="adj" fmla="val 9655"/>
            </a:avLst>
          </a:prstGeom>
          <a:solidFill>
            <a:srgbClr val="D62828"/>
          </a:solidFill>
          <a:ln>
            <a:noFill/>
          </a:ln>
          <a:effectLst>
            <a:outerShdw blurRad="95250" dist="50800" dir="5400000" algn="t" rotWithShape="0">
              <a:srgbClr val="8A1414">
                <a:alpha val="16000"/>
              </a:srgbClr>
            </a:outerShdw>
          </a:effectLst>
        </p:spPr>
        <p:txBody>
          <a:bodyPr/>
          <a:lstStyle/>
          <a:p>
            <a:endParaRPr/>
          </a:p>
        </p:txBody>
      </p:sp>
      <p:sp>
        <p:nvSpPr>
          <p:cNvPr id="1031" name="Add 1031"/>
          <p:cNvSpPr txBox="1"/>
          <p:nvPr/>
        </p:nvSpPr>
        <p:spPr>
          <a:xfrm>
            <a:off x="9418320" y="2077448"/>
            <a:ext cx="2133295" cy="502920"/>
          </a:xfrm>
          <a:prstGeom prst="rect">
            <a:avLst/>
          </a:prstGeom>
          <a:noFill/>
        </p:spPr>
        <p:txBody>
          <a:bodyPr wrap="square" lIns="0" tIns="0" rIns="0" bIns="0" rtlCol="0" anchor="ctr"/>
          <a:lstStyle/>
          <a:p>
            <a:pPr algn="ctr"/>
            <a:r>
              <a:rPr lang="ko-KR" sz="2800" spc="-80" dirty="0">
                <a:solidFill>
                  <a:srgbClr val="FFFFFF"/>
                </a:solidFill>
                <a:latin typeface="에이투지체 5 Medium"/>
                <a:ea typeface="에이투지체 5 Medium"/>
                <a:cs typeface="에이투지체 5 Medium"/>
              </a:rPr>
              <a:t>98.2%</a:t>
            </a:r>
          </a:p>
        </p:txBody>
      </p:sp>
      <p:sp>
        <p:nvSpPr>
          <p:cNvPr id="1032" name="Add 1032"/>
          <p:cNvSpPr txBox="1"/>
          <p:nvPr/>
        </p:nvSpPr>
        <p:spPr>
          <a:xfrm>
            <a:off x="9418320" y="2607800"/>
            <a:ext cx="2133295" cy="274320"/>
          </a:xfrm>
          <a:prstGeom prst="rect">
            <a:avLst/>
          </a:prstGeom>
          <a:noFill/>
        </p:spPr>
        <p:txBody>
          <a:bodyPr wrap="square" lIns="0" tIns="0" rIns="0" bIns="0" rtlCol="0" anchor="ctr"/>
          <a:lstStyle/>
          <a:p>
            <a:pPr algn="ctr"/>
            <a:r>
              <a:rPr lang="ko-KR" sz="1300" b="1" dirty="0">
                <a:solidFill>
                  <a:srgbClr val="FFFFFF"/>
                </a:solidFill>
                <a:latin typeface="에이투지체 5 Medium"/>
                <a:ea typeface="에이투지체 5 Medium"/>
                <a:cs typeface="에이투지체 5 Medium"/>
              </a:rPr>
              <a:t>평가 정확도</a:t>
            </a:r>
          </a:p>
        </p:txBody>
      </p:sp>
      <p:sp>
        <p:nvSpPr>
          <p:cNvPr id="1033" name="Add 1033"/>
          <p:cNvSpPr/>
          <p:nvPr/>
        </p:nvSpPr>
        <p:spPr>
          <a:xfrm>
            <a:off x="9418320" y="2936984"/>
            <a:ext cx="2133295" cy="0"/>
          </a:xfrm>
          <a:prstGeom prst="line">
            <a:avLst/>
          </a:prstGeom>
          <a:ln w="9525">
            <a:solidFill>
              <a:srgbClr val="E87A7A"/>
            </a:solidFill>
          </a:ln>
        </p:spPr>
        <p:txBody>
          <a:bodyPr/>
          <a:lstStyle/>
          <a:p>
            <a:endParaRPr/>
          </a:p>
        </p:txBody>
      </p:sp>
      <p:sp>
        <p:nvSpPr>
          <p:cNvPr id="1034" name="Add 1034"/>
          <p:cNvSpPr txBox="1"/>
          <p:nvPr/>
        </p:nvSpPr>
        <p:spPr>
          <a:xfrm>
            <a:off x="9418320" y="3027720"/>
            <a:ext cx="2133295" cy="173736"/>
          </a:xfrm>
          <a:prstGeom prst="rect">
            <a:avLst/>
          </a:prstGeom>
          <a:noFill/>
        </p:spPr>
        <p:txBody>
          <a:bodyPr wrap="square" lIns="0" tIns="0" rIns="0" bIns="0" rtlCol="0" anchor="t"/>
          <a:lstStyle/>
          <a:p>
            <a:pPr algn="ctr"/>
            <a:r>
              <a:rPr lang="ko-KR" sz="1050" dirty="0">
                <a:solidFill>
                  <a:srgbClr val="FDE3E3"/>
                </a:solidFill>
                <a:latin typeface="에이투지체 5 Medium"/>
                <a:ea typeface="에이투지체 5 Medium"/>
                <a:cs typeface="에이투지체 5 Medium"/>
              </a:rPr>
              <a:t>25개 구 × 365일</a:t>
            </a:r>
          </a:p>
        </p:txBody>
      </p:sp>
      <p:sp>
        <p:nvSpPr>
          <p:cNvPr id="1035" name="Add 1035"/>
          <p:cNvSpPr/>
          <p:nvPr/>
        </p:nvSpPr>
        <p:spPr>
          <a:xfrm>
            <a:off x="9235440" y="3429000"/>
            <a:ext cx="2499055" cy="1325880"/>
          </a:xfrm>
          <a:prstGeom prst="roundRect">
            <a:avLst>
              <a:gd name="adj" fmla="val 6896"/>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1036" name="Add 1036"/>
          <p:cNvSpPr txBox="1"/>
          <p:nvPr/>
        </p:nvSpPr>
        <p:spPr>
          <a:xfrm>
            <a:off x="9418320" y="3521848"/>
            <a:ext cx="2133295" cy="502920"/>
          </a:xfrm>
          <a:prstGeom prst="rect">
            <a:avLst/>
          </a:prstGeom>
          <a:noFill/>
        </p:spPr>
        <p:txBody>
          <a:bodyPr wrap="square" lIns="0" tIns="0" rIns="0" bIns="0" rtlCol="0" anchor="ctr"/>
          <a:lstStyle/>
          <a:p>
            <a:pPr algn="ctr"/>
            <a:r>
              <a:rPr lang="ko-KR" sz="2800" spc="-80" dirty="0">
                <a:solidFill>
                  <a:srgbClr val="D62828"/>
                </a:solidFill>
                <a:latin typeface="에이투지체 5 Medium"/>
                <a:ea typeface="에이투지체 5 Medium"/>
                <a:cs typeface="에이투지체 5 Medium"/>
              </a:rPr>
              <a:t>8,836명</a:t>
            </a:r>
          </a:p>
        </p:txBody>
      </p:sp>
      <p:sp>
        <p:nvSpPr>
          <p:cNvPr id="1037" name="Add 1037"/>
          <p:cNvSpPr txBox="1"/>
          <p:nvPr/>
        </p:nvSpPr>
        <p:spPr>
          <a:xfrm>
            <a:off x="9418320" y="4052200"/>
            <a:ext cx="2133295" cy="274320"/>
          </a:xfrm>
          <a:prstGeom prst="rect">
            <a:avLst/>
          </a:prstGeom>
          <a:noFill/>
        </p:spPr>
        <p:txBody>
          <a:bodyPr wrap="square" lIns="0" tIns="0" rIns="0" bIns="0" rtlCol="0" anchor="ctr"/>
          <a:lstStyle/>
          <a:p>
            <a:pPr algn="ctr"/>
            <a:r>
              <a:rPr lang="ko-KR" sz="1300" b="1" dirty="0">
                <a:solidFill>
                  <a:srgbClr val="222222"/>
                </a:solidFill>
                <a:latin typeface="에이투지체 5 Medium"/>
                <a:ea typeface="에이투지체 5 Medium"/>
                <a:cs typeface="에이투지체 5 Medium"/>
              </a:rPr>
              <a:t>일평균 오차</a:t>
            </a:r>
          </a:p>
        </p:txBody>
      </p:sp>
      <p:sp>
        <p:nvSpPr>
          <p:cNvPr id="1038" name="Add 1038"/>
          <p:cNvSpPr/>
          <p:nvPr/>
        </p:nvSpPr>
        <p:spPr>
          <a:xfrm>
            <a:off x="9418320" y="4381384"/>
            <a:ext cx="2133295" cy="0"/>
          </a:xfrm>
          <a:prstGeom prst="line">
            <a:avLst/>
          </a:prstGeom>
          <a:ln w="9525">
            <a:solidFill>
              <a:srgbClr val="E5E7EB"/>
            </a:solidFill>
          </a:ln>
        </p:spPr>
        <p:txBody>
          <a:bodyPr/>
          <a:lstStyle/>
          <a:p>
            <a:endParaRPr/>
          </a:p>
        </p:txBody>
      </p:sp>
      <p:sp>
        <p:nvSpPr>
          <p:cNvPr id="1039" name="Add 1039"/>
          <p:cNvSpPr txBox="1"/>
          <p:nvPr/>
        </p:nvSpPr>
        <p:spPr>
          <a:xfrm>
            <a:off x="9418320" y="4463328"/>
            <a:ext cx="2133295" cy="173736"/>
          </a:xfrm>
          <a:prstGeom prst="rect">
            <a:avLst/>
          </a:prstGeom>
          <a:noFill/>
        </p:spPr>
        <p:txBody>
          <a:bodyPr wrap="square" lIns="0" tIns="0" rIns="0" bIns="0" rtlCol="0" anchor="t"/>
          <a:lstStyle/>
          <a:p>
            <a:pPr algn="ctr"/>
            <a:r>
              <a:rPr lang="ko-KR" sz="1050" dirty="0">
                <a:solidFill>
                  <a:srgbClr val="45515E"/>
                </a:solidFill>
                <a:latin typeface="에이투지체 5 Medium"/>
                <a:ea typeface="에이투지체 5 Medium"/>
                <a:cs typeface="에이투지체 5 Medium"/>
              </a:rPr>
              <a:t>Random Forest</a:t>
            </a:r>
          </a:p>
        </p:txBody>
      </p:sp>
      <p:sp>
        <p:nvSpPr>
          <p:cNvPr id="1040" name="Add 1040"/>
          <p:cNvSpPr/>
          <p:nvPr/>
        </p:nvSpPr>
        <p:spPr>
          <a:xfrm>
            <a:off x="9235440" y="4864608"/>
            <a:ext cx="2499055" cy="1325880"/>
          </a:xfrm>
          <a:prstGeom prst="roundRect">
            <a:avLst>
              <a:gd name="adj" fmla="val 6896"/>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1041" name="Add 1041"/>
          <p:cNvSpPr txBox="1"/>
          <p:nvPr/>
        </p:nvSpPr>
        <p:spPr>
          <a:xfrm>
            <a:off x="9418320" y="4939871"/>
            <a:ext cx="2133295" cy="502920"/>
          </a:xfrm>
          <a:prstGeom prst="rect">
            <a:avLst/>
          </a:prstGeom>
          <a:noFill/>
        </p:spPr>
        <p:txBody>
          <a:bodyPr wrap="square" lIns="0" tIns="0" rIns="0" bIns="0" rtlCol="0" anchor="ctr"/>
          <a:lstStyle/>
          <a:p>
            <a:pPr algn="ctr"/>
            <a:r>
              <a:rPr lang="ko-KR" sz="2800" spc="-80" dirty="0">
                <a:solidFill>
                  <a:srgbClr val="D62828"/>
                </a:solidFill>
                <a:latin typeface="에이투지체 5 Medium"/>
                <a:ea typeface="에이투지체 5 Medium"/>
                <a:cs typeface="에이투지체 5 Medium"/>
              </a:rPr>
              <a:t>12,015명</a:t>
            </a:r>
          </a:p>
        </p:txBody>
      </p:sp>
      <p:sp>
        <p:nvSpPr>
          <p:cNvPr id="1042" name="Add 1042"/>
          <p:cNvSpPr txBox="1"/>
          <p:nvPr/>
        </p:nvSpPr>
        <p:spPr>
          <a:xfrm>
            <a:off x="9418320" y="5470223"/>
            <a:ext cx="2133295" cy="274320"/>
          </a:xfrm>
          <a:prstGeom prst="rect">
            <a:avLst/>
          </a:prstGeom>
          <a:noFill/>
        </p:spPr>
        <p:txBody>
          <a:bodyPr wrap="square" lIns="0" tIns="0" rIns="0" bIns="0" rtlCol="0" anchor="ctr"/>
          <a:lstStyle/>
          <a:p>
            <a:pPr algn="ctr"/>
            <a:r>
              <a:rPr lang="ko-KR" sz="1300" b="1" dirty="0">
                <a:solidFill>
                  <a:srgbClr val="222222"/>
                </a:solidFill>
                <a:latin typeface="에이투지체 5 Medium"/>
                <a:ea typeface="에이투지체 5 Medium"/>
                <a:cs typeface="에이투지체 5 Medium"/>
              </a:rPr>
              <a:t>기준선 오차</a:t>
            </a:r>
          </a:p>
        </p:txBody>
      </p:sp>
      <p:sp>
        <p:nvSpPr>
          <p:cNvPr id="1043" name="Add 1043"/>
          <p:cNvSpPr/>
          <p:nvPr/>
        </p:nvSpPr>
        <p:spPr>
          <a:xfrm>
            <a:off x="9418320" y="5799407"/>
            <a:ext cx="2133295" cy="0"/>
          </a:xfrm>
          <a:prstGeom prst="line">
            <a:avLst/>
          </a:prstGeom>
          <a:ln w="9525">
            <a:solidFill>
              <a:srgbClr val="E5E7EB"/>
            </a:solidFill>
          </a:ln>
        </p:spPr>
        <p:txBody>
          <a:bodyPr/>
          <a:lstStyle/>
          <a:p>
            <a:endParaRPr/>
          </a:p>
        </p:txBody>
      </p:sp>
      <p:sp>
        <p:nvSpPr>
          <p:cNvPr id="1044" name="Add 1044"/>
          <p:cNvSpPr txBox="1"/>
          <p:nvPr/>
        </p:nvSpPr>
        <p:spPr>
          <a:xfrm>
            <a:off x="9418320" y="5890143"/>
            <a:ext cx="2133295" cy="173736"/>
          </a:xfrm>
          <a:prstGeom prst="rect">
            <a:avLst/>
          </a:prstGeom>
          <a:noFill/>
        </p:spPr>
        <p:txBody>
          <a:bodyPr wrap="square" lIns="0" tIns="0" rIns="0" bIns="0" rtlCol="0" anchor="t"/>
          <a:lstStyle/>
          <a:p>
            <a:pPr algn="ctr"/>
            <a:r>
              <a:rPr lang="ko-KR" sz="1050" dirty="0">
                <a:solidFill>
                  <a:srgbClr val="45515E"/>
                </a:solidFill>
                <a:latin typeface="에이투지체 5 Medium"/>
                <a:ea typeface="에이투지체 5 Medium"/>
                <a:cs typeface="에이투지체 5 Medium"/>
              </a:rPr>
              <a:t>7일 전 값 그대로</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7">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a:ea typeface="에이투지체 5 Medium"/>
                <a:cs typeface="에이투지체 5 Medium"/>
              </a:rPr>
              <a:t>특성 중요도</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직전 시점의 동일 값이 예측 주도 (중요도 합계 1)</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32</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(4-5 · 5-5)</a:t>
            </a:r>
            <a:endParaRPr lang="en-US" sz="900" dirty="0"/>
          </a:p>
        </p:txBody>
      </p:sp>
      <p:sp>
        <p:nvSpPr>
          <p:cNvPr id="8" name="Shape 5"/>
          <p:cNvSpPr/>
          <p:nvPr/>
        </p:nvSpPr>
        <p:spPr>
          <a:xfrm>
            <a:off x="457200" y="1993392"/>
            <a:ext cx="5547208" cy="3465576"/>
          </a:xfrm>
          <a:prstGeom prst="roundRect">
            <a:avLst>
              <a:gd name="adj" fmla="val 263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graphicFrame>
        <p:nvGraphicFramePr>
          <p:cNvPr id="9" name="Chart 0"/>
          <p:cNvGraphicFramePr/>
          <p:nvPr/>
        </p:nvGraphicFramePr>
        <p:xfrm>
          <a:off x="548640" y="2066544"/>
          <a:ext cx="5364328" cy="3319272"/>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6"/>
          <p:cNvSpPr/>
          <p:nvPr/>
        </p:nvSpPr>
        <p:spPr>
          <a:xfrm>
            <a:off x="6187288" y="1993392"/>
            <a:ext cx="5547208" cy="3465576"/>
          </a:xfrm>
          <a:prstGeom prst="roundRect">
            <a:avLst>
              <a:gd name="adj" fmla="val 263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graphicFrame>
        <p:nvGraphicFramePr>
          <p:cNvPr id="11" name="Chart 1"/>
          <p:cNvGraphicFramePr/>
          <p:nvPr/>
        </p:nvGraphicFramePr>
        <p:xfrm>
          <a:off x="6278728" y="2066544"/>
          <a:ext cx="5364328" cy="3319272"/>
        </p:xfrm>
        <a:graphic>
          <a:graphicData uri="http://schemas.openxmlformats.org/drawingml/2006/chart">
            <c:chart xmlns:c="http://schemas.openxmlformats.org/drawingml/2006/chart" xmlns:r="http://schemas.openxmlformats.org/officeDocument/2006/relationships" r:id="rId4"/>
          </a:graphicData>
        </a:graphic>
      </p:graphicFrame>
      <p:sp>
        <p:nvSpPr>
          <p:cNvPr id="12" name="Shape 7"/>
          <p:cNvSpPr/>
          <p:nvPr/>
        </p:nvSpPr>
        <p:spPr>
          <a:xfrm>
            <a:off x="457200" y="5641848"/>
            <a:ext cx="11277295" cy="548640"/>
          </a:xfrm>
          <a:prstGeom prst="roundRect">
            <a:avLst>
              <a:gd name="adj" fmla="val 166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3" name="Text 8"/>
          <p:cNvSpPr txBox="1"/>
          <p:nvPr/>
        </p:nvSpPr>
        <p:spPr>
          <a:xfrm>
            <a:off x="640080" y="5641848"/>
            <a:ext cx="10908792" cy="548640"/>
          </a:xfrm>
          <a:prstGeom prst="rect">
            <a:avLst/>
          </a:prstGeom>
          <a:noFill/>
          <a:ln/>
        </p:spPr>
        <p:txBody>
          <a:bodyPr wrap="square" lIns="0" tIns="0" rIns="0" bIns="0" rtlCol="0" anchor="ctr"/>
          <a:lstStyle/>
          <a:p>
            <a:pPr marL="0" indent="0" algn="ctr">
              <a:buNone/>
            </a:pPr>
            <a:r>
              <a:rPr lang="en-US" sz="1400" dirty="0" err="1" smtClean="0">
                <a:solidFill>
                  <a:srgbClr val="222222"/>
                </a:solidFill>
                <a:latin typeface="에이투지체 5 Medium"/>
                <a:ea typeface="에이투지체 5 Medium"/>
                <a:cs typeface="에이투지체 5 Medium"/>
              </a:rPr>
              <a:t>전월</a:t>
            </a:r>
            <a:r>
              <a:rPr lang="en-US" sz="1400" dirty="0" smtClean="0">
                <a:solidFill>
                  <a:srgbClr val="222222"/>
                </a:solidFill>
                <a:latin typeface="에이투지체 5 Medium"/>
                <a:ea typeface="에이투지체 5 Medium"/>
                <a:cs typeface="에이투지체 5 Medium"/>
              </a:rPr>
              <a:t> </a:t>
            </a:r>
            <a:r>
              <a:rPr lang="en-US" sz="1400" dirty="0">
                <a:solidFill>
                  <a:srgbClr val="222222"/>
                </a:solidFill>
                <a:latin typeface="에이투지체 5 Medium"/>
                <a:ea typeface="에이투지체 5 Medium"/>
                <a:cs typeface="에이투지체 5 Medium"/>
              </a:rPr>
              <a:t>· 7일 전 값이 핵심 단서, 생활인구(합 0.015) · 달력(합 0.034) 특성은 보정 역할</a:t>
            </a:r>
            <a:endParaRPr lang="en-US" sz="14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name="Slide 28">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a:ea typeface="에이투지체 5 Medium"/>
                <a:cs typeface="에이투지체 5 Medium"/>
              </a:rPr>
              <a:t>최종 모델 재학습 및 미래 예측</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전체 데이터 재학습 · 저장 후 2026년 1~6월 구별 이송 건수 예측</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33</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(4-6 · 5-5, 예측표 25개 구 합산)</a:t>
            </a:r>
            <a:endParaRPr lang="en-US" sz="900" dirty="0"/>
          </a:p>
        </p:txBody>
      </p:sp>
      <p:sp>
        <p:nvSpPr>
          <p:cNvPr id="8" name="Text 5"/>
          <p:cNvSpPr txBox="1"/>
          <p:nvPr/>
        </p:nvSpPr>
        <p:spPr>
          <a:xfrm>
            <a:off x="2221991" y="1958572"/>
            <a:ext cx="1789115" cy="274320"/>
          </a:xfrm>
          <a:prstGeom prst="rect">
            <a:avLst/>
          </a:prstGeom>
          <a:noFill/>
          <a:ln/>
        </p:spPr>
        <p:txBody>
          <a:bodyPr wrap="square" lIns="0" tIns="0" rIns="0" bIns="0" rtlCol="0" anchor="ctr"/>
          <a:lstStyle/>
          <a:p>
            <a:pPr marL="0" indent="0" algn="ctr">
              <a:buNone/>
            </a:pPr>
            <a:r>
              <a:rPr lang="en-US" sz="1200" dirty="0">
                <a:solidFill>
                  <a:srgbClr val="8E8E93"/>
                </a:solidFill>
                <a:latin typeface="에이투지체 3 Light" pitchFamily="50" charset="-127"/>
                <a:ea typeface="에이투지체 3 Light" pitchFamily="50" charset="-127"/>
                <a:cs typeface="에이투지체 5 Medium"/>
              </a:rPr>
              <a:t>모델 선정</a:t>
            </a:r>
            <a:endParaRPr lang="en-US" sz="1200" dirty="0">
              <a:latin typeface="에이투지체 3 Light" pitchFamily="50" charset="-127"/>
              <a:ea typeface="에이투지체 3 Light" pitchFamily="50" charset="-127"/>
            </a:endParaRPr>
          </a:p>
        </p:txBody>
      </p:sp>
      <p:sp>
        <p:nvSpPr>
          <p:cNvPr id="9" name="Text 6"/>
          <p:cNvSpPr txBox="1"/>
          <p:nvPr/>
        </p:nvSpPr>
        <p:spPr>
          <a:xfrm>
            <a:off x="4193986" y="1958572"/>
            <a:ext cx="1789115" cy="274320"/>
          </a:xfrm>
          <a:prstGeom prst="rect">
            <a:avLst/>
          </a:prstGeom>
          <a:noFill/>
          <a:ln/>
        </p:spPr>
        <p:txBody>
          <a:bodyPr wrap="square" lIns="0" tIns="0" rIns="0" bIns="0" rtlCol="0" anchor="ctr"/>
          <a:lstStyle/>
          <a:p>
            <a:pPr marL="0" indent="0" algn="ctr">
              <a:buNone/>
            </a:pPr>
            <a:r>
              <a:rPr lang="en-US" sz="1200" dirty="0">
                <a:solidFill>
                  <a:srgbClr val="8E8E93"/>
                </a:solidFill>
                <a:latin typeface="에이투지체 3 Light" pitchFamily="50" charset="-127"/>
                <a:ea typeface="에이투지체 3 Light" pitchFamily="50" charset="-127"/>
                <a:cs typeface="에이투지체 5 Medium"/>
              </a:rPr>
              <a:t>평가 확인</a:t>
            </a:r>
            <a:endParaRPr lang="en-US" sz="1200" dirty="0">
              <a:latin typeface="에이투지체 3 Light" pitchFamily="50" charset="-127"/>
              <a:ea typeface="에이투지체 3 Light" pitchFamily="50" charset="-127"/>
            </a:endParaRPr>
          </a:p>
        </p:txBody>
      </p:sp>
      <p:sp>
        <p:nvSpPr>
          <p:cNvPr id="10" name="Text 7"/>
          <p:cNvSpPr txBox="1"/>
          <p:nvPr/>
        </p:nvSpPr>
        <p:spPr>
          <a:xfrm>
            <a:off x="6165981" y="1958572"/>
            <a:ext cx="1789115" cy="274320"/>
          </a:xfrm>
          <a:prstGeom prst="rect">
            <a:avLst/>
          </a:prstGeom>
          <a:noFill/>
          <a:ln/>
        </p:spPr>
        <p:txBody>
          <a:bodyPr wrap="square" lIns="0" tIns="0" rIns="0" bIns="0" rtlCol="0" anchor="ctr"/>
          <a:lstStyle/>
          <a:p>
            <a:pPr marL="0" indent="0" algn="ctr">
              <a:buNone/>
            </a:pPr>
            <a:r>
              <a:rPr lang="en-US" sz="1200" dirty="0">
                <a:solidFill>
                  <a:srgbClr val="8E8E93"/>
                </a:solidFill>
                <a:latin typeface="에이투지체 3 Light" pitchFamily="50" charset="-127"/>
                <a:ea typeface="에이투지체 3 Light" pitchFamily="50" charset="-127"/>
                <a:cs typeface="에이투지체 5 Medium"/>
              </a:rPr>
              <a:t>전체 재학습</a:t>
            </a:r>
            <a:endParaRPr lang="en-US" sz="1200" dirty="0">
              <a:latin typeface="에이투지체 3 Light" pitchFamily="50" charset="-127"/>
              <a:ea typeface="에이투지체 3 Light" pitchFamily="50" charset="-127"/>
            </a:endParaRPr>
          </a:p>
        </p:txBody>
      </p:sp>
      <p:sp>
        <p:nvSpPr>
          <p:cNvPr id="12" name="Text 9"/>
          <p:cNvSpPr txBox="1"/>
          <p:nvPr/>
        </p:nvSpPr>
        <p:spPr>
          <a:xfrm>
            <a:off x="8314760" y="1958572"/>
            <a:ext cx="1789115" cy="274320"/>
          </a:xfrm>
          <a:prstGeom prst="rect">
            <a:avLst/>
          </a:prstGeom>
          <a:noFill/>
          <a:ln/>
        </p:spPr>
        <p:txBody>
          <a:bodyPr wrap="square" lIns="0" tIns="0" rIns="0" bIns="0" rtlCol="0" anchor="ctr"/>
          <a:lstStyle/>
          <a:p>
            <a:pPr marL="0" indent="0" algn="ctr">
              <a:buNone/>
            </a:pPr>
            <a:r>
              <a:rPr lang="en-US" sz="1200" dirty="0">
                <a:solidFill>
                  <a:srgbClr val="8E8E93"/>
                </a:solidFill>
                <a:latin typeface="에이투지체 3 Light" pitchFamily="50" charset="-127"/>
                <a:ea typeface="에이투지체 3 Light" pitchFamily="50" charset="-127"/>
                <a:cs typeface="에이투지체 5 Medium"/>
              </a:rPr>
              <a:t>미래 예측</a:t>
            </a:r>
            <a:endParaRPr lang="en-US" sz="1200" dirty="0">
              <a:latin typeface="에이투지체 3 Light" pitchFamily="50" charset="-127"/>
              <a:ea typeface="에이투지체 3 Light" pitchFamily="50" charset="-127"/>
            </a:endParaRPr>
          </a:p>
        </p:txBody>
      </p:sp>
      <p:sp>
        <p:nvSpPr>
          <p:cNvPr id="13" name="Text 10"/>
          <p:cNvSpPr txBox="1"/>
          <p:nvPr/>
        </p:nvSpPr>
        <p:spPr>
          <a:xfrm>
            <a:off x="621791" y="2296900"/>
            <a:ext cx="1600200" cy="566928"/>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119 이송 건수</a:t>
            </a:r>
            <a:endParaRPr lang="en-US" sz="1400" dirty="0"/>
          </a:p>
        </p:txBody>
      </p:sp>
      <p:sp>
        <p:nvSpPr>
          <p:cNvPr id="14" name="Shape 11"/>
          <p:cNvSpPr/>
          <p:nvPr/>
        </p:nvSpPr>
        <p:spPr>
          <a:xfrm>
            <a:off x="2221991" y="2296900"/>
            <a:ext cx="1789115" cy="566928"/>
          </a:xfrm>
          <a:prstGeom prst="roundRect">
            <a:avLst>
              <a:gd name="adj" fmla="val 1612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5" name="Text 12"/>
          <p:cNvSpPr txBox="1"/>
          <p:nvPr/>
        </p:nvSpPr>
        <p:spPr>
          <a:xfrm>
            <a:off x="2295143" y="2296900"/>
            <a:ext cx="1642811" cy="566928"/>
          </a:xfrm>
          <a:prstGeom prst="rect">
            <a:avLst/>
          </a:prstGeom>
          <a:noFill/>
          <a:ln/>
        </p:spPr>
        <p:txBody>
          <a:bodyPr wrap="square" lIns="0" tIns="0" rIns="0" bIns="0" rtlCol="0" anchor="ctr"/>
          <a:lstStyle/>
          <a:p>
            <a:pPr marL="0" indent="0" algn="ctr">
              <a:buNone/>
            </a:pPr>
            <a:r>
              <a:rPr lang="en-US" sz="1200" b="1" dirty="0">
                <a:solidFill>
                  <a:srgbClr val="222222"/>
                </a:solidFill>
                <a:latin typeface="에이투지체 5 Medium"/>
                <a:ea typeface="에이투지체 5 Medium"/>
                <a:cs typeface="에이투지체 5 Medium"/>
              </a:rPr>
              <a:t>앙상블 (GB+Ridge)</a:t>
            </a:r>
            <a:endParaRPr lang="en-US" sz="1200" dirty="0"/>
          </a:p>
        </p:txBody>
      </p:sp>
      <p:sp>
        <p:nvSpPr>
          <p:cNvPr id="16" name="Shape 13"/>
          <p:cNvSpPr/>
          <p:nvPr/>
        </p:nvSpPr>
        <p:spPr>
          <a:xfrm>
            <a:off x="4029394" y="2580364"/>
            <a:ext cx="146304" cy="0"/>
          </a:xfrm>
          <a:prstGeom prst="line">
            <a:avLst/>
          </a:prstGeom>
          <a:noFill/>
          <a:ln w="15875">
            <a:solidFill>
              <a:srgbClr val="8E8E93"/>
            </a:solidFill>
            <a:prstDash val="solid"/>
            <a:tailEnd type="triangle"/>
          </a:ln>
        </p:spPr>
        <p:txBody>
          <a:bodyPr/>
          <a:lstStyle/>
          <a:p>
            <a:endParaRPr/>
          </a:p>
        </p:txBody>
      </p:sp>
      <p:sp>
        <p:nvSpPr>
          <p:cNvPr id="17" name="Shape 14"/>
          <p:cNvSpPr/>
          <p:nvPr/>
        </p:nvSpPr>
        <p:spPr>
          <a:xfrm>
            <a:off x="4193986" y="2296900"/>
            <a:ext cx="1789115" cy="566928"/>
          </a:xfrm>
          <a:prstGeom prst="roundRect">
            <a:avLst>
              <a:gd name="adj" fmla="val 1612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8" name="Text 15"/>
          <p:cNvSpPr txBox="1"/>
          <p:nvPr/>
        </p:nvSpPr>
        <p:spPr>
          <a:xfrm>
            <a:off x="4267138" y="2296900"/>
            <a:ext cx="1642811" cy="566928"/>
          </a:xfrm>
          <a:prstGeom prst="rect">
            <a:avLst/>
          </a:prstGeom>
          <a:noFill/>
          <a:ln/>
        </p:spPr>
        <p:txBody>
          <a:bodyPr wrap="square" lIns="0" tIns="0" rIns="0" bIns="0" rtlCol="0" anchor="ctr"/>
          <a:lstStyle/>
          <a:p>
            <a:pPr marL="0" indent="0" algn="ctr">
              <a:buNone/>
            </a:pPr>
            <a:r>
              <a:rPr lang="en-US" sz="1200" dirty="0">
                <a:solidFill>
                  <a:srgbClr val="222222"/>
                </a:solidFill>
                <a:latin typeface="에이투지체 5 Medium"/>
                <a:ea typeface="에이투지체 5 Medium"/>
                <a:cs typeface="에이투지체 5 Medium"/>
              </a:rPr>
              <a:t>94.6%</a:t>
            </a:r>
            <a:endParaRPr lang="en-US" sz="1200" dirty="0"/>
          </a:p>
        </p:txBody>
      </p:sp>
      <p:sp>
        <p:nvSpPr>
          <p:cNvPr id="19" name="Shape 16"/>
          <p:cNvSpPr/>
          <p:nvPr/>
        </p:nvSpPr>
        <p:spPr>
          <a:xfrm>
            <a:off x="6001389" y="2580364"/>
            <a:ext cx="146304" cy="0"/>
          </a:xfrm>
          <a:prstGeom prst="line">
            <a:avLst/>
          </a:prstGeom>
          <a:noFill/>
          <a:ln w="15875">
            <a:solidFill>
              <a:srgbClr val="8E8E93"/>
            </a:solidFill>
            <a:prstDash val="solid"/>
            <a:tailEnd type="triangle"/>
          </a:ln>
        </p:spPr>
        <p:txBody>
          <a:bodyPr/>
          <a:lstStyle/>
          <a:p>
            <a:endParaRPr/>
          </a:p>
        </p:txBody>
      </p:sp>
      <p:sp>
        <p:nvSpPr>
          <p:cNvPr id="20" name="Shape 17"/>
          <p:cNvSpPr/>
          <p:nvPr/>
        </p:nvSpPr>
        <p:spPr>
          <a:xfrm>
            <a:off x="6165981" y="2296900"/>
            <a:ext cx="1789115" cy="566928"/>
          </a:xfrm>
          <a:prstGeom prst="roundRect">
            <a:avLst>
              <a:gd name="adj" fmla="val 1612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1" name="Text 18"/>
          <p:cNvSpPr txBox="1"/>
          <p:nvPr/>
        </p:nvSpPr>
        <p:spPr>
          <a:xfrm>
            <a:off x="6239133" y="2296900"/>
            <a:ext cx="1642811" cy="566928"/>
          </a:xfrm>
          <a:prstGeom prst="rect">
            <a:avLst/>
          </a:prstGeom>
          <a:noFill/>
          <a:ln/>
        </p:spPr>
        <p:txBody>
          <a:bodyPr wrap="square" lIns="0" tIns="0" rIns="0" bIns="0" rtlCol="0" anchor="ctr"/>
          <a:lstStyle/>
          <a:p>
            <a:pPr marL="0" indent="0" algn="ctr">
              <a:buNone/>
            </a:pPr>
            <a:r>
              <a:rPr lang="en-US" sz="1200" dirty="0">
                <a:solidFill>
                  <a:srgbClr val="222222"/>
                </a:solidFill>
                <a:latin typeface="에이투지체 5 Medium"/>
                <a:ea typeface="에이투지체 5 Medium"/>
                <a:cs typeface="에이투지체 5 Medium"/>
              </a:rPr>
              <a:t>2,180행</a:t>
            </a:r>
            <a:endParaRPr lang="en-US" sz="1200" dirty="0"/>
          </a:p>
        </p:txBody>
      </p:sp>
      <p:sp>
        <p:nvSpPr>
          <p:cNvPr id="22" name="Shape 19"/>
          <p:cNvSpPr/>
          <p:nvPr/>
        </p:nvSpPr>
        <p:spPr>
          <a:xfrm>
            <a:off x="8049818" y="2580364"/>
            <a:ext cx="146304" cy="0"/>
          </a:xfrm>
          <a:prstGeom prst="line">
            <a:avLst/>
          </a:prstGeom>
          <a:noFill/>
          <a:ln w="15875">
            <a:solidFill>
              <a:srgbClr val="8E8E93"/>
            </a:solidFill>
            <a:prstDash val="solid"/>
            <a:tailEnd type="triangle"/>
          </a:ln>
        </p:spPr>
        <p:txBody>
          <a:bodyPr/>
          <a:lstStyle/>
          <a:p>
            <a:endParaRPr/>
          </a:p>
        </p:txBody>
      </p:sp>
      <p:sp>
        <p:nvSpPr>
          <p:cNvPr id="26" name="Shape 23"/>
          <p:cNvSpPr/>
          <p:nvPr/>
        </p:nvSpPr>
        <p:spPr>
          <a:xfrm>
            <a:off x="8314760" y="2296900"/>
            <a:ext cx="1789115" cy="566928"/>
          </a:xfrm>
          <a:prstGeom prst="roundRect">
            <a:avLst>
              <a:gd name="adj" fmla="val 22581"/>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txBody>
          <a:bodyPr/>
          <a:lstStyle/>
          <a:p>
            <a:endParaRPr/>
          </a:p>
        </p:txBody>
      </p:sp>
      <p:sp>
        <p:nvSpPr>
          <p:cNvPr id="27" name="Text 24"/>
          <p:cNvSpPr txBox="1"/>
          <p:nvPr/>
        </p:nvSpPr>
        <p:spPr>
          <a:xfrm>
            <a:off x="8387912" y="2296900"/>
            <a:ext cx="1642811"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에이투지체 5 Medium"/>
                <a:ea typeface="에이투지체 5 Medium"/>
                <a:cs typeface="에이투지체 5 Medium"/>
              </a:rPr>
              <a:t>2026.01~06 구별</a:t>
            </a:r>
            <a:endParaRPr lang="en-US" sz="1200" dirty="0"/>
          </a:p>
        </p:txBody>
      </p:sp>
      <p:sp>
        <p:nvSpPr>
          <p:cNvPr id="28" name="Text 25"/>
          <p:cNvSpPr txBox="1"/>
          <p:nvPr/>
        </p:nvSpPr>
        <p:spPr>
          <a:xfrm>
            <a:off x="621791" y="3010132"/>
            <a:ext cx="1600200" cy="566928"/>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인구 밀집</a:t>
            </a:r>
            <a:endParaRPr lang="en-US" sz="1400" dirty="0"/>
          </a:p>
        </p:txBody>
      </p:sp>
      <p:sp>
        <p:nvSpPr>
          <p:cNvPr id="29" name="Shape 26"/>
          <p:cNvSpPr/>
          <p:nvPr/>
        </p:nvSpPr>
        <p:spPr>
          <a:xfrm>
            <a:off x="2221991" y="2939796"/>
            <a:ext cx="1789115" cy="566928"/>
          </a:xfrm>
          <a:prstGeom prst="roundRect">
            <a:avLst>
              <a:gd name="adj" fmla="val 1612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30" name="Text 27"/>
          <p:cNvSpPr txBox="1"/>
          <p:nvPr/>
        </p:nvSpPr>
        <p:spPr>
          <a:xfrm>
            <a:off x="2295143" y="3010132"/>
            <a:ext cx="1642811" cy="566928"/>
          </a:xfrm>
          <a:prstGeom prst="rect">
            <a:avLst/>
          </a:prstGeom>
          <a:noFill/>
          <a:ln/>
        </p:spPr>
        <p:txBody>
          <a:bodyPr wrap="square" lIns="0" tIns="0" rIns="0" bIns="0" rtlCol="0" anchor="ctr"/>
          <a:lstStyle/>
          <a:p>
            <a:pPr marL="0" indent="0" algn="ctr">
              <a:buNone/>
            </a:pPr>
            <a:r>
              <a:rPr lang="en-US" sz="1200" b="1" dirty="0">
                <a:solidFill>
                  <a:srgbClr val="222222"/>
                </a:solidFill>
                <a:latin typeface="에이투지체 5 Medium"/>
                <a:ea typeface="에이투지체 5 Medium"/>
                <a:cs typeface="에이투지체 5 Medium"/>
              </a:rPr>
              <a:t>Random Forest</a:t>
            </a:r>
            <a:endParaRPr lang="en-US" sz="1200" dirty="0"/>
          </a:p>
        </p:txBody>
      </p:sp>
      <p:sp>
        <p:nvSpPr>
          <p:cNvPr id="31" name="Shape 28"/>
          <p:cNvSpPr/>
          <p:nvPr/>
        </p:nvSpPr>
        <p:spPr>
          <a:xfrm>
            <a:off x="4029394" y="3293596"/>
            <a:ext cx="146304" cy="0"/>
          </a:xfrm>
          <a:prstGeom prst="line">
            <a:avLst/>
          </a:prstGeom>
          <a:noFill/>
          <a:ln w="15875">
            <a:solidFill>
              <a:srgbClr val="8E8E93"/>
            </a:solidFill>
            <a:prstDash val="solid"/>
            <a:tailEnd type="triangle"/>
          </a:ln>
        </p:spPr>
        <p:txBody>
          <a:bodyPr/>
          <a:lstStyle/>
          <a:p>
            <a:endParaRPr/>
          </a:p>
        </p:txBody>
      </p:sp>
      <p:sp>
        <p:nvSpPr>
          <p:cNvPr id="32" name="Shape 29"/>
          <p:cNvSpPr/>
          <p:nvPr/>
        </p:nvSpPr>
        <p:spPr>
          <a:xfrm>
            <a:off x="4193986" y="2939796"/>
            <a:ext cx="1789115" cy="566928"/>
          </a:xfrm>
          <a:prstGeom prst="roundRect">
            <a:avLst>
              <a:gd name="adj" fmla="val 1612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33" name="Text 30"/>
          <p:cNvSpPr txBox="1"/>
          <p:nvPr/>
        </p:nvSpPr>
        <p:spPr>
          <a:xfrm>
            <a:off x="4267138" y="3010132"/>
            <a:ext cx="1642811" cy="566928"/>
          </a:xfrm>
          <a:prstGeom prst="rect">
            <a:avLst/>
          </a:prstGeom>
          <a:noFill/>
          <a:ln/>
        </p:spPr>
        <p:txBody>
          <a:bodyPr wrap="square" lIns="0" tIns="0" rIns="0" bIns="0" rtlCol="0" anchor="ctr"/>
          <a:lstStyle/>
          <a:p>
            <a:pPr marL="0" indent="0" algn="ctr">
              <a:buNone/>
            </a:pPr>
            <a:r>
              <a:rPr lang="en-US" sz="1200" dirty="0">
                <a:solidFill>
                  <a:srgbClr val="222222"/>
                </a:solidFill>
                <a:latin typeface="에이투지체 5 Medium"/>
                <a:ea typeface="에이투지체 5 Medium"/>
                <a:cs typeface="에이투지체 5 Medium"/>
              </a:rPr>
              <a:t>98.2%</a:t>
            </a:r>
            <a:endParaRPr lang="en-US" sz="1200" dirty="0"/>
          </a:p>
        </p:txBody>
      </p:sp>
      <p:sp>
        <p:nvSpPr>
          <p:cNvPr id="34" name="Shape 31"/>
          <p:cNvSpPr/>
          <p:nvPr/>
        </p:nvSpPr>
        <p:spPr>
          <a:xfrm>
            <a:off x="6001389" y="3293596"/>
            <a:ext cx="146304" cy="0"/>
          </a:xfrm>
          <a:prstGeom prst="line">
            <a:avLst/>
          </a:prstGeom>
          <a:noFill/>
          <a:ln w="15875">
            <a:solidFill>
              <a:srgbClr val="8E8E93"/>
            </a:solidFill>
            <a:prstDash val="solid"/>
            <a:tailEnd type="triangle"/>
          </a:ln>
        </p:spPr>
        <p:txBody>
          <a:bodyPr/>
          <a:lstStyle/>
          <a:p>
            <a:endParaRPr/>
          </a:p>
        </p:txBody>
      </p:sp>
      <p:sp>
        <p:nvSpPr>
          <p:cNvPr id="35" name="Shape 32"/>
          <p:cNvSpPr/>
          <p:nvPr/>
        </p:nvSpPr>
        <p:spPr>
          <a:xfrm>
            <a:off x="6165981" y="2939796"/>
            <a:ext cx="1789115" cy="566928"/>
          </a:xfrm>
          <a:prstGeom prst="roundRect">
            <a:avLst>
              <a:gd name="adj" fmla="val 1612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36" name="Text 33"/>
          <p:cNvSpPr txBox="1"/>
          <p:nvPr/>
        </p:nvSpPr>
        <p:spPr>
          <a:xfrm>
            <a:off x="6239133" y="3010132"/>
            <a:ext cx="1642811" cy="566928"/>
          </a:xfrm>
          <a:prstGeom prst="rect">
            <a:avLst/>
          </a:prstGeom>
          <a:noFill/>
          <a:ln/>
        </p:spPr>
        <p:txBody>
          <a:bodyPr wrap="square" lIns="0" tIns="0" rIns="0" bIns="0" rtlCol="0" anchor="ctr"/>
          <a:lstStyle/>
          <a:p>
            <a:pPr marL="0" indent="0" algn="ctr">
              <a:buNone/>
            </a:pPr>
            <a:r>
              <a:rPr lang="en-US" sz="1200" dirty="0">
                <a:solidFill>
                  <a:srgbClr val="222222"/>
                </a:solidFill>
                <a:latin typeface="에이투지체 5 Medium"/>
                <a:ea typeface="에이투지체 5 Medium"/>
                <a:cs typeface="에이투지체 5 Medium"/>
              </a:rPr>
              <a:t>75,825행</a:t>
            </a:r>
            <a:endParaRPr lang="en-US" sz="1200" dirty="0"/>
          </a:p>
        </p:txBody>
      </p:sp>
      <p:sp>
        <p:nvSpPr>
          <p:cNvPr id="37" name="Shape 34"/>
          <p:cNvSpPr/>
          <p:nvPr/>
        </p:nvSpPr>
        <p:spPr>
          <a:xfrm>
            <a:off x="8119688" y="3293596"/>
            <a:ext cx="146304" cy="0"/>
          </a:xfrm>
          <a:prstGeom prst="line">
            <a:avLst/>
          </a:prstGeom>
          <a:noFill/>
          <a:ln w="15875">
            <a:solidFill>
              <a:srgbClr val="8E8E93"/>
            </a:solidFill>
            <a:prstDash val="solid"/>
            <a:tailEnd type="triangle"/>
          </a:ln>
        </p:spPr>
        <p:txBody>
          <a:bodyPr/>
          <a:lstStyle/>
          <a:p>
            <a:endParaRPr/>
          </a:p>
        </p:txBody>
      </p:sp>
      <p:sp>
        <p:nvSpPr>
          <p:cNvPr id="41" name="Shape 38"/>
          <p:cNvSpPr/>
          <p:nvPr/>
        </p:nvSpPr>
        <p:spPr>
          <a:xfrm>
            <a:off x="8314760" y="3010132"/>
            <a:ext cx="1789115" cy="566928"/>
          </a:xfrm>
          <a:prstGeom prst="roundRect">
            <a:avLst>
              <a:gd name="adj" fmla="val 12903"/>
            </a:avLst>
          </a:prstGeom>
          <a:solidFill>
            <a:srgbClr val="F2F3F5"/>
          </a:solidFill>
          <a:ln w="12700">
            <a:solidFill>
              <a:srgbClr val="F2F3F5"/>
            </a:solidFill>
            <a:prstDash val="solid"/>
          </a:ln>
        </p:spPr>
        <p:txBody>
          <a:bodyPr/>
          <a:lstStyle/>
          <a:p>
            <a:endParaRPr/>
          </a:p>
        </p:txBody>
      </p:sp>
      <p:sp>
        <p:nvSpPr>
          <p:cNvPr id="42" name="Text 39"/>
          <p:cNvSpPr txBox="1"/>
          <p:nvPr/>
        </p:nvSpPr>
        <p:spPr>
          <a:xfrm>
            <a:off x="8387912" y="3010132"/>
            <a:ext cx="1642811" cy="566928"/>
          </a:xfrm>
          <a:prstGeom prst="rect">
            <a:avLst/>
          </a:prstGeom>
          <a:noFill/>
          <a:ln/>
        </p:spPr>
        <p:txBody>
          <a:bodyPr wrap="square" lIns="0" tIns="0" rIns="0" bIns="0" rtlCol="0" anchor="ctr"/>
          <a:lstStyle/>
          <a:p>
            <a:pPr algn="ctr">
              <a:lnSpc>
                <a:spcPct val="120000"/>
              </a:lnSpc>
            </a:pPr>
            <a:r>
              <a:rPr lang="ko-KR" altLang="en-US" sz="1200" dirty="0" err="1">
                <a:solidFill>
                  <a:srgbClr val="8E8E93"/>
                </a:solidFill>
                <a:ea typeface="에이투지체 5 Medium"/>
              </a:rPr>
              <a:t>재학습</a:t>
            </a:r>
            <a:r>
              <a:rPr lang="en-US" altLang="ko-KR" sz="1200" dirty="0">
                <a:solidFill>
                  <a:srgbClr val="8E8E93"/>
                </a:solidFill>
                <a:ea typeface="에이투지체 5 Medium"/>
              </a:rPr>
              <a:t>·</a:t>
            </a:r>
            <a:r>
              <a:rPr lang="ko-KR" altLang="en-US" sz="1200" dirty="0">
                <a:solidFill>
                  <a:srgbClr val="8E8E93"/>
                </a:solidFill>
                <a:ea typeface="에이투지체 5 Medium"/>
              </a:rPr>
              <a:t>저장 </a:t>
            </a:r>
            <a:r>
              <a:rPr lang="ko-KR" altLang="en-US" sz="1200" dirty="0" smtClean="0">
                <a:solidFill>
                  <a:srgbClr val="8E8E93"/>
                </a:solidFill>
                <a:ea typeface="에이투지체 5 Medium"/>
              </a:rPr>
              <a:t>완료</a:t>
            </a:r>
            <a:endParaRPr lang="en-US" altLang="ko-KR" sz="1200" dirty="0" smtClean="0">
              <a:solidFill>
                <a:srgbClr val="8E8E93"/>
              </a:solidFill>
              <a:ea typeface="에이투지체 5 Medium"/>
            </a:endParaRPr>
          </a:p>
          <a:p>
            <a:pPr algn="ctr">
              <a:lnSpc>
                <a:spcPct val="120000"/>
              </a:lnSpc>
            </a:pPr>
            <a:r>
              <a:rPr lang="en-US" altLang="ko-KR" sz="1200" dirty="0" smtClean="0">
                <a:solidFill>
                  <a:srgbClr val="8E8E93"/>
                </a:solidFill>
                <a:ea typeface="에이투지체 5 Medium"/>
              </a:rPr>
              <a:t>(</a:t>
            </a:r>
            <a:r>
              <a:rPr lang="ko-KR" altLang="en-US" sz="1200" dirty="0">
                <a:solidFill>
                  <a:srgbClr val="8E8E93"/>
                </a:solidFill>
                <a:ea typeface="에이투지체 5 Medium"/>
              </a:rPr>
              <a:t>다음 날 </a:t>
            </a:r>
            <a:r>
              <a:rPr lang="ko-KR" altLang="en-US" sz="1200" dirty="0" err="1">
                <a:solidFill>
                  <a:srgbClr val="8E8E93"/>
                </a:solidFill>
                <a:ea typeface="에이투지체 5 Medium"/>
              </a:rPr>
              <a:t>예측용</a:t>
            </a:r>
            <a:r>
              <a:rPr lang="en-US" altLang="ko-KR" sz="1200" dirty="0">
                <a:solidFill>
                  <a:srgbClr val="8E8E93"/>
                </a:solidFill>
                <a:ea typeface="에이투지체 5 Medium"/>
              </a:rPr>
              <a:t>)</a:t>
            </a:r>
            <a:endParaRPr lang="en-US" sz="1200" dirty="0"/>
          </a:p>
        </p:txBody>
      </p:sp>
      <p:sp>
        <p:nvSpPr>
          <p:cNvPr id="43" name="Shape 40"/>
          <p:cNvSpPr/>
          <p:nvPr/>
        </p:nvSpPr>
        <p:spPr>
          <a:xfrm>
            <a:off x="457200" y="3840480"/>
            <a:ext cx="11277295" cy="2350008"/>
          </a:xfrm>
          <a:prstGeom prst="roundRect">
            <a:avLst>
              <a:gd name="adj" fmla="val 3891"/>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graphicFrame>
        <p:nvGraphicFramePr>
          <p:cNvPr id="44" name="Chart 0"/>
          <p:cNvGraphicFramePr/>
          <p:nvPr/>
        </p:nvGraphicFramePr>
        <p:xfrm>
          <a:off x="548640" y="3913632"/>
          <a:ext cx="11094415" cy="2203704"/>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a:ea typeface="에이투지체 5 Medium"/>
                <a:cs typeface="에이투지체 5 Medium"/>
              </a:rPr>
              <a:t>자치구별 미래 이송 건수 예측</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예측 합계 상위 4개 구의 2026년 1~6월 예측 추이 (앙상블)</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34</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(transport_forecast_top4 · 예측표)</a:t>
            </a:r>
            <a:endParaRPr lang="en-US" sz="900" dirty="0"/>
          </a:p>
        </p:txBody>
      </p:sp>
      <p:sp>
        <p:nvSpPr>
          <p:cNvPr id="1045" name="Add 1045"/>
          <p:cNvSpPr/>
          <p:nvPr/>
        </p:nvSpPr>
        <p:spPr>
          <a:xfrm>
            <a:off x="457200" y="1993392"/>
            <a:ext cx="8595360" cy="4197096"/>
          </a:xfrm>
          <a:prstGeom prst="roundRect">
            <a:avLst>
              <a:gd name="adj" fmla="val 2178"/>
            </a:avLst>
          </a:prstGeom>
          <a:solidFill>
            <a:srgbClr val="FFFFFF"/>
          </a:solidFill>
          <a:ln>
            <a:noFill/>
          </a:ln>
          <a:effectLst>
            <a:outerShdw blurRad="38100" dist="25400" dir="5400000" algn="t" rotWithShape="0">
              <a:srgbClr val="000000">
                <a:alpha val="8000"/>
              </a:srgbClr>
            </a:outerShdw>
          </a:effectLst>
        </p:spPr>
        <p:txBody>
          <a:bodyPr/>
          <a:lstStyle/>
          <a:p>
            <a:endParaRPr/>
          </a:p>
        </p:txBody>
      </p:sp>
      <p:pic>
        <p:nvPicPr>
          <p:cNvPr id="1046" name="Picture 1045" descr="transport_forecast_top4.png"/>
          <p:cNvPicPr>
            <a:picLocks noChangeAspect="1"/>
          </p:cNvPicPr>
          <p:nvPr/>
        </p:nvPicPr>
        <p:blipFill>
          <a:blip r:embed="rId3"/>
          <a:stretch>
            <a:fillRect/>
          </a:stretch>
        </p:blipFill>
        <p:spPr>
          <a:xfrm>
            <a:off x="777240" y="2103120"/>
            <a:ext cx="7955280" cy="3977640"/>
          </a:xfrm>
          <a:prstGeom prst="rect">
            <a:avLst/>
          </a:prstGeom>
        </p:spPr>
      </p:pic>
      <p:sp>
        <p:nvSpPr>
          <p:cNvPr id="7" name="Add 1046"/>
          <p:cNvSpPr/>
          <p:nvPr/>
        </p:nvSpPr>
        <p:spPr>
          <a:xfrm>
            <a:off x="9235440" y="1993392"/>
            <a:ext cx="2499055" cy="4197096"/>
          </a:xfrm>
          <a:prstGeom prst="roundRect">
            <a:avLst>
              <a:gd name="adj" fmla="val 3658"/>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1047" name="Add 1047"/>
          <p:cNvSpPr txBox="1"/>
          <p:nvPr/>
        </p:nvSpPr>
        <p:spPr>
          <a:xfrm>
            <a:off x="9454896" y="2316246"/>
            <a:ext cx="2057400" cy="310896"/>
          </a:xfrm>
          <a:prstGeom prst="rect">
            <a:avLst/>
          </a:prstGeom>
          <a:noFill/>
        </p:spPr>
        <p:txBody>
          <a:bodyPr wrap="square" lIns="0" tIns="0" rIns="0" bIns="0" rtlCol="0" anchor="ctr"/>
          <a:lstStyle/>
          <a:p>
            <a:pPr algn="ctr"/>
            <a:r>
              <a:rPr lang="ko-KR" sz="1600" b="1" dirty="0">
                <a:solidFill>
                  <a:srgbClr val="D62828"/>
                </a:solidFill>
                <a:latin typeface="에이투지체 5 Medium"/>
                <a:ea typeface="에이투지체 5 Medium"/>
                <a:cs typeface="에이투지체 5 Medium"/>
              </a:rPr>
              <a:t>6개월 예측 합계</a:t>
            </a:r>
          </a:p>
        </p:txBody>
      </p:sp>
      <p:sp>
        <p:nvSpPr>
          <p:cNvPr id="1048" name="Add 1048"/>
          <p:cNvSpPr/>
          <p:nvPr/>
        </p:nvSpPr>
        <p:spPr>
          <a:xfrm>
            <a:off x="9454896" y="2718582"/>
            <a:ext cx="2057400" cy="0"/>
          </a:xfrm>
          <a:prstGeom prst="line">
            <a:avLst/>
          </a:prstGeom>
          <a:ln w="9525">
            <a:solidFill>
              <a:srgbClr val="E5E7EB"/>
            </a:solidFill>
          </a:ln>
        </p:spPr>
        <p:txBody>
          <a:bodyPr/>
          <a:lstStyle/>
          <a:p>
            <a:endParaRPr/>
          </a:p>
        </p:txBody>
      </p:sp>
      <p:sp>
        <p:nvSpPr>
          <p:cNvPr id="1049" name="Add 1049"/>
          <p:cNvSpPr txBox="1"/>
          <p:nvPr/>
        </p:nvSpPr>
        <p:spPr>
          <a:xfrm>
            <a:off x="9454896" y="2883174"/>
            <a:ext cx="914400" cy="457200"/>
          </a:xfrm>
          <a:prstGeom prst="rect">
            <a:avLst/>
          </a:prstGeom>
          <a:noFill/>
        </p:spPr>
        <p:txBody>
          <a:bodyPr wrap="square" lIns="0" tIns="0" rIns="0" bIns="0" rtlCol="0" anchor="ctr"/>
          <a:lstStyle/>
          <a:p>
            <a:pPr algn="l"/>
            <a:r>
              <a:rPr lang="ko-KR" sz="1200" dirty="0">
                <a:solidFill>
                  <a:srgbClr val="45515E"/>
                </a:solidFill>
                <a:latin typeface="에이투지체 5 Medium"/>
                <a:ea typeface="에이투지체 5 Medium"/>
                <a:cs typeface="에이투지체 5 Medium"/>
              </a:rPr>
              <a:t>강남구</a:t>
            </a:r>
          </a:p>
        </p:txBody>
      </p:sp>
      <p:sp>
        <p:nvSpPr>
          <p:cNvPr id="1050" name="Add 1050"/>
          <p:cNvSpPr txBox="1"/>
          <p:nvPr/>
        </p:nvSpPr>
        <p:spPr>
          <a:xfrm>
            <a:off x="10332720" y="2883174"/>
            <a:ext cx="1179576" cy="457200"/>
          </a:xfrm>
          <a:prstGeom prst="rect">
            <a:avLst/>
          </a:prstGeom>
          <a:noFill/>
        </p:spPr>
        <p:txBody>
          <a:bodyPr wrap="square" lIns="0" tIns="0" rIns="0" bIns="0" rtlCol="0" anchor="ctr"/>
          <a:lstStyle/>
          <a:p>
            <a:pPr algn="r"/>
            <a:r>
              <a:rPr lang="ko-KR" sz="1800" dirty="0">
                <a:solidFill>
                  <a:srgbClr val="D62828"/>
                </a:solidFill>
                <a:latin typeface="에이투지체 5 Medium"/>
                <a:ea typeface="에이투지체 5 Medium"/>
                <a:cs typeface="에이투지체 5 Medium"/>
              </a:rPr>
              <a:t>7,971건</a:t>
            </a:r>
          </a:p>
        </p:txBody>
      </p:sp>
      <p:sp>
        <p:nvSpPr>
          <p:cNvPr id="1051" name="Add 1051"/>
          <p:cNvSpPr txBox="1"/>
          <p:nvPr/>
        </p:nvSpPr>
        <p:spPr>
          <a:xfrm>
            <a:off x="9454896" y="3450102"/>
            <a:ext cx="914400" cy="457200"/>
          </a:xfrm>
          <a:prstGeom prst="rect">
            <a:avLst/>
          </a:prstGeom>
          <a:noFill/>
        </p:spPr>
        <p:txBody>
          <a:bodyPr wrap="square" lIns="0" tIns="0" rIns="0" bIns="0" rtlCol="0" anchor="ctr"/>
          <a:lstStyle/>
          <a:p>
            <a:pPr algn="l"/>
            <a:r>
              <a:rPr lang="ko-KR" sz="1200" dirty="0">
                <a:solidFill>
                  <a:srgbClr val="45515E"/>
                </a:solidFill>
                <a:latin typeface="에이투지체 5 Medium"/>
                <a:ea typeface="에이투지체 5 Medium"/>
                <a:cs typeface="에이투지체 5 Medium"/>
              </a:rPr>
              <a:t>송파구</a:t>
            </a:r>
          </a:p>
        </p:txBody>
      </p:sp>
      <p:sp>
        <p:nvSpPr>
          <p:cNvPr id="1052" name="Add 1052"/>
          <p:cNvSpPr txBox="1"/>
          <p:nvPr/>
        </p:nvSpPr>
        <p:spPr>
          <a:xfrm>
            <a:off x="10332720" y="3450102"/>
            <a:ext cx="1179576" cy="457200"/>
          </a:xfrm>
          <a:prstGeom prst="rect">
            <a:avLst/>
          </a:prstGeom>
          <a:noFill/>
        </p:spPr>
        <p:txBody>
          <a:bodyPr wrap="square" lIns="0" tIns="0" rIns="0" bIns="0" rtlCol="0" anchor="ctr"/>
          <a:lstStyle/>
          <a:p>
            <a:pPr algn="r"/>
            <a:r>
              <a:rPr lang="ko-KR" sz="1800" dirty="0">
                <a:solidFill>
                  <a:srgbClr val="D62828"/>
                </a:solidFill>
                <a:latin typeface="에이투지체 5 Medium"/>
                <a:ea typeface="에이투지체 5 Medium"/>
                <a:cs typeface="에이투지체 5 Medium"/>
              </a:rPr>
              <a:t>7,397건</a:t>
            </a:r>
          </a:p>
        </p:txBody>
      </p:sp>
      <p:sp>
        <p:nvSpPr>
          <p:cNvPr id="1053" name="Add 1053"/>
          <p:cNvSpPr txBox="1"/>
          <p:nvPr/>
        </p:nvSpPr>
        <p:spPr>
          <a:xfrm>
            <a:off x="9454896" y="4017030"/>
            <a:ext cx="914400" cy="457200"/>
          </a:xfrm>
          <a:prstGeom prst="rect">
            <a:avLst/>
          </a:prstGeom>
          <a:noFill/>
        </p:spPr>
        <p:txBody>
          <a:bodyPr wrap="square" lIns="0" tIns="0" rIns="0" bIns="0" rtlCol="0" anchor="ctr"/>
          <a:lstStyle/>
          <a:p>
            <a:pPr algn="l"/>
            <a:r>
              <a:rPr lang="ko-KR" sz="1200" dirty="0">
                <a:solidFill>
                  <a:srgbClr val="45515E"/>
                </a:solidFill>
                <a:latin typeface="에이투지체 5 Medium"/>
                <a:ea typeface="에이투지체 5 Medium"/>
                <a:cs typeface="에이투지체 5 Medium"/>
              </a:rPr>
              <a:t>구로구</a:t>
            </a:r>
          </a:p>
        </p:txBody>
      </p:sp>
      <p:sp>
        <p:nvSpPr>
          <p:cNvPr id="1054" name="Add 1054"/>
          <p:cNvSpPr txBox="1"/>
          <p:nvPr/>
        </p:nvSpPr>
        <p:spPr>
          <a:xfrm>
            <a:off x="10332720" y="4017030"/>
            <a:ext cx="1179576" cy="457200"/>
          </a:xfrm>
          <a:prstGeom prst="rect">
            <a:avLst/>
          </a:prstGeom>
          <a:noFill/>
        </p:spPr>
        <p:txBody>
          <a:bodyPr wrap="square" lIns="0" tIns="0" rIns="0" bIns="0" rtlCol="0" anchor="ctr"/>
          <a:lstStyle/>
          <a:p>
            <a:pPr algn="r"/>
            <a:r>
              <a:rPr lang="ko-KR" sz="1800" dirty="0">
                <a:solidFill>
                  <a:srgbClr val="D62828"/>
                </a:solidFill>
                <a:latin typeface="에이투지체 5 Medium"/>
                <a:ea typeface="에이투지체 5 Medium"/>
                <a:cs typeface="에이투지체 5 Medium"/>
              </a:rPr>
              <a:t>7,135건</a:t>
            </a:r>
          </a:p>
        </p:txBody>
      </p:sp>
      <p:sp>
        <p:nvSpPr>
          <p:cNvPr id="1055" name="Add 1055"/>
          <p:cNvSpPr txBox="1"/>
          <p:nvPr/>
        </p:nvSpPr>
        <p:spPr>
          <a:xfrm>
            <a:off x="9454896" y="4583958"/>
            <a:ext cx="914400" cy="457200"/>
          </a:xfrm>
          <a:prstGeom prst="rect">
            <a:avLst/>
          </a:prstGeom>
          <a:noFill/>
        </p:spPr>
        <p:txBody>
          <a:bodyPr wrap="square" lIns="0" tIns="0" rIns="0" bIns="0" rtlCol="0" anchor="ctr"/>
          <a:lstStyle/>
          <a:p>
            <a:pPr algn="l"/>
            <a:r>
              <a:rPr lang="ko-KR" sz="1200" dirty="0">
                <a:solidFill>
                  <a:srgbClr val="45515E"/>
                </a:solidFill>
                <a:latin typeface="에이투지체 5 Medium"/>
                <a:ea typeface="에이투지체 5 Medium"/>
                <a:cs typeface="에이투지체 5 Medium"/>
              </a:rPr>
              <a:t>강서구</a:t>
            </a:r>
          </a:p>
        </p:txBody>
      </p:sp>
      <p:sp>
        <p:nvSpPr>
          <p:cNvPr id="1056" name="Add 1056"/>
          <p:cNvSpPr txBox="1"/>
          <p:nvPr/>
        </p:nvSpPr>
        <p:spPr>
          <a:xfrm>
            <a:off x="10332720" y="4583958"/>
            <a:ext cx="1179576" cy="457200"/>
          </a:xfrm>
          <a:prstGeom prst="rect">
            <a:avLst/>
          </a:prstGeom>
          <a:noFill/>
        </p:spPr>
        <p:txBody>
          <a:bodyPr wrap="square" lIns="0" tIns="0" rIns="0" bIns="0" rtlCol="0" anchor="ctr"/>
          <a:lstStyle/>
          <a:p>
            <a:pPr algn="r"/>
            <a:r>
              <a:rPr lang="ko-KR" sz="1800" dirty="0">
                <a:solidFill>
                  <a:srgbClr val="D62828"/>
                </a:solidFill>
                <a:latin typeface="에이투지체 5 Medium"/>
                <a:ea typeface="에이투지체 5 Medium"/>
                <a:cs typeface="에이투지체 5 Medium"/>
              </a:rPr>
              <a:t>7,016건</a:t>
            </a:r>
          </a:p>
        </p:txBody>
      </p:sp>
      <p:sp>
        <p:nvSpPr>
          <p:cNvPr id="1057" name="Add 1057"/>
          <p:cNvSpPr/>
          <p:nvPr/>
        </p:nvSpPr>
        <p:spPr>
          <a:xfrm>
            <a:off x="9454896" y="5187462"/>
            <a:ext cx="2057400" cy="0"/>
          </a:xfrm>
          <a:prstGeom prst="line">
            <a:avLst/>
          </a:prstGeom>
          <a:ln w="9525">
            <a:solidFill>
              <a:srgbClr val="E5E7EB"/>
            </a:solidFill>
          </a:ln>
        </p:spPr>
        <p:txBody>
          <a:bodyPr/>
          <a:lstStyle/>
          <a:p>
            <a:endParaRPr/>
          </a:p>
        </p:txBody>
      </p:sp>
      <p:sp>
        <p:nvSpPr>
          <p:cNvPr id="1058" name="Add 1058"/>
          <p:cNvSpPr txBox="1"/>
          <p:nvPr/>
        </p:nvSpPr>
        <p:spPr>
          <a:xfrm>
            <a:off x="9454896" y="5297190"/>
            <a:ext cx="2057400" cy="822960"/>
          </a:xfrm>
          <a:prstGeom prst="rect">
            <a:avLst/>
          </a:prstGeom>
          <a:noFill/>
        </p:spPr>
        <p:txBody>
          <a:bodyPr wrap="square" lIns="0" tIns="0" rIns="0" bIns="0" rtlCol="0" anchor="t"/>
          <a:lstStyle/>
          <a:p>
            <a:pPr algn="ctr">
              <a:lnSpc>
                <a:spcPct val="130000"/>
              </a:lnSpc>
            </a:pPr>
            <a:r>
              <a:rPr lang="ko-KR" sz="1050" dirty="0">
                <a:solidFill>
                  <a:srgbClr val="45515E"/>
                </a:solidFill>
                <a:latin typeface="에이투지체 5 Medium"/>
                <a:ea typeface="에이투지체 5 Medium"/>
                <a:cs typeface="에이투지체 5 Medium"/>
              </a:rPr>
              <a:t>2월 감소 후 봄 이후</a:t>
            </a:r>
          </a:p>
          <a:p>
            <a:pPr algn="ctr">
              <a:lnSpc>
                <a:spcPct val="130000"/>
              </a:lnSpc>
            </a:pPr>
            <a:r>
              <a:rPr lang="ko-KR" sz="1050" dirty="0">
                <a:solidFill>
                  <a:srgbClr val="45515E"/>
                </a:solidFill>
                <a:latin typeface="에이투지체 5 Medium"/>
                <a:ea typeface="에이투지체 5 Medium"/>
                <a:cs typeface="에이투지체 5 Medium"/>
              </a:rPr>
              <a:t>증가하는 계절 패턴 유지</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81E25"/>
        </a:solidFill>
        <a:effectLst/>
      </p:bgPr>
    </p:bg>
    <p:spTree>
      <p:nvGrpSpPr>
        <p:cNvPr id="1" name=""/>
        <p:cNvGrpSpPr/>
        <p:nvPr/>
      </p:nvGrpSpPr>
      <p:grpSpPr>
        <a:xfrm>
          <a:off x="0" y="0"/>
          <a:ext cx="0" cy="0"/>
          <a:chOff x="0" y="0"/>
          <a:chExt cx="0" cy="0"/>
        </a:xfrm>
      </p:grpSpPr>
      <p:sp>
        <p:nvSpPr>
          <p:cNvPr id="2" name="Text 0"/>
          <p:cNvSpPr txBox="1"/>
          <p:nvPr/>
        </p:nvSpPr>
        <p:spPr>
          <a:xfrm>
            <a:off x="822960" y="1965960"/>
            <a:ext cx="3657600" cy="365760"/>
          </a:xfrm>
          <a:prstGeom prst="rect">
            <a:avLst/>
          </a:prstGeom>
          <a:noFill/>
          <a:ln/>
        </p:spPr>
        <p:txBody>
          <a:bodyPr wrap="square" lIns="0" tIns="0" rIns="0" bIns="0" rtlCol="0" anchor="ctr"/>
          <a:lstStyle/>
          <a:p>
            <a:pPr marL="0" indent="0">
              <a:buNone/>
            </a:pPr>
            <a:r>
              <a:rPr lang="en-US" sz="1400" dirty="0">
                <a:solidFill>
                  <a:srgbClr val="FFFFFF">
                    <a:alpha val="60000"/>
                  </a:srgbClr>
                </a:solidFill>
                <a:latin typeface="에이투지체 5 Medium"/>
                <a:ea typeface="에이투지체 5 Medium"/>
                <a:cs typeface="에이투지체 5 Medium"/>
              </a:rPr>
              <a:t>05</a:t>
            </a:r>
            <a:endParaRPr lang="en-US" sz="1400" dirty="0"/>
          </a:p>
        </p:txBody>
      </p:sp>
      <p:sp>
        <p:nvSpPr>
          <p:cNvPr id="3" name="Text 1"/>
          <p:cNvSpPr txBox="1"/>
          <p:nvPr/>
        </p:nvSpPr>
        <p:spPr>
          <a:xfrm>
            <a:off x="822960" y="2377440"/>
            <a:ext cx="10515600" cy="868680"/>
          </a:xfrm>
          <a:prstGeom prst="rect">
            <a:avLst/>
          </a:prstGeom>
          <a:noFill/>
          <a:ln/>
        </p:spPr>
        <p:txBody>
          <a:bodyPr wrap="square" lIns="0" tIns="0" rIns="0" bIns="0" rtlCol="0" anchor="ctr"/>
          <a:lstStyle/>
          <a:p>
            <a:pPr marL="0" indent="0">
              <a:buNone/>
            </a:pPr>
            <a:r>
              <a:rPr lang="en-US" sz="5600" b="1" dirty="0">
                <a:solidFill>
                  <a:srgbClr val="FFFFFF"/>
                </a:solidFill>
                <a:latin typeface="에이투지체 5 Medium"/>
                <a:ea typeface="에이투지체 5 Medium"/>
                <a:cs typeface="에이투지체 5 Medium"/>
              </a:rPr>
              <a:t>웹 서비스</a:t>
            </a:r>
            <a:endParaRPr lang="en-US" sz="5600" dirty="0"/>
          </a:p>
        </p:txBody>
      </p:sp>
      <p:sp>
        <p:nvSpPr>
          <p:cNvPr id="4" name="Text 2"/>
          <p:cNvSpPr txBox="1"/>
          <p:nvPr/>
        </p:nvSpPr>
        <p:spPr>
          <a:xfrm>
            <a:off x="822960" y="3383280"/>
            <a:ext cx="10515600" cy="457200"/>
          </a:xfrm>
          <a:prstGeom prst="rect">
            <a:avLst/>
          </a:prstGeom>
          <a:noFill/>
          <a:ln/>
        </p:spPr>
        <p:txBody>
          <a:bodyPr wrap="square" lIns="0" tIns="0" rIns="0" bIns="0" rtlCol="0" anchor="ctr"/>
          <a:lstStyle/>
          <a:p>
            <a:pPr marL="0" indent="0">
              <a:buNone/>
            </a:pPr>
            <a:r>
              <a:rPr lang="en-US" sz="2200" dirty="0">
                <a:solidFill>
                  <a:srgbClr val="FFFFFF">
                    <a:alpha val="70000"/>
                  </a:srgbClr>
                </a:solidFill>
                <a:latin typeface="에이투지체 5 Medium"/>
                <a:ea typeface="에이투지체 5 Medium"/>
                <a:cs typeface="에이투지체 5 Medium"/>
              </a:rPr>
              <a:t>분석 · 예측 결과와 실시간 응급실 병상 정보를 통합한 웹 서비스</a:t>
            </a:r>
            <a:endParaRPr lang="en-US" sz="2200" dirty="0"/>
          </a:p>
        </p:txBody>
      </p:sp>
      <p:sp>
        <p:nvSpPr>
          <p:cNvPr id="5" name="Shape 3"/>
          <p:cNvSpPr/>
          <p:nvPr/>
        </p:nvSpPr>
        <p:spPr>
          <a:xfrm>
            <a:off x="822960" y="4434840"/>
            <a:ext cx="3393338" cy="0"/>
          </a:xfrm>
          <a:prstGeom prst="line">
            <a:avLst/>
          </a:prstGeom>
          <a:noFill/>
          <a:ln w="25400">
            <a:solidFill>
              <a:srgbClr val="D62828"/>
            </a:solidFill>
            <a:prstDash val="solid"/>
          </a:ln>
        </p:spPr>
        <p:txBody>
          <a:bodyPr/>
          <a:lstStyle/>
          <a:p>
            <a:endParaRPr/>
          </a:p>
        </p:txBody>
      </p:sp>
      <p:sp>
        <p:nvSpPr>
          <p:cNvPr id="6" name="Text 4"/>
          <p:cNvSpPr txBox="1"/>
          <p:nvPr/>
        </p:nvSpPr>
        <p:spPr>
          <a:xfrm>
            <a:off x="822960" y="4572000"/>
            <a:ext cx="3393338" cy="274320"/>
          </a:xfrm>
          <a:prstGeom prst="rect">
            <a:avLst/>
          </a:prstGeom>
          <a:noFill/>
          <a:ln/>
        </p:spPr>
        <p:txBody>
          <a:bodyPr wrap="square" lIns="0" tIns="0" rIns="0" bIns="0" rtlCol="0" anchor="ctr"/>
          <a:lstStyle/>
          <a:p>
            <a:pPr marL="0" indent="0">
              <a:buNone/>
            </a:pPr>
            <a:r>
              <a:rPr lang="en-US" sz="1200" b="1" dirty="0">
                <a:solidFill>
                  <a:srgbClr val="E87A7A"/>
                </a:solidFill>
                <a:latin typeface="에이투지체 5 Medium"/>
                <a:ea typeface="에이투지체 5 Medium"/>
                <a:cs typeface="에이투지체 5 Medium"/>
              </a:rPr>
              <a:t>01</a:t>
            </a:r>
            <a:endParaRPr lang="en-US" sz="1200" dirty="0"/>
          </a:p>
        </p:txBody>
      </p:sp>
      <p:sp>
        <p:nvSpPr>
          <p:cNvPr id="7" name="Text 5"/>
          <p:cNvSpPr txBox="1"/>
          <p:nvPr/>
        </p:nvSpPr>
        <p:spPr>
          <a:xfrm>
            <a:off x="822960"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서비스 구성 · 기능 구성도</a:t>
            </a:r>
            <a:endParaRPr lang="en-US" sz="1500" dirty="0"/>
          </a:p>
        </p:txBody>
      </p:sp>
      <p:sp>
        <p:nvSpPr>
          <p:cNvPr id="8" name="Shape 6"/>
          <p:cNvSpPr/>
          <p:nvPr/>
        </p:nvSpPr>
        <p:spPr>
          <a:xfrm>
            <a:off x="4399178" y="4434840"/>
            <a:ext cx="3393338" cy="0"/>
          </a:xfrm>
          <a:prstGeom prst="line">
            <a:avLst/>
          </a:prstGeom>
          <a:noFill/>
          <a:ln w="25400">
            <a:solidFill>
              <a:srgbClr val="3A414B"/>
            </a:solidFill>
            <a:prstDash val="solid"/>
          </a:ln>
        </p:spPr>
        <p:txBody>
          <a:bodyPr/>
          <a:lstStyle/>
          <a:p>
            <a:endParaRPr/>
          </a:p>
        </p:txBody>
      </p:sp>
      <p:sp>
        <p:nvSpPr>
          <p:cNvPr id="9" name="Text 7"/>
          <p:cNvSpPr txBox="1"/>
          <p:nvPr/>
        </p:nvSpPr>
        <p:spPr>
          <a:xfrm>
            <a:off x="4399178" y="4572000"/>
            <a:ext cx="3393338"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02</a:t>
            </a:r>
            <a:endParaRPr lang="en-US" sz="1200" dirty="0"/>
          </a:p>
        </p:txBody>
      </p:sp>
      <p:sp>
        <p:nvSpPr>
          <p:cNvPr id="10" name="Text 8"/>
          <p:cNvSpPr txBox="1"/>
          <p:nvPr/>
        </p:nvSpPr>
        <p:spPr>
          <a:xfrm>
            <a:off x="4399178"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분석 · 예측 대시보드 · 병상 관제</a:t>
            </a:r>
            <a:endParaRPr lang="en-US" sz="1500" dirty="0"/>
          </a:p>
        </p:txBody>
      </p:sp>
      <p:sp>
        <p:nvSpPr>
          <p:cNvPr id="11" name="Shape 9"/>
          <p:cNvSpPr/>
          <p:nvPr/>
        </p:nvSpPr>
        <p:spPr>
          <a:xfrm>
            <a:off x="7975397" y="4434840"/>
            <a:ext cx="3393338" cy="0"/>
          </a:xfrm>
          <a:prstGeom prst="line">
            <a:avLst/>
          </a:prstGeom>
          <a:noFill/>
          <a:ln w="25400">
            <a:solidFill>
              <a:srgbClr val="3A414B"/>
            </a:solidFill>
            <a:prstDash val="solid"/>
          </a:ln>
        </p:spPr>
        <p:txBody>
          <a:bodyPr/>
          <a:lstStyle/>
          <a:p>
            <a:endParaRPr/>
          </a:p>
        </p:txBody>
      </p:sp>
      <p:sp>
        <p:nvSpPr>
          <p:cNvPr id="12" name="Text 10"/>
          <p:cNvSpPr txBox="1"/>
          <p:nvPr/>
        </p:nvSpPr>
        <p:spPr>
          <a:xfrm>
            <a:off x="7975397" y="4572000"/>
            <a:ext cx="3393338"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03</a:t>
            </a:r>
            <a:endParaRPr lang="en-US" sz="1200" dirty="0"/>
          </a:p>
        </p:txBody>
      </p:sp>
      <p:sp>
        <p:nvSpPr>
          <p:cNvPr id="13" name="Text 11"/>
          <p:cNvSpPr txBox="1"/>
          <p:nvPr/>
        </p:nvSpPr>
        <p:spPr>
          <a:xfrm>
            <a:off x="7975397"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시퀀스 다이어그램</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05  웹 서비스</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a:ea typeface="에이투지체 5 Medium"/>
                <a:cs typeface="에이투지체 5 Medium"/>
              </a:rPr>
              <a:t>웹 서비스 화면</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메인 · 분석 · 예측 · 병상 관제 화면과 AI 챗봇 응답 예시</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36</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웹 서비스 화면 캡처 (2026.10.12)</a:t>
            </a:r>
            <a:endParaRPr lang="en-US" sz="900" dirty="0"/>
          </a:p>
        </p:txBody>
      </p:sp>
      <p:sp>
        <p:nvSpPr>
          <p:cNvPr id="5001" name="D 5001"/>
          <p:cNvSpPr/>
          <p:nvPr/>
        </p:nvSpPr>
        <p:spPr>
          <a:xfrm>
            <a:off x="457200" y="1993392"/>
            <a:ext cx="5547208" cy="2007108"/>
          </a:xfrm>
          <a:prstGeom prst="roundRect">
            <a:avLst>
              <a:gd name="adj" fmla="val 4555"/>
            </a:avLst>
          </a:prstGeom>
          <a:solidFill>
            <a:srgbClr val="FFFFFF"/>
          </a:solidFill>
          <a:ln>
            <a:noFill/>
          </a:ln>
          <a:effectLst>
            <a:outerShdw blurRad="38100" dist="25400" dir="5400000" algn="t" rotWithShape="0">
              <a:srgbClr val="000000">
                <a:alpha val="8000"/>
              </a:srgbClr>
            </a:outerShdw>
          </a:effectLst>
        </p:spPr>
      </p:sp>
      <p:pic>
        <p:nvPicPr>
          <p:cNvPr id="5002" name="Picture 5001" descr="main.png"/>
          <p:cNvPicPr>
            <a:picLocks noChangeAspect="1"/>
          </p:cNvPicPr>
          <p:nvPr/>
        </p:nvPicPr>
        <p:blipFill>
          <a:blip r:embed="rId3"/>
          <a:stretch>
            <a:fillRect/>
          </a:stretch>
        </p:blipFill>
        <p:spPr>
          <a:xfrm>
            <a:off x="594360" y="2130552"/>
            <a:ext cx="3676191" cy="1732788"/>
          </a:xfrm>
          <a:prstGeom prst="rect">
            <a:avLst/>
          </a:prstGeom>
        </p:spPr>
      </p:pic>
      <p:sp>
        <p:nvSpPr>
          <p:cNvPr id="7" name="D 5002"/>
          <p:cNvSpPr/>
          <p:nvPr/>
        </p:nvSpPr>
        <p:spPr>
          <a:xfrm>
            <a:off x="594360" y="2130552"/>
            <a:ext cx="3676191" cy="1732788"/>
          </a:xfrm>
          <a:prstGeom prst="rect">
            <a:avLst/>
          </a:prstGeom>
          <a:noFill/>
          <a:ln w="9525">
            <a:solidFill>
              <a:srgbClr val="E5E7EB"/>
            </a:solidFill>
          </a:ln>
        </p:spPr>
      </p:sp>
      <p:sp>
        <p:nvSpPr>
          <p:cNvPr id="5003" name="D 5003"/>
          <p:cNvSpPr/>
          <p:nvPr/>
        </p:nvSpPr>
        <p:spPr>
          <a:xfrm>
            <a:off x="4499151" y="2313432"/>
            <a:ext cx="54864" cy="1367028"/>
          </a:xfrm>
          <a:prstGeom prst="rect">
            <a:avLst/>
          </a:prstGeom>
          <a:solidFill>
            <a:srgbClr val="D62828"/>
          </a:solidFill>
          <a:ln>
            <a:noFill/>
          </a:ln>
        </p:spPr>
      </p:sp>
      <p:sp>
        <p:nvSpPr>
          <p:cNvPr id="5004" name="D 5004"/>
          <p:cNvSpPr txBox="1"/>
          <p:nvPr/>
        </p:nvSpPr>
        <p:spPr>
          <a:xfrm>
            <a:off x="4663743" y="1993392"/>
            <a:ext cx="1230936" cy="2007108"/>
          </a:xfrm>
          <a:prstGeom prst="rect">
            <a:avLst/>
          </a:prstGeom>
          <a:noFill/>
        </p:spPr>
        <p:txBody>
          <a:bodyPr wrap="square" lIns="0" tIns="0" rIns="0" bIns="0" rtlCol="0" anchor="ctr"/>
          <a:lstStyle/>
          <a:p>
            <a:pPr algn="l"/>
            <a:r>
              <a:rPr lang="ko-KR" sz="1300" b="1" dirty="0">
                <a:solidFill>
                  <a:srgbClr val="222222"/>
                </a:solidFill>
                <a:latin typeface="에이투지체 5 Medium"/>
                <a:ea typeface="에이투지체 5 Medium"/>
                <a:cs typeface="에이투지체 5 Medium"/>
              </a:rPr>
              <a:t>메인</a:t>
            </a:r>
          </a:p>
          <a:p>
            <a:pPr algn="l"/>
            <a:r>
              <a:rPr lang="ko-KR" sz="950" dirty="0">
                <a:solidFill>
                  <a:srgbClr val="45515E"/>
                </a:solidFill>
                <a:latin typeface="에이투지체 5 Medium"/>
                <a:ea typeface="에이투지체 5 Medium"/>
                <a:cs typeface="에이투지체 5 Medium"/>
              </a:rPr>
              <a:t>분석 · 예측</a:t>
            </a:r>
          </a:p>
          <a:p>
            <a:pPr algn="l"/>
            <a:r>
              <a:rPr lang="ko-KR" sz="950" dirty="0">
                <a:solidFill>
                  <a:srgbClr val="45515E"/>
                </a:solidFill>
                <a:latin typeface="에이투지체 5 Medium"/>
                <a:ea typeface="에이투지체 5 Medium"/>
                <a:cs typeface="에이투지체 5 Medium"/>
              </a:rPr>
              <a:t>병상 관제 이동</a:t>
            </a:r>
          </a:p>
        </p:txBody>
      </p:sp>
      <p:sp>
        <p:nvSpPr>
          <p:cNvPr id="5005" name="D 5005"/>
          <p:cNvSpPr/>
          <p:nvPr/>
        </p:nvSpPr>
        <p:spPr>
          <a:xfrm>
            <a:off x="6187288" y="1993392"/>
            <a:ext cx="5547208" cy="2007108"/>
          </a:xfrm>
          <a:prstGeom prst="roundRect">
            <a:avLst>
              <a:gd name="adj" fmla="val 4555"/>
            </a:avLst>
          </a:prstGeom>
          <a:solidFill>
            <a:srgbClr val="FFFFFF"/>
          </a:solidFill>
          <a:ln>
            <a:noFill/>
          </a:ln>
          <a:effectLst>
            <a:outerShdw blurRad="38100" dist="25400" dir="5400000" algn="t" rotWithShape="0">
              <a:srgbClr val="000000">
                <a:alpha val="8000"/>
              </a:srgbClr>
            </a:outerShdw>
          </a:effectLst>
        </p:spPr>
      </p:sp>
      <p:pic>
        <p:nvPicPr>
          <p:cNvPr id="5006" name="Picture 5005" descr="ana.png"/>
          <p:cNvPicPr>
            <a:picLocks noChangeAspect="1"/>
          </p:cNvPicPr>
          <p:nvPr/>
        </p:nvPicPr>
        <p:blipFill>
          <a:blip r:embed="rId4"/>
          <a:stretch>
            <a:fillRect/>
          </a:stretch>
        </p:blipFill>
        <p:spPr>
          <a:xfrm>
            <a:off x="6324448" y="2130552"/>
            <a:ext cx="3655992" cy="1732788"/>
          </a:xfrm>
          <a:prstGeom prst="rect">
            <a:avLst/>
          </a:prstGeom>
        </p:spPr>
      </p:pic>
      <p:sp>
        <p:nvSpPr>
          <p:cNvPr id="8" name="D 5006"/>
          <p:cNvSpPr/>
          <p:nvPr/>
        </p:nvSpPr>
        <p:spPr>
          <a:xfrm>
            <a:off x="6324448" y="2130552"/>
            <a:ext cx="3655992" cy="1732788"/>
          </a:xfrm>
          <a:prstGeom prst="rect">
            <a:avLst/>
          </a:prstGeom>
          <a:noFill/>
          <a:ln w="9525">
            <a:solidFill>
              <a:srgbClr val="E5E7EB"/>
            </a:solidFill>
          </a:ln>
        </p:spPr>
      </p:sp>
      <p:sp>
        <p:nvSpPr>
          <p:cNvPr id="5007" name="D 5007"/>
          <p:cNvSpPr/>
          <p:nvPr/>
        </p:nvSpPr>
        <p:spPr>
          <a:xfrm>
            <a:off x="10209040" y="2313432"/>
            <a:ext cx="54864" cy="1367028"/>
          </a:xfrm>
          <a:prstGeom prst="rect">
            <a:avLst/>
          </a:prstGeom>
          <a:solidFill>
            <a:srgbClr val="D62828"/>
          </a:solidFill>
          <a:ln>
            <a:noFill/>
          </a:ln>
        </p:spPr>
      </p:sp>
      <p:sp>
        <p:nvSpPr>
          <p:cNvPr id="5008" name="D 5008"/>
          <p:cNvSpPr txBox="1"/>
          <p:nvPr/>
        </p:nvSpPr>
        <p:spPr>
          <a:xfrm>
            <a:off x="10373632" y="1993392"/>
            <a:ext cx="1251135" cy="2007108"/>
          </a:xfrm>
          <a:prstGeom prst="rect">
            <a:avLst/>
          </a:prstGeom>
          <a:noFill/>
        </p:spPr>
        <p:txBody>
          <a:bodyPr wrap="square" lIns="0" tIns="0" rIns="0" bIns="0" rtlCol="0" anchor="ctr"/>
          <a:lstStyle/>
          <a:p>
            <a:pPr algn="l"/>
            <a:r>
              <a:rPr lang="ko-KR" sz="1300" b="1" dirty="0">
                <a:solidFill>
                  <a:srgbClr val="222222"/>
                </a:solidFill>
                <a:latin typeface="에이투지체 5 Medium"/>
                <a:ea typeface="에이투지체 5 Medium"/>
                <a:cs typeface="에이투지체 5 Medium"/>
              </a:rPr>
              <a:t>분석 · 예측</a:t>
            </a:r>
          </a:p>
          <a:p>
            <a:pPr algn="l"/>
            <a:r>
              <a:rPr lang="ko-KR" sz="950" dirty="0">
                <a:solidFill>
                  <a:srgbClr val="45515E"/>
                </a:solidFill>
                <a:latin typeface="에이투지체 5 Medium"/>
                <a:ea typeface="에이투지체 5 Medium"/>
                <a:cs typeface="에이투지체 5 Medium"/>
              </a:rPr>
              <a:t>실적 · 예측 그래프</a:t>
            </a:r>
          </a:p>
          <a:p>
            <a:pPr algn="l"/>
            <a:r>
              <a:rPr lang="ko-KR" sz="950" dirty="0">
                <a:solidFill>
                  <a:srgbClr val="45515E"/>
                </a:solidFill>
                <a:latin typeface="에이투지체 5 Medium"/>
                <a:ea typeface="에이투지체 5 Medium"/>
                <a:cs typeface="에이투지체 5 Medium"/>
              </a:rPr>
              <a:t>자치구 순위</a:t>
            </a:r>
          </a:p>
        </p:txBody>
      </p:sp>
      <p:sp>
        <p:nvSpPr>
          <p:cNvPr id="5009" name="D 5009"/>
          <p:cNvSpPr/>
          <p:nvPr/>
        </p:nvSpPr>
        <p:spPr>
          <a:xfrm>
            <a:off x="457200" y="4183380"/>
            <a:ext cx="5547208" cy="2007108"/>
          </a:xfrm>
          <a:prstGeom prst="roundRect">
            <a:avLst>
              <a:gd name="adj" fmla="val 4555"/>
            </a:avLst>
          </a:prstGeom>
          <a:solidFill>
            <a:srgbClr val="FFFFFF"/>
          </a:solidFill>
          <a:ln>
            <a:noFill/>
          </a:ln>
          <a:effectLst>
            <a:outerShdw blurRad="38100" dist="25400" dir="5400000" algn="t" rotWithShape="0">
              <a:srgbClr val="000000">
                <a:alpha val="8000"/>
              </a:srgbClr>
            </a:outerShdw>
          </a:effectLst>
        </p:spPr>
      </p:sp>
      <p:pic>
        <p:nvPicPr>
          <p:cNvPr id="5010" name="Picture 5009" descr="beds.png"/>
          <p:cNvPicPr>
            <a:picLocks noChangeAspect="1"/>
          </p:cNvPicPr>
          <p:nvPr/>
        </p:nvPicPr>
        <p:blipFill>
          <a:blip r:embed="rId5"/>
          <a:stretch>
            <a:fillRect/>
          </a:stretch>
        </p:blipFill>
        <p:spPr>
          <a:xfrm>
            <a:off x="594360" y="4320540"/>
            <a:ext cx="3676191" cy="1732788"/>
          </a:xfrm>
          <a:prstGeom prst="rect">
            <a:avLst/>
          </a:prstGeom>
        </p:spPr>
      </p:pic>
      <p:sp>
        <p:nvSpPr>
          <p:cNvPr id="9" name="D 5010"/>
          <p:cNvSpPr/>
          <p:nvPr/>
        </p:nvSpPr>
        <p:spPr>
          <a:xfrm>
            <a:off x="594360" y="4320540"/>
            <a:ext cx="3676191" cy="1732788"/>
          </a:xfrm>
          <a:prstGeom prst="rect">
            <a:avLst/>
          </a:prstGeom>
          <a:noFill/>
          <a:ln w="9525">
            <a:solidFill>
              <a:srgbClr val="E5E7EB"/>
            </a:solidFill>
          </a:ln>
        </p:spPr>
      </p:sp>
      <p:sp>
        <p:nvSpPr>
          <p:cNvPr id="5011" name="D 5011"/>
          <p:cNvSpPr/>
          <p:nvPr/>
        </p:nvSpPr>
        <p:spPr>
          <a:xfrm>
            <a:off x="4499151" y="4503420"/>
            <a:ext cx="54864" cy="1367028"/>
          </a:xfrm>
          <a:prstGeom prst="rect">
            <a:avLst/>
          </a:prstGeom>
          <a:solidFill>
            <a:srgbClr val="D62828"/>
          </a:solidFill>
          <a:ln>
            <a:noFill/>
          </a:ln>
        </p:spPr>
      </p:sp>
      <p:sp>
        <p:nvSpPr>
          <p:cNvPr id="5012" name="D 5012"/>
          <p:cNvSpPr txBox="1"/>
          <p:nvPr/>
        </p:nvSpPr>
        <p:spPr>
          <a:xfrm>
            <a:off x="4663743" y="4183380"/>
            <a:ext cx="1230936" cy="2007108"/>
          </a:xfrm>
          <a:prstGeom prst="rect">
            <a:avLst/>
          </a:prstGeom>
          <a:noFill/>
        </p:spPr>
        <p:txBody>
          <a:bodyPr wrap="square" lIns="0" tIns="0" rIns="0" bIns="0" rtlCol="0" anchor="ctr"/>
          <a:lstStyle/>
          <a:p>
            <a:pPr algn="l"/>
            <a:r>
              <a:rPr lang="ko-KR" sz="1300" b="1" dirty="0">
                <a:solidFill>
                  <a:srgbClr val="222222"/>
                </a:solidFill>
                <a:latin typeface="에이투지체 5 Medium"/>
                <a:ea typeface="에이투지체 5 Medium"/>
                <a:cs typeface="에이투지체 5 Medium"/>
              </a:rPr>
              <a:t>병상 관제</a:t>
            </a:r>
          </a:p>
          <a:p>
            <a:pPr algn="l"/>
            <a:r>
              <a:rPr lang="ko-KR" sz="950" dirty="0">
                <a:solidFill>
                  <a:srgbClr val="45515E"/>
                </a:solidFill>
                <a:latin typeface="에이투지체 5 Medium"/>
                <a:ea typeface="에이투지체 5 Medium"/>
                <a:cs typeface="에이투지체 5 Medium"/>
              </a:rPr>
              <a:t>가용병상</a:t>
            </a:r>
          </a:p>
          <a:p>
            <a:pPr algn="l"/>
            <a:r>
              <a:rPr lang="ko-KR" sz="950" dirty="0">
                <a:solidFill>
                  <a:srgbClr val="45515E"/>
                </a:solidFill>
                <a:latin typeface="에이투지체 5 Medium"/>
                <a:ea typeface="에이투지체 5 Medium"/>
                <a:cs typeface="에이투지체 5 Medium"/>
              </a:rPr>
              <a:t>위험 · 주의 지역</a:t>
            </a:r>
          </a:p>
        </p:txBody>
      </p:sp>
      <p:sp>
        <p:nvSpPr>
          <p:cNvPr id="5013" name="D 5013"/>
          <p:cNvSpPr/>
          <p:nvPr/>
        </p:nvSpPr>
        <p:spPr>
          <a:xfrm>
            <a:off x="6187288" y="4183380"/>
            <a:ext cx="5547208" cy="2007108"/>
          </a:xfrm>
          <a:prstGeom prst="roundRect">
            <a:avLst>
              <a:gd name="adj" fmla="val 4555"/>
            </a:avLst>
          </a:prstGeom>
          <a:solidFill>
            <a:srgbClr val="FFFFFF"/>
          </a:solidFill>
          <a:ln>
            <a:noFill/>
          </a:ln>
          <a:effectLst>
            <a:outerShdw blurRad="38100" dist="25400" dir="5400000" algn="t" rotWithShape="0">
              <a:srgbClr val="000000">
                <a:alpha val="8000"/>
              </a:srgbClr>
            </a:outerShdw>
          </a:effectLst>
        </p:spPr>
      </p:sp>
      <p:pic>
        <p:nvPicPr>
          <p:cNvPr id="5014" name="Picture 5013" descr="chat.png"/>
          <p:cNvPicPr>
            <a:picLocks noChangeAspect="1"/>
          </p:cNvPicPr>
          <p:nvPr/>
        </p:nvPicPr>
        <p:blipFill>
          <a:blip r:embed="rId6"/>
          <a:stretch>
            <a:fillRect/>
          </a:stretch>
        </p:blipFill>
        <p:spPr>
          <a:xfrm>
            <a:off x="6324448" y="4320540"/>
            <a:ext cx="1685017" cy="1732788"/>
          </a:xfrm>
          <a:prstGeom prst="rect">
            <a:avLst/>
          </a:prstGeom>
        </p:spPr>
      </p:pic>
      <p:sp>
        <p:nvSpPr>
          <p:cNvPr id="10" name="D 5014"/>
          <p:cNvSpPr/>
          <p:nvPr/>
        </p:nvSpPr>
        <p:spPr>
          <a:xfrm>
            <a:off x="6324448" y="4320540"/>
            <a:ext cx="1685017" cy="1732788"/>
          </a:xfrm>
          <a:prstGeom prst="rect">
            <a:avLst/>
          </a:prstGeom>
          <a:noFill/>
          <a:ln w="9525">
            <a:solidFill>
              <a:srgbClr val="E5E7EB"/>
            </a:solidFill>
          </a:ln>
        </p:spPr>
      </p:sp>
      <p:sp>
        <p:nvSpPr>
          <p:cNvPr id="5015" name="D 5015"/>
          <p:cNvSpPr/>
          <p:nvPr/>
        </p:nvSpPr>
        <p:spPr>
          <a:xfrm>
            <a:off x="8238065" y="4503420"/>
            <a:ext cx="54864" cy="1367028"/>
          </a:xfrm>
          <a:prstGeom prst="rect">
            <a:avLst/>
          </a:prstGeom>
          <a:solidFill>
            <a:srgbClr val="D62828"/>
          </a:solidFill>
          <a:ln>
            <a:noFill/>
          </a:ln>
        </p:spPr>
      </p:sp>
      <p:sp>
        <p:nvSpPr>
          <p:cNvPr id="5016" name="D 5016"/>
          <p:cNvSpPr txBox="1"/>
          <p:nvPr/>
        </p:nvSpPr>
        <p:spPr>
          <a:xfrm>
            <a:off x="8402657" y="4183380"/>
            <a:ext cx="3222111" cy="2007108"/>
          </a:xfrm>
          <a:prstGeom prst="rect">
            <a:avLst/>
          </a:prstGeom>
          <a:noFill/>
        </p:spPr>
        <p:txBody>
          <a:bodyPr wrap="square" lIns="0" tIns="0" rIns="0" bIns="0" rtlCol="0" anchor="ctr"/>
          <a:lstStyle/>
          <a:p>
            <a:pPr algn="l"/>
            <a:r>
              <a:rPr lang="ko-KR" sz="1300" b="1" dirty="0">
                <a:solidFill>
                  <a:srgbClr val="222222"/>
                </a:solidFill>
                <a:latin typeface="에이투지체 5 Medium"/>
                <a:ea typeface="에이투지체 5 Medium"/>
                <a:cs typeface="에이투지체 5 Medium"/>
              </a:rPr>
              <a:t>AI 챗봇</a:t>
            </a:r>
          </a:p>
          <a:p>
            <a:pPr algn="l"/>
            <a:r>
              <a:rPr lang="ko-KR" sz="950" dirty="0">
                <a:solidFill>
                  <a:srgbClr val="45515E"/>
                </a:solidFill>
                <a:latin typeface="에이투지체 5 Medium"/>
                <a:ea typeface="에이투지체 5 Medium"/>
                <a:cs typeface="에이투지체 5 Medium"/>
              </a:rPr>
              <a:t>동 · 구 이름으로</a:t>
            </a:r>
          </a:p>
          <a:p>
            <a:pPr algn="l"/>
            <a:r>
              <a:rPr lang="ko-KR" sz="950" dirty="0">
                <a:solidFill>
                  <a:srgbClr val="45515E"/>
                </a:solidFill>
                <a:latin typeface="에이투지체 5 Medium"/>
                <a:ea typeface="에이투지체 5 Medium"/>
                <a:cs typeface="에이투지체 5 Medium"/>
              </a:rPr>
              <a:t>이송 예측 문의</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05  웹 서비스</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a:ea typeface="에이투지체 5 Medium"/>
                <a:cs typeface="에이투지체 5 Medium"/>
              </a:rPr>
              <a:t>웹 서비스 구현 및 구성</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구급 수요 분석 · 예측 결과와 실시간 응급실 병상 정보를 단일 웹 서비스로 통합</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36</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웹 서비스 화면 캡처 (2026.10.02) · README_v1</a:t>
            </a:r>
            <a:endParaRPr lang="en-US" sz="900" dirty="0"/>
          </a:p>
        </p:txBody>
      </p:sp>
      <p:sp>
        <p:nvSpPr>
          <p:cNvPr id="3001" name="W 3001"/>
          <p:cNvSpPr/>
          <p:nvPr/>
        </p:nvSpPr>
        <p:spPr>
          <a:xfrm>
            <a:off x="457200" y="1993392"/>
            <a:ext cx="6949440" cy="4197096"/>
          </a:xfrm>
          <a:prstGeom prst="roundRect">
            <a:avLst>
              <a:gd name="adj" fmla="val 2178"/>
            </a:avLst>
          </a:prstGeom>
          <a:solidFill>
            <a:srgbClr val="FFFFFF"/>
          </a:solidFill>
          <a:ln>
            <a:noFill/>
          </a:ln>
          <a:effectLst>
            <a:outerShdw blurRad="38100" dist="25400" dir="5400000" algn="t" rotWithShape="0">
              <a:srgbClr val="000000">
                <a:alpha val="8000"/>
              </a:srgbClr>
            </a:outerShdw>
          </a:effectLst>
        </p:spPr>
        <p:txBody>
          <a:bodyPr/>
          <a:lstStyle/>
          <a:p>
            <a:endParaRPr/>
          </a:p>
        </p:txBody>
      </p:sp>
      <p:pic>
        <p:nvPicPr>
          <p:cNvPr id="3002" name="Picture 3001" descr="f_main.png"/>
          <p:cNvPicPr>
            <a:picLocks noChangeAspect="1"/>
          </p:cNvPicPr>
          <p:nvPr/>
        </p:nvPicPr>
        <p:blipFill>
          <a:blip r:embed="rId3"/>
          <a:stretch>
            <a:fillRect/>
          </a:stretch>
        </p:blipFill>
        <p:spPr>
          <a:xfrm>
            <a:off x="927346" y="2176272"/>
            <a:ext cx="6009148" cy="3831336"/>
          </a:xfrm>
          <a:prstGeom prst="rect">
            <a:avLst/>
          </a:prstGeom>
        </p:spPr>
      </p:pic>
      <p:sp>
        <p:nvSpPr>
          <p:cNvPr id="7" name="W 3002"/>
          <p:cNvSpPr/>
          <p:nvPr/>
        </p:nvSpPr>
        <p:spPr>
          <a:xfrm>
            <a:off x="7589520" y="1993392"/>
            <a:ext cx="4144975" cy="987552"/>
          </a:xfrm>
          <a:prstGeom prst="roundRect">
            <a:avLst>
              <a:gd name="adj" fmla="val 9259"/>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3003" name="W 3003"/>
          <p:cNvSpPr/>
          <p:nvPr/>
        </p:nvSpPr>
        <p:spPr>
          <a:xfrm>
            <a:off x="7589520" y="2176272"/>
            <a:ext cx="54864" cy="621792"/>
          </a:xfrm>
          <a:prstGeom prst="rect">
            <a:avLst/>
          </a:prstGeom>
          <a:solidFill>
            <a:srgbClr val="D62828"/>
          </a:solidFill>
          <a:ln>
            <a:noFill/>
          </a:ln>
        </p:spPr>
        <p:txBody>
          <a:bodyPr/>
          <a:lstStyle/>
          <a:p>
            <a:endParaRPr/>
          </a:p>
        </p:txBody>
      </p:sp>
      <p:sp>
        <p:nvSpPr>
          <p:cNvPr id="3004" name="W 3004"/>
          <p:cNvSpPr txBox="1"/>
          <p:nvPr/>
        </p:nvSpPr>
        <p:spPr>
          <a:xfrm>
            <a:off x="7863840" y="2139696"/>
            <a:ext cx="2286000" cy="329184"/>
          </a:xfrm>
          <a:prstGeom prst="rect">
            <a:avLst/>
          </a:prstGeom>
          <a:noFill/>
        </p:spPr>
        <p:txBody>
          <a:bodyPr wrap="square" lIns="0" tIns="0" rIns="0" bIns="0" rtlCol="0" anchor="ctr"/>
          <a:lstStyle/>
          <a:p>
            <a:pPr algn="l"/>
            <a:r>
              <a:rPr lang="ko-KR" sz="1500" b="1" dirty="0">
                <a:solidFill>
                  <a:srgbClr val="222222"/>
                </a:solidFill>
                <a:latin typeface="에이투지체 5 Medium"/>
                <a:ea typeface="에이투지체 5 Medium"/>
                <a:cs typeface="에이투지체 5 Medium"/>
              </a:rPr>
              <a:t>메인</a:t>
            </a:r>
          </a:p>
        </p:txBody>
      </p:sp>
      <p:sp>
        <p:nvSpPr>
          <p:cNvPr id="3005" name="W 3005"/>
          <p:cNvSpPr txBox="1"/>
          <p:nvPr/>
        </p:nvSpPr>
        <p:spPr>
          <a:xfrm>
            <a:off x="10271455" y="2139696"/>
            <a:ext cx="1243584" cy="329184"/>
          </a:xfrm>
          <a:prstGeom prst="rect">
            <a:avLst/>
          </a:prstGeom>
          <a:noFill/>
        </p:spPr>
        <p:txBody>
          <a:bodyPr wrap="square" lIns="0" tIns="0" rIns="0" bIns="0" rtlCol="0" anchor="ctr"/>
          <a:lstStyle/>
          <a:p>
            <a:pPr algn="r"/>
            <a:r>
              <a:rPr lang="ko-KR" sz="1100" dirty="0">
                <a:solidFill>
                  <a:srgbClr val="8E8E93"/>
                </a:solidFill>
                <a:latin typeface="에이투지체 5 Medium"/>
                <a:ea typeface="에이투지체 5 Medium"/>
                <a:cs typeface="에이투지체 5 Medium"/>
              </a:rPr>
              <a:t>/</a:t>
            </a:r>
          </a:p>
        </p:txBody>
      </p:sp>
      <p:sp>
        <p:nvSpPr>
          <p:cNvPr id="3006" name="W 3006"/>
          <p:cNvSpPr txBox="1"/>
          <p:nvPr/>
        </p:nvSpPr>
        <p:spPr>
          <a:xfrm>
            <a:off x="7863840" y="2523744"/>
            <a:ext cx="3687775" cy="292608"/>
          </a:xfrm>
          <a:prstGeom prst="rect">
            <a:avLst/>
          </a:prstGeom>
          <a:noFill/>
        </p:spPr>
        <p:txBody>
          <a:bodyPr wrap="square" lIns="0" tIns="0" rIns="0" bIns="0" rtlCol="0" anchor="ctr"/>
          <a:lstStyle/>
          <a:p>
            <a:pPr algn="l"/>
            <a:r>
              <a:rPr lang="ko-KR" sz="1100" dirty="0">
                <a:solidFill>
                  <a:srgbClr val="45515E"/>
                </a:solidFill>
                <a:latin typeface="에이투지체 5 Medium"/>
                <a:ea typeface="에이투지체 5 Medium"/>
                <a:cs typeface="에이투지체 5 Medium"/>
              </a:rPr>
              <a:t>두 핵심 서비스로 바로 이동하는 시작 화면</a:t>
            </a:r>
          </a:p>
        </p:txBody>
      </p:sp>
      <p:sp>
        <p:nvSpPr>
          <p:cNvPr id="3007" name="W 3007"/>
          <p:cNvSpPr/>
          <p:nvPr/>
        </p:nvSpPr>
        <p:spPr>
          <a:xfrm>
            <a:off x="7589520" y="3090672"/>
            <a:ext cx="4144975" cy="987552"/>
          </a:xfrm>
          <a:prstGeom prst="roundRect">
            <a:avLst>
              <a:gd name="adj" fmla="val 9259"/>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3008" name="W 3008"/>
          <p:cNvSpPr/>
          <p:nvPr/>
        </p:nvSpPr>
        <p:spPr>
          <a:xfrm>
            <a:off x="7589520" y="3273552"/>
            <a:ext cx="54864" cy="621792"/>
          </a:xfrm>
          <a:prstGeom prst="rect">
            <a:avLst/>
          </a:prstGeom>
          <a:solidFill>
            <a:srgbClr val="D62828"/>
          </a:solidFill>
          <a:ln>
            <a:noFill/>
          </a:ln>
        </p:spPr>
        <p:txBody>
          <a:bodyPr/>
          <a:lstStyle/>
          <a:p>
            <a:endParaRPr/>
          </a:p>
        </p:txBody>
      </p:sp>
      <p:sp>
        <p:nvSpPr>
          <p:cNvPr id="3009" name="W 3009"/>
          <p:cNvSpPr txBox="1"/>
          <p:nvPr/>
        </p:nvSpPr>
        <p:spPr>
          <a:xfrm>
            <a:off x="7863840" y="3236976"/>
            <a:ext cx="2286000" cy="329184"/>
          </a:xfrm>
          <a:prstGeom prst="rect">
            <a:avLst/>
          </a:prstGeom>
          <a:noFill/>
        </p:spPr>
        <p:txBody>
          <a:bodyPr wrap="square" lIns="0" tIns="0" rIns="0" bIns="0" rtlCol="0" anchor="ctr"/>
          <a:lstStyle/>
          <a:p>
            <a:pPr algn="l"/>
            <a:r>
              <a:rPr lang="ko-KR" sz="1500" b="1" dirty="0">
                <a:solidFill>
                  <a:srgbClr val="222222"/>
                </a:solidFill>
                <a:latin typeface="에이투지체 5 Medium"/>
                <a:ea typeface="에이투지체 5 Medium"/>
                <a:cs typeface="에이투지체 5 Medium"/>
              </a:rPr>
              <a:t>분석 · 예측</a:t>
            </a:r>
          </a:p>
        </p:txBody>
      </p:sp>
      <p:sp>
        <p:nvSpPr>
          <p:cNvPr id="3010" name="W 3010"/>
          <p:cNvSpPr txBox="1"/>
          <p:nvPr/>
        </p:nvSpPr>
        <p:spPr>
          <a:xfrm>
            <a:off x="10271455" y="3236976"/>
            <a:ext cx="1243584" cy="329184"/>
          </a:xfrm>
          <a:prstGeom prst="rect">
            <a:avLst/>
          </a:prstGeom>
          <a:noFill/>
        </p:spPr>
        <p:txBody>
          <a:bodyPr wrap="square" lIns="0" tIns="0" rIns="0" bIns="0" rtlCol="0" anchor="ctr"/>
          <a:lstStyle/>
          <a:p>
            <a:pPr algn="r"/>
            <a:r>
              <a:rPr lang="ko-KR" sz="1100" dirty="0">
                <a:solidFill>
                  <a:srgbClr val="8E8E93"/>
                </a:solidFill>
                <a:latin typeface="에이투지체 5 Medium"/>
                <a:ea typeface="에이투지체 5 Medium"/>
                <a:cs typeface="에이투지체 5 Medium"/>
              </a:rPr>
              <a:t>/analysis</a:t>
            </a:r>
          </a:p>
        </p:txBody>
      </p:sp>
      <p:sp>
        <p:nvSpPr>
          <p:cNvPr id="3011" name="W 3011"/>
          <p:cNvSpPr txBox="1"/>
          <p:nvPr/>
        </p:nvSpPr>
        <p:spPr>
          <a:xfrm>
            <a:off x="7863840" y="3621024"/>
            <a:ext cx="3687775" cy="292608"/>
          </a:xfrm>
          <a:prstGeom prst="rect">
            <a:avLst/>
          </a:prstGeom>
          <a:noFill/>
        </p:spPr>
        <p:txBody>
          <a:bodyPr wrap="square" lIns="0" tIns="0" rIns="0" bIns="0" rtlCol="0" anchor="ctr"/>
          <a:lstStyle/>
          <a:p>
            <a:pPr algn="l"/>
            <a:r>
              <a:rPr lang="ko-KR" sz="1100" dirty="0">
                <a:solidFill>
                  <a:srgbClr val="45515E"/>
                </a:solidFill>
                <a:latin typeface="에이투지체 5 Medium"/>
                <a:ea typeface="에이투지체 5 Medium"/>
                <a:cs typeface="에이투지체 5 Medium"/>
              </a:rPr>
              <a:t>구급 수요 분석 및 AI 예측 결과 대시보드</a:t>
            </a:r>
          </a:p>
        </p:txBody>
      </p:sp>
      <p:sp>
        <p:nvSpPr>
          <p:cNvPr id="3012" name="W 3012"/>
          <p:cNvSpPr/>
          <p:nvPr/>
        </p:nvSpPr>
        <p:spPr>
          <a:xfrm>
            <a:off x="7589520" y="4187952"/>
            <a:ext cx="4144975" cy="987552"/>
          </a:xfrm>
          <a:prstGeom prst="roundRect">
            <a:avLst>
              <a:gd name="adj" fmla="val 9259"/>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3013" name="W 3013"/>
          <p:cNvSpPr/>
          <p:nvPr/>
        </p:nvSpPr>
        <p:spPr>
          <a:xfrm>
            <a:off x="7589520" y="4370832"/>
            <a:ext cx="54864" cy="621792"/>
          </a:xfrm>
          <a:prstGeom prst="rect">
            <a:avLst/>
          </a:prstGeom>
          <a:solidFill>
            <a:srgbClr val="D62828"/>
          </a:solidFill>
          <a:ln>
            <a:noFill/>
          </a:ln>
        </p:spPr>
        <p:txBody>
          <a:bodyPr/>
          <a:lstStyle/>
          <a:p>
            <a:endParaRPr/>
          </a:p>
        </p:txBody>
      </p:sp>
      <p:sp>
        <p:nvSpPr>
          <p:cNvPr id="3014" name="W 3014"/>
          <p:cNvSpPr txBox="1"/>
          <p:nvPr/>
        </p:nvSpPr>
        <p:spPr>
          <a:xfrm>
            <a:off x="7863840" y="4334256"/>
            <a:ext cx="2286000" cy="329184"/>
          </a:xfrm>
          <a:prstGeom prst="rect">
            <a:avLst/>
          </a:prstGeom>
          <a:noFill/>
        </p:spPr>
        <p:txBody>
          <a:bodyPr wrap="square" lIns="0" tIns="0" rIns="0" bIns="0" rtlCol="0" anchor="ctr"/>
          <a:lstStyle/>
          <a:p>
            <a:pPr algn="l"/>
            <a:r>
              <a:rPr lang="ko-KR" sz="1500" b="1" dirty="0">
                <a:solidFill>
                  <a:srgbClr val="222222"/>
                </a:solidFill>
                <a:latin typeface="에이투지체 5 Medium"/>
                <a:ea typeface="에이투지체 5 Medium"/>
                <a:cs typeface="에이투지체 5 Medium"/>
              </a:rPr>
              <a:t>병상 관제</a:t>
            </a:r>
          </a:p>
        </p:txBody>
      </p:sp>
      <p:sp>
        <p:nvSpPr>
          <p:cNvPr id="3015" name="W 3015"/>
          <p:cNvSpPr txBox="1"/>
          <p:nvPr/>
        </p:nvSpPr>
        <p:spPr>
          <a:xfrm>
            <a:off x="10271455" y="4334256"/>
            <a:ext cx="1243584" cy="329184"/>
          </a:xfrm>
          <a:prstGeom prst="rect">
            <a:avLst/>
          </a:prstGeom>
          <a:noFill/>
        </p:spPr>
        <p:txBody>
          <a:bodyPr wrap="square" lIns="0" tIns="0" rIns="0" bIns="0" rtlCol="0" anchor="ctr"/>
          <a:lstStyle/>
          <a:p>
            <a:pPr algn="r"/>
            <a:r>
              <a:rPr lang="ko-KR" sz="1100" dirty="0">
                <a:solidFill>
                  <a:srgbClr val="8E8E93"/>
                </a:solidFill>
                <a:latin typeface="에이투지체 5 Medium"/>
                <a:ea typeface="에이투지체 5 Medium"/>
                <a:cs typeface="에이투지체 5 Medium"/>
              </a:rPr>
              <a:t>/beds</a:t>
            </a:r>
          </a:p>
        </p:txBody>
      </p:sp>
      <p:sp>
        <p:nvSpPr>
          <p:cNvPr id="3016" name="W 3016"/>
          <p:cNvSpPr txBox="1"/>
          <p:nvPr/>
        </p:nvSpPr>
        <p:spPr>
          <a:xfrm>
            <a:off x="7863840" y="4718304"/>
            <a:ext cx="3687775" cy="292608"/>
          </a:xfrm>
          <a:prstGeom prst="rect">
            <a:avLst/>
          </a:prstGeom>
          <a:noFill/>
        </p:spPr>
        <p:txBody>
          <a:bodyPr wrap="square" lIns="0" tIns="0" rIns="0" bIns="0" rtlCol="0" anchor="ctr"/>
          <a:lstStyle/>
          <a:p>
            <a:pPr algn="l"/>
            <a:r>
              <a:rPr lang="ko-KR" sz="1100" dirty="0">
                <a:solidFill>
                  <a:srgbClr val="45515E"/>
                </a:solidFill>
                <a:latin typeface="에이투지체 5 Medium"/>
                <a:ea typeface="에이투지체 5 Medium"/>
                <a:cs typeface="에이투지체 5 Medium"/>
              </a:rPr>
              <a:t>서울시 응급실 가용병상 실시간 조회</a:t>
            </a:r>
          </a:p>
        </p:txBody>
      </p:sp>
      <p:sp>
        <p:nvSpPr>
          <p:cNvPr id="3017" name="W 3017"/>
          <p:cNvSpPr/>
          <p:nvPr/>
        </p:nvSpPr>
        <p:spPr>
          <a:xfrm>
            <a:off x="7589520" y="5285232"/>
            <a:ext cx="4144975" cy="905256"/>
          </a:xfrm>
          <a:prstGeom prst="roundRect">
            <a:avLst>
              <a:gd name="adj" fmla="val 10101"/>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3018" name="W 3018"/>
          <p:cNvSpPr txBox="1"/>
          <p:nvPr/>
        </p:nvSpPr>
        <p:spPr>
          <a:xfrm>
            <a:off x="7863840" y="5376672"/>
            <a:ext cx="3687775" cy="292608"/>
          </a:xfrm>
          <a:prstGeom prst="rect">
            <a:avLst/>
          </a:prstGeom>
          <a:noFill/>
        </p:spPr>
        <p:txBody>
          <a:bodyPr wrap="square" lIns="0" tIns="0" rIns="0" bIns="0" rtlCol="0" anchor="ctr"/>
          <a:lstStyle/>
          <a:p>
            <a:pPr algn="l"/>
            <a:r>
              <a:rPr lang="ko-KR" sz="1200" b="1" dirty="0">
                <a:solidFill>
                  <a:srgbClr val="222222"/>
                </a:solidFill>
                <a:latin typeface="에이투지체 5 Medium"/>
                <a:ea typeface="에이투지체 5 Medium"/>
                <a:cs typeface="에이투지체 5 Medium"/>
              </a:rPr>
              <a:t>기술 스택</a:t>
            </a:r>
          </a:p>
        </p:txBody>
      </p:sp>
      <p:sp>
        <p:nvSpPr>
          <p:cNvPr id="3019" name="W 3019"/>
          <p:cNvSpPr txBox="1"/>
          <p:nvPr/>
        </p:nvSpPr>
        <p:spPr>
          <a:xfrm>
            <a:off x="7863840" y="5705856"/>
            <a:ext cx="3687775" cy="347472"/>
          </a:xfrm>
          <a:prstGeom prst="rect">
            <a:avLst/>
          </a:prstGeom>
          <a:noFill/>
        </p:spPr>
        <p:txBody>
          <a:bodyPr wrap="square" lIns="0" tIns="0" rIns="0" bIns="0" rtlCol="0" anchor="ctr"/>
          <a:lstStyle/>
          <a:p>
            <a:pPr algn="l"/>
            <a:r>
              <a:rPr lang="ko-KR" sz="1000" dirty="0">
                <a:solidFill>
                  <a:srgbClr val="45515E"/>
                </a:solidFill>
                <a:latin typeface="에이투지체 5 Medium"/>
                <a:ea typeface="에이투지체 5 Medium"/>
                <a:cs typeface="에이투지체 5 Medium"/>
              </a:rPr>
              <a:t>Flask · Tailwind CSS · JavaScript · Chart.js · 공공데이터 API</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05  웹 서비스</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a:ea typeface="에이투지체 5 Medium"/>
                <a:cs typeface="에이투지체 5 Medium"/>
              </a:rPr>
              <a:t>기능 구성도</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노트북 예측 결과와 실시간 병상 API를 Flask 서버에서 통합해 브라우저에 제공</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37</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app_integrated_v1.py · dashboard_export.py · predict.js · 실시간_병상관제_v1.js</a:t>
            </a:r>
            <a:endParaRPr lang="en-US" sz="900" dirty="0"/>
          </a:p>
        </p:txBody>
      </p:sp>
      <p:sp>
        <p:nvSpPr>
          <p:cNvPr id="5094" name="D 5094"/>
          <p:cNvSpPr/>
          <p:nvPr/>
        </p:nvSpPr>
        <p:spPr>
          <a:xfrm>
            <a:off x="1645920" y="1993392"/>
            <a:ext cx="8412480" cy="4197096"/>
          </a:xfrm>
          <a:prstGeom prst="roundRect">
            <a:avLst>
              <a:gd name="adj" fmla="val 1742"/>
            </a:avLst>
          </a:prstGeom>
          <a:noFill/>
          <a:ln w="12700">
            <a:solidFill>
              <a:srgbClr val="9AA0A8"/>
            </a:solidFill>
            <a:prstDash val="dash"/>
          </a:ln>
        </p:spPr>
        <p:txBody>
          <a:bodyPr/>
          <a:lstStyle/>
          <a:p>
            <a:endParaRPr/>
          </a:p>
        </p:txBody>
      </p:sp>
      <p:sp>
        <p:nvSpPr>
          <p:cNvPr id="5095" name="D 5095"/>
          <p:cNvSpPr txBox="1"/>
          <p:nvPr/>
        </p:nvSpPr>
        <p:spPr>
          <a:xfrm>
            <a:off x="1810512" y="2048256"/>
            <a:ext cx="2926080" cy="274320"/>
          </a:xfrm>
          <a:prstGeom prst="rect">
            <a:avLst/>
          </a:prstGeom>
          <a:noFill/>
        </p:spPr>
        <p:txBody>
          <a:bodyPr wrap="square" lIns="0" tIns="0" rIns="0" bIns="0" rtlCol="0" anchor="ctr"/>
          <a:lstStyle/>
          <a:p>
            <a:pPr algn="l"/>
            <a:r>
              <a:rPr lang="ko-KR" sz="1200" b="1" dirty="0">
                <a:solidFill>
                  <a:srgbClr val="222222"/>
                </a:solidFill>
                <a:latin typeface="에이투지체 5 Medium"/>
                <a:ea typeface="에이투지체 5 Medium"/>
                <a:cs typeface="에이투지체 5 Medium"/>
              </a:rPr>
              <a:t>SEOUL EMERGENCY HUB</a:t>
            </a:r>
          </a:p>
        </p:txBody>
      </p:sp>
      <p:sp>
        <p:nvSpPr>
          <p:cNvPr id="5096" name="D 5096"/>
          <p:cNvSpPr/>
          <p:nvPr/>
        </p:nvSpPr>
        <p:spPr>
          <a:xfrm>
            <a:off x="5897880" y="2103120"/>
            <a:ext cx="201168" cy="146304"/>
          </a:xfrm>
          <a:prstGeom prst="roundRect">
            <a:avLst>
              <a:gd name="adj" fmla="val 18750"/>
            </a:avLst>
          </a:prstGeom>
          <a:solidFill>
            <a:srgbClr val="F2F3F5"/>
          </a:solidFill>
          <a:ln w="9525">
            <a:solidFill>
              <a:srgbClr val="45515E"/>
            </a:solidFill>
          </a:ln>
        </p:spPr>
        <p:txBody>
          <a:bodyPr/>
          <a:lstStyle/>
          <a:p>
            <a:endParaRPr/>
          </a:p>
        </p:txBody>
      </p:sp>
      <p:sp>
        <p:nvSpPr>
          <p:cNvPr id="5097" name="D 5097"/>
          <p:cNvSpPr txBox="1"/>
          <p:nvPr/>
        </p:nvSpPr>
        <p:spPr>
          <a:xfrm>
            <a:off x="6144768" y="2066544"/>
            <a:ext cx="822960" cy="219456"/>
          </a:xfrm>
          <a:prstGeom prst="rect">
            <a:avLst/>
          </a:prstGeom>
          <a:noFill/>
        </p:spPr>
        <p:txBody>
          <a:bodyPr wrap="square" lIns="0" tIns="0" rIns="0" bIns="0" rtlCol="0" anchor="ctr"/>
          <a:lstStyle/>
          <a:p>
            <a:pPr algn="l"/>
            <a:r>
              <a:rPr lang="ko-KR" sz="850" dirty="0">
                <a:solidFill>
                  <a:srgbClr val="45515E"/>
                </a:solidFill>
                <a:latin typeface="에이투지체 5 Medium"/>
                <a:ea typeface="에이투지체 5 Medium"/>
                <a:cs typeface="에이투지체 5 Medium"/>
              </a:rPr>
              <a:t>계산 · 처리</a:t>
            </a:r>
          </a:p>
        </p:txBody>
      </p:sp>
      <p:sp>
        <p:nvSpPr>
          <p:cNvPr id="5098" name="D 5098"/>
          <p:cNvSpPr/>
          <p:nvPr/>
        </p:nvSpPr>
        <p:spPr>
          <a:xfrm>
            <a:off x="6995160" y="2103120"/>
            <a:ext cx="201168" cy="146304"/>
          </a:xfrm>
          <a:prstGeom prst="roundRect">
            <a:avLst>
              <a:gd name="adj" fmla="val 18750"/>
            </a:avLst>
          </a:prstGeom>
          <a:solidFill>
            <a:srgbClr val="FDE3E3"/>
          </a:solidFill>
          <a:ln w="9525">
            <a:solidFill>
              <a:srgbClr val="E87A7A"/>
            </a:solidFill>
          </a:ln>
        </p:spPr>
        <p:txBody>
          <a:bodyPr/>
          <a:lstStyle/>
          <a:p>
            <a:endParaRPr/>
          </a:p>
        </p:txBody>
      </p:sp>
      <p:sp>
        <p:nvSpPr>
          <p:cNvPr id="5099" name="D 5099"/>
          <p:cNvSpPr txBox="1"/>
          <p:nvPr/>
        </p:nvSpPr>
        <p:spPr>
          <a:xfrm>
            <a:off x="7242048" y="2066544"/>
            <a:ext cx="822960" cy="219456"/>
          </a:xfrm>
          <a:prstGeom prst="rect">
            <a:avLst/>
          </a:prstGeom>
          <a:noFill/>
        </p:spPr>
        <p:txBody>
          <a:bodyPr wrap="square" lIns="0" tIns="0" rIns="0" bIns="0" rtlCol="0" anchor="ctr"/>
          <a:lstStyle/>
          <a:p>
            <a:pPr algn="l"/>
            <a:r>
              <a:rPr lang="ko-KR" sz="850" dirty="0">
                <a:solidFill>
                  <a:srgbClr val="45515E"/>
                </a:solidFill>
                <a:latin typeface="에이투지체 5 Medium"/>
                <a:ea typeface="에이투지체 5 Medium"/>
                <a:cs typeface="에이투지체 5 Medium"/>
              </a:rPr>
              <a:t>화면 · 외부</a:t>
            </a:r>
          </a:p>
        </p:txBody>
      </p:sp>
      <p:sp>
        <p:nvSpPr>
          <p:cNvPr id="5100" name="D 5100"/>
          <p:cNvSpPr/>
          <p:nvPr/>
        </p:nvSpPr>
        <p:spPr>
          <a:xfrm>
            <a:off x="8092440" y="2084832"/>
            <a:ext cx="182880" cy="182880"/>
          </a:xfrm>
          <a:prstGeom prst="can">
            <a:avLst/>
          </a:prstGeom>
          <a:solidFill>
            <a:srgbClr val="FFFFFF"/>
          </a:solidFill>
          <a:ln w="9525">
            <a:solidFill>
              <a:srgbClr val="45515E"/>
            </a:solidFill>
          </a:ln>
        </p:spPr>
        <p:txBody>
          <a:bodyPr/>
          <a:lstStyle/>
          <a:p>
            <a:endParaRPr/>
          </a:p>
        </p:txBody>
      </p:sp>
      <p:sp>
        <p:nvSpPr>
          <p:cNvPr id="5101" name="D 5101"/>
          <p:cNvSpPr txBox="1"/>
          <p:nvPr/>
        </p:nvSpPr>
        <p:spPr>
          <a:xfrm>
            <a:off x="8321040" y="2066544"/>
            <a:ext cx="822960" cy="219456"/>
          </a:xfrm>
          <a:prstGeom prst="rect">
            <a:avLst/>
          </a:prstGeom>
          <a:noFill/>
        </p:spPr>
        <p:txBody>
          <a:bodyPr wrap="square" lIns="0" tIns="0" rIns="0" bIns="0" rtlCol="0" anchor="ctr"/>
          <a:lstStyle/>
          <a:p>
            <a:pPr algn="l"/>
            <a:r>
              <a:rPr lang="ko-KR" sz="850" dirty="0">
                <a:solidFill>
                  <a:srgbClr val="45515E"/>
                </a:solidFill>
                <a:latin typeface="에이투지체 5 Medium"/>
                <a:ea typeface="에이투지체 5 Medium"/>
                <a:cs typeface="에이투지체 5 Medium"/>
              </a:rPr>
              <a:t>저장 파일</a:t>
            </a:r>
          </a:p>
        </p:txBody>
      </p:sp>
      <p:sp>
        <p:nvSpPr>
          <p:cNvPr id="5102" name="D 5102"/>
          <p:cNvSpPr/>
          <p:nvPr/>
        </p:nvSpPr>
        <p:spPr>
          <a:xfrm>
            <a:off x="1783080" y="2395728"/>
            <a:ext cx="2057400" cy="3657600"/>
          </a:xfrm>
          <a:prstGeom prst="roundRect">
            <a:avLst>
              <a:gd name="adj" fmla="val 4444"/>
            </a:avLst>
          </a:prstGeom>
          <a:noFill/>
          <a:ln w="12700">
            <a:solidFill>
              <a:srgbClr val="B8BCC4"/>
            </a:solidFill>
            <a:prstDash val="sysDot"/>
          </a:ln>
        </p:spPr>
        <p:txBody>
          <a:bodyPr/>
          <a:lstStyle/>
          <a:p>
            <a:endParaRPr/>
          </a:p>
        </p:txBody>
      </p:sp>
      <p:sp>
        <p:nvSpPr>
          <p:cNvPr id="5103" name="D 5103"/>
          <p:cNvSpPr txBox="1"/>
          <p:nvPr/>
        </p:nvSpPr>
        <p:spPr>
          <a:xfrm>
            <a:off x="1783080" y="2450592"/>
            <a:ext cx="2057400" cy="237744"/>
          </a:xfrm>
          <a:prstGeom prst="rect">
            <a:avLst/>
          </a:prstGeom>
          <a:noFill/>
        </p:spPr>
        <p:txBody>
          <a:bodyPr wrap="square" lIns="0" tIns="0" rIns="0" bIns="0" rtlCol="0" anchor="ctr"/>
          <a:lstStyle/>
          <a:p>
            <a:pPr algn="ctr"/>
            <a:r>
              <a:rPr lang="ko-KR" sz="950" b="1" dirty="0">
                <a:solidFill>
                  <a:srgbClr val="222222"/>
                </a:solidFill>
                <a:latin typeface="에이투지체 5 Medium"/>
                <a:ea typeface="에이투지체 5 Medium"/>
                <a:cs typeface="에이투지체 5 Medium"/>
              </a:rPr>
              <a:t>오프라인 학습 · 예측  </a:t>
            </a:r>
            <a:r>
              <a:rPr lang="ko-KR" sz="800" dirty="0">
                <a:solidFill>
                  <a:srgbClr val="8E8E93"/>
                </a:solidFill>
                <a:latin typeface="에이투지체 5 Medium"/>
                <a:ea typeface="에이투지체 5 Medium"/>
                <a:cs typeface="에이투지체 5 Medium"/>
              </a:rPr>
              <a:t>(분석 노트북)</a:t>
            </a:r>
          </a:p>
        </p:txBody>
      </p:sp>
      <p:sp>
        <p:nvSpPr>
          <p:cNvPr id="5104" name="D 5104"/>
          <p:cNvSpPr/>
          <p:nvPr/>
        </p:nvSpPr>
        <p:spPr>
          <a:xfrm>
            <a:off x="3977640" y="2395728"/>
            <a:ext cx="3566160" cy="3657600"/>
          </a:xfrm>
          <a:prstGeom prst="roundRect">
            <a:avLst>
              <a:gd name="adj" fmla="val 2564"/>
            </a:avLst>
          </a:prstGeom>
          <a:noFill/>
          <a:ln w="12700">
            <a:solidFill>
              <a:srgbClr val="B8BCC4"/>
            </a:solidFill>
            <a:prstDash val="sysDot"/>
          </a:ln>
        </p:spPr>
        <p:txBody>
          <a:bodyPr/>
          <a:lstStyle/>
          <a:p>
            <a:endParaRPr/>
          </a:p>
        </p:txBody>
      </p:sp>
      <p:sp>
        <p:nvSpPr>
          <p:cNvPr id="5105" name="D 5105"/>
          <p:cNvSpPr txBox="1"/>
          <p:nvPr/>
        </p:nvSpPr>
        <p:spPr>
          <a:xfrm>
            <a:off x="3977640" y="2450592"/>
            <a:ext cx="3566160" cy="237744"/>
          </a:xfrm>
          <a:prstGeom prst="rect">
            <a:avLst/>
          </a:prstGeom>
          <a:noFill/>
        </p:spPr>
        <p:txBody>
          <a:bodyPr wrap="square" lIns="0" tIns="0" rIns="0" bIns="0" rtlCol="0" anchor="ctr"/>
          <a:lstStyle/>
          <a:p>
            <a:pPr algn="ctr"/>
            <a:r>
              <a:rPr lang="ko-KR" sz="950" b="1" dirty="0">
                <a:solidFill>
                  <a:srgbClr val="222222"/>
                </a:solidFill>
                <a:latin typeface="에이투지체 5 Medium"/>
                <a:ea typeface="에이투지체 5 Medium"/>
                <a:cs typeface="에이투지체 5 Medium"/>
              </a:rPr>
              <a:t>Flask 서버  </a:t>
            </a:r>
            <a:r>
              <a:rPr lang="ko-KR" sz="800" dirty="0">
                <a:solidFill>
                  <a:srgbClr val="8E8E93"/>
                </a:solidFill>
                <a:latin typeface="에이투지체 5 Medium"/>
                <a:ea typeface="에이투지체 5 Medium"/>
                <a:cs typeface="에이투지체 5 Medium"/>
              </a:rPr>
              <a:t>(app_integrated_v1.py)</a:t>
            </a:r>
          </a:p>
        </p:txBody>
      </p:sp>
      <p:sp>
        <p:nvSpPr>
          <p:cNvPr id="5106" name="D 5106"/>
          <p:cNvSpPr/>
          <p:nvPr/>
        </p:nvSpPr>
        <p:spPr>
          <a:xfrm>
            <a:off x="7680960" y="2395728"/>
            <a:ext cx="2240280" cy="3657600"/>
          </a:xfrm>
          <a:prstGeom prst="roundRect">
            <a:avLst>
              <a:gd name="adj" fmla="val 4081"/>
            </a:avLst>
          </a:prstGeom>
          <a:noFill/>
          <a:ln w="12700">
            <a:solidFill>
              <a:srgbClr val="B8BCC4"/>
            </a:solidFill>
            <a:prstDash val="sysDot"/>
          </a:ln>
        </p:spPr>
        <p:txBody>
          <a:bodyPr/>
          <a:lstStyle/>
          <a:p>
            <a:endParaRPr/>
          </a:p>
        </p:txBody>
      </p:sp>
      <p:sp>
        <p:nvSpPr>
          <p:cNvPr id="5107" name="D 5107"/>
          <p:cNvSpPr txBox="1"/>
          <p:nvPr/>
        </p:nvSpPr>
        <p:spPr>
          <a:xfrm>
            <a:off x="7680960" y="2450592"/>
            <a:ext cx="2240280" cy="237744"/>
          </a:xfrm>
          <a:prstGeom prst="rect">
            <a:avLst/>
          </a:prstGeom>
          <a:noFill/>
        </p:spPr>
        <p:txBody>
          <a:bodyPr wrap="square" lIns="0" tIns="0" rIns="0" bIns="0" rtlCol="0" anchor="ctr"/>
          <a:lstStyle/>
          <a:p>
            <a:pPr algn="ctr"/>
            <a:r>
              <a:rPr lang="ko-KR" sz="950" b="1" dirty="0">
                <a:solidFill>
                  <a:srgbClr val="222222"/>
                </a:solidFill>
                <a:latin typeface="에이투지체 5 Medium"/>
                <a:ea typeface="에이투지체 5 Medium"/>
                <a:cs typeface="에이투지체 5 Medium"/>
              </a:rPr>
              <a:t>브라우저  </a:t>
            </a:r>
            <a:r>
              <a:rPr lang="ko-KR" sz="800" dirty="0">
                <a:solidFill>
                  <a:srgbClr val="8E8E93"/>
                </a:solidFill>
                <a:latin typeface="에이투지체 5 Medium"/>
                <a:ea typeface="에이투지체 5 Medium"/>
                <a:cs typeface="에이투지체 5 Medium"/>
              </a:rPr>
              <a:t>(이용자 화면)</a:t>
            </a:r>
          </a:p>
        </p:txBody>
      </p:sp>
      <p:sp>
        <p:nvSpPr>
          <p:cNvPr id="5108" name="D 5108"/>
          <p:cNvSpPr/>
          <p:nvPr/>
        </p:nvSpPr>
        <p:spPr>
          <a:xfrm>
            <a:off x="457200" y="2788920"/>
            <a:ext cx="1051560" cy="685800"/>
          </a:xfrm>
          <a:prstGeom prst="roundRect">
            <a:avLst>
              <a:gd name="adj" fmla="val 8000"/>
            </a:avLst>
          </a:prstGeom>
          <a:solidFill>
            <a:srgbClr val="FDE3E3"/>
          </a:solidFill>
          <a:ln w="9525">
            <a:solidFill>
              <a:srgbClr val="E87A7A"/>
            </a:solidFill>
          </a:ln>
        </p:spPr>
        <p:txBody>
          <a:bodyPr wrap="square" lIns="45720" tIns="0" rIns="45720" bIns="0" rtlCol="0" anchor="ctr"/>
          <a:lstStyle/>
          <a:p>
            <a:pPr algn="ctr"/>
            <a:r>
              <a:rPr lang="ko-KR" sz="950" b="1" dirty="0">
                <a:solidFill>
                  <a:srgbClr val="222222"/>
                </a:solidFill>
                <a:latin typeface="에이투지체 5 Medium"/>
                <a:ea typeface="에이투지체 5 Medium"/>
                <a:cs typeface="에이투지체 5 Medium"/>
              </a:rPr>
              <a:t>학습 데이터</a:t>
            </a:r>
          </a:p>
          <a:p>
            <a:pPr algn="ctr"/>
            <a:r>
              <a:rPr lang="ko-KR" sz="750" dirty="0">
                <a:solidFill>
                  <a:srgbClr val="45515E"/>
                </a:solidFill>
                <a:latin typeface="에이투지체 5 Medium"/>
                <a:ea typeface="에이투지체 5 Medium"/>
                <a:cs typeface="에이투지체 5 Medium"/>
              </a:rPr>
              <a:t>전처리 결과 CSV</a:t>
            </a:r>
          </a:p>
        </p:txBody>
      </p:sp>
      <p:sp>
        <p:nvSpPr>
          <p:cNvPr id="5109" name="D 5109"/>
          <p:cNvSpPr/>
          <p:nvPr/>
        </p:nvSpPr>
        <p:spPr>
          <a:xfrm>
            <a:off x="457200" y="5074920"/>
            <a:ext cx="1051560" cy="685800"/>
          </a:xfrm>
          <a:prstGeom prst="roundRect">
            <a:avLst>
              <a:gd name="adj" fmla="val 8000"/>
            </a:avLst>
          </a:prstGeom>
          <a:solidFill>
            <a:srgbClr val="FDE3E3"/>
          </a:solidFill>
          <a:ln w="9525">
            <a:solidFill>
              <a:srgbClr val="E87A7A"/>
            </a:solidFill>
          </a:ln>
        </p:spPr>
        <p:txBody>
          <a:bodyPr wrap="square" lIns="45720" tIns="0" rIns="45720" bIns="0" rtlCol="0" anchor="ctr"/>
          <a:lstStyle/>
          <a:p>
            <a:pPr algn="ctr"/>
            <a:r>
              <a:rPr lang="ko-KR" sz="900" b="1" dirty="0">
                <a:solidFill>
                  <a:srgbClr val="222222"/>
                </a:solidFill>
                <a:latin typeface="에이투지체 5 Medium"/>
                <a:ea typeface="에이투지체 5 Medium"/>
                <a:cs typeface="에이투지체 5 Medium"/>
              </a:rPr>
              <a:t>공공데이터포털</a:t>
            </a:r>
          </a:p>
          <a:p>
            <a:pPr algn="ctr"/>
            <a:r>
              <a:rPr lang="ko-KR" sz="750" dirty="0">
                <a:solidFill>
                  <a:srgbClr val="45515E"/>
                </a:solidFill>
                <a:latin typeface="에이투지체 5 Medium"/>
                <a:ea typeface="에이투지체 5 Medium"/>
                <a:cs typeface="에이투지체 5 Medium"/>
              </a:rPr>
              <a:t>NMC 응급실</a:t>
            </a:r>
          </a:p>
          <a:p>
            <a:pPr algn="ctr"/>
            <a:r>
              <a:rPr lang="ko-KR" sz="750" dirty="0">
                <a:solidFill>
                  <a:srgbClr val="45515E"/>
                </a:solidFill>
                <a:latin typeface="에이투지체 5 Medium"/>
                <a:ea typeface="에이투지체 5 Medium"/>
                <a:cs typeface="에이투지체 5 Medium"/>
              </a:rPr>
              <a:t>가용병상 API</a:t>
            </a:r>
          </a:p>
        </p:txBody>
      </p:sp>
      <p:sp>
        <p:nvSpPr>
          <p:cNvPr id="5110" name="D 5110"/>
          <p:cNvSpPr/>
          <p:nvPr/>
        </p:nvSpPr>
        <p:spPr>
          <a:xfrm>
            <a:off x="10195560" y="2926080"/>
            <a:ext cx="1536192" cy="2103120"/>
          </a:xfrm>
          <a:prstGeom prst="roundRect">
            <a:avLst>
              <a:gd name="adj" fmla="val 3571"/>
            </a:avLst>
          </a:prstGeom>
          <a:solidFill>
            <a:srgbClr val="FDE3E3"/>
          </a:solidFill>
          <a:ln w="9525">
            <a:solidFill>
              <a:srgbClr val="E87A7A"/>
            </a:solidFill>
          </a:ln>
        </p:spPr>
        <p:txBody>
          <a:bodyPr wrap="square" lIns="45720" tIns="0" rIns="45720" bIns="0" rtlCol="0" anchor="ctr"/>
          <a:lstStyle/>
          <a:p>
            <a:pPr algn="ctr"/>
            <a:r>
              <a:rPr lang="ko-KR" sz="1200" b="1" dirty="0">
                <a:solidFill>
                  <a:srgbClr val="222222"/>
                </a:solidFill>
                <a:latin typeface="에이투지체 5 Medium"/>
                <a:ea typeface="에이투지체 5 Medium"/>
                <a:cs typeface="에이투지체 5 Medium"/>
              </a:rPr>
              <a:t>이용자</a:t>
            </a:r>
          </a:p>
          <a:p>
            <a:pPr algn="ctr"/>
            <a:r>
              <a:rPr lang="ko-KR" sz="900" dirty="0">
                <a:solidFill>
                  <a:srgbClr val="45515E"/>
                </a:solidFill>
                <a:latin typeface="에이투지체 5 Medium"/>
                <a:ea typeface="에이투지체 5 Medium"/>
                <a:cs typeface="에이투지체 5 Medium"/>
              </a:rPr>
              <a:t>PC · 모바일</a:t>
            </a:r>
          </a:p>
          <a:p>
            <a:pPr algn="ctr"/>
            <a:r>
              <a:rPr lang="ko-KR" sz="900" dirty="0">
                <a:solidFill>
                  <a:srgbClr val="45515E"/>
                </a:solidFill>
                <a:latin typeface="에이투지체 5 Medium"/>
                <a:ea typeface="에이투지체 5 Medium"/>
                <a:cs typeface="에이투지체 5 Medium"/>
              </a:rPr>
              <a:t>브라우저</a:t>
            </a:r>
          </a:p>
        </p:txBody>
      </p:sp>
      <p:sp>
        <p:nvSpPr>
          <p:cNvPr id="5111" name="D 5111"/>
          <p:cNvSpPr txBox="1"/>
          <p:nvPr/>
        </p:nvSpPr>
        <p:spPr>
          <a:xfrm>
            <a:off x="10195560" y="5074920"/>
            <a:ext cx="1536192" cy="228600"/>
          </a:xfrm>
          <a:prstGeom prst="rect">
            <a:avLst/>
          </a:prstGeom>
          <a:noFill/>
        </p:spPr>
        <p:txBody>
          <a:bodyPr wrap="square" lIns="0" tIns="0" rIns="0" bIns="0" rtlCol="0" anchor="ctr"/>
          <a:lstStyle/>
          <a:p>
            <a:pPr algn="ctr"/>
            <a:r>
              <a:rPr lang="ko-KR" sz="850" b="1" dirty="0">
                <a:solidFill>
                  <a:srgbClr val="45515E"/>
                </a:solidFill>
                <a:latin typeface="에이투지체 5 Medium"/>
                <a:ea typeface="에이투지체 5 Medium"/>
                <a:cs typeface="에이투지체 5 Medium"/>
              </a:rPr>
              <a:t>선택 ↔ 표시</a:t>
            </a:r>
          </a:p>
        </p:txBody>
      </p:sp>
      <p:sp>
        <p:nvSpPr>
          <p:cNvPr id="5112" name="D 5112"/>
          <p:cNvSpPr/>
          <p:nvPr/>
        </p:nvSpPr>
        <p:spPr>
          <a:xfrm>
            <a:off x="1938528" y="2788920"/>
            <a:ext cx="1737360" cy="731520"/>
          </a:xfrm>
          <a:prstGeom prst="roundRect">
            <a:avLst>
              <a:gd name="adj" fmla="val 7500"/>
            </a:avLst>
          </a:prstGeom>
          <a:solidFill>
            <a:srgbClr val="F2F3F5"/>
          </a:solidFill>
          <a:ln w="9525">
            <a:solidFill>
              <a:srgbClr val="45515E"/>
            </a:solidFill>
          </a:ln>
        </p:spPr>
        <p:txBody>
          <a:bodyPr wrap="square" lIns="45720" tIns="0" rIns="45720" bIns="0" rtlCol="0" anchor="ctr"/>
          <a:lstStyle/>
          <a:p>
            <a:pPr algn="ctr"/>
            <a:r>
              <a:rPr lang="ko-KR" sz="1000" b="1" dirty="0">
                <a:solidFill>
                  <a:srgbClr val="222222"/>
                </a:solidFill>
                <a:latin typeface="에이투지체 5 Medium"/>
                <a:ea typeface="에이투지체 5 Medium"/>
                <a:cs typeface="에이투지체 5 Medium"/>
              </a:rPr>
              <a:t>모델 학습 · 평가</a:t>
            </a:r>
          </a:p>
          <a:p>
            <a:pPr algn="ctr"/>
            <a:r>
              <a:rPr lang="ko-KR" sz="800" dirty="0">
                <a:solidFill>
                  <a:srgbClr val="45515E"/>
                </a:solidFill>
                <a:latin typeface="에이투지체 5 Medium"/>
                <a:ea typeface="에이투지체 5 Medium"/>
                <a:cs typeface="에이투지체 5 Medium"/>
              </a:rPr>
              <a:t>앙상블 · Random Forest</a:t>
            </a:r>
          </a:p>
          <a:p>
            <a:pPr algn="ctr"/>
            <a:r>
              <a:rPr lang="ko-KR" sz="800" dirty="0">
                <a:solidFill>
                  <a:srgbClr val="45515E"/>
                </a:solidFill>
                <a:latin typeface="에이투지체 5 Medium"/>
                <a:ea typeface="에이투지체 5 Medium"/>
                <a:cs typeface="에이투지체 5 Medium"/>
              </a:rPr>
              <a:t>2026.01–06 예측</a:t>
            </a:r>
          </a:p>
        </p:txBody>
      </p:sp>
      <p:sp>
        <p:nvSpPr>
          <p:cNvPr id="5113" name="D 5113"/>
          <p:cNvSpPr/>
          <p:nvPr/>
        </p:nvSpPr>
        <p:spPr>
          <a:xfrm>
            <a:off x="1938528" y="3931920"/>
            <a:ext cx="1737360" cy="731520"/>
          </a:xfrm>
          <a:prstGeom prst="roundRect">
            <a:avLst>
              <a:gd name="adj" fmla="val 7500"/>
            </a:avLst>
          </a:prstGeom>
          <a:solidFill>
            <a:srgbClr val="F2F3F5"/>
          </a:solidFill>
          <a:ln w="9525">
            <a:solidFill>
              <a:srgbClr val="45515E"/>
            </a:solidFill>
          </a:ln>
        </p:spPr>
        <p:txBody>
          <a:bodyPr wrap="square" lIns="45720" tIns="0" rIns="45720" bIns="0" rtlCol="0" anchor="ctr"/>
          <a:lstStyle/>
          <a:p>
            <a:pPr algn="ctr"/>
            <a:r>
              <a:rPr lang="ko-KR" sz="1000" b="1" dirty="0">
                <a:solidFill>
                  <a:srgbClr val="222222"/>
                </a:solidFill>
                <a:latin typeface="에이투지체 5 Medium"/>
                <a:ea typeface="에이투지체 5 Medium"/>
                <a:cs typeface="에이투지체 5 Medium"/>
              </a:rPr>
              <a:t>대시보드 데이터 생성</a:t>
            </a:r>
          </a:p>
          <a:p>
            <a:pPr algn="ctr"/>
            <a:r>
              <a:rPr lang="ko-KR" sz="800" dirty="0">
                <a:solidFill>
                  <a:srgbClr val="45515E"/>
                </a:solidFill>
                <a:latin typeface="에이투지체 5 Medium"/>
                <a:ea typeface="에이투지체 5 Medium"/>
                <a:cs typeface="에이투지체 5 Medium"/>
              </a:rPr>
              <a:t>save_dashboard()</a:t>
            </a:r>
          </a:p>
        </p:txBody>
      </p:sp>
      <p:sp>
        <p:nvSpPr>
          <p:cNvPr id="5114" name="D 5114"/>
          <p:cNvSpPr/>
          <p:nvPr/>
        </p:nvSpPr>
        <p:spPr>
          <a:xfrm>
            <a:off x="2807208" y="3520440"/>
            <a:ext cx="0" cy="411480"/>
          </a:xfrm>
          <a:prstGeom prst="line">
            <a:avLst/>
          </a:prstGeom>
          <a:ln w="12700">
            <a:solidFill>
              <a:srgbClr val="45515E"/>
            </a:solidFill>
            <a:tailEnd type="triangle" w="med" len="med"/>
          </a:ln>
        </p:spPr>
        <p:txBody>
          <a:bodyPr/>
          <a:lstStyle/>
          <a:p>
            <a:endParaRPr/>
          </a:p>
        </p:txBody>
      </p:sp>
      <p:sp>
        <p:nvSpPr>
          <p:cNvPr id="5115" name="D 5115"/>
          <p:cNvSpPr/>
          <p:nvPr/>
        </p:nvSpPr>
        <p:spPr>
          <a:xfrm>
            <a:off x="1508760" y="3136392"/>
            <a:ext cx="429768" cy="0"/>
          </a:xfrm>
          <a:prstGeom prst="line">
            <a:avLst/>
          </a:prstGeom>
          <a:ln w="12700">
            <a:solidFill>
              <a:srgbClr val="45515E"/>
            </a:solidFill>
            <a:tailEnd type="triangle" w="med" len="med"/>
          </a:ln>
        </p:spPr>
        <p:txBody>
          <a:bodyPr/>
          <a:lstStyle/>
          <a:p>
            <a:endParaRPr/>
          </a:p>
        </p:txBody>
      </p:sp>
      <p:sp>
        <p:nvSpPr>
          <p:cNvPr id="5116" name="D 5116"/>
          <p:cNvSpPr/>
          <p:nvPr/>
        </p:nvSpPr>
        <p:spPr>
          <a:xfrm>
            <a:off x="4114800" y="2724912"/>
            <a:ext cx="1554480" cy="658368"/>
          </a:xfrm>
          <a:prstGeom prst="can">
            <a:avLst/>
          </a:prstGeom>
          <a:solidFill>
            <a:srgbClr val="FFFFFF"/>
          </a:solidFill>
          <a:ln w="9525">
            <a:solidFill>
              <a:srgbClr val="45515E"/>
            </a:solidFill>
          </a:ln>
        </p:spPr>
        <p:txBody>
          <a:bodyPr wrap="square" lIns="45720" tIns="0" rIns="45720" bIns="0" rtlCol="0" anchor="ctr"/>
          <a:lstStyle/>
          <a:p>
            <a:pPr algn="ctr"/>
            <a:r>
              <a:rPr lang="ko-KR" sz="850" b="1" dirty="0">
                <a:solidFill>
                  <a:srgbClr val="222222"/>
                </a:solidFill>
                <a:latin typeface="에이투지체 5 Medium"/>
                <a:ea typeface="에이투지체 5 Medium"/>
                <a:cs typeface="에이투지체 5 Medium"/>
              </a:rPr>
              <a:t>dashboard_data.json</a:t>
            </a:r>
          </a:p>
          <a:p>
            <a:pPr algn="ctr"/>
            <a:r>
              <a:rPr lang="ko-KR" sz="750" dirty="0">
                <a:solidFill>
                  <a:srgbClr val="45515E"/>
                </a:solidFill>
                <a:latin typeface="에이투지체 5 Medium"/>
                <a:ea typeface="에이투지체 5 Medium"/>
                <a:cs typeface="에이투지체 5 Medium"/>
              </a:rPr>
              <a:t>예측 · 평가 결과</a:t>
            </a:r>
          </a:p>
        </p:txBody>
      </p:sp>
      <p:sp>
        <p:nvSpPr>
          <p:cNvPr id="5117" name="D 5117"/>
          <p:cNvSpPr/>
          <p:nvPr/>
        </p:nvSpPr>
        <p:spPr>
          <a:xfrm>
            <a:off x="5852160" y="2724912"/>
            <a:ext cx="1371600" cy="658368"/>
          </a:xfrm>
          <a:prstGeom prst="roundRect">
            <a:avLst>
              <a:gd name="adj" fmla="val 8333"/>
            </a:avLst>
          </a:prstGeom>
          <a:solidFill>
            <a:srgbClr val="F2F3F5"/>
          </a:solidFill>
          <a:ln w="9525">
            <a:solidFill>
              <a:srgbClr val="45515E"/>
            </a:solidFill>
          </a:ln>
        </p:spPr>
        <p:txBody>
          <a:bodyPr wrap="square" lIns="45720" tIns="0" rIns="45720" bIns="0" rtlCol="0" anchor="ctr"/>
          <a:lstStyle/>
          <a:p>
            <a:pPr algn="ctr"/>
            <a:r>
              <a:rPr lang="ko-KR" sz="950" b="1" dirty="0">
                <a:solidFill>
                  <a:srgbClr val="222222"/>
                </a:solidFill>
                <a:latin typeface="에이투지체 5 Medium"/>
                <a:ea typeface="에이투지체 5 Medium"/>
                <a:cs typeface="에이투지체 5 Medium"/>
              </a:rPr>
              <a:t>대시보드 API</a:t>
            </a:r>
          </a:p>
          <a:p>
            <a:pPr algn="ctr"/>
            <a:r>
              <a:rPr lang="ko-KR" sz="750" dirty="0">
                <a:solidFill>
                  <a:srgbClr val="45515E"/>
                </a:solidFill>
                <a:latin typeface="에이투지체 5 Medium"/>
                <a:ea typeface="에이투지체 5 Medium"/>
                <a:cs typeface="에이투지체 5 Medium"/>
              </a:rPr>
              <a:t>/api/dashboard-data</a:t>
            </a:r>
          </a:p>
        </p:txBody>
      </p:sp>
      <p:sp>
        <p:nvSpPr>
          <p:cNvPr id="5118" name="D 5118"/>
          <p:cNvSpPr/>
          <p:nvPr/>
        </p:nvSpPr>
        <p:spPr>
          <a:xfrm>
            <a:off x="4114800" y="3593592"/>
            <a:ext cx="1554480" cy="658368"/>
          </a:xfrm>
          <a:prstGeom prst="can">
            <a:avLst/>
          </a:prstGeom>
          <a:solidFill>
            <a:srgbClr val="FFFFFF"/>
          </a:solidFill>
          <a:ln w="9525">
            <a:solidFill>
              <a:srgbClr val="45515E"/>
            </a:solidFill>
          </a:ln>
        </p:spPr>
        <p:txBody>
          <a:bodyPr wrap="square" lIns="45720" tIns="0" rIns="45720" bIns="0" rtlCol="0" anchor="ctr"/>
          <a:lstStyle/>
          <a:p>
            <a:pPr algn="ctr"/>
            <a:r>
              <a:rPr lang="ko-KR" sz="900" b="1" dirty="0">
                <a:solidFill>
                  <a:srgbClr val="222222"/>
                </a:solidFill>
                <a:latin typeface="에이투지체 5 Medium"/>
                <a:ea typeface="에이투지체 5 Medium"/>
                <a:cs typeface="에이투지체 5 Medium"/>
              </a:rPr>
              <a:t>병상 캐시</a:t>
            </a:r>
          </a:p>
          <a:p>
            <a:pPr algn="ctr"/>
            <a:r>
              <a:rPr lang="ko-KR" sz="700" dirty="0">
                <a:solidFill>
                  <a:srgbClr val="45515E"/>
                </a:solidFill>
                <a:latin typeface="에이투지체 5 Medium"/>
                <a:ea typeface="에이투지체 5 Medium"/>
                <a:cs typeface="에이투지체 5 Medium"/>
              </a:rPr>
              <a:t>realtime_beds_cache.json</a:t>
            </a:r>
          </a:p>
        </p:txBody>
      </p:sp>
      <p:sp>
        <p:nvSpPr>
          <p:cNvPr id="5119" name="D 5119"/>
          <p:cNvSpPr/>
          <p:nvPr/>
        </p:nvSpPr>
        <p:spPr>
          <a:xfrm>
            <a:off x="5852160" y="3593592"/>
            <a:ext cx="1371600" cy="658368"/>
          </a:xfrm>
          <a:prstGeom prst="roundRect">
            <a:avLst>
              <a:gd name="adj" fmla="val 8333"/>
            </a:avLst>
          </a:prstGeom>
          <a:solidFill>
            <a:srgbClr val="F2F3F5"/>
          </a:solidFill>
          <a:ln w="9525">
            <a:solidFill>
              <a:srgbClr val="45515E"/>
            </a:solidFill>
          </a:ln>
        </p:spPr>
        <p:txBody>
          <a:bodyPr wrap="square" lIns="45720" tIns="0" rIns="45720" bIns="0" rtlCol="0" anchor="ctr"/>
          <a:lstStyle/>
          <a:p>
            <a:pPr algn="ctr"/>
            <a:r>
              <a:rPr lang="ko-KR" sz="950" b="1" dirty="0">
                <a:solidFill>
                  <a:srgbClr val="222222"/>
                </a:solidFill>
                <a:latin typeface="에이투지체 5 Medium"/>
                <a:ea typeface="에이투지체 5 Medium"/>
                <a:cs typeface="에이투지체 5 Medium"/>
              </a:rPr>
              <a:t>병상 API</a:t>
            </a:r>
          </a:p>
          <a:p>
            <a:pPr algn="ctr"/>
            <a:r>
              <a:rPr lang="ko-KR" sz="750" dirty="0">
                <a:solidFill>
                  <a:srgbClr val="45515E"/>
                </a:solidFill>
                <a:latin typeface="에이투지체 5 Medium"/>
                <a:ea typeface="에이투지체 5 Medium"/>
                <a:cs typeface="에이투지체 5 Medium"/>
              </a:rPr>
              <a:t>/api/realtime-beds/all</a:t>
            </a:r>
          </a:p>
        </p:txBody>
      </p:sp>
      <p:sp>
        <p:nvSpPr>
          <p:cNvPr id="5120" name="D 5120"/>
          <p:cNvSpPr/>
          <p:nvPr/>
        </p:nvSpPr>
        <p:spPr>
          <a:xfrm>
            <a:off x="4114800" y="4462272"/>
            <a:ext cx="1554480" cy="658368"/>
          </a:xfrm>
          <a:prstGeom prst="roundRect">
            <a:avLst>
              <a:gd name="adj" fmla="val 8333"/>
            </a:avLst>
          </a:prstGeom>
          <a:solidFill>
            <a:srgbClr val="F2F3F5"/>
          </a:solidFill>
          <a:ln w="9525">
            <a:solidFill>
              <a:srgbClr val="45515E"/>
            </a:solidFill>
          </a:ln>
        </p:spPr>
        <p:txBody>
          <a:bodyPr wrap="square" lIns="45720" tIns="0" rIns="45720" bIns="0" rtlCol="0" anchor="ctr"/>
          <a:lstStyle/>
          <a:p>
            <a:pPr algn="ctr"/>
            <a:r>
              <a:rPr lang="ko-KR" sz="950" b="1" dirty="0">
                <a:solidFill>
                  <a:srgbClr val="222222"/>
                </a:solidFill>
                <a:latin typeface="에이투지체 5 Medium"/>
                <a:ea typeface="에이투지체 5 Medium"/>
                <a:cs typeface="에이투지체 5 Medium"/>
              </a:rPr>
              <a:t>자동 갱신 스케줄러</a:t>
            </a:r>
          </a:p>
          <a:p>
            <a:pPr algn="ctr"/>
            <a:r>
              <a:rPr lang="ko-KR" sz="750" dirty="0">
                <a:solidFill>
                  <a:srgbClr val="45515E"/>
                </a:solidFill>
                <a:latin typeface="에이투지체 5 Medium"/>
                <a:ea typeface="에이투지체 5 Medium"/>
                <a:cs typeface="에이투지체 5 Medium"/>
              </a:rPr>
              <a:t>1시간 간격 · 일 최대 3회</a:t>
            </a:r>
          </a:p>
        </p:txBody>
      </p:sp>
      <p:sp>
        <p:nvSpPr>
          <p:cNvPr id="5121" name="D 5121"/>
          <p:cNvSpPr/>
          <p:nvPr/>
        </p:nvSpPr>
        <p:spPr>
          <a:xfrm>
            <a:off x="5852160" y="4462272"/>
            <a:ext cx="1371600" cy="658368"/>
          </a:xfrm>
          <a:prstGeom prst="roundRect">
            <a:avLst>
              <a:gd name="adj" fmla="val 8333"/>
            </a:avLst>
          </a:prstGeom>
          <a:solidFill>
            <a:srgbClr val="F2F3F5"/>
          </a:solidFill>
          <a:ln w="9525">
            <a:solidFill>
              <a:srgbClr val="45515E"/>
            </a:solidFill>
          </a:ln>
        </p:spPr>
        <p:txBody>
          <a:bodyPr wrap="square" lIns="45720" tIns="0" rIns="45720" bIns="0" rtlCol="0" anchor="ctr"/>
          <a:lstStyle/>
          <a:p>
            <a:pPr algn="ctr"/>
            <a:r>
              <a:rPr lang="ko-KR" sz="950" b="1" dirty="0">
                <a:solidFill>
                  <a:srgbClr val="222222"/>
                </a:solidFill>
                <a:latin typeface="에이투지체 5 Medium"/>
                <a:ea typeface="에이투지체 5 Medium"/>
                <a:cs typeface="에이투지체 5 Medium"/>
              </a:rPr>
              <a:t>강북 · 마포 처리</a:t>
            </a:r>
          </a:p>
          <a:p>
            <a:pPr algn="ctr"/>
            <a:r>
              <a:rPr lang="ko-KR" sz="750" dirty="0">
                <a:solidFill>
                  <a:srgbClr val="45515E"/>
                </a:solidFill>
                <a:latin typeface="에이투지체 5 Medium"/>
                <a:ea typeface="에이투지체 5 Medium"/>
                <a:cs typeface="에이투지체 5 Medium"/>
              </a:rPr>
              <a:t>등록 병상 + 인접 구 안내</a:t>
            </a:r>
          </a:p>
        </p:txBody>
      </p:sp>
      <p:sp>
        <p:nvSpPr>
          <p:cNvPr id="5122" name="D 5122"/>
          <p:cNvSpPr/>
          <p:nvPr/>
        </p:nvSpPr>
        <p:spPr>
          <a:xfrm>
            <a:off x="4114800" y="5330952"/>
            <a:ext cx="1554480" cy="658368"/>
          </a:xfrm>
          <a:prstGeom prst="roundRect">
            <a:avLst>
              <a:gd name="adj" fmla="val 8333"/>
            </a:avLst>
          </a:prstGeom>
          <a:solidFill>
            <a:srgbClr val="F2F3F5"/>
          </a:solidFill>
          <a:ln w="9525">
            <a:solidFill>
              <a:srgbClr val="45515E"/>
            </a:solidFill>
          </a:ln>
        </p:spPr>
        <p:txBody>
          <a:bodyPr wrap="square" lIns="45720" tIns="0" rIns="45720" bIns="0" rtlCol="0" anchor="ctr"/>
          <a:lstStyle/>
          <a:p>
            <a:pPr algn="ctr"/>
            <a:r>
              <a:rPr lang="ko-KR" sz="950" b="1" dirty="0">
                <a:solidFill>
                  <a:srgbClr val="222222"/>
                </a:solidFill>
                <a:latin typeface="에이투지체 5 Medium"/>
                <a:ea typeface="에이투지체 5 Medium"/>
                <a:cs typeface="에이투지체 5 Medium"/>
              </a:rPr>
              <a:t>화면 템플릿</a:t>
            </a:r>
          </a:p>
          <a:p>
            <a:pPr algn="ctr"/>
            <a:r>
              <a:rPr lang="ko-KR" sz="750" dirty="0">
                <a:solidFill>
                  <a:srgbClr val="45515E"/>
                </a:solidFill>
                <a:latin typeface="에이투지체 5 Medium"/>
                <a:ea typeface="에이투지체 5 Medium"/>
                <a:cs typeface="에이투지체 5 Medium"/>
              </a:rPr>
              <a:t>HTML · CSS · JS</a:t>
            </a:r>
          </a:p>
        </p:txBody>
      </p:sp>
      <p:sp>
        <p:nvSpPr>
          <p:cNvPr id="5123" name="D 5123"/>
          <p:cNvSpPr/>
          <p:nvPr/>
        </p:nvSpPr>
        <p:spPr>
          <a:xfrm>
            <a:off x="5852160" y="5330952"/>
            <a:ext cx="1371600" cy="658368"/>
          </a:xfrm>
          <a:prstGeom prst="roundRect">
            <a:avLst>
              <a:gd name="adj" fmla="val 8333"/>
            </a:avLst>
          </a:prstGeom>
          <a:solidFill>
            <a:srgbClr val="F2F3F5"/>
          </a:solidFill>
          <a:ln w="9525">
            <a:solidFill>
              <a:srgbClr val="45515E"/>
            </a:solidFill>
          </a:ln>
        </p:spPr>
        <p:txBody>
          <a:bodyPr wrap="square" lIns="45720" tIns="0" rIns="45720" bIns="0" rtlCol="0" anchor="ctr"/>
          <a:lstStyle/>
          <a:p>
            <a:pPr algn="ctr"/>
            <a:r>
              <a:rPr lang="ko-KR" sz="950" b="1" dirty="0">
                <a:solidFill>
                  <a:srgbClr val="222222"/>
                </a:solidFill>
                <a:latin typeface="에이투지체 5 Medium"/>
                <a:ea typeface="에이투지체 5 Medium"/>
                <a:cs typeface="에이투지체 5 Medium"/>
              </a:rPr>
              <a:t>페이지 제공</a:t>
            </a:r>
          </a:p>
          <a:p>
            <a:pPr algn="ctr"/>
            <a:r>
              <a:rPr lang="ko-KR" sz="750" dirty="0">
                <a:solidFill>
                  <a:srgbClr val="45515E"/>
                </a:solidFill>
                <a:latin typeface="에이투지체 5 Medium"/>
                <a:ea typeface="에이투지체 5 Medium"/>
                <a:cs typeface="에이투지체 5 Medium"/>
              </a:rPr>
              <a:t>/  ·  /analysis  ·  /beds</a:t>
            </a:r>
          </a:p>
        </p:txBody>
      </p:sp>
      <p:sp>
        <p:nvSpPr>
          <p:cNvPr id="5124" name="D 5124"/>
          <p:cNvSpPr/>
          <p:nvPr/>
        </p:nvSpPr>
        <p:spPr>
          <a:xfrm>
            <a:off x="5669280" y="3054096"/>
            <a:ext cx="182880" cy="0"/>
          </a:xfrm>
          <a:prstGeom prst="line">
            <a:avLst/>
          </a:prstGeom>
          <a:ln w="12700">
            <a:solidFill>
              <a:srgbClr val="45515E"/>
            </a:solidFill>
            <a:tailEnd type="triangle" w="med" len="med"/>
          </a:ln>
        </p:spPr>
        <p:txBody>
          <a:bodyPr/>
          <a:lstStyle/>
          <a:p>
            <a:endParaRPr/>
          </a:p>
        </p:txBody>
      </p:sp>
      <p:sp>
        <p:nvSpPr>
          <p:cNvPr id="5125" name="D 5125"/>
          <p:cNvSpPr/>
          <p:nvPr/>
        </p:nvSpPr>
        <p:spPr>
          <a:xfrm>
            <a:off x="5669280" y="3922776"/>
            <a:ext cx="182880" cy="0"/>
          </a:xfrm>
          <a:prstGeom prst="line">
            <a:avLst/>
          </a:prstGeom>
          <a:ln w="12700">
            <a:solidFill>
              <a:srgbClr val="45515E"/>
            </a:solidFill>
            <a:tailEnd type="triangle" w="med" len="med"/>
          </a:ln>
        </p:spPr>
        <p:txBody>
          <a:bodyPr/>
          <a:lstStyle/>
          <a:p>
            <a:endParaRPr/>
          </a:p>
        </p:txBody>
      </p:sp>
      <p:sp>
        <p:nvSpPr>
          <p:cNvPr id="5126" name="D 5126"/>
          <p:cNvSpPr/>
          <p:nvPr/>
        </p:nvSpPr>
        <p:spPr>
          <a:xfrm>
            <a:off x="5669280" y="5660136"/>
            <a:ext cx="182880" cy="0"/>
          </a:xfrm>
          <a:prstGeom prst="line">
            <a:avLst/>
          </a:prstGeom>
          <a:ln w="12700">
            <a:solidFill>
              <a:srgbClr val="45515E"/>
            </a:solidFill>
            <a:tailEnd type="triangle" w="med" len="med"/>
          </a:ln>
        </p:spPr>
        <p:txBody>
          <a:bodyPr/>
          <a:lstStyle/>
          <a:p>
            <a:endParaRPr/>
          </a:p>
        </p:txBody>
      </p:sp>
      <p:sp>
        <p:nvSpPr>
          <p:cNvPr id="5127" name="D 5127"/>
          <p:cNvSpPr/>
          <p:nvPr/>
        </p:nvSpPr>
        <p:spPr>
          <a:xfrm flipV="1">
            <a:off x="4892040" y="4251960"/>
            <a:ext cx="0" cy="210312"/>
          </a:xfrm>
          <a:prstGeom prst="line">
            <a:avLst/>
          </a:prstGeom>
          <a:ln w="12700">
            <a:solidFill>
              <a:srgbClr val="45515E"/>
            </a:solidFill>
            <a:tailEnd type="triangle" w="med" len="med"/>
          </a:ln>
        </p:spPr>
        <p:txBody>
          <a:bodyPr/>
          <a:lstStyle/>
          <a:p>
            <a:endParaRPr/>
          </a:p>
        </p:txBody>
      </p:sp>
      <p:sp>
        <p:nvSpPr>
          <p:cNvPr id="5128" name="D 5128"/>
          <p:cNvSpPr/>
          <p:nvPr/>
        </p:nvSpPr>
        <p:spPr>
          <a:xfrm flipV="1">
            <a:off x="6537960" y="4251960"/>
            <a:ext cx="0" cy="210312"/>
          </a:xfrm>
          <a:prstGeom prst="line">
            <a:avLst/>
          </a:prstGeom>
          <a:ln w="12700">
            <a:solidFill>
              <a:srgbClr val="45515E"/>
            </a:solidFill>
            <a:tailEnd type="triangle" w="med" len="med"/>
          </a:ln>
        </p:spPr>
        <p:txBody>
          <a:bodyPr/>
          <a:lstStyle/>
          <a:p>
            <a:endParaRPr/>
          </a:p>
        </p:txBody>
      </p:sp>
      <p:sp>
        <p:nvSpPr>
          <p:cNvPr id="5129" name="D 5129"/>
          <p:cNvSpPr/>
          <p:nvPr/>
        </p:nvSpPr>
        <p:spPr>
          <a:xfrm>
            <a:off x="3675888" y="4297680"/>
            <a:ext cx="256032" cy="0"/>
          </a:xfrm>
          <a:prstGeom prst="line">
            <a:avLst/>
          </a:prstGeom>
          <a:ln w="12700">
            <a:solidFill>
              <a:srgbClr val="45515E"/>
            </a:solidFill>
          </a:ln>
        </p:spPr>
        <p:txBody>
          <a:bodyPr/>
          <a:lstStyle/>
          <a:p>
            <a:endParaRPr/>
          </a:p>
        </p:txBody>
      </p:sp>
      <p:sp>
        <p:nvSpPr>
          <p:cNvPr id="5130" name="D 5130"/>
          <p:cNvSpPr/>
          <p:nvPr/>
        </p:nvSpPr>
        <p:spPr>
          <a:xfrm flipV="1">
            <a:off x="3931920" y="3054096"/>
            <a:ext cx="0" cy="1243584"/>
          </a:xfrm>
          <a:prstGeom prst="line">
            <a:avLst/>
          </a:prstGeom>
          <a:ln w="12700">
            <a:solidFill>
              <a:srgbClr val="45515E"/>
            </a:solidFill>
          </a:ln>
        </p:spPr>
        <p:txBody>
          <a:bodyPr/>
          <a:lstStyle/>
          <a:p>
            <a:endParaRPr/>
          </a:p>
        </p:txBody>
      </p:sp>
      <p:sp>
        <p:nvSpPr>
          <p:cNvPr id="5131" name="D 5131"/>
          <p:cNvSpPr/>
          <p:nvPr/>
        </p:nvSpPr>
        <p:spPr>
          <a:xfrm>
            <a:off x="3931920" y="3054096"/>
            <a:ext cx="182880" cy="0"/>
          </a:xfrm>
          <a:prstGeom prst="line">
            <a:avLst/>
          </a:prstGeom>
          <a:ln w="12700">
            <a:solidFill>
              <a:srgbClr val="45515E"/>
            </a:solidFill>
            <a:tailEnd type="triangle" w="med" len="med"/>
          </a:ln>
        </p:spPr>
        <p:txBody>
          <a:bodyPr/>
          <a:lstStyle/>
          <a:p>
            <a:endParaRPr/>
          </a:p>
        </p:txBody>
      </p:sp>
      <p:sp>
        <p:nvSpPr>
          <p:cNvPr id="5132" name="D 5132"/>
          <p:cNvSpPr/>
          <p:nvPr/>
        </p:nvSpPr>
        <p:spPr>
          <a:xfrm>
            <a:off x="1508760" y="5413248"/>
            <a:ext cx="182880" cy="0"/>
          </a:xfrm>
          <a:prstGeom prst="line">
            <a:avLst/>
          </a:prstGeom>
          <a:ln w="12700">
            <a:solidFill>
              <a:srgbClr val="D62828"/>
            </a:solidFill>
            <a:prstDash val="dash"/>
          </a:ln>
        </p:spPr>
        <p:txBody>
          <a:bodyPr/>
          <a:lstStyle/>
          <a:p>
            <a:endParaRPr/>
          </a:p>
        </p:txBody>
      </p:sp>
      <p:sp>
        <p:nvSpPr>
          <p:cNvPr id="5133" name="D 5133"/>
          <p:cNvSpPr/>
          <p:nvPr/>
        </p:nvSpPr>
        <p:spPr>
          <a:xfrm>
            <a:off x="1691640" y="5413248"/>
            <a:ext cx="0" cy="530352"/>
          </a:xfrm>
          <a:prstGeom prst="line">
            <a:avLst/>
          </a:prstGeom>
          <a:ln w="12700">
            <a:solidFill>
              <a:srgbClr val="D62828"/>
            </a:solidFill>
            <a:prstDash val="dash"/>
          </a:ln>
        </p:spPr>
        <p:txBody>
          <a:bodyPr/>
          <a:lstStyle/>
          <a:p>
            <a:endParaRPr/>
          </a:p>
        </p:txBody>
      </p:sp>
      <p:sp>
        <p:nvSpPr>
          <p:cNvPr id="5134" name="D 5134"/>
          <p:cNvSpPr/>
          <p:nvPr/>
        </p:nvSpPr>
        <p:spPr>
          <a:xfrm>
            <a:off x="1691640" y="5943600"/>
            <a:ext cx="2240280" cy="0"/>
          </a:xfrm>
          <a:prstGeom prst="line">
            <a:avLst/>
          </a:prstGeom>
          <a:ln w="12700">
            <a:solidFill>
              <a:srgbClr val="D62828"/>
            </a:solidFill>
            <a:prstDash val="dash"/>
          </a:ln>
        </p:spPr>
        <p:txBody>
          <a:bodyPr/>
          <a:lstStyle/>
          <a:p>
            <a:endParaRPr/>
          </a:p>
        </p:txBody>
      </p:sp>
      <p:sp>
        <p:nvSpPr>
          <p:cNvPr id="5135" name="D 5135"/>
          <p:cNvSpPr/>
          <p:nvPr/>
        </p:nvSpPr>
        <p:spPr>
          <a:xfrm flipV="1">
            <a:off x="3931920" y="4791456"/>
            <a:ext cx="0" cy="1152144"/>
          </a:xfrm>
          <a:prstGeom prst="line">
            <a:avLst/>
          </a:prstGeom>
          <a:ln w="12700">
            <a:solidFill>
              <a:srgbClr val="D62828"/>
            </a:solidFill>
            <a:prstDash val="dash"/>
          </a:ln>
        </p:spPr>
        <p:txBody>
          <a:bodyPr/>
          <a:lstStyle/>
          <a:p>
            <a:endParaRPr/>
          </a:p>
        </p:txBody>
      </p:sp>
      <p:sp>
        <p:nvSpPr>
          <p:cNvPr id="5136" name="D 5136"/>
          <p:cNvSpPr/>
          <p:nvPr/>
        </p:nvSpPr>
        <p:spPr>
          <a:xfrm>
            <a:off x="3931920" y="4791456"/>
            <a:ext cx="182880" cy="0"/>
          </a:xfrm>
          <a:prstGeom prst="line">
            <a:avLst/>
          </a:prstGeom>
          <a:ln w="12700">
            <a:solidFill>
              <a:srgbClr val="D62828"/>
            </a:solidFill>
            <a:prstDash val="dash"/>
            <a:tailEnd type="triangle" w="med" len="med"/>
          </a:ln>
        </p:spPr>
        <p:txBody>
          <a:bodyPr/>
          <a:lstStyle/>
          <a:p>
            <a:endParaRPr/>
          </a:p>
        </p:txBody>
      </p:sp>
      <p:sp>
        <p:nvSpPr>
          <p:cNvPr id="5137" name="D 5137"/>
          <p:cNvSpPr/>
          <p:nvPr/>
        </p:nvSpPr>
        <p:spPr>
          <a:xfrm>
            <a:off x="2148840" y="5843016"/>
            <a:ext cx="914400" cy="201168"/>
          </a:xfrm>
          <a:prstGeom prst="roundRect">
            <a:avLst>
              <a:gd name="adj" fmla="val 50000"/>
            </a:avLst>
          </a:prstGeom>
          <a:solidFill>
            <a:srgbClr val="FFFFFF"/>
          </a:solidFill>
          <a:ln w="9525">
            <a:solidFill>
              <a:srgbClr val="D62828"/>
            </a:solidFill>
          </a:ln>
        </p:spPr>
        <p:txBody>
          <a:bodyPr wrap="square" lIns="45720" tIns="0" rIns="45720" bIns="0" rtlCol="0" anchor="ctr"/>
          <a:lstStyle/>
          <a:p>
            <a:pPr algn="ctr"/>
            <a:r>
              <a:rPr lang="ko-KR" sz="750" b="1" dirty="0">
                <a:solidFill>
                  <a:srgbClr val="D62828"/>
                </a:solidFill>
                <a:latin typeface="에이투지체 5 Medium"/>
                <a:ea typeface="에이투지체 5 Medium"/>
                <a:cs typeface="에이투지체 5 Medium"/>
              </a:rPr>
              <a:t>23개 구 요청</a:t>
            </a:r>
          </a:p>
        </p:txBody>
      </p:sp>
      <p:sp>
        <p:nvSpPr>
          <p:cNvPr id="5138" name="D 5138"/>
          <p:cNvSpPr/>
          <p:nvPr/>
        </p:nvSpPr>
        <p:spPr>
          <a:xfrm>
            <a:off x="7818120" y="2743200"/>
            <a:ext cx="1965960" cy="3154680"/>
          </a:xfrm>
          <a:prstGeom prst="roundRect">
            <a:avLst>
              <a:gd name="adj" fmla="val 3720"/>
            </a:avLst>
          </a:prstGeom>
          <a:solidFill>
            <a:srgbClr val="FFFFFF"/>
          </a:solidFill>
          <a:ln w="12700">
            <a:solidFill>
              <a:srgbClr val="E87A7A"/>
            </a:solidFill>
          </a:ln>
        </p:spPr>
        <p:txBody>
          <a:bodyPr/>
          <a:lstStyle/>
          <a:p>
            <a:endParaRPr/>
          </a:p>
        </p:txBody>
      </p:sp>
      <p:sp>
        <p:nvSpPr>
          <p:cNvPr id="5139" name="D 5139"/>
          <p:cNvSpPr txBox="1"/>
          <p:nvPr/>
        </p:nvSpPr>
        <p:spPr>
          <a:xfrm>
            <a:off x="7818120" y="2788920"/>
            <a:ext cx="1965960" cy="228600"/>
          </a:xfrm>
          <a:prstGeom prst="rect">
            <a:avLst/>
          </a:prstGeom>
          <a:noFill/>
        </p:spPr>
        <p:txBody>
          <a:bodyPr wrap="square" lIns="0" tIns="0" rIns="0" bIns="0" rtlCol="0" anchor="ctr"/>
          <a:lstStyle/>
          <a:p>
            <a:pPr algn="ctr"/>
            <a:r>
              <a:rPr lang="ko-KR" sz="900" b="1" dirty="0">
                <a:solidFill>
                  <a:srgbClr val="222222"/>
                </a:solidFill>
                <a:latin typeface="에이투지체 5 Medium"/>
                <a:ea typeface="에이투지체 5 Medium"/>
                <a:cs typeface="에이투지체 5 Medium"/>
              </a:rPr>
              <a:t>화면 (Web Frontend)</a:t>
            </a:r>
          </a:p>
        </p:txBody>
      </p:sp>
      <p:sp>
        <p:nvSpPr>
          <p:cNvPr id="5140" name="D 5140"/>
          <p:cNvSpPr/>
          <p:nvPr/>
        </p:nvSpPr>
        <p:spPr>
          <a:xfrm>
            <a:off x="7936992" y="3090672"/>
            <a:ext cx="1737360" cy="621792"/>
          </a:xfrm>
          <a:prstGeom prst="roundRect">
            <a:avLst>
              <a:gd name="adj" fmla="val 8823"/>
            </a:avLst>
          </a:prstGeom>
          <a:solidFill>
            <a:srgbClr val="FDE3E3"/>
          </a:solidFill>
          <a:ln w="9525">
            <a:solidFill>
              <a:srgbClr val="E87A7A"/>
            </a:solidFill>
          </a:ln>
        </p:spPr>
        <p:txBody>
          <a:bodyPr wrap="square" lIns="45720" tIns="0" rIns="45720" bIns="0" rtlCol="0" anchor="ctr"/>
          <a:lstStyle/>
          <a:p>
            <a:pPr algn="ctr"/>
            <a:r>
              <a:rPr lang="ko-KR" sz="1000" b="1" dirty="0">
                <a:solidFill>
                  <a:srgbClr val="222222"/>
                </a:solidFill>
                <a:latin typeface="에이투지체 5 Medium"/>
                <a:ea typeface="에이투지체 5 Medium"/>
                <a:cs typeface="에이투지체 5 Medium"/>
              </a:rPr>
              <a:t>메인</a:t>
            </a:r>
          </a:p>
          <a:p>
            <a:pPr algn="ctr"/>
            <a:r>
              <a:rPr lang="ko-KR" sz="750" dirty="0">
                <a:solidFill>
                  <a:srgbClr val="45515E"/>
                </a:solidFill>
                <a:latin typeface="에이투지체 5 Medium"/>
                <a:ea typeface="에이투지체 5 Medium"/>
                <a:cs typeface="에이투지체 5 Medium"/>
              </a:rPr>
              <a:t>서비스 선택</a:t>
            </a:r>
          </a:p>
        </p:txBody>
      </p:sp>
      <p:sp>
        <p:nvSpPr>
          <p:cNvPr id="5141" name="D 5141"/>
          <p:cNvSpPr/>
          <p:nvPr/>
        </p:nvSpPr>
        <p:spPr>
          <a:xfrm>
            <a:off x="7936992" y="3913632"/>
            <a:ext cx="1737360" cy="713232"/>
          </a:xfrm>
          <a:prstGeom prst="roundRect">
            <a:avLst>
              <a:gd name="adj" fmla="val 7692"/>
            </a:avLst>
          </a:prstGeom>
          <a:solidFill>
            <a:srgbClr val="FDE3E3"/>
          </a:solidFill>
          <a:ln w="9525">
            <a:solidFill>
              <a:srgbClr val="E87A7A"/>
            </a:solidFill>
          </a:ln>
        </p:spPr>
        <p:txBody>
          <a:bodyPr wrap="square" lIns="45720" tIns="0" rIns="45720" bIns="0" rtlCol="0" anchor="ctr"/>
          <a:lstStyle/>
          <a:p>
            <a:pPr algn="ctr"/>
            <a:r>
              <a:rPr lang="ko-KR" sz="1000" b="1" dirty="0">
                <a:solidFill>
                  <a:srgbClr val="222222"/>
                </a:solidFill>
                <a:latin typeface="에이투지체 5 Medium"/>
                <a:ea typeface="에이투지체 5 Medium"/>
                <a:cs typeface="에이투지체 5 Medium"/>
              </a:rPr>
              <a:t>분석 · 예측</a:t>
            </a:r>
          </a:p>
          <a:p>
            <a:pPr algn="ctr"/>
            <a:r>
              <a:rPr lang="ko-KR" sz="750" dirty="0">
                <a:solidFill>
                  <a:srgbClr val="45515E"/>
                </a:solidFill>
                <a:latin typeface="에이투지체 5 Medium"/>
                <a:ea typeface="에이투지체 5 Medium"/>
                <a:cs typeface="에이투지체 5 Medium"/>
              </a:rPr>
              <a:t>KPI · 그래프 · 순위</a:t>
            </a:r>
          </a:p>
          <a:p>
            <a:pPr algn="ctr"/>
            <a:r>
              <a:rPr lang="ko-KR" sz="750" dirty="0">
                <a:solidFill>
                  <a:srgbClr val="45515E"/>
                </a:solidFill>
                <a:latin typeface="에이투지체 5 Medium"/>
                <a:ea typeface="에이투지체 5 Medium"/>
                <a:cs typeface="에이투지체 5 Medium"/>
              </a:rPr>
              <a:t>(Chart.js)</a:t>
            </a:r>
          </a:p>
        </p:txBody>
      </p:sp>
      <p:sp>
        <p:nvSpPr>
          <p:cNvPr id="5142" name="D 5142"/>
          <p:cNvSpPr/>
          <p:nvPr/>
        </p:nvSpPr>
        <p:spPr>
          <a:xfrm>
            <a:off x="7936992" y="4919472"/>
            <a:ext cx="1737360" cy="621792"/>
          </a:xfrm>
          <a:prstGeom prst="roundRect">
            <a:avLst>
              <a:gd name="adj" fmla="val 8823"/>
            </a:avLst>
          </a:prstGeom>
          <a:solidFill>
            <a:srgbClr val="FDE3E3"/>
          </a:solidFill>
          <a:ln w="9525">
            <a:solidFill>
              <a:srgbClr val="E87A7A"/>
            </a:solidFill>
          </a:ln>
        </p:spPr>
        <p:txBody>
          <a:bodyPr wrap="square" lIns="45720" tIns="0" rIns="45720" bIns="0" rtlCol="0" anchor="ctr"/>
          <a:lstStyle/>
          <a:p>
            <a:pPr algn="ctr"/>
            <a:r>
              <a:rPr lang="ko-KR" sz="1000" b="1" dirty="0">
                <a:solidFill>
                  <a:srgbClr val="222222"/>
                </a:solidFill>
                <a:latin typeface="에이투지체 5 Medium"/>
                <a:ea typeface="에이투지체 5 Medium"/>
                <a:cs typeface="에이투지체 5 Medium"/>
              </a:rPr>
              <a:t>병상 관제</a:t>
            </a:r>
          </a:p>
          <a:p>
            <a:pPr algn="ctr"/>
            <a:r>
              <a:rPr lang="ko-KR" sz="750" dirty="0">
                <a:solidFill>
                  <a:srgbClr val="45515E"/>
                </a:solidFill>
                <a:latin typeface="에이투지체 5 Medium"/>
                <a:ea typeface="에이투지체 5 Medium"/>
                <a:cs typeface="에이투지체 5 Medium"/>
              </a:rPr>
              <a:t>현황 · 검색 · 필터</a:t>
            </a:r>
          </a:p>
        </p:txBody>
      </p:sp>
      <p:sp>
        <p:nvSpPr>
          <p:cNvPr id="5143" name="D 5143"/>
          <p:cNvSpPr/>
          <p:nvPr/>
        </p:nvSpPr>
        <p:spPr>
          <a:xfrm>
            <a:off x="7223760" y="3054096"/>
            <a:ext cx="393192" cy="0"/>
          </a:xfrm>
          <a:prstGeom prst="line">
            <a:avLst/>
          </a:prstGeom>
          <a:ln w="12700">
            <a:solidFill>
              <a:srgbClr val="45515E"/>
            </a:solidFill>
          </a:ln>
        </p:spPr>
        <p:txBody>
          <a:bodyPr/>
          <a:lstStyle/>
          <a:p>
            <a:endParaRPr/>
          </a:p>
        </p:txBody>
      </p:sp>
      <p:sp>
        <p:nvSpPr>
          <p:cNvPr id="5144" name="D 5144"/>
          <p:cNvSpPr/>
          <p:nvPr/>
        </p:nvSpPr>
        <p:spPr>
          <a:xfrm>
            <a:off x="7616952" y="3054096"/>
            <a:ext cx="0" cy="1216152"/>
          </a:xfrm>
          <a:prstGeom prst="line">
            <a:avLst/>
          </a:prstGeom>
          <a:ln w="12700">
            <a:solidFill>
              <a:srgbClr val="45515E"/>
            </a:solidFill>
          </a:ln>
        </p:spPr>
        <p:txBody>
          <a:bodyPr/>
          <a:lstStyle/>
          <a:p>
            <a:endParaRPr/>
          </a:p>
        </p:txBody>
      </p:sp>
      <p:sp>
        <p:nvSpPr>
          <p:cNvPr id="5145" name="D 5145"/>
          <p:cNvSpPr/>
          <p:nvPr/>
        </p:nvSpPr>
        <p:spPr>
          <a:xfrm>
            <a:off x="7616952" y="4270248"/>
            <a:ext cx="320040" cy="0"/>
          </a:xfrm>
          <a:prstGeom prst="line">
            <a:avLst/>
          </a:prstGeom>
          <a:ln w="12700">
            <a:solidFill>
              <a:srgbClr val="45515E"/>
            </a:solidFill>
            <a:tailEnd type="triangle" w="med" len="med"/>
          </a:ln>
        </p:spPr>
        <p:txBody>
          <a:bodyPr/>
          <a:lstStyle/>
          <a:p>
            <a:endParaRPr/>
          </a:p>
        </p:txBody>
      </p:sp>
      <p:sp>
        <p:nvSpPr>
          <p:cNvPr id="5146" name="D 5146"/>
          <p:cNvSpPr/>
          <p:nvPr/>
        </p:nvSpPr>
        <p:spPr>
          <a:xfrm>
            <a:off x="7251192" y="2962656"/>
            <a:ext cx="329184" cy="182880"/>
          </a:xfrm>
          <a:prstGeom prst="roundRect">
            <a:avLst>
              <a:gd name="adj" fmla="val 50000"/>
            </a:avLst>
          </a:prstGeom>
          <a:solidFill>
            <a:srgbClr val="FFFFFF"/>
          </a:solidFill>
          <a:ln w="9525">
            <a:solidFill>
              <a:srgbClr val="45515E"/>
            </a:solidFill>
          </a:ln>
        </p:spPr>
        <p:txBody>
          <a:bodyPr wrap="square" lIns="45720" tIns="0" rIns="45720" bIns="0" rtlCol="0" anchor="ctr"/>
          <a:lstStyle/>
          <a:p>
            <a:pPr algn="ctr"/>
            <a:r>
              <a:rPr lang="ko-KR" sz="600" b="1" dirty="0">
                <a:solidFill>
                  <a:srgbClr val="222222"/>
                </a:solidFill>
                <a:latin typeface="에이투지체 5 Medium"/>
                <a:ea typeface="에이투지체 5 Medium"/>
                <a:cs typeface="에이투지체 5 Medium"/>
              </a:rPr>
              <a:t>GET</a:t>
            </a:r>
          </a:p>
        </p:txBody>
      </p:sp>
      <p:sp>
        <p:nvSpPr>
          <p:cNvPr id="5147" name="D 5147"/>
          <p:cNvSpPr/>
          <p:nvPr/>
        </p:nvSpPr>
        <p:spPr>
          <a:xfrm>
            <a:off x="7223760" y="3922776"/>
            <a:ext cx="310896" cy="0"/>
          </a:xfrm>
          <a:prstGeom prst="line">
            <a:avLst/>
          </a:prstGeom>
          <a:ln w="12700">
            <a:solidFill>
              <a:srgbClr val="45515E"/>
            </a:solidFill>
          </a:ln>
        </p:spPr>
        <p:txBody>
          <a:bodyPr/>
          <a:lstStyle/>
          <a:p>
            <a:endParaRPr/>
          </a:p>
        </p:txBody>
      </p:sp>
      <p:sp>
        <p:nvSpPr>
          <p:cNvPr id="5148" name="D 5148"/>
          <p:cNvSpPr/>
          <p:nvPr/>
        </p:nvSpPr>
        <p:spPr>
          <a:xfrm>
            <a:off x="7534656" y="3922776"/>
            <a:ext cx="0" cy="1307592"/>
          </a:xfrm>
          <a:prstGeom prst="line">
            <a:avLst/>
          </a:prstGeom>
          <a:ln w="12700">
            <a:solidFill>
              <a:srgbClr val="45515E"/>
            </a:solidFill>
          </a:ln>
        </p:spPr>
        <p:txBody>
          <a:bodyPr/>
          <a:lstStyle/>
          <a:p>
            <a:endParaRPr/>
          </a:p>
        </p:txBody>
      </p:sp>
      <p:sp>
        <p:nvSpPr>
          <p:cNvPr id="5149" name="D 5149"/>
          <p:cNvSpPr/>
          <p:nvPr/>
        </p:nvSpPr>
        <p:spPr>
          <a:xfrm>
            <a:off x="7534656" y="5230368"/>
            <a:ext cx="402336" cy="0"/>
          </a:xfrm>
          <a:prstGeom prst="line">
            <a:avLst/>
          </a:prstGeom>
          <a:ln w="12700">
            <a:solidFill>
              <a:srgbClr val="45515E"/>
            </a:solidFill>
            <a:tailEnd type="triangle" w="med" len="med"/>
          </a:ln>
        </p:spPr>
        <p:txBody>
          <a:bodyPr/>
          <a:lstStyle/>
          <a:p>
            <a:endParaRPr/>
          </a:p>
        </p:txBody>
      </p:sp>
      <p:sp>
        <p:nvSpPr>
          <p:cNvPr id="5150" name="D 5150"/>
          <p:cNvSpPr/>
          <p:nvPr/>
        </p:nvSpPr>
        <p:spPr>
          <a:xfrm>
            <a:off x="7251192" y="3831336"/>
            <a:ext cx="329184" cy="182880"/>
          </a:xfrm>
          <a:prstGeom prst="roundRect">
            <a:avLst>
              <a:gd name="adj" fmla="val 50000"/>
            </a:avLst>
          </a:prstGeom>
          <a:solidFill>
            <a:srgbClr val="FFFFFF"/>
          </a:solidFill>
          <a:ln w="9525">
            <a:solidFill>
              <a:srgbClr val="45515E"/>
            </a:solidFill>
          </a:ln>
        </p:spPr>
        <p:txBody>
          <a:bodyPr wrap="square" lIns="45720" tIns="0" rIns="45720" bIns="0" rtlCol="0" anchor="ctr"/>
          <a:lstStyle/>
          <a:p>
            <a:pPr algn="ctr"/>
            <a:r>
              <a:rPr lang="ko-KR" sz="600" b="1" dirty="0">
                <a:solidFill>
                  <a:srgbClr val="222222"/>
                </a:solidFill>
                <a:latin typeface="에이투지체 5 Medium"/>
                <a:ea typeface="에이투지체 5 Medium"/>
                <a:cs typeface="에이투지체 5 Medium"/>
              </a:rPr>
              <a:t>GET</a:t>
            </a:r>
          </a:p>
        </p:txBody>
      </p:sp>
      <p:sp>
        <p:nvSpPr>
          <p:cNvPr id="5151" name="D 5151"/>
          <p:cNvSpPr/>
          <p:nvPr/>
        </p:nvSpPr>
        <p:spPr>
          <a:xfrm>
            <a:off x="7223760" y="5660136"/>
            <a:ext cx="475488" cy="0"/>
          </a:xfrm>
          <a:prstGeom prst="line">
            <a:avLst/>
          </a:prstGeom>
          <a:ln w="12700">
            <a:solidFill>
              <a:srgbClr val="45515E"/>
            </a:solidFill>
          </a:ln>
        </p:spPr>
        <p:txBody>
          <a:bodyPr/>
          <a:lstStyle/>
          <a:p>
            <a:endParaRPr/>
          </a:p>
        </p:txBody>
      </p:sp>
      <p:sp>
        <p:nvSpPr>
          <p:cNvPr id="5152" name="D 5152"/>
          <p:cNvSpPr/>
          <p:nvPr/>
        </p:nvSpPr>
        <p:spPr>
          <a:xfrm flipV="1">
            <a:off x="7699248" y="3401568"/>
            <a:ext cx="0" cy="2258568"/>
          </a:xfrm>
          <a:prstGeom prst="line">
            <a:avLst/>
          </a:prstGeom>
          <a:ln w="12700">
            <a:solidFill>
              <a:srgbClr val="45515E"/>
            </a:solidFill>
          </a:ln>
        </p:spPr>
        <p:txBody>
          <a:bodyPr/>
          <a:lstStyle/>
          <a:p>
            <a:endParaRPr/>
          </a:p>
        </p:txBody>
      </p:sp>
      <p:sp>
        <p:nvSpPr>
          <p:cNvPr id="5153" name="D 5153"/>
          <p:cNvSpPr/>
          <p:nvPr/>
        </p:nvSpPr>
        <p:spPr>
          <a:xfrm>
            <a:off x="7699248" y="3401568"/>
            <a:ext cx="237744" cy="0"/>
          </a:xfrm>
          <a:prstGeom prst="line">
            <a:avLst/>
          </a:prstGeom>
          <a:ln w="12700">
            <a:solidFill>
              <a:srgbClr val="45515E"/>
            </a:solidFill>
            <a:tailEnd type="triangle" w="med" len="med"/>
          </a:ln>
        </p:spPr>
        <p:txBody>
          <a:bodyPr/>
          <a:lstStyle/>
          <a:p>
            <a:endParaRPr/>
          </a:p>
        </p:txBody>
      </p:sp>
      <p:sp>
        <p:nvSpPr>
          <p:cNvPr id="5154" name="D 5154"/>
          <p:cNvSpPr/>
          <p:nvPr/>
        </p:nvSpPr>
        <p:spPr>
          <a:xfrm>
            <a:off x="9674352" y="3401568"/>
            <a:ext cx="521208" cy="0"/>
          </a:xfrm>
          <a:prstGeom prst="line">
            <a:avLst/>
          </a:prstGeom>
          <a:ln w="12700">
            <a:solidFill>
              <a:srgbClr val="45515E"/>
            </a:solidFill>
            <a:headEnd type="triangle" w="med" len="med"/>
            <a:tailEnd type="triangle" w="med" len="med"/>
          </a:ln>
        </p:spPr>
        <p:txBody>
          <a:bodyPr/>
          <a:lstStyle/>
          <a:p>
            <a:endParaRPr/>
          </a:p>
        </p:txBody>
      </p:sp>
      <p:sp>
        <p:nvSpPr>
          <p:cNvPr id="5155" name="D 5155"/>
          <p:cNvSpPr/>
          <p:nvPr/>
        </p:nvSpPr>
        <p:spPr>
          <a:xfrm>
            <a:off x="9674352" y="4270248"/>
            <a:ext cx="521208" cy="0"/>
          </a:xfrm>
          <a:prstGeom prst="line">
            <a:avLst/>
          </a:prstGeom>
          <a:ln w="12700">
            <a:solidFill>
              <a:srgbClr val="45515E"/>
            </a:solidFill>
            <a:headEnd type="triangle" w="med" len="med"/>
            <a:tailEnd type="triangle" w="med" len="med"/>
          </a:ln>
        </p:spPr>
        <p:txBody>
          <a:bodyPr/>
          <a:lstStyle/>
          <a:p>
            <a:endParaRPr/>
          </a:p>
        </p:txBody>
      </p:sp>
      <p:sp>
        <p:nvSpPr>
          <p:cNvPr id="5156" name="D 5156"/>
          <p:cNvSpPr/>
          <p:nvPr/>
        </p:nvSpPr>
        <p:spPr>
          <a:xfrm>
            <a:off x="9674352" y="5230368"/>
            <a:ext cx="521208" cy="0"/>
          </a:xfrm>
          <a:prstGeom prst="line">
            <a:avLst/>
          </a:prstGeom>
          <a:ln w="12700">
            <a:solidFill>
              <a:srgbClr val="45515E"/>
            </a:solidFill>
            <a:headEnd type="triangle" w="med" len="med"/>
            <a:tailEnd type="triangle" w="med" len="med"/>
          </a:ln>
        </p:spPr>
        <p:txBody>
          <a:bodyPr/>
          <a:lstStyle/>
          <a:p>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05  웹 서비스</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a:ea typeface="에이투지체 5 Medium"/>
                <a:cs typeface="에이투지체 5 Medium"/>
              </a:rPr>
              <a:t>구급 수요 분석 · 예측 대시보드</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1~6개월 예측 기간 선택, 서울 전체 및 자치구별 예측 · 순위 · 상세 분석 제공</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38</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웹 서비스 화면 캡처 (2026.10.02) · README_v1 · dashboard_data</a:t>
            </a:r>
            <a:endParaRPr lang="en-US" sz="900" dirty="0"/>
          </a:p>
        </p:txBody>
      </p:sp>
      <p:sp>
        <p:nvSpPr>
          <p:cNvPr id="3020" name="W 3020"/>
          <p:cNvSpPr/>
          <p:nvPr/>
        </p:nvSpPr>
        <p:spPr>
          <a:xfrm>
            <a:off x="457200" y="1993392"/>
            <a:ext cx="2514600" cy="4197096"/>
          </a:xfrm>
          <a:prstGeom prst="roundRect">
            <a:avLst>
              <a:gd name="adj" fmla="val 3636"/>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3021" name="W 3021"/>
          <p:cNvSpPr txBox="1"/>
          <p:nvPr/>
        </p:nvSpPr>
        <p:spPr>
          <a:xfrm>
            <a:off x="640080" y="2103120"/>
            <a:ext cx="2148840" cy="256032"/>
          </a:xfrm>
          <a:prstGeom prst="rect">
            <a:avLst/>
          </a:prstGeom>
          <a:noFill/>
        </p:spPr>
        <p:txBody>
          <a:bodyPr wrap="square" lIns="0" tIns="0" rIns="0" bIns="0" rtlCol="0" anchor="ctr"/>
          <a:lstStyle/>
          <a:p>
            <a:pPr algn="ctr"/>
            <a:r>
              <a:rPr lang="ko-KR" sz="1100" b="1" dirty="0">
                <a:solidFill>
                  <a:srgbClr val="8E8E93"/>
                </a:solidFill>
                <a:latin typeface="에이투지체 5 Medium"/>
                <a:ea typeface="에이투지체 5 Medium"/>
                <a:cs typeface="에이투지체 5 Medium"/>
              </a:rPr>
              <a:t>전체 화면</a:t>
            </a:r>
          </a:p>
        </p:txBody>
      </p:sp>
      <p:pic>
        <p:nvPicPr>
          <p:cNvPr id="3022" name="Picture 3021" descr="f_ana_full.png"/>
          <p:cNvPicPr>
            <a:picLocks noChangeAspect="1"/>
          </p:cNvPicPr>
          <p:nvPr/>
        </p:nvPicPr>
        <p:blipFill>
          <a:blip r:embed="rId3"/>
          <a:stretch>
            <a:fillRect/>
          </a:stretch>
        </p:blipFill>
        <p:spPr>
          <a:xfrm>
            <a:off x="629560" y="2404872"/>
            <a:ext cx="2169880" cy="3694176"/>
          </a:xfrm>
          <a:prstGeom prst="rect">
            <a:avLst/>
          </a:prstGeom>
        </p:spPr>
      </p:pic>
      <p:sp>
        <p:nvSpPr>
          <p:cNvPr id="7" name="W 3022"/>
          <p:cNvSpPr/>
          <p:nvPr/>
        </p:nvSpPr>
        <p:spPr>
          <a:xfrm>
            <a:off x="629560" y="2404872"/>
            <a:ext cx="2169880" cy="3694176"/>
          </a:xfrm>
          <a:prstGeom prst="rect">
            <a:avLst/>
          </a:prstGeom>
          <a:noFill/>
          <a:ln w="6350">
            <a:solidFill>
              <a:srgbClr val="E5E7EB"/>
            </a:solidFill>
          </a:ln>
        </p:spPr>
        <p:txBody>
          <a:bodyPr/>
          <a:lstStyle/>
          <a:p>
            <a:endParaRPr/>
          </a:p>
        </p:txBody>
      </p:sp>
      <p:sp>
        <p:nvSpPr>
          <p:cNvPr id="3023" name="W 3023"/>
          <p:cNvSpPr/>
          <p:nvPr/>
        </p:nvSpPr>
        <p:spPr>
          <a:xfrm>
            <a:off x="3154680" y="1993392"/>
            <a:ext cx="4198468" cy="2011680"/>
          </a:xfrm>
          <a:prstGeom prst="roundRect">
            <a:avLst>
              <a:gd name="adj" fmla="val 4545"/>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3024" name="W 3024"/>
          <p:cNvSpPr/>
          <p:nvPr/>
        </p:nvSpPr>
        <p:spPr>
          <a:xfrm>
            <a:off x="3319272" y="2157984"/>
            <a:ext cx="3869284" cy="1170432"/>
          </a:xfrm>
          <a:prstGeom prst="roundRect">
            <a:avLst>
              <a:gd name="adj" fmla="val 4687"/>
            </a:avLst>
          </a:prstGeom>
          <a:solidFill>
            <a:srgbClr val="F2F3F5"/>
          </a:solidFill>
          <a:ln>
            <a:noFill/>
          </a:ln>
          <a:effectLst>
            <a:outerShdw blurRad="38100" dist="25400" dir="5400000" algn="t" rotWithShape="0">
              <a:srgbClr val="000000">
                <a:alpha val="8000"/>
              </a:srgbClr>
            </a:outerShdw>
          </a:effectLst>
        </p:spPr>
        <p:txBody>
          <a:bodyPr/>
          <a:lstStyle/>
          <a:p>
            <a:endParaRPr/>
          </a:p>
        </p:txBody>
      </p:sp>
      <p:pic>
        <p:nvPicPr>
          <p:cNvPr id="3025" name="Picture 3024" descr="f_sel.png"/>
          <p:cNvPicPr>
            <a:picLocks noChangeAspect="1"/>
          </p:cNvPicPr>
          <p:nvPr/>
        </p:nvPicPr>
        <p:blipFill>
          <a:blip r:embed="rId4"/>
          <a:stretch>
            <a:fillRect/>
          </a:stretch>
        </p:blipFill>
        <p:spPr>
          <a:xfrm>
            <a:off x="3392424" y="2586167"/>
            <a:ext cx="3722980" cy="314065"/>
          </a:xfrm>
          <a:prstGeom prst="rect">
            <a:avLst/>
          </a:prstGeom>
        </p:spPr>
      </p:pic>
      <p:sp>
        <p:nvSpPr>
          <p:cNvPr id="8" name="W 3025"/>
          <p:cNvSpPr txBox="1"/>
          <p:nvPr/>
        </p:nvSpPr>
        <p:spPr>
          <a:xfrm>
            <a:off x="3374136" y="3419856"/>
            <a:ext cx="3759556" cy="274320"/>
          </a:xfrm>
          <a:prstGeom prst="rect">
            <a:avLst/>
          </a:prstGeom>
          <a:noFill/>
        </p:spPr>
        <p:txBody>
          <a:bodyPr wrap="square" lIns="0" tIns="0" rIns="0" bIns="0" rtlCol="0" anchor="ctr"/>
          <a:lstStyle/>
          <a:p>
            <a:pPr algn="l"/>
            <a:r>
              <a:rPr lang="ko-KR" sz="1350" b="1" dirty="0">
                <a:solidFill>
                  <a:srgbClr val="222222"/>
                </a:solidFill>
                <a:latin typeface="에이투지체 5 Medium"/>
                <a:ea typeface="에이투지체 5 Medium"/>
                <a:cs typeface="에이투지체 5 Medium"/>
              </a:rPr>
              <a:t>기간 · 지역 선택</a:t>
            </a:r>
          </a:p>
        </p:txBody>
      </p:sp>
      <p:sp>
        <p:nvSpPr>
          <p:cNvPr id="3026" name="W 3026"/>
          <p:cNvSpPr txBox="1"/>
          <p:nvPr/>
        </p:nvSpPr>
        <p:spPr>
          <a:xfrm>
            <a:off x="3374136" y="3694176"/>
            <a:ext cx="3759556" cy="256032"/>
          </a:xfrm>
          <a:prstGeom prst="rect">
            <a:avLst/>
          </a:prstGeom>
          <a:noFill/>
        </p:spPr>
        <p:txBody>
          <a:bodyPr wrap="square" lIns="0" tIns="0" rIns="0" bIns="0" rtlCol="0" anchor="ctr"/>
          <a:lstStyle/>
          <a:p>
            <a:pPr algn="l"/>
            <a:r>
              <a:rPr lang="ko-KR" sz="1050" dirty="0">
                <a:solidFill>
                  <a:srgbClr val="45515E"/>
                </a:solidFill>
                <a:latin typeface="에이투지체 5 Medium"/>
                <a:ea typeface="에이투지체 5 Medium"/>
                <a:cs typeface="에이투지체 5 Medium"/>
              </a:rPr>
              <a:t>1~6개월 예측 범위와 지역(서울 전체 · 자치구) 선택</a:t>
            </a:r>
          </a:p>
        </p:txBody>
      </p:sp>
      <p:sp>
        <p:nvSpPr>
          <p:cNvPr id="3027" name="W 3027"/>
          <p:cNvSpPr/>
          <p:nvPr/>
        </p:nvSpPr>
        <p:spPr>
          <a:xfrm>
            <a:off x="7536028" y="1993392"/>
            <a:ext cx="4198468" cy="2011680"/>
          </a:xfrm>
          <a:prstGeom prst="roundRect">
            <a:avLst>
              <a:gd name="adj" fmla="val 4545"/>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3028" name="W 3028"/>
          <p:cNvSpPr/>
          <p:nvPr/>
        </p:nvSpPr>
        <p:spPr>
          <a:xfrm>
            <a:off x="7700620" y="2157984"/>
            <a:ext cx="3869284" cy="1170432"/>
          </a:xfrm>
          <a:prstGeom prst="roundRect">
            <a:avLst>
              <a:gd name="adj" fmla="val 4687"/>
            </a:avLst>
          </a:prstGeom>
          <a:solidFill>
            <a:srgbClr val="F2F3F5"/>
          </a:solidFill>
          <a:ln>
            <a:noFill/>
          </a:ln>
          <a:effectLst>
            <a:outerShdw blurRad="38100" dist="25400" dir="5400000" algn="t" rotWithShape="0">
              <a:srgbClr val="000000">
                <a:alpha val="8000"/>
              </a:srgbClr>
            </a:outerShdw>
          </a:effectLst>
        </p:spPr>
        <p:txBody>
          <a:bodyPr/>
          <a:lstStyle/>
          <a:p>
            <a:endParaRPr/>
          </a:p>
        </p:txBody>
      </p:sp>
      <p:pic>
        <p:nvPicPr>
          <p:cNvPr id="3029" name="Picture 3028" descr="f_kpi.png"/>
          <p:cNvPicPr>
            <a:picLocks noChangeAspect="1"/>
          </p:cNvPicPr>
          <p:nvPr/>
        </p:nvPicPr>
        <p:blipFill>
          <a:blip r:embed="rId5"/>
          <a:stretch>
            <a:fillRect/>
          </a:stretch>
        </p:blipFill>
        <p:spPr>
          <a:xfrm>
            <a:off x="7948114" y="2231136"/>
            <a:ext cx="3374295" cy="1024128"/>
          </a:xfrm>
          <a:prstGeom prst="rect">
            <a:avLst/>
          </a:prstGeom>
        </p:spPr>
      </p:pic>
      <p:sp>
        <p:nvSpPr>
          <p:cNvPr id="9" name="W 3029"/>
          <p:cNvSpPr txBox="1"/>
          <p:nvPr/>
        </p:nvSpPr>
        <p:spPr>
          <a:xfrm>
            <a:off x="7755484" y="3419856"/>
            <a:ext cx="3759556" cy="274320"/>
          </a:xfrm>
          <a:prstGeom prst="rect">
            <a:avLst/>
          </a:prstGeom>
          <a:noFill/>
        </p:spPr>
        <p:txBody>
          <a:bodyPr wrap="square" lIns="0" tIns="0" rIns="0" bIns="0" rtlCol="0" anchor="ctr"/>
          <a:lstStyle/>
          <a:p>
            <a:pPr algn="l"/>
            <a:r>
              <a:rPr lang="ko-KR" sz="1350" b="1" dirty="0">
                <a:solidFill>
                  <a:srgbClr val="222222"/>
                </a:solidFill>
                <a:latin typeface="에이투지체 5 Medium"/>
                <a:ea typeface="에이투지체 5 Medium"/>
                <a:cs typeface="에이투지체 5 Medium"/>
              </a:rPr>
              <a:t>핵심 지표</a:t>
            </a:r>
          </a:p>
        </p:txBody>
      </p:sp>
      <p:sp>
        <p:nvSpPr>
          <p:cNvPr id="3030" name="W 3030"/>
          <p:cNvSpPr txBox="1"/>
          <p:nvPr/>
        </p:nvSpPr>
        <p:spPr>
          <a:xfrm>
            <a:off x="7755484" y="3694176"/>
            <a:ext cx="3759556" cy="256032"/>
          </a:xfrm>
          <a:prstGeom prst="rect">
            <a:avLst/>
          </a:prstGeom>
          <a:noFill/>
        </p:spPr>
        <p:txBody>
          <a:bodyPr wrap="square" lIns="0" tIns="0" rIns="0" bIns="0" rtlCol="0" anchor="ctr"/>
          <a:lstStyle/>
          <a:p>
            <a:pPr algn="l"/>
            <a:r>
              <a:rPr lang="ko-KR" sz="1050" dirty="0">
                <a:solidFill>
                  <a:srgbClr val="45515E"/>
                </a:solidFill>
                <a:latin typeface="에이투지체 5 Medium"/>
                <a:ea typeface="에이투지체 5 Medium"/>
                <a:cs typeface="에이투지체 5 Medium"/>
              </a:rPr>
              <a:t>예상 이송량 · 피크 예상 월 · 증가율 1위 지역 · 정확도</a:t>
            </a:r>
          </a:p>
        </p:txBody>
      </p:sp>
      <p:sp>
        <p:nvSpPr>
          <p:cNvPr id="3031" name="W 3031"/>
          <p:cNvSpPr/>
          <p:nvPr/>
        </p:nvSpPr>
        <p:spPr>
          <a:xfrm>
            <a:off x="3154680" y="4178808"/>
            <a:ext cx="4198468" cy="2011680"/>
          </a:xfrm>
          <a:prstGeom prst="roundRect">
            <a:avLst>
              <a:gd name="adj" fmla="val 4545"/>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3032" name="W 3032"/>
          <p:cNvSpPr/>
          <p:nvPr/>
        </p:nvSpPr>
        <p:spPr>
          <a:xfrm>
            <a:off x="3319272" y="4343400"/>
            <a:ext cx="3869284" cy="1170432"/>
          </a:xfrm>
          <a:prstGeom prst="roundRect">
            <a:avLst>
              <a:gd name="adj" fmla="val 4687"/>
            </a:avLst>
          </a:prstGeom>
          <a:solidFill>
            <a:srgbClr val="F2F3F5"/>
          </a:solidFill>
          <a:ln>
            <a:noFill/>
          </a:ln>
          <a:effectLst>
            <a:outerShdw blurRad="38100" dist="25400" dir="5400000" algn="t" rotWithShape="0">
              <a:srgbClr val="000000">
                <a:alpha val="8000"/>
              </a:srgbClr>
            </a:outerShdw>
          </a:effectLst>
        </p:spPr>
        <p:txBody>
          <a:bodyPr/>
          <a:lstStyle/>
          <a:p>
            <a:endParaRPr/>
          </a:p>
        </p:txBody>
      </p:sp>
      <p:pic>
        <p:nvPicPr>
          <p:cNvPr id="3033" name="Picture 3032" descr="f_rank.png"/>
          <p:cNvPicPr>
            <a:picLocks noChangeAspect="1"/>
          </p:cNvPicPr>
          <p:nvPr/>
        </p:nvPicPr>
        <p:blipFill>
          <a:blip r:embed="rId6"/>
          <a:stretch>
            <a:fillRect/>
          </a:stretch>
        </p:blipFill>
        <p:spPr>
          <a:xfrm>
            <a:off x="3392424" y="4507114"/>
            <a:ext cx="3722980" cy="843004"/>
          </a:xfrm>
          <a:prstGeom prst="rect">
            <a:avLst/>
          </a:prstGeom>
        </p:spPr>
      </p:pic>
      <p:sp>
        <p:nvSpPr>
          <p:cNvPr id="10" name="W 3033"/>
          <p:cNvSpPr txBox="1"/>
          <p:nvPr/>
        </p:nvSpPr>
        <p:spPr>
          <a:xfrm>
            <a:off x="3374136" y="5605272"/>
            <a:ext cx="3759556" cy="274320"/>
          </a:xfrm>
          <a:prstGeom prst="rect">
            <a:avLst/>
          </a:prstGeom>
          <a:noFill/>
        </p:spPr>
        <p:txBody>
          <a:bodyPr wrap="square" lIns="0" tIns="0" rIns="0" bIns="0" rtlCol="0" anchor="ctr"/>
          <a:lstStyle/>
          <a:p>
            <a:pPr algn="l"/>
            <a:r>
              <a:rPr lang="ko-KR" sz="1350" b="1" dirty="0">
                <a:solidFill>
                  <a:srgbClr val="222222"/>
                </a:solidFill>
                <a:latin typeface="에이투지체 5 Medium"/>
                <a:ea typeface="에이투지체 5 Medium"/>
                <a:cs typeface="에이투지체 5 Medium"/>
              </a:rPr>
              <a:t>자치구별 예상 수요 순위</a:t>
            </a:r>
          </a:p>
        </p:txBody>
      </p:sp>
      <p:sp>
        <p:nvSpPr>
          <p:cNvPr id="3034" name="W 3034"/>
          <p:cNvSpPr txBox="1"/>
          <p:nvPr/>
        </p:nvSpPr>
        <p:spPr>
          <a:xfrm>
            <a:off x="3374136" y="5879592"/>
            <a:ext cx="3759556" cy="256032"/>
          </a:xfrm>
          <a:prstGeom prst="rect">
            <a:avLst/>
          </a:prstGeom>
          <a:noFill/>
        </p:spPr>
        <p:txBody>
          <a:bodyPr wrap="square" lIns="0" tIns="0" rIns="0" bIns="0" rtlCol="0" anchor="ctr"/>
          <a:lstStyle/>
          <a:p>
            <a:pPr algn="l"/>
            <a:r>
              <a:rPr lang="ko-KR" sz="1050" dirty="0">
                <a:solidFill>
                  <a:srgbClr val="45515E"/>
                </a:solidFill>
                <a:latin typeface="에이투지체 5 Medium"/>
                <a:ea typeface="에이투지체 5 Medium"/>
                <a:cs typeface="에이투지체 5 Medium"/>
              </a:rPr>
              <a:t>월평균 예상 이송 건수 순위, 클릭 시 해당 구로 전환</a:t>
            </a:r>
          </a:p>
        </p:txBody>
      </p:sp>
      <p:sp>
        <p:nvSpPr>
          <p:cNvPr id="3035" name="W 3035"/>
          <p:cNvSpPr/>
          <p:nvPr/>
        </p:nvSpPr>
        <p:spPr>
          <a:xfrm>
            <a:off x="7536028" y="4178808"/>
            <a:ext cx="4198468" cy="2011680"/>
          </a:xfrm>
          <a:prstGeom prst="roundRect">
            <a:avLst>
              <a:gd name="adj" fmla="val 4545"/>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3036" name="W 3036"/>
          <p:cNvSpPr/>
          <p:nvPr/>
        </p:nvSpPr>
        <p:spPr>
          <a:xfrm>
            <a:off x="7700620" y="4343400"/>
            <a:ext cx="3869284" cy="1170432"/>
          </a:xfrm>
          <a:prstGeom prst="roundRect">
            <a:avLst>
              <a:gd name="adj" fmla="val 4687"/>
            </a:avLst>
          </a:prstGeom>
          <a:solidFill>
            <a:srgbClr val="F2F3F5"/>
          </a:solidFill>
          <a:ln>
            <a:noFill/>
          </a:ln>
          <a:effectLst>
            <a:outerShdw blurRad="38100" dist="25400" dir="5400000" algn="t" rotWithShape="0">
              <a:srgbClr val="000000">
                <a:alpha val="8000"/>
              </a:srgbClr>
            </a:outerShdw>
          </a:effectLst>
        </p:spPr>
        <p:txBody>
          <a:bodyPr/>
          <a:lstStyle/>
          <a:p>
            <a:endParaRPr/>
          </a:p>
        </p:txBody>
      </p:sp>
      <p:pic>
        <p:nvPicPr>
          <p:cNvPr id="3037" name="Picture 3036" descr="image.png"/>
          <p:cNvPicPr>
            <a:picLocks noChangeAspect="1"/>
          </p:cNvPicPr>
          <p:nvPr/>
        </p:nvPicPr>
        <p:blipFill>
          <a:blip r:embed="rId7"/>
          <a:stretch>
            <a:fillRect/>
          </a:stretch>
        </p:blipFill>
        <p:spPr>
          <a:xfrm>
            <a:off x="7773772" y="4750928"/>
            <a:ext cx="3722980" cy="355375"/>
          </a:xfrm>
          <a:prstGeom prst="rect">
            <a:avLst/>
          </a:prstGeom>
        </p:spPr>
      </p:pic>
      <p:sp>
        <p:nvSpPr>
          <p:cNvPr id="11" name="W 3037"/>
          <p:cNvSpPr txBox="1"/>
          <p:nvPr/>
        </p:nvSpPr>
        <p:spPr>
          <a:xfrm>
            <a:off x="7755484" y="5605272"/>
            <a:ext cx="3759556" cy="274320"/>
          </a:xfrm>
          <a:prstGeom prst="rect">
            <a:avLst/>
          </a:prstGeom>
          <a:noFill/>
        </p:spPr>
        <p:txBody>
          <a:bodyPr wrap="square" lIns="0" tIns="0" rIns="0" bIns="0" rtlCol="0" anchor="ctr"/>
          <a:lstStyle/>
          <a:p>
            <a:pPr algn="l"/>
            <a:r>
              <a:rPr lang="ko-KR" sz="1350" b="1" dirty="0">
                <a:solidFill>
                  <a:srgbClr val="222222"/>
                </a:solidFill>
                <a:latin typeface="에이투지체 5 Medium"/>
                <a:ea typeface="에이투지체 5 Medium"/>
                <a:cs typeface="에이투지체 5 Medium"/>
              </a:rPr>
              <a:t>상세 분석</a:t>
            </a:r>
          </a:p>
        </p:txBody>
      </p:sp>
      <p:sp>
        <p:nvSpPr>
          <p:cNvPr id="3038" name="W 3038"/>
          <p:cNvSpPr txBox="1"/>
          <p:nvPr/>
        </p:nvSpPr>
        <p:spPr>
          <a:xfrm>
            <a:off x="7755484" y="5879592"/>
            <a:ext cx="3759556" cy="256032"/>
          </a:xfrm>
          <a:prstGeom prst="rect">
            <a:avLst/>
          </a:prstGeom>
          <a:noFill/>
        </p:spPr>
        <p:txBody>
          <a:bodyPr wrap="square" lIns="0" tIns="0" rIns="0" bIns="0" rtlCol="0" anchor="ctr"/>
          <a:lstStyle/>
          <a:p>
            <a:pPr algn="l"/>
            <a:r>
              <a:rPr lang="ko-KR" sz="1000" dirty="0">
                <a:solidFill>
                  <a:srgbClr val="45515E"/>
                </a:solidFill>
                <a:latin typeface="에이투지체 5 Medium"/>
                <a:ea typeface="에이투지체 5 Medium"/>
                <a:cs typeface="에이투지체 5 Medium"/>
              </a:rPr>
              <a:t>평가 정확도 · 생활인구 · 이송×인구 · 사고 유형 · 모델 명세</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05  웹 서비스</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a:ea typeface="에이투지체 5 Medium"/>
                <a:cs typeface="에이투지체 5 Medium"/>
              </a:rPr>
              <a:t>실시간 응급실 병상 관제</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공공데이터 API 연계, 서울시 25개 자치구 응급실 가용병상 실시간 조회</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39</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웹 서비스 화면 캡처 (2026.10.02) · README_v1 · 실시간_병상관제_v1</a:t>
            </a:r>
            <a:endParaRPr lang="en-US" sz="900" dirty="0"/>
          </a:p>
        </p:txBody>
      </p:sp>
      <p:sp>
        <p:nvSpPr>
          <p:cNvPr id="3039" name="W 3039"/>
          <p:cNvSpPr/>
          <p:nvPr/>
        </p:nvSpPr>
        <p:spPr>
          <a:xfrm>
            <a:off x="457200" y="1993392"/>
            <a:ext cx="2514600" cy="4197096"/>
          </a:xfrm>
          <a:prstGeom prst="roundRect">
            <a:avLst>
              <a:gd name="adj" fmla="val 3636"/>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3040" name="W 3040"/>
          <p:cNvSpPr txBox="1"/>
          <p:nvPr/>
        </p:nvSpPr>
        <p:spPr>
          <a:xfrm>
            <a:off x="640080" y="2103120"/>
            <a:ext cx="2148840" cy="256032"/>
          </a:xfrm>
          <a:prstGeom prst="rect">
            <a:avLst/>
          </a:prstGeom>
          <a:noFill/>
        </p:spPr>
        <p:txBody>
          <a:bodyPr wrap="square" lIns="0" tIns="0" rIns="0" bIns="0" rtlCol="0" anchor="ctr"/>
          <a:lstStyle/>
          <a:p>
            <a:pPr algn="ctr"/>
            <a:r>
              <a:rPr lang="ko-KR" sz="1100" b="1" dirty="0">
                <a:solidFill>
                  <a:srgbClr val="8E8E93"/>
                </a:solidFill>
                <a:latin typeface="에이투지체 5 Medium"/>
                <a:ea typeface="에이투지체 5 Medium"/>
                <a:cs typeface="에이투지체 5 Medium"/>
              </a:rPr>
              <a:t>전체 화면</a:t>
            </a:r>
          </a:p>
        </p:txBody>
      </p:sp>
      <p:pic>
        <p:nvPicPr>
          <p:cNvPr id="3041" name="Picture 3040" descr="f_beds_full.png"/>
          <p:cNvPicPr>
            <a:picLocks noChangeAspect="1"/>
          </p:cNvPicPr>
          <p:nvPr/>
        </p:nvPicPr>
        <p:blipFill>
          <a:blip r:embed="rId3"/>
          <a:stretch>
            <a:fillRect/>
          </a:stretch>
        </p:blipFill>
        <p:spPr>
          <a:xfrm>
            <a:off x="594360" y="2404872"/>
            <a:ext cx="2240280" cy="3615923"/>
          </a:xfrm>
          <a:prstGeom prst="rect">
            <a:avLst/>
          </a:prstGeom>
        </p:spPr>
      </p:pic>
      <p:sp>
        <p:nvSpPr>
          <p:cNvPr id="7" name="W 3041"/>
          <p:cNvSpPr/>
          <p:nvPr/>
        </p:nvSpPr>
        <p:spPr>
          <a:xfrm>
            <a:off x="594360" y="2404872"/>
            <a:ext cx="2240280" cy="3615923"/>
          </a:xfrm>
          <a:prstGeom prst="rect">
            <a:avLst/>
          </a:prstGeom>
          <a:noFill/>
          <a:ln w="6350">
            <a:solidFill>
              <a:srgbClr val="E5E7EB"/>
            </a:solidFill>
          </a:ln>
        </p:spPr>
        <p:txBody>
          <a:bodyPr/>
          <a:lstStyle/>
          <a:p>
            <a:endParaRPr/>
          </a:p>
        </p:txBody>
      </p:sp>
      <p:sp>
        <p:nvSpPr>
          <p:cNvPr id="3042" name="W 3042"/>
          <p:cNvSpPr/>
          <p:nvPr/>
        </p:nvSpPr>
        <p:spPr>
          <a:xfrm>
            <a:off x="3154680" y="1993392"/>
            <a:ext cx="4198468" cy="2011680"/>
          </a:xfrm>
          <a:prstGeom prst="roundRect">
            <a:avLst>
              <a:gd name="adj" fmla="val 4545"/>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3043" name="W 3043"/>
          <p:cNvSpPr/>
          <p:nvPr/>
        </p:nvSpPr>
        <p:spPr>
          <a:xfrm>
            <a:off x="3319272" y="2157984"/>
            <a:ext cx="3869284" cy="1170432"/>
          </a:xfrm>
          <a:prstGeom prst="roundRect">
            <a:avLst>
              <a:gd name="adj" fmla="val 4687"/>
            </a:avLst>
          </a:prstGeom>
          <a:solidFill>
            <a:srgbClr val="F2F3F5"/>
          </a:solidFill>
          <a:ln>
            <a:noFill/>
          </a:ln>
          <a:effectLst>
            <a:outerShdw blurRad="38100" dist="25400" dir="5400000" algn="t" rotWithShape="0">
              <a:srgbClr val="000000">
                <a:alpha val="8000"/>
              </a:srgbClr>
            </a:outerShdw>
          </a:effectLst>
        </p:spPr>
        <p:txBody>
          <a:bodyPr/>
          <a:lstStyle/>
          <a:p>
            <a:endParaRPr/>
          </a:p>
        </p:txBody>
      </p:sp>
      <p:pic>
        <p:nvPicPr>
          <p:cNvPr id="3044" name="Picture 3043" descr="f_bkpi.png"/>
          <p:cNvPicPr>
            <a:picLocks noChangeAspect="1"/>
          </p:cNvPicPr>
          <p:nvPr/>
        </p:nvPicPr>
        <p:blipFill>
          <a:blip r:embed="rId4"/>
          <a:stretch>
            <a:fillRect/>
          </a:stretch>
        </p:blipFill>
        <p:spPr>
          <a:xfrm>
            <a:off x="3392424" y="2351307"/>
            <a:ext cx="3722980" cy="783785"/>
          </a:xfrm>
          <a:prstGeom prst="rect">
            <a:avLst/>
          </a:prstGeom>
        </p:spPr>
      </p:pic>
      <p:sp>
        <p:nvSpPr>
          <p:cNvPr id="8" name="W 3044"/>
          <p:cNvSpPr txBox="1"/>
          <p:nvPr/>
        </p:nvSpPr>
        <p:spPr>
          <a:xfrm>
            <a:off x="3374136" y="3419856"/>
            <a:ext cx="3759556" cy="274320"/>
          </a:xfrm>
          <a:prstGeom prst="rect">
            <a:avLst/>
          </a:prstGeom>
          <a:noFill/>
        </p:spPr>
        <p:txBody>
          <a:bodyPr wrap="square" lIns="0" tIns="0" rIns="0" bIns="0" rtlCol="0" anchor="ctr"/>
          <a:lstStyle/>
          <a:p>
            <a:pPr algn="l"/>
            <a:r>
              <a:rPr lang="ko-KR" sz="1350" b="1" dirty="0">
                <a:solidFill>
                  <a:srgbClr val="222222"/>
                </a:solidFill>
                <a:latin typeface="에이투지체 5 Medium"/>
                <a:ea typeface="에이투지체 5 Medium"/>
                <a:cs typeface="에이투지체 5 Medium"/>
              </a:rPr>
              <a:t>실시간 현황</a:t>
            </a:r>
          </a:p>
        </p:txBody>
      </p:sp>
      <p:sp>
        <p:nvSpPr>
          <p:cNvPr id="3045" name="W 3045"/>
          <p:cNvSpPr txBox="1"/>
          <p:nvPr/>
        </p:nvSpPr>
        <p:spPr>
          <a:xfrm>
            <a:off x="3374136" y="3694176"/>
            <a:ext cx="3759556" cy="256032"/>
          </a:xfrm>
          <a:prstGeom prst="rect">
            <a:avLst/>
          </a:prstGeom>
          <a:noFill/>
        </p:spPr>
        <p:txBody>
          <a:bodyPr wrap="square" lIns="0" tIns="0" rIns="0" bIns="0" rtlCol="0" anchor="ctr"/>
          <a:lstStyle/>
          <a:p>
            <a:pPr algn="l"/>
            <a:r>
              <a:rPr lang="ko-KR" sz="1050" dirty="0">
                <a:solidFill>
                  <a:srgbClr val="45515E"/>
                </a:solidFill>
                <a:latin typeface="에이투지체 5 Medium"/>
                <a:ea typeface="에이투지체 5 Medium"/>
                <a:cs typeface="에이투지체 5 Medium"/>
              </a:rPr>
              <a:t>관제 대상 25개 구 · 총 가용병상 · 위험 / 주의 지역 수</a:t>
            </a:r>
          </a:p>
        </p:txBody>
      </p:sp>
      <p:sp>
        <p:nvSpPr>
          <p:cNvPr id="3046" name="W 3046"/>
          <p:cNvSpPr/>
          <p:nvPr/>
        </p:nvSpPr>
        <p:spPr>
          <a:xfrm>
            <a:off x="7536028" y="1993392"/>
            <a:ext cx="4198468" cy="2011680"/>
          </a:xfrm>
          <a:prstGeom prst="roundRect">
            <a:avLst>
              <a:gd name="adj" fmla="val 4545"/>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3047" name="W 3047"/>
          <p:cNvSpPr/>
          <p:nvPr/>
        </p:nvSpPr>
        <p:spPr>
          <a:xfrm>
            <a:off x="7700620" y="2157984"/>
            <a:ext cx="3869284" cy="1170432"/>
          </a:xfrm>
          <a:prstGeom prst="roundRect">
            <a:avLst>
              <a:gd name="adj" fmla="val 4687"/>
            </a:avLst>
          </a:prstGeom>
          <a:solidFill>
            <a:srgbClr val="F2F3F5"/>
          </a:solidFill>
          <a:ln>
            <a:noFill/>
          </a:ln>
          <a:effectLst>
            <a:outerShdw blurRad="38100" dist="25400" dir="5400000" algn="t" rotWithShape="0">
              <a:srgbClr val="000000">
                <a:alpha val="8000"/>
              </a:srgbClr>
            </a:outerShdw>
          </a:effectLst>
        </p:spPr>
        <p:txBody>
          <a:bodyPr/>
          <a:lstStyle/>
          <a:p>
            <a:endParaRPr/>
          </a:p>
        </p:txBody>
      </p:sp>
      <p:pic>
        <p:nvPicPr>
          <p:cNvPr id="3048" name="Picture 3047" descr="f_search.png"/>
          <p:cNvPicPr>
            <a:picLocks noChangeAspect="1"/>
          </p:cNvPicPr>
          <p:nvPr/>
        </p:nvPicPr>
        <p:blipFill>
          <a:blip r:embed="rId5"/>
          <a:stretch>
            <a:fillRect/>
          </a:stretch>
        </p:blipFill>
        <p:spPr>
          <a:xfrm>
            <a:off x="7773772" y="2547254"/>
            <a:ext cx="3722980" cy="391893"/>
          </a:xfrm>
          <a:prstGeom prst="rect">
            <a:avLst/>
          </a:prstGeom>
        </p:spPr>
      </p:pic>
      <p:sp>
        <p:nvSpPr>
          <p:cNvPr id="9" name="W 3048"/>
          <p:cNvSpPr txBox="1"/>
          <p:nvPr/>
        </p:nvSpPr>
        <p:spPr>
          <a:xfrm>
            <a:off x="7755484" y="3419856"/>
            <a:ext cx="3759556" cy="274320"/>
          </a:xfrm>
          <a:prstGeom prst="rect">
            <a:avLst/>
          </a:prstGeom>
          <a:noFill/>
        </p:spPr>
        <p:txBody>
          <a:bodyPr wrap="square" lIns="0" tIns="0" rIns="0" bIns="0" rtlCol="0" anchor="ctr"/>
          <a:lstStyle/>
          <a:p>
            <a:pPr algn="l"/>
            <a:r>
              <a:rPr lang="ko-KR" sz="1350" b="1" dirty="0">
                <a:solidFill>
                  <a:srgbClr val="222222"/>
                </a:solidFill>
                <a:latin typeface="에이투지체 5 Medium"/>
                <a:ea typeface="에이투지체 5 Medium"/>
                <a:cs typeface="에이투지체 5 Medium"/>
              </a:rPr>
              <a:t>검색 · 필터</a:t>
            </a:r>
          </a:p>
        </p:txBody>
      </p:sp>
      <p:sp>
        <p:nvSpPr>
          <p:cNvPr id="3049" name="W 3049"/>
          <p:cNvSpPr txBox="1"/>
          <p:nvPr/>
        </p:nvSpPr>
        <p:spPr>
          <a:xfrm>
            <a:off x="7755484" y="3694176"/>
            <a:ext cx="3759556" cy="256032"/>
          </a:xfrm>
          <a:prstGeom prst="rect">
            <a:avLst/>
          </a:prstGeom>
          <a:noFill/>
        </p:spPr>
        <p:txBody>
          <a:bodyPr wrap="square" lIns="0" tIns="0" rIns="0" bIns="0" rtlCol="0" anchor="ctr"/>
          <a:lstStyle/>
          <a:p>
            <a:pPr algn="l"/>
            <a:r>
              <a:rPr lang="ko-KR" sz="1050" dirty="0">
                <a:solidFill>
                  <a:srgbClr val="45515E"/>
                </a:solidFill>
                <a:latin typeface="에이투지체 5 Medium"/>
                <a:ea typeface="에이투지체 5 Medium"/>
                <a:cs typeface="에이투지체 5 Medium"/>
              </a:rPr>
              <a:t>자치구 · 병원명 검색, 권역 · 위험도별 필터</a:t>
            </a:r>
          </a:p>
        </p:txBody>
      </p:sp>
      <p:sp>
        <p:nvSpPr>
          <p:cNvPr id="3050" name="W 3050"/>
          <p:cNvSpPr/>
          <p:nvPr/>
        </p:nvSpPr>
        <p:spPr>
          <a:xfrm>
            <a:off x="3154680" y="4178808"/>
            <a:ext cx="4198468" cy="2011680"/>
          </a:xfrm>
          <a:prstGeom prst="roundRect">
            <a:avLst>
              <a:gd name="adj" fmla="val 4545"/>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3051" name="W 3051"/>
          <p:cNvSpPr/>
          <p:nvPr/>
        </p:nvSpPr>
        <p:spPr>
          <a:xfrm>
            <a:off x="3319272" y="4343400"/>
            <a:ext cx="3869284" cy="1170432"/>
          </a:xfrm>
          <a:prstGeom prst="roundRect">
            <a:avLst>
              <a:gd name="adj" fmla="val 4687"/>
            </a:avLst>
          </a:prstGeom>
          <a:solidFill>
            <a:srgbClr val="F2F3F5"/>
          </a:solidFill>
          <a:ln>
            <a:noFill/>
          </a:ln>
          <a:effectLst>
            <a:outerShdw blurRad="38100" dist="25400" dir="5400000" algn="t" rotWithShape="0">
              <a:srgbClr val="000000">
                <a:alpha val="8000"/>
              </a:srgbClr>
            </a:outerShdw>
          </a:effectLst>
        </p:spPr>
        <p:txBody>
          <a:bodyPr/>
          <a:lstStyle/>
          <a:p>
            <a:endParaRPr/>
          </a:p>
        </p:txBody>
      </p:sp>
      <p:pic>
        <p:nvPicPr>
          <p:cNvPr id="3052" name="Picture 3051" descr="f_hosp.png"/>
          <p:cNvPicPr>
            <a:picLocks noChangeAspect="1"/>
          </p:cNvPicPr>
          <p:nvPr/>
        </p:nvPicPr>
        <p:blipFill>
          <a:blip r:embed="rId6"/>
          <a:stretch>
            <a:fillRect/>
          </a:stretch>
        </p:blipFill>
        <p:spPr>
          <a:xfrm>
            <a:off x="4171375" y="4416552"/>
            <a:ext cx="2165077" cy="1024128"/>
          </a:xfrm>
          <a:prstGeom prst="rect">
            <a:avLst/>
          </a:prstGeom>
        </p:spPr>
      </p:pic>
      <p:sp>
        <p:nvSpPr>
          <p:cNvPr id="10" name="W 3052"/>
          <p:cNvSpPr txBox="1"/>
          <p:nvPr/>
        </p:nvSpPr>
        <p:spPr>
          <a:xfrm>
            <a:off x="3374136" y="5605272"/>
            <a:ext cx="3759556" cy="274320"/>
          </a:xfrm>
          <a:prstGeom prst="rect">
            <a:avLst/>
          </a:prstGeom>
          <a:noFill/>
        </p:spPr>
        <p:txBody>
          <a:bodyPr wrap="square" lIns="0" tIns="0" rIns="0" bIns="0" rtlCol="0" anchor="ctr"/>
          <a:lstStyle/>
          <a:p>
            <a:pPr algn="l"/>
            <a:r>
              <a:rPr lang="ko-KR" sz="1350" b="1" dirty="0">
                <a:solidFill>
                  <a:srgbClr val="222222"/>
                </a:solidFill>
                <a:latin typeface="에이투지체 5 Medium"/>
                <a:ea typeface="에이투지체 5 Medium"/>
                <a:cs typeface="에이투지체 5 Medium"/>
              </a:rPr>
              <a:t>병원별 가용병상</a:t>
            </a:r>
          </a:p>
        </p:txBody>
      </p:sp>
      <p:sp>
        <p:nvSpPr>
          <p:cNvPr id="3053" name="W 3053"/>
          <p:cNvSpPr txBox="1"/>
          <p:nvPr/>
        </p:nvSpPr>
        <p:spPr>
          <a:xfrm>
            <a:off x="3374136" y="5879592"/>
            <a:ext cx="3759556" cy="256032"/>
          </a:xfrm>
          <a:prstGeom prst="rect">
            <a:avLst/>
          </a:prstGeom>
          <a:noFill/>
        </p:spPr>
        <p:txBody>
          <a:bodyPr wrap="square" lIns="0" tIns="0" rIns="0" bIns="0" rtlCol="0" anchor="ctr"/>
          <a:lstStyle/>
          <a:p>
            <a:pPr algn="l"/>
            <a:r>
              <a:rPr lang="ko-KR" sz="1050" dirty="0">
                <a:solidFill>
                  <a:srgbClr val="45515E"/>
                </a:solidFill>
                <a:latin typeface="에이투지체 5 Medium"/>
                <a:ea typeface="에이투지체 5 Medium"/>
                <a:cs typeface="에이투지체 5 Medium"/>
              </a:rPr>
              <a:t>자치구별 병원 가용병상 · 연락처 · 갱신 시각</a:t>
            </a:r>
          </a:p>
        </p:txBody>
      </p:sp>
      <p:sp>
        <p:nvSpPr>
          <p:cNvPr id="3054" name="W 3054"/>
          <p:cNvSpPr/>
          <p:nvPr/>
        </p:nvSpPr>
        <p:spPr>
          <a:xfrm>
            <a:off x="7536028" y="4178808"/>
            <a:ext cx="4198468" cy="2011680"/>
          </a:xfrm>
          <a:prstGeom prst="roundRect">
            <a:avLst>
              <a:gd name="adj" fmla="val 4545"/>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3055" name="W 3055"/>
          <p:cNvSpPr txBox="1"/>
          <p:nvPr/>
        </p:nvSpPr>
        <p:spPr>
          <a:xfrm>
            <a:off x="7755484" y="4315968"/>
            <a:ext cx="3759556" cy="274320"/>
          </a:xfrm>
          <a:prstGeom prst="rect">
            <a:avLst/>
          </a:prstGeom>
          <a:noFill/>
        </p:spPr>
        <p:txBody>
          <a:bodyPr wrap="square" lIns="0" tIns="0" rIns="0" bIns="0" rtlCol="0" anchor="ctr"/>
          <a:lstStyle/>
          <a:p>
            <a:pPr algn="l"/>
            <a:r>
              <a:rPr lang="ko-KR" sz="1350" b="1" dirty="0">
                <a:solidFill>
                  <a:srgbClr val="222222"/>
                </a:solidFill>
                <a:latin typeface="에이투지체 5 Medium"/>
                <a:ea typeface="에이투지체 5 Medium"/>
                <a:cs typeface="에이투지체 5 Medium"/>
              </a:rPr>
              <a:t>위험도 기준</a:t>
            </a:r>
          </a:p>
        </p:txBody>
      </p:sp>
      <p:sp>
        <p:nvSpPr>
          <p:cNvPr id="3056" name="W 3056"/>
          <p:cNvSpPr txBox="1"/>
          <p:nvPr/>
        </p:nvSpPr>
        <p:spPr>
          <a:xfrm>
            <a:off x="7755484" y="4608576"/>
            <a:ext cx="3759556" cy="256032"/>
          </a:xfrm>
          <a:prstGeom prst="rect">
            <a:avLst/>
          </a:prstGeom>
          <a:noFill/>
        </p:spPr>
        <p:txBody>
          <a:bodyPr wrap="square" lIns="0" tIns="0" rIns="0" bIns="0" rtlCol="0" anchor="ctr"/>
          <a:lstStyle/>
          <a:p>
            <a:pPr algn="l"/>
            <a:r>
              <a:rPr lang="ko-KR" sz="1050" dirty="0">
                <a:solidFill>
                  <a:srgbClr val="45515E"/>
                </a:solidFill>
                <a:latin typeface="에이투지체 5 Medium"/>
                <a:ea typeface="에이투지체 5 Medium"/>
                <a:cs typeface="에이투지체 5 Medium"/>
              </a:rPr>
              <a:t>자치구 가용병상 합계 기준 · 1시간 간격 갱신 (일 최대 3회)</a:t>
            </a:r>
          </a:p>
        </p:txBody>
      </p:sp>
      <p:sp>
        <p:nvSpPr>
          <p:cNvPr id="3057" name="W 3057"/>
          <p:cNvSpPr/>
          <p:nvPr/>
        </p:nvSpPr>
        <p:spPr>
          <a:xfrm>
            <a:off x="7755484" y="4983480"/>
            <a:ext cx="1143457" cy="365760"/>
          </a:xfrm>
          <a:prstGeom prst="roundRect">
            <a:avLst>
              <a:gd name="adj" fmla="val 50000"/>
            </a:avLst>
          </a:prstGeom>
          <a:solidFill>
            <a:srgbClr val="D62828"/>
          </a:solidFill>
          <a:ln>
            <a:noFill/>
          </a:ln>
          <a:effectLst>
            <a:outerShdw blurRad="38100" dist="25400" dir="5400000" algn="t" rotWithShape="0">
              <a:srgbClr val="000000">
                <a:alpha val="8000"/>
              </a:srgbClr>
            </a:outerShdw>
          </a:effectLst>
        </p:spPr>
        <p:txBody>
          <a:bodyPr/>
          <a:lstStyle/>
          <a:p>
            <a:endParaRPr/>
          </a:p>
        </p:txBody>
      </p:sp>
      <p:sp>
        <p:nvSpPr>
          <p:cNvPr id="3058" name="W 3058"/>
          <p:cNvSpPr txBox="1"/>
          <p:nvPr/>
        </p:nvSpPr>
        <p:spPr>
          <a:xfrm>
            <a:off x="7755484" y="4983480"/>
            <a:ext cx="1143457" cy="365760"/>
          </a:xfrm>
          <a:prstGeom prst="rect">
            <a:avLst/>
          </a:prstGeom>
          <a:noFill/>
        </p:spPr>
        <p:txBody>
          <a:bodyPr wrap="square" lIns="0" tIns="0" rIns="0" bIns="0" rtlCol="0" anchor="ctr"/>
          <a:lstStyle/>
          <a:p>
            <a:pPr algn="ctr"/>
            <a:r>
              <a:rPr lang="ko-KR" sz="1150" b="1" dirty="0">
                <a:solidFill>
                  <a:srgbClr val="FFFFFF"/>
                </a:solidFill>
                <a:latin typeface="에이투지체 5 Medium"/>
                <a:ea typeface="에이투지체 5 Medium"/>
                <a:cs typeface="에이투지체 5 Medium"/>
              </a:rPr>
              <a:t>위험</a:t>
            </a:r>
          </a:p>
        </p:txBody>
      </p:sp>
      <p:sp>
        <p:nvSpPr>
          <p:cNvPr id="3059" name="W 3059"/>
          <p:cNvSpPr txBox="1"/>
          <p:nvPr/>
        </p:nvSpPr>
        <p:spPr>
          <a:xfrm>
            <a:off x="7755484" y="5394960"/>
            <a:ext cx="1143457" cy="256032"/>
          </a:xfrm>
          <a:prstGeom prst="rect">
            <a:avLst/>
          </a:prstGeom>
          <a:noFill/>
        </p:spPr>
        <p:txBody>
          <a:bodyPr wrap="square" lIns="0" tIns="0" rIns="0" bIns="0" rtlCol="0" anchor="ctr"/>
          <a:lstStyle/>
          <a:p>
            <a:pPr algn="ctr"/>
            <a:r>
              <a:rPr lang="ko-KR" sz="1050" b="1" dirty="0">
                <a:solidFill>
                  <a:srgbClr val="222222"/>
                </a:solidFill>
                <a:latin typeface="에이투지체 5 Medium"/>
                <a:ea typeface="에이투지체 5 Medium"/>
                <a:cs typeface="에이투지체 5 Medium"/>
              </a:rPr>
              <a:t>5석 이하</a:t>
            </a:r>
          </a:p>
        </p:txBody>
      </p:sp>
      <p:sp>
        <p:nvSpPr>
          <p:cNvPr id="3060" name="W 3060"/>
          <p:cNvSpPr/>
          <p:nvPr/>
        </p:nvSpPr>
        <p:spPr>
          <a:xfrm>
            <a:off x="9008669" y="4983480"/>
            <a:ext cx="1143457" cy="365760"/>
          </a:xfrm>
          <a:prstGeom prst="roundRect">
            <a:avLst>
              <a:gd name="adj" fmla="val 50000"/>
            </a:avLst>
          </a:prstGeom>
          <a:solidFill>
            <a:srgbClr val="FDE3E3"/>
          </a:solidFill>
          <a:ln>
            <a:noFill/>
          </a:ln>
          <a:effectLst>
            <a:outerShdw blurRad="38100" dist="25400" dir="5400000" algn="t" rotWithShape="0">
              <a:srgbClr val="000000">
                <a:alpha val="8000"/>
              </a:srgbClr>
            </a:outerShdw>
          </a:effectLst>
        </p:spPr>
        <p:txBody>
          <a:bodyPr/>
          <a:lstStyle/>
          <a:p>
            <a:endParaRPr/>
          </a:p>
        </p:txBody>
      </p:sp>
      <p:sp>
        <p:nvSpPr>
          <p:cNvPr id="3061" name="W 3061"/>
          <p:cNvSpPr txBox="1"/>
          <p:nvPr/>
        </p:nvSpPr>
        <p:spPr>
          <a:xfrm>
            <a:off x="9008669" y="4983480"/>
            <a:ext cx="1143457" cy="365760"/>
          </a:xfrm>
          <a:prstGeom prst="rect">
            <a:avLst/>
          </a:prstGeom>
          <a:noFill/>
        </p:spPr>
        <p:txBody>
          <a:bodyPr wrap="square" lIns="0" tIns="0" rIns="0" bIns="0" rtlCol="0" anchor="ctr"/>
          <a:lstStyle/>
          <a:p>
            <a:pPr algn="ctr"/>
            <a:r>
              <a:rPr lang="ko-KR" sz="1150" b="1" dirty="0">
                <a:solidFill>
                  <a:srgbClr val="8A1414"/>
                </a:solidFill>
                <a:latin typeface="에이투지체 5 Medium"/>
                <a:ea typeface="에이투지체 5 Medium"/>
                <a:cs typeface="에이투지체 5 Medium"/>
              </a:rPr>
              <a:t>주의</a:t>
            </a:r>
          </a:p>
        </p:txBody>
      </p:sp>
      <p:sp>
        <p:nvSpPr>
          <p:cNvPr id="3062" name="W 3062"/>
          <p:cNvSpPr txBox="1"/>
          <p:nvPr/>
        </p:nvSpPr>
        <p:spPr>
          <a:xfrm>
            <a:off x="9008669" y="5394960"/>
            <a:ext cx="1143457" cy="256032"/>
          </a:xfrm>
          <a:prstGeom prst="rect">
            <a:avLst/>
          </a:prstGeom>
          <a:noFill/>
        </p:spPr>
        <p:txBody>
          <a:bodyPr wrap="square" lIns="0" tIns="0" rIns="0" bIns="0" rtlCol="0" anchor="ctr"/>
          <a:lstStyle/>
          <a:p>
            <a:pPr algn="ctr"/>
            <a:r>
              <a:rPr lang="ko-KR" sz="1050" b="1" dirty="0">
                <a:solidFill>
                  <a:srgbClr val="222222"/>
                </a:solidFill>
                <a:latin typeface="에이투지체 5 Medium"/>
                <a:ea typeface="에이투지체 5 Medium"/>
                <a:cs typeface="에이투지체 5 Medium"/>
              </a:rPr>
              <a:t>10석 이하</a:t>
            </a:r>
          </a:p>
        </p:txBody>
      </p:sp>
      <p:sp>
        <p:nvSpPr>
          <p:cNvPr id="3063" name="W 3063"/>
          <p:cNvSpPr/>
          <p:nvPr/>
        </p:nvSpPr>
        <p:spPr>
          <a:xfrm>
            <a:off x="10261854" y="4983480"/>
            <a:ext cx="1143457" cy="365760"/>
          </a:xfrm>
          <a:prstGeom prst="roundRect">
            <a:avLst>
              <a:gd name="adj" fmla="val 50000"/>
            </a:avLst>
          </a:prstGeom>
          <a:solidFill>
            <a:srgbClr val="F2F3F5"/>
          </a:solidFill>
          <a:ln>
            <a:noFill/>
          </a:ln>
          <a:effectLst>
            <a:outerShdw blurRad="38100" dist="25400" dir="5400000" algn="t" rotWithShape="0">
              <a:srgbClr val="000000">
                <a:alpha val="8000"/>
              </a:srgbClr>
            </a:outerShdw>
          </a:effectLst>
        </p:spPr>
        <p:txBody>
          <a:bodyPr/>
          <a:lstStyle/>
          <a:p>
            <a:endParaRPr/>
          </a:p>
        </p:txBody>
      </p:sp>
      <p:sp>
        <p:nvSpPr>
          <p:cNvPr id="3064" name="W 3064"/>
          <p:cNvSpPr txBox="1"/>
          <p:nvPr/>
        </p:nvSpPr>
        <p:spPr>
          <a:xfrm>
            <a:off x="10261854" y="4983480"/>
            <a:ext cx="1143457" cy="365760"/>
          </a:xfrm>
          <a:prstGeom prst="rect">
            <a:avLst/>
          </a:prstGeom>
          <a:noFill/>
        </p:spPr>
        <p:txBody>
          <a:bodyPr wrap="square" lIns="0" tIns="0" rIns="0" bIns="0" rtlCol="0" anchor="ctr"/>
          <a:lstStyle/>
          <a:p>
            <a:pPr algn="ctr"/>
            <a:r>
              <a:rPr lang="ko-KR" sz="1150" b="1" dirty="0">
                <a:solidFill>
                  <a:srgbClr val="45515E"/>
                </a:solidFill>
                <a:latin typeface="에이투지체 5 Medium"/>
                <a:ea typeface="에이투지체 5 Medium"/>
                <a:cs typeface="에이투지체 5 Medium"/>
              </a:rPr>
              <a:t>원활</a:t>
            </a:r>
          </a:p>
        </p:txBody>
      </p:sp>
      <p:sp>
        <p:nvSpPr>
          <p:cNvPr id="3065" name="W 3065"/>
          <p:cNvSpPr txBox="1"/>
          <p:nvPr/>
        </p:nvSpPr>
        <p:spPr>
          <a:xfrm>
            <a:off x="10261854" y="5394960"/>
            <a:ext cx="1143457" cy="256032"/>
          </a:xfrm>
          <a:prstGeom prst="rect">
            <a:avLst/>
          </a:prstGeom>
          <a:noFill/>
        </p:spPr>
        <p:txBody>
          <a:bodyPr wrap="square" lIns="0" tIns="0" rIns="0" bIns="0" rtlCol="0" anchor="ctr"/>
          <a:lstStyle/>
          <a:p>
            <a:pPr algn="ctr"/>
            <a:r>
              <a:rPr lang="ko-KR" sz="1050" b="1" dirty="0">
                <a:solidFill>
                  <a:srgbClr val="222222"/>
                </a:solidFill>
                <a:latin typeface="에이투지체 5 Medium"/>
                <a:ea typeface="에이투지체 5 Medium"/>
                <a:cs typeface="에이투지체 5 Medium"/>
              </a:rPr>
              <a:t>11석 이상</a:t>
            </a:r>
          </a:p>
        </p:txBody>
      </p:sp>
      <p:sp>
        <p:nvSpPr>
          <p:cNvPr id="3066" name="W 3066"/>
          <p:cNvSpPr txBox="1"/>
          <p:nvPr/>
        </p:nvSpPr>
        <p:spPr>
          <a:xfrm>
            <a:off x="7755484" y="5760720"/>
            <a:ext cx="3759556" cy="274320"/>
          </a:xfrm>
          <a:prstGeom prst="rect">
            <a:avLst/>
          </a:prstGeom>
          <a:noFill/>
        </p:spPr>
        <p:txBody>
          <a:bodyPr wrap="square" lIns="0" tIns="0" rIns="0" bIns="0" rtlCol="0" anchor="ctr"/>
          <a:lstStyle/>
          <a:p>
            <a:pPr algn="l"/>
            <a:r>
              <a:rPr lang="ko-KR" sz="900" dirty="0">
                <a:solidFill>
                  <a:srgbClr val="8E8E93"/>
                </a:solidFill>
                <a:latin typeface="에이투지체 5 Medium"/>
                <a:ea typeface="에이투지체 5 Medium"/>
                <a:cs typeface="에이투지체 5 Medium"/>
              </a:rPr>
              <a:t>※ 강북 · 마포: 실시간 API 미제공 → 등록 병상 · 인접 구 정보 제공</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05  웹 서비스</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a:ea typeface="에이투지체 5 Medium"/>
                <a:cs typeface="에이투지체 5 Medium"/>
              </a:rPr>
              <a:t>시퀀스 다이어그램</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세 가지 동작의 요청 순서 — 실선 = 요청 · 점선 = 응답 · 숫자 = 순서</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40</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app_integrated_v1.py · predict.js · 실시간_병상관제_v1.js</a:t>
            </a:r>
            <a:endParaRPr lang="en-US" sz="900" dirty="0"/>
          </a:p>
        </p:txBody>
      </p:sp>
      <p:sp>
        <p:nvSpPr>
          <p:cNvPr id="5001" name="D 5001"/>
          <p:cNvSpPr/>
          <p:nvPr/>
        </p:nvSpPr>
        <p:spPr>
          <a:xfrm>
            <a:off x="1600200" y="1993392"/>
            <a:ext cx="1828800" cy="310896"/>
          </a:xfrm>
          <a:prstGeom prst="roundRect">
            <a:avLst>
              <a:gd name="adj" fmla="val 17647"/>
            </a:avLst>
          </a:prstGeom>
          <a:solidFill>
            <a:srgbClr val="2B323C"/>
          </a:solidFill>
          <a:ln>
            <a:noFill/>
          </a:ln>
        </p:spPr>
        <p:txBody>
          <a:bodyPr wrap="square" lIns="45720" tIns="0" rIns="45720" bIns="0" rtlCol="0" anchor="ctr"/>
          <a:lstStyle/>
          <a:p>
            <a:pPr algn="ctr"/>
            <a:r>
              <a:rPr lang="ko-KR" sz="1150" b="1" dirty="0">
                <a:solidFill>
                  <a:srgbClr val="FFFFFF"/>
                </a:solidFill>
                <a:latin typeface="에이투지체 5 Medium"/>
                <a:ea typeface="에이투지체 5 Medium"/>
                <a:cs typeface="에이투지체 5 Medium"/>
              </a:rPr>
              <a:t>이용자</a:t>
            </a:r>
          </a:p>
        </p:txBody>
      </p:sp>
      <p:sp>
        <p:nvSpPr>
          <p:cNvPr id="5002" name="D 5002"/>
          <p:cNvSpPr/>
          <p:nvPr/>
        </p:nvSpPr>
        <p:spPr>
          <a:xfrm>
            <a:off x="4069080" y="1993392"/>
            <a:ext cx="1828800" cy="310896"/>
          </a:xfrm>
          <a:prstGeom prst="roundRect">
            <a:avLst>
              <a:gd name="adj" fmla="val 17647"/>
            </a:avLst>
          </a:prstGeom>
          <a:solidFill>
            <a:srgbClr val="D62828"/>
          </a:solidFill>
          <a:ln>
            <a:noFill/>
          </a:ln>
        </p:spPr>
        <p:txBody>
          <a:bodyPr wrap="square" lIns="45720" tIns="0" rIns="45720" bIns="0" rtlCol="0" anchor="ctr"/>
          <a:lstStyle/>
          <a:p>
            <a:pPr algn="ctr"/>
            <a:r>
              <a:rPr lang="ko-KR" sz="1150" b="1" dirty="0">
                <a:solidFill>
                  <a:srgbClr val="FFFFFF"/>
                </a:solidFill>
                <a:latin typeface="에이투지체 5 Medium"/>
                <a:ea typeface="에이투지체 5 Medium"/>
                <a:cs typeface="에이투지체 5 Medium"/>
              </a:rPr>
              <a:t>브라우저 화면</a:t>
            </a:r>
          </a:p>
        </p:txBody>
      </p:sp>
      <p:sp>
        <p:nvSpPr>
          <p:cNvPr id="5003" name="D 5003"/>
          <p:cNvSpPr/>
          <p:nvPr/>
        </p:nvSpPr>
        <p:spPr>
          <a:xfrm>
            <a:off x="6720840" y="1993392"/>
            <a:ext cx="1828800" cy="310896"/>
          </a:xfrm>
          <a:prstGeom prst="roundRect">
            <a:avLst>
              <a:gd name="adj" fmla="val 17647"/>
            </a:avLst>
          </a:prstGeom>
          <a:solidFill>
            <a:srgbClr val="D62828"/>
          </a:solidFill>
          <a:ln>
            <a:noFill/>
          </a:ln>
        </p:spPr>
        <p:txBody>
          <a:bodyPr wrap="square" lIns="45720" tIns="0" rIns="45720" bIns="0" rtlCol="0" anchor="ctr"/>
          <a:lstStyle/>
          <a:p>
            <a:pPr algn="ctr"/>
            <a:r>
              <a:rPr lang="ko-KR" sz="1150" b="1" dirty="0">
                <a:solidFill>
                  <a:srgbClr val="FFFFFF"/>
                </a:solidFill>
                <a:latin typeface="에이투지체 5 Medium"/>
                <a:ea typeface="에이투지체 5 Medium"/>
                <a:cs typeface="에이투지체 5 Medium"/>
              </a:rPr>
              <a:t>Flask 서버</a:t>
            </a:r>
          </a:p>
        </p:txBody>
      </p:sp>
      <p:sp>
        <p:nvSpPr>
          <p:cNvPr id="5004" name="D 5004"/>
          <p:cNvSpPr/>
          <p:nvPr/>
        </p:nvSpPr>
        <p:spPr>
          <a:xfrm>
            <a:off x="9646920" y="1993392"/>
            <a:ext cx="1828800" cy="310896"/>
          </a:xfrm>
          <a:prstGeom prst="roundRect">
            <a:avLst>
              <a:gd name="adj" fmla="val 17647"/>
            </a:avLst>
          </a:prstGeom>
          <a:solidFill>
            <a:srgbClr val="2B323C"/>
          </a:solidFill>
          <a:ln>
            <a:noFill/>
          </a:ln>
        </p:spPr>
        <p:txBody>
          <a:bodyPr wrap="square" lIns="45720" tIns="0" rIns="45720" bIns="0" rtlCol="0" anchor="ctr"/>
          <a:lstStyle/>
          <a:p>
            <a:pPr algn="ctr"/>
            <a:r>
              <a:rPr lang="ko-KR" sz="1150" b="1" dirty="0">
                <a:solidFill>
                  <a:srgbClr val="FFFFFF"/>
                </a:solidFill>
                <a:latin typeface="에이투지체 5 Medium"/>
                <a:ea typeface="에이투지체 5 Medium"/>
                <a:cs typeface="에이투지체 5 Medium"/>
              </a:rPr>
              <a:t>공공데이터 API</a:t>
            </a:r>
          </a:p>
        </p:txBody>
      </p:sp>
      <p:sp>
        <p:nvSpPr>
          <p:cNvPr id="5005" name="D 5005"/>
          <p:cNvSpPr/>
          <p:nvPr/>
        </p:nvSpPr>
        <p:spPr>
          <a:xfrm>
            <a:off x="457200" y="2377440"/>
            <a:ext cx="11277295" cy="1234440"/>
          </a:xfrm>
          <a:prstGeom prst="roundRect">
            <a:avLst>
              <a:gd name="adj" fmla="val 5925"/>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5006" name="D 5006"/>
          <p:cNvSpPr/>
          <p:nvPr/>
        </p:nvSpPr>
        <p:spPr>
          <a:xfrm>
            <a:off x="457200" y="2377440"/>
            <a:ext cx="1280160" cy="1234440"/>
          </a:xfrm>
          <a:prstGeom prst="roundRect">
            <a:avLst>
              <a:gd name="adj" fmla="val 5925"/>
            </a:avLst>
          </a:prstGeom>
          <a:solidFill>
            <a:srgbClr val="F2F3F5"/>
          </a:solidFill>
          <a:ln>
            <a:noFill/>
          </a:ln>
        </p:spPr>
        <p:txBody>
          <a:bodyPr/>
          <a:lstStyle/>
          <a:p>
            <a:endParaRPr/>
          </a:p>
        </p:txBody>
      </p:sp>
      <p:sp>
        <p:nvSpPr>
          <p:cNvPr id="5007" name="D 5007"/>
          <p:cNvSpPr txBox="1"/>
          <p:nvPr/>
        </p:nvSpPr>
        <p:spPr>
          <a:xfrm>
            <a:off x="594360" y="2377440"/>
            <a:ext cx="1097280" cy="1234440"/>
          </a:xfrm>
          <a:prstGeom prst="rect">
            <a:avLst/>
          </a:prstGeom>
          <a:noFill/>
        </p:spPr>
        <p:txBody>
          <a:bodyPr wrap="square" lIns="0" tIns="0" rIns="0" bIns="0" rtlCol="0" anchor="ctr"/>
          <a:lstStyle/>
          <a:p>
            <a:pPr algn="l"/>
            <a:r>
              <a:rPr lang="ko-KR" sz="2000" b="1" dirty="0">
                <a:solidFill>
                  <a:srgbClr val="D62828"/>
                </a:solidFill>
                <a:latin typeface="에이투지체 5 Medium"/>
                <a:ea typeface="에이투지체 5 Medium"/>
                <a:cs typeface="에이투지체 5 Medium"/>
              </a:rPr>
              <a:t>A</a:t>
            </a:r>
          </a:p>
          <a:p>
            <a:pPr algn="l"/>
            <a:r>
              <a:rPr lang="ko-KR" sz="1100" b="1" dirty="0">
                <a:solidFill>
                  <a:srgbClr val="222222"/>
                </a:solidFill>
                <a:latin typeface="에이투지체 5 Medium"/>
                <a:ea typeface="에이투지체 5 Medium"/>
                <a:cs typeface="에이투지체 5 Medium"/>
              </a:rPr>
              <a:t>분석 · 예측</a:t>
            </a:r>
          </a:p>
          <a:p>
            <a:pPr algn="l"/>
            <a:r>
              <a:rPr lang="ko-KR" sz="900" dirty="0">
                <a:solidFill>
                  <a:srgbClr val="45515E"/>
                </a:solidFill>
                <a:latin typeface="에이투지체 5 Medium"/>
                <a:ea typeface="에이투지체 5 Medium"/>
                <a:cs typeface="에이투지체 5 Medium"/>
              </a:rPr>
              <a:t>/analysis</a:t>
            </a:r>
          </a:p>
        </p:txBody>
      </p:sp>
      <p:sp>
        <p:nvSpPr>
          <p:cNvPr id="5008" name="D 5008"/>
          <p:cNvSpPr/>
          <p:nvPr/>
        </p:nvSpPr>
        <p:spPr>
          <a:xfrm>
            <a:off x="457200" y="3685032"/>
            <a:ext cx="11277295" cy="1234440"/>
          </a:xfrm>
          <a:prstGeom prst="roundRect">
            <a:avLst>
              <a:gd name="adj" fmla="val 5925"/>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5009" name="D 5009"/>
          <p:cNvSpPr/>
          <p:nvPr/>
        </p:nvSpPr>
        <p:spPr>
          <a:xfrm>
            <a:off x="457200" y="3685032"/>
            <a:ext cx="1280160" cy="1234440"/>
          </a:xfrm>
          <a:prstGeom prst="roundRect">
            <a:avLst>
              <a:gd name="adj" fmla="val 5925"/>
            </a:avLst>
          </a:prstGeom>
          <a:solidFill>
            <a:srgbClr val="F2F3F5"/>
          </a:solidFill>
          <a:ln>
            <a:noFill/>
          </a:ln>
        </p:spPr>
        <p:txBody>
          <a:bodyPr/>
          <a:lstStyle/>
          <a:p>
            <a:endParaRPr/>
          </a:p>
        </p:txBody>
      </p:sp>
      <p:sp>
        <p:nvSpPr>
          <p:cNvPr id="5010" name="D 5010"/>
          <p:cNvSpPr txBox="1"/>
          <p:nvPr/>
        </p:nvSpPr>
        <p:spPr>
          <a:xfrm>
            <a:off x="594360" y="3685032"/>
            <a:ext cx="1097280" cy="1234440"/>
          </a:xfrm>
          <a:prstGeom prst="rect">
            <a:avLst/>
          </a:prstGeom>
          <a:noFill/>
        </p:spPr>
        <p:txBody>
          <a:bodyPr wrap="square" lIns="0" tIns="0" rIns="0" bIns="0" rtlCol="0" anchor="ctr"/>
          <a:lstStyle/>
          <a:p>
            <a:pPr algn="l"/>
            <a:r>
              <a:rPr lang="ko-KR" sz="2000" b="1" dirty="0">
                <a:solidFill>
                  <a:srgbClr val="D62828"/>
                </a:solidFill>
                <a:latin typeface="에이투지체 5 Medium"/>
                <a:ea typeface="에이투지체 5 Medium"/>
                <a:cs typeface="에이투지체 5 Medium"/>
              </a:rPr>
              <a:t>B</a:t>
            </a:r>
          </a:p>
          <a:p>
            <a:pPr algn="l"/>
            <a:r>
              <a:rPr lang="ko-KR" sz="1100" b="1" dirty="0">
                <a:solidFill>
                  <a:srgbClr val="222222"/>
                </a:solidFill>
                <a:latin typeface="에이투지체 5 Medium"/>
                <a:ea typeface="에이투지체 5 Medium"/>
                <a:cs typeface="에이투지체 5 Medium"/>
              </a:rPr>
              <a:t>병상 관제</a:t>
            </a:r>
          </a:p>
          <a:p>
            <a:pPr algn="l"/>
            <a:r>
              <a:rPr lang="ko-KR" sz="900" dirty="0">
                <a:solidFill>
                  <a:srgbClr val="45515E"/>
                </a:solidFill>
                <a:latin typeface="에이투지체 5 Medium"/>
                <a:ea typeface="에이투지체 5 Medium"/>
                <a:cs typeface="에이투지체 5 Medium"/>
              </a:rPr>
              <a:t>/beds</a:t>
            </a:r>
          </a:p>
        </p:txBody>
      </p:sp>
      <p:sp>
        <p:nvSpPr>
          <p:cNvPr id="5011" name="D 5011"/>
          <p:cNvSpPr/>
          <p:nvPr/>
        </p:nvSpPr>
        <p:spPr>
          <a:xfrm>
            <a:off x="457200" y="4992624"/>
            <a:ext cx="11277295" cy="1197864"/>
          </a:xfrm>
          <a:prstGeom prst="roundRect">
            <a:avLst>
              <a:gd name="adj" fmla="val 6106"/>
            </a:avLst>
          </a:prstGeom>
          <a:solidFill>
            <a:srgbClr val="FFFFFF"/>
          </a:solidFill>
          <a:ln>
            <a:noFill/>
          </a:ln>
          <a:effectLst>
            <a:outerShdw blurRad="38100" dist="25400" dir="5400000" algn="t" rotWithShape="0">
              <a:srgbClr val="000000">
                <a:alpha val="8000"/>
              </a:srgbClr>
            </a:outerShdw>
          </a:effectLst>
        </p:spPr>
        <p:txBody>
          <a:bodyPr/>
          <a:lstStyle/>
          <a:p>
            <a:endParaRPr/>
          </a:p>
        </p:txBody>
      </p:sp>
      <p:sp>
        <p:nvSpPr>
          <p:cNvPr id="5012" name="D 5012"/>
          <p:cNvSpPr/>
          <p:nvPr/>
        </p:nvSpPr>
        <p:spPr>
          <a:xfrm>
            <a:off x="457200" y="4992624"/>
            <a:ext cx="1280160" cy="1197864"/>
          </a:xfrm>
          <a:prstGeom prst="roundRect">
            <a:avLst>
              <a:gd name="adj" fmla="val 6106"/>
            </a:avLst>
          </a:prstGeom>
          <a:solidFill>
            <a:srgbClr val="F2F3F5"/>
          </a:solidFill>
          <a:ln>
            <a:noFill/>
          </a:ln>
        </p:spPr>
        <p:txBody>
          <a:bodyPr/>
          <a:lstStyle/>
          <a:p>
            <a:endParaRPr/>
          </a:p>
        </p:txBody>
      </p:sp>
      <p:sp>
        <p:nvSpPr>
          <p:cNvPr id="5013" name="D 5013"/>
          <p:cNvSpPr txBox="1"/>
          <p:nvPr/>
        </p:nvSpPr>
        <p:spPr>
          <a:xfrm>
            <a:off x="594360" y="4992624"/>
            <a:ext cx="1097280" cy="1197864"/>
          </a:xfrm>
          <a:prstGeom prst="rect">
            <a:avLst/>
          </a:prstGeom>
          <a:noFill/>
        </p:spPr>
        <p:txBody>
          <a:bodyPr wrap="square" lIns="0" tIns="0" rIns="0" bIns="0" rtlCol="0" anchor="ctr"/>
          <a:lstStyle/>
          <a:p>
            <a:pPr algn="l"/>
            <a:r>
              <a:rPr lang="ko-KR" sz="2000" b="1" dirty="0">
                <a:solidFill>
                  <a:srgbClr val="D62828"/>
                </a:solidFill>
                <a:latin typeface="에이투지체 5 Medium"/>
                <a:ea typeface="에이투지체 5 Medium"/>
                <a:cs typeface="에이투지체 5 Medium"/>
              </a:rPr>
              <a:t>C</a:t>
            </a:r>
          </a:p>
          <a:p>
            <a:pPr algn="l"/>
            <a:r>
              <a:rPr lang="ko-KR" sz="1100" b="1" dirty="0">
                <a:solidFill>
                  <a:srgbClr val="222222"/>
                </a:solidFill>
                <a:latin typeface="에이투지체 5 Medium"/>
                <a:ea typeface="에이투지체 5 Medium"/>
                <a:cs typeface="에이투지체 5 Medium"/>
              </a:rPr>
              <a:t>자동 갱신</a:t>
            </a:r>
          </a:p>
          <a:p>
            <a:pPr algn="l"/>
            <a:r>
              <a:rPr lang="ko-KR" sz="900" dirty="0">
                <a:solidFill>
                  <a:srgbClr val="45515E"/>
                </a:solidFill>
                <a:latin typeface="에이투지체 5 Medium"/>
                <a:ea typeface="에이투지체 5 Medium"/>
                <a:cs typeface="에이투지체 5 Medium"/>
              </a:rPr>
              <a:t>서버 내부</a:t>
            </a:r>
          </a:p>
        </p:txBody>
      </p:sp>
      <p:sp>
        <p:nvSpPr>
          <p:cNvPr id="5014" name="D 5014"/>
          <p:cNvSpPr/>
          <p:nvPr/>
        </p:nvSpPr>
        <p:spPr>
          <a:xfrm>
            <a:off x="2514600" y="2304288"/>
            <a:ext cx="0" cy="3886200"/>
          </a:xfrm>
          <a:prstGeom prst="line">
            <a:avLst/>
          </a:prstGeom>
          <a:ln w="12700">
            <a:solidFill>
              <a:srgbClr val="C3C7CD"/>
            </a:solidFill>
            <a:prstDash val="dash"/>
          </a:ln>
        </p:spPr>
        <p:txBody>
          <a:bodyPr/>
          <a:lstStyle/>
          <a:p>
            <a:endParaRPr/>
          </a:p>
        </p:txBody>
      </p:sp>
      <p:sp>
        <p:nvSpPr>
          <p:cNvPr id="5015" name="D 5015"/>
          <p:cNvSpPr/>
          <p:nvPr/>
        </p:nvSpPr>
        <p:spPr>
          <a:xfrm>
            <a:off x="4983480" y="2304288"/>
            <a:ext cx="0" cy="3886200"/>
          </a:xfrm>
          <a:prstGeom prst="line">
            <a:avLst/>
          </a:prstGeom>
          <a:ln w="12700">
            <a:solidFill>
              <a:srgbClr val="C3C7CD"/>
            </a:solidFill>
            <a:prstDash val="dash"/>
          </a:ln>
        </p:spPr>
        <p:txBody>
          <a:bodyPr/>
          <a:lstStyle/>
          <a:p>
            <a:endParaRPr/>
          </a:p>
        </p:txBody>
      </p:sp>
      <p:sp>
        <p:nvSpPr>
          <p:cNvPr id="5016" name="D 5016"/>
          <p:cNvSpPr/>
          <p:nvPr/>
        </p:nvSpPr>
        <p:spPr>
          <a:xfrm>
            <a:off x="7635240" y="2304288"/>
            <a:ext cx="0" cy="3886200"/>
          </a:xfrm>
          <a:prstGeom prst="line">
            <a:avLst/>
          </a:prstGeom>
          <a:ln w="12700">
            <a:solidFill>
              <a:srgbClr val="C3C7CD"/>
            </a:solidFill>
            <a:prstDash val="dash"/>
          </a:ln>
        </p:spPr>
        <p:txBody>
          <a:bodyPr/>
          <a:lstStyle/>
          <a:p>
            <a:endParaRPr/>
          </a:p>
        </p:txBody>
      </p:sp>
      <p:sp>
        <p:nvSpPr>
          <p:cNvPr id="5017" name="D 5017"/>
          <p:cNvSpPr/>
          <p:nvPr/>
        </p:nvSpPr>
        <p:spPr>
          <a:xfrm>
            <a:off x="10561320" y="2304288"/>
            <a:ext cx="0" cy="3886200"/>
          </a:xfrm>
          <a:prstGeom prst="line">
            <a:avLst/>
          </a:prstGeom>
          <a:ln w="12700">
            <a:solidFill>
              <a:srgbClr val="C3C7CD"/>
            </a:solidFill>
            <a:prstDash val="dash"/>
          </a:ln>
        </p:spPr>
        <p:txBody>
          <a:bodyPr/>
          <a:lstStyle/>
          <a:p>
            <a:endParaRPr/>
          </a:p>
        </p:txBody>
      </p:sp>
      <p:sp>
        <p:nvSpPr>
          <p:cNvPr id="5018" name="D 5018"/>
          <p:cNvSpPr/>
          <p:nvPr/>
        </p:nvSpPr>
        <p:spPr>
          <a:xfrm>
            <a:off x="4928616" y="2606040"/>
            <a:ext cx="109728" cy="886968"/>
          </a:xfrm>
          <a:prstGeom prst="roundRect">
            <a:avLst>
              <a:gd name="adj" fmla="val 16666"/>
            </a:avLst>
          </a:prstGeom>
          <a:solidFill>
            <a:srgbClr val="FDE3E3"/>
          </a:solidFill>
          <a:ln w="9525">
            <a:solidFill>
              <a:srgbClr val="E87A7A"/>
            </a:solidFill>
          </a:ln>
        </p:spPr>
        <p:txBody>
          <a:bodyPr/>
          <a:lstStyle/>
          <a:p>
            <a:endParaRPr/>
          </a:p>
        </p:txBody>
      </p:sp>
      <p:sp>
        <p:nvSpPr>
          <p:cNvPr id="5019" name="D 5019"/>
          <p:cNvSpPr/>
          <p:nvPr/>
        </p:nvSpPr>
        <p:spPr>
          <a:xfrm>
            <a:off x="7580376" y="2852928"/>
            <a:ext cx="109728" cy="393192"/>
          </a:xfrm>
          <a:prstGeom prst="roundRect">
            <a:avLst>
              <a:gd name="adj" fmla="val 16666"/>
            </a:avLst>
          </a:prstGeom>
          <a:solidFill>
            <a:srgbClr val="FDE3E3"/>
          </a:solidFill>
          <a:ln w="9525">
            <a:solidFill>
              <a:srgbClr val="E87A7A"/>
            </a:solidFill>
          </a:ln>
        </p:spPr>
        <p:txBody>
          <a:bodyPr/>
          <a:lstStyle/>
          <a:p>
            <a:endParaRPr/>
          </a:p>
        </p:txBody>
      </p:sp>
      <p:sp>
        <p:nvSpPr>
          <p:cNvPr id="5020" name="D 5020"/>
          <p:cNvSpPr/>
          <p:nvPr/>
        </p:nvSpPr>
        <p:spPr>
          <a:xfrm>
            <a:off x="2514600" y="2679192"/>
            <a:ext cx="2468880" cy="0"/>
          </a:xfrm>
          <a:prstGeom prst="line">
            <a:avLst/>
          </a:prstGeom>
          <a:ln w="15875">
            <a:solidFill>
              <a:srgbClr val="222222"/>
            </a:solidFill>
            <a:tailEnd type="triangle" w="med" len="med"/>
          </a:ln>
        </p:spPr>
        <p:txBody>
          <a:bodyPr/>
          <a:lstStyle/>
          <a:p>
            <a:endParaRPr/>
          </a:p>
        </p:txBody>
      </p:sp>
      <p:sp>
        <p:nvSpPr>
          <p:cNvPr id="5021" name="D 5021"/>
          <p:cNvSpPr/>
          <p:nvPr/>
        </p:nvSpPr>
        <p:spPr>
          <a:xfrm>
            <a:off x="2596896" y="2560320"/>
            <a:ext cx="237744" cy="237744"/>
          </a:xfrm>
          <a:prstGeom prst="ellipse">
            <a:avLst/>
          </a:prstGeom>
          <a:solidFill>
            <a:srgbClr val="D62828"/>
          </a:solidFill>
          <a:ln w="12700">
            <a:solidFill>
              <a:srgbClr val="FFFFFF"/>
            </a:solidFill>
          </a:ln>
        </p:spPr>
        <p:txBody>
          <a:bodyPr wrap="square" lIns="45720" tIns="0" rIns="45720" bIns="0" rtlCol="0" anchor="ctr"/>
          <a:lstStyle/>
          <a:p>
            <a:pPr algn="ctr"/>
            <a:r>
              <a:rPr lang="ko-KR" sz="850" b="1" dirty="0">
                <a:solidFill>
                  <a:srgbClr val="FFFFFF"/>
                </a:solidFill>
                <a:latin typeface="에이투지체 5 Medium"/>
                <a:ea typeface="에이투지체 5 Medium"/>
                <a:cs typeface="에이투지체 5 Medium"/>
              </a:rPr>
              <a:t>1</a:t>
            </a:r>
          </a:p>
        </p:txBody>
      </p:sp>
      <p:sp>
        <p:nvSpPr>
          <p:cNvPr id="5022" name="D 5022"/>
          <p:cNvSpPr txBox="1"/>
          <p:nvPr/>
        </p:nvSpPr>
        <p:spPr>
          <a:xfrm>
            <a:off x="2898648" y="2432304"/>
            <a:ext cx="1965960" cy="228600"/>
          </a:xfrm>
          <a:prstGeom prst="rect">
            <a:avLst/>
          </a:prstGeom>
          <a:noFill/>
        </p:spPr>
        <p:txBody>
          <a:bodyPr wrap="square" lIns="0" tIns="0" rIns="0" bIns="0" rtlCol="0" anchor="b"/>
          <a:lstStyle/>
          <a:p>
            <a:pPr algn="l"/>
            <a:r>
              <a:rPr lang="ko-KR" sz="1000" b="1" dirty="0">
                <a:solidFill>
                  <a:srgbClr val="222222"/>
                </a:solidFill>
                <a:latin typeface="에이투지체 5 Medium"/>
                <a:ea typeface="에이투지체 5 Medium"/>
                <a:cs typeface="에이투지체 5 Medium"/>
              </a:rPr>
              <a:t>화면 접속</a:t>
            </a:r>
          </a:p>
        </p:txBody>
      </p:sp>
      <p:sp>
        <p:nvSpPr>
          <p:cNvPr id="5023" name="D 5023"/>
          <p:cNvSpPr/>
          <p:nvPr/>
        </p:nvSpPr>
        <p:spPr>
          <a:xfrm>
            <a:off x="4983480" y="2926080"/>
            <a:ext cx="2651760" cy="0"/>
          </a:xfrm>
          <a:prstGeom prst="line">
            <a:avLst/>
          </a:prstGeom>
          <a:ln w="15875">
            <a:solidFill>
              <a:srgbClr val="222222"/>
            </a:solidFill>
            <a:tailEnd type="triangle" w="med" len="med"/>
          </a:ln>
        </p:spPr>
        <p:txBody>
          <a:bodyPr/>
          <a:lstStyle/>
          <a:p>
            <a:endParaRPr/>
          </a:p>
        </p:txBody>
      </p:sp>
      <p:sp>
        <p:nvSpPr>
          <p:cNvPr id="5024" name="D 5024"/>
          <p:cNvSpPr/>
          <p:nvPr/>
        </p:nvSpPr>
        <p:spPr>
          <a:xfrm>
            <a:off x="5065776" y="2807208"/>
            <a:ext cx="237744" cy="237744"/>
          </a:xfrm>
          <a:prstGeom prst="ellipse">
            <a:avLst/>
          </a:prstGeom>
          <a:solidFill>
            <a:srgbClr val="D62828"/>
          </a:solidFill>
          <a:ln w="12700">
            <a:solidFill>
              <a:srgbClr val="FFFFFF"/>
            </a:solidFill>
          </a:ln>
        </p:spPr>
        <p:txBody>
          <a:bodyPr wrap="square" lIns="45720" tIns="0" rIns="45720" bIns="0" rtlCol="0" anchor="ctr"/>
          <a:lstStyle/>
          <a:p>
            <a:pPr algn="ctr"/>
            <a:r>
              <a:rPr lang="ko-KR" sz="850" b="1" dirty="0">
                <a:solidFill>
                  <a:srgbClr val="FFFFFF"/>
                </a:solidFill>
                <a:latin typeface="에이투지체 5 Medium"/>
                <a:ea typeface="에이투지체 5 Medium"/>
                <a:cs typeface="에이투지체 5 Medium"/>
              </a:rPr>
              <a:t>2</a:t>
            </a:r>
          </a:p>
        </p:txBody>
      </p:sp>
      <p:sp>
        <p:nvSpPr>
          <p:cNvPr id="5025" name="D 5025"/>
          <p:cNvSpPr txBox="1"/>
          <p:nvPr/>
        </p:nvSpPr>
        <p:spPr>
          <a:xfrm>
            <a:off x="5367528" y="2679192"/>
            <a:ext cx="2148840" cy="228600"/>
          </a:xfrm>
          <a:prstGeom prst="rect">
            <a:avLst/>
          </a:prstGeom>
          <a:noFill/>
        </p:spPr>
        <p:txBody>
          <a:bodyPr wrap="square" lIns="0" tIns="0" rIns="0" bIns="0" rtlCol="0" anchor="b"/>
          <a:lstStyle/>
          <a:p>
            <a:pPr algn="l"/>
            <a:r>
              <a:rPr lang="ko-KR" sz="1000" b="1" dirty="0">
                <a:solidFill>
                  <a:srgbClr val="222222"/>
                </a:solidFill>
                <a:latin typeface="에이투지체 5 Medium"/>
                <a:ea typeface="에이투지체 5 Medium"/>
                <a:cs typeface="에이투지체 5 Medium"/>
              </a:rPr>
              <a:t>예측 데이터 요청</a:t>
            </a:r>
          </a:p>
        </p:txBody>
      </p:sp>
      <p:sp>
        <p:nvSpPr>
          <p:cNvPr id="5026" name="D 5026"/>
          <p:cNvSpPr/>
          <p:nvPr/>
        </p:nvSpPr>
        <p:spPr>
          <a:xfrm>
            <a:off x="7863840" y="2834640"/>
            <a:ext cx="2468880" cy="457200"/>
          </a:xfrm>
          <a:prstGeom prst="roundRect">
            <a:avLst>
              <a:gd name="adj" fmla="val 8000"/>
            </a:avLst>
          </a:prstGeom>
          <a:solidFill>
            <a:srgbClr val="FFF7E0"/>
          </a:solidFill>
          <a:ln w="9525">
            <a:solidFill>
              <a:srgbClr val="E6D9A8"/>
            </a:solidFill>
          </a:ln>
        </p:spPr>
        <p:txBody>
          <a:bodyPr wrap="square" lIns="45720" tIns="0" rIns="45720" bIns="0" rtlCol="0" anchor="ctr"/>
          <a:lstStyle/>
          <a:p>
            <a:pPr algn="ctr">
              <a:lnSpc>
                <a:spcPct val="90000"/>
              </a:lnSpc>
            </a:pPr>
            <a:r>
              <a:rPr lang="ko-KR" sz="950" b="1" dirty="0">
                <a:solidFill>
                  <a:srgbClr val="222222"/>
                </a:solidFill>
                <a:latin typeface="에이투지체 5 Medium"/>
                <a:ea typeface="에이투지체 5 Medium"/>
                <a:cs typeface="에이투지체 5 Medium"/>
              </a:rPr>
              <a:t>dashboard_data.json 읽기</a:t>
            </a:r>
          </a:p>
          <a:p>
            <a:pPr algn="ctr">
              <a:lnSpc>
                <a:spcPct val="90000"/>
              </a:lnSpc>
            </a:pPr>
            <a:r>
              <a:rPr lang="ko-KR" sz="800" dirty="0">
                <a:solidFill>
                  <a:srgbClr val="45515E"/>
                </a:solidFill>
                <a:latin typeface="에이투지체 5 Medium"/>
                <a:ea typeface="에이투지체 5 Medium"/>
                <a:cs typeface="에이투지체 5 Medium"/>
              </a:rPr>
              <a:t>GET /api/dashboard-data · 노트북 예측 결과</a:t>
            </a:r>
          </a:p>
        </p:txBody>
      </p:sp>
      <p:sp>
        <p:nvSpPr>
          <p:cNvPr id="5027" name="D 5027"/>
          <p:cNvSpPr/>
          <p:nvPr/>
        </p:nvSpPr>
        <p:spPr>
          <a:xfrm flipH="1">
            <a:off x="4983480" y="3172968"/>
            <a:ext cx="2651760" cy="0"/>
          </a:xfrm>
          <a:prstGeom prst="line">
            <a:avLst/>
          </a:prstGeom>
          <a:ln w="15875">
            <a:solidFill>
              <a:srgbClr val="8E8E93"/>
            </a:solidFill>
            <a:prstDash val="dash"/>
            <a:tailEnd type="triangle" w="med" len="med"/>
          </a:ln>
        </p:spPr>
        <p:txBody>
          <a:bodyPr/>
          <a:lstStyle/>
          <a:p>
            <a:endParaRPr/>
          </a:p>
        </p:txBody>
      </p:sp>
      <p:sp>
        <p:nvSpPr>
          <p:cNvPr id="5028" name="D 5028"/>
          <p:cNvSpPr/>
          <p:nvPr/>
        </p:nvSpPr>
        <p:spPr>
          <a:xfrm>
            <a:off x="7315200" y="3054096"/>
            <a:ext cx="237744" cy="237744"/>
          </a:xfrm>
          <a:prstGeom prst="ellipse">
            <a:avLst/>
          </a:prstGeom>
          <a:solidFill>
            <a:srgbClr val="D62828"/>
          </a:solidFill>
          <a:ln w="12700">
            <a:solidFill>
              <a:srgbClr val="FFFFFF"/>
            </a:solidFill>
          </a:ln>
        </p:spPr>
        <p:txBody>
          <a:bodyPr wrap="square" lIns="45720" tIns="0" rIns="45720" bIns="0" rtlCol="0" anchor="ctr"/>
          <a:lstStyle/>
          <a:p>
            <a:pPr algn="ctr"/>
            <a:r>
              <a:rPr lang="ko-KR" sz="850" b="1" dirty="0">
                <a:solidFill>
                  <a:srgbClr val="FFFFFF"/>
                </a:solidFill>
                <a:latin typeface="에이투지체 5 Medium"/>
                <a:ea typeface="에이투지체 5 Medium"/>
                <a:cs typeface="에이투지체 5 Medium"/>
              </a:rPr>
              <a:t>3</a:t>
            </a:r>
          </a:p>
        </p:txBody>
      </p:sp>
      <p:sp>
        <p:nvSpPr>
          <p:cNvPr id="5029" name="D 5029"/>
          <p:cNvSpPr txBox="1"/>
          <p:nvPr/>
        </p:nvSpPr>
        <p:spPr>
          <a:xfrm>
            <a:off x="5367528" y="2926080"/>
            <a:ext cx="2148840" cy="228600"/>
          </a:xfrm>
          <a:prstGeom prst="rect">
            <a:avLst/>
          </a:prstGeom>
          <a:noFill/>
        </p:spPr>
        <p:txBody>
          <a:bodyPr wrap="square" lIns="0" tIns="0" rIns="0" bIns="0" rtlCol="0" anchor="b"/>
          <a:lstStyle/>
          <a:p>
            <a:pPr algn="l"/>
            <a:r>
              <a:rPr lang="ko-KR" sz="1000" b="1" dirty="0">
                <a:solidFill>
                  <a:srgbClr val="45515E"/>
                </a:solidFill>
                <a:latin typeface="에이투지체 5 Medium"/>
                <a:ea typeface="에이투지체 5 Medium"/>
                <a:cs typeface="에이투지체 5 Medium"/>
              </a:rPr>
              <a:t>예측 · 평가 결과 (JSON)</a:t>
            </a:r>
          </a:p>
        </p:txBody>
      </p:sp>
      <p:sp>
        <p:nvSpPr>
          <p:cNvPr id="5030" name="D 5030"/>
          <p:cNvSpPr/>
          <p:nvPr/>
        </p:nvSpPr>
        <p:spPr>
          <a:xfrm flipH="1">
            <a:off x="2514600" y="3419856"/>
            <a:ext cx="2468880" cy="0"/>
          </a:xfrm>
          <a:prstGeom prst="line">
            <a:avLst/>
          </a:prstGeom>
          <a:ln w="15875">
            <a:solidFill>
              <a:srgbClr val="8E8E93"/>
            </a:solidFill>
            <a:prstDash val="dash"/>
            <a:tailEnd type="triangle" w="med" len="med"/>
          </a:ln>
        </p:spPr>
        <p:txBody>
          <a:bodyPr/>
          <a:lstStyle/>
          <a:p>
            <a:endParaRPr/>
          </a:p>
        </p:txBody>
      </p:sp>
      <p:sp>
        <p:nvSpPr>
          <p:cNvPr id="5031" name="D 5031"/>
          <p:cNvSpPr/>
          <p:nvPr/>
        </p:nvSpPr>
        <p:spPr>
          <a:xfrm>
            <a:off x="4663440" y="3300984"/>
            <a:ext cx="237744" cy="237744"/>
          </a:xfrm>
          <a:prstGeom prst="ellipse">
            <a:avLst/>
          </a:prstGeom>
          <a:solidFill>
            <a:srgbClr val="D62828"/>
          </a:solidFill>
          <a:ln w="12700">
            <a:solidFill>
              <a:srgbClr val="FFFFFF"/>
            </a:solidFill>
          </a:ln>
        </p:spPr>
        <p:txBody>
          <a:bodyPr wrap="square" lIns="45720" tIns="0" rIns="45720" bIns="0" rtlCol="0" anchor="ctr"/>
          <a:lstStyle/>
          <a:p>
            <a:pPr algn="ctr"/>
            <a:r>
              <a:rPr lang="ko-KR" sz="850" b="1" dirty="0">
                <a:solidFill>
                  <a:srgbClr val="FFFFFF"/>
                </a:solidFill>
                <a:latin typeface="에이투지체 5 Medium"/>
                <a:ea typeface="에이투지체 5 Medium"/>
                <a:cs typeface="에이투지체 5 Medium"/>
              </a:rPr>
              <a:t>4</a:t>
            </a:r>
          </a:p>
        </p:txBody>
      </p:sp>
      <p:sp>
        <p:nvSpPr>
          <p:cNvPr id="5032" name="D 5032"/>
          <p:cNvSpPr txBox="1"/>
          <p:nvPr/>
        </p:nvSpPr>
        <p:spPr>
          <a:xfrm>
            <a:off x="2898648" y="3172968"/>
            <a:ext cx="1965960" cy="228600"/>
          </a:xfrm>
          <a:prstGeom prst="rect">
            <a:avLst/>
          </a:prstGeom>
          <a:noFill/>
        </p:spPr>
        <p:txBody>
          <a:bodyPr wrap="square" lIns="0" tIns="0" rIns="0" bIns="0" rtlCol="0" anchor="b"/>
          <a:lstStyle/>
          <a:p>
            <a:pPr algn="l"/>
            <a:r>
              <a:rPr lang="ko-KR" sz="1000" b="1" dirty="0">
                <a:solidFill>
                  <a:srgbClr val="45515E"/>
                </a:solidFill>
                <a:latin typeface="에이투지체 5 Medium"/>
                <a:ea typeface="에이투지체 5 Medium"/>
                <a:cs typeface="에이투지체 5 Medium"/>
              </a:rPr>
              <a:t>KPI · 그래프 · 순위 표시</a:t>
            </a:r>
          </a:p>
        </p:txBody>
      </p:sp>
      <p:sp>
        <p:nvSpPr>
          <p:cNvPr id="5033" name="D 5033"/>
          <p:cNvSpPr/>
          <p:nvPr/>
        </p:nvSpPr>
        <p:spPr>
          <a:xfrm>
            <a:off x="5138928" y="3282696"/>
            <a:ext cx="2377440" cy="292608"/>
          </a:xfrm>
          <a:prstGeom prst="roundRect">
            <a:avLst>
              <a:gd name="adj" fmla="val 12500"/>
            </a:avLst>
          </a:prstGeom>
          <a:solidFill>
            <a:srgbClr val="F2F3F5"/>
          </a:solidFill>
          <a:ln w="9525">
            <a:solidFill>
              <a:srgbClr val="D5D9DE"/>
            </a:solidFill>
          </a:ln>
        </p:spPr>
        <p:txBody>
          <a:bodyPr wrap="square" lIns="45720" tIns="0" rIns="45720" bIns="0" rtlCol="0" anchor="ctr"/>
          <a:lstStyle/>
          <a:p>
            <a:pPr algn="ctr">
              <a:lnSpc>
                <a:spcPct val="90000"/>
              </a:lnSpc>
            </a:pPr>
            <a:r>
              <a:rPr lang="ko-KR" sz="850" b="1" dirty="0">
                <a:solidFill>
                  <a:srgbClr val="222222"/>
                </a:solidFill>
                <a:latin typeface="에이투지체 5 Medium"/>
                <a:ea typeface="에이투지체 5 Medium"/>
                <a:cs typeface="에이투지체 5 Medium"/>
              </a:rPr>
              <a:t>기간 · 지역 변경 시 브라우저에서 재계산</a:t>
            </a:r>
          </a:p>
        </p:txBody>
      </p:sp>
      <p:sp>
        <p:nvSpPr>
          <p:cNvPr id="5034" name="D 5034"/>
          <p:cNvSpPr/>
          <p:nvPr/>
        </p:nvSpPr>
        <p:spPr>
          <a:xfrm>
            <a:off x="4928616" y="3913632"/>
            <a:ext cx="109728" cy="886968"/>
          </a:xfrm>
          <a:prstGeom prst="roundRect">
            <a:avLst>
              <a:gd name="adj" fmla="val 16666"/>
            </a:avLst>
          </a:prstGeom>
          <a:solidFill>
            <a:srgbClr val="FDE3E3"/>
          </a:solidFill>
          <a:ln w="9525">
            <a:solidFill>
              <a:srgbClr val="E87A7A"/>
            </a:solidFill>
          </a:ln>
        </p:spPr>
        <p:txBody>
          <a:bodyPr/>
          <a:lstStyle/>
          <a:p>
            <a:endParaRPr/>
          </a:p>
        </p:txBody>
      </p:sp>
      <p:sp>
        <p:nvSpPr>
          <p:cNvPr id="5035" name="D 5035"/>
          <p:cNvSpPr/>
          <p:nvPr/>
        </p:nvSpPr>
        <p:spPr>
          <a:xfrm>
            <a:off x="7580376" y="4160520"/>
            <a:ext cx="109728" cy="393192"/>
          </a:xfrm>
          <a:prstGeom prst="roundRect">
            <a:avLst>
              <a:gd name="adj" fmla="val 16666"/>
            </a:avLst>
          </a:prstGeom>
          <a:solidFill>
            <a:srgbClr val="FDE3E3"/>
          </a:solidFill>
          <a:ln w="9525">
            <a:solidFill>
              <a:srgbClr val="E87A7A"/>
            </a:solidFill>
          </a:ln>
        </p:spPr>
        <p:txBody>
          <a:bodyPr/>
          <a:lstStyle/>
          <a:p>
            <a:endParaRPr/>
          </a:p>
        </p:txBody>
      </p:sp>
      <p:sp>
        <p:nvSpPr>
          <p:cNvPr id="5036" name="D 5036"/>
          <p:cNvSpPr/>
          <p:nvPr/>
        </p:nvSpPr>
        <p:spPr>
          <a:xfrm>
            <a:off x="2514600" y="3986784"/>
            <a:ext cx="2468880" cy="0"/>
          </a:xfrm>
          <a:prstGeom prst="line">
            <a:avLst/>
          </a:prstGeom>
          <a:ln w="15875">
            <a:solidFill>
              <a:srgbClr val="222222"/>
            </a:solidFill>
            <a:tailEnd type="triangle" w="med" len="med"/>
          </a:ln>
        </p:spPr>
        <p:txBody>
          <a:bodyPr/>
          <a:lstStyle/>
          <a:p>
            <a:endParaRPr/>
          </a:p>
        </p:txBody>
      </p:sp>
      <p:sp>
        <p:nvSpPr>
          <p:cNvPr id="5037" name="D 5037"/>
          <p:cNvSpPr/>
          <p:nvPr/>
        </p:nvSpPr>
        <p:spPr>
          <a:xfrm>
            <a:off x="2596896" y="3867912"/>
            <a:ext cx="237744" cy="237744"/>
          </a:xfrm>
          <a:prstGeom prst="ellipse">
            <a:avLst/>
          </a:prstGeom>
          <a:solidFill>
            <a:srgbClr val="D62828"/>
          </a:solidFill>
          <a:ln w="12700">
            <a:solidFill>
              <a:srgbClr val="FFFFFF"/>
            </a:solidFill>
          </a:ln>
        </p:spPr>
        <p:txBody>
          <a:bodyPr wrap="square" lIns="45720" tIns="0" rIns="45720" bIns="0" rtlCol="0" anchor="ctr"/>
          <a:lstStyle/>
          <a:p>
            <a:pPr algn="ctr"/>
            <a:r>
              <a:rPr lang="ko-KR" sz="850" b="1" dirty="0">
                <a:solidFill>
                  <a:srgbClr val="FFFFFF"/>
                </a:solidFill>
                <a:latin typeface="에이투지체 5 Medium"/>
                <a:ea typeface="에이투지체 5 Medium"/>
                <a:cs typeface="에이투지체 5 Medium"/>
              </a:rPr>
              <a:t>1</a:t>
            </a:r>
          </a:p>
        </p:txBody>
      </p:sp>
      <p:sp>
        <p:nvSpPr>
          <p:cNvPr id="5038" name="D 5038"/>
          <p:cNvSpPr txBox="1"/>
          <p:nvPr/>
        </p:nvSpPr>
        <p:spPr>
          <a:xfrm>
            <a:off x="2898648" y="3739896"/>
            <a:ext cx="1965960" cy="228600"/>
          </a:xfrm>
          <a:prstGeom prst="rect">
            <a:avLst/>
          </a:prstGeom>
          <a:noFill/>
        </p:spPr>
        <p:txBody>
          <a:bodyPr wrap="square" lIns="0" tIns="0" rIns="0" bIns="0" rtlCol="0" anchor="b"/>
          <a:lstStyle/>
          <a:p>
            <a:pPr algn="l"/>
            <a:r>
              <a:rPr lang="ko-KR" sz="1000" b="1" dirty="0">
                <a:solidFill>
                  <a:srgbClr val="222222"/>
                </a:solidFill>
                <a:latin typeface="에이투지체 5 Medium"/>
                <a:ea typeface="에이투지체 5 Medium"/>
                <a:cs typeface="에이투지체 5 Medium"/>
              </a:rPr>
              <a:t>화면 접속</a:t>
            </a:r>
          </a:p>
        </p:txBody>
      </p:sp>
      <p:sp>
        <p:nvSpPr>
          <p:cNvPr id="5039" name="D 5039"/>
          <p:cNvSpPr/>
          <p:nvPr/>
        </p:nvSpPr>
        <p:spPr>
          <a:xfrm>
            <a:off x="4983480" y="4233672"/>
            <a:ext cx="2651760" cy="0"/>
          </a:xfrm>
          <a:prstGeom prst="line">
            <a:avLst/>
          </a:prstGeom>
          <a:ln w="15875">
            <a:solidFill>
              <a:srgbClr val="222222"/>
            </a:solidFill>
            <a:tailEnd type="triangle" w="med" len="med"/>
          </a:ln>
        </p:spPr>
        <p:txBody>
          <a:bodyPr/>
          <a:lstStyle/>
          <a:p>
            <a:endParaRPr/>
          </a:p>
        </p:txBody>
      </p:sp>
      <p:sp>
        <p:nvSpPr>
          <p:cNvPr id="5040" name="D 5040"/>
          <p:cNvSpPr/>
          <p:nvPr/>
        </p:nvSpPr>
        <p:spPr>
          <a:xfrm>
            <a:off x="5065776" y="4114800"/>
            <a:ext cx="237744" cy="237744"/>
          </a:xfrm>
          <a:prstGeom prst="ellipse">
            <a:avLst/>
          </a:prstGeom>
          <a:solidFill>
            <a:srgbClr val="D62828"/>
          </a:solidFill>
          <a:ln w="12700">
            <a:solidFill>
              <a:srgbClr val="FFFFFF"/>
            </a:solidFill>
          </a:ln>
        </p:spPr>
        <p:txBody>
          <a:bodyPr wrap="square" lIns="45720" tIns="0" rIns="45720" bIns="0" rtlCol="0" anchor="ctr"/>
          <a:lstStyle/>
          <a:p>
            <a:pPr algn="ctr"/>
            <a:r>
              <a:rPr lang="ko-KR" sz="850" b="1" dirty="0">
                <a:solidFill>
                  <a:srgbClr val="FFFFFF"/>
                </a:solidFill>
                <a:latin typeface="에이투지체 5 Medium"/>
                <a:ea typeface="에이투지체 5 Medium"/>
                <a:cs typeface="에이투지체 5 Medium"/>
              </a:rPr>
              <a:t>2</a:t>
            </a:r>
          </a:p>
        </p:txBody>
      </p:sp>
      <p:sp>
        <p:nvSpPr>
          <p:cNvPr id="5041" name="D 5041"/>
          <p:cNvSpPr txBox="1"/>
          <p:nvPr/>
        </p:nvSpPr>
        <p:spPr>
          <a:xfrm>
            <a:off x="5367528" y="3986784"/>
            <a:ext cx="2148840" cy="228600"/>
          </a:xfrm>
          <a:prstGeom prst="rect">
            <a:avLst/>
          </a:prstGeom>
          <a:noFill/>
        </p:spPr>
        <p:txBody>
          <a:bodyPr wrap="square" lIns="0" tIns="0" rIns="0" bIns="0" rtlCol="0" anchor="b"/>
          <a:lstStyle/>
          <a:p>
            <a:pPr algn="l"/>
            <a:r>
              <a:rPr lang="ko-KR" sz="1000" b="1" dirty="0">
                <a:solidFill>
                  <a:srgbClr val="222222"/>
                </a:solidFill>
                <a:latin typeface="에이투지체 5 Medium"/>
                <a:ea typeface="에이투지체 5 Medium"/>
                <a:cs typeface="에이투지체 5 Medium"/>
              </a:rPr>
              <a:t>25개 구 병상 요청</a:t>
            </a:r>
          </a:p>
        </p:txBody>
      </p:sp>
      <p:sp>
        <p:nvSpPr>
          <p:cNvPr id="5042" name="D 5042"/>
          <p:cNvSpPr/>
          <p:nvPr/>
        </p:nvSpPr>
        <p:spPr>
          <a:xfrm>
            <a:off x="7863840" y="4142232"/>
            <a:ext cx="2468880" cy="457200"/>
          </a:xfrm>
          <a:prstGeom prst="roundRect">
            <a:avLst>
              <a:gd name="adj" fmla="val 8000"/>
            </a:avLst>
          </a:prstGeom>
          <a:solidFill>
            <a:srgbClr val="FFF7E0"/>
          </a:solidFill>
          <a:ln w="9525">
            <a:solidFill>
              <a:srgbClr val="E6D9A8"/>
            </a:solidFill>
          </a:ln>
        </p:spPr>
        <p:txBody>
          <a:bodyPr wrap="square" lIns="45720" tIns="0" rIns="45720" bIns="0" rtlCol="0" anchor="ctr"/>
          <a:lstStyle/>
          <a:p>
            <a:pPr algn="ctr">
              <a:lnSpc>
                <a:spcPct val="90000"/>
              </a:lnSpc>
            </a:pPr>
            <a:r>
              <a:rPr lang="ko-KR" sz="950" b="1" dirty="0">
                <a:solidFill>
                  <a:srgbClr val="222222"/>
                </a:solidFill>
                <a:latin typeface="에이투지체 5 Medium"/>
                <a:ea typeface="에이투지체 5 Medium"/>
                <a:cs typeface="에이투지체 5 Medium"/>
              </a:rPr>
              <a:t>병상 캐시 읽기</a:t>
            </a:r>
          </a:p>
          <a:p>
            <a:pPr algn="ctr">
              <a:lnSpc>
                <a:spcPct val="90000"/>
              </a:lnSpc>
            </a:pPr>
            <a:r>
              <a:rPr lang="ko-KR" sz="800" dirty="0">
                <a:solidFill>
                  <a:srgbClr val="45515E"/>
                </a:solidFill>
                <a:latin typeface="에이투지체 5 Medium"/>
                <a:ea typeface="에이투지체 5 Medium"/>
                <a:cs typeface="에이투지체 5 Medium"/>
              </a:rPr>
              <a:t>GET /api/realtime-beds/all · API 미호출</a:t>
            </a:r>
          </a:p>
        </p:txBody>
      </p:sp>
      <p:sp>
        <p:nvSpPr>
          <p:cNvPr id="5043" name="D 5043"/>
          <p:cNvSpPr/>
          <p:nvPr/>
        </p:nvSpPr>
        <p:spPr>
          <a:xfrm flipH="1">
            <a:off x="4983480" y="4480560"/>
            <a:ext cx="2651760" cy="0"/>
          </a:xfrm>
          <a:prstGeom prst="line">
            <a:avLst/>
          </a:prstGeom>
          <a:ln w="15875">
            <a:solidFill>
              <a:srgbClr val="8E8E93"/>
            </a:solidFill>
            <a:prstDash val="dash"/>
            <a:tailEnd type="triangle" w="med" len="med"/>
          </a:ln>
        </p:spPr>
        <p:txBody>
          <a:bodyPr/>
          <a:lstStyle/>
          <a:p>
            <a:endParaRPr/>
          </a:p>
        </p:txBody>
      </p:sp>
      <p:sp>
        <p:nvSpPr>
          <p:cNvPr id="5044" name="D 5044"/>
          <p:cNvSpPr/>
          <p:nvPr/>
        </p:nvSpPr>
        <p:spPr>
          <a:xfrm>
            <a:off x="7315200" y="4361688"/>
            <a:ext cx="237744" cy="237744"/>
          </a:xfrm>
          <a:prstGeom prst="ellipse">
            <a:avLst/>
          </a:prstGeom>
          <a:solidFill>
            <a:srgbClr val="D62828"/>
          </a:solidFill>
          <a:ln w="12700">
            <a:solidFill>
              <a:srgbClr val="FFFFFF"/>
            </a:solidFill>
          </a:ln>
        </p:spPr>
        <p:txBody>
          <a:bodyPr wrap="square" lIns="45720" tIns="0" rIns="45720" bIns="0" rtlCol="0" anchor="ctr"/>
          <a:lstStyle/>
          <a:p>
            <a:pPr algn="ctr"/>
            <a:r>
              <a:rPr lang="ko-KR" sz="850" b="1" dirty="0">
                <a:solidFill>
                  <a:srgbClr val="FFFFFF"/>
                </a:solidFill>
                <a:latin typeface="에이투지체 5 Medium"/>
                <a:ea typeface="에이투지체 5 Medium"/>
                <a:cs typeface="에이투지체 5 Medium"/>
              </a:rPr>
              <a:t>3</a:t>
            </a:r>
          </a:p>
        </p:txBody>
      </p:sp>
      <p:sp>
        <p:nvSpPr>
          <p:cNvPr id="5045" name="D 5045"/>
          <p:cNvSpPr txBox="1"/>
          <p:nvPr/>
        </p:nvSpPr>
        <p:spPr>
          <a:xfrm>
            <a:off x="5367528" y="4233672"/>
            <a:ext cx="2148840" cy="228600"/>
          </a:xfrm>
          <a:prstGeom prst="rect">
            <a:avLst/>
          </a:prstGeom>
          <a:noFill/>
        </p:spPr>
        <p:txBody>
          <a:bodyPr wrap="square" lIns="0" tIns="0" rIns="0" bIns="0" rtlCol="0" anchor="b"/>
          <a:lstStyle/>
          <a:p>
            <a:pPr algn="l"/>
            <a:r>
              <a:rPr lang="ko-KR" sz="1000" b="1" dirty="0">
                <a:solidFill>
                  <a:srgbClr val="45515E"/>
                </a:solidFill>
                <a:latin typeface="에이투지체 5 Medium"/>
                <a:ea typeface="에이투지체 5 Medium"/>
                <a:cs typeface="에이투지체 5 Medium"/>
              </a:rPr>
              <a:t>병상 정보 (강북 · 마포 포함)</a:t>
            </a:r>
          </a:p>
        </p:txBody>
      </p:sp>
      <p:sp>
        <p:nvSpPr>
          <p:cNvPr id="5046" name="D 5046"/>
          <p:cNvSpPr/>
          <p:nvPr/>
        </p:nvSpPr>
        <p:spPr>
          <a:xfrm flipH="1">
            <a:off x="2514600" y="4727448"/>
            <a:ext cx="2468880" cy="0"/>
          </a:xfrm>
          <a:prstGeom prst="line">
            <a:avLst/>
          </a:prstGeom>
          <a:ln w="15875">
            <a:solidFill>
              <a:srgbClr val="8E8E93"/>
            </a:solidFill>
            <a:prstDash val="dash"/>
            <a:tailEnd type="triangle" w="med" len="med"/>
          </a:ln>
        </p:spPr>
        <p:txBody>
          <a:bodyPr/>
          <a:lstStyle/>
          <a:p>
            <a:endParaRPr/>
          </a:p>
        </p:txBody>
      </p:sp>
      <p:sp>
        <p:nvSpPr>
          <p:cNvPr id="5047" name="D 5047"/>
          <p:cNvSpPr/>
          <p:nvPr/>
        </p:nvSpPr>
        <p:spPr>
          <a:xfrm>
            <a:off x="4663440" y="4608576"/>
            <a:ext cx="237744" cy="237744"/>
          </a:xfrm>
          <a:prstGeom prst="ellipse">
            <a:avLst/>
          </a:prstGeom>
          <a:solidFill>
            <a:srgbClr val="D62828"/>
          </a:solidFill>
          <a:ln w="12700">
            <a:solidFill>
              <a:srgbClr val="FFFFFF"/>
            </a:solidFill>
          </a:ln>
        </p:spPr>
        <p:txBody>
          <a:bodyPr wrap="square" lIns="45720" tIns="0" rIns="45720" bIns="0" rtlCol="0" anchor="ctr"/>
          <a:lstStyle/>
          <a:p>
            <a:pPr algn="ctr"/>
            <a:r>
              <a:rPr lang="ko-KR" sz="850" b="1" dirty="0">
                <a:solidFill>
                  <a:srgbClr val="FFFFFF"/>
                </a:solidFill>
                <a:latin typeface="에이투지체 5 Medium"/>
                <a:ea typeface="에이투지체 5 Medium"/>
                <a:cs typeface="에이투지체 5 Medium"/>
              </a:rPr>
              <a:t>4</a:t>
            </a:r>
          </a:p>
        </p:txBody>
      </p:sp>
      <p:sp>
        <p:nvSpPr>
          <p:cNvPr id="5048" name="D 5048"/>
          <p:cNvSpPr txBox="1"/>
          <p:nvPr/>
        </p:nvSpPr>
        <p:spPr>
          <a:xfrm>
            <a:off x="2898648" y="4480560"/>
            <a:ext cx="1965960" cy="228600"/>
          </a:xfrm>
          <a:prstGeom prst="rect">
            <a:avLst/>
          </a:prstGeom>
          <a:noFill/>
        </p:spPr>
        <p:txBody>
          <a:bodyPr wrap="square" lIns="0" tIns="0" rIns="0" bIns="0" rtlCol="0" anchor="b"/>
          <a:lstStyle/>
          <a:p>
            <a:pPr algn="l"/>
            <a:r>
              <a:rPr lang="ko-KR" sz="1000" b="1" dirty="0">
                <a:solidFill>
                  <a:srgbClr val="45515E"/>
                </a:solidFill>
                <a:latin typeface="에이투지체 5 Medium"/>
                <a:ea typeface="에이투지체 5 Medium"/>
                <a:cs typeface="에이투지체 5 Medium"/>
              </a:rPr>
              <a:t>현황 · 위험도 · 병원 카드 표시</a:t>
            </a:r>
          </a:p>
        </p:txBody>
      </p:sp>
      <p:sp>
        <p:nvSpPr>
          <p:cNvPr id="5049" name="D 5049"/>
          <p:cNvSpPr/>
          <p:nvPr/>
        </p:nvSpPr>
        <p:spPr>
          <a:xfrm>
            <a:off x="5138928" y="4590288"/>
            <a:ext cx="2377440" cy="292608"/>
          </a:xfrm>
          <a:prstGeom prst="roundRect">
            <a:avLst>
              <a:gd name="adj" fmla="val 12500"/>
            </a:avLst>
          </a:prstGeom>
          <a:solidFill>
            <a:srgbClr val="F2F3F5"/>
          </a:solidFill>
          <a:ln w="9525">
            <a:solidFill>
              <a:srgbClr val="D5D9DE"/>
            </a:solidFill>
          </a:ln>
        </p:spPr>
        <p:txBody>
          <a:bodyPr wrap="square" lIns="45720" tIns="0" rIns="45720" bIns="0" rtlCol="0" anchor="ctr"/>
          <a:lstStyle/>
          <a:p>
            <a:pPr algn="ctr">
              <a:lnSpc>
                <a:spcPct val="90000"/>
              </a:lnSpc>
            </a:pPr>
            <a:r>
              <a:rPr lang="ko-KR" sz="850" b="1" dirty="0">
                <a:solidFill>
                  <a:srgbClr val="222222"/>
                </a:solidFill>
                <a:latin typeface="에이투지체 5 Medium"/>
                <a:ea typeface="에이투지체 5 Medium"/>
                <a:cs typeface="에이투지체 5 Medium"/>
              </a:rPr>
              <a:t>검색 · 필터는 브라우저에서 처리</a:t>
            </a:r>
          </a:p>
        </p:txBody>
      </p:sp>
      <p:sp>
        <p:nvSpPr>
          <p:cNvPr id="5050" name="D 5050"/>
          <p:cNvSpPr/>
          <p:nvPr/>
        </p:nvSpPr>
        <p:spPr>
          <a:xfrm>
            <a:off x="7580376" y="5129784"/>
            <a:ext cx="109728" cy="969264"/>
          </a:xfrm>
          <a:prstGeom prst="roundRect">
            <a:avLst>
              <a:gd name="adj" fmla="val 16666"/>
            </a:avLst>
          </a:prstGeom>
          <a:solidFill>
            <a:srgbClr val="FDE3E3"/>
          </a:solidFill>
          <a:ln w="9525">
            <a:solidFill>
              <a:srgbClr val="E87A7A"/>
            </a:solidFill>
          </a:ln>
        </p:spPr>
        <p:txBody>
          <a:bodyPr/>
          <a:lstStyle/>
          <a:p>
            <a:endParaRPr/>
          </a:p>
        </p:txBody>
      </p:sp>
      <p:sp>
        <p:nvSpPr>
          <p:cNvPr id="5051" name="D 5051"/>
          <p:cNvSpPr/>
          <p:nvPr/>
        </p:nvSpPr>
        <p:spPr>
          <a:xfrm>
            <a:off x="10506456" y="5413248"/>
            <a:ext cx="109728" cy="393192"/>
          </a:xfrm>
          <a:prstGeom prst="roundRect">
            <a:avLst>
              <a:gd name="adj" fmla="val 16666"/>
            </a:avLst>
          </a:prstGeom>
          <a:solidFill>
            <a:srgbClr val="FDE3E3"/>
          </a:solidFill>
          <a:ln w="9525">
            <a:solidFill>
              <a:srgbClr val="E87A7A"/>
            </a:solidFill>
          </a:ln>
        </p:spPr>
        <p:txBody>
          <a:bodyPr/>
          <a:lstStyle/>
          <a:p>
            <a:endParaRPr/>
          </a:p>
        </p:txBody>
      </p:sp>
      <p:sp>
        <p:nvSpPr>
          <p:cNvPr id="5052" name="D 5052"/>
          <p:cNvSpPr/>
          <p:nvPr/>
        </p:nvSpPr>
        <p:spPr>
          <a:xfrm>
            <a:off x="7690104" y="5175504"/>
            <a:ext cx="329184" cy="0"/>
          </a:xfrm>
          <a:prstGeom prst="line">
            <a:avLst/>
          </a:prstGeom>
          <a:ln w="15875">
            <a:solidFill>
              <a:srgbClr val="222222"/>
            </a:solidFill>
          </a:ln>
        </p:spPr>
        <p:txBody>
          <a:bodyPr/>
          <a:lstStyle/>
          <a:p>
            <a:endParaRPr/>
          </a:p>
        </p:txBody>
      </p:sp>
      <p:sp>
        <p:nvSpPr>
          <p:cNvPr id="5053" name="D 5053"/>
          <p:cNvSpPr/>
          <p:nvPr/>
        </p:nvSpPr>
        <p:spPr>
          <a:xfrm>
            <a:off x="8019288" y="5175504"/>
            <a:ext cx="0" cy="146304"/>
          </a:xfrm>
          <a:prstGeom prst="line">
            <a:avLst/>
          </a:prstGeom>
          <a:ln w="15875">
            <a:solidFill>
              <a:srgbClr val="222222"/>
            </a:solidFill>
          </a:ln>
        </p:spPr>
        <p:txBody>
          <a:bodyPr/>
          <a:lstStyle/>
          <a:p>
            <a:endParaRPr/>
          </a:p>
        </p:txBody>
      </p:sp>
      <p:sp>
        <p:nvSpPr>
          <p:cNvPr id="5054" name="D 5054"/>
          <p:cNvSpPr/>
          <p:nvPr/>
        </p:nvSpPr>
        <p:spPr>
          <a:xfrm flipH="1">
            <a:off x="7708392" y="5321808"/>
            <a:ext cx="310896" cy="0"/>
          </a:xfrm>
          <a:prstGeom prst="line">
            <a:avLst/>
          </a:prstGeom>
          <a:ln w="15875">
            <a:solidFill>
              <a:srgbClr val="222222"/>
            </a:solidFill>
            <a:tailEnd type="triangle" w="med" len="med"/>
          </a:ln>
        </p:spPr>
        <p:txBody>
          <a:bodyPr/>
          <a:lstStyle/>
          <a:p>
            <a:endParaRPr/>
          </a:p>
        </p:txBody>
      </p:sp>
      <p:sp>
        <p:nvSpPr>
          <p:cNvPr id="5055" name="D 5055"/>
          <p:cNvSpPr/>
          <p:nvPr/>
        </p:nvSpPr>
        <p:spPr>
          <a:xfrm>
            <a:off x="7315200" y="5120640"/>
            <a:ext cx="237744" cy="237744"/>
          </a:xfrm>
          <a:prstGeom prst="ellipse">
            <a:avLst/>
          </a:prstGeom>
          <a:solidFill>
            <a:srgbClr val="D62828"/>
          </a:solidFill>
          <a:ln w="12700">
            <a:solidFill>
              <a:srgbClr val="FFFFFF"/>
            </a:solidFill>
          </a:ln>
        </p:spPr>
        <p:txBody>
          <a:bodyPr wrap="square" lIns="45720" tIns="0" rIns="45720" bIns="0" rtlCol="0" anchor="ctr"/>
          <a:lstStyle/>
          <a:p>
            <a:pPr algn="ctr"/>
            <a:r>
              <a:rPr lang="ko-KR" sz="850" b="1" dirty="0">
                <a:solidFill>
                  <a:srgbClr val="FFFFFF"/>
                </a:solidFill>
                <a:latin typeface="에이투지체 5 Medium"/>
                <a:ea typeface="에이투지체 5 Medium"/>
                <a:cs typeface="에이투지체 5 Medium"/>
              </a:rPr>
              <a:t>1</a:t>
            </a:r>
          </a:p>
        </p:txBody>
      </p:sp>
      <p:sp>
        <p:nvSpPr>
          <p:cNvPr id="5056" name="D 5056"/>
          <p:cNvSpPr txBox="1"/>
          <p:nvPr/>
        </p:nvSpPr>
        <p:spPr>
          <a:xfrm>
            <a:off x="8138160" y="5120640"/>
            <a:ext cx="3566160" cy="237744"/>
          </a:xfrm>
          <a:prstGeom prst="rect">
            <a:avLst/>
          </a:prstGeom>
          <a:noFill/>
        </p:spPr>
        <p:txBody>
          <a:bodyPr wrap="square" lIns="0" tIns="0" rIns="0" bIns="0" rtlCol="0" anchor="ctr"/>
          <a:lstStyle/>
          <a:p>
            <a:pPr algn="l"/>
            <a:r>
              <a:rPr lang="ko-KR" sz="1000" b="1" dirty="0">
                <a:solidFill>
                  <a:srgbClr val="222222"/>
                </a:solidFill>
                <a:latin typeface="에이투지체 5 Medium"/>
                <a:ea typeface="에이투지체 5 Medium"/>
                <a:cs typeface="에이투지체 5 Medium"/>
              </a:rPr>
              <a:t>1분마다 캐시 확인</a:t>
            </a:r>
            <a:r>
              <a:rPr lang="ko-KR" sz="850" dirty="0">
                <a:solidFill>
                  <a:srgbClr val="8A1414"/>
                </a:solidFill>
                <a:latin typeface="에이투지체 5 Medium"/>
                <a:ea typeface="에이투지체 5 Medium"/>
                <a:cs typeface="에이투지체 5 Medium"/>
              </a:rPr>
              <a:t>   1시간 경과 · 당일 3회 미만 시 갱신</a:t>
            </a:r>
          </a:p>
        </p:txBody>
      </p:sp>
      <p:sp>
        <p:nvSpPr>
          <p:cNvPr id="5057" name="D 5057"/>
          <p:cNvSpPr/>
          <p:nvPr/>
        </p:nvSpPr>
        <p:spPr>
          <a:xfrm>
            <a:off x="7635240" y="5522976"/>
            <a:ext cx="2926080" cy="0"/>
          </a:xfrm>
          <a:prstGeom prst="line">
            <a:avLst/>
          </a:prstGeom>
          <a:ln w="15875">
            <a:solidFill>
              <a:srgbClr val="222222"/>
            </a:solidFill>
            <a:tailEnd type="triangle" w="med" len="med"/>
          </a:ln>
        </p:spPr>
        <p:txBody>
          <a:bodyPr/>
          <a:lstStyle/>
          <a:p>
            <a:endParaRPr/>
          </a:p>
        </p:txBody>
      </p:sp>
      <p:sp>
        <p:nvSpPr>
          <p:cNvPr id="5058" name="D 5058"/>
          <p:cNvSpPr/>
          <p:nvPr/>
        </p:nvSpPr>
        <p:spPr>
          <a:xfrm>
            <a:off x="7717536" y="5404104"/>
            <a:ext cx="237744" cy="237744"/>
          </a:xfrm>
          <a:prstGeom prst="ellipse">
            <a:avLst/>
          </a:prstGeom>
          <a:solidFill>
            <a:srgbClr val="D62828"/>
          </a:solidFill>
          <a:ln w="12700">
            <a:solidFill>
              <a:srgbClr val="FFFFFF"/>
            </a:solidFill>
          </a:ln>
        </p:spPr>
        <p:txBody>
          <a:bodyPr wrap="square" lIns="45720" tIns="0" rIns="45720" bIns="0" rtlCol="0" anchor="ctr"/>
          <a:lstStyle/>
          <a:p>
            <a:pPr algn="ctr"/>
            <a:r>
              <a:rPr lang="ko-KR" sz="850" b="1" dirty="0">
                <a:solidFill>
                  <a:srgbClr val="FFFFFF"/>
                </a:solidFill>
                <a:latin typeface="에이투지체 5 Medium"/>
                <a:ea typeface="에이투지체 5 Medium"/>
                <a:cs typeface="에이투지체 5 Medium"/>
              </a:rPr>
              <a:t>2</a:t>
            </a:r>
          </a:p>
        </p:txBody>
      </p:sp>
      <p:sp>
        <p:nvSpPr>
          <p:cNvPr id="5059" name="D 5059"/>
          <p:cNvSpPr txBox="1"/>
          <p:nvPr/>
        </p:nvSpPr>
        <p:spPr>
          <a:xfrm>
            <a:off x="8019288" y="5276088"/>
            <a:ext cx="2423160" cy="228600"/>
          </a:xfrm>
          <a:prstGeom prst="rect">
            <a:avLst/>
          </a:prstGeom>
          <a:noFill/>
        </p:spPr>
        <p:txBody>
          <a:bodyPr wrap="square" lIns="0" tIns="0" rIns="0" bIns="0" rtlCol="0" anchor="b"/>
          <a:lstStyle/>
          <a:p>
            <a:pPr algn="l"/>
            <a:r>
              <a:rPr lang="ko-KR" sz="1000" b="1" dirty="0">
                <a:solidFill>
                  <a:srgbClr val="222222"/>
                </a:solidFill>
                <a:latin typeface="에이투지체 5 Medium"/>
                <a:ea typeface="에이투지체 5 Medium"/>
                <a:cs typeface="에이투지체 5 Medium"/>
              </a:rPr>
              <a:t>23개 구 가용병상 요청</a:t>
            </a:r>
          </a:p>
        </p:txBody>
      </p:sp>
      <p:sp>
        <p:nvSpPr>
          <p:cNvPr id="5060" name="D 5060"/>
          <p:cNvSpPr/>
          <p:nvPr/>
        </p:nvSpPr>
        <p:spPr>
          <a:xfrm>
            <a:off x="9715500" y="5431536"/>
            <a:ext cx="662940" cy="182880"/>
          </a:xfrm>
          <a:prstGeom prst="roundRect">
            <a:avLst>
              <a:gd name="adj" fmla="val 50000"/>
            </a:avLst>
          </a:prstGeom>
          <a:solidFill>
            <a:srgbClr val="FFFFFF"/>
          </a:solidFill>
          <a:ln w="9525">
            <a:solidFill>
              <a:srgbClr val="B8BCC4"/>
            </a:solidFill>
          </a:ln>
        </p:spPr>
        <p:txBody>
          <a:bodyPr wrap="square" lIns="45720" tIns="0" rIns="45720" bIns="0" rtlCol="0" anchor="ctr"/>
          <a:lstStyle/>
          <a:p>
            <a:pPr algn="ctr"/>
            <a:r>
              <a:rPr lang="ko-KR" sz="750" b="1" dirty="0">
                <a:solidFill>
                  <a:srgbClr val="45515E"/>
                </a:solidFill>
                <a:latin typeface="에이투지체 5 Medium"/>
                <a:ea typeface="에이투지체 5 Medium"/>
                <a:cs typeface="에이투지체 5 Medium"/>
              </a:rPr>
              <a:t>NMC API</a:t>
            </a:r>
          </a:p>
        </p:txBody>
      </p:sp>
      <p:sp>
        <p:nvSpPr>
          <p:cNvPr id="5061" name="D 5061"/>
          <p:cNvSpPr/>
          <p:nvPr/>
        </p:nvSpPr>
        <p:spPr>
          <a:xfrm flipH="1">
            <a:off x="7635240" y="5769864"/>
            <a:ext cx="2926080" cy="0"/>
          </a:xfrm>
          <a:prstGeom prst="line">
            <a:avLst/>
          </a:prstGeom>
          <a:ln w="15875">
            <a:solidFill>
              <a:srgbClr val="8E8E93"/>
            </a:solidFill>
            <a:prstDash val="dash"/>
            <a:tailEnd type="triangle" w="med" len="med"/>
          </a:ln>
        </p:spPr>
        <p:txBody>
          <a:bodyPr/>
          <a:lstStyle/>
          <a:p>
            <a:endParaRPr/>
          </a:p>
        </p:txBody>
      </p:sp>
      <p:sp>
        <p:nvSpPr>
          <p:cNvPr id="5062" name="D 5062"/>
          <p:cNvSpPr/>
          <p:nvPr/>
        </p:nvSpPr>
        <p:spPr>
          <a:xfrm>
            <a:off x="10241280" y="5650992"/>
            <a:ext cx="237744" cy="237744"/>
          </a:xfrm>
          <a:prstGeom prst="ellipse">
            <a:avLst/>
          </a:prstGeom>
          <a:solidFill>
            <a:srgbClr val="D62828"/>
          </a:solidFill>
          <a:ln w="12700">
            <a:solidFill>
              <a:srgbClr val="FFFFFF"/>
            </a:solidFill>
          </a:ln>
        </p:spPr>
        <p:txBody>
          <a:bodyPr wrap="square" lIns="45720" tIns="0" rIns="45720" bIns="0" rtlCol="0" anchor="ctr"/>
          <a:lstStyle/>
          <a:p>
            <a:pPr algn="ctr"/>
            <a:r>
              <a:rPr lang="ko-KR" sz="850" b="1" dirty="0">
                <a:solidFill>
                  <a:srgbClr val="FFFFFF"/>
                </a:solidFill>
                <a:latin typeface="에이투지체 5 Medium"/>
                <a:ea typeface="에이투지체 5 Medium"/>
                <a:cs typeface="에이투지체 5 Medium"/>
              </a:rPr>
              <a:t>3</a:t>
            </a:r>
          </a:p>
        </p:txBody>
      </p:sp>
      <p:sp>
        <p:nvSpPr>
          <p:cNvPr id="5063" name="D 5063"/>
          <p:cNvSpPr txBox="1"/>
          <p:nvPr/>
        </p:nvSpPr>
        <p:spPr>
          <a:xfrm>
            <a:off x="8019288" y="5522976"/>
            <a:ext cx="2423160" cy="228600"/>
          </a:xfrm>
          <a:prstGeom prst="rect">
            <a:avLst/>
          </a:prstGeom>
          <a:noFill/>
        </p:spPr>
        <p:txBody>
          <a:bodyPr wrap="square" lIns="0" tIns="0" rIns="0" bIns="0" rtlCol="0" anchor="b"/>
          <a:lstStyle/>
          <a:p>
            <a:pPr algn="l"/>
            <a:r>
              <a:rPr lang="ko-KR" sz="1000" b="1" dirty="0">
                <a:solidFill>
                  <a:srgbClr val="45515E"/>
                </a:solidFill>
                <a:latin typeface="에이투지체 5 Medium"/>
                <a:ea typeface="에이투지체 5 Medium"/>
                <a:cs typeface="에이투지체 5 Medium"/>
              </a:rPr>
              <a:t>병상 응답</a:t>
            </a:r>
          </a:p>
        </p:txBody>
      </p:sp>
      <p:sp>
        <p:nvSpPr>
          <p:cNvPr id="5064" name="D 5064"/>
          <p:cNvSpPr/>
          <p:nvPr/>
        </p:nvSpPr>
        <p:spPr>
          <a:xfrm>
            <a:off x="7690104" y="5916168"/>
            <a:ext cx="329184" cy="0"/>
          </a:xfrm>
          <a:prstGeom prst="line">
            <a:avLst/>
          </a:prstGeom>
          <a:ln w="15875">
            <a:solidFill>
              <a:srgbClr val="222222"/>
            </a:solidFill>
          </a:ln>
        </p:spPr>
        <p:txBody>
          <a:bodyPr/>
          <a:lstStyle/>
          <a:p>
            <a:endParaRPr/>
          </a:p>
        </p:txBody>
      </p:sp>
      <p:sp>
        <p:nvSpPr>
          <p:cNvPr id="5065" name="D 5065"/>
          <p:cNvSpPr/>
          <p:nvPr/>
        </p:nvSpPr>
        <p:spPr>
          <a:xfrm>
            <a:off x="8019288" y="5916168"/>
            <a:ext cx="0" cy="146304"/>
          </a:xfrm>
          <a:prstGeom prst="line">
            <a:avLst/>
          </a:prstGeom>
          <a:ln w="15875">
            <a:solidFill>
              <a:srgbClr val="222222"/>
            </a:solidFill>
          </a:ln>
        </p:spPr>
        <p:txBody>
          <a:bodyPr/>
          <a:lstStyle/>
          <a:p>
            <a:endParaRPr/>
          </a:p>
        </p:txBody>
      </p:sp>
      <p:sp>
        <p:nvSpPr>
          <p:cNvPr id="5066" name="D 5066"/>
          <p:cNvSpPr/>
          <p:nvPr/>
        </p:nvSpPr>
        <p:spPr>
          <a:xfrm flipH="1">
            <a:off x="7708392" y="6062472"/>
            <a:ext cx="310896" cy="0"/>
          </a:xfrm>
          <a:prstGeom prst="line">
            <a:avLst/>
          </a:prstGeom>
          <a:ln w="15875">
            <a:solidFill>
              <a:srgbClr val="222222"/>
            </a:solidFill>
            <a:tailEnd type="triangle" w="med" len="med"/>
          </a:ln>
        </p:spPr>
        <p:txBody>
          <a:bodyPr/>
          <a:lstStyle/>
          <a:p>
            <a:endParaRPr/>
          </a:p>
        </p:txBody>
      </p:sp>
      <p:sp>
        <p:nvSpPr>
          <p:cNvPr id="5067" name="D 5067"/>
          <p:cNvSpPr/>
          <p:nvPr/>
        </p:nvSpPr>
        <p:spPr>
          <a:xfrm>
            <a:off x="7315200" y="5861304"/>
            <a:ext cx="237744" cy="237744"/>
          </a:xfrm>
          <a:prstGeom prst="ellipse">
            <a:avLst/>
          </a:prstGeom>
          <a:solidFill>
            <a:srgbClr val="D62828"/>
          </a:solidFill>
          <a:ln w="12700">
            <a:solidFill>
              <a:srgbClr val="FFFFFF"/>
            </a:solidFill>
          </a:ln>
        </p:spPr>
        <p:txBody>
          <a:bodyPr wrap="square" lIns="45720" tIns="0" rIns="45720" bIns="0" rtlCol="0" anchor="ctr"/>
          <a:lstStyle/>
          <a:p>
            <a:pPr algn="ctr"/>
            <a:r>
              <a:rPr lang="ko-KR" sz="850" b="1" dirty="0">
                <a:solidFill>
                  <a:srgbClr val="FFFFFF"/>
                </a:solidFill>
                <a:latin typeface="에이투지체 5 Medium"/>
                <a:ea typeface="에이투지체 5 Medium"/>
                <a:cs typeface="에이투지체 5 Medium"/>
              </a:rPr>
              <a:t>4</a:t>
            </a:r>
          </a:p>
        </p:txBody>
      </p:sp>
      <p:sp>
        <p:nvSpPr>
          <p:cNvPr id="5068" name="D 5068"/>
          <p:cNvSpPr txBox="1"/>
          <p:nvPr/>
        </p:nvSpPr>
        <p:spPr>
          <a:xfrm>
            <a:off x="8138160" y="5861304"/>
            <a:ext cx="3566160" cy="237744"/>
          </a:xfrm>
          <a:prstGeom prst="rect">
            <a:avLst/>
          </a:prstGeom>
          <a:noFill/>
        </p:spPr>
        <p:txBody>
          <a:bodyPr wrap="square" lIns="0" tIns="0" rIns="0" bIns="0" rtlCol="0" anchor="ctr"/>
          <a:lstStyle/>
          <a:p>
            <a:pPr algn="l"/>
            <a:r>
              <a:rPr lang="ko-KR" sz="1000" b="1" dirty="0">
                <a:solidFill>
                  <a:srgbClr val="222222"/>
                </a:solidFill>
                <a:latin typeface="에이투지체 5 Medium"/>
                <a:ea typeface="에이투지체 5 Medium"/>
                <a:cs typeface="에이투지체 5 Medium"/>
              </a:rPr>
              <a:t>병상 캐시 새로 저장</a:t>
            </a:r>
          </a:p>
        </p:txBody>
      </p:sp>
    </p:spTree>
    <p:extLst>
      <p:ext uri="{BB962C8B-B14F-4D97-AF65-F5344CB8AC3E}">
        <p14:creationId xmlns:p14="http://schemas.microsoft.com/office/powerpoint/2010/main" val="195878392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name="Slide 29">
    <p:bg>
      <p:bgPr>
        <a:solidFill>
          <a:srgbClr val="181E25"/>
        </a:solidFill>
        <a:effectLst/>
      </p:bgPr>
    </p:bg>
    <p:spTree>
      <p:nvGrpSpPr>
        <p:cNvPr id="1" name=""/>
        <p:cNvGrpSpPr/>
        <p:nvPr/>
      </p:nvGrpSpPr>
      <p:grpSpPr>
        <a:xfrm>
          <a:off x="0" y="0"/>
          <a:ext cx="0" cy="0"/>
          <a:chOff x="0" y="0"/>
          <a:chExt cx="0" cy="0"/>
        </a:xfrm>
      </p:grpSpPr>
      <p:sp>
        <p:nvSpPr>
          <p:cNvPr id="2" name="Text 0"/>
          <p:cNvSpPr txBox="1"/>
          <p:nvPr/>
        </p:nvSpPr>
        <p:spPr>
          <a:xfrm>
            <a:off x="822960" y="1965960"/>
            <a:ext cx="3657600" cy="365760"/>
          </a:xfrm>
          <a:prstGeom prst="rect">
            <a:avLst/>
          </a:prstGeom>
          <a:noFill/>
          <a:ln/>
        </p:spPr>
        <p:txBody>
          <a:bodyPr wrap="square" lIns="0" tIns="0" rIns="0" bIns="0" rtlCol="0" anchor="ctr"/>
          <a:lstStyle/>
          <a:p>
            <a:pPr marL="0" indent="0">
              <a:buNone/>
            </a:pPr>
            <a:r>
              <a:rPr lang="en-US" sz="1400" dirty="0">
                <a:solidFill>
                  <a:srgbClr val="FFFFFF">
                    <a:alpha val="60000"/>
                  </a:srgbClr>
                </a:solidFill>
                <a:latin typeface="에이투지체 5 Medium"/>
                <a:ea typeface="에이투지체 5 Medium"/>
                <a:cs typeface="에이투지체 5 Medium"/>
              </a:rPr>
              <a:t>06</a:t>
            </a:r>
            <a:endParaRPr lang="en-US" sz="1400" dirty="0"/>
          </a:p>
        </p:txBody>
      </p:sp>
      <p:sp>
        <p:nvSpPr>
          <p:cNvPr id="3" name="Text 1"/>
          <p:cNvSpPr txBox="1"/>
          <p:nvPr/>
        </p:nvSpPr>
        <p:spPr>
          <a:xfrm>
            <a:off x="822960" y="2377440"/>
            <a:ext cx="10515600" cy="868680"/>
          </a:xfrm>
          <a:prstGeom prst="rect">
            <a:avLst/>
          </a:prstGeom>
          <a:noFill/>
          <a:ln/>
        </p:spPr>
        <p:txBody>
          <a:bodyPr wrap="square" lIns="0" tIns="0" rIns="0" bIns="0" rtlCol="0" anchor="ctr"/>
          <a:lstStyle/>
          <a:p>
            <a:pPr marL="0" indent="0">
              <a:buNone/>
            </a:pPr>
            <a:r>
              <a:rPr lang="en-US" sz="5600" b="1" dirty="0">
                <a:solidFill>
                  <a:srgbClr val="FFFFFF"/>
                </a:solidFill>
                <a:latin typeface="에이투지체 5 Medium"/>
                <a:ea typeface="에이투지체 5 Medium"/>
                <a:cs typeface="에이투지체 5 Medium"/>
              </a:rPr>
              <a:t>결론</a:t>
            </a:r>
            <a:endParaRPr lang="en-US" sz="5600" dirty="0"/>
          </a:p>
        </p:txBody>
      </p:sp>
      <p:sp>
        <p:nvSpPr>
          <p:cNvPr id="4" name="Text 2"/>
          <p:cNvSpPr txBox="1"/>
          <p:nvPr/>
        </p:nvSpPr>
        <p:spPr>
          <a:xfrm>
            <a:off x="822960" y="3383280"/>
            <a:ext cx="10515600" cy="457200"/>
          </a:xfrm>
          <a:prstGeom prst="rect">
            <a:avLst/>
          </a:prstGeom>
          <a:noFill/>
          <a:ln/>
        </p:spPr>
        <p:txBody>
          <a:bodyPr wrap="square" lIns="0" tIns="0" rIns="0" bIns="0" rtlCol="0" anchor="ctr"/>
          <a:lstStyle/>
          <a:p>
            <a:pPr marL="0" indent="0">
              <a:buNone/>
            </a:pPr>
            <a:r>
              <a:rPr lang="en-US" sz="2200" dirty="0">
                <a:solidFill>
                  <a:srgbClr val="FFFFFF">
                    <a:alpha val="70000"/>
                  </a:srgbClr>
                </a:solidFill>
                <a:latin typeface="에이투지체 5 Medium"/>
                <a:ea typeface="에이투지체 5 Medium"/>
                <a:cs typeface="에이투지체 5 Medium"/>
              </a:rPr>
              <a:t>최종 결과와 향후 연구 방향, 참고 자료</a:t>
            </a:r>
            <a:endParaRPr lang="en-US" sz="2200" dirty="0"/>
          </a:p>
        </p:txBody>
      </p:sp>
      <p:sp>
        <p:nvSpPr>
          <p:cNvPr id="5" name="Shape 3"/>
          <p:cNvSpPr/>
          <p:nvPr/>
        </p:nvSpPr>
        <p:spPr>
          <a:xfrm>
            <a:off x="822960" y="4434840"/>
            <a:ext cx="3393338" cy="0"/>
          </a:xfrm>
          <a:prstGeom prst="line">
            <a:avLst/>
          </a:prstGeom>
          <a:noFill/>
          <a:ln w="25400">
            <a:solidFill>
              <a:srgbClr val="D62828"/>
            </a:solidFill>
            <a:prstDash val="solid"/>
          </a:ln>
        </p:spPr>
        <p:txBody>
          <a:bodyPr/>
          <a:lstStyle/>
          <a:p>
            <a:endParaRPr/>
          </a:p>
        </p:txBody>
      </p:sp>
      <p:sp>
        <p:nvSpPr>
          <p:cNvPr id="6" name="Text 4"/>
          <p:cNvSpPr txBox="1"/>
          <p:nvPr/>
        </p:nvSpPr>
        <p:spPr>
          <a:xfrm>
            <a:off x="822960" y="4572000"/>
            <a:ext cx="3393338" cy="274320"/>
          </a:xfrm>
          <a:prstGeom prst="rect">
            <a:avLst/>
          </a:prstGeom>
          <a:noFill/>
          <a:ln/>
        </p:spPr>
        <p:txBody>
          <a:bodyPr wrap="square" lIns="0" tIns="0" rIns="0" bIns="0" rtlCol="0" anchor="ctr"/>
          <a:lstStyle/>
          <a:p>
            <a:pPr marL="0" indent="0">
              <a:buNone/>
            </a:pPr>
            <a:r>
              <a:rPr lang="en-US" sz="1200" b="1" dirty="0">
                <a:solidFill>
                  <a:srgbClr val="E87A7A"/>
                </a:solidFill>
                <a:latin typeface="에이투지체 5 Medium"/>
                <a:ea typeface="에이투지체 5 Medium"/>
                <a:cs typeface="에이투지체 5 Medium"/>
              </a:rPr>
              <a:t>01</a:t>
            </a:r>
            <a:endParaRPr lang="en-US" sz="1200" dirty="0"/>
          </a:p>
        </p:txBody>
      </p:sp>
      <p:sp>
        <p:nvSpPr>
          <p:cNvPr id="7" name="Text 5"/>
          <p:cNvSpPr txBox="1"/>
          <p:nvPr/>
        </p:nvSpPr>
        <p:spPr>
          <a:xfrm>
            <a:off x="822960"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최종 결과</a:t>
            </a:r>
            <a:endParaRPr lang="en-US" sz="1500" dirty="0"/>
          </a:p>
        </p:txBody>
      </p:sp>
      <p:sp>
        <p:nvSpPr>
          <p:cNvPr id="8" name="Shape 6"/>
          <p:cNvSpPr/>
          <p:nvPr/>
        </p:nvSpPr>
        <p:spPr>
          <a:xfrm>
            <a:off x="4399178" y="4434840"/>
            <a:ext cx="3393338" cy="0"/>
          </a:xfrm>
          <a:prstGeom prst="line">
            <a:avLst/>
          </a:prstGeom>
          <a:noFill/>
          <a:ln w="25400">
            <a:solidFill>
              <a:srgbClr val="3A414B"/>
            </a:solidFill>
            <a:prstDash val="solid"/>
          </a:ln>
        </p:spPr>
        <p:txBody>
          <a:bodyPr/>
          <a:lstStyle/>
          <a:p>
            <a:endParaRPr/>
          </a:p>
        </p:txBody>
      </p:sp>
      <p:sp>
        <p:nvSpPr>
          <p:cNvPr id="9" name="Text 7"/>
          <p:cNvSpPr txBox="1"/>
          <p:nvPr/>
        </p:nvSpPr>
        <p:spPr>
          <a:xfrm>
            <a:off x="4399178" y="4572000"/>
            <a:ext cx="3393338"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02</a:t>
            </a:r>
            <a:endParaRPr lang="en-US" sz="1200" dirty="0"/>
          </a:p>
        </p:txBody>
      </p:sp>
      <p:sp>
        <p:nvSpPr>
          <p:cNvPr id="10" name="Text 8"/>
          <p:cNvSpPr txBox="1"/>
          <p:nvPr/>
        </p:nvSpPr>
        <p:spPr>
          <a:xfrm>
            <a:off x="4399178"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향후 연구 방향</a:t>
            </a:r>
            <a:endParaRPr lang="en-US" sz="1500" dirty="0"/>
          </a:p>
        </p:txBody>
      </p:sp>
      <p:sp>
        <p:nvSpPr>
          <p:cNvPr id="11" name="Shape 9"/>
          <p:cNvSpPr/>
          <p:nvPr/>
        </p:nvSpPr>
        <p:spPr>
          <a:xfrm>
            <a:off x="7975397" y="4434840"/>
            <a:ext cx="3393338" cy="0"/>
          </a:xfrm>
          <a:prstGeom prst="line">
            <a:avLst/>
          </a:prstGeom>
          <a:noFill/>
          <a:ln w="25400">
            <a:solidFill>
              <a:srgbClr val="3A414B"/>
            </a:solidFill>
            <a:prstDash val="solid"/>
          </a:ln>
        </p:spPr>
        <p:txBody>
          <a:bodyPr/>
          <a:lstStyle/>
          <a:p>
            <a:endParaRPr/>
          </a:p>
        </p:txBody>
      </p:sp>
      <p:sp>
        <p:nvSpPr>
          <p:cNvPr id="12" name="Text 10"/>
          <p:cNvSpPr txBox="1"/>
          <p:nvPr/>
        </p:nvSpPr>
        <p:spPr>
          <a:xfrm>
            <a:off x="7975397" y="4572000"/>
            <a:ext cx="3393338"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03</a:t>
            </a:r>
            <a:endParaRPr lang="en-US" sz="1200" dirty="0"/>
          </a:p>
        </p:txBody>
      </p:sp>
      <p:sp>
        <p:nvSpPr>
          <p:cNvPr id="13" name="Text 11"/>
          <p:cNvSpPr txBox="1"/>
          <p:nvPr/>
        </p:nvSpPr>
        <p:spPr>
          <a:xfrm>
            <a:off x="7975397"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참고 자료</a:t>
            </a:r>
            <a:endParaRPr lang="en-US" sz="1500"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name="Slide 30">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06  결론</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5 Medium"/>
                <a:ea typeface="에이투지체 5 Medium"/>
                <a:cs typeface="에이투지체 5 Medium"/>
              </a:rPr>
              <a:t>최종 결과 및 향후 과제</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자료 수집부터 미래 예측까지 단일 흐름 구축</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42</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02_119_전처리_검토수정.ipynb · 03_119_통합_예측_1.ipynb</a:t>
            </a:r>
            <a:endParaRPr lang="en-US" sz="900" dirty="0"/>
          </a:p>
        </p:txBody>
      </p:sp>
      <p:sp>
        <p:nvSpPr>
          <p:cNvPr id="8" name="Shape 5"/>
          <p:cNvSpPr/>
          <p:nvPr/>
        </p:nvSpPr>
        <p:spPr>
          <a:xfrm>
            <a:off x="457200" y="1993392"/>
            <a:ext cx="2681935"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9" name="Text 6"/>
          <p:cNvSpPr txBox="1"/>
          <p:nvPr/>
        </p:nvSpPr>
        <p:spPr>
          <a:xfrm>
            <a:off x="676656" y="2176272"/>
            <a:ext cx="2243023" cy="566928"/>
          </a:xfrm>
          <a:prstGeom prst="rect">
            <a:avLst/>
          </a:prstGeom>
          <a:noFill/>
          <a:ln/>
        </p:spPr>
        <p:txBody>
          <a:bodyPr wrap="square" lIns="0" tIns="0" rIns="0" bIns="0" rtlCol="0" anchor="ctr"/>
          <a:lstStyle/>
          <a:p>
            <a:pPr marL="0" indent="0" algn="ctr">
              <a:buNone/>
            </a:pPr>
            <a:r>
              <a:rPr lang="en-US" sz="3600" kern="0" spc="-108" dirty="0">
                <a:solidFill>
                  <a:srgbClr val="D62828"/>
                </a:solidFill>
                <a:latin typeface="에이투지체 5 Medium"/>
                <a:ea typeface="에이투지체 5 Medium"/>
                <a:cs typeface="에이투지체 5 Medium"/>
              </a:rPr>
              <a:t>2,634행</a:t>
            </a:r>
            <a:endParaRPr lang="en-US" sz="3600" dirty="0"/>
          </a:p>
        </p:txBody>
      </p:sp>
      <p:sp>
        <p:nvSpPr>
          <p:cNvPr id="10" name="Text 7"/>
          <p:cNvSpPr txBox="1"/>
          <p:nvPr/>
        </p:nvSpPr>
        <p:spPr>
          <a:xfrm>
            <a:off x="676656" y="2779776"/>
            <a:ext cx="2243023" cy="274320"/>
          </a:xfrm>
          <a:prstGeom prst="rect">
            <a:avLst/>
          </a:prstGeom>
          <a:noFill/>
          <a:ln/>
        </p:spPr>
        <p:txBody>
          <a:bodyPr wrap="square" lIns="0" tIns="0" rIns="0" bIns="0" rtlCol="0" anchor="ctr"/>
          <a:lstStyle/>
          <a:p>
            <a:pPr marL="0" indent="0" algn="ctr">
              <a:buNone/>
            </a:pPr>
            <a:r>
              <a:rPr lang="en-US" sz="1400" b="1" dirty="0">
                <a:solidFill>
                  <a:srgbClr val="222222"/>
                </a:solidFill>
                <a:latin typeface="에이투지체 5 Medium"/>
                <a:ea typeface="에이투지체 5 Medium"/>
                <a:cs typeface="에이투지체 5 Medium"/>
              </a:rPr>
              <a:t>API 자동 수집</a:t>
            </a:r>
            <a:endParaRPr lang="en-US" sz="1400" dirty="0"/>
          </a:p>
        </p:txBody>
      </p:sp>
      <p:sp>
        <p:nvSpPr>
          <p:cNvPr id="11" name="Shape 8"/>
          <p:cNvSpPr/>
          <p:nvPr/>
        </p:nvSpPr>
        <p:spPr>
          <a:xfrm>
            <a:off x="676656" y="3182112"/>
            <a:ext cx="2243023" cy="0"/>
          </a:xfrm>
          <a:prstGeom prst="line">
            <a:avLst/>
          </a:prstGeom>
          <a:noFill/>
          <a:ln w="9525">
            <a:solidFill>
              <a:srgbClr val="E5E7EB"/>
            </a:solidFill>
            <a:prstDash val="solid"/>
          </a:ln>
        </p:spPr>
        <p:txBody>
          <a:bodyPr/>
          <a:lstStyle/>
          <a:p>
            <a:endParaRPr/>
          </a:p>
        </p:txBody>
      </p:sp>
      <p:sp>
        <p:nvSpPr>
          <p:cNvPr id="12" name="Text 9"/>
          <p:cNvSpPr txBox="1"/>
          <p:nvPr/>
        </p:nvSpPr>
        <p:spPr>
          <a:xfrm>
            <a:off x="676656" y="3291840"/>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45515E"/>
                </a:solidFill>
                <a:latin typeface="에이투지체 5 Medium"/>
                <a:ea typeface="에이투지체 5 Medium"/>
                <a:cs typeface="에이투지체 5 Medium"/>
              </a:rPr>
              <a:t>2017~2025 · 25개 구 월별 이송</a:t>
            </a:r>
            <a:endParaRPr lang="en-US" sz="1100" dirty="0"/>
          </a:p>
        </p:txBody>
      </p:sp>
      <p:sp>
        <p:nvSpPr>
          <p:cNvPr id="13" name="Shape 10"/>
          <p:cNvSpPr/>
          <p:nvPr/>
        </p:nvSpPr>
        <p:spPr>
          <a:xfrm>
            <a:off x="3322015" y="1993392"/>
            <a:ext cx="2681935"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14" name="Text 11"/>
          <p:cNvSpPr txBox="1"/>
          <p:nvPr/>
        </p:nvSpPr>
        <p:spPr>
          <a:xfrm>
            <a:off x="3541471" y="2176272"/>
            <a:ext cx="2243023" cy="566928"/>
          </a:xfrm>
          <a:prstGeom prst="rect">
            <a:avLst/>
          </a:prstGeom>
          <a:noFill/>
          <a:ln/>
        </p:spPr>
        <p:txBody>
          <a:bodyPr wrap="square" lIns="0" tIns="0" rIns="0" bIns="0" rtlCol="0" anchor="ctr"/>
          <a:lstStyle/>
          <a:p>
            <a:pPr marL="0" indent="0" algn="ctr">
              <a:buNone/>
            </a:pPr>
            <a:r>
              <a:rPr lang="en-US" sz="3600" kern="0" spc="-108" dirty="0">
                <a:solidFill>
                  <a:srgbClr val="D62828"/>
                </a:solidFill>
                <a:latin typeface="에이투지체 5 Medium"/>
                <a:ea typeface="에이투지체 5 Medium"/>
                <a:cs typeface="에이투지체 5 Medium"/>
              </a:rPr>
              <a:t>2종</a:t>
            </a:r>
            <a:endParaRPr lang="en-US" sz="3600" dirty="0"/>
          </a:p>
        </p:txBody>
      </p:sp>
      <p:sp>
        <p:nvSpPr>
          <p:cNvPr id="15" name="Text 12"/>
          <p:cNvSpPr txBox="1"/>
          <p:nvPr/>
        </p:nvSpPr>
        <p:spPr>
          <a:xfrm>
            <a:off x="3541471" y="2779776"/>
            <a:ext cx="2243023" cy="274320"/>
          </a:xfrm>
          <a:prstGeom prst="rect">
            <a:avLst/>
          </a:prstGeom>
          <a:noFill/>
          <a:ln/>
        </p:spPr>
        <p:txBody>
          <a:bodyPr wrap="square" lIns="0" tIns="0" rIns="0" bIns="0" rtlCol="0" anchor="ctr"/>
          <a:lstStyle/>
          <a:p>
            <a:pPr marL="0" indent="0" algn="ctr">
              <a:buNone/>
            </a:pPr>
            <a:r>
              <a:rPr lang="en-US" sz="1400" b="1" dirty="0">
                <a:solidFill>
                  <a:srgbClr val="222222"/>
                </a:solidFill>
                <a:latin typeface="에이투지체 5 Medium"/>
                <a:ea typeface="에이투지체 5 Medium"/>
                <a:cs typeface="에이투지체 5 Medium"/>
              </a:rPr>
              <a:t>학습 표 구축</a:t>
            </a:r>
            <a:endParaRPr lang="en-US" sz="1400" dirty="0"/>
          </a:p>
        </p:txBody>
      </p:sp>
      <p:sp>
        <p:nvSpPr>
          <p:cNvPr id="16" name="Shape 13"/>
          <p:cNvSpPr/>
          <p:nvPr/>
        </p:nvSpPr>
        <p:spPr>
          <a:xfrm>
            <a:off x="3541471" y="3182112"/>
            <a:ext cx="2243023" cy="0"/>
          </a:xfrm>
          <a:prstGeom prst="line">
            <a:avLst/>
          </a:prstGeom>
          <a:noFill/>
          <a:ln w="9525">
            <a:solidFill>
              <a:srgbClr val="E5E7EB"/>
            </a:solidFill>
            <a:prstDash val="solid"/>
          </a:ln>
        </p:spPr>
        <p:txBody>
          <a:bodyPr/>
          <a:lstStyle/>
          <a:p>
            <a:endParaRPr/>
          </a:p>
        </p:txBody>
      </p:sp>
      <p:sp>
        <p:nvSpPr>
          <p:cNvPr id="17" name="Text 14"/>
          <p:cNvSpPr txBox="1"/>
          <p:nvPr/>
        </p:nvSpPr>
        <p:spPr>
          <a:xfrm>
            <a:off x="3541471" y="3291840"/>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45515E"/>
                </a:solidFill>
                <a:latin typeface="에이투지체 5 Medium"/>
                <a:ea typeface="에이투지체 5 Medium"/>
                <a:cs typeface="에이투지체 5 Medium"/>
              </a:rPr>
              <a:t>이송 (구 × 월) · 인구 (구 × 일)</a:t>
            </a:r>
            <a:endParaRPr lang="en-US" sz="1100" dirty="0"/>
          </a:p>
        </p:txBody>
      </p:sp>
      <p:sp>
        <p:nvSpPr>
          <p:cNvPr id="18" name="Shape 15"/>
          <p:cNvSpPr/>
          <p:nvPr/>
        </p:nvSpPr>
        <p:spPr>
          <a:xfrm>
            <a:off x="6186830" y="1993392"/>
            <a:ext cx="2681935" cy="1828800"/>
          </a:xfrm>
          <a:prstGeom prst="roundRect">
            <a:avLst>
              <a:gd name="adj" fmla="val 7000"/>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txBody>
          <a:bodyPr/>
          <a:lstStyle/>
          <a:p>
            <a:endParaRPr/>
          </a:p>
        </p:txBody>
      </p:sp>
      <p:sp>
        <p:nvSpPr>
          <p:cNvPr id="19" name="Text 16"/>
          <p:cNvSpPr txBox="1"/>
          <p:nvPr/>
        </p:nvSpPr>
        <p:spPr>
          <a:xfrm>
            <a:off x="6406286" y="2176272"/>
            <a:ext cx="2243023" cy="566928"/>
          </a:xfrm>
          <a:prstGeom prst="rect">
            <a:avLst/>
          </a:prstGeom>
          <a:noFill/>
          <a:ln/>
        </p:spPr>
        <p:txBody>
          <a:bodyPr wrap="square" lIns="0" tIns="0" rIns="0" bIns="0" rtlCol="0" anchor="ctr"/>
          <a:lstStyle/>
          <a:p>
            <a:pPr marL="0" indent="0" algn="ctr">
              <a:buNone/>
            </a:pPr>
            <a:r>
              <a:rPr lang="en-US" sz="3600" kern="0" spc="-108" dirty="0">
                <a:solidFill>
                  <a:srgbClr val="FFFFFF"/>
                </a:solidFill>
                <a:latin typeface="에이투지체 5 Medium"/>
                <a:ea typeface="에이투지체 5 Medium"/>
                <a:cs typeface="에이투지체 5 Medium"/>
              </a:rPr>
              <a:t>94.6%</a:t>
            </a:r>
            <a:endParaRPr lang="en-US" sz="3600" dirty="0"/>
          </a:p>
        </p:txBody>
      </p:sp>
      <p:sp>
        <p:nvSpPr>
          <p:cNvPr id="20" name="Text 17"/>
          <p:cNvSpPr txBox="1"/>
          <p:nvPr/>
        </p:nvSpPr>
        <p:spPr>
          <a:xfrm>
            <a:off x="6406286" y="2779776"/>
            <a:ext cx="2243023"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에이투지체 5 Medium"/>
                <a:ea typeface="에이투지체 5 Medium"/>
                <a:cs typeface="에이투지체 5 Medium"/>
              </a:rPr>
              <a:t>이송 건수 예측</a:t>
            </a:r>
            <a:endParaRPr lang="en-US" sz="1400" dirty="0"/>
          </a:p>
        </p:txBody>
      </p:sp>
      <p:sp>
        <p:nvSpPr>
          <p:cNvPr id="21" name="Shape 18"/>
          <p:cNvSpPr/>
          <p:nvPr/>
        </p:nvSpPr>
        <p:spPr>
          <a:xfrm>
            <a:off x="6406286" y="3182112"/>
            <a:ext cx="2243023" cy="0"/>
          </a:xfrm>
          <a:prstGeom prst="line">
            <a:avLst/>
          </a:prstGeom>
          <a:noFill/>
          <a:ln w="9525">
            <a:solidFill>
              <a:srgbClr val="E87A7A"/>
            </a:solidFill>
            <a:prstDash val="solid"/>
          </a:ln>
        </p:spPr>
        <p:txBody>
          <a:bodyPr/>
          <a:lstStyle/>
          <a:p>
            <a:endParaRPr/>
          </a:p>
        </p:txBody>
      </p:sp>
      <p:sp>
        <p:nvSpPr>
          <p:cNvPr id="22" name="Text 19"/>
          <p:cNvSpPr txBox="1"/>
          <p:nvPr/>
        </p:nvSpPr>
        <p:spPr>
          <a:xfrm>
            <a:off x="6406286" y="3291840"/>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FDE3E3"/>
                </a:solidFill>
                <a:latin typeface="에이투지체 5 Medium"/>
                <a:ea typeface="에이투지체 5 Medium"/>
                <a:cs typeface="에이투지체 5 Medium"/>
              </a:rPr>
              <a:t>앙상블 · 평가 6개월 정확도</a:t>
            </a:r>
            <a:endParaRPr lang="en-US" sz="1100" dirty="0"/>
          </a:p>
        </p:txBody>
      </p:sp>
      <p:sp>
        <p:nvSpPr>
          <p:cNvPr id="23" name="Shape 20"/>
          <p:cNvSpPr/>
          <p:nvPr/>
        </p:nvSpPr>
        <p:spPr>
          <a:xfrm>
            <a:off x="9051646" y="1993392"/>
            <a:ext cx="2681935"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4" name="Text 21"/>
          <p:cNvSpPr txBox="1"/>
          <p:nvPr/>
        </p:nvSpPr>
        <p:spPr>
          <a:xfrm>
            <a:off x="9271102" y="2176272"/>
            <a:ext cx="2243023" cy="566928"/>
          </a:xfrm>
          <a:prstGeom prst="rect">
            <a:avLst/>
          </a:prstGeom>
          <a:noFill/>
          <a:ln/>
        </p:spPr>
        <p:txBody>
          <a:bodyPr wrap="square" lIns="0" tIns="0" rIns="0" bIns="0" rtlCol="0" anchor="ctr"/>
          <a:lstStyle/>
          <a:p>
            <a:pPr marL="0" indent="0" algn="ctr">
              <a:buNone/>
            </a:pPr>
            <a:r>
              <a:rPr lang="en-US" sz="3600" kern="0" spc="-108" dirty="0">
                <a:solidFill>
                  <a:srgbClr val="D62828"/>
                </a:solidFill>
                <a:latin typeface="에이투지체 5 Medium"/>
                <a:ea typeface="에이투지체 5 Medium"/>
                <a:cs typeface="에이투지체 5 Medium"/>
              </a:rPr>
              <a:t>98.2%</a:t>
            </a:r>
            <a:endParaRPr lang="en-US" sz="3600" dirty="0"/>
          </a:p>
        </p:txBody>
      </p:sp>
      <p:sp>
        <p:nvSpPr>
          <p:cNvPr id="25" name="Text 22"/>
          <p:cNvSpPr txBox="1"/>
          <p:nvPr/>
        </p:nvSpPr>
        <p:spPr>
          <a:xfrm>
            <a:off x="9271102" y="2779776"/>
            <a:ext cx="2243023" cy="274320"/>
          </a:xfrm>
          <a:prstGeom prst="rect">
            <a:avLst/>
          </a:prstGeom>
          <a:noFill/>
          <a:ln/>
        </p:spPr>
        <p:txBody>
          <a:bodyPr wrap="square" lIns="0" tIns="0" rIns="0" bIns="0" rtlCol="0" anchor="ctr"/>
          <a:lstStyle/>
          <a:p>
            <a:pPr marL="0" indent="0" algn="ctr">
              <a:buNone/>
            </a:pPr>
            <a:r>
              <a:rPr lang="en-US" sz="1400" b="1" dirty="0">
                <a:solidFill>
                  <a:srgbClr val="222222"/>
                </a:solidFill>
                <a:latin typeface="에이투지체 5 Medium"/>
                <a:ea typeface="에이투지체 5 Medium"/>
                <a:cs typeface="에이투지체 5 Medium"/>
              </a:rPr>
              <a:t>인구 밀집 예측</a:t>
            </a:r>
            <a:endParaRPr lang="en-US" sz="1400" dirty="0"/>
          </a:p>
        </p:txBody>
      </p:sp>
      <p:sp>
        <p:nvSpPr>
          <p:cNvPr id="26" name="Shape 23"/>
          <p:cNvSpPr/>
          <p:nvPr/>
        </p:nvSpPr>
        <p:spPr>
          <a:xfrm>
            <a:off x="9271102" y="3182112"/>
            <a:ext cx="2243023" cy="0"/>
          </a:xfrm>
          <a:prstGeom prst="line">
            <a:avLst/>
          </a:prstGeom>
          <a:noFill/>
          <a:ln w="9525">
            <a:solidFill>
              <a:srgbClr val="E5E7EB"/>
            </a:solidFill>
            <a:prstDash val="solid"/>
          </a:ln>
        </p:spPr>
        <p:txBody>
          <a:bodyPr/>
          <a:lstStyle/>
          <a:p>
            <a:endParaRPr/>
          </a:p>
        </p:txBody>
      </p:sp>
      <p:sp>
        <p:nvSpPr>
          <p:cNvPr id="27" name="Text 24"/>
          <p:cNvSpPr txBox="1"/>
          <p:nvPr/>
        </p:nvSpPr>
        <p:spPr>
          <a:xfrm>
            <a:off x="9271102" y="3291840"/>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45515E"/>
                </a:solidFill>
                <a:latin typeface="에이투지체 5 Medium"/>
                <a:ea typeface="에이투지체 5 Medium"/>
                <a:cs typeface="에이투지체 5 Medium"/>
              </a:rPr>
              <a:t>Random Forest · 평가 정확도</a:t>
            </a:r>
            <a:endParaRPr lang="en-US" sz="1100" dirty="0"/>
          </a:p>
        </p:txBody>
      </p:sp>
      <p:sp>
        <p:nvSpPr>
          <p:cNvPr id="28" name="Shape 25"/>
          <p:cNvSpPr/>
          <p:nvPr/>
        </p:nvSpPr>
        <p:spPr>
          <a:xfrm>
            <a:off x="457200" y="4005072"/>
            <a:ext cx="3637483" cy="2185416"/>
          </a:xfrm>
          <a:prstGeom prst="roundRect">
            <a:avLst>
              <a:gd name="adj" fmla="val 4184"/>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29" name="Text 26"/>
          <p:cNvSpPr txBox="1"/>
          <p:nvPr/>
        </p:nvSpPr>
        <p:spPr>
          <a:xfrm>
            <a:off x="676656" y="4169664"/>
            <a:ext cx="3198571"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모델 선정 원칙</a:t>
            </a:r>
            <a:endParaRPr lang="en-US" sz="1800" dirty="0"/>
          </a:p>
        </p:txBody>
      </p:sp>
      <p:sp>
        <p:nvSpPr>
          <p:cNvPr id="30" name="Shape 27"/>
          <p:cNvSpPr/>
          <p:nvPr/>
        </p:nvSpPr>
        <p:spPr>
          <a:xfrm>
            <a:off x="676656" y="4572000"/>
            <a:ext cx="3198571" cy="0"/>
          </a:xfrm>
          <a:prstGeom prst="line">
            <a:avLst/>
          </a:prstGeom>
          <a:noFill/>
          <a:ln w="9525">
            <a:solidFill>
              <a:srgbClr val="E5E7EB"/>
            </a:solidFill>
            <a:prstDash val="solid"/>
          </a:ln>
        </p:spPr>
        <p:txBody>
          <a:bodyPr/>
          <a:lstStyle/>
          <a:p>
            <a:endParaRPr/>
          </a:p>
        </p:txBody>
      </p:sp>
      <p:sp>
        <p:nvSpPr>
          <p:cNvPr id="31" name="Text 28"/>
          <p:cNvSpPr txBox="1"/>
          <p:nvPr/>
        </p:nvSpPr>
        <p:spPr>
          <a:xfrm>
            <a:off x="676656" y="4699312"/>
            <a:ext cx="3198571" cy="1380744"/>
          </a:xfrm>
          <a:prstGeom prst="rect">
            <a:avLst/>
          </a:prstGeom>
          <a:noFill/>
          <a:ln/>
        </p:spPr>
        <p:txBody>
          <a:bodyPr wrap="square" lIns="0" tIns="0" rIns="0" bIns="0" rtlCol="0" anchor="t"/>
          <a:lstStyle/>
          <a:p>
            <a:pPr marL="0" indent="0">
              <a:lnSpc>
                <a:spcPct val="140000"/>
              </a:lnSpc>
              <a:buNone/>
            </a:pPr>
            <a:r>
              <a:rPr lang="en-US" sz="1100" dirty="0">
                <a:solidFill>
                  <a:srgbClr val="45515E"/>
                </a:solidFill>
                <a:latin typeface="에이투지체 5 Medium"/>
                <a:ea typeface="에이투지체 5 Medium"/>
                <a:cs typeface="에이투지체 5 Medium"/>
              </a:rPr>
              <a:t>· 과거 자료 기반 변수 탐색</a:t>
            </a:r>
            <a:endParaRPr lang="en-US" sz="1100" dirty="0"/>
          </a:p>
          <a:p>
            <a:pPr marL="0" indent="0">
              <a:lnSpc>
                <a:spcPct val="140000"/>
              </a:lnSpc>
              <a:buNone/>
            </a:pPr>
            <a:r>
              <a:rPr lang="en-US" sz="1100" dirty="0">
                <a:solidFill>
                  <a:srgbClr val="45515E"/>
                </a:solidFill>
                <a:latin typeface="에이투지체 5 Medium"/>
                <a:ea typeface="에이투지체 5 Medium"/>
                <a:cs typeface="에이투지체 5 Medium"/>
              </a:rPr>
              <a:t>· 실험을 통한 특성 효과 검증</a:t>
            </a:r>
            <a:endParaRPr lang="en-US" sz="1100" dirty="0"/>
          </a:p>
          <a:p>
            <a:pPr marL="0" indent="0">
              <a:lnSpc>
                <a:spcPct val="140000"/>
              </a:lnSpc>
              <a:buNone/>
            </a:pPr>
            <a:r>
              <a:rPr lang="en-US" sz="1100" dirty="0">
                <a:solidFill>
                  <a:srgbClr val="45515E"/>
                </a:solidFill>
                <a:latin typeface="에이투지체 5 Medium"/>
                <a:ea typeface="에이투지체 5 Medium"/>
                <a:cs typeface="에이투지체 5 Medium"/>
              </a:rPr>
              <a:t>· 검증 데이터 기준 모델 선택</a:t>
            </a:r>
            <a:endParaRPr lang="en-US" sz="1100" dirty="0"/>
          </a:p>
          <a:p>
            <a:pPr marL="0" indent="0">
              <a:lnSpc>
                <a:spcPct val="140000"/>
              </a:lnSpc>
              <a:buNone/>
            </a:pPr>
            <a:r>
              <a:rPr lang="en-US" sz="1100" dirty="0">
                <a:solidFill>
                  <a:srgbClr val="45515E"/>
                </a:solidFill>
                <a:latin typeface="에이투지체 5 Medium"/>
                <a:ea typeface="에이투지체 5 Medium"/>
                <a:cs typeface="에이투지체 5 Medium"/>
              </a:rPr>
              <a:t>· 평가 데이터는 확인 용도로만 사용</a:t>
            </a:r>
            <a:endParaRPr lang="en-US" sz="1100" dirty="0"/>
          </a:p>
        </p:txBody>
      </p:sp>
      <p:sp>
        <p:nvSpPr>
          <p:cNvPr id="32" name="Shape 29"/>
          <p:cNvSpPr/>
          <p:nvPr/>
        </p:nvSpPr>
        <p:spPr>
          <a:xfrm>
            <a:off x="4277563" y="4005072"/>
            <a:ext cx="3637483" cy="2185416"/>
          </a:xfrm>
          <a:prstGeom prst="roundRect">
            <a:avLst>
              <a:gd name="adj" fmla="val 4184"/>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33" name="Text 30"/>
          <p:cNvSpPr txBox="1"/>
          <p:nvPr/>
        </p:nvSpPr>
        <p:spPr>
          <a:xfrm>
            <a:off x="4497019" y="4169664"/>
            <a:ext cx="3198571"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향후 연구 방향</a:t>
            </a:r>
            <a:endParaRPr lang="en-US" sz="1800" dirty="0"/>
          </a:p>
        </p:txBody>
      </p:sp>
      <p:sp>
        <p:nvSpPr>
          <p:cNvPr id="34" name="Shape 31"/>
          <p:cNvSpPr/>
          <p:nvPr/>
        </p:nvSpPr>
        <p:spPr>
          <a:xfrm>
            <a:off x="4497019" y="4572000"/>
            <a:ext cx="3198571" cy="0"/>
          </a:xfrm>
          <a:prstGeom prst="line">
            <a:avLst/>
          </a:prstGeom>
          <a:noFill/>
          <a:ln w="9525">
            <a:solidFill>
              <a:srgbClr val="E5E7EB"/>
            </a:solidFill>
            <a:prstDash val="solid"/>
          </a:ln>
        </p:spPr>
        <p:txBody>
          <a:bodyPr/>
          <a:lstStyle/>
          <a:p>
            <a:endParaRPr/>
          </a:p>
        </p:txBody>
      </p:sp>
      <p:sp>
        <p:nvSpPr>
          <p:cNvPr id="35" name="Text 32"/>
          <p:cNvSpPr txBox="1"/>
          <p:nvPr/>
        </p:nvSpPr>
        <p:spPr>
          <a:xfrm>
            <a:off x="4497019" y="4699312"/>
            <a:ext cx="3198571" cy="1380744"/>
          </a:xfrm>
          <a:prstGeom prst="rect">
            <a:avLst/>
          </a:prstGeom>
          <a:noFill/>
          <a:ln/>
        </p:spPr>
        <p:txBody>
          <a:bodyPr wrap="square" lIns="0" tIns="0" rIns="0" bIns="0" rtlCol="0" anchor="t"/>
          <a:lstStyle/>
          <a:p>
            <a:pPr marL="0" indent="0">
              <a:lnSpc>
                <a:spcPct val="140000"/>
              </a:lnSpc>
              <a:buNone/>
            </a:pPr>
            <a:r>
              <a:rPr lang="en-US" sz="1100" dirty="0">
                <a:solidFill>
                  <a:srgbClr val="45515E"/>
                </a:solidFill>
                <a:latin typeface="에이투지체 5 Medium"/>
                <a:ea typeface="에이투지체 5 Medium"/>
                <a:cs typeface="에이투지체 5 Medium"/>
              </a:rPr>
              <a:t>· 실시간 구급차 이동 시간 결합</a:t>
            </a:r>
            <a:endParaRPr lang="en-US" sz="1100" dirty="0"/>
          </a:p>
          <a:p>
            <a:pPr marL="0" indent="0">
              <a:lnSpc>
                <a:spcPct val="140000"/>
              </a:lnSpc>
              <a:buNone/>
            </a:pPr>
            <a:r>
              <a:rPr lang="en-US" sz="1100" dirty="0">
                <a:solidFill>
                  <a:srgbClr val="45515E"/>
                </a:solidFill>
                <a:latin typeface="에이투지체 5 Medium"/>
                <a:ea typeface="에이투지체 5 Medium"/>
                <a:cs typeface="에이투지체 5 Medium"/>
              </a:rPr>
              <a:t>· 병원별 진료 가능 과목 결합</a:t>
            </a:r>
            <a:endParaRPr lang="en-US" sz="1100" dirty="0"/>
          </a:p>
          <a:p>
            <a:pPr marL="0" indent="0">
              <a:lnSpc>
                <a:spcPct val="140000"/>
              </a:lnSpc>
              <a:buNone/>
            </a:pPr>
            <a:r>
              <a:rPr lang="en-US" sz="1100" dirty="0">
                <a:solidFill>
                  <a:srgbClr val="45515E"/>
                </a:solidFill>
                <a:latin typeface="에이투지체 5 Medium"/>
                <a:ea typeface="에이투지체 5 Medium"/>
                <a:cs typeface="에이투지체 5 Medium"/>
              </a:rPr>
              <a:t>· 최적 경로 안내 · 병원 자동 배정</a:t>
            </a:r>
            <a:endParaRPr lang="en-US" sz="1100" dirty="0"/>
          </a:p>
          <a:p>
            <a:pPr marL="0" indent="0">
              <a:lnSpc>
                <a:spcPct val="140000"/>
              </a:lnSpc>
              <a:buNone/>
            </a:pPr>
            <a:r>
              <a:rPr lang="en-US" sz="1100" dirty="0">
                <a:solidFill>
                  <a:srgbClr val="45515E"/>
                </a:solidFill>
                <a:latin typeface="에이투지체 5 Medium"/>
                <a:ea typeface="에이투지체 5 Medium"/>
                <a:cs typeface="에이투지체 5 Medium"/>
              </a:rPr>
              <a:t>· 현장 시범 운영 및 실증</a:t>
            </a:r>
            <a:endParaRPr lang="en-US" sz="1100" dirty="0"/>
          </a:p>
        </p:txBody>
      </p:sp>
      <p:sp>
        <p:nvSpPr>
          <p:cNvPr id="36" name="Shape 33"/>
          <p:cNvSpPr/>
          <p:nvPr/>
        </p:nvSpPr>
        <p:spPr>
          <a:xfrm>
            <a:off x="8097926" y="4005072"/>
            <a:ext cx="3636569" cy="2185416"/>
          </a:xfrm>
          <a:prstGeom prst="roundRect">
            <a:avLst>
              <a:gd name="adj" fmla="val 4184"/>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txBody>
          <a:bodyPr/>
          <a:lstStyle/>
          <a:p>
            <a:endParaRPr/>
          </a:p>
        </p:txBody>
      </p:sp>
      <p:sp>
        <p:nvSpPr>
          <p:cNvPr id="37" name="Text 34"/>
          <p:cNvSpPr txBox="1"/>
          <p:nvPr/>
        </p:nvSpPr>
        <p:spPr>
          <a:xfrm>
            <a:off x="8317382" y="4169664"/>
            <a:ext cx="3197657"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참고 자료</a:t>
            </a:r>
            <a:endParaRPr lang="en-US" sz="1800" dirty="0"/>
          </a:p>
        </p:txBody>
      </p:sp>
      <p:sp>
        <p:nvSpPr>
          <p:cNvPr id="38" name="Shape 35"/>
          <p:cNvSpPr/>
          <p:nvPr/>
        </p:nvSpPr>
        <p:spPr>
          <a:xfrm>
            <a:off x="8317382" y="4572000"/>
            <a:ext cx="3197657" cy="0"/>
          </a:xfrm>
          <a:prstGeom prst="line">
            <a:avLst/>
          </a:prstGeom>
          <a:noFill/>
          <a:ln w="9525">
            <a:solidFill>
              <a:srgbClr val="E5E7EB"/>
            </a:solidFill>
            <a:prstDash val="solid"/>
          </a:ln>
        </p:spPr>
        <p:txBody>
          <a:bodyPr/>
          <a:lstStyle/>
          <a:p>
            <a:endParaRPr/>
          </a:p>
        </p:txBody>
      </p:sp>
      <p:sp>
        <p:nvSpPr>
          <p:cNvPr id="39" name="Text 36"/>
          <p:cNvSpPr txBox="1"/>
          <p:nvPr/>
        </p:nvSpPr>
        <p:spPr>
          <a:xfrm>
            <a:off x="8317382" y="4699312"/>
            <a:ext cx="3197657" cy="1380744"/>
          </a:xfrm>
          <a:prstGeom prst="rect">
            <a:avLst/>
          </a:prstGeom>
          <a:noFill/>
          <a:ln/>
        </p:spPr>
        <p:txBody>
          <a:bodyPr wrap="square" lIns="0" tIns="0" rIns="0" bIns="0" rtlCol="0" anchor="t"/>
          <a:lstStyle/>
          <a:p>
            <a:pPr marL="0" indent="0">
              <a:lnSpc>
                <a:spcPct val="130000"/>
              </a:lnSpc>
              <a:buNone/>
            </a:pPr>
            <a:r>
              <a:rPr lang="en-US" sz="1050" dirty="0">
                <a:solidFill>
                  <a:srgbClr val="45515E"/>
                </a:solidFill>
                <a:latin typeface="에이투지체 5 Medium"/>
                <a:ea typeface="에이투지체 5 Medium"/>
                <a:cs typeface="에이투지체 5 Medium"/>
              </a:rPr>
              <a:t>· 소방청 구급통계 서비스 API (2025)</a:t>
            </a:r>
            <a:endParaRPr lang="en-US" sz="1050" dirty="0"/>
          </a:p>
          <a:p>
            <a:pPr marL="0" indent="0">
              <a:lnSpc>
                <a:spcPct val="130000"/>
              </a:lnSpc>
              <a:buNone/>
            </a:pPr>
            <a:r>
              <a:rPr lang="en-US" sz="1050" dirty="0">
                <a:solidFill>
                  <a:srgbClr val="45515E"/>
                </a:solidFill>
                <a:latin typeface="에이투지체 5 Medium"/>
                <a:ea typeface="에이투지체 5 Medium"/>
                <a:cs typeface="에이투지체 5 Medium"/>
              </a:rPr>
              <a:t>· 국립중앙의료원 응급의료기관 API (2026)</a:t>
            </a:r>
            <a:endParaRPr lang="en-US" sz="1050" dirty="0"/>
          </a:p>
          <a:p>
            <a:pPr marL="0" indent="0">
              <a:lnSpc>
                <a:spcPct val="130000"/>
              </a:lnSpc>
              <a:buNone/>
            </a:pPr>
            <a:r>
              <a:rPr lang="en-US" sz="1050" dirty="0">
                <a:solidFill>
                  <a:srgbClr val="45515E"/>
                </a:solidFill>
                <a:latin typeface="에이투지체 5 Medium"/>
                <a:ea typeface="에이투지체 5 Medium"/>
                <a:cs typeface="에이투지체 5 Medium"/>
              </a:rPr>
              <a:t>· 통계청 KOSIS 구급 · 구조활동 실적</a:t>
            </a:r>
            <a:endParaRPr lang="en-US" sz="1050" dirty="0"/>
          </a:p>
          <a:p>
            <a:pPr marL="0" indent="0">
              <a:lnSpc>
                <a:spcPct val="130000"/>
              </a:lnSpc>
              <a:buNone/>
            </a:pPr>
            <a:r>
              <a:rPr lang="en-US" sz="1050" dirty="0">
                <a:solidFill>
                  <a:srgbClr val="45515E"/>
                </a:solidFill>
                <a:latin typeface="에이투지체 5 Medium"/>
                <a:ea typeface="에이투지체 5 Medium"/>
                <a:cs typeface="에이투지체 5 Medium"/>
              </a:rPr>
              <a:t>· 서울 생활인구 일별 집계표</a:t>
            </a:r>
            <a:endParaRPr lang="en-US" sz="1050" dirty="0"/>
          </a:p>
          <a:p>
            <a:pPr marL="0" indent="0">
              <a:lnSpc>
                <a:spcPct val="130000"/>
              </a:lnSpc>
              <a:buNone/>
            </a:pPr>
            <a:r>
              <a:rPr lang="en-US" sz="1050" dirty="0">
                <a:solidFill>
                  <a:srgbClr val="45515E"/>
                </a:solidFill>
                <a:latin typeface="에이투지체 5 Medium"/>
                <a:ea typeface="에이투지체 5 Medium"/>
                <a:cs typeface="에이투지체 5 Medium"/>
              </a:rPr>
              <a:t>· 서울시 구급출동 현황 (2021~2022)</a:t>
            </a:r>
            <a:endParaRPr lang="en-US" sz="105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에이투지체 7 Bold"/>
        <a:ea typeface="에이투지체 7 Bold"/>
        <a:cs typeface="에이투지체 7 Bold"/>
        <a:font script="Jpan" typeface="游ゴシック Light"/>
        <a:font script="Hang" typeface="에이투지체 7 Bold"/>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에이투지체 5 Medium"/>
        <a:ea typeface="에이투지체 5 Medium"/>
        <a:cs typeface="에이투지체 5 Medium"/>
        <a:font script="Jpan" typeface="游ゴシック"/>
        <a:font script="Hang" typeface="에이투지체 5 Medium"/>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257</TotalTime>
  <Words>6559</Words>
  <Application>Microsoft Office PowerPoint</Application>
  <PresentationFormat>와이드스크린</PresentationFormat>
  <Paragraphs>1189</Paragraphs>
  <Slides>43</Slides>
  <Notes>43</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43</vt:i4>
      </vt:variant>
    </vt:vector>
  </HeadingPairs>
  <TitlesOfParts>
    <vt:vector size="49" baseType="lpstr">
      <vt:lpstr>에이투지체 3 Light</vt:lpstr>
      <vt:lpstr>Arial</vt:lpstr>
      <vt:lpstr>에이투지체 4 Regular</vt:lpstr>
      <vt:lpstr>에이투지체 5 Medium</vt:lpstr>
      <vt:lpstr>맑은 고딕</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서울시 119 구급 수요 예측</dc:title>
  <dc:subject>PptxGenJS Presentation</dc:subject>
  <dc:creator>PptxGenJS</dc:creator>
  <cp:lastModifiedBy>Admin</cp:lastModifiedBy>
  <cp:revision>32</cp:revision>
  <dcterms:created xsi:type="dcterms:W3CDTF">2026-10-01T06:25:50Z</dcterms:created>
  <dcterms:modified xsi:type="dcterms:W3CDTF">2026-10-12T03:33:18Z</dcterms:modified>
</cp:coreProperties>
</file>