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2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출동건수</c:v>
                </c:pt>
              </c:strCache>
            </c:strRef>
          </c:tx>
          <c:spPr>
            <a:solidFill>
              <a:srgbClr val="FF5A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81818"/>
                    </a:solidFill>
                    <a:latin typeface="Pretendard"/>
                    <a:ea typeface="Pretendard"/>
                    <a:cs typeface="Pretendar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강남구</c:v>
                  </c:pt>
                  <c:pt idx="1">
                    <c:v>송파구</c:v>
                  </c:pt>
                  <c:pt idx="2">
                    <c:v>마포구</c:v>
                  </c:pt>
                  <c:pt idx="3">
                    <c:v>서초구</c:v>
                  </c:pt>
                  <c:pt idx="4">
                    <c:v>구로구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2768</c:v>
                </c:pt>
                <c:pt idx="1">
                  <c:v>2571</c:v>
                </c:pt>
                <c:pt idx="2">
                  <c:v>2415</c:v>
                </c:pt>
                <c:pt idx="3">
                  <c:v>2411</c:v>
                </c:pt>
                <c:pt idx="4">
                  <c:v>2282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이송건수</c:v>
                </c:pt>
              </c:strCache>
            </c:strRef>
          </c:tx>
          <c:spPr>
            <a:solidFill>
              <a:srgbClr val="9999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81818"/>
                    </a:solidFill>
                    <a:latin typeface="Pretendard"/>
                    <a:ea typeface="Pretendard"/>
                    <a:cs typeface="Pretendar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강남구</c:v>
                  </c:pt>
                  <c:pt idx="1">
                    <c:v>송파구</c:v>
                  </c:pt>
                  <c:pt idx="2">
                    <c:v>마포구</c:v>
                  </c:pt>
                  <c:pt idx="3">
                    <c:v>서초구</c:v>
                  </c:pt>
                  <c:pt idx="4">
                    <c:v>구로구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1441</c:v>
                </c:pt>
                <c:pt idx="1">
                  <c:v>1266</c:v>
                </c:pt>
                <c:pt idx="2">
                  <c:v>1169</c:v>
                </c:pt>
                <c:pt idx="3">
                  <c:v>1118</c:v>
                </c:pt>
                <c:pt idx="4">
                  <c:v>1270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81818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00"/>
          <c:min val="0"/>
        </c:scaling>
        <c:delete val="1"/>
        <c:axPos val="l"/>
        <c:majorGridlines>
          <c:spPr>
            <a:ln w="9525" cap="flat">
              <a:solidFill>
                <a:srgbClr val="EFEF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</c:v>
                </c:pt>
              </c:strCache>
            </c:strRef>
          </c:tx>
          <c:spPr>
            <a:solidFill>
              <a:srgbClr val="2F5BF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81818"/>
                    </a:solidFill>
                    <a:latin typeface="Pretendard"/>
                    <a:ea typeface="Pretendard"/>
                    <a:cs typeface="Pretendar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이송 · 전년_인명갇힘</c:v>
                  </c:pt>
                  <c:pt idx="1">
                    <c:v>이송 · 전년_승강기사고</c:v>
                  </c:pt>
                  <c:pt idx="2">
                    <c:v>인구 · 전일_Pop_Diff</c:v>
                  </c:pt>
                  <c:pt idx="3">
                    <c:v>인구 · 전일_동일자치구행정동간이동</c:v>
                  </c:pt>
                  <c:pt idx="4">
                    <c:v>인구 · 전일_일최대이동인구수</c:v>
                  </c:pt>
                  <c:pt idx="5">
                    <c:v>인구 · 전일_Night_Pop</c:v>
                  </c:pt>
                  <c:pt idx="6">
                    <c:v>이송 · 전년_transport_person</c:v>
                  </c:pt>
                  <c:pt idx="7">
                    <c:v>인구 · 7일전_일최대인구수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0.388</c:v>
                </c:pt>
                <c:pt idx="1">
                  <c:v>0.419</c:v>
                </c:pt>
                <c:pt idx="2">
                  <c:v>0.494</c:v>
                </c:pt>
                <c:pt idx="3">
                  <c:v>0.613</c:v>
                </c:pt>
                <c:pt idx="4">
                  <c:v>0.845</c:v>
                </c:pt>
                <c:pt idx="5">
                  <c:v>0.875</c:v>
                </c:pt>
                <c:pt idx="6">
                  <c:v>0.919</c:v>
                </c:pt>
                <c:pt idx="7">
                  <c:v>0.979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81818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057400"/>
            <a:ext cx="2273300" cy="254000"/>
          </a:xfrm>
          <a:prstGeom prst="roundRect">
            <a:avLst>
              <a:gd name="adj" fmla="val 50000"/>
            </a:avLst>
          </a:prstGeom>
          <a:ln w="9525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09600" y="2057400"/>
            <a:ext cx="2273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응급의료 대응 최적화 프로젝트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2540000"/>
            <a:ext cx="109728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600" spc="-160" kern="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119 구급 데이터 전처리</a:t>
            </a:r>
            <a:endParaRPr lang="en-US" sz="560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3556000"/>
            <a:ext cx="10972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CCCC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공공 API 수집부터 모델 학습용 데이터셋 구성까지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600" y="4851400"/>
            <a:ext cx="88900" cy="88900"/>
          </a:xfrm>
          <a:prstGeom prst="ellipse">
            <a:avLst/>
          </a:prstGeom>
          <a:solidFill>
            <a:srgbClr val="FF5A3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7400" y="4775200"/>
            <a:ext cx="381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17600" y="4775200"/>
            <a:ext cx="2159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공공 API 수집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03600" y="4851400"/>
            <a:ext cx="88900" cy="88900"/>
          </a:xfrm>
          <a:prstGeom prst="ellipse">
            <a:avLst/>
          </a:prstGeom>
          <a:solidFill>
            <a:srgbClr val="E6308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81400" y="4775200"/>
            <a:ext cx="381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911600" y="4775200"/>
            <a:ext cx="2159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원본 데이터 전처리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97600" y="4851400"/>
            <a:ext cx="88900" cy="88900"/>
          </a:xfrm>
          <a:prstGeom prst="ellipse">
            <a:avLst/>
          </a:prstGeom>
          <a:solidFill>
            <a:srgbClr val="2F5B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75400" y="4775200"/>
            <a:ext cx="381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705600" y="4775200"/>
            <a:ext cx="2159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학습용 데이터셋 구성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9600" y="5715000"/>
            <a:ext cx="109728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9600" y="59690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 09. 28  ·  데이터 전처리 세션 정리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514350"/>
            <a:ext cx="76200" cy="76200"/>
          </a:xfrm>
          <a:prstGeom prst="ellipse">
            <a:avLst/>
          </a:prstGeom>
          <a:solidFill>
            <a:srgbClr val="18181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62000" y="457200"/>
            <a:ext cx="1016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6767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00  개요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723900"/>
            <a:ext cx="10972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spc="-50" kern="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INDEX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1206500"/>
            <a:ext cx="10972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spc="-15" kern="0" dirty="0">
                <a:solidFill>
                  <a:srgbClr val="555555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세 단계로 원본 데이터를 예측 모델이 바로 읽을 수 있는 표로 바꿨습니다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6426200"/>
            <a:ext cx="889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 노트북: 01_119_공공API_연동 · 01_119_API_결과_시각화 · 02_119_데이터_전처리_통합 · 02_119_ml_dataset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0312400" y="6426200"/>
            <a:ext cx="127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09600" y="1714500"/>
            <a:ext cx="10972800" cy="1422400"/>
          </a:xfrm>
          <a:prstGeom prst="roundRect">
            <a:avLst>
              <a:gd name="adj" fmla="val 7143"/>
            </a:avLst>
          </a:prstGeom>
          <a:solidFill>
            <a:srgbClr val="F5F5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3600" y="1968500"/>
            <a:ext cx="88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spc="-100" kern="0" dirty="0">
                <a:solidFill>
                  <a:srgbClr val="FF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1905000" y="1993900"/>
            <a:ext cx="4064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공공 API 수집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905000" y="2374900"/>
            <a:ext cx="406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소방청 구급통계와 응급실 가용병상을 자치구 단위로 수집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48400" y="1968500"/>
            <a:ext cx="0" cy="91440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02400" y="2019300"/>
            <a:ext cx="14224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02400" y="2019300"/>
            <a:ext cx="142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API 2종 개요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01000" y="2019300"/>
            <a:ext cx="10414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01000" y="2019300"/>
            <a:ext cx="1041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호출 안정화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18600" y="2019300"/>
            <a:ext cx="9144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18600" y="2019300"/>
            <a:ext cx="91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응답 정제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02400" y="2374900"/>
            <a:ext cx="14224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02400" y="2374900"/>
            <a:ext cx="142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API 수집 결과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9600" y="3289300"/>
            <a:ext cx="10972800" cy="1422400"/>
          </a:xfrm>
          <a:prstGeom prst="roundRect">
            <a:avLst>
              <a:gd name="adj" fmla="val 7143"/>
            </a:avLst>
          </a:prstGeom>
          <a:solidFill>
            <a:srgbClr val="F5F5F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3600" y="3543300"/>
            <a:ext cx="88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spc="-100" kern="0" dirty="0">
                <a:solidFill>
                  <a:srgbClr val="E630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4000" dirty="0"/>
          </a:p>
        </p:txBody>
      </p:sp>
      <p:sp>
        <p:nvSpPr>
          <p:cNvPr id="23" name="Text 21"/>
          <p:cNvSpPr txBox="1"/>
          <p:nvPr/>
        </p:nvSpPr>
        <p:spPr>
          <a:xfrm>
            <a:off x="1905000" y="3568700"/>
            <a:ext cx="4064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원본 데이터 전처리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905000" y="3949700"/>
            <a:ext cx="406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통계표·건별 기록·생활인구 파일을 공통 키로 정제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48400" y="3543300"/>
            <a:ext cx="0" cy="91440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02400" y="3594100"/>
            <a:ext cx="14224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02400" y="3594100"/>
            <a:ext cx="142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공통 전처리 기준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001000" y="3594100"/>
            <a:ext cx="12954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01000" y="3594100"/>
            <a:ext cx="129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3행 헤더 해체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372600" y="3594100"/>
            <a:ext cx="11684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372600" y="3594100"/>
            <a:ext cx="1168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생활인구 보간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502400" y="3949700"/>
            <a:ext cx="12954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02400" y="3949700"/>
            <a:ext cx="129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건별 출동 집계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874000" y="3949700"/>
            <a:ext cx="10414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874000" y="3949700"/>
            <a:ext cx="1041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보조 데이터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9600" y="4864100"/>
            <a:ext cx="10972800" cy="1422400"/>
          </a:xfrm>
          <a:prstGeom prst="roundRect">
            <a:avLst>
              <a:gd name="adj" fmla="val 7143"/>
            </a:avLst>
          </a:prstGeom>
          <a:solidFill>
            <a:srgbClr val="F5F5F7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63600" y="5118100"/>
            <a:ext cx="88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spc="-100" kern="0" dirty="0">
                <a:solidFill>
                  <a:srgbClr val="2F5B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4000" dirty="0"/>
          </a:p>
        </p:txBody>
      </p:sp>
      <p:sp>
        <p:nvSpPr>
          <p:cNvPr id="38" name="Text 36"/>
          <p:cNvSpPr txBox="1"/>
          <p:nvPr/>
        </p:nvSpPr>
        <p:spPr>
          <a:xfrm>
            <a:off x="1905000" y="5143500"/>
            <a:ext cx="4064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학습용 데이터셋 구성</a:t>
            </a: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>
            <a:off x="1905000" y="5524500"/>
            <a:ext cx="406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중복을 걷어내고 주제별 데이터셋과 예측 컬럼을 확정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48400" y="5118100"/>
            <a:ext cx="0" cy="91440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02400" y="5168900"/>
            <a:ext cx="14224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502400" y="5168900"/>
            <a:ext cx="142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중복·불필요 제외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001000" y="5168900"/>
            <a:ext cx="12954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001000" y="5168900"/>
            <a:ext cx="129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주제별 데이터셋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9372600" y="5168900"/>
            <a:ext cx="12954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372600" y="5168900"/>
            <a:ext cx="129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예측 컬럼 선택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502400" y="5524500"/>
            <a:ext cx="14224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502400" y="5524500"/>
            <a:ext cx="142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한계와 다음 단계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514350"/>
            <a:ext cx="76200" cy="76200"/>
          </a:xfrm>
          <a:prstGeom prst="ellipse">
            <a:avLst/>
          </a:prstGeom>
          <a:solidFill>
            <a:srgbClr val="18181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62000" y="457200"/>
            <a:ext cx="1016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6767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00  개요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723900"/>
            <a:ext cx="10972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spc="-50" kern="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전처리 파이프라인 한눈에 보기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1206500"/>
            <a:ext cx="10972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spc="-15" kern="0" dirty="0">
                <a:solidFill>
                  <a:srgbClr val="555555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공공 API와 원본 파일을 자치구·날짜 키로 맞춘 뒤, 예측 주제별 학습 데이터로 통합했습니다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6426200"/>
            <a:ext cx="889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02_119_데이터_전처리_통합.ipynb, 02_119_ml_dataset.ipynb 실행 결과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0312400" y="6426200"/>
            <a:ext cx="127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09600" y="1714500"/>
            <a:ext cx="2628900" cy="2667000"/>
          </a:xfrm>
          <a:prstGeom prst="roundRect">
            <a:avLst>
              <a:gd name="adj" fmla="val 3865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2800" y="1917700"/>
            <a:ext cx="50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12800" y="2222500"/>
            <a:ext cx="2222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수집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12800" y="2641600"/>
            <a:ext cx="22225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소방청 구급통계 API, 국립중앙의료원 응급실 가용병상 API, KOSIS 통계표와 원본 CSV·XLSX 파일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2800" y="3962400"/>
            <a:ext cx="2222500" cy="22860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12800" y="3962400"/>
            <a:ext cx="222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01_119_공공API_연동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90900" y="1714500"/>
            <a:ext cx="2628900" cy="2667000"/>
          </a:xfrm>
          <a:prstGeom prst="roundRect">
            <a:avLst>
              <a:gd name="adj" fmla="val 3865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94100" y="1917700"/>
            <a:ext cx="50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630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594100" y="2222500"/>
            <a:ext cx="2222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정제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3594100" y="2641600"/>
            <a:ext cx="22225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3행 헤더 해체, 소방서명의 자치구 표준화, 결측 0 채움과 날짜 공백 선형보간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594100" y="3962400"/>
            <a:ext cx="2222500" cy="22860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594100" y="3962400"/>
            <a:ext cx="222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02_119_데이터_전처리_통합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72200" y="1714500"/>
            <a:ext cx="2628900" cy="2667000"/>
          </a:xfrm>
          <a:prstGeom prst="roundRect">
            <a:avLst>
              <a:gd name="adj" fmla="val 3865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75400" y="1917700"/>
            <a:ext cx="50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F5B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375400" y="2222500"/>
            <a:ext cx="2222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통합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375400" y="2641600"/>
            <a:ext cx="22225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포함 관계·같은 값 컬럼·키 중복을 검사해 제외하고 주제별로 병합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75400" y="3962400"/>
            <a:ext cx="2222500" cy="22860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75400" y="3962400"/>
            <a:ext cx="222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02_119_ml_dataset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953500" y="1714500"/>
            <a:ext cx="2628900" cy="2667000"/>
          </a:xfrm>
          <a:prstGeom prst="roundRect">
            <a:avLst>
              <a:gd name="adj" fmla="val 3865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56700" y="1917700"/>
            <a:ext cx="50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F5B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156700" y="2222500"/>
            <a:ext cx="2222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선택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9156700" y="2641600"/>
            <a:ext cx="22225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결측 비율과 상관계수 기준으로 주제별 예측 컬럼을 고르고 결과를 저장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156700" y="3962400"/>
            <a:ext cx="2222500" cy="22860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156700" y="3962400"/>
            <a:ext cx="222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02_119_ml_dataset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09600" y="4533900"/>
            <a:ext cx="10972800" cy="1752600"/>
          </a:xfrm>
          <a:prstGeom prst="roundRect">
            <a:avLst>
              <a:gd name="adj" fmla="val 5797"/>
            </a:avLst>
          </a:prstGeom>
          <a:solidFill>
            <a:srgbClr val="F5F5F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12800" y="4711700"/>
            <a:ext cx="2387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spc="-100" kern="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1,167,317</a:t>
            </a:r>
            <a:endParaRPr lang="en-US" sz="3400" dirty="0"/>
          </a:p>
        </p:txBody>
      </p:sp>
      <p:sp>
        <p:nvSpPr>
          <p:cNvPr id="34" name="Text 32"/>
          <p:cNvSpPr txBox="1"/>
          <p:nvPr/>
        </p:nvSpPr>
        <p:spPr>
          <a:xfrm>
            <a:off x="812800" y="5321300"/>
            <a:ext cx="23876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건별 출동 기록 (2021~2022, 서울 25개 구)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352800" y="4711700"/>
            <a:ext cx="0" cy="139700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556000" y="4711700"/>
            <a:ext cx="2387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spc="-100" kern="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3400" dirty="0"/>
          </a:p>
        </p:txBody>
      </p:sp>
      <p:sp>
        <p:nvSpPr>
          <p:cNvPr id="37" name="Text 35"/>
          <p:cNvSpPr txBox="1"/>
          <p:nvPr/>
        </p:nvSpPr>
        <p:spPr>
          <a:xfrm>
            <a:off x="3556000" y="5321300"/>
            <a:ext cx="23876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통합 단계에 불러온 전처리 파일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096000" y="4711700"/>
            <a:ext cx="0" cy="139700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299200" y="4711700"/>
            <a:ext cx="2387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spc="-100" kern="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3400" dirty="0"/>
          </a:p>
        </p:txBody>
      </p:sp>
      <p:sp>
        <p:nvSpPr>
          <p:cNvPr id="40" name="Text 38"/>
          <p:cNvSpPr txBox="1"/>
          <p:nvPr/>
        </p:nvSpPr>
        <p:spPr>
          <a:xfrm>
            <a:off x="6299200" y="5321300"/>
            <a:ext cx="23876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중복·불필요로 제외한 파일과 컬럼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839200" y="4711700"/>
            <a:ext cx="0" cy="139700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042400" y="4711700"/>
            <a:ext cx="2387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spc="-100" kern="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3400" dirty="0"/>
          </a:p>
        </p:txBody>
      </p:sp>
      <p:sp>
        <p:nvSpPr>
          <p:cNvPr id="43" name="Text 41"/>
          <p:cNvSpPr txBox="1"/>
          <p:nvPr/>
        </p:nvSpPr>
        <p:spPr>
          <a:xfrm>
            <a:off x="9042400" y="5321300"/>
            <a:ext cx="23876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주제별 학습 데이터셋 (이송·인구·병상)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5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2413000"/>
            <a:ext cx="2540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3048000"/>
            <a:ext cx="109728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spc="-110" kern="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공공 API 수집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3810000"/>
            <a:ext cx="10972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구급 수요와 응급실 수용 여력을 자치구 단위로 최신화하는 수집 코드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600" y="5588000"/>
            <a:ext cx="1371600" cy="279400"/>
          </a:xfrm>
          <a:prstGeom prst="roundRect">
            <a:avLst>
              <a:gd name="adj" fmla="val 50000"/>
            </a:avLst>
          </a:prstGeom>
          <a:ln w="9525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9600" y="5588000"/>
            <a:ext cx="1371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API 2종 개요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57400" y="5588000"/>
            <a:ext cx="977900" cy="279400"/>
          </a:xfrm>
          <a:prstGeom prst="roundRect">
            <a:avLst>
              <a:gd name="adj" fmla="val 50000"/>
            </a:avLst>
          </a:prstGeom>
          <a:ln w="9525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57400" y="5588000"/>
            <a:ext cx="9779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호출 안정화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11500" y="5588000"/>
            <a:ext cx="850900" cy="279400"/>
          </a:xfrm>
          <a:prstGeom prst="roundRect">
            <a:avLst>
              <a:gd name="adj" fmla="val 50000"/>
            </a:avLst>
          </a:prstGeom>
          <a:ln w="952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11500" y="5588000"/>
            <a:ext cx="8509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응답 정제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38600" y="5588000"/>
            <a:ext cx="1371600" cy="279400"/>
          </a:xfrm>
          <a:prstGeom prst="roundRect">
            <a:avLst>
              <a:gd name="adj" fmla="val 50000"/>
            </a:avLst>
          </a:prstGeom>
          <a:ln w="9525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38600" y="5588000"/>
            <a:ext cx="1371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API 수집 결과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0312400" y="6426200"/>
            <a:ext cx="127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/ 20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514350"/>
            <a:ext cx="76200" cy="76200"/>
          </a:xfrm>
          <a:prstGeom prst="ellipse">
            <a:avLst/>
          </a:prstGeom>
          <a:solidFill>
            <a:srgbClr val="FF5A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62000" y="457200"/>
            <a:ext cx="1016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6767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  공공 API 수집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723900"/>
            <a:ext cx="10972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spc="-50" kern="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연동한 공공 API 2종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1206500"/>
            <a:ext cx="10972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spc="-15" kern="0" dirty="0">
                <a:solidFill>
                  <a:srgbClr val="555555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구급 수요는 월별 시계열로, 응급실 수용 여력은 실시간 스냅샷으로 수집합니다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6426200"/>
            <a:ext cx="889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01_119_공공API_연동.ipynb (공공데이터포털 data.go.kr)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0312400" y="6426200"/>
            <a:ext cx="127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09600" y="1714500"/>
            <a:ext cx="5410200" cy="36830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2800" y="1917700"/>
            <a:ext cx="901700" cy="215900"/>
          </a:xfrm>
          <a:prstGeom prst="roundRect">
            <a:avLst>
              <a:gd name="adj" fmla="val 50000"/>
            </a:avLst>
          </a:prstGeom>
          <a:solidFill>
            <a:srgbClr val="FF5A3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12800" y="1917700"/>
            <a:ext cx="9017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월별 시계열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12800" y="2247900"/>
            <a:ext cx="50038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소방청 구급통계 서비스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12800" y="2578100"/>
            <a:ext cx="5003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공식 가이드(docx)로 스펙 확인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2800" y="2921000"/>
            <a:ext cx="5003800" cy="0"/>
          </a:xfrm>
          <a:prstGeom prst="line">
            <a:avLst/>
          </a:prstGeom>
          <a:noFill/>
          <a:ln w="9525">
            <a:solidFill>
              <a:srgbClr val="EFEFF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2800" y="2921000"/>
            <a:ext cx="10160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6767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오퍼레이션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879600" y="2921000"/>
            <a:ext cx="39370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get119EmgencyActivityStats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2800" y="3390900"/>
            <a:ext cx="5003800" cy="0"/>
          </a:xfrm>
          <a:prstGeom prst="line">
            <a:avLst/>
          </a:prstGeom>
          <a:noFill/>
          <a:ln w="9525">
            <a:solidFill>
              <a:srgbClr val="EFEFF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2800" y="3390900"/>
            <a:ext cx="10160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6767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조회 조건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879600" y="3390900"/>
            <a:ext cx="39370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서울소방재난본부 · 소방서 · 접수년월(YYYYMM)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2800" y="3860800"/>
            <a:ext cx="5003800" cy="0"/>
          </a:xfrm>
          <a:prstGeom prst="line">
            <a:avLst/>
          </a:prstGeom>
          <a:noFill/>
          <a:ln w="9525">
            <a:solidFill>
              <a:srgbClr val="EFEFF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2800" y="3860800"/>
            <a:ext cx="10160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6767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수집 단위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879600" y="3860800"/>
            <a:ext cx="39370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소방서 25곳 × 월 (자치구로 변환)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2800" y="4330700"/>
            <a:ext cx="5003800" cy="0"/>
          </a:xfrm>
          <a:prstGeom prst="line">
            <a:avLst/>
          </a:prstGeom>
          <a:noFill/>
          <a:ln w="9525">
            <a:solidFill>
              <a:srgbClr val="EFEFF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2800" y="4330700"/>
            <a:ext cx="10160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6767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사용 필드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879600" y="4330700"/>
            <a:ext cx="39370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gutCo 출동 · trnfCo 이송 · trnfPcnt 이송인원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2800" y="4800600"/>
            <a:ext cx="5003800" cy="0"/>
          </a:xfrm>
          <a:prstGeom prst="line">
            <a:avLst/>
          </a:prstGeom>
          <a:noFill/>
          <a:ln w="9525">
            <a:solidFill>
              <a:srgbClr val="EFEFF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12800" y="4800600"/>
            <a:ext cx="10160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6767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저장 파일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879600" y="4800600"/>
            <a:ext cx="39370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ambulance_prophet_{기간}_api.csv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72200" y="1714500"/>
            <a:ext cx="5410200" cy="36830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75400" y="1917700"/>
            <a:ext cx="1022350" cy="21590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375400" y="1917700"/>
            <a:ext cx="10223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실시간 스냅샷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6375400" y="2247900"/>
            <a:ext cx="50038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국립중앙의료원 응급의료기관 정보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6375400" y="2578100"/>
            <a:ext cx="5003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가이드 DRM 잠김 → 포털 기준 URL·파라미터 검증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75400" y="2921000"/>
            <a:ext cx="5003800" cy="0"/>
          </a:xfrm>
          <a:prstGeom prst="line">
            <a:avLst/>
          </a:prstGeom>
          <a:noFill/>
          <a:ln w="9525">
            <a:solidFill>
              <a:srgbClr val="EFEFF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375400" y="2921000"/>
            <a:ext cx="10160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6767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오퍼레이션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7442200" y="2921000"/>
            <a:ext cx="39370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getEmrrmRltmUsefulSckbdInfoInqire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75400" y="3390900"/>
            <a:ext cx="5003800" cy="0"/>
          </a:xfrm>
          <a:prstGeom prst="line">
            <a:avLst/>
          </a:prstGeom>
          <a:noFill/>
          <a:ln w="9525">
            <a:solidFill>
              <a:srgbClr val="EFEFF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375400" y="3390900"/>
            <a:ext cx="10160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6767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조회 조건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7442200" y="3390900"/>
            <a:ext cx="39370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STAGE1 서울특별시 · STAGE2 자치구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75400" y="3860800"/>
            <a:ext cx="5003800" cy="0"/>
          </a:xfrm>
          <a:prstGeom prst="line">
            <a:avLst/>
          </a:prstGeom>
          <a:noFill/>
          <a:ln w="9525">
            <a:solidFill>
              <a:srgbClr val="EFEFF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375400" y="3860800"/>
            <a:ext cx="10160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6767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수집 단위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7442200" y="3860800"/>
            <a:ext cx="39370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자치구 25곳 × 병원 × 수집 시각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75400" y="4330700"/>
            <a:ext cx="5003800" cy="0"/>
          </a:xfrm>
          <a:prstGeom prst="line">
            <a:avLst/>
          </a:prstGeom>
          <a:noFill/>
          <a:ln w="9525">
            <a:solidFill>
              <a:srgbClr val="EFEFF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375400" y="4330700"/>
            <a:ext cx="10160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6767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사용 필드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7442200" y="4330700"/>
            <a:ext cx="39370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hpid · dutyName · hvidate · hvec 가용병상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375400" y="4800600"/>
            <a:ext cx="5003800" cy="0"/>
          </a:xfrm>
          <a:prstGeom prst="line">
            <a:avLst/>
          </a:prstGeom>
          <a:noFill/>
          <a:ln w="9525">
            <a:solidFill>
              <a:srgbClr val="EFEFF1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375400" y="4800600"/>
            <a:ext cx="10160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6767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저장 파일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7442200" y="4800600"/>
            <a:ext cx="39370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realtime_er_beds.csv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09600" y="5549900"/>
            <a:ext cx="10972800" cy="736600"/>
          </a:xfrm>
          <a:prstGeom prst="roundRect">
            <a:avLst>
              <a:gd name="adj" fmla="val 13793"/>
            </a:avLst>
          </a:prstGeom>
          <a:solidFill>
            <a:srgbClr val="F5F5F7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812800" y="5549900"/>
            <a:ext cx="105664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목적   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출동이 많은 자치구에 응급실 가용병상이 충분한지, 구급 수요와 수용 여력을 같은 자치구 키로 비교하기 위함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514350"/>
            <a:ext cx="76200" cy="76200"/>
          </a:xfrm>
          <a:prstGeom prst="ellipse">
            <a:avLst/>
          </a:prstGeom>
          <a:solidFill>
            <a:srgbClr val="FF5A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62000" y="457200"/>
            <a:ext cx="1016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6767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  공공 API 수집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723900"/>
            <a:ext cx="10972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spc="-50" kern="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호출 안정화 설계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1206500"/>
            <a:ext cx="10972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spc="-15" kern="0" dirty="0">
                <a:solidFill>
                  <a:srgbClr val="555555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요청 제한(429)과 일일 쿼터 소진에도 수집이 끊기지 않고 이어지도록 만들었습니다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6426200"/>
            <a:ext cx="889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01_119_공공API_연동.ipynb — request_get_with_retry, collect_month_range_all_gu, find_latest_available_month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0312400" y="6426200"/>
            <a:ext cx="127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09600" y="1714500"/>
            <a:ext cx="2628900" cy="2667000"/>
          </a:xfrm>
          <a:prstGeom prst="roundRect">
            <a:avLst>
              <a:gd name="adj" fmla="val 3865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2800" y="1917700"/>
            <a:ext cx="2222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12800" y="2247900"/>
            <a:ext cx="222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자동 재시도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12800" y="2628900"/>
            <a:ext cx="2222500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429·5xx 응답은 Retry-After 값 또는 2초 × 2ⁿ만큼 기다린 뒤 최대 5회 재시도. 그 밖의 4xx는 재시도해도 소용없어 바로 중단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90900" y="1714500"/>
            <a:ext cx="2628900" cy="2667000"/>
          </a:xfrm>
          <a:prstGeom prst="roundRect">
            <a:avLst>
              <a:gd name="adj" fmla="val 3865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94100" y="1917700"/>
            <a:ext cx="2222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594100" y="2247900"/>
            <a:ext cx="222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쿼터 소진 감지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594100" y="2628900"/>
            <a:ext cx="2222500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5회 연속 429면 초당 제한이 아닌 일일 쿼터 소진으로 판단해 RateLimitExhausted로 배치 전체를 멈춰 쿼터 낭비를 방지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1714500"/>
            <a:ext cx="2628900" cy="2667000"/>
          </a:xfrm>
          <a:prstGeom prst="roundRect">
            <a:avLst>
              <a:gd name="adj" fmla="val 3865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75400" y="1917700"/>
            <a:ext cx="2222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375400" y="2247900"/>
            <a:ext cx="222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이어받기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375400" y="2628900"/>
            <a:ext cx="2222500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달치를 받을 때마다 누적 CSV에 저장. 다시 실행하면 이미 받은 달(ds)은 건너뛰고, ds·District 중복은 제거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53500" y="1714500"/>
            <a:ext cx="2628900" cy="2667000"/>
          </a:xfrm>
          <a:prstGeom prst="roundRect">
            <a:avLst>
              <a:gd name="adj" fmla="val 3865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56700" y="1917700"/>
            <a:ext cx="2222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156700" y="2247900"/>
            <a:ext cx="222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보유 구간 탐색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156700" y="2628900"/>
            <a:ext cx="2222500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구로소방서 1건만 조회하는 probe로 데이터가 있는 달을 확인. 전월부터 최대 36개월 역순, 2010년 1월부터 순방향 탐색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9600" y="4533900"/>
            <a:ext cx="10972800" cy="1752600"/>
          </a:xfrm>
          <a:prstGeom prst="roundRect">
            <a:avLst>
              <a:gd name="adj" fmla="val 5797"/>
            </a:avLst>
          </a:prstGeom>
          <a:solidFill>
            <a:srgbClr val="F5F5F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12800" y="4711700"/>
            <a:ext cx="2387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spc="-100" kern="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2.0초</a:t>
            </a:r>
            <a:endParaRPr lang="en-US" sz="4000" dirty="0"/>
          </a:p>
        </p:txBody>
      </p:sp>
      <p:sp>
        <p:nvSpPr>
          <p:cNvPr id="26" name="Text 24"/>
          <p:cNvSpPr txBox="1"/>
          <p:nvPr/>
        </p:nvSpPr>
        <p:spPr>
          <a:xfrm>
            <a:off x="812800" y="5321300"/>
            <a:ext cx="23876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호출 간 기본 대기 (REQUEST_INTERVAL)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52800" y="4711700"/>
            <a:ext cx="0" cy="139700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556000" y="4711700"/>
            <a:ext cx="2387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spc="-100" kern="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5회</a:t>
            </a:r>
            <a:endParaRPr lang="en-US" sz="4000" dirty="0"/>
          </a:p>
        </p:txBody>
      </p:sp>
      <p:sp>
        <p:nvSpPr>
          <p:cNvPr id="29" name="Text 27"/>
          <p:cNvSpPr txBox="1"/>
          <p:nvPr/>
        </p:nvSpPr>
        <p:spPr>
          <a:xfrm>
            <a:off x="3556000" y="5321300"/>
            <a:ext cx="23876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요청 1건당 최대 재시도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96000" y="4711700"/>
            <a:ext cx="0" cy="139700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99200" y="4711700"/>
            <a:ext cx="2387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spc="-100" kern="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25곳</a:t>
            </a:r>
            <a:endParaRPr lang="en-US" sz="4000" dirty="0"/>
          </a:p>
        </p:txBody>
      </p:sp>
      <p:sp>
        <p:nvSpPr>
          <p:cNvPr id="32" name="Text 30"/>
          <p:cNvSpPr txBox="1"/>
          <p:nvPr/>
        </p:nvSpPr>
        <p:spPr>
          <a:xfrm>
            <a:off x="6299200" y="5321300"/>
            <a:ext cx="23876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월마다 순회하는 소방서·자치구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839200" y="4711700"/>
            <a:ext cx="0" cy="139700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042400" y="4711700"/>
            <a:ext cx="2387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spc="-100" kern="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100행</a:t>
            </a:r>
            <a:endParaRPr lang="en-US" sz="4000" dirty="0"/>
          </a:p>
        </p:txBody>
      </p:sp>
      <p:sp>
        <p:nvSpPr>
          <p:cNvPr id="35" name="Text 33"/>
          <p:cNvSpPr txBox="1"/>
          <p:nvPr/>
        </p:nvSpPr>
        <p:spPr>
          <a:xfrm>
            <a:off x="9042400" y="5321300"/>
            <a:ext cx="23876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페이지당 요청 행 수 (totalCount만큼 페이징)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514350"/>
            <a:ext cx="76200" cy="76200"/>
          </a:xfrm>
          <a:prstGeom prst="ellipse">
            <a:avLst/>
          </a:prstGeom>
          <a:solidFill>
            <a:srgbClr val="FF5A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62000" y="457200"/>
            <a:ext cx="1016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6767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  공공 API 수집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723900"/>
            <a:ext cx="10972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spc="-50" kern="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API 응답 정제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1206500"/>
            <a:ext cx="10972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spc="-15" kern="0" dirty="0">
                <a:solidFill>
                  <a:srgbClr val="555555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응답 필드를 기존 전처리 파일과 같은 스키마로 바꾸고, 특수 코드와 호출 실패를 따로 처리했습니다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6426200"/>
            <a:ext cx="889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01_119_공공API_연동.ipynb — STATION2GU, ER_FIELD_MAP, fetch_realtime_er_beds, collect_realtime_beds_all_gu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0312400" y="6426200"/>
            <a:ext cx="127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09600" y="1714500"/>
            <a:ext cx="6337300" cy="4267200"/>
          </a:xfrm>
          <a:prstGeom prst="roundRect">
            <a:avLst>
              <a:gd name="adj" fmla="val 893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5950" y="1720850"/>
            <a:ext cx="6324600" cy="349250"/>
          </a:xfrm>
          <a:prstGeom prst="rect">
            <a:avLst/>
          </a:prstGeom>
          <a:solidFill>
            <a:srgbClr val="F5F5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6600" y="1714500"/>
            <a:ext cx="1701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6767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원본 필드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641600" y="1714500"/>
            <a:ext cx="1955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6767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변환 후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1714500"/>
            <a:ext cx="2070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6767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의미 / 처리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36600" y="2070100"/>
            <a:ext cx="1701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gutCo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641600" y="2070100"/>
            <a:ext cx="1955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2070100"/>
            <a:ext cx="20701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출동건수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5950" y="2628900"/>
            <a:ext cx="6324600" cy="0"/>
          </a:xfrm>
          <a:prstGeom prst="line">
            <a:avLst/>
          </a:prstGeom>
          <a:noFill/>
          <a:ln w="9525">
            <a:solidFill>
              <a:srgbClr val="EFEFF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6600" y="2628900"/>
            <a:ext cx="1701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trnfCo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641600" y="2628900"/>
            <a:ext cx="1955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transport_cnt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800600" y="2628900"/>
            <a:ext cx="20701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이송건수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5950" y="3187700"/>
            <a:ext cx="6324600" cy="0"/>
          </a:xfrm>
          <a:prstGeom prst="line">
            <a:avLst/>
          </a:prstGeom>
          <a:noFill/>
          <a:ln w="9525">
            <a:solidFill>
              <a:srgbClr val="EFEFF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6600" y="3187700"/>
            <a:ext cx="1701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trnfPcnt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641600" y="3187700"/>
            <a:ext cx="1955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transport_person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800600" y="3187700"/>
            <a:ext cx="20701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이송인원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5950" y="3746500"/>
            <a:ext cx="6324600" cy="0"/>
          </a:xfrm>
          <a:prstGeom prst="line">
            <a:avLst/>
          </a:prstGeom>
          <a:noFill/>
          <a:ln w="9525">
            <a:solidFill>
              <a:srgbClr val="EFEFF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6600" y="3746500"/>
            <a:ext cx="1701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소방서명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2641600" y="3746500"/>
            <a:ext cx="1955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District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800600" y="3746500"/>
            <a:ext cx="20701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관할구역에서 "○○구" 추출 후 최빈값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5950" y="4305300"/>
            <a:ext cx="6324600" cy="0"/>
          </a:xfrm>
          <a:prstGeom prst="line">
            <a:avLst/>
          </a:prstGeom>
          <a:noFill/>
          <a:ln w="9525">
            <a:solidFill>
              <a:srgbClr val="EFEFF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6600" y="4305300"/>
            <a:ext cx="1701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rcptYm (요청 년월)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2641600" y="4305300"/>
            <a:ext cx="1955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800600" y="4305300"/>
            <a:ext cx="20701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YYYY-MM-01 날짜로 통일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5950" y="4864100"/>
            <a:ext cx="6324600" cy="0"/>
          </a:xfrm>
          <a:prstGeom prst="line">
            <a:avLst/>
          </a:prstGeom>
          <a:noFill/>
          <a:ln w="9525">
            <a:solidFill>
              <a:srgbClr val="EFEFF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6600" y="4864100"/>
            <a:ext cx="1701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hpid · dutyName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2641600" y="4864100"/>
            <a:ext cx="1955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Hospital_ID · Name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4800600" y="4864100"/>
            <a:ext cx="20701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병원 식별 키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5950" y="5422900"/>
            <a:ext cx="6324600" cy="0"/>
          </a:xfrm>
          <a:prstGeom prst="line">
            <a:avLst/>
          </a:prstGeom>
          <a:noFill/>
          <a:ln w="9525">
            <a:solidFill>
              <a:srgbClr val="EFEFF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36600" y="5422900"/>
            <a:ext cx="1701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hvec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2641600" y="5422900"/>
            <a:ext cx="1955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Available_Beds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800600" y="5422900"/>
            <a:ext cx="20701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응급실 일반병상 가용 수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099300" y="1714500"/>
            <a:ext cx="4483100" cy="2209800"/>
          </a:xfrm>
          <a:prstGeom prst="roundRect">
            <a:avLst>
              <a:gd name="adj" fmla="val 4598"/>
            </a:avLst>
          </a:prstGeom>
          <a:solidFill>
            <a:srgbClr val="F5F5F7"/>
          </a:solidFill>
          <a:ln/>
        </p:spPr>
      </p:sp>
      <p:sp>
        <p:nvSpPr>
          <p:cNvPr id="41" name="Shape 39"/>
          <p:cNvSpPr/>
          <p:nvPr/>
        </p:nvSpPr>
        <p:spPr>
          <a:xfrm>
            <a:off x="7302500" y="1917700"/>
            <a:ext cx="787400" cy="215900"/>
          </a:xfrm>
          <a:prstGeom prst="roundRect">
            <a:avLst>
              <a:gd name="adj" fmla="val 50000"/>
            </a:avLst>
          </a:prstGeom>
          <a:solidFill>
            <a:srgbClr val="FF5A3C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7302500" y="1917700"/>
            <a:ext cx="787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특수 코드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7302500" y="2235200"/>
            <a:ext cx="40767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음수 병상 = 미보고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7302500" y="2628900"/>
            <a:ext cx="40767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-1 같은 음수는 실제 병상 수가 아니라 정보 없음을 뜻하는 코드. 그대로 더하면 구 합계가 마이너스로 왜곡돼 결측으로 바꾸고 Beds_Unknown으로 표시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099300" y="4076700"/>
            <a:ext cx="4483100" cy="2209800"/>
          </a:xfrm>
          <a:prstGeom prst="roundRect">
            <a:avLst>
              <a:gd name="adj" fmla="val 4598"/>
            </a:avLst>
          </a:prstGeom>
          <a:solidFill>
            <a:srgbClr val="F5F5F7"/>
          </a:solidFill>
          <a:ln/>
        </p:spPr>
      </p:sp>
      <p:sp>
        <p:nvSpPr>
          <p:cNvPr id="46" name="Shape 44"/>
          <p:cNvSpPr/>
          <p:nvPr/>
        </p:nvSpPr>
        <p:spPr>
          <a:xfrm>
            <a:off x="7302500" y="4279900"/>
            <a:ext cx="787400" cy="21590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7302500" y="4279900"/>
            <a:ext cx="787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호출 실패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7302500" y="4597400"/>
            <a:ext cx="40767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직전 값으로 대체 (ffill)</a:t>
            </a:r>
            <a:endParaRPr lang="en-US" sz="1600" dirty="0"/>
          </a:p>
        </p:txBody>
      </p:sp>
      <p:sp>
        <p:nvSpPr>
          <p:cNvPr id="49" name="Text 47"/>
          <p:cNvSpPr txBox="1"/>
          <p:nvPr/>
        </p:nvSpPr>
        <p:spPr>
          <a:xfrm>
            <a:off x="7302500" y="4991100"/>
            <a:ext cx="40767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빈 응답이나 오류가 난 구는 이전에 저장한 파일의 같은 구 값으로 채우고 is_ffilled=True로 남겨, 대체된 행을 구분할 수 있게 함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514350"/>
            <a:ext cx="76200" cy="76200"/>
          </a:xfrm>
          <a:prstGeom prst="ellipse">
            <a:avLst/>
          </a:prstGeom>
          <a:solidFill>
            <a:srgbClr val="FF5A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62000" y="457200"/>
            <a:ext cx="1016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6767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  공공 API 수집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723900"/>
            <a:ext cx="10972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spc="-50" kern="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API 수집 결과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1206500"/>
            <a:ext cx="10972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spc="-15" kern="0" dirty="0">
                <a:solidFill>
                  <a:srgbClr val="555555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출동 상위 자치구에 대형병원이 몰려 있지만, 그 병원들의 병상 정보는 보고되지 않은 경우가 있었습니다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6426200"/>
            <a:ext cx="889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01_119_API_결과_시각화.ipynb — ambulance_prophet_202512_api.csv, realtime_er_beds.csv (2026-09-28 수집)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0312400" y="6426200"/>
            <a:ext cx="127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09600" y="1714500"/>
            <a:ext cx="7264400" cy="4572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2800" y="18923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2025년 12월 출동건수 상위 5개 자치구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12800" y="21717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출동건수 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이송건수</a:t>
            </a:r>
            <a:endParaRPr lang="en-US" sz="10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711200" y="2438400"/>
          <a:ext cx="7061200" cy="37465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8026400" y="1714500"/>
            <a:ext cx="3556000" cy="965200"/>
          </a:xfrm>
          <a:prstGeom prst="roundRect">
            <a:avLst>
              <a:gd name="adj" fmla="val 10526"/>
            </a:avLst>
          </a:prstGeom>
          <a:solidFill>
            <a:srgbClr val="F5F5F7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229600" y="1841500"/>
            <a:ext cx="31496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spc="-100" kern="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666행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2311400"/>
            <a:ext cx="314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월별 출동·이송 시계열 (2017-01 ~ 2025-12 백필)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026400" y="2832100"/>
            <a:ext cx="3556000" cy="965200"/>
          </a:xfrm>
          <a:prstGeom prst="roundRect">
            <a:avLst>
              <a:gd name="adj" fmla="val 10526"/>
            </a:avLst>
          </a:prstGeom>
          <a:solidFill>
            <a:srgbClr val="F5F5F7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229600" y="2959100"/>
            <a:ext cx="31496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spc="-100" kern="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51행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0" y="3429000"/>
            <a:ext cx="314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응급실 가용병상 (25개 구 병원 스냅샷)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026400" y="3949700"/>
            <a:ext cx="3556000" cy="965200"/>
          </a:xfrm>
          <a:prstGeom prst="roundRect">
            <a:avLst>
              <a:gd name="adj" fmla="val 10526"/>
            </a:avLst>
          </a:prstGeom>
          <a:solidFill>
            <a:srgbClr val="F5F5F7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229600" y="4076700"/>
            <a:ext cx="31496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spc="-100" kern="0" dirty="0">
                <a:solidFill>
                  <a:srgbClr val="FF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6곳</a:t>
            </a:r>
            <a:endParaRPr lang="en-US" sz="32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4546600"/>
            <a:ext cx="314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병상 미보고 병원 — 합계에서 제외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026400" y="5067300"/>
            <a:ext cx="3556000" cy="12192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29600" y="5194300"/>
            <a:ext cx="314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미보고 병원 소재 자치구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8229600" y="5448300"/>
            <a:ext cx="31496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강남구 · 송파구 · 서초구 · 강서구 · 은평구 · 종로구</a:t>
            </a:r>
            <a:endParaRPr lang="en-US" sz="11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출동 상위 3개 구 포함, 병상 데이터는 반복 수집 필요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630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2413000"/>
            <a:ext cx="2540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3048000"/>
            <a:ext cx="109728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spc="-110" kern="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원본 데이터 전처리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3810000"/>
            <a:ext cx="10972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출처와 형식이 제각각인 원본 파일을 자치구 × 날짜 기준 표로 정리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600" y="5588000"/>
            <a:ext cx="1371600" cy="279400"/>
          </a:xfrm>
          <a:prstGeom prst="roundRect">
            <a:avLst>
              <a:gd name="adj" fmla="val 50000"/>
            </a:avLst>
          </a:prstGeom>
          <a:ln w="9525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9600" y="5588000"/>
            <a:ext cx="1371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공통 전처리 기준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57400" y="5588000"/>
            <a:ext cx="1238250" cy="279400"/>
          </a:xfrm>
          <a:prstGeom prst="roundRect">
            <a:avLst>
              <a:gd name="adj" fmla="val 50000"/>
            </a:avLst>
          </a:prstGeom>
          <a:ln w="9525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57400" y="5588000"/>
            <a:ext cx="123825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3행 헤더 해체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71850" y="5588000"/>
            <a:ext cx="1111250" cy="279400"/>
          </a:xfrm>
          <a:prstGeom prst="roundRect">
            <a:avLst>
              <a:gd name="adj" fmla="val 50000"/>
            </a:avLst>
          </a:prstGeom>
          <a:ln w="952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71850" y="5588000"/>
            <a:ext cx="111125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생활인구 보간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59300" y="5588000"/>
            <a:ext cx="1238250" cy="279400"/>
          </a:xfrm>
          <a:prstGeom prst="roundRect">
            <a:avLst>
              <a:gd name="adj" fmla="val 50000"/>
            </a:avLst>
          </a:prstGeom>
          <a:ln w="9525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59300" y="5588000"/>
            <a:ext cx="123825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건별 출동 집계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73750" y="5588000"/>
            <a:ext cx="977900" cy="279400"/>
          </a:xfrm>
          <a:prstGeom prst="roundRect">
            <a:avLst>
              <a:gd name="adj" fmla="val 50000"/>
            </a:avLst>
          </a:prstGeom>
          <a:ln w="9525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73750" y="5588000"/>
            <a:ext cx="9779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보조 데이터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0312400" y="6426200"/>
            <a:ext cx="127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/ 20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514350"/>
            <a:ext cx="76200" cy="76200"/>
          </a:xfrm>
          <a:prstGeom prst="ellipse">
            <a:avLst/>
          </a:prstGeom>
          <a:solidFill>
            <a:srgbClr val="E630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62000" y="457200"/>
            <a:ext cx="1016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6767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  원본 데이터 전처리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723900"/>
            <a:ext cx="10972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spc="-50" kern="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공통 전처리 기준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1206500"/>
            <a:ext cx="10972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spc="-15" kern="0" dirty="0">
                <a:solidFill>
                  <a:srgbClr val="555555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모든 산출물이 같은 키로 이어지도록 지역·결측·날짜·범주 처리 규칙을 먼저 정했습니다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6426200"/>
            <a:ext cx="889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02_119_데이터_전처리_통합.ipynb — 공통 기준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0312400" y="6426200"/>
            <a:ext cx="127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09600" y="1714500"/>
            <a:ext cx="7264400" cy="812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2800" y="1714500"/>
            <a:ext cx="4445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630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33500" y="1714500"/>
            <a:ext cx="1905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지역 표준화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302000" y="1714500"/>
            <a:ext cx="43815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소방서명·시군구명을 서울 25개 표준 자치구명으로 통일, 서울 외 지역 행은 제외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9600" y="2654300"/>
            <a:ext cx="7264400" cy="812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2800" y="2654300"/>
            <a:ext cx="4445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630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33500" y="2654300"/>
            <a:ext cx="1905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결측 0 채움 + 표시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302000" y="2654300"/>
            <a:ext cx="43815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통계표의 '-' 표기는 0으로 채우고 imputed_zero 플래그로 임의 대체 여부를 남김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9600" y="3594100"/>
            <a:ext cx="7264400" cy="812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2800" y="3594100"/>
            <a:ext cx="4445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630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33500" y="3594100"/>
            <a:ext cx="1905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날짜 공백 보간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302000" y="3594100"/>
            <a:ext cx="43815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자치구별로 전체 날짜를 다시 색인한 뒤 빠진 날짜를 선형보간으로 채움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9600" y="4533900"/>
            <a:ext cx="7264400" cy="812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2800" y="4533900"/>
            <a:ext cx="4445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630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333500" y="4533900"/>
            <a:ext cx="1905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사고 원인 표준화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302000" y="4533900"/>
            <a:ext cx="43815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연도별로 다른 원인 표기를 표준 명칭으로 통일, 정의되지 않은 값은 기타/미상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9600" y="5473700"/>
            <a:ext cx="7264400" cy="812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2800" y="5473700"/>
            <a:ext cx="4445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630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333500" y="5473700"/>
            <a:ext cx="1905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형태 변환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302000" y="5473700"/>
            <a:ext cx="43815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long ↔ wide 변환과 One-Hot Encoding으로 원인별 건수를 컬럼화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26400" y="1714500"/>
            <a:ext cx="3556000" cy="4572000"/>
          </a:xfrm>
          <a:prstGeom prst="roundRect">
            <a:avLst>
              <a:gd name="adj" fmla="val 5714"/>
            </a:avLst>
          </a:prstGeom>
          <a:solidFill>
            <a:srgbClr val="E6308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80400" y="1968500"/>
            <a:ext cx="304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기준 키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280400" y="2286000"/>
            <a:ext cx="3048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District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× ds</a:t>
            </a:r>
            <a:endParaRPr lang="en-US" sz="4000" dirty="0"/>
          </a:p>
        </p:txBody>
      </p:sp>
      <p:sp>
        <p:nvSpPr>
          <p:cNvPr id="31" name="Text 29"/>
          <p:cNvSpPr txBox="1"/>
          <p:nvPr/>
        </p:nvSpPr>
        <p:spPr>
          <a:xfrm>
            <a:off x="8280400" y="4064000"/>
            <a:ext cx="3048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District: 서울 25개 표준 자치구명</a:t>
            </a:r>
            <a:endParaRPr lang="en-US" sz="12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ds: ISO 날짜 (YYYY-MM-DD)</a:t>
            </a:r>
            <a:endParaRPr lang="en-US" sz="1200" dirty="0"/>
          </a:p>
          <a:p>
            <a:pPr indent="0" marL="0">
              <a:lnSpc>
                <a:spcPct val="155000"/>
              </a:lnSpc>
              <a:buNone/>
            </a:pPr>
            <a:endParaRPr lang="en-US" sz="12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단위 데이터는 매년 1월 1일, 월 단위 데이터는 매월 1일로 표기해 서로 다른 주기의 표도 같은 키로 병합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514350"/>
            <a:ext cx="76200" cy="76200"/>
          </a:xfrm>
          <a:prstGeom prst="ellipse">
            <a:avLst/>
          </a:prstGeom>
          <a:solidFill>
            <a:srgbClr val="E630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62000" y="457200"/>
            <a:ext cx="1016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6767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  원본 데이터 전처리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723900"/>
            <a:ext cx="10972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spc="-50" kern="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3행 헤더 통계표 해체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1206500"/>
            <a:ext cx="10972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spc="-15" kern="0" dirty="0">
                <a:solidFill>
                  <a:srgbClr val="555555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KOSIS 피벗 형식의 연도·대분류·소분류 헤더를 풀어 자치구 × 연도 표로 바꿨습니다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6426200"/>
            <a:ext cx="889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02_119_데이터_전처리_통합.ipynb — 2절 ambulance_prophet, 4절 accident_cause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0312400" y="6426200"/>
            <a:ext cx="127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09600" y="1714500"/>
            <a:ext cx="10972800" cy="952500"/>
          </a:xfrm>
          <a:prstGeom prst="roundRect">
            <a:avLst>
              <a:gd name="adj" fmla="val 10667"/>
            </a:avLst>
          </a:prstGeom>
          <a:solidFill>
            <a:srgbClr val="F5F5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3600" y="1892300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6767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Row 0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863600" y="20955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연도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63600" y="2336800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2005, 2005.1, …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200400" y="1714500"/>
            <a:ext cx="304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606800" y="1892300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6767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Row 1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3606800" y="20955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대분류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606800" y="2336800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출동건수 · 이송건수 · 이송인원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0" y="1714500"/>
            <a:ext cx="304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350000" y="1892300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6767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Row 2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350000" y="20955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소분류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350000" y="2336800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소계 · 급만성질환 · 교통사고 …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0" y="1714500"/>
            <a:ext cx="304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093200" y="1892300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6767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Row 3~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9093200" y="20955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데이터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093200" y="2336800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소방서·자치구별 값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9600" y="2819400"/>
            <a:ext cx="5410200" cy="3467100"/>
          </a:xfrm>
          <a:prstGeom prst="roundRect">
            <a:avLst>
              <a:gd name="adj" fmla="val 2930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2800" y="2997200"/>
            <a:ext cx="5003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구급활동 실적 (소방서별, 2005~2025)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12800" y="3276600"/>
            <a:ext cx="5003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ambulance_prophet.csv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38200" y="3714750"/>
            <a:ext cx="63500" cy="63500"/>
          </a:xfrm>
          <a:prstGeom prst="ellipse">
            <a:avLst/>
          </a:prstGeom>
          <a:solidFill>
            <a:srgbClr val="E6308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16000" y="3568700"/>
            <a:ext cx="48006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소분류가 '소계'인 열만 사용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38200" y="4083050"/>
            <a:ext cx="63500" cy="63500"/>
          </a:xfrm>
          <a:prstGeom prst="ellipse">
            <a:avLst/>
          </a:prstGeom>
          <a:solidFill>
            <a:srgbClr val="E6308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16000" y="3937000"/>
            <a:ext cx="48006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대분류에서 출동·이송·이송인원 3개 지표 추출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38200" y="4451350"/>
            <a:ext cx="63500" cy="63500"/>
          </a:xfrm>
          <a:prstGeom prst="ellipse">
            <a:avLst/>
          </a:prstGeom>
          <a:solidFill>
            <a:srgbClr val="E6308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016000" y="4305300"/>
            <a:ext cx="48006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소방서 → 자치구 매핑 후 long → pivot wide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38200" y="4819650"/>
            <a:ext cx="63500" cy="63500"/>
          </a:xfrm>
          <a:prstGeom prst="ellipse">
            <a:avLst/>
          </a:prstGeom>
          <a:solidFill>
            <a:srgbClr val="E6308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016000" y="4673600"/>
            <a:ext cx="48006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'-' 값은 0으로 채우고 imputed_zero 표시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12800" y="5194300"/>
            <a:ext cx="2425700" cy="889000"/>
          </a:xfrm>
          <a:prstGeom prst="roundRect">
            <a:avLst>
              <a:gd name="adj" fmla="val 11429"/>
            </a:avLst>
          </a:prstGeom>
          <a:solidFill>
            <a:srgbClr val="F5F5F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65200" y="5308600"/>
            <a:ext cx="21209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spc="-80" kern="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525 × 6</a:t>
            </a:r>
            <a:endParaRPr lang="en-US" sz="2800" dirty="0"/>
          </a:p>
        </p:txBody>
      </p:sp>
      <p:sp>
        <p:nvSpPr>
          <p:cNvPr id="37" name="Text 35"/>
          <p:cNvSpPr txBox="1"/>
          <p:nvPr/>
        </p:nvSpPr>
        <p:spPr>
          <a:xfrm>
            <a:off x="965200" y="5727700"/>
            <a:ext cx="2120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 × 열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390900" y="5194300"/>
            <a:ext cx="2425700" cy="889000"/>
          </a:xfrm>
          <a:prstGeom prst="roundRect">
            <a:avLst>
              <a:gd name="adj" fmla="val 11429"/>
            </a:avLst>
          </a:prstGeom>
          <a:solidFill>
            <a:srgbClr val="F5F5F7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3543300" y="5308600"/>
            <a:ext cx="21209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spc="-80" kern="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37건</a:t>
            </a:r>
            <a:endParaRPr lang="en-US" sz="2800" dirty="0"/>
          </a:p>
        </p:txBody>
      </p:sp>
      <p:sp>
        <p:nvSpPr>
          <p:cNvPr id="40" name="Text 38"/>
          <p:cNvSpPr txBox="1"/>
          <p:nvPr/>
        </p:nvSpPr>
        <p:spPr>
          <a:xfrm>
            <a:off x="3543300" y="5727700"/>
            <a:ext cx="2120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0으로 대체된 결측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172200" y="2819400"/>
            <a:ext cx="5410200" cy="3467100"/>
          </a:xfrm>
          <a:prstGeom prst="roundRect">
            <a:avLst>
              <a:gd name="adj" fmla="val 2930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375400" y="2997200"/>
            <a:ext cx="5003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구조활동 실적 (구별)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6375400" y="3276600"/>
            <a:ext cx="5003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accident_cause_onehot.csv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400800" y="3714750"/>
            <a:ext cx="63500" cy="63500"/>
          </a:xfrm>
          <a:prstGeom prst="ellipse">
            <a:avLst/>
          </a:prstGeom>
          <a:solidFill>
            <a:srgbClr val="E6308A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578600" y="3568700"/>
            <a:ext cx="48006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구조인원 &gt; 사고종별구조인원 열만 사용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400800" y="4083050"/>
            <a:ext cx="63500" cy="63500"/>
          </a:xfrm>
          <a:prstGeom prst="ellipse">
            <a:avLst/>
          </a:prstGeom>
          <a:solidFill>
            <a:srgbClr val="E6308A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578600" y="3937000"/>
            <a:ext cx="48006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소분류 원인명을 Cause 컬럼으로 추출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400800" y="4451350"/>
            <a:ext cx="63500" cy="63500"/>
          </a:xfrm>
          <a:prstGeom prst="ellipse">
            <a:avLst/>
          </a:prstGeom>
          <a:solidFill>
            <a:srgbClr val="E6308A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578600" y="4305300"/>
            <a:ext cx="48006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연도별 표기를 14개 표준 원인으로 통일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400800" y="4819650"/>
            <a:ext cx="63500" cy="63500"/>
          </a:xfrm>
          <a:prstGeom prst="ellipse">
            <a:avLst/>
          </a:prstGeom>
          <a:solidFill>
            <a:srgbClr val="E6308A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6578600" y="4673600"/>
            <a:ext cx="48006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구·연도 단위 pivot으로 One-Hot 컬럼화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375400" y="5194300"/>
            <a:ext cx="2425700" cy="889000"/>
          </a:xfrm>
          <a:prstGeom prst="roundRect">
            <a:avLst>
              <a:gd name="adj" fmla="val 11429"/>
            </a:avLst>
          </a:prstGeom>
          <a:solidFill>
            <a:srgbClr val="F5F5F7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6527800" y="5308600"/>
            <a:ext cx="21209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spc="-80" kern="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500 × 16</a:t>
            </a:r>
            <a:endParaRPr lang="en-US" sz="2800" dirty="0"/>
          </a:p>
        </p:txBody>
      </p:sp>
      <p:sp>
        <p:nvSpPr>
          <p:cNvPr id="54" name="Text 52"/>
          <p:cNvSpPr txBox="1"/>
          <p:nvPr/>
        </p:nvSpPr>
        <p:spPr>
          <a:xfrm>
            <a:off x="6527800" y="5727700"/>
            <a:ext cx="2120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One-Hot 행 × 열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953500" y="5194300"/>
            <a:ext cx="2425700" cy="889000"/>
          </a:xfrm>
          <a:prstGeom prst="roundRect">
            <a:avLst>
              <a:gd name="adj" fmla="val 11429"/>
            </a:avLst>
          </a:prstGeom>
          <a:solidFill>
            <a:srgbClr val="F5F5F7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9105900" y="5308600"/>
            <a:ext cx="21209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spc="-80" kern="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14개</a:t>
            </a:r>
            <a:endParaRPr lang="en-US" sz="2800" dirty="0"/>
          </a:p>
        </p:txBody>
      </p:sp>
      <p:sp>
        <p:nvSpPr>
          <p:cNvPr id="57" name="Text 55"/>
          <p:cNvSpPr txBox="1"/>
          <p:nvPr/>
        </p:nvSpPr>
        <p:spPr>
          <a:xfrm>
            <a:off x="9105900" y="5727700"/>
            <a:ext cx="2120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표준 사고 원인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514350"/>
            <a:ext cx="76200" cy="76200"/>
          </a:xfrm>
          <a:prstGeom prst="ellipse">
            <a:avLst/>
          </a:prstGeom>
          <a:solidFill>
            <a:srgbClr val="E630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62000" y="457200"/>
            <a:ext cx="1016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6767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  원본 데이터 전처리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723900"/>
            <a:ext cx="10972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spc="-50" kern="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서울 생활인구 일별 데이터 정리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1206500"/>
            <a:ext cx="10972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spc="-15" kern="0" dirty="0">
                <a:solidFill>
                  <a:srgbClr val="555555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빠진 13일을 선형보간으로 메우고 주간·야간 인구 차이를 파생변수로 만들었습니다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6426200"/>
            <a:ext cx="889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02_119_데이터_전처리_통합.ipynb — 3절 population_rf.csv (자치구단위 서울생활인구 일별 집계표)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0312400" y="6426200"/>
            <a:ext cx="127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09600" y="1714500"/>
            <a:ext cx="7264400" cy="57150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2800" y="1714500"/>
            <a:ext cx="406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630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70000" y="1714500"/>
            <a:ext cx="165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날짜형 변환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022600" y="1714500"/>
            <a:ext cx="4648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기준일ID(정수 20180405) → 문자열 → 날짜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9600" y="2387600"/>
            <a:ext cx="7264400" cy="57150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2800" y="2387600"/>
            <a:ext cx="406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630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70000" y="2387600"/>
            <a:ext cx="165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합계행 제외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022600" y="2387600"/>
            <a:ext cx="4648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시군구명이 '서울시'인 합계 행을 빼고 자치구만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9600" y="3060700"/>
            <a:ext cx="7264400" cy="57150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2800" y="3060700"/>
            <a:ext cx="406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630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70000" y="3060700"/>
            <a:ext cx="165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날짜 재색인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022600" y="3060700"/>
            <a:ext cx="4648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자치구별로 전체 기간 날짜를 다시 색인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9600" y="3733800"/>
            <a:ext cx="7264400" cy="57150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2800" y="3733800"/>
            <a:ext cx="406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630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70000" y="3733800"/>
            <a:ext cx="165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선형보간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022600" y="3733800"/>
            <a:ext cx="4648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2019-10-15 ~ 27 공백을 앞뒤 값으로 채움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26400" y="1714500"/>
            <a:ext cx="3556000" cy="2692400"/>
          </a:xfrm>
          <a:prstGeom prst="roundRect">
            <a:avLst>
              <a:gd name="adj" fmla="val 1415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32750" y="1720850"/>
            <a:ext cx="3543300" cy="349250"/>
          </a:xfrm>
          <a:prstGeom prst="rect">
            <a:avLst/>
          </a:prstGeom>
          <a:solidFill>
            <a:srgbClr val="F5F5F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153400" y="1714500"/>
            <a:ext cx="1193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6767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파생변수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9550400" y="1714500"/>
            <a:ext cx="1955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6767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정의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153400" y="2070100"/>
            <a:ext cx="11938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Day_Pop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9550400" y="2070100"/>
            <a:ext cx="19558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주간인구수 (09~18시)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32750" y="2654300"/>
            <a:ext cx="3543300" cy="0"/>
          </a:xfrm>
          <a:prstGeom prst="line">
            <a:avLst/>
          </a:prstGeom>
          <a:noFill/>
          <a:ln w="9525">
            <a:solidFill>
              <a:srgbClr val="EFEFF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153400" y="2654300"/>
            <a:ext cx="11938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Night_Pop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9550400" y="2654300"/>
            <a:ext cx="19558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야간인구수 (19~08시)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032750" y="3238500"/>
            <a:ext cx="3543300" cy="0"/>
          </a:xfrm>
          <a:prstGeom prst="line">
            <a:avLst/>
          </a:prstGeom>
          <a:noFill/>
          <a:ln w="9525">
            <a:solidFill>
              <a:srgbClr val="EFEFF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153400" y="3238500"/>
            <a:ext cx="11938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Pop_Peak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9550400" y="3238500"/>
            <a:ext cx="19558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일최대인구수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032750" y="3822700"/>
            <a:ext cx="3543300" cy="0"/>
          </a:xfrm>
          <a:prstGeom prst="line">
            <a:avLst/>
          </a:prstGeom>
          <a:noFill/>
          <a:ln w="9525">
            <a:solidFill>
              <a:srgbClr val="EFEFF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153400" y="3822700"/>
            <a:ext cx="11938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Pop_Diff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9550400" y="3822700"/>
            <a:ext cx="19558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Day_Pop − Night_Pop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09600" y="4533900"/>
            <a:ext cx="10972800" cy="1752600"/>
          </a:xfrm>
          <a:prstGeom prst="roundRect">
            <a:avLst>
              <a:gd name="adj" fmla="val 5797"/>
            </a:avLst>
          </a:prstGeom>
          <a:solidFill>
            <a:srgbClr val="F5F5F7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12800" y="4711700"/>
            <a:ext cx="2387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spc="-100" kern="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76,000</a:t>
            </a:r>
            <a:endParaRPr lang="en-US" sz="4000" dirty="0"/>
          </a:p>
        </p:txBody>
      </p:sp>
      <p:sp>
        <p:nvSpPr>
          <p:cNvPr id="41" name="Text 39"/>
          <p:cNvSpPr txBox="1"/>
          <p:nvPr/>
        </p:nvSpPr>
        <p:spPr>
          <a:xfrm>
            <a:off x="812800" y="5321300"/>
            <a:ext cx="23876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 (25개 구 × 일별)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352800" y="4711700"/>
            <a:ext cx="0" cy="139700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556000" y="4711700"/>
            <a:ext cx="2387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spc="-100" kern="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4000" dirty="0"/>
          </a:p>
        </p:txBody>
      </p:sp>
      <p:sp>
        <p:nvSpPr>
          <p:cNvPr id="44" name="Text 42"/>
          <p:cNvSpPr txBox="1"/>
          <p:nvPr/>
        </p:nvSpPr>
        <p:spPr>
          <a:xfrm>
            <a:off x="3556000" y="5321300"/>
            <a:ext cx="23876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열 (원본 지표 + 파생변수)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096000" y="4711700"/>
            <a:ext cx="0" cy="139700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299200" y="4711700"/>
            <a:ext cx="2387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spc="-100" kern="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13일</a:t>
            </a:r>
            <a:endParaRPr lang="en-US" sz="4000" dirty="0"/>
          </a:p>
        </p:txBody>
      </p:sp>
      <p:sp>
        <p:nvSpPr>
          <p:cNvPr id="47" name="Text 45"/>
          <p:cNvSpPr txBox="1"/>
          <p:nvPr/>
        </p:nvSpPr>
        <p:spPr>
          <a:xfrm>
            <a:off x="6299200" y="5321300"/>
            <a:ext cx="23876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선형보간으로 채운 날짜 공백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839200" y="4711700"/>
            <a:ext cx="0" cy="139700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042400" y="4711700"/>
            <a:ext cx="2387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spc="-100" kern="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8년+</a:t>
            </a:r>
            <a:endParaRPr lang="en-US" sz="4000" dirty="0"/>
          </a:p>
        </p:txBody>
      </p:sp>
      <p:sp>
        <p:nvSpPr>
          <p:cNvPr id="50" name="Text 48"/>
          <p:cNvSpPr txBox="1"/>
          <p:nvPr/>
        </p:nvSpPr>
        <p:spPr>
          <a:xfrm>
            <a:off x="9042400" y="5321300"/>
            <a:ext cx="23876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기간 (2018.04 ~ 2026.07)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514350"/>
            <a:ext cx="76200" cy="76200"/>
          </a:xfrm>
          <a:prstGeom prst="ellipse">
            <a:avLst/>
          </a:prstGeom>
          <a:solidFill>
            <a:srgbClr val="E630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62000" y="457200"/>
            <a:ext cx="1016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6767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  원본 데이터 전처리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723900"/>
            <a:ext cx="10972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spc="-50" kern="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구급출동 건별 데이터 월별 집계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1206500"/>
            <a:ext cx="10972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spc="-15" kern="0" dirty="0">
                <a:solidFill>
                  <a:srgbClr val="555555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한 줄이 출동 1건인 116만여 건을 자치구 × 월 표로 세고, 두 가지 방법으로 검산했습니다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6426200"/>
            <a:ext cx="889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02_119_데이터_전처리_통합.ipynb — 6절 ambulance_incident_monthly.csv (서울소방재난본부 구급출동 현황 2021·2022)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0312400" y="6426200"/>
            <a:ext cx="127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09600" y="1714500"/>
            <a:ext cx="10972800" cy="1498600"/>
          </a:xfrm>
          <a:prstGeom prst="roundRect">
            <a:avLst>
              <a:gd name="adj" fmla="val 6780"/>
            </a:avLst>
          </a:prstGeom>
          <a:solidFill>
            <a:srgbClr val="F5F5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12800" y="1892300"/>
            <a:ext cx="2387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spc="-100" kern="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551,597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812800" y="2501900"/>
            <a:ext cx="23876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2021년 원본 건수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52800" y="1892300"/>
            <a:ext cx="0" cy="114300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56000" y="1892300"/>
            <a:ext cx="2387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spc="-100" kern="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617,414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3556000" y="2501900"/>
            <a:ext cx="23876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2022년 원본 건수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96000" y="1892300"/>
            <a:ext cx="0" cy="114300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99200" y="1892300"/>
            <a:ext cx="2387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spc="-100" kern="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−1,694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6299200" y="2501900"/>
            <a:ext cx="23876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 25개 구 외 지역 제외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839200" y="1892300"/>
            <a:ext cx="0" cy="114300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042400" y="1892300"/>
            <a:ext cx="2387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spc="-100" kern="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1,167,317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9042400" y="2501900"/>
            <a:ext cx="23876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집계에 사용한 건수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9600" y="3365500"/>
            <a:ext cx="7264400" cy="2565400"/>
          </a:xfrm>
          <a:prstGeom prst="roundRect">
            <a:avLst>
              <a:gd name="adj" fmla="val 1485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5950" y="3371850"/>
            <a:ext cx="7251700" cy="323850"/>
          </a:xfrm>
          <a:prstGeom prst="rect">
            <a:avLst/>
          </a:prstGeom>
          <a:solidFill>
            <a:srgbClr val="F5F5F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6600" y="3365500"/>
            <a:ext cx="1701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6767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원본 컬럼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2641600" y="3365500"/>
            <a:ext cx="13843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6767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변환 후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229100" y="3365500"/>
            <a:ext cx="35687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6767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규칙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36600" y="3695700"/>
            <a:ext cx="1701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DCLR_YMD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2641600" y="3695700"/>
            <a:ext cx="13843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ds (월)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229100" y="3695700"/>
            <a:ext cx="35687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신고일 기준 — 출동일은 연말 일부가 다음 해로 넘어가 제외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5950" y="4254500"/>
            <a:ext cx="7251700" cy="0"/>
          </a:xfrm>
          <a:prstGeom prst="line">
            <a:avLst/>
          </a:prstGeom>
          <a:noFill/>
          <a:ln w="9525">
            <a:solidFill>
              <a:srgbClr val="EFEFF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6600" y="4254500"/>
            <a:ext cx="1701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GRNDS_SGG_NM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2641600" y="4254500"/>
            <a:ext cx="13843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District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229100" y="4254500"/>
            <a:ext cx="35687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시군구, 서울 25개 구만 사용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5950" y="4813300"/>
            <a:ext cx="7251700" cy="0"/>
          </a:xfrm>
          <a:prstGeom prst="line">
            <a:avLst/>
          </a:prstGeom>
          <a:noFill/>
          <a:ln w="9525">
            <a:solidFill>
              <a:srgbClr val="EFEFF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6600" y="4813300"/>
            <a:ext cx="1701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TRANS_CLSF_NM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2641600" y="4813300"/>
            <a:ext cx="13843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이송 구분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4229100" y="4813300"/>
            <a:ext cx="35687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이송 = 이송 + 연계이송, 미이송, 소방활동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5950" y="5372100"/>
            <a:ext cx="7251700" cy="0"/>
          </a:xfrm>
          <a:prstGeom prst="line">
            <a:avLst/>
          </a:prstGeom>
          <a:noFill/>
          <a:ln w="9525">
            <a:solidFill>
              <a:srgbClr val="EFEFF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36600" y="5372100"/>
            <a:ext cx="1701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PTN_OCRN_TYPE_NM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2641600" y="5372100"/>
            <a:ext cx="13843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발생 유형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229100" y="5372100"/>
            <a:ext cx="35687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질병 · 질병외 · 기타 건수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026400" y="3365500"/>
            <a:ext cx="3556000" cy="2921000"/>
          </a:xfrm>
          <a:prstGeom prst="roundRect">
            <a:avLst>
              <a:gd name="adj" fmla="val 3478"/>
            </a:avLst>
          </a:prstGeom>
          <a:solidFill>
            <a:srgbClr val="F5F5F7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229600" y="3530600"/>
            <a:ext cx="314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검산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10680700" y="3549650"/>
            <a:ext cx="698500" cy="215900"/>
          </a:xfrm>
          <a:prstGeom prst="roundRect">
            <a:avLst>
              <a:gd name="adj" fmla="val 50000"/>
            </a:avLst>
          </a:prstGeom>
          <a:solidFill>
            <a:srgbClr val="E6F6EC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10680700" y="3549650"/>
            <a:ext cx="6985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7A3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차이 0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8229600" y="3835400"/>
            <a:ext cx="3149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출동 = 이송 + 미이송 + 소방활동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229600" y="4216400"/>
            <a:ext cx="3149600" cy="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229600" y="4318000"/>
            <a:ext cx="314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2022년 합계 비교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8229600" y="4572000"/>
            <a:ext cx="31496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건별 617,256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xlsx 620,693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차이 3,437건은 집계 기준 차이로 추정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229600" y="5448300"/>
            <a:ext cx="3149600" cy="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229600" y="5537200"/>
            <a:ext cx="3149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출동 고유번호가 없어 같은 값이 반복돼도 별개 출동일 수 있으므로 중복 제거하지 않음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514350"/>
            <a:ext cx="76200" cy="76200"/>
          </a:xfrm>
          <a:prstGeom prst="ellipse">
            <a:avLst/>
          </a:prstGeom>
          <a:solidFill>
            <a:srgbClr val="E630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62000" y="457200"/>
            <a:ext cx="1016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6767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  원본 데이터 전처리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723900"/>
            <a:ext cx="10972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spc="-50" kern="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보조 데이터와 보류 항목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1206500"/>
            <a:ext cx="10972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spc="-15" kern="0" dirty="0">
                <a:solidFill>
                  <a:srgbClr val="555555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단위나 기간이 달라 주 학습 데이터로 쓰기 어려운 파일은 보완·참고용으로 따로 저장했습니다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6426200"/>
            <a:ext cx="889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02_119_데이터_전처리_통합.ipynb — 5절 보조 데이터 3종, 7~8절 의료이용 유출입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0312400" y="6426200"/>
            <a:ext cx="127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09600" y="1714500"/>
            <a:ext cx="2628900" cy="3683000"/>
          </a:xfrm>
          <a:prstGeom prst="roundRect">
            <a:avLst>
              <a:gd name="adj" fmla="val 3865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2800" y="1917700"/>
            <a:ext cx="457200" cy="215900"/>
          </a:xfrm>
          <a:prstGeom prst="roundRect">
            <a:avLst>
              <a:gd name="adj" fmla="val 50000"/>
            </a:avLst>
          </a:prstGeom>
          <a:solidFill>
            <a:srgbClr val="DCE6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12800" y="1917700"/>
            <a:ext cx="457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F48E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보완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12800" y="2260600"/>
            <a:ext cx="2222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서울 전체 월별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12800" y="2781300"/>
            <a:ext cx="2222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ambulance_citywide_monthly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12800" y="3187700"/>
            <a:ext cx="2222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소방청 본부별 구급활동정보 2020·2023 파일을 합쳐 서울 행만 추출. 시도 단위라 25개 구로 나눌 수 없어 단일 계열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2800" y="4610100"/>
            <a:ext cx="2222500" cy="0"/>
          </a:xfrm>
          <a:prstGeom prst="line">
            <a:avLst/>
          </a:prstGeom>
          <a:noFill/>
          <a:ln w="9525">
            <a:solidFill>
              <a:srgbClr val="EFEFF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2800" y="4711700"/>
            <a:ext cx="2222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spc="-60" kern="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48 × 5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812800" y="5080000"/>
            <a:ext cx="222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 × 열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90900" y="1714500"/>
            <a:ext cx="2628900" cy="3683000"/>
          </a:xfrm>
          <a:prstGeom prst="roundRect">
            <a:avLst>
              <a:gd name="adj" fmla="val 3865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94100" y="1917700"/>
            <a:ext cx="457200" cy="215900"/>
          </a:xfrm>
          <a:prstGeom prst="roundRect">
            <a:avLst>
              <a:gd name="adj" fmla="val 50000"/>
            </a:avLst>
          </a:prstGeom>
          <a:solidFill>
            <a:srgbClr val="DCE6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594100" y="1917700"/>
            <a:ext cx="457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F48E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보완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3594100" y="2260600"/>
            <a:ext cx="2222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구단위 월별 (2022~2024)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3594100" y="2781300"/>
            <a:ext cx="2222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ambulance_monthly_gu_2022_2024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3594100" y="3187700"/>
            <a:ext cx="2222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서울시 소방 구급 출동 현황 xlsx의 시트별 연도에서 구 행만 뽑아 월 컬럼을 행으로 변환(melt)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594100" y="4610100"/>
            <a:ext cx="2222500" cy="0"/>
          </a:xfrm>
          <a:prstGeom prst="line">
            <a:avLst/>
          </a:prstGeom>
          <a:noFill/>
          <a:ln w="9525">
            <a:solidFill>
              <a:srgbClr val="EFEFF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594100" y="4711700"/>
            <a:ext cx="2222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spc="-60" kern="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900 × 3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3594100" y="5080000"/>
            <a:ext cx="222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 × 열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72200" y="1714500"/>
            <a:ext cx="2628900" cy="3683000"/>
          </a:xfrm>
          <a:prstGeom prst="roundRect">
            <a:avLst>
              <a:gd name="adj" fmla="val 3865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75400" y="1917700"/>
            <a:ext cx="457200" cy="21590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375400" y="1917700"/>
            <a:ext cx="457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참고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375400" y="2260600"/>
            <a:ext cx="2222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관악구 샘플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375400" y="2781300"/>
            <a:ext cx="2222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ambulance_sample_gwanak_202506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6375400" y="3187700"/>
            <a:ext cx="2222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data.csv 1,000행을 2025년 6월 관악구 단일 포인트로 집계. 전수 여부가 불확실해 검증 필요 메모를 남김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75400" y="4610100"/>
            <a:ext cx="2222500" cy="0"/>
          </a:xfrm>
          <a:prstGeom prst="line">
            <a:avLst/>
          </a:prstGeom>
          <a:noFill/>
          <a:ln w="9525">
            <a:solidFill>
              <a:srgbClr val="EFEFF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75400" y="4711700"/>
            <a:ext cx="2222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spc="-60" kern="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× 4</a:t>
            </a:r>
            <a:endParaRPr lang="en-US" sz="2400" dirty="0"/>
          </a:p>
        </p:txBody>
      </p:sp>
      <p:sp>
        <p:nvSpPr>
          <p:cNvPr id="34" name="Text 32"/>
          <p:cNvSpPr txBox="1"/>
          <p:nvPr/>
        </p:nvSpPr>
        <p:spPr>
          <a:xfrm>
            <a:off x="6375400" y="5080000"/>
            <a:ext cx="222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 × 열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953500" y="1714500"/>
            <a:ext cx="2628900" cy="3683000"/>
          </a:xfrm>
          <a:prstGeom prst="roundRect">
            <a:avLst>
              <a:gd name="adj" fmla="val 3865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56700" y="1917700"/>
            <a:ext cx="457200" cy="215900"/>
          </a:xfrm>
          <a:prstGeom prst="roundRect">
            <a:avLst>
              <a:gd name="adj" fmla="val 50000"/>
            </a:avLst>
          </a:prstGeom>
          <a:solidFill>
            <a:srgbClr val="FBE9E9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156700" y="1917700"/>
            <a:ext cx="457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4565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보류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9156700" y="2260600"/>
            <a:ext cx="2222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의료이용 유출입 (2021~2024)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9156700" y="2781300"/>
            <a:ext cx="2222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medical_flow_* · monthly_gu_integrated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9156700" y="3187700"/>
            <a:ext cx="2222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3행 헤더 ffill 병합, 천단위 콤마 제거, 수요·공급·OD 3종으로 설계. 원본 CSV가 경로에 없어 실행되지 않음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156700" y="4610100"/>
            <a:ext cx="2222500" cy="0"/>
          </a:xfrm>
          <a:prstGeom prst="line">
            <a:avLst/>
          </a:prstGeom>
          <a:noFill/>
          <a:ln w="9525">
            <a:solidFill>
              <a:srgbClr val="EFEFF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156700" y="4711700"/>
            <a:ext cx="2222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spc="-60" kern="0" dirty="0">
                <a:solidFill>
                  <a:srgbClr val="D456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미생성</a:t>
            </a:r>
            <a:endParaRPr lang="en-US" sz="2400" dirty="0"/>
          </a:p>
        </p:txBody>
      </p:sp>
      <p:sp>
        <p:nvSpPr>
          <p:cNvPr id="43" name="Text 41"/>
          <p:cNvSpPr txBox="1"/>
          <p:nvPr/>
        </p:nvSpPr>
        <p:spPr>
          <a:xfrm>
            <a:off x="9156700" y="5080000"/>
            <a:ext cx="222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통합 테이블 포함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09600" y="5549900"/>
            <a:ext cx="10972800" cy="736600"/>
          </a:xfrm>
          <a:prstGeom prst="roundRect">
            <a:avLst>
              <a:gd name="adj" fmla="val 13793"/>
            </a:avLst>
          </a:prstGeom>
          <a:solidFill>
            <a:srgbClr val="F5F5F7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812800" y="5549900"/>
            <a:ext cx="105664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다음   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의료이용 유출입 원본 CSV를 경로에 넣고 7~8절을 다시 실행하면 월별 통합 테이블(/ml_data)이 생성됨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F5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2413000"/>
            <a:ext cx="2540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3048000"/>
            <a:ext cx="109728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spc="-110" kern="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학습용 데이터셋 구성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3810000"/>
            <a:ext cx="10972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중복을 걷어내고 예측 주제별 데이터셋과 입력 컬럼을 확정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600" y="5588000"/>
            <a:ext cx="1371600" cy="279400"/>
          </a:xfrm>
          <a:prstGeom prst="roundRect">
            <a:avLst>
              <a:gd name="adj" fmla="val 50000"/>
            </a:avLst>
          </a:prstGeom>
          <a:ln w="9525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9600" y="5588000"/>
            <a:ext cx="1371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중복·불필요 제외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57400" y="5588000"/>
            <a:ext cx="1238250" cy="279400"/>
          </a:xfrm>
          <a:prstGeom prst="roundRect">
            <a:avLst>
              <a:gd name="adj" fmla="val 50000"/>
            </a:avLst>
          </a:prstGeom>
          <a:ln w="9525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57400" y="5588000"/>
            <a:ext cx="123825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주제별 데이터셋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71850" y="5588000"/>
            <a:ext cx="1238250" cy="279400"/>
          </a:xfrm>
          <a:prstGeom prst="roundRect">
            <a:avLst>
              <a:gd name="adj" fmla="val 50000"/>
            </a:avLst>
          </a:prstGeom>
          <a:ln w="952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71850" y="5588000"/>
            <a:ext cx="123825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예측 컬럼 선택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86300" y="5588000"/>
            <a:ext cx="1371600" cy="279400"/>
          </a:xfrm>
          <a:prstGeom prst="roundRect">
            <a:avLst>
              <a:gd name="adj" fmla="val 50000"/>
            </a:avLst>
          </a:prstGeom>
          <a:ln w="9525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86300" y="5588000"/>
            <a:ext cx="1371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한계와 다음 단계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0312400" y="6426200"/>
            <a:ext cx="127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/ 20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514350"/>
            <a:ext cx="76200" cy="76200"/>
          </a:xfrm>
          <a:prstGeom prst="ellipse">
            <a:avLst/>
          </a:prstGeom>
          <a:solidFill>
            <a:srgbClr val="2F5B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62000" y="457200"/>
            <a:ext cx="1016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6767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  학습용 데이터셋 구성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723900"/>
            <a:ext cx="10972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spc="-50" kern="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중복·불필요 데이터 제외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1206500"/>
            <a:ext cx="10972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spc="-15" kern="0" dirty="0">
                <a:solidFill>
                  <a:srgbClr val="555555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다른 파일에 통째로 들어있거나 정보가 없는 파일·컬럼 8건을 근거와 함께 제외했습니다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6426200"/>
            <a:ext cx="889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02_119_ml_dataset.ipynb — 00_exclusion_report.csv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0312400" y="6426200"/>
            <a:ext cx="127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09600" y="1714500"/>
            <a:ext cx="7264400" cy="4572000"/>
          </a:xfrm>
          <a:prstGeom prst="roundRect">
            <a:avLst>
              <a:gd name="adj" fmla="val 833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5950" y="1720850"/>
            <a:ext cx="7251700" cy="349250"/>
          </a:xfrm>
          <a:prstGeom prst="rect">
            <a:avLst/>
          </a:prstGeom>
          <a:solidFill>
            <a:srgbClr val="F5F5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6600" y="1714500"/>
            <a:ext cx="2209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6767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파일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149600" y="1714500"/>
            <a:ext cx="1511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6767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대상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864100" y="1714500"/>
            <a:ext cx="2933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6767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제외 이유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36600" y="2070100"/>
            <a:ext cx="2209800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..._202508_api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149600" y="2070100"/>
            <a:ext cx="1511300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전체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864100" y="2070100"/>
            <a:ext cx="2933700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2025년 월별 API 파일 안에 같은 행이 모두 있음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5950" y="2597150"/>
            <a:ext cx="7251700" cy="0"/>
          </a:xfrm>
          <a:prstGeom prst="line">
            <a:avLst/>
          </a:prstGeom>
          <a:noFill/>
          <a:ln w="9525">
            <a:solidFill>
              <a:srgbClr val="EFEFF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6600" y="2597150"/>
            <a:ext cx="2209800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..._202512_api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149600" y="2597150"/>
            <a:ext cx="1511300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전체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864100" y="2597150"/>
            <a:ext cx="2933700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2025년 월별 API 파일 안에 같은 행이 모두 있음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5950" y="3124200"/>
            <a:ext cx="7251700" cy="0"/>
          </a:xfrm>
          <a:prstGeom prst="line">
            <a:avLst/>
          </a:prstGeom>
          <a:noFill/>
          <a:ln w="9525">
            <a:solidFill>
              <a:srgbClr val="EFEFF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6600" y="3124200"/>
            <a:ext cx="2209800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accident_cause_long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149600" y="3124200"/>
            <a:ext cx="1511300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전체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864100" y="3124200"/>
            <a:ext cx="2933700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onehot 파일과 같은 내용 (형태만 long)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5950" y="3651250"/>
            <a:ext cx="7251700" cy="0"/>
          </a:xfrm>
          <a:prstGeom prst="line">
            <a:avLst/>
          </a:prstGeom>
          <a:noFill/>
          <a:ln w="9525">
            <a:solidFill>
              <a:srgbClr val="EFEFF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6600" y="3651250"/>
            <a:ext cx="2209800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ambulance_citywide_monthly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149600" y="3651250"/>
            <a:ext cx="1511300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전체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864100" y="3651250"/>
            <a:ext cx="2933700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서울시 전체 합계로 구 단위가 아님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5950" y="4178300"/>
            <a:ext cx="7251700" cy="0"/>
          </a:xfrm>
          <a:prstGeom prst="line">
            <a:avLst/>
          </a:prstGeom>
          <a:noFill/>
          <a:ln w="9525">
            <a:solidFill>
              <a:srgbClr val="EFEFF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6600" y="4178300"/>
            <a:ext cx="2209800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ambulance_sample_gwanak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3149600" y="4178300"/>
            <a:ext cx="1511300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전체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864100" y="4178300"/>
            <a:ext cx="2933700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1개 구 1개월 표본, 검증 필요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5950" y="4705350"/>
            <a:ext cx="7251700" cy="0"/>
          </a:xfrm>
          <a:prstGeom prst="line">
            <a:avLst/>
          </a:prstGeom>
          <a:noFill/>
          <a:ln w="9525">
            <a:solidFill>
              <a:srgbClr val="EFEFF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6600" y="4705350"/>
            <a:ext cx="2209800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population_rf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3149600" y="4705350"/>
            <a:ext cx="1511300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Pop_Peak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4864100" y="4705350"/>
            <a:ext cx="2933700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일최대인구수와 값이 완전히 같음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5950" y="5232400"/>
            <a:ext cx="7251700" cy="0"/>
          </a:xfrm>
          <a:prstGeom prst="line">
            <a:avLst/>
          </a:prstGeom>
          <a:noFill/>
          <a:ln w="9525">
            <a:solidFill>
              <a:srgbClr val="EFEFF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36600" y="5232400"/>
            <a:ext cx="2209800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realtime_er_beds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3149600" y="5232400"/>
            <a:ext cx="1511300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Ambulance_Available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864100" y="5232400"/>
            <a:ext cx="2933700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값이 하나뿐 (Y)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15950" y="5759450"/>
            <a:ext cx="7251700" cy="0"/>
          </a:xfrm>
          <a:prstGeom prst="line">
            <a:avLst/>
          </a:prstGeom>
          <a:noFill/>
          <a:ln w="9525">
            <a:solidFill>
              <a:srgbClr val="EFEFF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36600" y="5759450"/>
            <a:ext cx="2209800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realtime_er_beds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3149600" y="5759450"/>
            <a:ext cx="1511300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is_ffilled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4864100" y="5759450"/>
            <a:ext cx="2933700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값이 하나뿐 (False)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026400" y="1714500"/>
            <a:ext cx="3556000" cy="1270000"/>
          </a:xfrm>
          <a:prstGeom prst="roundRect">
            <a:avLst>
              <a:gd name="adj" fmla="val 16000"/>
            </a:avLst>
          </a:prstGeom>
          <a:solidFill>
            <a:srgbClr val="2F5BFF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8280400" y="1866900"/>
            <a:ext cx="304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→ 7</a:t>
            </a:r>
            <a:endParaRPr lang="en-US" sz="4000" dirty="0"/>
          </a:p>
        </p:txBody>
      </p:sp>
      <p:sp>
        <p:nvSpPr>
          <p:cNvPr id="46" name="Text 44"/>
          <p:cNvSpPr txBox="1"/>
          <p:nvPr/>
        </p:nvSpPr>
        <p:spPr>
          <a:xfrm>
            <a:off x="8280400" y="2527300"/>
            <a:ext cx="304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불러온 파일 → 사용 파일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026400" y="3136900"/>
            <a:ext cx="3556000" cy="3149600"/>
          </a:xfrm>
          <a:prstGeom prst="roundRect">
            <a:avLst>
              <a:gd name="adj" fmla="val 3226"/>
            </a:avLst>
          </a:prstGeom>
          <a:solidFill>
            <a:srgbClr val="F5F5F7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8229600" y="3289300"/>
            <a:ext cx="3149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검사 방법 5가지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3632200"/>
            <a:ext cx="3149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파일 포함 관계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merge(indicator=True)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229600" y="4140200"/>
            <a:ext cx="3149600" cy="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229600" y="4140200"/>
            <a:ext cx="3149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형태만 다른 같은 데이터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pivot_table 후 값 비교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229600" y="4648200"/>
            <a:ext cx="3149600" cy="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229600" y="4648200"/>
            <a:ext cx="3149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같은 값 컬럼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컬럼씩 equals()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229600" y="5156200"/>
            <a:ext cx="3149600" cy="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229600" y="5156200"/>
            <a:ext cx="3149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값이 하나뿐인 컬럼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nunique() ≤ 1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8229600" y="5664200"/>
            <a:ext cx="3149600" cy="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229600" y="5664200"/>
            <a:ext cx="3149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키 중복 행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drop_duplicates() — 0건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514350"/>
            <a:ext cx="76200" cy="76200"/>
          </a:xfrm>
          <a:prstGeom prst="ellipse">
            <a:avLst/>
          </a:prstGeom>
          <a:solidFill>
            <a:srgbClr val="2F5B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62000" y="457200"/>
            <a:ext cx="1016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6767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  학습용 데이터셋 구성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723900"/>
            <a:ext cx="10972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spc="-50" kern="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주제별 학습 데이터셋 3종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1206500"/>
            <a:ext cx="10972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spc="-15" kern="0" dirty="0">
                <a:solidFill>
                  <a:srgbClr val="555555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예측 대상마다 데이터 단위가 달라, 단위에 맞춰 생활인구·사고원인 등을 붙여 따로 만들었습니다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6426200"/>
            <a:ext cx="889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02_119_ml_dataset.ipynb — transport_dataset.csv, population_dataset.csv, er_beds_dataset.csv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0312400" y="6426200"/>
            <a:ext cx="127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09600" y="1714500"/>
            <a:ext cx="3556000" cy="3683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2800" y="1892300"/>
            <a:ext cx="31496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이송 건수 예측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12800" y="2324100"/>
            <a:ext cx="3149600" cy="0"/>
          </a:xfrm>
          <a:prstGeom prst="line">
            <a:avLst/>
          </a:prstGeom>
          <a:noFill/>
          <a:ln w="9525">
            <a:solidFill>
              <a:srgbClr val="EFEF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2800" y="2324100"/>
            <a:ext cx="889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6767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예측 대상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701800" y="2324100"/>
            <a:ext cx="2260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transport_cnt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2800" y="2933700"/>
            <a:ext cx="3149600" cy="0"/>
          </a:xfrm>
          <a:prstGeom prst="line">
            <a:avLst/>
          </a:prstGeom>
          <a:noFill/>
          <a:ln w="9525">
            <a:solidFill>
              <a:srgbClr val="EFEFF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2800" y="2933700"/>
            <a:ext cx="889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6767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데이터 단위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701800" y="2933700"/>
            <a:ext cx="2260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자치구 × 연도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2800" y="3543300"/>
            <a:ext cx="3149600" cy="0"/>
          </a:xfrm>
          <a:prstGeom prst="line">
            <a:avLst/>
          </a:prstGeom>
          <a:noFill/>
          <a:ln w="9525">
            <a:solidFill>
              <a:srgbClr val="EFEFF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2800" y="3543300"/>
            <a:ext cx="889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6767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크기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701800" y="3543300"/>
            <a:ext cx="2260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463행 × 33열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2800" y="4152900"/>
            <a:ext cx="3149600" cy="0"/>
          </a:xfrm>
          <a:prstGeom prst="line">
            <a:avLst/>
          </a:prstGeom>
          <a:noFill/>
          <a:ln w="9525">
            <a:solidFill>
              <a:srgbClr val="EFEFF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2800" y="4152900"/>
            <a:ext cx="889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6767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특성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701800" y="4152900"/>
            <a:ext cx="2260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전년 출동·이송·사고원인, 생활인구 연평균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2800" y="4762500"/>
            <a:ext cx="3149600" cy="0"/>
          </a:xfrm>
          <a:prstGeom prst="line">
            <a:avLst/>
          </a:prstGeom>
          <a:noFill/>
          <a:ln w="9525">
            <a:solidFill>
              <a:srgbClr val="EFEFF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2800" y="4762500"/>
            <a:ext cx="889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6767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처리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701800" y="4762500"/>
            <a:ext cx="2260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imputed_zero 행 제외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18000" y="1714500"/>
            <a:ext cx="3556000" cy="3683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21200" y="1892300"/>
            <a:ext cx="31496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인구 밀집 예측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4521200" y="2324100"/>
            <a:ext cx="3149600" cy="0"/>
          </a:xfrm>
          <a:prstGeom prst="line">
            <a:avLst/>
          </a:prstGeom>
          <a:noFill/>
          <a:ln w="9525">
            <a:solidFill>
              <a:srgbClr val="EFEFF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21200" y="2324100"/>
            <a:ext cx="889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6767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예측 대상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410200" y="2324100"/>
            <a:ext cx="2260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일최대인구수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21200" y="2933700"/>
            <a:ext cx="3149600" cy="0"/>
          </a:xfrm>
          <a:prstGeom prst="line">
            <a:avLst/>
          </a:prstGeom>
          <a:noFill/>
          <a:ln w="9525">
            <a:solidFill>
              <a:srgbClr val="EFEFF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21200" y="2933700"/>
            <a:ext cx="889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6767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데이터 단위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5410200" y="2933700"/>
            <a:ext cx="2260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자치구 × 일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21200" y="3543300"/>
            <a:ext cx="3149600" cy="0"/>
          </a:xfrm>
          <a:prstGeom prst="line">
            <a:avLst/>
          </a:prstGeom>
          <a:noFill/>
          <a:ln w="9525">
            <a:solidFill>
              <a:srgbClr val="EFEFF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21200" y="3543300"/>
            <a:ext cx="889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6767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크기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5410200" y="3543300"/>
            <a:ext cx="2260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75,825행 × 20열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21200" y="4152900"/>
            <a:ext cx="3149600" cy="0"/>
          </a:xfrm>
          <a:prstGeom prst="line">
            <a:avLst/>
          </a:prstGeom>
          <a:noFill/>
          <a:ln w="9525">
            <a:solidFill>
              <a:srgbClr val="EFEFF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521200" y="4152900"/>
            <a:ext cx="889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6767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특성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5410200" y="4152900"/>
            <a:ext cx="2260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월·요일·주말, 전일 인구 지표, 7일 전 같은 요일 값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21200" y="4762500"/>
            <a:ext cx="3149600" cy="0"/>
          </a:xfrm>
          <a:prstGeom prst="line">
            <a:avLst/>
          </a:prstGeom>
          <a:noFill/>
          <a:ln w="9525">
            <a:solidFill>
              <a:srgbClr val="EFEFF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521200" y="4762500"/>
            <a:ext cx="889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6767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처리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5410200" y="4762500"/>
            <a:ext cx="2260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결측 행 제외 (lag 첫 구간)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026400" y="1714500"/>
            <a:ext cx="3556000" cy="3683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229600" y="1892300"/>
            <a:ext cx="31496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병상 예측</a:t>
            </a:r>
            <a:endParaRPr lang="en-US" sz="1700" dirty="0"/>
          </a:p>
        </p:txBody>
      </p:sp>
      <p:sp>
        <p:nvSpPr>
          <p:cNvPr id="44" name="Shape 42"/>
          <p:cNvSpPr/>
          <p:nvPr/>
        </p:nvSpPr>
        <p:spPr>
          <a:xfrm>
            <a:off x="10629900" y="1943100"/>
            <a:ext cx="749300" cy="21590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10629900" y="1943100"/>
            <a:ext cx="7493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데이터 부족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229600" y="2324100"/>
            <a:ext cx="3149600" cy="0"/>
          </a:xfrm>
          <a:prstGeom prst="line">
            <a:avLst/>
          </a:prstGeom>
          <a:noFill/>
          <a:ln w="9525">
            <a:solidFill>
              <a:srgbClr val="EFEFF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229600" y="2324100"/>
            <a:ext cx="889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6767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예측 대상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9118600" y="2324100"/>
            <a:ext cx="2260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Available_Beds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229600" y="2933700"/>
            <a:ext cx="3149600" cy="0"/>
          </a:xfrm>
          <a:prstGeom prst="line">
            <a:avLst/>
          </a:prstGeom>
          <a:noFill/>
          <a:ln w="9525">
            <a:solidFill>
              <a:srgbClr val="EFEFF1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229600" y="2933700"/>
            <a:ext cx="889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6767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데이터 단위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9118600" y="2933700"/>
            <a:ext cx="2260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병원 × 수집 시각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229600" y="3543300"/>
            <a:ext cx="3149600" cy="0"/>
          </a:xfrm>
          <a:prstGeom prst="line">
            <a:avLst/>
          </a:prstGeom>
          <a:noFill/>
          <a:ln w="9525">
            <a:solidFill>
              <a:srgbClr val="EFEFF1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229600" y="3543300"/>
            <a:ext cx="889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6767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크기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9118600" y="3543300"/>
            <a:ext cx="2260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45행 × 16열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229600" y="4152900"/>
            <a:ext cx="3149600" cy="0"/>
          </a:xfrm>
          <a:prstGeom prst="line">
            <a:avLst/>
          </a:prstGeom>
          <a:noFill/>
          <a:ln w="9525">
            <a:solidFill>
              <a:srgbClr val="EFEFF1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229600" y="4152900"/>
            <a:ext cx="889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6767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특성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9118600" y="4152900"/>
            <a:ext cx="2260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수집 시각, 구 병원 수, 구 월평균 출동·이송, 생활인구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229600" y="4762500"/>
            <a:ext cx="3149600" cy="0"/>
          </a:xfrm>
          <a:prstGeom prst="line">
            <a:avLst/>
          </a:prstGeom>
          <a:noFill/>
          <a:ln w="9525">
            <a:solidFill>
              <a:srgbClr val="EFEFF1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8229600" y="4762500"/>
            <a:ext cx="889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6767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처리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9118600" y="4762500"/>
            <a:ext cx="2260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병상 정보 없는 행 제외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09600" y="5549900"/>
            <a:ext cx="10972800" cy="736600"/>
          </a:xfrm>
          <a:prstGeom prst="roundRect">
            <a:avLst>
              <a:gd name="adj" fmla="val 13793"/>
            </a:avLst>
          </a:prstGeom>
          <a:solidFill>
            <a:srgbClr val="F5F5F7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812800" y="5549900"/>
            <a:ext cx="105664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미래 정보 차단   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예측 시점에 알 수 없는 같은 시점 값 대신, groupby().shift(1)로 만든 전년·전일 값만 특성으로 사용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514350"/>
            <a:ext cx="76200" cy="76200"/>
          </a:xfrm>
          <a:prstGeom prst="ellipse">
            <a:avLst/>
          </a:prstGeom>
          <a:solidFill>
            <a:srgbClr val="2F5B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62000" y="457200"/>
            <a:ext cx="1016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6767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  학습용 데이터셋 구성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723900"/>
            <a:ext cx="10972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spc="-50" kern="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예측 컬럼 선택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1206500"/>
            <a:ext cx="10972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spc="-15" kern="0" dirty="0">
                <a:solidFill>
                  <a:srgbClr val="555555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정답과 상관이 크고 서로 겹치지 않는 컬럼만 남겨 이송 3개, 인구 5개를 골랐습니다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6426200"/>
            <a:ext cx="889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02_119_ml_dataset.ipynb — features_*.csv, *_selected.csv (피어슨 상관계수)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0312400" y="6426200"/>
            <a:ext cx="127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09600" y="1714500"/>
            <a:ext cx="4483100" cy="82550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2800" y="1714500"/>
            <a:ext cx="38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F5B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44600" y="1714500"/>
            <a:ext cx="36449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결측 비율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빈 값이 50%를 넘는 컬럼 제외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9600" y="2667000"/>
            <a:ext cx="4483100" cy="82550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2800" y="2667000"/>
            <a:ext cx="38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F5B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44600" y="2667000"/>
            <a:ext cx="36449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정답과의 상관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|r| ≥ 0.3인 컬럼만 후보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9600" y="3619500"/>
            <a:ext cx="4483100" cy="82550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2800" y="3619500"/>
            <a:ext cx="38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F5B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44600" y="3619500"/>
            <a:ext cx="36449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다중공선성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 고른 컬럼과 |r| ≥ 0.9면 제외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9600" y="4572000"/>
            <a:ext cx="4483100" cy="1714500"/>
          </a:xfrm>
          <a:prstGeom prst="roundRect">
            <a:avLst>
              <a:gd name="adj" fmla="val 5926"/>
            </a:avLst>
          </a:prstGeom>
          <a:solidFill>
            <a:srgbClr val="F5F5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12800" y="4724400"/>
            <a:ext cx="4076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선택 결과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12800" y="5054600"/>
            <a:ext cx="1206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spc="-100" kern="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3개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812800" y="5588000"/>
            <a:ext cx="120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이송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2171700" y="5054600"/>
            <a:ext cx="1206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spc="-100" kern="0" dirty="0">
                <a:solidFill>
                  <a:srgbClr val="1818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5개</a:t>
            </a:r>
            <a:endParaRPr lang="en-US" sz="4000" dirty="0"/>
          </a:p>
        </p:txBody>
      </p:sp>
      <p:sp>
        <p:nvSpPr>
          <p:cNvPr id="22" name="Text 20"/>
          <p:cNvSpPr txBox="1"/>
          <p:nvPr/>
        </p:nvSpPr>
        <p:spPr>
          <a:xfrm>
            <a:off x="2171700" y="5588000"/>
            <a:ext cx="120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인구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530600" y="5054600"/>
            <a:ext cx="1206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spc="-100" kern="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0개</a:t>
            </a:r>
            <a:endParaRPr lang="en-US" sz="4000" dirty="0"/>
          </a:p>
        </p:txBody>
      </p:sp>
      <p:sp>
        <p:nvSpPr>
          <p:cNvPr id="24" name="Text 22"/>
          <p:cNvSpPr txBox="1"/>
          <p:nvPr/>
        </p:nvSpPr>
        <p:spPr>
          <a:xfrm>
            <a:off x="3530600" y="5588000"/>
            <a:ext cx="120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병상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12800" y="5880100"/>
            <a:ext cx="4076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병상은 선택된 컬럼 없음 → 데이터 추가 수집 후 재실행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245100" y="1714500"/>
            <a:ext cx="6337300" cy="4572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48300" y="1866900"/>
            <a:ext cx="5930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선택된 컬럼과 정답의 상관계수 (r)</a:t>
            </a:r>
            <a:endParaRPr lang="en-US" sz="14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5346700" y="2184400"/>
          <a:ext cx="6083300" cy="40005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514350"/>
            <a:ext cx="76200" cy="76200"/>
          </a:xfrm>
          <a:prstGeom prst="ellipse">
            <a:avLst/>
          </a:prstGeom>
          <a:solidFill>
            <a:srgbClr val="2F5B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62000" y="457200"/>
            <a:ext cx="1016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6767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  학습용 데이터셋 구성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723900"/>
            <a:ext cx="10972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spc="-50" kern="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한계와 다음 단계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1206500"/>
            <a:ext cx="10972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spc="-15" kern="0" dirty="0">
                <a:solidFill>
                  <a:srgbClr val="555555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병상 예측은 이번 단계에서 제외하고, 이송·인구 두 주제로 모델 비교를 진행합니다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6426200"/>
            <a:ext cx="889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02_119_ml_dataset.ipynb 참고 메모, 02_119_데이터_전처리_통합.ipynb 8절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0312400" y="6426200"/>
            <a:ext cx="127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676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 / 20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609600" y="1714500"/>
            <a:ext cx="5410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확인된 한계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9600" y="2095500"/>
            <a:ext cx="5410200" cy="101600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/>
        </p:spPr>
      </p:sp>
      <p:sp>
        <p:nvSpPr>
          <p:cNvPr id="10" name="Shape 8"/>
          <p:cNvSpPr/>
          <p:nvPr/>
        </p:nvSpPr>
        <p:spPr>
          <a:xfrm>
            <a:off x="812800" y="2374900"/>
            <a:ext cx="76200" cy="76200"/>
          </a:xfrm>
          <a:prstGeom prst="ellipse">
            <a:avLst/>
          </a:prstGeom>
          <a:solidFill>
            <a:srgbClr val="D4565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90600" y="2273300"/>
            <a:ext cx="4826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생활인구 기간 제약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90600" y="2578100"/>
            <a:ext cx="482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2018년 4월 이후에만 있어 연 단위 이송 데이터에서 전년 인구 컬럼이 결측 63%로 제외됨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9600" y="3238500"/>
            <a:ext cx="5410200" cy="101600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/>
        </p:spPr>
      </p:sp>
      <p:sp>
        <p:nvSpPr>
          <p:cNvPr id="14" name="Shape 12"/>
          <p:cNvSpPr/>
          <p:nvPr/>
        </p:nvSpPr>
        <p:spPr>
          <a:xfrm>
            <a:off x="812800" y="3517900"/>
            <a:ext cx="76200" cy="76200"/>
          </a:xfrm>
          <a:prstGeom prst="ellipse">
            <a:avLst/>
          </a:prstGeom>
          <a:solidFill>
            <a:srgbClr val="D4565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90600" y="3416300"/>
            <a:ext cx="4826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병상 데이터 부족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90600" y="3721100"/>
            <a:ext cx="482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1회 스냅샷 45행이라 직전 병상 수가 비어 있고 상관 기준을 넘는 컬럼이 없음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9600" y="4381500"/>
            <a:ext cx="5410200" cy="101600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/>
        </p:spPr>
      </p:sp>
      <p:sp>
        <p:nvSpPr>
          <p:cNvPr id="18" name="Shape 16"/>
          <p:cNvSpPr/>
          <p:nvPr/>
        </p:nvSpPr>
        <p:spPr>
          <a:xfrm>
            <a:off x="812800" y="4660900"/>
            <a:ext cx="76200" cy="76200"/>
          </a:xfrm>
          <a:prstGeom prst="ellipse">
            <a:avLst/>
          </a:prstGeom>
          <a:solidFill>
            <a:srgbClr val="D4565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90600" y="4559300"/>
            <a:ext cx="4826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상관계수의 한계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90600" y="4864100"/>
            <a:ext cx="482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직선 관계만 보여줘 곡선 관계나 여러 컬럼의 결합 효과는 놓칠 수 있음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172200" y="1714500"/>
            <a:ext cx="5410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다음 단계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72200" y="2095500"/>
            <a:ext cx="5410200" cy="101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75400" y="2374900"/>
            <a:ext cx="76200" cy="76200"/>
          </a:xfrm>
          <a:prstGeom prst="ellipse">
            <a:avLst/>
          </a:prstGeom>
          <a:solidFill>
            <a:srgbClr val="2F5B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53200" y="2273300"/>
            <a:ext cx="4826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병상 반복 수집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553200" y="2578100"/>
            <a:ext cx="482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수집을 반복해 쌓으면 직전_병상수 등 시계열 특성이 채워짐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72200" y="3238500"/>
            <a:ext cx="5410200" cy="101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75400" y="3517900"/>
            <a:ext cx="76200" cy="76200"/>
          </a:xfrm>
          <a:prstGeom prst="ellipse">
            <a:avLst/>
          </a:prstGeom>
          <a:solidFill>
            <a:srgbClr val="2F5B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553200" y="3416300"/>
            <a:ext cx="4826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건별 데이터 확장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553200" y="3721100"/>
            <a:ext cx="482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2023·2024 건별 파일을 같은 이름 규칙으로 넣으면 월별 집계가 자동으로 늘어남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72200" y="4381500"/>
            <a:ext cx="5410200" cy="101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75400" y="4660900"/>
            <a:ext cx="76200" cy="76200"/>
          </a:xfrm>
          <a:prstGeom prst="ellipse">
            <a:avLst/>
          </a:prstGeom>
          <a:solidFill>
            <a:srgbClr val="2F5B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553200" y="4559300"/>
            <a:ext cx="4826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중요도로 재확인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553200" y="4864100"/>
            <a:ext cx="482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학습 후 변수 중요도로 선택 컬럼을 다시 점검, 요일 효과는 구별로 확인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09600" y="5549900"/>
            <a:ext cx="10972800" cy="736600"/>
          </a:xfrm>
          <a:prstGeom prst="roundRect">
            <a:avLst>
              <a:gd name="adj" fmla="val 13793"/>
            </a:avLst>
          </a:prstGeom>
          <a:solidFill>
            <a:srgbClr val="F5F5F7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12800" y="5549900"/>
            <a:ext cx="105664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8181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연결   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확정된 transport_selected · population_selected 데이터로 회귀 모델 6종을 비교해 정확도가 가장 높은 모델을 선택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2540000"/>
            <a:ext cx="109728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600" spc="-160" kern="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경청해 주셔서 고맙습니다</a:t>
            </a:r>
            <a:endParaRPr lang="en-US" sz="56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3556000"/>
            <a:ext cx="10972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CCCC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119 구급 데이터 전처리 — 핵심 정리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09600" y="4368800"/>
            <a:ext cx="88900" cy="88900"/>
          </a:xfrm>
          <a:prstGeom prst="ellipse">
            <a:avLst/>
          </a:prstGeom>
          <a:solidFill>
            <a:srgbClr val="FF5A3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87400" y="4292600"/>
            <a:ext cx="3302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  공공 API 수집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4622800"/>
            <a:ext cx="342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2종을 재시도·이어받기 구조로 안정적으로 수집하고, 음수 병상과 호출 실패를 따로 표시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18000" y="4368800"/>
            <a:ext cx="88900" cy="88900"/>
          </a:xfrm>
          <a:prstGeom prst="ellipse">
            <a:avLst/>
          </a:prstGeom>
          <a:solidFill>
            <a:srgbClr val="E6308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495800" y="4292600"/>
            <a:ext cx="3302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  원본 데이터 전처리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318000" y="4622800"/>
            <a:ext cx="342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원본을 District × ds 키로 표준화하고, 건별 116만여 건을 자치구·월 단위로 집계·검산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26400" y="4368800"/>
            <a:ext cx="88900" cy="88900"/>
          </a:xfrm>
          <a:prstGeom prst="ellipse">
            <a:avLst/>
          </a:prstGeom>
          <a:solidFill>
            <a:srgbClr val="2F5B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04200" y="4292600"/>
            <a:ext cx="3302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  학습용 데이터셋 구성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026400" y="4622800"/>
            <a:ext cx="342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중복 8건을 제외해 이송·인구·병상 데이터셋을 만들고, 이송 3개·인구 5개 예측 컬럼을 확정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9600" y="5715000"/>
            <a:ext cx="109728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9600" y="59690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응급의료 대응 최적화 프로젝트  ·  2026. 09. 28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312400" y="6426200"/>
            <a:ext cx="127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 / 20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Pretendard"/>
        <a:cs typeface="Pretendard"/>
        <a:font script="Jpan" typeface="游ゴシック Light"/>
        <a:font script="Hang" typeface="Pretendard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Pretendard"/>
        <a:cs typeface="Pretendard"/>
        <a:font script="Jpan" typeface="游ゴシック"/>
        <a:font script="Hang" typeface="Pretendard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119 구급 데이터 전처리</dc:title>
  <dc:subject>PptxGenJS Presentation</dc:subject>
  <dc:creator>PptxGenJS</dc:creator>
  <cp:lastModifiedBy>PptxGenJS</cp:lastModifiedBy>
  <cp:revision>1</cp:revision>
  <dcterms:created xsi:type="dcterms:W3CDTF">2026-09-28T06:07:39Z</dcterms:created>
  <dcterms:modified xsi:type="dcterms:W3CDTF">2026-09-28T06:07:39Z</dcterms:modified>
</cp:coreProperties>
</file>